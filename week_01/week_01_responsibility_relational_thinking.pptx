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9aa5023fc834ce5" Type="http://schemas.openxmlformats.org/officeDocument/2006/relationships/officeDocument" Target="ppt/presentation.xml"/><Relationship Id="R5028910734164564" Type="http://schemas.openxmlformats.org/officeDocument/2006/relationships/extended-properties" Target="docProps/app.xml"/><Relationship Id="R630bc59e9ac64907"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a9eeae27fef4436c"/>
  </p:sldMasterIdLst>
  <p:notesMasterIdLst>
    <p:notesMasterId xmlns:r="http://schemas.openxmlformats.org/officeDocument/2006/relationships" r:id="R7f20c303791445b6"/>
  </p:notesMasterIdLst>
  <p:sldIdLst>
    <p:sldId xmlns:r="http://schemas.openxmlformats.org/officeDocument/2006/relationships" id="256" r:id="R769e67d97afb46bc"/>
    <p:sldId xmlns:r="http://schemas.openxmlformats.org/officeDocument/2006/relationships" id="257" r:id="Ra02185df85944944"/>
    <p:sldId xmlns:r="http://schemas.openxmlformats.org/officeDocument/2006/relationships" id="258" r:id="Rcce85aebf3e044f0"/>
    <p:sldId xmlns:r="http://schemas.openxmlformats.org/officeDocument/2006/relationships" id="259" r:id="R53d4e611d44a42e6"/>
    <p:sldId xmlns:r="http://schemas.openxmlformats.org/officeDocument/2006/relationships" id="260" r:id="Rd70c5115ae8c498c"/>
    <p:sldId xmlns:r="http://schemas.openxmlformats.org/officeDocument/2006/relationships" id="261" r:id="Rd60ac03b904845b8"/>
    <p:sldId xmlns:r="http://schemas.openxmlformats.org/officeDocument/2006/relationships" id="262" r:id="R759c7d7bd9ab499c"/>
    <p:sldId xmlns:r="http://schemas.openxmlformats.org/officeDocument/2006/relationships" id="263" r:id="R6eb70e108e3e4f36"/>
    <p:sldId xmlns:r="http://schemas.openxmlformats.org/officeDocument/2006/relationships" id="266" r:id="R297a0ce4cac84d7e"/>
    <p:sldId xmlns:r="http://schemas.openxmlformats.org/officeDocument/2006/relationships" id="267" r:id="Rb581964e8b7740c2"/>
    <p:sldId xmlns:r="http://schemas.openxmlformats.org/officeDocument/2006/relationships" id="268" r:id="Reeef7012e8d5445c"/>
    <p:sldId xmlns:r="http://schemas.openxmlformats.org/officeDocument/2006/relationships" id="269" r:id="R304406ef6231415d"/>
    <p:sldId xmlns:r="http://schemas.openxmlformats.org/officeDocument/2006/relationships" id="270" r:id="R75b6c68392f44cac"/>
    <p:sldId xmlns:r="http://schemas.openxmlformats.org/officeDocument/2006/relationships" id="271" r:id="Ra5d8d13c5b7d4059"/>
    <p:sldId xmlns:r="http://schemas.openxmlformats.org/officeDocument/2006/relationships" id="272" r:id="R2a769ebbfec64cd2"/>
    <p:sldId xmlns:r="http://schemas.openxmlformats.org/officeDocument/2006/relationships" id="273" r:id="R40f11e2acd5a4421"/>
    <p:sldId xmlns:r="http://schemas.openxmlformats.org/officeDocument/2006/relationships" id="275" r:id="R5b7b75f8030e4e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e403e83b3b44849" Type="http://schemas.openxmlformats.org/officeDocument/2006/relationships/presProps" Target="presProps.xml"/><Relationship Id="R297a0ce4cac84d7e" Type="http://schemas.openxmlformats.org/officeDocument/2006/relationships/slide" Target="slides/slide11.xml"/><Relationship Id="R2a769ebbfec64cd2" Type="http://schemas.openxmlformats.org/officeDocument/2006/relationships/slide" Target="slides/slide17.xml"/><Relationship Id="R304406ef6231415d" Type="http://schemas.openxmlformats.org/officeDocument/2006/relationships/slide" Target="slides/slide14.xml"/><Relationship Id="R3afe1667c345480b" Type="http://schemas.openxmlformats.org/officeDocument/2006/relationships/tableStyles" Target="tableStyles.xml"/><Relationship Id="R40f11e2acd5a4421" Type="http://schemas.openxmlformats.org/officeDocument/2006/relationships/slide" Target="slides/slide18.xml"/><Relationship Id="R53d4e611d44a42e6" Type="http://schemas.openxmlformats.org/officeDocument/2006/relationships/slide" Target="slides/slide4.xml"/><Relationship Id="R5b7b75f8030e4e30" Type="http://schemas.openxmlformats.org/officeDocument/2006/relationships/slide" Target="slides/slide20.xml"/><Relationship Id="R6eb70e108e3e4f36" Type="http://schemas.openxmlformats.org/officeDocument/2006/relationships/slide" Target="slides/slide8.xml"/><Relationship Id="R759c7d7bd9ab499c" Type="http://schemas.openxmlformats.org/officeDocument/2006/relationships/slide" Target="slides/slide7.xml"/><Relationship Id="R75b6c68392f44cac" Type="http://schemas.openxmlformats.org/officeDocument/2006/relationships/slide" Target="slides/slide15.xml"/><Relationship Id="R769e67d97afb46bc" Type="http://schemas.openxmlformats.org/officeDocument/2006/relationships/slide" Target="slides/slide1.xml"/><Relationship Id="R7f20c303791445b6" Type="http://schemas.openxmlformats.org/officeDocument/2006/relationships/notesMaster" Target="notesMasters/notesMaster1.xml"/><Relationship Id="Ra02185df85944944" Type="http://schemas.openxmlformats.org/officeDocument/2006/relationships/slide" Target="slides/slide2.xml"/><Relationship Id="Ra5d8d13c5b7d4059" Type="http://schemas.openxmlformats.org/officeDocument/2006/relationships/slide" Target="slides/slide16.xml"/><Relationship Id="Ra9eeae27fef4436c" Type="http://schemas.openxmlformats.org/officeDocument/2006/relationships/slideMaster" Target="slideMasters/slideMaster1.xml"/><Relationship Id="Rb51f3f2afa564477" Type="http://schemas.openxmlformats.org/officeDocument/2006/relationships/theme" Target="theme/theme1.xml"/><Relationship Id="Rb581964e8b7740c2" Type="http://schemas.openxmlformats.org/officeDocument/2006/relationships/slide" Target="slides/slide12.xml"/><Relationship Id="Rcce85aebf3e044f0" Type="http://schemas.openxmlformats.org/officeDocument/2006/relationships/slide" Target="slides/slide3.xml"/><Relationship Id="Rd60ac03b904845b8" Type="http://schemas.openxmlformats.org/officeDocument/2006/relationships/slide" Target="slides/slide6.xml"/><Relationship Id="Rd70c5115ae8c498c" Type="http://schemas.openxmlformats.org/officeDocument/2006/relationships/slide" Target="slides/slide5.xml"/><Relationship Id="Reeef7012e8d5445c"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0024464b79df40d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f8f00400b5e4eb8" Type="http://schemas.openxmlformats.org/officeDocument/2006/relationships/notesMaster" Target="../notesMasters/notesMaster1.xml"/><Relationship Id="R6f8a542b431d4c5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23919eb6fdc402b" Type="http://schemas.openxmlformats.org/officeDocument/2006/relationships/slide" Target="../slides/slide2.xml"/><Relationship Id="Rbf21ba9f125d4a06"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3acdc315eb324d04" Type="http://schemas.openxmlformats.org/officeDocument/2006/relationships/slide" Target="../slides/slide3.xml"/><Relationship Id="Rf65760e869ab436d"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927585a1f75343ae" Type="http://schemas.openxmlformats.org/officeDocument/2006/relationships/notesMaster" Target="../notesMasters/notesMaster1.xml"/><Relationship Id="Rf6f121d9752f4eca"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0be830e9488b495f" Type="http://schemas.openxmlformats.org/officeDocument/2006/relationships/notesMaster" Target="../notesMasters/notesMaster1.xml"/><Relationship Id="R23d862162afd4577"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dcd9bb479204edc" Type="http://schemas.openxmlformats.org/officeDocument/2006/relationships/notesMaster" Target="../notesMasters/notesMaster1.xml"/><Relationship Id="R687b8e931f294b73"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05ecbcba2a3492c" Type="http://schemas.openxmlformats.org/officeDocument/2006/relationships/slide" Target="../slides/slide7.xml"/><Relationship Id="R5da18555f4394d8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db75a863f908410d" Type="http://schemas.openxmlformats.org/officeDocument/2006/relationships/notesMaster" Target="../notesMasters/notesMaster1.xml"/><Relationship Id="Re0c520a314bd4e54"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3b7c5d2c5f6847fe" Type="http://schemas.openxmlformats.org/officeDocument/2006/relationships/slide" Target="../slides/slide11.xml"/><Relationship Id="R677f2ea21e8145b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75f2736cbb2f4361" Type="http://schemas.openxmlformats.org/officeDocument/2006/relationships/slide" Target="../slides/slide12.xml"/><Relationship Id="R8a2182c5bbfc4413"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375f61f9fad14c33" Type="http://schemas.openxmlformats.org/officeDocument/2006/relationships/notesMaster" Target="../notesMasters/notesMaster1.xml"/><Relationship Id="R38cbbb1e37944fa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e9a2069d07f4f46" Type="http://schemas.openxmlformats.org/officeDocument/2006/relationships/notesMaster" Target="../notesMasters/notesMaster1.xml"/><Relationship Id="R733107c79e2f4456"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53825637bf464b0b" Type="http://schemas.openxmlformats.org/officeDocument/2006/relationships/slide" Target="../slides/slide15.xml"/><Relationship Id="Re3d9e1c40a02459a"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4646742dc42f4262" Type="http://schemas.openxmlformats.org/officeDocument/2006/relationships/notesMaster" Target="../notesMasters/notesMaster1.xml"/><Relationship Id="Rd99b7795d6de422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09b7806b48074a36" Type="http://schemas.openxmlformats.org/officeDocument/2006/relationships/slide" Target="../slides/slide17.xml"/><Relationship Id="Rc0429e7f47c0490a"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662d8b43d26b468c" Type="http://schemas.openxmlformats.org/officeDocument/2006/relationships/notesMaster" Target="../notesMasters/notesMaster1.xml"/><Relationship Id="Rc33936937fc4450d"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1e503daf3e874f14" Type="http://schemas.openxmlformats.org/officeDocument/2006/relationships/slide" Target="../slides/slide20.xml"/><Relationship Id="R6425ff46a0b34c14"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application that remembers something depends on a data system. A music service remembers playlists. A game remembers inventory and scores. A store remembers products, orders, and payments. This course is about what happens behind those familiar screens. We will learn how applications represent information, how database software protects and retrieves it, how administrators diagnose failures, and how cloud platforms change the work without eliminating the underlying concepts. Today begins with one simple question: when a person clicks Save, where does the information actually go? We will trace that path from the client, through an application service, to a database management system and durable storage. Then we will learn the relational vocabulary that lets us describe tables precisely instead of treating SQL as a collection of memorized commands.</a:t>
            </a:r>
          </a:p>
          <a:p xmlns:a="http://schemas.openxmlformats.org/drawingml/2006/main">
            <a:r>
              <a:t/>
            </a:r>
          </a:p>
          <a:p xmlns:a="http://schemas.openxmlformats.org/drawingml/2006/main">
            <a:r>
              <a:t>[Sources]</a:t>
            </a:r>
          </a:p>
          <a:p xmlns:a="http://schemas.openxmlformats.org/drawingml/2006/main">
            <a:r>
              <a:t>- CST4714 course textbook, Chapter 1: How Database-Backed Applications Work.</a:t>
            </a:r>
          </a:p>
          <a:p xmlns:a="http://schemas.openxmlformats.org/drawingml/2006/main">
            <a:r>
              <a:t>- CST4714 course textbook, Chapter 2: Relations, Algebra, and 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is not an abstract topic separated from software. It is the organized memory behind products people already understand. Consider a music service. The interface may show album art and a Play button, but the system must store tracks, artists, users, subscriptions, playlists, and the order of tracks inside each playlist. An online store has a different interface, yet it also needs stable identities, relationships, validation rules, and concurrent updates. A city service request system must preserve locations, status history, assignments, and accountability over time. The important shift is to look through the screen and ask what facts the system must remember, which questions it must answer, and which mistakes it must prevent. Those questions lead directly to schema design, queries, permissions, transactions, indexes, backups, and monitoring.</a:t>
            </a:r>
          </a:p>
          <a:p xmlns:a="http://schemas.openxmlformats.org/drawingml/2006/main">
            <a:r>
              <a:t/>
            </a:r>
          </a:p>
          <a:p xmlns:a="http://schemas.openxmlformats.org/drawingml/2006/main">
            <a:r>
              <a:t>[Sources]</a:t>
            </a:r>
          </a:p>
          <a:p xmlns:a="http://schemas.openxmlformats.org/drawingml/2006/main">
            <a:r>
              <a:t>- CST4714 course textbook, Chapter 1, section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Save action usually crosses at least five boundaries. The client, such as a browser or phone app, creates an HTTP request. An API endpoint receives that request and translates it into application logic. Identity and authorization checks decide who the caller is and what the caller may do. The application then sends a database command, such as SQL for PostgreSQL or a document operation for MongoDB. The database management system validates the command, coordinates concurrent work, and changes durable data. This path matters because a visible symptom does not identify the failing layer. A disabled button is different from an HTTP error. An HTTP success response is different from a committed database transaction. Database administration begins by tracing the actual path and locating the boundary where expected behavior stops.</a:t>
            </a:r>
          </a:p>
          <a:p xmlns:a="http://schemas.openxmlformats.org/drawingml/2006/main">
            <a:r>
              <a:t/>
            </a:r>
          </a:p>
          <a:p xmlns:a="http://schemas.openxmlformats.org/drawingml/2006/main">
            <a:r>
              <a:t>[Sources]</a:t>
            </a:r>
          </a:p>
          <a:p xmlns:a="http://schemas.openxmlformats.org/drawingml/2006/main">
            <a:r>
              <a:t>- CST4714 course textbook, Chapter 1, section 1.2.</a:t>
            </a:r>
          </a:p>
          <a:p xmlns:a="http://schemas.openxmlformats.org/drawingml/2006/main">
            <a:r>
              <a:t>- https://developer.mozilla.org/en-US/docs/Web/HTTP/Methods/POST</a:t>
            </a:r>
          </a:p>
          <a:p xmlns:a="http://schemas.openxmlformats.org/drawingml/2006/main">
            <a:r>
              <a:t>- https://www.postgresql.org/docs/current/sql-insert.html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database is often used loosely, but three layers deserve separate names. A database is the organized information and its structure. In a relational system, that includes tables, rows, columns, constraints, and indexes. A database management system, or DBMS, is the software that accepts commands and manages that information. PostgreSQL, MongoDB, and SQLite are DBMS products with different architectures and data models. A managed cloud platform operates infrastructure around a DBMS. Supabase provides a managed PostgreSQL environment plus services such as authentication and APIs. MongoDB Atlas provides managed MongoDB clusters plus operational tools. The cloud platform reduces some installation and maintenance work, but the database concepts remain. You still need to understand data shape, access control, query behavior, performance, and recovery.</a:t>
            </a:r>
          </a:p>
          <a:p xmlns:a="http://schemas.openxmlformats.org/drawingml/2006/main">
            <a:r>
              <a:t/>
            </a:r>
          </a:p>
          <a:p xmlns:a="http://schemas.openxmlformats.org/drawingml/2006/main">
            <a:r>
              <a:t>[Sources]</a:t>
            </a:r>
          </a:p>
          <a:p xmlns:a="http://schemas.openxmlformats.org/drawingml/2006/main">
            <a:r>
              <a:t>- CST4714 course textbook, Chapter 1, section 1.3.</a:t>
            </a:r>
          </a:p>
          <a:p xmlns:a="http://schemas.openxmlformats.org/drawingml/2006/main">
            <a:r>
              <a:t>- https://www.postgresql.org/docs/current/intro-whatis.html</a:t>
            </a:r>
          </a:p>
          <a:p xmlns:a="http://schemas.openxmlformats.org/drawingml/2006/main">
            <a:r>
              <a:t>- https://www.mongodb.com/docs/manual/introduction/</a:t>
            </a:r>
          </a:p>
          <a:p xmlns:a="http://schemas.openxmlformats.org/drawingml/2006/main">
            <a:r>
              <a:t>- https://supabase.com/docs/guides/database/overview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Supabase project dashboard. The interface gives one place to configure a managed project, but it is important to understand what sits underneath it. The database engine is PostgreSQL. When we create tables, write SQL, define constraints, examine query plans, add indexes, or reason about transactions, we are using PostgreSQL concepts. Supabase adds surrounding services and a web interface that make the system easier to access from applications and from a classroom. The dashboard is therefore not the database itself. It is an operational view into a larger platform. If an application fails to read a table, the cause could be a PostgreSQL permission, a row-level security policy, an API configuration, an incorrect connection string, or the application code. Naming the layers keeps those possibilities distinct.</a:t>
            </a:r>
          </a:p>
          <a:p xmlns:a="http://schemas.openxmlformats.org/drawingml/2006/main">
            <a:r>
              <a:t/>
            </a:r>
          </a:p>
          <a:p xmlns:a="http://schemas.openxmlformats.org/drawingml/2006/main">
            <a:r>
              <a:t>[Sources]</a:t>
            </a:r>
          </a:p>
          <a:p xmlns:a="http://schemas.openxmlformats.org/drawingml/2006/main">
            <a:r>
              <a:t>- CST4714 course textbook, Chapter 1, section 1.4.</a:t>
            </a:r>
          </a:p>
          <a:p xmlns:a="http://schemas.openxmlformats.org/drawingml/2006/main">
            <a:r>
              <a:t>- CST4714 redacted course screenshot: textbook/figures/cloud_interfaces/supabase_project_overview.png, captured August 25, 2026.</a:t>
            </a:r>
          </a:p>
          <a:p xmlns:a="http://schemas.openxmlformats.org/drawingml/2006/main">
            <a:r>
              <a:t>- https://supabase.com/docs/guides/database/overview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MongoDB Atlas project overview. Atlas organizes resources into an organization, a project, and one or more clusters. The cluster runs MongoDB. Inside MongoDB, data is organized into databases, collections, and BSON documents rather than relational tables and rows. Atlas also controls access around the database. A database user supplies credentials. A network access rule determines which source addresses may attempt a connection. The connection string tells a client how to locate the cluster. These are separate conditions, and all of them must be correct. The screenshot also shows a free-tier cluster paused after inactivity. Resuming the cluster changes availability; it does not change the stored data model. Later in the course, we will connect to Atlas, inspect documents, write MQL, model relationships, and reason about replication and recovery.</a:t>
            </a:r>
          </a:p>
          <a:p xmlns:a="http://schemas.openxmlformats.org/drawingml/2006/main">
            <a:r>
              <a:t/>
            </a:r>
          </a:p>
          <a:p xmlns:a="http://schemas.openxmlformats.org/drawingml/2006/main">
            <a:r>
              <a:t>[Sources]</a:t>
            </a:r>
          </a:p>
          <a:p xmlns:a="http://schemas.openxmlformats.org/drawingml/2006/main">
            <a:r>
              <a:t>- CST4714 course textbook, Chapter 1, section 1.4.</a:t>
            </a:r>
          </a:p>
          <a:p xmlns:a="http://schemas.openxmlformats.org/drawingml/2006/main">
            <a:r>
              <a:t>- CST4714 redacted course screenshot: textbook/figures/cloud_interfaces/atlas_project_overview.png, captured August 25, 2026.</a:t>
            </a:r>
          </a:p>
          <a:p xmlns:a="http://schemas.openxmlformats.org/drawingml/2006/main">
            <a:r>
              <a:t>- https://www.mongodb.com/docs/atlas/</a:t>
            </a:r>
          </a:p>
          <a:p xmlns:a="http://schemas.openxmlformats.org/drawingml/2006/main">
            <a:r>
              <a:t>- https://www.mongodb.com/docs/manual/core/document/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Database administration is not a collection of dashboard clicks. It is the discipline of changing a shared data system without losing its meaning or its service. Correctness includes choosing data types, defining constraints, and using transactions so related changes succeed or fail together. Availability includes observing system health, understanding dependencies, and planning for failure. Security includes identities, roles, permissions, network rules, and the principle of least privilege. Recovery includes backups, restoration procedures, and tests that demonstrate whether a useful state can be recovered. Performance connects to all four areas because slow queries can become availability problems, and careless tuning can weaken correctness or security. Throughout the semester, each technical skill will be tied to one of these responsibilities and practiced in PostgreSQL, MongoDB, or both.</a:t>
            </a:r>
          </a:p>
          <a:p xmlns:a="http://schemas.openxmlformats.org/drawingml/2006/main">
            <a:r>
              <a:t/>
            </a:r>
          </a:p>
          <a:p xmlns:a="http://schemas.openxmlformats.org/drawingml/2006/main">
            <a:r>
              <a:t>[Sources]</a:t>
            </a:r>
          </a:p>
          <a:p xmlns:a="http://schemas.openxmlformats.org/drawingml/2006/main">
            <a:r>
              <a:t>- CST4714 course textbook, Chapter 1, section 1.5.</a:t>
            </a:r>
          </a:p>
          <a:p xmlns:a="http://schemas.openxmlformats.org/drawingml/2006/main">
            <a:r>
              <a:t>- https://www.postgresql.org/docs/current/ddl-constraints.html</a:t>
            </a:r>
          </a:p>
          <a:p xmlns:a="http://schemas.openxmlformats.org/drawingml/2006/main">
            <a:r>
              <a:t>- https://www.mongodb.com/docs/manual/core/security-transport-encryption/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 ticket form reports success, but the ticket does not appear in the list. The symptom is real, yet it does not identify the cause. Start at the request path. Confirm that the client sent the request the user intended. Inspect the API status and response body. Determine whether the database command succeeded and committed. Then examine the query used to refresh the list. A successful write can be hidden by a filter, stale cache, or read from a different environment. A successful HTTP response can also be returned before a failed asynchronous operation. The goal is not to collect every possible observation. The goal is to choose the smallest observation that separates competing explanations. That habit makes troubleshooting faster and prevents random changes from creating additional problems.</a:t>
            </a:r>
          </a:p>
          <a:p xmlns:a="http://schemas.openxmlformats.org/drawingml/2006/main">
            <a:r>
              <a:t/>
            </a:r>
          </a:p>
          <a:p xmlns:a="http://schemas.openxmlformats.org/drawingml/2006/main">
            <a:r>
              <a:t>[Sources]</a:t>
            </a:r>
          </a:p>
          <a:p xmlns:a="http://schemas.openxmlformats.org/drawingml/2006/main">
            <a:r>
              <a:t>- CST4714 course textbook, Chapter 1, section 1.6.</a:t>
            </a:r>
          </a:p>
          <a:p xmlns:a="http://schemas.openxmlformats.org/drawingml/2006/main">
            <a:r>
              <a:t>- https://developer.mozilla.org/en-US/docs/Web/HTTP/Status/201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part of Week 1 introduces the relational model. A relation can be displayed as a table, but the model is more precise than a spreadsheet grid. A relation has named attributes, values drawn from domains, tuples that represent facts, and keys that preserve identity. Relational algebra describes how one relation can be transformed into another. Selection keeps rows that satisfy a condition. Projection keeps or computes selected attributes. Join combines related tuples. These operations are the conceptual foundation of SQL, even though SQL has additional features and slightly different semantics. Learning the model gives us a durable way to reason about queries. Instead of memorizing clauses, we can ask what relation exists before an operation, what relation should exist afterward, and which operation bridges the two.</a:t>
            </a:r>
          </a:p>
          <a:p xmlns:a="http://schemas.openxmlformats.org/drawingml/2006/main">
            <a:r>
              <a:t/>
            </a:r>
          </a:p>
          <a:p xmlns:a="http://schemas.openxmlformats.org/drawingml/2006/main">
            <a:r>
              <a:t>[Sources]</a:t>
            </a:r>
          </a:p>
          <a:p xmlns:a="http://schemas.openxmlformats.org/drawingml/2006/main">
            <a:r>
              <a:t>- CST4714 course textbook, Chapter 2: Relations, Algebra, and SQL.</a:t>
            </a:r>
          </a:p>
          <a:p xmlns:a="http://schemas.openxmlformats.org/drawingml/2006/main">
            <a:r>
              <a:t>- E. F. Codd, A Relational Model of Data for Large Shared Data Banks, Communications of the ACM, 1970, https://doi.org/10.1145/362384.362685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displays a relation named tickets. Its schema defines four attributes: ticket_id, title, status, and requester_id. The schema also includes a domain for each attribute. Ticket identifiers and requester identifiers might be integers, while title and status are text with additional rules. Each data row is a tuple representing one ticket fact. In the pure relational model, a relation is a set, so tuple order is not meaningful and duplicate tuples are not part of the relation. A key is an attribute, or combination of attributes, whose value uniquely identifies a tuple. Here ticket_id is the natural candidate for the primary key. The highlighted value 101 is not merely the first cell in a spreadsheet. It is the identity of one ticket that other relations can reference.</a:t>
            </a:r>
          </a:p>
          <a:p xmlns:a="http://schemas.openxmlformats.org/drawingml/2006/main">
            <a:r>
              <a:t/>
            </a:r>
          </a:p>
          <a:p xmlns:a="http://schemas.openxmlformats.org/drawingml/2006/main">
            <a:r>
              <a:t>[Sources]</a:t>
            </a:r>
          </a:p>
          <a:p xmlns:a="http://schemas.openxmlformats.org/drawingml/2006/main">
            <a:r>
              <a:t>- CST4714 course textbook, Chapter 2, sections 2.1 and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Schema and instance describe different aspects of a database. The schema is the declared structure: relation names, attribute names, data types, keys, and constraints. It answers what kinds of facts the database is designed to store and which values are allowed. The instance is the set of tuples present at a particular moment. It answers what the database currently knows. A schema should change through deliberate migrations because applications and queries depend on it. The instance changes through ordinary inserts, updates, and deletes. Domains connect structure to meaning. If status is unrestricted text, misspellings such as opened or close can fragment the data. A domain or constraint can limit status to accepted values such as open and closed. Database design is therefore not only about where values fit; it also defines which states are valid.</a:t>
            </a:r>
          </a:p>
          <a:p xmlns:a="http://schemas.openxmlformats.org/drawingml/2006/main">
            <a:r>
              <a:t/>
            </a:r>
          </a:p>
          <a:p xmlns:a="http://schemas.openxmlformats.org/drawingml/2006/main">
            <a:r>
              <a:t>[Sources]</a:t>
            </a:r>
          </a:p>
          <a:p xmlns:a="http://schemas.openxmlformats.org/drawingml/2006/main">
            <a:r>
              <a:t>- CST4714 course textbook, Chapter 2, sections 2.1 through 2.3.</a:t>
            </a:r>
          </a:p>
          <a:p xmlns:a="http://schemas.openxmlformats.org/drawingml/2006/main">
            <a:r>
              <a:t>- https://www.postgresql.org/docs/current/ddl-constraints.html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Keys let separate relations describe connected facts without copying an entire record each time. In the users relation, user_id is the primary key. It identifies a user independently of a name, which might not be unique and might change. In the tickets relation, requester_id is a foreign key. Its value refers to an existing user_id. Ticket 101 stores the value 7, which connects the ticket to Luis. This design avoids repeating Luis’s name in every ticket and gives the system one authoritative user record. A foreign key constraint can prevent a ticket from referring to a user that does not exist. The connection is logical rather than visual: the database stores matching values, and a join reconstructs the combined view when a query needs ticket and user information together.</a:t>
            </a:r>
          </a:p>
          <a:p xmlns:a="http://schemas.openxmlformats.org/drawingml/2006/main">
            <a:r>
              <a:t/>
            </a:r>
          </a:p>
          <a:p xmlns:a="http://schemas.openxmlformats.org/drawingml/2006/main">
            <a:r>
              <a:t>[Sources]</a:t>
            </a:r>
          </a:p>
          <a:p xmlns:a="http://schemas.openxmlformats.org/drawingml/2006/main">
            <a:r>
              <a:t>- CST4714 course textbook, Chapter 2, section 2.3.</a:t>
            </a:r>
          </a:p>
          <a:p xmlns:a="http://schemas.openxmlformats.org/drawingml/2006/main">
            <a:r>
              <a:t>- https://www.postgresql.org/docs/current/ddl-constraints.html#DDL-CONSTRAINTS-FK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Selection is a unary relational operation, meaning it takes one relation as input. It evaluates a condition for each tuple and keeps only the tuples for which that condition is true. The Greek letter sigma denotes selection. In this example, sigma subscript status equals open applied to tickets returns the two highlighted tuples, ticket 101 and ticket 103. The result remains a relation with the same attributes as the input, but potentially fewer tuples. In SQL, the WHERE clause performs the corresponding filtering job. The SELECT star portion keeps all available columns, while WHERE status equals open controls which rows qualify. Thinking in algebra separates two choices that SQL writes in one statement: selection controls tuples, while projection, introduced next, controls attributes.</a:t>
            </a:r>
          </a:p>
          <a:p xmlns:a="http://schemas.openxmlformats.org/drawingml/2006/main">
            <a:r>
              <a:t/>
            </a:r>
          </a:p>
          <a:p xmlns:a="http://schemas.openxmlformats.org/drawingml/2006/main">
            <a:r>
              <a:t>[Sources]</a:t>
            </a:r>
          </a:p>
          <a:p xmlns:a="http://schemas.openxmlformats.org/drawingml/2006/main">
            <a:r>
              <a:t>- CST4714 course textbook, Chapter 2, section 2.4.</a:t>
            </a:r>
          </a:p>
          <a:p xmlns:a="http://schemas.openxmlformats.org/drawingml/2006/main">
            <a:r>
              <a:t>- https://www.postgresql.org/docs/current/queries-table-expressions.html#QUERIES-WHERE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Projection is also a unary operation, but it changes the attributes rather than filtering tuples. The Greek letter pi denotes projection. Pi ticket_id comma title applied to tickets returns a relation with exactly those two attributes. Its output schema is therefore ticket_id and title. In SQL, the list after SELECT performs this job. Projection can also compute expressions or rename outputs in practical query languages, although the formal algebra is often introduced with simple attribute lists. Selection and projection commonly appear together. We might first select open tickets and then project only their identifiers and titles. The order can affect intermediate data and, in some cases, whether later operations still have the attributes they need. The key question is always explicit: which tuples should remain, and which attributes should the result expose?</a:t>
            </a:r>
          </a:p>
          <a:p xmlns:a="http://schemas.openxmlformats.org/drawingml/2006/main">
            <a:r>
              <a:t/>
            </a:r>
          </a:p>
          <a:p xmlns:a="http://schemas.openxmlformats.org/drawingml/2006/main">
            <a:r>
              <a:t>[Sources]</a:t>
            </a:r>
          </a:p>
          <a:p xmlns:a="http://schemas.openxmlformats.org/drawingml/2006/main">
            <a:r>
              <a:t>- CST4714 course textbook, Chapter 2, section 2.4.</a:t>
            </a:r>
          </a:p>
          <a:p xmlns:a="http://schemas.openxmlformats.org/drawingml/2006/main">
            <a:r>
              <a:t>- https://www.postgresql.org/docs/current/queries-select-lists.html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Cartesian product pairs every tuple from one relation with every tuple from another. If relation R has three tuples and relation S has four, the product contains twelve pairs. That operation is mathematically simple but usually produces combinations with no business meaning. A join adds a condition that keeps only meaningful pairs. An equi-join compares attributes for equality. Joining tickets and users where tickets.requester_id equals users.user_id pairs each ticket with the user who requested it. The number of output tuples depends on the data and the relationship. A primary-key-to-foreign-key join typically returns at most one matching parent for each child. A many-to-many join can return many matches. Understanding cardinality is essential because incorrect join conditions create wrong results and can expand intermediate data dramatically.</a:t>
            </a:r>
          </a:p>
          <a:p xmlns:a="http://schemas.openxmlformats.org/drawingml/2006/main">
            <a:r>
              <a:t/>
            </a:r>
          </a:p>
          <a:p xmlns:a="http://schemas.openxmlformats.org/drawingml/2006/main">
            <a:r>
              <a:t>[Sources]</a:t>
            </a:r>
          </a:p>
          <a:p xmlns:a="http://schemas.openxmlformats.org/drawingml/2006/main">
            <a:r>
              <a:t>- CST4714 course textbook, Chapter 2, sections 2.4 and 2.5.</a:t>
            </a:r>
          </a:p>
          <a:p xmlns:a="http://schemas.openxmlformats.org/drawingml/2006/main">
            <a:r>
              <a:t>- https://www.postgresql.org/docs/current/queries-table-expressions.html#QUERIES-JOIN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translates one relational expression into SQL. Begin with tickets joined to users where requester_id equals user_id. That reconstructs each ticket together with its requester. Next, selection keeps only tuples whose ticket status is open. Finally, projection keeps the title and user name attributes needed in the output. SQL writes the same logic in a different surface order. SELECT names the projected output. FROM and JOIN identify the input relations and matching condition. WHERE applies the selection condition. A database optimizer may execute an equivalent plan in a different physical order, but the logical meaning remains. This translation skill is more durable than memorizing one query. When a query is wrong, describe the intended result as relations and transformations, then compare that description with the SQL clauses actually present.</a:t>
            </a:r>
          </a:p>
          <a:p xmlns:a="http://schemas.openxmlformats.org/drawingml/2006/main">
            <a:r>
              <a:t/>
            </a:r>
          </a:p>
          <a:p xmlns:a="http://schemas.openxmlformats.org/drawingml/2006/main">
            <a:r>
              <a:t>[Sources]</a:t>
            </a:r>
          </a:p>
          <a:p xmlns:a="http://schemas.openxmlformats.org/drawingml/2006/main">
            <a:r>
              <a:t>- CST4714 course textbook, Chapter 2, sections 2.4 through 2.6.</a:t>
            </a:r>
          </a:p>
          <a:p xmlns:a="http://schemas.openxmlformats.org/drawingml/2006/main">
            <a:r>
              <a:t>- https://www.postgresql.org/docs/current/queries.html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 established four foundations. First, trace a user action through the client, API, identity layer, DBMS, and stored data. Second, distinguish the data itself from the software that manages it and the cloud platform that operates surrounding infrastructure. Third, describe relational data with precise terms: relation, attribute, tuple, domain, schema, instance, primary key, and foreign key. Fourth, interpret selection, projection, product, and join as transformations that produce new relations. These ideas will return throughout the semester. Before Week 2, read Chapter 2 with particular attention to joins, grouping, subqueries, and window functions. Bring the Week 2 SQL Query Ladder lab. The next class will turn today’s logical operations into increasingly expressive SQL and will examine how query structure affects correctness before performance tuning begins.</a:t>
            </a:r>
          </a:p>
          <a:p xmlns:a="http://schemas.openxmlformats.org/drawingml/2006/main">
            <a:r>
              <a:t/>
            </a:r>
          </a:p>
          <a:p xmlns:a="http://schemas.openxmlformats.org/drawingml/2006/main">
            <a:r>
              <a:t>[Sources]</a:t>
            </a:r>
          </a:p>
          <a:p xmlns:a="http://schemas.openxmlformats.org/drawingml/2006/main">
            <a:r>
              <a:t>- CST4714 course textbook, Chapter 2, sections 2.5 through 2.8.</a:t>
            </a:r>
          </a:p>
          <a:p xmlns:a="http://schemas.openxmlformats.org/drawingml/2006/main">
            <a:r>
              <a:t>- CST4714 Week 2: SQL Retrieval and Query Reasoning.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adebbd2925d7491b"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ac710a8190374ca8" Type="http://schemas.openxmlformats.org/officeDocument/2006/relationships/theme" Target="theme/theme2.xml"/><Relationship Id="Rfd42052fa1d64ec9"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d42052fa1d64e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a6792e5366e74c67" Type="http://schemas.openxmlformats.org/officeDocument/2006/relationships/slideLayout" Target="../slideLayouts/slideLayout1.xml"/><Relationship Id="Rae2d265380f343f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0dcd1cd4fc540b3" Type="http://schemas.openxmlformats.org/officeDocument/2006/relationships/slideLayout" Target="../slideLayouts/slideLayout1.xml"/><Relationship Id="Ra323944029224a8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3340f654f214bfd" Type="http://schemas.openxmlformats.org/officeDocument/2006/relationships/notesSlide" Target="../notesSlides/notesSlide3.xml"/><Relationship Id="R6938869a3041492a"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313777ac91b940c6" Type="http://schemas.openxmlformats.org/officeDocument/2006/relationships/slideLayout" Target="../slideLayouts/slideLayout1.xml"/><Relationship Id="R4665951af0f34bf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444d76247bd4ac8" Type="http://schemas.openxmlformats.org/officeDocument/2006/relationships/slideLayout" Target="../slideLayouts/slideLayout1.xml"/><Relationship Id="R1ffd77da5c474bdd" Type="http://schemas.openxmlformats.org/officeDocument/2006/relationships/image" Target="../media/image.png"/><Relationship Id="R631514a5e5f847c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5f51de89d826495f" Type="http://schemas.openxmlformats.org/officeDocument/2006/relationships/notesSlide" Target="../notesSlides/notesSlide6.xml"/><Relationship Id="R9aa4a5de8b14408c" Type="http://schemas.openxmlformats.org/officeDocument/2006/relationships/slideLayout" Target="../slideLayouts/slideLayout1.xml"/><Relationship Id="Rea70a3b7214f4c15" Type="http://schemas.openxmlformats.org/officeDocument/2006/relationships/image" Target="../media/image2.png"/></Relationships>
</file>

<file path=ppt/slides/_rels/slide7.xml.rels><?xml version='1.0' encoding='UTF-8' standalone='yes'?>
<Relationships xmlns="http://schemas.openxmlformats.org/package/2006/relationships"><Relationship Id="R51cebca728014366" Type="http://schemas.openxmlformats.org/officeDocument/2006/relationships/notesSlide" Target="../notesSlides/notesSlide7.xml"/><Relationship Id="R80f4fc99afc54503"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a9fd56f5814346a5" Type="http://schemas.openxmlformats.org/officeDocument/2006/relationships/slideLayout" Target="../slideLayouts/slideLayout1.xml"/><Relationship Id="Rdbe2a4f6b7e9404c"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8b8c66c0bb114932" Type="http://schemas.openxmlformats.org/officeDocument/2006/relationships/notesSlide" Target="../notesSlides/notesSlide11.xml"/><Relationship Id="Rd4064cd3e65d4023"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a359e3eede154ab0" Type="http://schemas.openxmlformats.org/officeDocument/2006/relationships/notesSlide" Target="../notesSlides/notesSlide12.xml"/><Relationship Id="Rd22c22800ea24330"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1dc0b8b5f11c41bf" Type="http://schemas.openxmlformats.org/officeDocument/2006/relationships/notesSlide" Target="../notesSlides/notesSlide13.xml"/><Relationship Id="R64bae013b7b047fd"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930412fa857d4c3a" Type="http://schemas.openxmlformats.org/officeDocument/2006/relationships/slideLayout" Target="../slideLayouts/slideLayout1.xml"/><Relationship Id="Rb1e33d4fc31547fd"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3926e3944c794c97" Type="http://schemas.openxmlformats.org/officeDocument/2006/relationships/notesSlide" Target="../notesSlides/notesSlide15.xml"/><Relationship Id="R49ddfefae24c4976"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cc7911fe476d4d2b" Type="http://schemas.openxmlformats.org/officeDocument/2006/relationships/slideLayout" Target="../slideLayouts/slideLayout1.xml"/><Relationship Id="Ree07eeea55c14d5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1d30b77521b6484f" Type="http://schemas.openxmlformats.org/officeDocument/2006/relationships/slideLayout" Target="../slideLayouts/slideLayout1.xml"/><Relationship Id="R7146d49ca5b144c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1842594150f94d4c" Type="http://schemas.openxmlformats.org/officeDocument/2006/relationships/notesSlide" Target="../notesSlides/notesSlide18.xml"/><Relationship Id="Rf5d05b417aac4b23"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2ea2a27d8b294526" Type="http://schemas.openxmlformats.org/officeDocument/2006/relationships/notesSlide" Target="../notesSlides/notesSlide20.xml"/><Relationship Id="R598e79890b1347df"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677BDD-1D4B-4C05-9C22-841E47A34C4D}"/>
              </a:ext>
            </a:extLst>
          </p:cNvPr>
          <p:cNvSpPr>
            <a:spLocks xmlns:a="http://schemas.openxmlformats.org/drawingml/2006/main" noGrp="1"/>
          </p:cNvSpPr>
          <p:nvPr/>
        </p:nvSpPr>
        <p:spPr>
          <a:xfrm xmlns:a="http://schemas.openxmlformats.org/drawingml/2006/main">
            <a:off x="590550" y="514350"/>
            <a:ext cx="19621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CST 4714 · WEEK 1</a:t>
            </a:r>
          </a:p>
        </p:txBody>
      </p:sp>
      <p:sp>
        <p:nvSpPr>
          <p:cNvPr id="2" name="">
            <a:extLst xmlns:a="http://schemas.openxmlformats.org/drawingml/2006/main">
              <a:ext uri="{FF2B5EF4-FFF2-40B4-BE49-F238E27FC236}">
                <a16:creationId xmlns:a16="http://schemas.microsoft.com/office/drawing/2014/main" id="{593EE085-AD30-4812-BD98-109F022987FD}"/>
              </a:ext>
            </a:extLst>
          </p:cNvPr>
          <p:cNvSpPr>
            <a:spLocks xmlns:a="http://schemas.openxmlformats.org/drawingml/2006/main" noGrp="1"/>
          </p:cNvSpPr>
          <p:nvPr/>
        </p:nvSpPr>
        <p:spPr>
          <a:xfrm xmlns:a="http://schemas.openxmlformats.org/drawingml/2006/main">
            <a:off x="590550" y="1381125"/>
            <a:ext cx="723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88000"/>
              </a:lnSpc>
              <a:buNone/>
              <a:defRPr sz="4950" b="1">
                <a:solidFill>
                  <a:srgbClr val="FFFFFF"/>
                </a:solidFill>
                <a:latin typeface="Georgia"/>
                <a:ea typeface="Georgia"/>
                <a:cs typeface="Georgia"/>
              </a:defRPr>
            </a:pPr>
            <a:r>
              <a:rPr sz="4950" b="1">
                <a:solidFill>
                  <a:srgbClr val="FFFFFF"/>
                </a:solidFill>
                <a:latin typeface="Georgia"/>
                <a:ea typeface="Georgia"/>
                <a:cs typeface="Georgia"/>
              </a:rPr>
              <a:t>How Applications</a:t>
            </a:r>
          </a:p>
          <a:p xmlns:a="http://schemas.openxmlformats.org/drawingml/2006/main">
            <a:pPr>
              <a:lnSpc>
                <a:spcPct val="88000"/>
              </a:lnSpc>
              <a:buNone/>
              <a:defRPr sz="4950" b="1">
                <a:solidFill>
                  <a:srgbClr val="FFFFFF"/>
                </a:solidFill>
                <a:latin typeface="Georgia"/>
                <a:ea typeface="Georgia"/>
                <a:cs typeface="Georgia"/>
              </a:defRPr>
            </a:pPr>
            <a:r>
              <a:rPr sz="4950" b="1">
                <a:solidFill>
                  <a:srgbClr val="FFFFFF"/>
                </a:solidFill>
                <a:latin typeface="Georgia"/>
                <a:ea typeface="Georgia"/>
                <a:cs typeface="Georgia"/>
              </a:rPr>
              <a:t>Use Databases</a:t>
            </a:r>
          </a:p>
        </p:txBody>
      </p:sp>
      <p:sp>
        <p:nvSpPr>
          <p:cNvPr id="3" name="">
            <a:extLst xmlns:a="http://schemas.openxmlformats.org/drawingml/2006/main">
              <a:ext uri="{FF2B5EF4-FFF2-40B4-BE49-F238E27FC236}">
                <a16:creationId xmlns:a16="http://schemas.microsoft.com/office/drawing/2014/main" id="{F8117FC9-220C-4CDC-8837-8AF8E21D5EFE}"/>
              </a:ext>
            </a:extLst>
          </p:cNvPr>
          <p:cNvSpPr>
            <a:spLocks xmlns:a="http://schemas.openxmlformats.org/drawingml/2006/main" noGrp="1"/>
          </p:cNvSpPr>
          <p:nvPr/>
        </p:nvSpPr>
        <p:spPr>
          <a:xfrm xmlns:a="http://schemas.openxmlformats.org/drawingml/2006/main">
            <a:off x="628650" y="3543300"/>
            <a:ext cx="6667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20000"/>
              </a:lnSpc>
              <a:buNone/>
              <a:defRPr sz="1875">
                <a:solidFill>
                  <a:srgbClr val="D9E2F1"/>
                </a:solidFill>
                <a:latin typeface="Avenir Next"/>
                <a:ea typeface="Avenir Next"/>
                <a:cs typeface="Avenir Next"/>
              </a:defRPr>
            </a:pPr>
            <a:r>
              <a:rPr sz="1875">
                <a:solidFill>
                  <a:srgbClr val="D9E2F1"/>
                </a:solidFill>
                <a:latin typeface="Avenir Next"/>
                <a:ea typeface="Avenir Next"/>
                <a:cs typeface="Avenir Next"/>
              </a:rPr>
              <a:t>From one user action to a stored record, then from tables to relational reasoning.</a:t>
            </a:r>
          </a:p>
        </p:txBody>
      </p:sp>
      <p:sp>
        <p:nvSpPr>
          <p:cNvPr id="4" name="">
            <a:extLst xmlns:a="http://schemas.openxmlformats.org/drawingml/2006/main">
              <a:ext uri="{FF2B5EF4-FFF2-40B4-BE49-F238E27FC236}">
                <a16:creationId xmlns:a16="http://schemas.microsoft.com/office/drawing/2014/main" id="{F4086F4E-1F75-452D-856E-9CD588C35D7D}"/>
              </a:ext>
            </a:extLst>
          </p:cNvPr>
          <p:cNvSpPr>
            <a:spLocks xmlns:a="http://schemas.openxmlformats.org/drawingml/2006/main" noGrp="1"/>
          </p:cNvSpPr>
          <p:nvPr/>
        </p:nvSpPr>
        <p:spPr>
          <a:xfrm xmlns:a="http://schemas.openxmlformats.org/drawingml/2006/main">
            <a:off x="7953375" y="1190625"/>
            <a:ext cx="1524000" cy="876300"/>
          </a:xfrm>
          <a:prstGeom xmlns:a="http://schemas.openxmlformats.org/drawingml/2006/main" prst="roundRect">
            <a:avLst>
              <a:gd name="adj" fmla="val 19565"/>
            </a:avLst>
          </a:prstGeom>
          <a:solidFill xmlns:a="http://schemas.openxmlformats.org/drawingml/2006/main">
            <a:srgbClr val="DCEBFF"/>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CLIENT</a:t>
            </a:r>
          </a:p>
        </p:txBody>
      </p:sp>
      <p:sp>
        <p:nvSpPr>
          <p:cNvPr id="5" name="">
            <a:extLst xmlns:a="http://schemas.openxmlformats.org/drawingml/2006/main">
              <a:ext uri="{FF2B5EF4-FFF2-40B4-BE49-F238E27FC236}">
                <a16:creationId xmlns:a16="http://schemas.microsoft.com/office/drawing/2014/main" id="{74008E45-7351-46FC-BBAA-1D25F330654D}"/>
              </a:ext>
            </a:extLst>
          </p:cNvPr>
          <p:cNvSpPr>
            <a:spLocks xmlns:a="http://schemas.openxmlformats.org/drawingml/2006/main" noGrp="1"/>
          </p:cNvSpPr>
          <p:nvPr/>
        </p:nvSpPr>
        <p:spPr>
          <a:xfrm xmlns:a="http://schemas.openxmlformats.org/drawingml/2006/main">
            <a:off x="9572625" y="2447925"/>
            <a:ext cx="1428750" cy="876300"/>
          </a:xfrm>
          <a:prstGeom xmlns:a="http://schemas.openxmlformats.org/drawingml/2006/main" prst="roundRect">
            <a:avLst>
              <a:gd name="adj" fmla="val 19565"/>
            </a:avLst>
          </a:prstGeom>
          <a:solidFill xmlns:a="http://schemas.openxmlformats.org/drawingml/2006/main">
            <a:srgbClr val="FCE7D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a:t>
            </a:r>
          </a:p>
        </p:txBody>
      </p:sp>
      <p:sp>
        <p:nvSpPr>
          <p:cNvPr id="6" name="">
            <a:extLst xmlns:a="http://schemas.openxmlformats.org/drawingml/2006/main">
              <a:ext uri="{FF2B5EF4-FFF2-40B4-BE49-F238E27FC236}">
                <a16:creationId xmlns:a16="http://schemas.microsoft.com/office/drawing/2014/main" id="{FC7AC4B8-87A9-4B01-B4C1-76BCA29E8BE7}"/>
              </a:ext>
            </a:extLst>
          </p:cNvPr>
          <p:cNvSpPr>
            <a:spLocks xmlns:a="http://schemas.openxmlformats.org/drawingml/2006/main" noGrp="1"/>
          </p:cNvSpPr>
          <p:nvPr/>
        </p:nvSpPr>
        <p:spPr>
          <a:xfrm xmlns:a="http://schemas.openxmlformats.org/drawingml/2006/main">
            <a:off x="7953375" y="3705225"/>
            <a:ext cx="2095500" cy="876300"/>
          </a:xfrm>
          <a:prstGeom xmlns:a="http://schemas.openxmlformats.org/drawingml/2006/main" prst="roundRect">
            <a:avLst>
              <a:gd name="adj" fmla="val 19565"/>
            </a:avLst>
          </a:prstGeom>
          <a:solidFill xmlns:a="http://schemas.openxmlformats.org/drawingml/2006/main">
            <a:srgbClr val="DDF3EE"/>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DATABASE</a:t>
            </a:r>
          </a:p>
        </p:txBody>
      </p:sp>
      <p:cxnSp>
        <p:nvCxnSpPr>
          <p:cNvPr id="49" name=""/>
          <p:cNvCxnSpPr>
            <a:stCxn xmlns:a="http://schemas.openxmlformats.org/drawingml/2006/main" id="4" idx="3"/>
            <a:endCxn xmlns:a="http://schemas.openxmlformats.org/drawingml/2006/main" id="5" idx="0"/>
          </p:cNvCxnSpPr>
          <p:nvPr/>
        </p:nvCxnSpPr>
        <p:spPr>
          <a:xfrm xmlns:a="http://schemas.openxmlformats.org/drawingml/2006/main">
            <a:off x="9477375" y="1628775"/>
            <a:ext cx="809625" cy="819150"/>
          </a:xfrm>
          <a:prstGeom xmlns:a="http://schemas.openxmlformats.org/drawingml/2006/main" prst="bentConnector2">
            <a:avLst/>
          </a:prstGeom>
          <a:ln xmlns:a="http://schemas.openxmlformats.org/drawingml/2006/main" w="28575">
            <a:solidFill>
              <a:srgbClr val="F4A261"/>
            </a:solidFill>
            <a:prstDash val="solid"/>
            <a:tailEnd type="triangle" w="sm" len="sm"/>
          </a:ln>
        </p:spPr>
      </p:cxnSp>
      <p:cxnSp>
        <p:nvCxnSpPr>
          <p:cNvPr id="50" name=""/>
          <p:cNvCxnSpPr>
            <a:stCxn xmlns:a="http://schemas.openxmlformats.org/drawingml/2006/main" id="5" idx="2"/>
            <a:endCxn xmlns:a="http://schemas.openxmlformats.org/drawingml/2006/main" id="6" idx="3"/>
          </p:cNvCxnSpPr>
          <p:nvPr/>
        </p:nvCxnSpPr>
        <p:spPr>
          <a:xfrm xmlns:a="http://schemas.openxmlformats.org/drawingml/2006/main" flipH="1">
            <a:off x="10048875" y="3324225"/>
            <a:ext cx="238125" cy="819150"/>
          </a:xfrm>
          <a:prstGeom xmlns:a="http://schemas.openxmlformats.org/drawingml/2006/main" prst="bentConnector5">
            <a:avLst>
              <a:gd name="adj1" fmla="val 0"/>
              <a:gd name="adj2" fmla="val 27907"/>
              <a:gd name="adj3" fmla="val 4000"/>
            </a:avLst>
          </a:prstGeom>
          <a:ln xmlns:a="http://schemas.openxmlformats.org/drawingml/2006/main" w="28575">
            <a:solidFill>
              <a:srgbClr val="F4A261"/>
            </a:solidFill>
            <a:prstDash val="solid"/>
            <a:tailEnd type="triangle" w="sm" len="sm"/>
          </a:ln>
        </p:spPr>
      </p:cxnSp>
      <p:sp>
        <p:nvSpPr>
          <p:cNvPr id="9" name="">
            <a:extLst xmlns:a="http://schemas.openxmlformats.org/drawingml/2006/main">
              <a:ext uri="{FF2B5EF4-FFF2-40B4-BE49-F238E27FC236}">
                <a16:creationId xmlns:a16="http://schemas.microsoft.com/office/drawing/2014/main" id="{8BB18E93-FCA8-4C33-BB30-198103AEB54E}"/>
              </a:ext>
            </a:extLst>
          </p:cNvPr>
          <p:cNvSpPr>
            <a:spLocks xmlns:a="http://schemas.openxmlformats.org/drawingml/2006/main" noGrp="1"/>
          </p:cNvSpPr>
          <p:nvPr/>
        </p:nvSpPr>
        <p:spPr>
          <a:xfrm xmlns:a="http://schemas.openxmlformats.org/drawingml/2006/main">
            <a:off x="628650" y="6048375"/>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b="1">
                <a:solidFill>
                  <a:srgbClr val="F4A261"/>
                </a:solidFill>
                <a:latin typeface="Avenir Next"/>
                <a:ea typeface="Avenir Next"/>
                <a:cs typeface="Avenir Next"/>
              </a:defRPr>
            </a:pPr>
            <a:r>
              <a:rPr sz="1200" b="1">
                <a:solidFill>
                  <a:srgbClr val="F4A261"/>
                </a:solidFill>
                <a:latin typeface="Avenir Next"/>
                <a:ea typeface="Avenir Next"/>
                <a:cs typeface="Avenir Next"/>
              </a:rPr>
              <a:t>A practical introduction to database administration</a:t>
            </a:r>
          </a:p>
        </p:txBody>
      </p:sp>
      <p:sp>
        <p:nvSpPr>
          <p:cNvPr id="10" name="">
            <a:extLst xmlns:a="http://schemas.openxmlformats.org/drawingml/2006/main">
              <a:ext uri="{FF2B5EF4-FFF2-40B4-BE49-F238E27FC236}">
                <a16:creationId xmlns:a16="http://schemas.microsoft.com/office/drawing/2014/main" id="{F4981429-47E4-41FB-B24A-C4986B51D7A0}"/>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B9C4D8"/>
                </a:solidFill>
                <a:latin typeface="Menlo"/>
                <a:ea typeface="Menlo"/>
                <a:cs typeface="Menlo"/>
              </a:defRPr>
            </a:pPr>
            <a:r>
              <a:rPr sz="1050" b="1">
                <a:solidFill>
                  <a:srgbClr val="B9C4D8"/>
                </a:solidFill>
                <a:latin typeface="Menlo"/>
                <a:ea typeface="Menlo"/>
                <a:cs typeface="Menlo"/>
              </a:rPr>
              <a:t>01</a:t>
            </a:r>
          </a:p>
        </p:txBody>
      </p:sp>
    </p:spTree>
    <p:extLst>
      <p:ext uri="{BB962C8B-B14F-4D97-AF65-F5344CB8AC3E}">
        <p14:creationId xmlns:p14="http://schemas.microsoft.com/office/powerpoint/2010/main" val="326442865"/>
      </p:ext>
    </p:extLst>
  </p:cSld>
</p:sld>
</file>

<file path=ppt/slides/slide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71D6F0B-6151-448B-B4F8-A4A58FF97718}"/>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961"/>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START WITH THE DATA</a:t>
            </a:r>
          </a:p>
        </p:txBody>
      </p:sp>
      <p:sp>
        <p:nvSpPr>
          <p:cNvPr id="2" name="slide-title">
            <a:extLst xmlns:a="http://schemas.openxmlformats.org/drawingml/2006/main">
              <a:ext uri="{FF2B5EF4-FFF2-40B4-BE49-F238E27FC236}">
                <a16:creationId xmlns:a16="http://schemas.microsoft.com/office/drawing/2014/main" id="{CF674DE4-CEAD-4081-A2C5-68C5AB13651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Every familiar app is a database interface</a:t>
            </a:r>
          </a:p>
        </p:txBody>
      </p:sp>
      <p:sp>
        <p:nvSpPr>
          <p:cNvPr id="3" name="">
            <a:extLst xmlns:a="http://schemas.openxmlformats.org/drawingml/2006/main">
              <a:ext uri="{FF2B5EF4-FFF2-40B4-BE49-F238E27FC236}">
                <a16:creationId xmlns:a16="http://schemas.microsoft.com/office/drawing/2014/main" id="{98F8E379-A464-41B8-AD8D-A94D1F229E4B}"/>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screen is only the visible edge of a larger system.</a:t>
            </a:r>
          </a:p>
        </p:txBody>
      </p:sp>
      <p:sp>
        <p:nvSpPr>
          <p:cNvPr id="4" name="">
            <a:extLst xmlns:a="http://schemas.openxmlformats.org/drawingml/2006/main">
              <a:ext uri="{FF2B5EF4-FFF2-40B4-BE49-F238E27FC236}">
                <a16:creationId xmlns:a16="http://schemas.microsoft.com/office/drawing/2014/main" id="{428B8142-204E-4D6E-BE66-A98EAD24C3B4}"/>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02</a:t>
            </a:r>
          </a:p>
        </p:txBody>
      </p:sp>
      <p:sp>
        <p:nvSpPr>
          <p:cNvPr id="5" name="">
            <a:extLst xmlns:a="http://schemas.openxmlformats.org/drawingml/2006/main">
              <a:ext uri="{FF2B5EF4-FFF2-40B4-BE49-F238E27FC236}">
                <a16:creationId xmlns:a16="http://schemas.microsoft.com/office/drawing/2014/main" id="{E509F560-57D3-4C5C-9D0D-87B987E15656}"/>
              </a:ext>
            </a:extLst>
          </p:cNvPr>
          <p:cNvSpPr>
            <a:spLocks xmlns:a="http://schemas.openxmlformats.org/drawingml/2006/main" noGrp="1"/>
          </p:cNvSpPr>
          <p:nvPr/>
        </p:nvSpPr>
        <p:spPr>
          <a:xfrm xmlns:a="http://schemas.openxmlformats.org/drawingml/2006/main">
            <a:off x="552450" y="2266950"/>
            <a:ext cx="3371850" cy="3143250"/>
          </a:xfrm>
          <a:prstGeom xmlns:a="http://schemas.openxmlformats.org/drawingml/2006/main" prst="roundRect">
            <a:avLst>
              <a:gd name="adj" fmla="val 5455"/>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339B1735-1707-491E-80DA-DB642AE797FC}"/>
              </a:ext>
            </a:extLst>
          </p:cNvPr>
          <p:cNvSpPr>
            <a:spLocks xmlns:a="http://schemas.openxmlformats.org/drawingml/2006/main" noGrp="1"/>
          </p:cNvSpPr>
          <p:nvPr/>
        </p:nvSpPr>
        <p:spPr>
          <a:xfrm xmlns:a="http://schemas.openxmlformats.org/drawingml/2006/main">
            <a:off x="552450" y="2266950"/>
            <a:ext cx="76200" cy="31432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658E673B-088E-4462-960B-DA4ADEB6372F}"/>
              </a:ext>
            </a:extLst>
          </p:cNvPr>
          <p:cNvSpPr>
            <a:spLocks xmlns:a="http://schemas.openxmlformats.org/drawingml/2006/main" noGrp="1"/>
          </p:cNvSpPr>
          <p:nvPr/>
        </p:nvSpPr>
        <p:spPr>
          <a:xfrm xmlns:a="http://schemas.openxmlformats.org/drawingml/2006/main">
            <a:off x="800100"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Music service</a:t>
            </a:r>
          </a:p>
        </p:txBody>
      </p:sp>
      <p:sp>
        <p:nvSpPr>
          <p:cNvPr id="8" name="">
            <a:extLst xmlns:a="http://schemas.openxmlformats.org/drawingml/2006/main">
              <a:ext uri="{FF2B5EF4-FFF2-40B4-BE49-F238E27FC236}">
                <a16:creationId xmlns:a16="http://schemas.microsoft.com/office/drawing/2014/main" id="{6A96285D-DAE5-483F-BD5D-41524026A6EA}"/>
              </a:ext>
            </a:extLst>
          </p:cNvPr>
          <p:cNvSpPr>
            <a:spLocks xmlns:a="http://schemas.openxmlformats.org/drawingml/2006/main" noGrp="1"/>
          </p:cNvSpPr>
          <p:nvPr/>
        </p:nvSpPr>
        <p:spPr>
          <a:xfrm xmlns:a="http://schemas.openxmlformats.org/drawingml/2006/main">
            <a:off x="800100"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Artists · tracks · playlists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listening history · subscriptions</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Typical question:</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“Which tracks are in this playlist, in order?”</a:t>
            </a:r>
          </a:p>
        </p:txBody>
      </p:sp>
      <p:sp>
        <p:nvSpPr>
          <p:cNvPr id="9" name="">
            <a:extLst xmlns:a="http://schemas.openxmlformats.org/drawingml/2006/main">
              <a:ext uri="{FF2B5EF4-FFF2-40B4-BE49-F238E27FC236}">
                <a16:creationId xmlns:a16="http://schemas.microsoft.com/office/drawing/2014/main" id="{1260CBDF-E1BD-4BC9-8383-3569FF60D75F}"/>
              </a:ext>
            </a:extLst>
          </p:cNvPr>
          <p:cNvSpPr>
            <a:spLocks xmlns:a="http://schemas.openxmlformats.org/drawingml/2006/main" noGrp="1"/>
          </p:cNvSpPr>
          <p:nvPr/>
        </p:nvSpPr>
        <p:spPr>
          <a:xfrm xmlns:a="http://schemas.openxmlformats.org/drawingml/2006/main">
            <a:off x="4410075" y="2266950"/>
            <a:ext cx="3371850" cy="3143250"/>
          </a:xfrm>
          <a:prstGeom xmlns:a="http://schemas.openxmlformats.org/drawingml/2006/main" prst="roundRect">
            <a:avLst>
              <a:gd name="adj" fmla="val 5455"/>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FAB91885-D259-41D7-972A-6420749608B7}"/>
              </a:ext>
            </a:extLst>
          </p:cNvPr>
          <p:cNvSpPr>
            <a:spLocks xmlns:a="http://schemas.openxmlformats.org/drawingml/2006/main" noGrp="1"/>
          </p:cNvSpPr>
          <p:nvPr/>
        </p:nvSpPr>
        <p:spPr>
          <a:xfrm xmlns:a="http://schemas.openxmlformats.org/drawingml/2006/main">
            <a:off x="4410075" y="2266950"/>
            <a:ext cx="76200" cy="3143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11" name="">
            <a:extLst xmlns:a="http://schemas.openxmlformats.org/drawingml/2006/main">
              <a:ext uri="{FF2B5EF4-FFF2-40B4-BE49-F238E27FC236}">
                <a16:creationId xmlns:a16="http://schemas.microsoft.com/office/drawing/2014/main" id="{3DE67011-A356-45C6-8023-2174A4EEC34E}"/>
              </a:ext>
            </a:extLst>
          </p:cNvPr>
          <p:cNvSpPr>
            <a:spLocks xmlns:a="http://schemas.openxmlformats.org/drawingml/2006/main" noGrp="1"/>
          </p:cNvSpPr>
          <p:nvPr/>
        </p:nvSpPr>
        <p:spPr>
          <a:xfrm xmlns:a="http://schemas.openxmlformats.org/drawingml/2006/main">
            <a:off x="4657725"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Online store</a:t>
            </a:r>
          </a:p>
        </p:txBody>
      </p:sp>
      <p:sp>
        <p:nvSpPr>
          <p:cNvPr id="12" name="">
            <a:extLst xmlns:a="http://schemas.openxmlformats.org/drawingml/2006/main">
              <a:ext uri="{FF2B5EF4-FFF2-40B4-BE49-F238E27FC236}">
                <a16:creationId xmlns:a16="http://schemas.microsoft.com/office/drawing/2014/main" id="{F0314F26-0B06-45D1-B36E-FE030D85ED75}"/>
              </a:ext>
            </a:extLst>
          </p:cNvPr>
          <p:cNvSpPr>
            <a:spLocks xmlns:a="http://schemas.openxmlformats.org/drawingml/2006/main" noGrp="1"/>
          </p:cNvSpPr>
          <p:nvPr/>
        </p:nvSpPr>
        <p:spPr>
          <a:xfrm xmlns:a="http://schemas.openxmlformats.org/drawingml/2006/main">
            <a:off x="4657725"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Customers · products · orders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stock levels · payments</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Typical question:</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“Can this item be sold without overselling inventory?”</a:t>
            </a:r>
          </a:p>
        </p:txBody>
      </p:sp>
      <p:sp>
        <p:nvSpPr>
          <p:cNvPr id="13" name="">
            <a:extLst xmlns:a="http://schemas.openxmlformats.org/drawingml/2006/main">
              <a:ext uri="{FF2B5EF4-FFF2-40B4-BE49-F238E27FC236}">
                <a16:creationId xmlns:a16="http://schemas.microsoft.com/office/drawing/2014/main" id="{358B11EA-18C1-473D-875A-3929F23E114A}"/>
              </a:ext>
            </a:extLst>
          </p:cNvPr>
          <p:cNvSpPr>
            <a:spLocks xmlns:a="http://schemas.openxmlformats.org/drawingml/2006/main" noGrp="1"/>
          </p:cNvSpPr>
          <p:nvPr/>
        </p:nvSpPr>
        <p:spPr>
          <a:xfrm xmlns:a="http://schemas.openxmlformats.org/drawingml/2006/main">
            <a:off x="8267700" y="2266950"/>
            <a:ext cx="3371850" cy="3143250"/>
          </a:xfrm>
          <a:prstGeom xmlns:a="http://schemas.openxmlformats.org/drawingml/2006/main" prst="roundRect">
            <a:avLst>
              <a:gd name="adj" fmla="val 5455"/>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DC03F3BA-EF91-404C-B044-986D5B2864BE}"/>
              </a:ext>
            </a:extLst>
          </p:cNvPr>
          <p:cNvSpPr>
            <a:spLocks xmlns:a="http://schemas.openxmlformats.org/drawingml/2006/main" noGrp="1"/>
          </p:cNvSpPr>
          <p:nvPr/>
        </p:nvSpPr>
        <p:spPr>
          <a:xfrm xmlns:a="http://schemas.openxmlformats.org/drawingml/2006/main">
            <a:off x="8267700" y="2266950"/>
            <a:ext cx="76200" cy="31432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6B179D0D-5A07-42D6-98EC-FB537DF30B54}"/>
              </a:ext>
            </a:extLst>
          </p:cNvPr>
          <p:cNvSpPr>
            <a:spLocks xmlns:a="http://schemas.openxmlformats.org/drawingml/2006/main" noGrp="1"/>
          </p:cNvSpPr>
          <p:nvPr/>
        </p:nvSpPr>
        <p:spPr>
          <a:xfrm xmlns:a="http://schemas.openxmlformats.org/drawingml/2006/main">
            <a:off x="8515350" y="245745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City service</a:t>
            </a:r>
          </a:p>
        </p:txBody>
      </p:sp>
      <p:sp>
        <p:nvSpPr>
          <p:cNvPr id="16" name="">
            <a:extLst xmlns:a="http://schemas.openxmlformats.org/drawingml/2006/main">
              <a:ext uri="{FF2B5EF4-FFF2-40B4-BE49-F238E27FC236}">
                <a16:creationId xmlns:a16="http://schemas.microsoft.com/office/drawing/2014/main" id="{B757A762-61F6-4FDB-B38C-4DA6F66DE1FA}"/>
              </a:ext>
            </a:extLst>
          </p:cNvPr>
          <p:cNvSpPr>
            <a:spLocks xmlns:a="http://schemas.openxmlformats.org/drawingml/2006/main" noGrp="1"/>
          </p:cNvSpPr>
          <p:nvPr/>
        </p:nvSpPr>
        <p:spPr>
          <a:xfrm xmlns:a="http://schemas.openxmlformats.org/drawingml/2006/main">
            <a:off x="8515350" y="2905125"/>
            <a:ext cx="29146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Residents · requests · locations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status changes · staff assignments</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Typical question:</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“Which open requests are assigned to this district?”</a:t>
            </a:r>
          </a:p>
        </p:txBody>
      </p:sp>
      <p:sp>
        <p:nvSpPr>
          <p:cNvPr id="17" name="">
            <a:extLst xmlns:a="http://schemas.openxmlformats.org/drawingml/2006/main">
              <a:ext uri="{FF2B5EF4-FFF2-40B4-BE49-F238E27FC236}">
                <a16:creationId xmlns:a16="http://schemas.microsoft.com/office/drawing/2014/main" id="{C3C9C629-1186-4EF0-BDB6-6D0916A62F29}"/>
              </a:ext>
            </a:extLst>
          </p:cNvPr>
          <p:cNvSpPr>
            <a:spLocks xmlns:a="http://schemas.openxmlformats.org/drawingml/2006/main" noGrp="1"/>
          </p:cNvSpPr>
          <p:nvPr/>
        </p:nvSpPr>
        <p:spPr>
          <a:xfrm xmlns:a="http://schemas.openxmlformats.org/drawingml/2006/main">
            <a:off x="1047750" y="5781675"/>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493"/>
          </a:bodyPr>
          <a:lstStyle xmlns:a="http://schemas.openxmlformats.org/drawingml/2006/main"/>
          <a:p xmlns:a="http://schemas.openxmlformats.org/drawingml/2006/main">
            <a:pPr algn="ctr">
              <a:buNone/>
              <a:defRPr sz="1650" b="1">
                <a:solidFill>
                  <a:srgbClr val="14213D"/>
                </a:solidFill>
                <a:latin typeface="Avenir Next"/>
                <a:ea typeface="Avenir Next"/>
                <a:cs typeface="Avenir Next"/>
              </a:defRPr>
            </a:pPr>
            <a:r>
              <a:rPr sz="1650" b="1">
                <a:solidFill>
                  <a:srgbClr val="14213D"/>
                </a:solidFill>
                <a:latin typeface="Avenir Next"/>
                <a:ea typeface="Avenir Next"/>
                <a:cs typeface="Avenir Next"/>
              </a:rPr>
              <a:t>Different products, same engineering problem: preserve meaning while many people read and change shared data.</a:t>
            </a:r>
          </a:p>
        </p:txBody>
      </p:sp>
    </p:spTree>
    <p:extLst>
      <p:ext uri="{BB962C8B-B14F-4D97-AF65-F5344CB8AC3E}">
        <p14:creationId xmlns:p14="http://schemas.microsoft.com/office/powerpoint/2010/main" val="316641657"/>
      </p:ext>
    </p:extLst>
  </p:cSld>
</p:sld>
</file>

<file path=ppt/slides/slide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D6E50C4-9348-461C-82A2-E9E1FB38AB35}"/>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REQUEST PATH</a:t>
            </a:r>
          </a:p>
        </p:txBody>
      </p:sp>
      <p:sp>
        <p:nvSpPr>
          <p:cNvPr id="2" name="slide-title">
            <a:extLst xmlns:a="http://schemas.openxmlformats.org/drawingml/2006/main">
              <a:ext uri="{FF2B5EF4-FFF2-40B4-BE49-F238E27FC236}">
                <a16:creationId xmlns:a16="http://schemas.microsoft.com/office/drawing/2014/main" id="{A92B05FC-5B01-41CD-833C-37E0B136B53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One click crosses several system boundaries</a:t>
            </a:r>
          </a:p>
        </p:txBody>
      </p:sp>
      <p:sp>
        <p:nvSpPr>
          <p:cNvPr id="3" name="">
            <a:extLst xmlns:a="http://schemas.openxmlformats.org/drawingml/2006/main">
              <a:ext uri="{FF2B5EF4-FFF2-40B4-BE49-F238E27FC236}">
                <a16:creationId xmlns:a16="http://schemas.microsoft.com/office/drawing/2014/main" id="{1AED3DA6-05C2-45C9-A973-1E94D2FD90B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A slow or failed Save can originate in more than one layer.</a:t>
            </a:r>
          </a:p>
        </p:txBody>
      </p:sp>
      <p:sp>
        <p:nvSpPr>
          <p:cNvPr id="4" name="">
            <a:extLst xmlns:a="http://schemas.openxmlformats.org/drawingml/2006/main">
              <a:ext uri="{FF2B5EF4-FFF2-40B4-BE49-F238E27FC236}">
                <a16:creationId xmlns:a16="http://schemas.microsoft.com/office/drawing/2014/main" id="{0395864B-1AEF-4525-AC99-02FCAA7B969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03</a:t>
            </a:r>
          </a:p>
        </p:txBody>
      </p:sp>
      <p:sp>
        <p:nvSpPr>
          <p:cNvPr id="5" name="">
            <a:extLst xmlns:a="http://schemas.openxmlformats.org/drawingml/2006/main">
              <a:ext uri="{FF2B5EF4-FFF2-40B4-BE49-F238E27FC236}">
                <a16:creationId xmlns:a16="http://schemas.microsoft.com/office/drawing/2014/main" id="{1C95764F-1E5B-44A9-B1AA-B6FE2765CACF}"/>
              </a:ext>
            </a:extLst>
          </p:cNvPr>
          <p:cNvSpPr>
            <a:spLocks xmlns:a="http://schemas.openxmlformats.org/drawingml/2006/main" noGrp="1"/>
          </p:cNvSpPr>
          <p:nvPr/>
        </p:nvSpPr>
        <p:spPr>
          <a:xfrm xmlns:a="http://schemas.openxmlformats.org/drawingml/2006/main">
            <a:off x="552450" y="2495550"/>
            <a:ext cx="1790700" cy="876300"/>
          </a:xfrm>
          <a:prstGeom xmlns:a="http://schemas.openxmlformats.org/drawingml/2006/main" prst="roundRect">
            <a:avLst>
              <a:gd name="adj" fmla="val 19565"/>
            </a:avLst>
          </a:prstGeom>
          <a:solidFill xmlns:a="http://schemas.openxmlformats.org/drawingml/2006/main">
            <a:srgbClr val="DCEBFF"/>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1</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Browser or app</a:t>
            </a:r>
          </a:p>
        </p:txBody>
      </p:sp>
      <p:sp>
        <p:nvSpPr>
          <p:cNvPr id="6" name="">
            <a:extLst xmlns:a="http://schemas.openxmlformats.org/drawingml/2006/main">
              <a:ext uri="{FF2B5EF4-FFF2-40B4-BE49-F238E27FC236}">
                <a16:creationId xmlns:a16="http://schemas.microsoft.com/office/drawing/2014/main" id="{13896E3F-5E55-493D-9446-7EAF6BE460BC}"/>
              </a:ext>
            </a:extLst>
          </p:cNvPr>
          <p:cNvSpPr>
            <a:spLocks xmlns:a="http://schemas.openxmlformats.org/drawingml/2006/main" noGrp="1"/>
          </p:cNvSpPr>
          <p:nvPr/>
        </p:nvSpPr>
        <p:spPr>
          <a:xfrm xmlns:a="http://schemas.openxmlformats.org/drawingml/2006/main">
            <a:off x="2781300" y="2495550"/>
            <a:ext cx="1790700" cy="876300"/>
          </a:xfrm>
          <a:prstGeom xmlns:a="http://schemas.openxmlformats.org/drawingml/2006/main" prst="roundRect">
            <a:avLst>
              <a:gd name="adj" fmla="val 19565"/>
            </a:avLst>
          </a:prstGeom>
          <a:solidFill xmlns:a="http://schemas.openxmlformats.org/drawingml/2006/main">
            <a:srgbClr val="FCE7D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2</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 endpoint</a:t>
            </a:r>
          </a:p>
        </p:txBody>
      </p:sp>
      <p:sp>
        <p:nvSpPr>
          <p:cNvPr id="7" name="">
            <a:extLst xmlns:a="http://schemas.openxmlformats.org/drawingml/2006/main">
              <a:ext uri="{FF2B5EF4-FFF2-40B4-BE49-F238E27FC236}">
                <a16:creationId xmlns:a16="http://schemas.microsoft.com/office/drawing/2014/main" id="{A06D3B33-48A1-4864-9612-6A37AF865F79}"/>
              </a:ext>
            </a:extLst>
          </p:cNvPr>
          <p:cNvSpPr>
            <a:spLocks xmlns:a="http://schemas.openxmlformats.org/drawingml/2006/main" noGrp="1"/>
          </p:cNvSpPr>
          <p:nvPr/>
        </p:nvSpPr>
        <p:spPr>
          <a:xfrm xmlns:a="http://schemas.openxmlformats.org/drawingml/2006/main">
            <a:off x="5010150" y="2495550"/>
            <a:ext cx="1790700" cy="876300"/>
          </a:xfrm>
          <a:prstGeom xmlns:a="http://schemas.openxmlformats.org/drawingml/2006/main" prst="roundRect">
            <a:avLst>
              <a:gd name="adj" fmla="val 19565"/>
            </a:avLst>
          </a:prstGeom>
          <a:solidFill xmlns:a="http://schemas.openxmlformats.org/drawingml/2006/main">
            <a:srgbClr val="FBE2DA"/>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3</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Identity + rules</a:t>
            </a:r>
          </a:p>
        </p:txBody>
      </p:sp>
      <p:sp>
        <p:nvSpPr>
          <p:cNvPr id="8" name="">
            <a:extLst xmlns:a="http://schemas.openxmlformats.org/drawingml/2006/main">
              <a:ext uri="{FF2B5EF4-FFF2-40B4-BE49-F238E27FC236}">
                <a16:creationId xmlns:a16="http://schemas.microsoft.com/office/drawing/2014/main" id="{9841C5D9-ECAC-4F1E-88B8-ECD8B878FEAB}"/>
              </a:ext>
            </a:extLst>
          </p:cNvPr>
          <p:cNvSpPr>
            <a:spLocks xmlns:a="http://schemas.openxmlformats.org/drawingml/2006/main" noGrp="1"/>
          </p:cNvSpPr>
          <p:nvPr/>
        </p:nvSpPr>
        <p:spPr>
          <a:xfrm xmlns:a="http://schemas.openxmlformats.org/drawingml/2006/main">
            <a:off x="7239000" y="2495550"/>
            <a:ext cx="1790700" cy="876300"/>
          </a:xfrm>
          <a:prstGeom xmlns:a="http://schemas.openxmlformats.org/drawingml/2006/main" prst="roundRect">
            <a:avLst>
              <a:gd name="adj" fmla="val 19565"/>
            </a:avLst>
          </a:prstGeom>
          <a:solidFill xmlns:a="http://schemas.openxmlformats.org/drawingml/2006/main">
            <a:srgbClr val="DDF3EE"/>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4</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DBMS</a:t>
            </a:r>
          </a:p>
        </p:txBody>
      </p:sp>
      <p:sp>
        <p:nvSpPr>
          <p:cNvPr id="9" name="">
            <a:extLst xmlns:a="http://schemas.openxmlformats.org/drawingml/2006/main">
              <a:ext uri="{FF2B5EF4-FFF2-40B4-BE49-F238E27FC236}">
                <a16:creationId xmlns:a16="http://schemas.microsoft.com/office/drawing/2014/main" id="{EC42B8DF-4B5F-4D3F-B1D2-C7F9A21AA94E}"/>
              </a:ext>
            </a:extLst>
          </p:cNvPr>
          <p:cNvSpPr>
            <a:spLocks xmlns:a="http://schemas.openxmlformats.org/drawingml/2006/main" noGrp="1"/>
          </p:cNvSpPr>
          <p:nvPr/>
        </p:nvSpPr>
        <p:spPr>
          <a:xfrm xmlns:a="http://schemas.openxmlformats.org/drawingml/2006/main">
            <a:off x="9467850" y="2495550"/>
            <a:ext cx="1790700" cy="876300"/>
          </a:xfrm>
          <a:prstGeom xmlns:a="http://schemas.openxmlformats.org/drawingml/2006/main" prst="roundRect">
            <a:avLst>
              <a:gd name="adj" fmla="val 19565"/>
            </a:avLst>
          </a:prstGeom>
          <a:solidFill xmlns:a="http://schemas.openxmlformats.org/drawingml/2006/main">
            <a:srgbClr val="E7E1F2"/>
          </a:solidFill>
          <a:ln xmlns:a="http://schemas.openxmlformats.org/drawingml/2006/main" w="9525">
            <a:solidFill>
              <a:srgbClr val="CBD2DE"/>
            </a:solidFill>
            <a:prstDash val="solid"/>
          </a:ln>
        </p:spPr>
        <p:txBody>
          <a:bodyPr xmlns:a="http://schemas.openxmlformats.org/drawingml/2006/main" lIns="95250" tIns="76200" rIns="95250" bIns="76200" anchor="ctr">
            <a:normAutofit fontScale="100000"/>
          </a:bodyPr>
          <a:lstStyle xmlns:a="http://schemas.openxmlformats.org/drawingml/2006/main"/>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5</a:t>
            </a:r>
          </a:p>
          <a:p xmlns:a="http://schemas.openxmlformats.org/drawingml/2006/main">
            <a:pPr algn="ct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Stored data</a:t>
            </a:r>
          </a:p>
        </p:txBody>
      </p:sp>
      <p:cxnSp>
        <p:nvCxnSpPr>
          <p:cNvPr id="85" name=""/>
          <p:cNvCxnSpPr>
            <a:stCxn xmlns:a="http://schemas.openxmlformats.org/drawingml/2006/main" id="5" idx="3"/>
            <a:endCxn xmlns:a="http://schemas.openxmlformats.org/drawingml/2006/main" id="6" idx="1"/>
          </p:cNvCxnSpPr>
          <p:nvPr/>
        </p:nvCxnSpPr>
        <p:spPr>
          <a:xfrm xmlns:a="http://schemas.openxmlformats.org/drawingml/2006/main">
            <a:off x="234315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86" name=""/>
          <p:cNvCxnSpPr>
            <a:stCxn xmlns:a="http://schemas.openxmlformats.org/drawingml/2006/main" id="6" idx="3"/>
            <a:endCxn xmlns:a="http://schemas.openxmlformats.org/drawingml/2006/main" id="7" idx="1"/>
          </p:cNvCxnSpPr>
          <p:nvPr/>
        </p:nvCxnSpPr>
        <p:spPr>
          <a:xfrm xmlns:a="http://schemas.openxmlformats.org/drawingml/2006/main">
            <a:off x="457200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87" name=""/>
          <p:cNvCxnSpPr>
            <a:stCxn xmlns:a="http://schemas.openxmlformats.org/drawingml/2006/main" id="7" idx="3"/>
            <a:endCxn xmlns:a="http://schemas.openxmlformats.org/drawingml/2006/main" id="8" idx="1"/>
          </p:cNvCxnSpPr>
          <p:nvPr/>
        </p:nvCxnSpPr>
        <p:spPr>
          <a:xfrm xmlns:a="http://schemas.openxmlformats.org/drawingml/2006/main">
            <a:off x="680085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cxnSp>
        <p:nvCxnSpPr>
          <p:cNvPr id="88" name=""/>
          <p:cNvCxnSpPr>
            <a:stCxn xmlns:a="http://schemas.openxmlformats.org/drawingml/2006/main" id="8" idx="3"/>
            <a:endCxn xmlns:a="http://schemas.openxmlformats.org/drawingml/2006/main" id="9" idx="1"/>
          </p:cNvCxnSpPr>
          <p:nvPr/>
        </p:nvCxnSpPr>
        <p:spPr>
          <a:xfrm xmlns:a="http://schemas.openxmlformats.org/drawingml/2006/main">
            <a:off x="9029700" y="2933700"/>
            <a:ext cx="438150" cy="0"/>
          </a:xfrm>
          <a:prstGeom xmlns:a="http://schemas.openxmlformats.org/drawingml/2006/main" prst="straightConnector1">
            <a:avLst/>
          </a:prstGeom>
          <a:ln xmlns:a="http://schemas.openxmlformats.org/drawingml/2006/main" w="28575">
            <a:solidFill>
              <a:srgbClr val="0B5FFF"/>
            </a:solidFill>
            <a:prstDash val="solid"/>
            <a:tailEnd type="triangle" w="sm" len="sm"/>
          </a:ln>
        </p:spPr>
      </p:cxnSp>
      <p:sp>
        <p:nvSpPr>
          <p:cNvPr id="14" name="">
            <a:extLst xmlns:a="http://schemas.openxmlformats.org/drawingml/2006/main">
              <a:ext uri="{FF2B5EF4-FFF2-40B4-BE49-F238E27FC236}">
                <a16:creationId xmlns:a16="http://schemas.microsoft.com/office/drawing/2014/main" id="{14033517-9B67-4921-93CC-34F182C4D6B8}"/>
              </a:ext>
            </a:extLst>
          </p:cNvPr>
          <p:cNvSpPr>
            <a:spLocks xmlns:a="http://schemas.openxmlformats.org/drawingml/2006/main" noGrp="1"/>
          </p:cNvSpPr>
          <p:nvPr/>
        </p:nvSpPr>
        <p:spPr>
          <a:xfrm xmlns:a="http://schemas.openxmlformats.org/drawingml/2006/main">
            <a:off x="209550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HTTP request</a:t>
            </a:r>
          </a:p>
        </p:txBody>
      </p:sp>
      <p:sp>
        <p:nvSpPr>
          <p:cNvPr id="15" name="">
            <a:extLst xmlns:a="http://schemas.openxmlformats.org/drawingml/2006/main">
              <a:ext uri="{FF2B5EF4-FFF2-40B4-BE49-F238E27FC236}">
                <a16:creationId xmlns:a16="http://schemas.microsoft.com/office/drawing/2014/main" id="{70DBDC7E-2AFA-4D94-BBD9-66BE0B4617EB}"/>
              </a:ext>
            </a:extLst>
          </p:cNvPr>
          <p:cNvSpPr>
            <a:spLocks xmlns:a="http://schemas.openxmlformats.org/drawingml/2006/main" noGrp="1"/>
          </p:cNvSpPr>
          <p:nvPr/>
        </p:nvSpPr>
        <p:spPr>
          <a:xfrm xmlns:a="http://schemas.openxmlformats.org/drawingml/2006/main">
            <a:off x="432435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authenticate</a:t>
            </a:r>
          </a:p>
        </p:txBody>
      </p:sp>
      <p:sp>
        <p:nvSpPr>
          <p:cNvPr id="16" name="">
            <a:extLst xmlns:a="http://schemas.openxmlformats.org/drawingml/2006/main">
              <a:ext uri="{FF2B5EF4-FFF2-40B4-BE49-F238E27FC236}">
                <a16:creationId xmlns:a16="http://schemas.microsoft.com/office/drawing/2014/main" id="{7314D6AC-E77B-4ABB-914A-5C61B1F4AA00}"/>
              </a:ext>
            </a:extLst>
          </p:cNvPr>
          <p:cNvSpPr>
            <a:spLocks xmlns:a="http://schemas.openxmlformats.org/drawingml/2006/main" noGrp="1"/>
          </p:cNvSpPr>
          <p:nvPr/>
        </p:nvSpPr>
        <p:spPr>
          <a:xfrm xmlns:a="http://schemas.openxmlformats.org/drawingml/2006/main">
            <a:off x="655320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SQL / MQL</a:t>
            </a:r>
          </a:p>
        </p:txBody>
      </p:sp>
      <p:sp>
        <p:nvSpPr>
          <p:cNvPr id="17" name="">
            <a:extLst xmlns:a="http://schemas.openxmlformats.org/drawingml/2006/main">
              <a:ext uri="{FF2B5EF4-FFF2-40B4-BE49-F238E27FC236}">
                <a16:creationId xmlns:a16="http://schemas.microsoft.com/office/drawing/2014/main" id="{92939665-2111-490A-962C-39387B3E755D}"/>
              </a:ext>
            </a:extLst>
          </p:cNvPr>
          <p:cNvSpPr>
            <a:spLocks xmlns:a="http://schemas.openxmlformats.org/drawingml/2006/main" noGrp="1"/>
          </p:cNvSpPr>
          <p:nvPr/>
        </p:nvSpPr>
        <p:spPr>
          <a:xfrm xmlns:a="http://schemas.openxmlformats.org/drawingml/2006/main">
            <a:off x="8782050" y="2114550"/>
            <a:ext cx="1104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0B5FFF"/>
                </a:solidFill>
                <a:latin typeface="Menlo"/>
                <a:ea typeface="Menlo"/>
                <a:cs typeface="Menlo"/>
              </a:defRPr>
            </a:pPr>
            <a:r>
              <a:rPr sz="975" b="1">
                <a:solidFill>
                  <a:srgbClr val="0B5FFF"/>
                </a:solidFill>
                <a:latin typeface="Menlo"/>
                <a:ea typeface="Menlo"/>
                <a:cs typeface="Menlo"/>
              </a:rPr>
              <a:t>read or write</a:t>
            </a:r>
          </a:p>
        </p:txBody>
      </p:sp>
      <p:sp>
        <p:nvSpPr>
          <p:cNvPr id="18" name="code-block">
            <a:extLst xmlns:a="http://schemas.openxmlformats.org/drawingml/2006/main">
              <a:ext uri="{FF2B5EF4-FFF2-40B4-BE49-F238E27FC236}">
                <a16:creationId xmlns:a16="http://schemas.microsoft.com/office/drawing/2014/main" id="{BA3EAE3D-16E3-4BAA-825D-F64E008945A8}"/>
              </a:ext>
            </a:extLst>
          </p:cNvPr>
          <p:cNvSpPr>
            <a:spLocks xmlns:a="http://schemas.openxmlformats.org/drawingml/2006/main" noGrp="1"/>
          </p:cNvSpPr>
          <p:nvPr/>
        </p:nvSpPr>
        <p:spPr>
          <a:xfrm xmlns:a="http://schemas.openxmlformats.org/drawingml/2006/main">
            <a:off x="1095375" y="4171950"/>
            <a:ext cx="4476750" cy="1352550"/>
          </a:xfrm>
          <a:prstGeom xmlns:a="http://schemas.openxmlformats.org/drawingml/2006/main" prst="roundRect">
            <a:avLst>
              <a:gd name="adj" fmla="val 11268"/>
            </a:avLst>
          </a:prstGeom>
          <a:solidFill xmlns:a="http://schemas.openxmlformats.org/drawingml/2006/main">
            <a:srgbClr val="172033"/>
          </a:solidFill>
          <a:ln xmlns:a="http://schemas.openxmlformats.org/drawingml/2006/main" w="9525">
            <a:solidFill>
              <a:srgbClr val="2D3953"/>
            </a:solidFill>
            <a:prstDash val="solid"/>
          </a:ln>
        </p:spPr>
      </p:sp>
      <p:sp>
        <p:nvSpPr>
          <p:cNvPr id="19" name="">
            <a:extLst xmlns:a="http://schemas.openxmlformats.org/drawingml/2006/main">
              <a:ext uri="{FF2B5EF4-FFF2-40B4-BE49-F238E27FC236}">
                <a16:creationId xmlns:a16="http://schemas.microsoft.com/office/drawing/2014/main" id="{0C766ACC-0257-4323-81F9-2A9F9215278A}"/>
              </a:ext>
            </a:extLst>
          </p:cNvPr>
          <p:cNvSpPr>
            <a:spLocks xmlns:a="http://schemas.openxmlformats.org/drawingml/2006/main" noGrp="1"/>
          </p:cNvSpPr>
          <p:nvPr/>
        </p:nvSpPr>
        <p:spPr>
          <a:xfrm xmlns:a="http://schemas.openxmlformats.org/drawingml/2006/main">
            <a:off x="1304925" y="430530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REQUEST</a:t>
            </a:r>
          </a:p>
        </p:txBody>
      </p:sp>
      <p:sp>
        <p:nvSpPr>
          <p:cNvPr id="20" name="">
            <a:extLst xmlns:a="http://schemas.openxmlformats.org/drawingml/2006/main">
              <a:ext uri="{FF2B5EF4-FFF2-40B4-BE49-F238E27FC236}">
                <a16:creationId xmlns:a16="http://schemas.microsoft.com/office/drawing/2014/main" id="{F3C7A53E-E29C-40BB-97EF-5B2BE9B3B7D2}"/>
              </a:ext>
            </a:extLst>
          </p:cNvPr>
          <p:cNvSpPr>
            <a:spLocks xmlns:a="http://schemas.openxmlformats.org/drawingml/2006/main" noGrp="1"/>
          </p:cNvSpPr>
          <p:nvPr/>
        </p:nvSpPr>
        <p:spPr>
          <a:xfrm xmlns:a="http://schemas.openxmlformats.org/drawingml/2006/main">
            <a:off x="1304925" y="4648200"/>
            <a:ext cx="4057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POST /api/tickets</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 "title": "Broken hydrant", "district": 5 }</a:t>
            </a:r>
          </a:p>
        </p:txBody>
      </p:sp>
      <p:sp>
        <p:nvSpPr>
          <p:cNvPr id="21" name="code-block">
            <a:extLst xmlns:a="http://schemas.openxmlformats.org/drawingml/2006/main">
              <a:ext uri="{FF2B5EF4-FFF2-40B4-BE49-F238E27FC236}">
                <a16:creationId xmlns:a16="http://schemas.microsoft.com/office/drawing/2014/main" id="{BB00B127-3DFA-4AA3-82B3-82DA0ACE7011}"/>
              </a:ext>
            </a:extLst>
          </p:cNvPr>
          <p:cNvSpPr>
            <a:spLocks xmlns:a="http://schemas.openxmlformats.org/drawingml/2006/main" noGrp="1"/>
          </p:cNvSpPr>
          <p:nvPr/>
        </p:nvSpPr>
        <p:spPr>
          <a:xfrm xmlns:a="http://schemas.openxmlformats.org/drawingml/2006/main">
            <a:off x="6619875" y="4171950"/>
            <a:ext cx="4476750" cy="1352550"/>
          </a:xfrm>
          <a:prstGeom xmlns:a="http://schemas.openxmlformats.org/drawingml/2006/main" prst="roundRect">
            <a:avLst>
              <a:gd name="adj" fmla="val 11268"/>
            </a:avLst>
          </a:prstGeom>
          <a:solidFill xmlns:a="http://schemas.openxmlformats.org/drawingml/2006/main">
            <a:srgbClr val="172033"/>
          </a:solidFill>
          <a:ln xmlns:a="http://schemas.openxmlformats.org/drawingml/2006/main" w="9525">
            <a:solidFill>
              <a:srgbClr val="2D3953"/>
            </a:solidFill>
            <a:prstDash val="solid"/>
          </a:ln>
        </p:spPr>
      </p:sp>
      <p:sp>
        <p:nvSpPr>
          <p:cNvPr id="22" name="">
            <a:extLst xmlns:a="http://schemas.openxmlformats.org/drawingml/2006/main">
              <a:ext uri="{FF2B5EF4-FFF2-40B4-BE49-F238E27FC236}">
                <a16:creationId xmlns:a16="http://schemas.microsoft.com/office/drawing/2014/main" id="{C8C83E82-6FB3-4F96-BB1E-18435C7711C4}"/>
              </a:ext>
            </a:extLst>
          </p:cNvPr>
          <p:cNvSpPr>
            <a:spLocks xmlns:a="http://schemas.openxmlformats.org/drawingml/2006/main" noGrp="1"/>
          </p:cNvSpPr>
          <p:nvPr/>
        </p:nvSpPr>
        <p:spPr>
          <a:xfrm xmlns:a="http://schemas.openxmlformats.org/drawingml/2006/main">
            <a:off x="6829425" y="4305300"/>
            <a:ext cx="4057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DATABASE COMMAND</a:t>
            </a:r>
          </a:p>
        </p:txBody>
      </p:sp>
      <p:sp>
        <p:nvSpPr>
          <p:cNvPr id="23" name="">
            <a:extLst xmlns:a="http://schemas.openxmlformats.org/drawingml/2006/main">
              <a:ext uri="{FF2B5EF4-FFF2-40B4-BE49-F238E27FC236}">
                <a16:creationId xmlns:a16="http://schemas.microsoft.com/office/drawing/2014/main" id="{9F33EB9B-C9E2-4939-85EA-E2CEA7079BE2}"/>
              </a:ext>
            </a:extLst>
          </p:cNvPr>
          <p:cNvSpPr>
            <a:spLocks xmlns:a="http://schemas.openxmlformats.org/drawingml/2006/main" noGrp="1"/>
          </p:cNvSpPr>
          <p:nvPr/>
        </p:nvSpPr>
        <p:spPr>
          <a:xfrm xmlns:a="http://schemas.openxmlformats.org/drawingml/2006/main">
            <a:off x="6829425" y="4648200"/>
            <a:ext cx="4057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INSERT INTO tickets (title, district)</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VALUES ('Broken hydrant', 5);</a:t>
            </a:r>
          </a:p>
        </p:txBody>
      </p:sp>
    </p:spTree>
    <p:extLst>
      <p:ext uri="{BB962C8B-B14F-4D97-AF65-F5344CB8AC3E}">
        <p14:creationId xmlns:p14="http://schemas.microsoft.com/office/powerpoint/2010/main" val="1696120008"/>
      </p:ext>
    </p:extLst>
  </p:cSld>
</p:sld>
</file>

<file path=ppt/slides/slide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E81F7C0-EEB0-472B-80D8-38E1E960ED7B}"/>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0204"/>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CORE VOCABULARY</a:t>
            </a:r>
          </a:p>
        </p:txBody>
      </p:sp>
      <p:sp>
        <p:nvSpPr>
          <p:cNvPr id="2" name="slide-title">
            <a:extLst xmlns:a="http://schemas.openxmlformats.org/drawingml/2006/main">
              <a:ext uri="{FF2B5EF4-FFF2-40B4-BE49-F238E27FC236}">
                <a16:creationId xmlns:a16="http://schemas.microsoft.com/office/drawing/2014/main" id="{0F02604D-308A-4C5C-A882-254F2E745E66}"/>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Database, DBMS, and cloud platform are not synonyms</a:t>
            </a:r>
          </a:p>
        </p:txBody>
      </p:sp>
      <p:sp>
        <p:nvSpPr>
          <p:cNvPr id="3" name="">
            <a:extLst xmlns:a="http://schemas.openxmlformats.org/drawingml/2006/main">
              <a:ext uri="{FF2B5EF4-FFF2-40B4-BE49-F238E27FC236}">
                <a16:creationId xmlns:a16="http://schemas.microsoft.com/office/drawing/2014/main" id="{D493C706-45CD-4249-B8A3-5834DE0D5C5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Separating the layers makes architecture and troubleshooting clearer.</a:t>
            </a:r>
          </a:p>
        </p:txBody>
      </p:sp>
      <p:sp>
        <p:nvSpPr>
          <p:cNvPr id="4" name="">
            <a:extLst xmlns:a="http://schemas.openxmlformats.org/drawingml/2006/main">
              <a:ext uri="{FF2B5EF4-FFF2-40B4-BE49-F238E27FC236}">
                <a16:creationId xmlns:a16="http://schemas.microsoft.com/office/drawing/2014/main" id="{843BD429-C6F0-426B-A8D4-F63EA8CF53C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04</a:t>
            </a:r>
          </a:p>
        </p:txBody>
      </p:sp>
      <p:sp>
        <p:nvSpPr>
          <p:cNvPr id="5" name="">
            <a:extLst xmlns:a="http://schemas.openxmlformats.org/drawingml/2006/main">
              <a:ext uri="{FF2B5EF4-FFF2-40B4-BE49-F238E27FC236}">
                <a16:creationId xmlns:a16="http://schemas.microsoft.com/office/drawing/2014/main" id="{2806380B-AE43-4841-B6CE-F356A67DD49B}"/>
              </a:ext>
            </a:extLst>
          </p:cNvPr>
          <p:cNvSpPr>
            <a:spLocks xmlns:a="http://schemas.openxmlformats.org/drawingml/2006/main" noGrp="1"/>
          </p:cNvSpPr>
          <p:nvPr/>
        </p:nvSpPr>
        <p:spPr>
          <a:xfrm xmlns:a="http://schemas.openxmlformats.org/drawingml/2006/main">
            <a:off x="714375" y="2247900"/>
            <a:ext cx="3238500" cy="2857500"/>
          </a:xfrm>
          <a:prstGeom xmlns:a="http://schemas.openxmlformats.org/drawingml/2006/main" prst="roundRect">
            <a:avLst>
              <a:gd name="adj" fmla="val 6000"/>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C7869DD8-B9C8-4E48-B366-D7C9CF4CA78A}"/>
              </a:ext>
            </a:extLst>
          </p:cNvPr>
          <p:cNvSpPr>
            <a:spLocks xmlns:a="http://schemas.openxmlformats.org/drawingml/2006/main" noGrp="1"/>
          </p:cNvSpPr>
          <p:nvPr/>
        </p:nvSpPr>
        <p:spPr>
          <a:xfrm xmlns:a="http://schemas.openxmlformats.org/drawingml/2006/main">
            <a:off x="714375" y="2247900"/>
            <a:ext cx="76200" cy="28575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6FE90B77-7925-4DAD-BB83-A8E468A8419E}"/>
              </a:ext>
            </a:extLst>
          </p:cNvPr>
          <p:cNvSpPr>
            <a:spLocks xmlns:a="http://schemas.openxmlformats.org/drawingml/2006/main" noGrp="1"/>
          </p:cNvSpPr>
          <p:nvPr/>
        </p:nvSpPr>
        <p:spPr>
          <a:xfrm xmlns:a="http://schemas.openxmlformats.org/drawingml/2006/main">
            <a:off x="962025"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Database</a:t>
            </a:r>
          </a:p>
        </p:txBody>
      </p:sp>
      <p:sp>
        <p:nvSpPr>
          <p:cNvPr id="8" name="">
            <a:extLst xmlns:a="http://schemas.openxmlformats.org/drawingml/2006/main">
              <a:ext uri="{FF2B5EF4-FFF2-40B4-BE49-F238E27FC236}">
                <a16:creationId xmlns:a16="http://schemas.microsoft.com/office/drawing/2014/main" id="{51E1817C-F365-4F95-91B3-6E8C99ABD80B}"/>
              </a:ext>
            </a:extLst>
          </p:cNvPr>
          <p:cNvSpPr>
            <a:spLocks xmlns:a="http://schemas.openxmlformats.org/drawingml/2006/main" noGrp="1"/>
          </p:cNvSpPr>
          <p:nvPr/>
        </p:nvSpPr>
        <p:spPr>
          <a:xfrm xmlns:a="http://schemas.openxmlformats.org/drawingml/2006/main">
            <a:off x="962025"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The organized data and its structure.</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tables, rows, and constraints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collections and documents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indexes and metadata</a:t>
            </a:r>
          </a:p>
        </p:txBody>
      </p:sp>
      <p:sp>
        <p:nvSpPr>
          <p:cNvPr id="9" name="">
            <a:extLst xmlns:a="http://schemas.openxmlformats.org/drawingml/2006/main">
              <a:ext uri="{FF2B5EF4-FFF2-40B4-BE49-F238E27FC236}">
                <a16:creationId xmlns:a16="http://schemas.microsoft.com/office/drawing/2014/main" id="{AD097209-FC56-4A96-B54F-1D6DCA1102CD}"/>
              </a:ext>
            </a:extLst>
          </p:cNvPr>
          <p:cNvSpPr>
            <a:spLocks xmlns:a="http://schemas.openxmlformats.org/drawingml/2006/main" noGrp="1"/>
          </p:cNvSpPr>
          <p:nvPr/>
        </p:nvSpPr>
        <p:spPr>
          <a:xfrm xmlns:a="http://schemas.openxmlformats.org/drawingml/2006/main">
            <a:off x="4476750" y="2247900"/>
            <a:ext cx="3238500" cy="2857500"/>
          </a:xfrm>
          <a:prstGeom xmlns:a="http://schemas.openxmlformats.org/drawingml/2006/main" prst="roundRect">
            <a:avLst>
              <a:gd name="adj" fmla="val 6000"/>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9AEEA23C-3726-4167-9F1D-DEFE3131814D}"/>
              </a:ext>
            </a:extLst>
          </p:cNvPr>
          <p:cNvSpPr>
            <a:spLocks xmlns:a="http://schemas.openxmlformats.org/drawingml/2006/main" noGrp="1"/>
          </p:cNvSpPr>
          <p:nvPr/>
        </p:nvSpPr>
        <p:spPr>
          <a:xfrm xmlns:a="http://schemas.openxmlformats.org/drawingml/2006/main">
            <a:off x="4476750" y="2247900"/>
            <a:ext cx="76200" cy="285750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11" name="">
            <a:extLst xmlns:a="http://schemas.openxmlformats.org/drawingml/2006/main">
              <a:ext uri="{FF2B5EF4-FFF2-40B4-BE49-F238E27FC236}">
                <a16:creationId xmlns:a16="http://schemas.microsoft.com/office/drawing/2014/main" id="{D76D4310-90AF-4051-985F-AE902B5F3121}"/>
              </a:ext>
            </a:extLst>
          </p:cNvPr>
          <p:cNvSpPr>
            <a:spLocks xmlns:a="http://schemas.openxmlformats.org/drawingml/2006/main" noGrp="1"/>
          </p:cNvSpPr>
          <p:nvPr/>
        </p:nvSpPr>
        <p:spPr>
          <a:xfrm xmlns:a="http://schemas.openxmlformats.org/drawingml/2006/main">
            <a:off x="4724400"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DBMS</a:t>
            </a:r>
          </a:p>
        </p:txBody>
      </p:sp>
      <p:sp>
        <p:nvSpPr>
          <p:cNvPr id="12" name="">
            <a:extLst xmlns:a="http://schemas.openxmlformats.org/drawingml/2006/main">
              <a:ext uri="{FF2B5EF4-FFF2-40B4-BE49-F238E27FC236}">
                <a16:creationId xmlns:a16="http://schemas.microsoft.com/office/drawing/2014/main" id="{34E7E817-8B76-486D-8A6D-D2F4074066C2}"/>
              </a:ext>
            </a:extLst>
          </p:cNvPr>
          <p:cNvSpPr>
            <a:spLocks xmlns:a="http://schemas.openxmlformats.org/drawingml/2006/main" noGrp="1"/>
          </p:cNvSpPr>
          <p:nvPr/>
        </p:nvSpPr>
        <p:spPr>
          <a:xfrm xmlns:a="http://schemas.openxmlformats.org/drawingml/2006/main">
            <a:off x="4724400"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Software that manages data safely.</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PostgreSQL</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MongoDB</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SQLite</a:t>
            </a:r>
          </a:p>
        </p:txBody>
      </p:sp>
      <p:sp>
        <p:nvSpPr>
          <p:cNvPr id="13" name="">
            <a:extLst xmlns:a="http://schemas.openxmlformats.org/drawingml/2006/main">
              <a:ext uri="{FF2B5EF4-FFF2-40B4-BE49-F238E27FC236}">
                <a16:creationId xmlns:a16="http://schemas.microsoft.com/office/drawing/2014/main" id="{E6E30EE8-D90A-40B3-9939-386C02593621}"/>
              </a:ext>
            </a:extLst>
          </p:cNvPr>
          <p:cNvSpPr>
            <a:spLocks xmlns:a="http://schemas.openxmlformats.org/drawingml/2006/main" noGrp="1"/>
          </p:cNvSpPr>
          <p:nvPr/>
        </p:nvSpPr>
        <p:spPr>
          <a:xfrm xmlns:a="http://schemas.openxmlformats.org/drawingml/2006/main">
            <a:off x="8239125" y="2247900"/>
            <a:ext cx="3238500" cy="2857500"/>
          </a:xfrm>
          <a:prstGeom xmlns:a="http://schemas.openxmlformats.org/drawingml/2006/main" prst="roundRect">
            <a:avLst>
              <a:gd name="adj" fmla="val 6000"/>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16FEC628-A59C-4F82-B641-2B0B933CA0C0}"/>
              </a:ext>
            </a:extLst>
          </p:cNvPr>
          <p:cNvSpPr>
            <a:spLocks xmlns:a="http://schemas.openxmlformats.org/drawingml/2006/main" noGrp="1"/>
          </p:cNvSpPr>
          <p:nvPr/>
        </p:nvSpPr>
        <p:spPr>
          <a:xfrm xmlns:a="http://schemas.openxmlformats.org/drawingml/2006/main">
            <a:off x="8239125" y="2247900"/>
            <a:ext cx="76200" cy="28575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55A8CA46-7867-432F-BD29-7762ED4366BF}"/>
              </a:ext>
            </a:extLst>
          </p:cNvPr>
          <p:cNvSpPr>
            <a:spLocks xmlns:a="http://schemas.openxmlformats.org/drawingml/2006/main" noGrp="1"/>
          </p:cNvSpPr>
          <p:nvPr/>
        </p:nvSpPr>
        <p:spPr>
          <a:xfrm xmlns:a="http://schemas.openxmlformats.org/drawingml/2006/main">
            <a:off x="8486775" y="2438400"/>
            <a:ext cx="278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Managed platform</a:t>
            </a:r>
          </a:p>
        </p:txBody>
      </p:sp>
      <p:sp>
        <p:nvSpPr>
          <p:cNvPr id="16" name="">
            <a:extLst xmlns:a="http://schemas.openxmlformats.org/drawingml/2006/main">
              <a:ext uri="{FF2B5EF4-FFF2-40B4-BE49-F238E27FC236}">
                <a16:creationId xmlns:a16="http://schemas.microsoft.com/office/drawing/2014/main" id="{3A6C89CD-2530-4473-B53D-2FE0AA0B36CE}"/>
              </a:ext>
            </a:extLst>
          </p:cNvPr>
          <p:cNvSpPr>
            <a:spLocks xmlns:a="http://schemas.openxmlformats.org/drawingml/2006/main" noGrp="1"/>
          </p:cNvSpPr>
          <p:nvPr/>
        </p:nvSpPr>
        <p:spPr>
          <a:xfrm xmlns:a="http://schemas.openxmlformats.org/drawingml/2006/main">
            <a:off x="8486775" y="2886075"/>
            <a:ext cx="2781300" cy="2019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A service that operates DBMS infrastructure.</a:t>
            </a:r>
          </a:p>
          <a:p xmlns:a="http://schemas.openxmlformats.org/drawingml/2006/main">
            <a:r>
              <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Examples: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Supabase</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MongoDB Atlas</a:t>
            </a:r>
          </a:p>
          <a:p xmlns:a="http://schemas.openxmlformats.org/drawingml/2006/main">
            <a:pPr>
              <a:lnSpc>
                <a:spcPct val="115000"/>
              </a:lnSpc>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 Amazon RDS</a:t>
            </a:r>
          </a:p>
        </p:txBody>
      </p:sp>
      <p:cxnSp>
        <p:nvCxnSpPr>
          <p:cNvPr id="109" name=""/>
          <p:cNvCxnSpPr>
            <a:stCxn xmlns:a="http://schemas.openxmlformats.org/drawingml/2006/main" id="5" idx="3"/>
            <a:endCxn xmlns:a="http://schemas.openxmlformats.org/drawingml/2006/main" id="9" idx="1"/>
          </p:cNvCxnSpPr>
          <p:nvPr/>
        </p:nvCxnSpPr>
        <p:spPr>
          <a:xfrm xmlns:a="http://schemas.openxmlformats.org/drawingml/2006/main">
            <a:off x="3952875" y="3676650"/>
            <a:ext cx="523875" cy="0"/>
          </a:xfrm>
          <a:prstGeom xmlns:a="http://schemas.openxmlformats.org/drawingml/2006/main" prst="straightConnector1">
            <a:avLst/>
          </a:prstGeom>
          <a:ln xmlns:a="http://schemas.openxmlformats.org/drawingml/2006/main" w="19050">
            <a:solidFill>
              <a:srgbClr val="5C6577"/>
            </a:solidFill>
            <a:prstDash val="solid"/>
            <a:tailEnd type="triangle" w="sm" len="sm"/>
          </a:ln>
        </p:spPr>
      </p:cxnSp>
      <p:cxnSp>
        <p:nvCxnSpPr>
          <p:cNvPr id="110" name=""/>
          <p:cNvCxnSpPr>
            <a:stCxn xmlns:a="http://schemas.openxmlformats.org/drawingml/2006/main" id="9" idx="3"/>
            <a:endCxn xmlns:a="http://schemas.openxmlformats.org/drawingml/2006/main" id="13" idx="1"/>
          </p:cNvCxnSpPr>
          <p:nvPr/>
        </p:nvCxnSpPr>
        <p:spPr>
          <a:xfrm xmlns:a="http://schemas.openxmlformats.org/drawingml/2006/main">
            <a:off x="7715250" y="3676650"/>
            <a:ext cx="523875" cy="0"/>
          </a:xfrm>
          <a:prstGeom xmlns:a="http://schemas.openxmlformats.org/drawingml/2006/main" prst="straightConnector1">
            <a:avLst/>
          </a:prstGeom>
          <a:ln xmlns:a="http://schemas.openxmlformats.org/drawingml/2006/main" w="19050">
            <a:solidFill>
              <a:srgbClr val="5C6577"/>
            </a:solidFill>
            <a:prstDash val="solid"/>
            <a:tailEnd type="triangle" w="sm" len="sm"/>
          </a:ln>
        </p:spPr>
      </p:cxnSp>
      <p:sp>
        <p:nvSpPr>
          <p:cNvPr id="19" name="">
            <a:extLst xmlns:a="http://schemas.openxmlformats.org/drawingml/2006/main">
              <a:ext uri="{FF2B5EF4-FFF2-40B4-BE49-F238E27FC236}">
                <a16:creationId xmlns:a16="http://schemas.microsoft.com/office/drawing/2014/main" id="{77C753EC-BA0B-4ACA-9A31-4941BF2913A3}"/>
              </a:ext>
            </a:extLst>
          </p:cNvPr>
          <p:cNvSpPr>
            <a:spLocks xmlns:a="http://schemas.openxmlformats.org/drawingml/2006/main" noGrp="1"/>
          </p:cNvSpPr>
          <p:nvPr/>
        </p:nvSpPr>
        <p:spPr>
          <a:xfrm xmlns:a="http://schemas.openxmlformats.org/drawingml/2006/main">
            <a:off x="3629025" y="5353050"/>
            <a:ext cx="1123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data model</a:t>
            </a:r>
          </a:p>
        </p:txBody>
      </p:sp>
      <p:sp>
        <p:nvSpPr>
          <p:cNvPr id="20" name="">
            <a:extLst xmlns:a="http://schemas.openxmlformats.org/drawingml/2006/main">
              <a:ext uri="{FF2B5EF4-FFF2-40B4-BE49-F238E27FC236}">
                <a16:creationId xmlns:a16="http://schemas.microsoft.com/office/drawing/2014/main" id="{ED3A2564-5C17-4B0F-A3BF-C179D75D81A7}"/>
              </a:ext>
            </a:extLst>
          </p:cNvPr>
          <p:cNvSpPr>
            <a:spLocks xmlns:a="http://schemas.openxmlformats.org/drawingml/2006/main" noGrp="1"/>
          </p:cNvSpPr>
          <p:nvPr/>
        </p:nvSpPr>
        <p:spPr>
          <a:xfrm xmlns:a="http://schemas.openxmlformats.org/drawingml/2006/main">
            <a:off x="7391400" y="5353050"/>
            <a:ext cx="1123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5C6577"/>
                </a:solidFill>
                <a:latin typeface="Avenir Next"/>
                <a:ea typeface="Avenir Next"/>
                <a:cs typeface="Avenir Next"/>
              </a:defRPr>
            </a:pPr>
            <a:r>
              <a:rPr sz="1050" b="1">
                <a:solidFill>
                  <a:srgbClr val="5C6577"/>
                </a:solidFill>
                <a:latin typeface="Avenir Next"/>
                <a:ea typeface="Avenir Next"/>
                <a:cs typeface="Avenir Next"/>
              </a:rPr>
              <a:t>operations</a:t>
            </a:r>
          </a:p>
        </p:txBody>
      </p:sp>
    </p:spTree>
    <p:extLst>
      <p:ext uri="{BB962C8B-B14F-4D97-AF65-F5344CB8AC3E}">
        <p14:creationId xmlns:p14="http://schemas.microsoft.com/office/powerpoint/2010/main" val="1656508714"/>
      </p:ext>
    </p:extLst>
  </p:cSld>
</p:sld>
</file>

<file path=ppt/slides/slide5.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CE5B4E2-067F-4DCA-8105-FE99E439C22C}"/>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6996"/>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CLOUD INTERFACE</a:t>
            </a:r>
          </a:p>
        </p:txBody>
      </p:sp>
      <p:sp>
        <p:nvSpPr>
          <p:cNvPr id="2" name="slide-title">
            <a:extLst xmlns:a="http://schemas.openxmlformats.org/drawingml/2006/main">
              <a:ext uri="{FF2B5EF4-FFF2-40B4-BE49-F238E27FC236}">
                <a16:creationId xmlns:a16="http://schemas.microsoft.com/office/drawing/2014/main" id="{4EE0B915-1960-47EC-9286-DC4133E09536}"/>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Supabase is a platform built around PostgreSQL</a:t>
            </a:r>
          </a:p>
        </p:txBody>
      </p:sp>
      <p:sp>
        <p:nvSpPr>
          <p:cNvPr id="3" name="">
            <a:extLst xmlns:a="http://schemas.openxmlformats.org/drawingml/2006/main">
              <a:ext uri="{FF2B5EF4-FFF2-40B4-BE49-F238E27FC236}">
                <a16:creationId xmlns:a16="http://schemas.microsoft.com/office/drawing/2014/main" id="{9C69D724-C471-40F9-BE5A-7CF3D5C1EC8C}"/>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dashboard exposes projects and services; PostgreSQL remains the database engine.</a:t>
            </a:r>
          </a:p>
        </p:txBody>
      </p:sp>
      <p:sp>
        <p:nvSpPr>
          <p:cNvPr id="4" name="">
            <a:extLst xmlns:a="http://schemas.openxmlformats.org/drawingml/2006/main">
              <a:ext uri="{FF2B5EF4-FFF2-40B4-BE49-F238E27FC236}">
                <a16:creationId xmlns:a16="http://schemas.microsoft.com/office/drawing/2014/main" id="{EC90CB12-698B-49BA-8F98-BAD9E65B7181}"/>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05</a:t>
            </a:r>
          </a:p>
        </p:txBody>
      </p:sp>
      <p:sp>
        <p:nvSpPr>
          <p:cNvPr id="5" name="">
            <a:extLst xmlns:a="http://schemas.openxmlformats.org/drawingml/2006/main">
              <a:ext uri="{FF2B5EF4-FFF2-40B4-BE49-F238E27FC236}">
                <a16:creationId xmlns:a16="http://schemas.microsoft.com/office/drawing/2014/main" id="{A420DB7B-3F95-4CE2-B782-695A52096B0F}"/>
              </a:ext>
            </a:extLst>
          </p:cNvPr>
          <p:cNvSpPr>
            <a:spLocks xmlns:a="http://schemas.openxmlformats.org/drawingml/2006/main" noGrp="1"/>
          </p:cNvSpPr>
          <p:nvPr/>
        </p:nvSpPr>
        <p:spPr>
          <a:xfrm xmlns:a="http://schemas.openxmlformats.org/drawingml/2006/main">
            <a:off x="552450" y="2038350"/>
            <a:ext cx="5810250" cy="4095750"/>
          </a:xfrm>
          <a:prstGeom xmlns:a="http://schemas.openxmlformats.org/drawingml/2006/main" prst="roundRect">
            <a:avLst>
              <a:gd name="adj" fmla="val 4186"/>
            </a:avLst>
          </a:prstGeom>
          <a:solidFill xmlns:a="http://schemas.openxmlformats.org/drawingml/2006/main">
            <a:srgbClr val="FFFFFF"/>
          </a:solidFill>
          <a:ln xmlns:a="http://schemas.openxmlformats.org/drawingml/2006/main" w="9525">
            <a:solidFill>
              <a:srgbClr val="E9E4D8"/>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ffd77da5c474bdd"/>
          <a:srcRect xmlns:a="http://schemas.openxmlformats.org/drawingml/2006/main" l="0" t="21016" r="0" b="21016"/>
          <a:stretch xmlns:a="http://schemas.openxmlformats.org/drawingml/2006/main">
            <a:fillRect l="0" t="0" r="0" b="0"/>
          </a:stretch>
        </p:blipFill>
        <p:spPr>
          <a:xfrm xmlns:a="http://schemas.openxmlformats.org/drawingml/2006/main">
            <a:off x="714375" y="2181225"/>
            <a:ext cx="5486400" cy="3810000"/>
          </a:xfrm>
          <a:prstGeom xmlns:a="http://schemas.openxmlformats.org/drawingml/2006/main" prst="roundRect">
            <a:avLst>
              <a:gd name="adj" fmla="val 3000"/>
            </a:avLst>
          </a:prstGeom>
        </p:spPr>
      </p:pic>
      <p:sp>
        <p:nvSpPr>
          <p:cNvPr id="7" name="">
            <a:extLst xmlns:a="http://schemas.openxmlformats.org/drawingml/2006/main">
              <a:ext uri="{FF2B5EF4-FFF2-40B4-BE49-F238E27FC236}">
                <a16:creationId xmlns:a16="http://schemas.microsoft.com/office/drawing/2014/main" id="{2E7E305D-5ADE-42FC-9B30-AD0427C6DC83}"/>
              </a:ext>
            </a:extLst>
          </p:cNvPr>
          <p:cNvSpPr>
            <a:spLocks xmlns:a="http://schemas.openxmlformats.org/drawingml/2006/main" noGrp="1"/>
          </p:cNvSpPr>
          <p:nvPr/>
        </p:nvSpPr>
        <p:spPr>
          <a:xfrm xmlns:a="http://schemas.openxmlformats.org/drawingml/2006/main">
            <a:off x="6762750" y="2143125"/>
            <a:ext cx="4876800" cy="1619250"/>
          </a:xfrm>
          <a:prstGeom xmlns:a="http://schemas.openxmlformats.org/drawingml/2006/main" prst="roundRect">
            <a:avLst>
              <a:gd name="adj" fmla="val 10588"/>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A2DC7162-A4DE-4D19-AF39-7A86DC8D6B78}"/>
              </a:ext>
            </a:extLst>
          </p:cNvPr>
          <p:cNvSpPr>
            <a:spLocks xmlns:a="http://schemas.openxmlformats.org/drawingml/2006/main" noGrp="1"/>
          </p:cNvSpPr>
          <p:nvPr/>
        </p:nvSpPr>
        <p:spPr>
          <a:xfrm xmlns:a="http://schemas.openxmlformats.org/drawingml/2006/main">
            <a:off x="6762750" y="2143125"/>
            <a:ext cx="76200" cy="1619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9" name="">
            <a:extLst xmlns:a="http://schemas.openxmlformats.org/drawingml/2006/main">
              <a:ext uri="{FF2B5EF4-FFF2-40B4-BE49-F238E27FC236}">
                <a16:creationId xmlns:a16="http://schemas.microsoft.com/office/drawing/2014/main" id="{44E97D5F-4372-4193-A08D-E443E636BCC3}"/>
              </a:ext>
            </a:extLst>
          </p:cNvPr>
          <p:cNvSpPr>
            <a:spLocks xmlns:a="http://schemas.openxmlformats.org/drawingml/2006/main" noGrp="1"/>
          </p:cNvSpPr>
          <p:nvPr/>
        </p:nvSpPr>
        <p:spPr>
          <a:xfrm xmlns:a="http://schemas.openxmlformats.org/drawingml/2006/main">
            <a:off x="7010400" y="2333625"/>
            <a:ext cx="4419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What the platform adds</a:t>
            </a:r>
          </a:p>
        </p:txBody>
      </p:sp>
      <p:sp>
        <p:nvSpPr>
          <p:cNvPr id="10" name="">
            <a:extLst xmlns:a="http://schemas.openxmlformats.org/drawingml/2006/main">
              <a:ext uri="{FF2B5EF4-FFF2-40B4-BE49-F238E27FC236}">
                <a16:creationId xmlns:a16="http://schemas.microsoft.com/office/drawing/2014/main" id="{A4A2429C-939D-4C2C-8727-F53BA3D9C158}"/>
              </a:ext>
            </a:extLst>
          </p:cNvPr>
          <p:cNvSpPr>
            <a:spLocks xmlns:a="http://schemas.openxmlformats.org/drawingml/2006/main" noGrp="1"/>
          </p:cNvSpPr>
          <p:nvPr/>
        </p:nvSpPr>
        <p:spPr>
          <a:xfrm xmlns:a="http://schemas.openxmlformats.org/drawingml/2006/main">
            <a:off x="7010400" y="2781300"/>
            <a:ext cx="44196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Dashboard · managed infrastructure · API services · authentication · logs · configuration</a:t>
            </a:r>
          </a:p>
        </p:txBody>
      </p:sp>
      <p:sp>
        <p:nvSpPr>
          <p:cNvPr id="11" name="">
            <a:extLst xmlns:a="http://schemas.openxmlformats.org/drawingml/2006/main">
              <a:ext uri="{FF2B5EF4-FFF2-40B4-BE49-F238E27FC236}">
                <a16:creationId xmlns:a16="http://schemas.microsoft.com/office/drawing/2014/main" id="{EF0B558B-4286-42B8-8EF5-A7CA375CA847}"/>
              </a:ext>
            </a:extLst>
          </p:cNvPr>
          <p:cNvSpPr>
            <a:spLocks xmlns:a="http://schemas.openxmlformats.org/drawingml/2006/main" noGrp="1"/>
          </p:cNvSpPr>
          <p:nvPr/>
        </p:nvSpPr>
        <p:spPr>
          <a:xfrm xmlns:a="http://schemas.openxmlformats.org/drawingml/2006/main">
            <a:off x="6762750" y="4048125"/>
            <a:ext cx="4876800" cy="1619250"/>
          </a:xfrm>
          <a:prstGeom xmlns:a="http://schemas.openxmlformats.org/drawingml/2006/main" prst="roundRect">
            <a:avLst>
              <a:gd name="adj" fmla="val 10588"/>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6A6C8486-5FCB-447A-AE68-6776F77A6DDC}"/>
              </a:ext>
            </a:extLst>
          </p:cNvPr>
          <p:cNvSpPr>
            <a:spLocks xmlns:a="http://schemas.openxmlformats.org/drawingml/2006/main" noGrp="1"/>
          </p:cNvSpPr>
          <p:nvPr/>
        </p:nvSpPr>
        <p:spPr>
          <a:xfrm xmlns:a="http://schemas.openxmlformats.org/drawingml/2006/main">
            <a:off x="6762750" y="4048125"/>
            <a:ext cx="76200" cy="16192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3" name="">
            <a:extLst xmlns:a="http://schemas.openxmlformats.org/drawingml/2006/main">
              <a:ext uri="{FF2B5EF4-FFF2-40B4-BE49-F238E27FC236}">
                <a16:creationId xmlns:a16="http://schemas.microsoft.com/office/drawing/2014/main" id="{641C6C60-CA5A-4B2B-9245-B18491BCA480}"/>
              </a:ext>
            </a:extLst>
          </p:cNvPr>
          <p:cNvSpPr>
            <a:spLocks xmlns:a="http://schemas.openxmlformats.org/drawingml/2006/main" noGrp="1"/>
          </p:cNvSpPr>
          <p:nvPr/>
        </p:nvSpPr>
        <p:spPr>
          <a:xfrm xmlns:a="http://schemas.openxmlformats.org/drawingml/2006/main">
            <a:off x="7010400" y="4238625"/>
            <a:ext cx="4419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What PostgreSQL still does</a:t>
            </a:r>
          </a:p>
        </p:txBody>
      </p:sp>
      <p:sp>
        <p:nvSpPr>
          <p:cNvPr id="14" name="">
            <a:extLst xmlns:a="http://schemas.openxmlformats.org/drawingml/2006/main">
              <a:ext uri="{FF2B5EF4-FFF2-40B4-BE49-F238E27FC236}">
                <a16:creationId xmlns:a16="http://schemas.microsoft.com/office/drawing/2014/main" id="{FD370C2A-FD96-4619-8A67-FD46797A4FD2}"/>
              </a:ext>
            </a:extLst>
          </p:cNvPr>
          <p:cNvSpPr>
            <a:spLocks xmlns:a="http://schemas.openxmlformats.org/drawingml/2006/main" noGrp="1"/>
          </p:cNvSpPr>
          <p:nvPr/>
        </p:nvSpPr>
        <p:spPr>
          <a:xfrm xmlns:a="http://schemas.openxmlformats.org/drawingml/2006/main">
            <a:off x="7010400" y="4686300"/>
            <a:ext cx="44196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Tables · SQL · constraints · transactions · query planning · indexes · roles</a:t>
            </a:r>
          </a:p>
        </p:txBody>
      </p:sp>
    </p:spTree>
    <p:extLst>
      <p:ext uri="{BB962C8B-B14F-4D97-AF65-F5344CB8AC3E}">
        <p14:creationId xmlns:p14="http://schemas.microsoft.com/office/powerpoint/2010/main" val="279149357"/>
      </p:ext>
    </p:extLst>
  </p:cSld>
</p:sld>
</file>

<file path=ppt/slides/slide6.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1896894-5F88-4FA0-B8F7-A3B9556AC8AA}"/>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6996"/>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CLOUD INTERFACE</a:t>
            </a:r>
          </a:p>
        </p:txBody>
      </p:sp>
      <p:sp>
        <p:nvSpPr>
          <p:cNvPr id="2" name="slide-title">
            <a:extLst xmlns:a="http://schemas.openxmlformats.org/drawingml/2006/main">
              <a:ext uri="{FF2B5EF4-FFF2-40B4-BE49-F238E27FC236}">
                <a16:creationId xmlns:a16="http://schemas.microsoft.com/office/drawing/2014/main" id="{88388ED0-F419-4FDC-A263-1289F17C48A1}"/>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MongoDB Atlas operates MongoDB in the cloud</a:t>
            </a:r>
          </a:p>
        </p:txBody>
      </p:sp>
      <p:sp>
        <p:nvSpPr>
          <p:cNvPr id="3" name="">
            <a:extLst xmlns:a="http://schemas.openxmlformats.org/drawingml/2006/main">
              <a:ext uri="{FF2B5EF4-FFF2-40B4-BE49-F238E27FC236}">
                <a16:creationId xmlns:a16="http://schemas.microsoft.com/office/drawing/2014/main" id="{D26C06D8-0780-4513-AB3F-492DC56C46A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Projects, clusters, users, network rules, and data tools surround the document database.</a:t>
            </a:r>
          </a:p>
        </p:txBody>
      </p:sp>
      <p:sp>
        <p:nvSpPr>
          <p:cNvPr id="4" name="">
            <a:extLst xmlns:a="http://schemas.openxmlformats.org/drawingml/2006/main">
              <a:ext uri="{FF2B5EF4-FFF2-40B4-BE49-F238E27FC236}">
                <a16:creationId xmlns:a16="http://schemas.microsoft.com/office/drawing/2014/main" id="{4D4F6477-AD3C-41DA-A4AD-841179DE5AE4}"/>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06</a:t>
            </a:r>
          </a:p>
        </p:txBody>
      </p:sp>
      <p:sp>
        <p:nvSpPr>
          <p:cNvPr id="5" name="">
            <a:extLst xmlns:a="http://schemas.openxmlformats.org/drawingml/2006/main">
              <a:ext uri="{FF2B5EF4-FFF2-40B4-BE49-F238E27FC236}">
                <a16:creationId xmlns:a16="http://schemas.microsoft.com/office/drawing/2014/main" id="{FCB0DB75-0A32-4F59-AF0F-4B76736744AB}"/>
              </a:ext>
            </a:extLst>
          </p:cNvPr>
          <p:cNvSpPr>
            <a:spLocks xmlns:a="http://schemas.openxmlformats.org/drawingml/2006/main" noGrp="1"/>
          </p:cNvSpPr>
          <p:nvPr/>
        </p:nvSpPr>
        <p:spPr>
          <a:xfrm xmlns:a="http://schemas.openxmlformats.org/drawingml/2006/main">
            <a:off x="552450" y="2038350"/>
            <a:ext cx="6858000" cy="4095750"/>
          </a:xfrm>
          <a:prstGeom xmlns:a="http://schemas.openxmlformats.org/drawingml/2006/main" prst="roundRect">
            <a:avLst>
              <a:gd name="adj" fmla="val 4186"/>
            </a:avLst>
          </a:prstGeom>
          <a:solidFill xmlns:a="http://schemas.openxmlformats.org/drawingml/2006/main">
            <a:srgbClr val="FFFFFF"/>
          </a:solidFill>
          <a:ln xmlns:a="http://schemas.openxmlformats.org/drawingml/2006/main" w="9525">
            <a:solidFill>
              <a:srgbClr val="E9E4D8"/>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a70a3b7214f4c15"/>
          <a:srcRect xmlns:a="http://schemas.openxmlformats.org/drawingml/2006/main" l="0" t="10087" r="0" b="10087"/>
          <a:stretch xmlns:a="http://schemas.openxmlformats.org/drawingml/2006/main">
            <a:fillRect l="0" t="0" r="0" b="0"/>
          </a:stretch>
        </p:blipFill>
        <p:spPr>
          <a:xfrm xmlns:a="http://schemas.openxmlformats.org/drawingml/2006/main">
            <a:off x="695325" y="2171700"/>
            <a:ext cx="6572250" cy="3810000"/>
          </a:xfrm>
          <a:prstGeom xmlns:a="http://schemas.openxmlformats.org/drawingml/2006/main" prst="roundRect">
            <a:avLst>
              <a:gd name="adj" fmla="val 3000"/>
            </a:avLst>
          </a:prstGeom>
        </p:spPr>
      </p:pic>
      <p:sp>
        <p:nvSpPr>
          <p:cNvPr id="7" name="">
            <a:extLst xmlns:a="http://schemas.openxmlformats.org/drawingml/2006/main">
              <a:ext uri="{FF2B5EF4-FFF2-40B4-BE49-F238E27FC236}">
                <a16:creationId xmlns:a16="http://schemas.microsoft.com/office/drawing/2014/main" id="{A91DD7FA-F4F5-4AC9-A03E-97B14698C09B}"/>
              </a:ext>
            </a:extLst>
          </p:cNvPr>
          <p:cNvSpPr>
            <a:spLocks xmlns:a="http://schemas.openxmlformats.org/drawingml/2006/main" noGrp="1"/>
          </p:cNvSpPr>
          <p:nvPr/>
        </p:nvSpPr>
        <p:spPr>
          <a:xfrm xmlns:a="http://schemas.openxmlformats.org/drawingml/2006/main">
            <a:off x="7810500" y="2181225"/>
            <a:ext cx="3829050" cy="1485900"/>
          </a:xfrm>
          <a:prstGeom xmlns:a="http://schemas.openxmlformats.org/drawingml/2006/main" prst="roundRect">
            <a:avLst>
              <a:gd name="adj" fmla="val 11538"/>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4442AD6D-37AA-477F-AD03-081344F794F3}"/>
              </a:ext>
            </a:extLst>
          </p:cNvPr>
          <p:cNvSpPr>
            <a:spLocks xmlns:a="http://schemas.openxmlformats.org/drawingml/2006/main" noGrp="1"/>
          </p:cNvSpPr>
          <p:nvPr/>
        </p:nvSpPr>
        <p:spPr>
          <a:xfrm xmlns:a="http://schemas.openxmlformats.org/drawingml/2006/main">
            <a:off x="7810500" y="2181225"/>
            <a:ext cx="76200" cy="14859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9" name="">
            <a:extLst xmlns:a="http://schemas.openxmlformats.org/drawingml/2006/main">
              <a:ext uri="{FF2B5EF4-FFF2-40B4-BE49-F238E27FC236}">
                <a16:creationId xmlns:a16="http://schemas.microsoft.com/office/drawing/2014/main" id="{556FA892-446F-461D-9550-614CF4C19631}"/>
              </a:ext>
            </a:extLst>
          </p:cNvPr>
          <p:cNvSpPr>
            <a:spLocks xmlns:a="http://schemas.openxmlformats.org/drawingml/2006/main" noGrp="1"/>
          </p:cNvSpPr>
          <p:nvPr/>
        </p:nvSpPr>
        <p:spPr>
          <a:xfrm xmlns:a="http://schemas.openxmlformats.org/drawingml/2006/main">
            <a:off x="8058150" y="2371725"/>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Atlas layer</a:t>
            </a:r>
          </a:p>
        </p:txBody>
      </p:sp>
      <p:sp>
        <p:nvSpPr>
          <p:cNvPr id="10" name="">
            <a:extLst xmlns:a="http://schemas.openxmlformats.org/drawingml/2006/main">
              <a:ext uri="{FF2B5EF4-FFF2-40B4-BE49-F238E27FC236}">
                <a16:creationId xmlns:a16="http://schemas.microsoft.com/office/drawing/2014/main" id="{F86B820A-35C1-4678-B006-C74EBAC48107}"/>
              </a:ext>
            </a:extLst>
          </p:cNvPr>
          <p:cNvSpPr>
            <a:spLocks xmlns:a="http://schemas.openxmlformats.org/drawingml/2006/main" noGrp="1"/>
          </p:cNvSpPr>
          <p:nvPr/>
        </p:nvSpPr>
        <p:spPr>
          <a:xfrm xmlns:a="http://schemas.openxmlformats.org/drawingml/2006/main">
            <a:off x="8058150" y="2819400"/>
            <a:ext cx="3371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Project · cluster · network access · database users · logs</a:t>
            </a:r>
          </a:p>
        </p:txBody>
      </p:sp>
      <p:sp>
        <p:nvSpPr>
          <p:cNvPr id="11" name="">
            <a:extLst xmlns:a="http://schemas.openxmlformats.org/drawingml/2006/main">
              <a:ext uri="{FF2B5EF4-FFF2-40B4-BE49-F238E27FC236}">
                <a16:creationId xmlns:a16="http://schemas.microsoft.com/office/drawing/2014/main" id="{647E7C82-8C55-4563-A917-2628102B5569}"/>
              </a:ext>
            </a:extLst>
          </p:cNvPr>
          <p:cNvSpPr>
            <a:spLocks xmlns:a="http://schemas.openxmlformats.org/drawingml/2006/main" noGrp="1"/>
          </p:cNvSpPr>
          <p:nvPr/>
        </p:nvSpPr>
        <p:spPr>
          <a:xfrm xmlns:a="http://schemas.openxmlformats.org/drawingml/2006/main">
            <a:off x="7810500" y="4000500"/>
            <a:ext cx="3829050" cy="1485900"/>
          </a:xfrm>
          <a:prstGeom xmlns:a="http://schemas.openxmlformats.org/drawingml/2006/main" prst="roundRect">
            <a:avLst>
              <a:gd name="adj" fmla="val 11538"/>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3DEFC58E-7651-4407-85B2-30C17A8CEE88}"/>
              </a:ext>
            </a:extLst>
          </p:cNvPr>
          <p:cNvSpPr>
            <a:spLocks xmlns:a="http://schemas.openxmlformats.org/drawingml/2006/main" noGrp="1"/>
          </p:cNvSpPr>
          <p:nvPr/>
        </p:nvSpPr>
        <p:spPr>
          <a:xfrm xmlns:a="http://schemas.openxmlformats.org/drawingml/2006/main">
            <a:off x="7810500" y="4000500"/>
            <a:ext cx="76200" cy="14859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3" name="">
            <a:extLst xmlns:a="http://schemas.openxmlformats.org/drawingml/2006/main">
              <a:ext uri="{FF2B5EF4-FFF2-40B4-BE49-F238E27FC236}">
                <a16:creationId xmlns:a16="http://schemas.microsoft.com/office/drawing/2014/main" id="{D4548902-7F7A-45BB-AA68-CB7E2EC852FB}"/>
              </a:ext>
            </a:extLst>
          </p:cNvPr>
          <p:cNvSpPr>
            <a:spLocks xmlns:a="http://schemas.openxmlformats.org/drawingml/2006/main" noGrp="1"/>
          </p:cNvSpPr>
          <p:nvPr/>
        </p:nvSpPr>
        <p:spPr>
          <a:xfrm xmlns:a="http://schemas.openxmlformats.org/drawingml/2006/main">
            <a:off x="8058150" y="419100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MongoDB layer</a:t>
            </a:r>
          </a:p>
        </p:txBody>
      </p:sp>
      <p:sp>
        <p:nvSpPr>
          <p:cNvPr id="14" name="">
            <a:extLst xmlns:a="http://schemas.openxmlformats.org/drawingml/2006/main">
              <a:ext uri="{FF2B5EF4-FFF2-40B4-BE49-F238E27FC236}">
                <a16:creationId xmlns:a16="http://schemas.microsoft.com/office/drawing/2014/main" id="{E2801D96-4D9E-44A5-B7C6-661E9F9A05A9}"/>
              </a:ext>
            </a:extLst>
          </p:cNvPr>
          <p:cNvSpPr>
            <a:spLocks xmlns:a="http://schemas.openxmlformats.org/drawingml/2006/main" noGrp="1"/>
          </p:cNvSpPr>
          <p:nvPr/>
        </p:nvSpPr>
        <p:spPr>
          <a:xfrm xmlns:a="http://schemas.openxmlformats.org/drawingml/2006/main">
            <a:off x="8058150" y="4638675"/>
            <a:ext cx="3371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Databases · collections · BSON documents · queries · indexes</a:t>
            </a:r>
          </a:p>
        </p:txBody>
      </p:sp>
      <p:sp>
        <p:nvSpPr>
          <p:cNvPr id="15" name="">
            <a:extLst xmlns:a="http://schemas.openxmlformats.org/drawingml/2006/main">
              <a:ext uri="{FF2B5EF4-FFF2-40B4-BE49-F238E27FC236}">
                <a16:creationId xmlns:a16="http://schemas.microsoft.com/office/drawing/2014/main" id="{9A1E3507-E43F-4957-B019-5419EE166FAC}"/>
              </a:ext>
            </a:extLst>
          </p:cNvPr>
          <p:cNvSpPr>
            <a:spLocks xmlns:a="http://schemas.openxmlformats.org/drawingml/2006/main" noGrp="1"/>
          </p:cNvSpPr>
          <p:nvPr/>
        </p:nvSpPr>
        <p:spPr>
          <a:xfrm xmlns:a="http://schemas.openxmlformats.org/drawingml/2006/main">
            <a:off x="7943850" y="5772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75">
                <a:solidFill>
                  <a:srgbClr val="5C6577"/>
                </a:solidFill>
                <a:latin typeface="Avenir Next"/>
                <a:ea typeface="Avenir Next"/>
                <a:cs typeface="Avenir Next"/>
              </a:defRPr>
            </a:pPr>
            <a:r>
              <a:rPr sz="1275">
                <a:solidFill>
                  <a:srgbClr val="5C6577"/>
                </a:solidFill>
                <a:latin typeface="Avenir Next"/>
                <a:ea typeface="Avenir Next"/>
                <a:cs typeface="Avenir Next"/>
              </a:rPr>
              <a:t>Free-tier clusters may pause after inactivity and can be resumed from the project.</a:t>
            </a:r>
          </a:p>
        </p:txBody>
      </p:sp>
    </p:spTree>
    <p:extLst>
      <p:ext uri="{BB962C8B-B14F-4D97-AF65-F5344CB8AC3E}">
        <p14:creationId xmlns:p14="http://schemas.microsoft.com/office/powerpoint/2010/main" val="507522520"/>
      </p:ext>
    </p:extLst>
  </p:cSld>
</p:sld>
</file>

<file path=ppt/slides/slide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8732471-E033-4DA7-8FF1-AE23212E0580}"/>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98118"/>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TECHNICAL WORK</a:t>
            </a:r>
          </a:p>
        </p:txBody>
      </p:sp>
      <p:sp>
        <p:nvSpPr>
          <p:cNvPr id="2" name="slide-title">
            <a:extLst xmlns:a="http://schemas.openxmlformats.org/drawingml/2006/main">
              <a:ext uri="{FF2B5EF4-FFF2-40B4-BE49-F238E27FC236}">
                <a16:creationId xmlns:a16="http://schemas.microsoft.com/office/drawing/2014/main" id="{0FCAF7A5-6054-4E31-B54B-318C7B34B348}"/>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Database administration is controlled change</a:t>
            </a:r>
          </a:p>
        </p:txBody>
      </p:sp>
      <p:sp>
        <p:nvSpPr>
          <p:cNvPr id="3" name="">
            <a:extLst xmlns:a="http://schemas.openxmlformats.org/drawingml/2006/main">
              <a:ext uri="{FF2B5EF4-FFF2-40B4-BE49-F238E27FC236}">
                <a16:creationId xmlns:a16="http://schemas.microsoft.com/office/drawing/2014/main" id="{F554764D-5276-42E9-A9DA-09E9B1B2AA3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job is to keep shared data correct, available, secure, and recoverable.</a:t>
            </a:r>
          </a:p>
        </p:txBody>
      </p:sp>
      <p:sp>
        <p:nvSpPr>
          <p:cNvPr id="4" name="">
            <a:extLst xmlns:a="http://schemas.openxmlformats.org/drawingml/2006/main">
              <a:ext uri="{FF2B5EF4-FFF2-40B4-BE49-F238E27FC236}">
                <a16:creationId xmlns:a16="http://schemas.microsoft.com/office/drawing/2014/main" id="{81DCF4CA-0255-48F7-A4F8-88FB5F43FE1A}"/>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07</a:t>
            </a:r>
          </a:p>
        </p:txBody>
      </p:sp>
      <p:sp>
        <p:nvSpPr>
          <p:cNvPr id="5" name="">
            <a:extLst xmlns:a="http://schemas.openxmlformats.org/drawingml/2006/main">
              <a:ext uri="{FF2B5EF4-FFF2-40B4-BE49-F238E27FC236}">
                <a16:creationId xmlns:a16="http://schemas.microsoft.com/office/drawing/2014/main" id="{6BA83508-BEF8-4FB2-B1E1-6066D6996BB8}"/>
              </a:ext>
            </a:extLst>
          </p:cNvPr>
          <p:cNvSpPr>
            <a:spLocks xmlns:a="http://schemas.openxmlformats.org/drawingml/2006/main" noGrp="1"/>
          </p:cNvSpPr>
          <p:nvPr/>
        </p:nvSpPr>
        <p:spPr>
          <a:xfrm xmlns:a="http://schemas.openxmlformats.org/drawingml/2006/main">
            <a:off x="4810125" y="2571750"/>
            <a:ext cx="2571750" cy="1714500"/>
          </a:xfrm>
          <a:prstGeom xmlns:a="http://schemas.openxmlformats.org/drawingml/2006/main" prst="ellipse">
            <a:avLst/>
          </a:prstGeom>
          <a:solidFill xmlns:a="http://schemas.openxmlformats.org/drawingml/2006/main">
            <a:srgbClr val="14213D"/>
          </a:solidFill>
          <a:ln xmlns:a="http://schemas.openxmlformats.org/drawingml/2006/main" w="0">
            <a:solidFill>
              <a:srgbClr val="14213D"/>
            </a:solidFill>
            <a:prstDash val="solid"/>
          </a:ln>
        </p:spPr>
        <p:txBody>
          <a:bodyPr xmlns:a="http://schemas.openxmlformats.org/drawingml/2006/main" anchor="ctr"/>
          <a:lstStyle xmlns:a="http://schemas.openxmlformats.org/drawingml/2006/main"/>
          <a:p xmlns:a="http://schemas.openxmlformats.org/drawingml/2006/main">
            <a:pPr algn="ctr">
              <a:lnSpc>
                <a:spcPct val="92000"/>
              </a:lnSpc>
              <a:buNone/>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SHARED</a:t>
            </a:r>
          </a:p>
          <a:p xmlns:a="http://schemas.openxmlformats.org/drawingml/2006/main">
            <a:pPr algn="ctr">
              <a:lnSpc>
                <a:spcPct val="92000"/>
              </a:lnSpc>
              <a:buNone/>
              <a:defRPr sz="2100" b="1">
                <a:solidFill>
                  <a:srgbClr val="FFFFFF"/>
                </a:solidFill>
                <a:latin typeface="Avenir Next"/>
                <a:ea typeface="Avenir Next"/>
                <a:cs typeface="Avenir Next"/>
              </a:defRPr>
            </a:pPr>
            <a:r>
              <a:rPr sz="2100" b="1">
                <a:solidFill>
                  <a:srgbClr val="FFFFFF"/>
                </a:solidFill>
                <a:latin typeface="Avenir Next"/>
                <a:ea typeface="Avenir Next"/>
                <a:cs typeface="Avenir Next"/>
              </a:rPr>
              <a:t>DATA</a:t>
            </a:r>
          </a:p>
        </p:txBody>
      </p:sp>
      <p:sp>
        <p:nvSpPr>
          <p:cNvPr id="6" name="">
            <a:extLst xmlns:a="http://schemas.openxmlformats.org/drawingml/2006/main">
              <a:ext uri="{FF2B5EF4-FFF2-40B4-BE49-F238E27FC236}">
                <a16:creationId xmlns:a16="http://schemas.microsoft.com/office/drawing/2014/main" id="{54CEE2A6-2E6E-4C3B-8C2D-185377747D7D}"/>
              </a:ext>
            </a:extLst>
          </p:cNvPr>
          <p:cNvSpPr>
            <a:spLocks xmlns:a="http://schemas.openxmlformats.org/drawingml/2006/main" noGrp="1"/>
          </p:cNvSpPr>
          <p:nvPr/>
        </p:nvSpPr>
        <p:spPr>
          <a:xfrm xmlns:a="http://schemas.openxmlformats.org/drawingml/2006/main">
            <a:off x="762000" y="2095500"/>
            <a:ext cx="3286125" cy="1200150"/>
          </a:xfrm>
          <a:prstGeom xmlns:a="http://schemas.openxmlformats.org/drawingml/2006/main" prst="roundRect">
            <a:avLst>
              <a:gd name="adj" fmla="val 12698"/>
            </a:avLst>
          </a:prstGeom>
          <a:solidFill xmlns:a="http://schemas.openxmlformats.org/drawingml/2006/main">
            <a:srgbClr val="FCE7D2"/>
          </a:solidFill>
          <a:ln xmlns:a="http://schemas.openxmlformats.org/drawingml/2006/main" w="9525">
            <a:solidFill>
              <a:srgbClr val="D95D39"/>
            </a:solidFill>
            <a:prstDash val="solid"/>
          </a:ln>
        </p:spPr>
      </p:sp>
      <p:sp>
        <p:nvSpPr>
          <p:cNvPr id="7" name="">
            <a:extLst xmlns:a="http://schemas.openxmlformats.org/drawingml/2006/main">
              <a:ext uri="{FF2B5EF4-FFF2-40B4-BE49-F238E27FC236}">
                <a16:creationId xmlns:a16="http://schemas.microsoft.com/office/drawing/2014/main" id="{54A5A565-F981-4572-BDFD-876181FF94FF}"/>
              </a:ext>
            </a:extLst>
          </p:cNvPr>
          <p:cNvSpPr>
            <a:spLocks xmlns:a="http://schemas.openxmlformats.org/drawingml/2006/main" noGrp="1"/>
          </p:cNvSpPr>
          <p:nvPr/>
        </p:nvSpPr>
        <p:spPr>
          <a:xfrm xmlns:a="http://schemas.openxmlformats.org/drawingml/2006/main">
            <a:off x="952500" y="22669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Correctness</a:t>
            </a:r>
          </a:p>
        </p:txBody>
      </p:sp>
      <p:sp>
        <p:nvSpPr>
          <p:cNvPr id="8" name="">
            <a:extLst xmlns:a="http://schemas.openxmlformats.org/drawingml/2006/main">
              <a:ext uri="{FF2B5EF4-FFF2-40B4-BE49-F238E27FC236}">
                <a16:creationId xmlns:a16="http://schemas.microsoft.com/office/drawing/2014/main" id="{27CD4FF9-DAB6-4A21-BBCC-EE15BD97EC5B}"/>
              </a:ext>
            </a:extLst>
          </p:cNvPr>
          <p:cNvSpPr>
            <a:spLocks xmlns:a="http://schemas.openxmlformats.org/drawingml/2006/main" noGrp="1"/>
          </p:cNvSpPr>
          <p:nvPr/>
        </p:nvSpPr>
        <p:spPr>
          <a:xfrm xmlns:a="http://schemas.openxmlformats.org/drawingml/2006/main">
            <a:off x="952500" y="27336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a:solidFill>
                  <a:srgbClr val="5C6577"/>
                </a:solidFill>
                <a:latin typeface="Menlo"/>
                <a:ea typeface="Menlo"/>
                <a:cs typeface="Menlo"/>
              </a:defRPr>
            </a:pPr>
            <a:r>
              <a:rPr sz="1200">
                <a:solidFill>
                  <a:srgbClr val="5C6577"/>
                </a:solidFill>
                <a:latin typeface="Menlo"/>
                <a:ea typeface="Menlo"/>
                <a:cs typeface="Menlo"/>
              </a:rPr>
              <a:t>constraints · transactions</a:t>
            </a:r>
          </a:p>
        </p:txBody>
      </p:sp>
      <p:sp>
        <p:nvSpPr>
          <p:cNvPr id="9" name="">
            <a:extLst xmlns:a="http://schemas.openxmlformats.org/drawingml/2006/main">
              <a:ext uri="{FF2B5EF4-FFF2-40B4-BE49-F238E27FC236}">
                <a16:creationId xmlns:a16="http://schemas.microsoft.com/office/drawing/2014/main" id="{3D592EDC-F60D-4783-8F62-AB48D0D6FCEE}"/>
              </a:ext>
            </a:extLst>
          </p:cNvPr>
          <p:cNvSpPr>
            <a:spLocks xmlns:a="http://schemas.openxmlformats.org/drawingml/2006/main" noGrp="1"/>
          </p:cNvSpPr>
          <p:nvPr/>
        </p:nvSpPr>
        <p:spPr>
          <a:xfrm xmlns:a="http://schemas.openxmlformats.org/drawingml/2006/main">
            <a:off x="762000" y="4191000"/>
            <a:ext cx="3286125" cy="1200150"/>
          </a:xfrm>
          <a:prstGeom xmlns:a="http://schemas.openxmlformats.org/drawingml/2006/main" prst="roundRect">
            <a:avLst>
              <a:gd name="adj" fmla="val 12698"/>
            </a:avLst>
          </a:prstGeom>
          <a:solidFill xmlns:a="http://schemas.openxmlformats.org/drawingml/2006/main">
            <a:srgbClr val="DDF3EE"/>
          </a:solidFill>
          <a:ln xmlns:a="http://schemas.openxmlformats.org/drawingml/2006/main" w="9525">
            <a:solidFill>
              <a:srgbClr val="007C77"/>
            </a:solidFill>
            <a:prstDash val="solid"/>
          </a:ln>
        </p:spPr>
      </p:sp>
      <p:sp>
        <p:nvSpPr>
          <p:cNvPr id="10" name="">
            <a:extLst xmlns:a="http://schemas.openxmlformats.org/drawingml/2006/main">
              <a:ext uri="{FF2B5EF4-FFF2-40B4-BE49-F238E27FC236}">
                <a16:creationId xmlns:a16="http://schemas.microsoft.com/office/drawing/2014/main" id="{7AA66D0F-DCE5-4FE0-B807-242A7551601E}"/>
              </a:ext>
            </a:extLst>
          </p:cNvPr>
          <p:cNvSpPr>
            <a:spLocks xmlns:a="http://schemas.openxmlformats.org/drawingml/2006/main" noGrp="1"/>
          </p:cNvSpPr>
          <p:nvPr/>
        </p:nvSpPr>
        <p:spPr>
          <a:xfrm xmlns:a="http://schemas.openxmlformats.org/drawingml/2006/main">
            <a:off x="952500" y="43624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Availability</a:t>
            </a:r>
          </a:p>
        </p:txBody>
      </p:sp>
      <p:sp>
        <p:nvSpPr>
          <p:cNvPr id="11" name="">
            <a:extLst xmlns:a="http://schemas.openxmlformats.org/drawingml/2006/main">
              <a:ext uri="{FF2B5EF4-FFF2-40B4-BE49-F238E27FC236}">
                <a16:creationId xmlns:a16="http://schemas.microsoft.com/office/drawing/2014/main" id="{6E1CF0F6-A9EF-48E1-A0C8-909C1ACBF395}"/>
              </a:ext>
            </a:extLst>
          </p:cNvPr>
          <p:cNvSpPr>
            <a:spLocks xmlns:a="http://schemas.openxmlformats.org/drawingml/2006/main" noGrp="1"/>
          </p:cNvSpPr>
          <p:nvPr/>
        </p:nvSpPr>
        <p:spPr>
          <a:xfrm xmlns:a="http://schemas.openxmlformats.org/drawingml/2006/main">
            <a:off x="952500" y="48291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a:solidFill>
                  <a:srgbClr val="5C6577"/>
                </a:solidFill>
                <a:latin typeface="Menlo"/>
                <a:ea typeface="Menlo"/>
                <a:cs typeface="Menlo"/>
              </a:defRPr>
            </a:pPr>
            <a:r>
              <a:rPr sz="1200">
                <a:solidFill>
                  <a:srgbClr val="5C6577"/>
                </a:solidFill>
                <a:latin typeface="Menlo"/>
                <a:ea typeface="Menlo"/>
                <a:cs typeface="Menlo"/>
              </a:rPr>
              <a:t>health · failover</a:t>
            </a:r>
          </a:p>
        </p:txBody>
      </p:sp>
      <p:sp>
        <p:nvSpPr>
          <p:cNvPr id="12" name="">
            <a:extLst xmlns:a="http://schemas.openxmlformats.org/drawingml/2006/main">
              <a:ext uri="{FF2B5EF4-FFF2-40B4-BE49-F238E27FC236}">
                <a16:creationId xmlns:a16="http://schemas.microsoft.com/office/drawing/2014/main" id="{A5B6DCA7-6BF9-4ADB-97AD-4B0B333942DB}"/>
              </a:ext>
            </a:extLst>
          </p:cNvPr>
          <p:cNvSpPr>
            <a:spLocks xmlns:a="http://schemas.openxmlformats.org/drawingml/2006/main" noGrp="1"/>
          </p:cNvSpPr>
          <p:nvPr/>
        </p:nvSpPr>
        <p:spPr>
          <a:xfrm xmlns:a="http://schemas.openxmlformats.org/drawingml/2006/main">
            <a:off x="8143875" y="2095500"/>
            <a:ext cx="3286125" cy="1200150"/>
          </a:xfrm>
          <a:prstGeom xmlns:a="http://schemas.openxmlformats.org/drawingml/2006/main" prst="roundRect">
            <a:avLst>
              <a:gd name="adj" fmla="val 12698"/>
            </a:avLst>
          </a:prstGeom>
          <a:solidFill xmlns:a="http://schemas.openxmlformats.org/drawingml/2006/main">
            <a:srgbClr val="FBE2DA"/>
          </a:solidFill>
          <a:ln xmlns:a="http://schemas.openxmlformats.org/drawingml/2006/main" w="9525">
            <a:solidFill>
              <a:srgbClr val="D95D39"/>
            </a:solidFill>
            <a:prstDash val="solid"/>
          </a:ln>
        </p:spPr>
      </p:sp>
      <p:sp>
        <p:nvSpPr>
          <p:cNvPr id="13" name="">
            <a:extLst xmlns:a="http://schemas.openxmlformats.org/drawingml/2006/main">
              <a:ext uri="{FF2B5EF4-FFF2-40B4-BE49-F238E27FC236}">
                <a16:creationId xmlns:a16="http://schemas.microsoft.com/office/drawing/2014/main" id="{CE024E26-0F3B-4D8E-81DC-9D0C8C3AEC2B}"/>
              </a:ext>
            </a:extLst>
          </p:cNvPr>
          <p:cNvSpPr>
            <a:spLocks xmlns:a="http://schemas.openxmlformats.org/drawingml/2006/main" noGrp="1"/>
          </p:cNvSpPr>
          <p:nvPr/>
        </p:nvSpPr>
        <p:spPr>
          <a:xfrm xmlns:a="http://schemas.openxmlformats.org/drawingml/2006/main">
            <a:off x="8334375" y="22669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Security</a:t>
            </a:r>
          </a:p>
        </p:txBody>
      </p:sp>
      <p:sp>
        <p:nvSpPr>
          <p:cNvPr id="14" name="">
            <a:extLst xmlns:a="http://schemas.openxmlformats.org/drawingml/2006/main">
              <a:ext uri="{FF2B5EF4-FFF2-40B4-BE49-F238E27FC236}">
                <a16:creationId xmlns:a16="http://schemas.microsoft.com/office/drawing/2014/main" id="{3F470E4B-05B0-40FB-969C-71C5387C9B7B}"/>
              </a:ext>
            </a:extLst>
          </p:cNvPr>
          <p:cNvSpPr>
            <a:spLocks xmlns:a="http://schemas.openxmlformats.org/drawingml/2006/main" noGrp="1"/>
          </p:cNvSpPr>
          <p:nvPr/>
        </p:nvSpPr>
        <p:spPr>
          <a:xfrm xmlns:a="http://schemas.openxmlformats.org/drawingml/2006/main">
            <a:off x="8334375" y="27336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a:solidFill>
                  <a:srgbClr val="5C6577"/>
                </a:solidFill>
                <a:latin typeface="Menlo"/>
                <a:ea typeface="Menlo"/>
                <a:cs typeface="Menlo"/>
              </a:defRPr>
            </a:pPr>
            <a:r>
              <a:rPr sz="1200">
                <a:solidFill>
                  <a:srgbClr val="5C6577"/>
                </a:solidFill>
                <a:latin typeface="Menlo"/>
                <a:ea typeface="Menlo"/>
                <a:cs typeface="Menlo"/>
              </a:rPr>
              <a:t>roles · least privilege</a:t>
            </a:r>
          </a:p>
        </p:txBody>
      </p:sp>
      <p:sp>
        <p:nvSpPr>
          <p:cNvPr id="15" name="">
            <a:extLst xmlns:a="http://schemas.openxmlformats.org/drawingml/2006/main">
              <a:ext uri="{FF2B5EF4-FFF2-40B4-BE49-F238E27FC236}">
                <a16:creationId xmlns:a16="http://schemas.microsoft.com/office/drawing/2014/main" id="{F2080F97-C369-4D89-903E-F8EB35B053ED}"/>
              </a:ext>
            </a:extLst>
          </p:cNvPr>
          <p:cNvSpPr>
            <a:spLocks xmlns:a="http://schemas.openxmlformats.org/drawingml/2006/main" noGrp="1"/>
          </p:cNvSpPr>
          <p:nvPr/>
        </p:nvSpPr>
        <p:spPr>
          <a:xfrm xmlns:a="http://schemas.openxmlformats.org/drawingml/2006/main">
            <a:off x="8143875" y="4191000"/>
            <a:ext cx="3286125" cy="1200150"/>
          </a:xfrm>
          <a:prstGeom xmlns:a="http://schemas.openxmlformats.org/drawingml/2006/main" prst="roundRect">
            <a:avLst>
              <a:gd name="adj" fmla="val 12698"/>
            </a:avLst>
          </a:prstGeom>
          <a:solidFill xmlns:a="http://schemas.openxmlformats.org/drawingml/2006/main">
            <a:srgbClr val="DCEBFF"/>
          </a:solidFill>
          <a:ln xmlns:a="http://schemas.openxmlformats.org/drawingml/2006/main" w="9525">
            <a:solidFill>
              <a:srgbClr val="0B5FFF"/>
            </a:solidFill>
            <a:prstDash val="solid"/>
          </a:ln>
        </p:spPr>
      </p:sp>
      <p:sp>
        <p:nvSpPr>
          <p:cNvPr id="16" name="">
            <a:extLst xmlns:a="http://schemas.openxmlformats.org/drawingml/2006/main">
              <a:ext uri="{FF2B5EF4-FFF2-40B4-BE49-F238E27FC236}">
                <a16:creationId xmlns:a16="http://schemas.microsoft.com/office/drawing/2014/main" id="{71B0FD27-A42B-4702-AEE0-C7E41F858443}"/>
              </a:ext>
            </a:extLst>
          </p:cNvPr>
          <p:cNvSpPr>
            <a:spLocks xmlns:a="http://schemas.openxmlformats.org/drawingml/2006/main" noGrp="1"/>
          </p:cNvSpPr>
          <p:nvPr/>
        </p:nvSpPr>
        <p:spPr>
          <a:xfrm xmlns:a="http://schemas.openxmlformats.org/drawingml/2006/main">
            <a:off x="8334375" y="4362450"/>
            <a:ext cx="2905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800" b="1">
                <a:solidFill>
                  <a:srgbClr val="14213D"/>
                </a:solidFill>
                <a:latin typeface="Georgia"/>
                <a:ea typeface="Georgia"/>
                <a:cs typeface="Georgia"/>
              </a:defRPr>
            </a:pPr>
            <a:r>
              <a:rPr sz="1800" b="1">
                <a:solidFill>
                  <a:srgbClr val="14213D"/>
                </a:solidFill>
                <a:latin typeface="Georgia"/>
                <a:ea typeface="Georgia"/>
                <a:cs typeface="Georgia"/>
              </a:rPr>
              <a:t>Recovery</a:t>
            </a:r>
          </a:p>
        </p:txBody>
      </p:sp>
      <p:sp>
        <p:nvSpPr>
          <p:cNvPr id="17" name="">
            <a:extLst xmlns:a="http://schemas.openxmlformats.org/drawingml/2006/main">
              <a:ext uri="{FF2B5EF4-FFF2-40B4-BE49-F238E27FC236}">
                <a16:creationId xmlns:a16="http://schemas.microsoft.com/office/drawing/2014/main" id="{52E2207E-BDEB-4C30-AB82-E9AAF27006FA}"/>
              </a:ext>
            </a:extLst>
          </p:cNvPr>
          <p:cNvSpPr>
            <a:spLocks xmlns:a="http://schemas.openxmlformats.org/drawingml/2006/main" noGrp="1"/>
          </p:cNvSpPr>
          <p:nvPr/>
        </p:nvSpPr>
        <p:spPr>
          <a:xfrm xmlns:a="http://schemas.openxmlformats.org/drawingml/2006/main">
            <a:off x="8334375" y="4829175"/>
            <a:ext cx="2905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a:solidFill>
                  <a:srgbClr val="5C6577"/>
                </a:solidFill>
                <a:latin typeface="Menlo"/>
                <a:ea typeface="Menlo"/>
                <a:cs typeface="Menlo"/>
              </a:defRPr>
            </a:pPr>
            <a:r>
              <a:rPr sz="1200">
                <a:solidFill>
                  <a:srgbClr val="5C6577"/>
                </a:solidFill>
                <a:latin typeface="Menlo"/>
                <a:ea typeface="Menlo"/>
                <a:cs typeface="Menlo"/>
              </a:rPr>
              <a:t>backups · restore tests</a:t>
            </a:r>
          </a:p>
        </p:txBody>
      </p:sp>
      <p:cxnSp>
        <p:nvCxnSpPr>
          <p:cNvPr id="123" name=""/>
          <p:cNvCxnSpPr>
            <a:stCxn xmlns:a="http://schemas.openxmlformats.org/drawingml/2006/main" id="6" idx="3"/>
            <a:endCxn xmlns:a="http://schemas.openxmlformats.org/drawingml/2006/main" id="5" idx="2"/>
          </p:cNvCxnSpPr>
          <p:nvPr/>
        </p:nvCxnSpPr>
        <p:spPr>
          <a:xfrm xmlns:a="http://schemas.openxmlformats.org/drawingml/2006/main">
            <a:off x="4048125" y="2695575"/>
            <a:ext cx="762000" cy="73342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24" name=""/>
          <p:cNvCxnSpPr>
            <a:stCxn xmlns:a="http://schemas.openxmlformats.org/drawingml/2006/main" id="9" idx="3"/>
            <a:endCxn xmlns:a="http://schemas.openxmlformats.org/drawingml/2006/main" id="5" idx="2"/>
          </p:cNvCxnSpPr>
          <p:nvPr/>
        </p:nvCxnSpPr>
        <p:spPr>
          <a:xfrm xmlns:a="http://schemas.openxmlformats.org/drawingml/2006/main" flipV="1">
            <a:off x="4048125" y="3429000"/>
            <a:ext cx="762000" cy="136207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25" name=""/>
          <p:cNvCxnSpPr>
            <a:stCxn xmlns:a="http://schemas.openxmlformats.org/drawingml/2006/main" id="12" idx="1"/>
            <a:endCxn xmlns:a="http://schemas.openxmlformats.org/drawingml/2006/main" id="5" idx="6"/>
          </p:cNvCxnSpPr>
          <p:nvPr/>
        </p:nvCxnSpPr>
        <p:spPr>
          <a:xfrm xmlns:a="http://schemas.openxmlformats.org/drawingml/2006/main" flipH="1">
            <a:off x="7381875" y="2695575"/>
            <a:ext cx="762000" cy="73342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cxnSp>
        <p:nvCxnSpPr>
          <p:cNvPr id="126" name=""/>
          <p:cNvCxnSpPr>
            <a:stCxn xmlns:a="http://schemas.openxmlformats.org/drawingml/2006/main" id="15" idx="1"/>
            <a:endCxn xmlns:a="http://schemas.openxmlformats.org/drawingml/2006/main" id="5" idx="6"/>
          </p:cNvCxnSpPr>
          <p:nvPr/>
        </p:nvCxnSpPr>
        <p:spPr>
          <a:xfrm xmlns:a="http://schemas.openxmlformats.org/drawingml/2006/main" flipH="1" flipV="1">
            <a:off x="7381875" y="3429000"/>
            <a:ext cx="762000" cy="1362075"/>
          </a:xfrm>
          <a:prstGeom xmlns:a="http://schemas.openxmlformats.org/drawingml/2006/main" prst="straightConnector1">
            <a:avLst/>
          </a:prstGeom>
          <a:ln xmlns:a="http://schemas.openxmlformats.org/drawingml/2006/main" w="19050">
            <a:solidFill>
              <a:srgbClr val="8C96A8"/>
            </a:solidFill>
            <a:prstDash val="solid"/>
            <a:headEnd type="none" w="med" len="med"/>
          </a:ln>
        </p:spPr>
      </p:cxnSp>
    </p:spTree>
    <p:extLst>
      <p:ext uri="{BB962C8B-B14F-4D97-AF65-F5344CB8AC3E}">
        <p14:creationId xmlns:p14="http://schemas.microsoft.com/office/powerpoint/2010/main" val="1783521224"/>
      </p:ext>
    </p:extLst>
  </p:cSld>
</p:sld>
</file>

<file path=ppt/slides/slide8.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AA2FBC52-5D72-4B89-90F2-9B35EA3DC645}"/>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DIAGNOSIS</a:t>
            </a:r>
          </a:p>
        </p:txBody>
      </p:sp>
      <p:sp>
        <p:nvSpPr>
          <p:cNvPr id="2" name="slide-title">
            <a:extLst xmlns:a="http://schemas.openxmlformats.org/drawingml/2006/main">
              <a:ext uri="{FF2B5EF4-FFF2-40B4-BE49-F238E27FC236}">
                <a16:creationId xmlns:a16="http://schemas.microsoft.com/office/drawing/2014/main" id="{85F5077A-D8F7-43FD-8B18-CD46893985C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symptom is not yet a cause</a:t>
            </a:r>
          </a:p>
        </p:txBody>
      </p:sp>
      <p:sp>
        <p:nvSpPr>
          <p:cNvPr id="3" name="">
            <a:extLst xmlns:a="http://schemas.openxmlformats.org/drawingml/2006/main">
              <a:ext uri="{FF2B5EF4-FFF2-40B4-BE49-F238E27FC236}">
                <a16:creationId xmlns:a16="http://schemas.microsoft.com/office/drawing/2014/main" id="{F4A9624E-A509-42D9-8D93-95450DC9D2E3}"/>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Trace the request and test each boundary with the smallest useful observation.</a:t>
            </a:r>
          </a:p>
        </p:txBody>
      </p:sp>
      <p:sp>
        <p:nvSpPr>
          <p:cNvPr id="4" name="">
            <a:extLst xmlns:a="http://schemas.openxmlformats.org/drawingml/2006/main">
              <a:ext uri="{FF2B5EF4-FFF2-40B4-BE49-F238E27FC236}">
                <a16:creationId xmlns:a16="http://schemas.microsoft.com/office/drawing/2014/main" id="{AB05A931-3978-42BF-9809-8209EF26DF9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08</a:t>
            </a:r>
          </a:p>
        </p:txBody>
      </p:sp>
      <p:sp>
        <p:nvSpPr>
          <p:cNvPr id="5" name="">
            <a:extLst xmlns:a="http://schemas.openxmlformats.org/drawingml/2006/main">
              <a:ext uri="{FF2B5EF4-FFF2-40B4-BE49-F238E27FC236}">
                <a16:creationId xmlns:a16="http://schemas.microsoft.com/office/drawing/2014/main" id="{1BA4A695-6B96-4A92-BFD4-8D16BF553C89}"/>
              </a:ext>
            </a:extLst>
          </p:cNvPr>
          <p:cNvSpPr>
            <a:spLocks xmlns:a="http://schemas.openxmlformats.org/drawingml/2006/main" noGrp="1"/>
          </p:cNvSpPr>
          <p:nvPr/>
        </p:nvSpPr>
        <p:spPr>
          <a:xfrm xmlns:a="http://schemas.openxmlformats.org/drawingml/2006/main">
            <a:off x="666750" y="2133600"/>
            <a:ext cx="266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b="1">
                <a:solidFill>
                  <a:srgbClr val="D95D39"/>
                </a:solidFill>
                <a:latin typeface="Avenir Next"/>
                <a:ea typeface="Avenir Next"/>
                <a:cs typeface="Avenir Next"/>
              </a:defRPr>
            </a:pPr>
            <a:r>
              <a:rPr sz="1200" b="1">
                <a:solidFill>
                  <a:srgbClr val="D95D39"/>
                </a:solidFill>
                <a:latin typeface="Avenir Next"/>
                <a:ea typeface="Avenir Next"/>
                <a:cs typeface="Avenir Next"/>
              </a:rPr>
              <a:t>Observed symptom</a:t>
            </a:r>
          </a:p>
        </p:txBody>
      </p:sp>
      <p:sp>
        <p:nvSpPr>
          <p:cNvPr id="6" name="">
            <a:extLst xmlns:a="http://schemas.openxmlformats.org/drawingml/2006/main">
              <a:ext uri="{FF2B5EF4-FFF2-40B4-BE49-F238E27FC236}">
                <a16:creationId xmlns:a16="http://schemas.microsoft.com/office/drawing/2014/main" id="{DDFD653B-8E01-4AF0-B07F-24E44DBD3456}"/>
              </a:ext>
            </a:extLst>
          </p:cNvPr>
          <p:cNvSpPr>
            <a:spLocks xmlns:a="http://schemas.openxmlformats.org/drawingml/2006/main" noGrp="1"/>
          </p:cNvSpPr>
          <p:nvPr/>
        </p:nvSpPr>
        <p:spPr>
          <a:xfrm xmlns:a="http://schemas.openxmlformats.org/drawingml/2006/main">
            <a:off x="666750" y="2571750"/>
            <a:ext cx="4810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2250" b="1">
                <a:solidFill>
                  <a:srgbClr val="14213D"/>
                </a:solidFill>
                <a:latin typeface="Georgia"/>
                <a:ea typeface="Georgia"/>
                <a:cs typeface="Georgia"/>
              </a:defRPr>
            </a:pPr>
            <a:r>
              <a:rPr sz="2250" b="1">
                <a:solidFill>
                  <a:srgbClr val="14213D"/>
                </a:solidFill>
                <a:latin typeface="Georgia"/>
                <a:ea typeface="Georgia"/>
                <a:cs typeface="Georgia"/>
              </a:rPr>
              <a:t>The ticket form says “Saved,” but the new ticket is missing.</a:t>
            </a:r>
          </a:p>
        </p:txBody>
      </p:sp>
      <p:sp>
        <p:nvSpPr>
          <p:cNvPr id="7" name="">
            <a:extLst xmlns:a="http://schemas.openxmlformats.org/drawingml/2006/main">
              <a:ext uri="{FF2B5EF4-FFF2-40B4-BE49-F238E27FC236}">
                <a16:creationId xmlns:a16="http://schemas.microsoft.com/office/drawing/2014/main" id="{B3A7956B-40FC-4529-8600-772D14BD04A5}"/>
              </a:ext>
            </a:extLst>
          </p:cNvPr>
          <p:cNvSpPr>
            <a:spLocks xmlns:a="http://schemas.openxmlformats.org/drawingml/2006/main" noGrp="1"/>
          </p:cNvSpPr>
          <p:nvPr/>
        </p:nvSpPr>
        <p:spPr>
          <a:xfrm xmlns:a="http://schemas.openxmlformats.org/drawingml/2006/main">
            <a:off x="6191250" y="207645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a:t>
            </a:r>
          </a:p>
        </p:txBody>
      </p:sp>
      <p:sp>
        <p:nvSpPr>
          <p:cNvPr id="8" name="">
            <a:extLst xmlns:a="http://schemas.openxmlformats.org/drawingml/2006/main">
              <a:ext uri="{FF2B5EF4-FFF2-40B4-BE49-F238E27FC236}">
                <a16:creationId xmlns:a16="http://schemas.microsoft.com/office/drawing/2014/main" id="{CFC0220D-F1A5-46AB-9527-730BE098B53F}"/>
              </a:ext>
            </a:extLst>
          </p:cNvPr>
          <p:cNvSpPr>
            <a:spLocks xmlns:a="http://schemas.openxmlformats.org/drawingml/2006/main" noGrp="1"/>
          </p:cNvSpPr>
          <p:nvPr/>
        </p:nvSpPr>
        <p:spPr>
          <a:xfrm xmlns:a="http://schemas.openxmlformats.org/drawingml/2006/main">
            <a:off x="6762750" y="20669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Client</a:t>
            </a:r>
          </a:p>
        </p:txBody>
      </p:sp>
      <p:sp>
        <p:nvSpPr>
          <p:cNvPr id="9" name="">
            <a:extLst xmlns:a="http://schemas.openxmlformats.org/drawingml/2006/main">
              <a:ext uri="{FF2B5EF4-FFF2-40B4-BE49-F238E27FC236}">
                <a16:creationId xmlns:a16="http://schemas.microsoft.com/office/drawing/2014/main" id="{8C2EF27A-7F8B-432B-A9C1-62484BC1707C}"/>
              </a:ext>
            </a:extLst>
          </p:cNvPr>
          <p:cNvSpPr>
            <a:spLocks xmlns:a="http://schemas.openxmlformats.org/drawingml/2006/main" noGrp="1"/>
          </p:cNvSpPr>
          <p:nvPr/>
        </p:nvSpPr>
        <p:spPr>
          <a:xfrm xmlns:a="http://schemas.openxmlformats.org/drawingml/2006/main">
            <a:off x="6762750" y="237172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Did the browser send the request?</a:t>
            </a:r>
          </a:p>
        </p:txBody>
      </p:sp>
      <p:sp>
        <p:nvSpPr>
          <p:cNvPr id="10" name="">
            <a:extLst xmlns:a="http://schemas.openxmlformats.org/drawingml/2006/main">
              <a:ext uri="{FF2B5EF4-FFF2-40B4-BE49-F238E27FC236}">
                <a16:creationId xmlns:a16="http://schemas.microsoft.com/office/drawing/2014/main" id="{E16E4034-ABCB-4709-A18B-53C36EB967C8}"/>
              </a:ext>
            </a:extLst>
          </p:cNvPr>
          <p:cNvSpPr>
            <a:spLocks xmlns:a="http://schemas.openxmlformats.org/drawingml/2006/main" noGrp="1"/>
          </p:cNvSpPr>
          <p:nvPr/>
        </p:nvSpPr>
        <p:spPr>
          <a:xfrm xmlns:a="http://schemas.openxmlformats.org/drawingml/2006/main">
            <a:off x="6381750" y="266700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1" name="">
            <a:extLst xmlns:a="http://schemas.openxmlformats.org/drawingml/2006/main">
              <a:ext uri="{FF2B5EF4-FFF2-40B4-BE49-F238E27FC236}">
                <a16:creationId xmlns:a16="http://schemas.microsoft.com/office/drawing/2014/main" id="{C6D26B1C-510D-4E03-876E-0662B0999ED3}"/>
              </a:ext>
            </a:extLst>
          </p:cNvPr>
          <p:cNvSpPr>
            <a:spLocks xmlns:a="http://schemas.openxmlformats.org/drawingml/2006/main" noGrp="1"/>
          </p:cNvSpPr>
          <p:nvPr/>
        </p:nvSpPr>
        <p:spPr>
          <a:xfrm xmlns:a="http://schemas.openxmlformats.org/drawingml/2006/main">
            <a:off x="6191250" y="30480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2</a:t>
            </a:r>
          </a:p>
        </p:txBody>
      </p:sp>
      <p:sp>
        <p:nvSpPr>
          <p:cNvPr id="12" name="">
            <a:extLst xmlns:a="http://schemas.openxmlformats.org/drawingml/2006/main">
              <a:ext uri="{FF2B5EF4-FFF2-40B4-BE49-F238E27FC236}">
                <a16:creationId xmlns:a16="http://schemas.microsoft.com/office/drawing/2014/main" id="{BD699012-92BA-4125-A894-9FFD88044693}"/>
              </a:ext>
            </a:extLst>
          </p:cNvPr>
          <p:cNvSpPr>
            <a:spLocks xmlns:a="http://schemas.openxmlformats.org/drawingml/2006/main" noGrp="1"/>
          </p:cNvSpPr>
          <p:nvPr/>
        </p:nvSpPr>
        <p:spPr>
          <a:xfrm xmlns:a="http://schemas.openxmlformats.org/drawingml/2006/main">
            <a:off x="6762750" y="30384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API</a:t>
            </a:r>
          </a:p>
        </p:txBody>
      </p:sp>
      <p:sp>
        <p:nvSpPr>
          <p:cNvPr id="13" name="">
            <a:extLst xmlns:a="http://schemas.openxmlformats.org/drawingml/2006/main">
              <a:ext uri="{FF2B5EF4-FFF2-40B4-BE49-F238E27FC236}">
                <a16:creationId xmlns:a16="http://schemas.microsoft.com/office/drawing/2014/main" id="{6F3ED830-EC32-4639-BC0F-5768B2B09115}"/>
              </a:ext>
            </a:extLst>
          </p:cNvPr>
          <p:cNvSpPr>
            <a:spLocks xmlns:a="http://schemas.openxmlformats.org/drawingml/2006/main" noGrp="1"/>
          </p:cNvSpPr>
          <p:nvPr/>
        </p:nvSpPr>
        <p:spPr>
          <a:xfrm xmlns:a="http://schemas.openxmlformats.org/drawingml/2006/main">
            <a:off x="6762750" y="334327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What status and body came back?</a:t>
            </a:r>
          </a:p>
        </p:txBody>
      </p:sp>
      <p:sp>
        <p:nvSpPr>
          <p:cNvPr id="14" name="">
            <a:extLst xmlns:a="http://schemas.openxmlformats.org/drawingml/2006/main">
              <a:ext uri="{FF2B5EF4-FFF2-40B4-BE49-F238E27FC236}">
                <a16:creationId xmlns:a16="http://schemas.microsoft.com/office/drawing/2014/main" id="{411CD967-7D64-4082-9CB2-AB2202F9F9B0}"/>
              </a:ext>
            </a:extLst>
          </p:cNvPr>
          <p:cNvSpPr>
            <a:spLocks xmlns:a="http://schemas.openxmlformats.org/drawingml/2006/main" noGrp="1"/>
          </p:cNvSpPr>
          <p:nvPr/>
        </p:nvSpPr>
        <p:spPr>
          <a:xfrm xmlns:a="http://schemas.openxmlformats.org/drawingml/2006/main">
            <a:off x="6381750" y="363855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5" name="">
            <a:extLst xmlns:a="http://schemas.openxmlformats.org/drawingml/2006/main">
              <a:ext uri="{FF2B5EF4-FFF2-40B4-BE49-F238E27FC236}">
                <a16:creationId xmlns:a16="http://schemas.microsoft.com/office/drawing/2014/main" id="{A1705B1A-9973-4E4E-9B2E-DF082ED70217}"/>
              </a:ext>
            </a:extLst>
          </p:cNvPr>
          <p:cNvSpPr>
            <a:spLocks xmlns:a="http://schemas.openxmlformats.org/drawingml/2006/main" noGrp="1"/>
          </p:cNvSpPr>
          <p:nvPr/>
        </p:nvSpPr>
        <p:spPr>
          <a:xfrm xmlns:a="http://schemas.openxmlformats.org/drawingml/2006/main">
            <a:off x="6191250" y="4019550"/>
            <a:ext cx="3619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3</a:t>
            </a:r>
          </a:p>
        </p:txBody>
      </p:sp>
      <p:sp>
        <p:nvSpPr>
          <p:cNvPr id="16" name="">
            <a:extLst xmlns:a="http://schemas.openxmlformats.org/drawingml/2006/main">
              <a:ext uri="{FF2B5EF4-FFF2-40B4-BE49-F238E27FC236}">
                <a16:creationId xmlns:a16="http://schemas.microsoft.com/office/drawing/2014/main" id="{5BA7F4F5-B69F-4F0F-AB0B-EE22984618DF}"/>
              </a:ext>
            </a:extLst>
          </p:cNvPr>
          <p:cNvSpPr>
            <a:spLocks xmlns:a="http://schemas.openxmlformats.org/drawingml/2006/main" noGrp="1"/>
          </p:cNvSpPr>
          <p:nvPr/>
        </p:nvSpPr>
        <p:spPr>
          <a:xfrm xmlns:a="http://schemas.openxmlformats.org/drawingml/2006/main">
            <a:off x="6762750" y="40100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Database</a:t>
            </a:r>
          </a:p>
        </p:txBody>
      </p:sp>
      <p:sp>
        <p:nvSpPr>
          <p:cNvPr id="17" name="">
            <a:extLst xmlns:a="http://schemas.openxmlformats.org/drawingml/2006/main">
              <a:ext uri="{FF2B5EF4-FFF2-40B4-BE49-F238E27FC236}">
                <a16:creationId xmlns:a16="http://schemas.microsoft.com/office/drawing/2014/main" id="{7D819910-44EE-432E-AE2C-1DAE335F544E}"/>
              </a:ext>
            </a:extLst>
          </p:cNvPr>
          <p:cNvSpPr>
            <a:spLocks xmlns:a="http://schemas.openxmlformats.org/drawingml/2006/main" noGrp="1"/>
          </p:cNvSpPr>
          <p:nvPr/>
        </p:nvSpPr>
        <p:spPr>
          <a:xfrm xmlns:a="http://schemas.openxmlformats.org/drawingml/2006/main">
            <a:off x="6762750" y="431482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Did the command commit?</a:t>
            </a:r>
          </a:p>
        </p:txBody>
      </p:sp>
      <p:sp>
        <p:nvSpPr>
          <p:cNvPr id="18" name="">
            <a:extLst xmlns:a="http://schemas.openxmlformats.org/drawingml/2006/main">
              <a:ext uri="{FF2B5EF4-FFF2-40B4-BE49-F238E27FC236}">
                <a16:creationId xmlns:a16="http://schemas.microsoft.com/office/drawing/2014/main" id="{F70B98C9-A061-4E9A-B1F9-46E11B58CACF}"/>
              </a:ext>
            </a:extLst>
          </p:cNvPr>
          <p:cNvSpPr>
            <a:spLocks xmlns:a="http://schemas.openxmlformats.org/drawingml/2006/main" noGrp="1"/>
          </p:cNvSpPr>
          <p:nvPr/>
        </p:nvSpPr>
        <p:spPr>
          <a:xfrm xmlns:a="http://schemas.openxmlformats.org/drawingml/2006/main">
            <a:off x="6381750" y="4610100"/>
            <a:ext cx="0" cy="361950"/>
          </a:xfrm>
          <a:prstGeom xmlns:a="http://schemas.openxmlformats.org/drawingml/2006/main" prst="line">
            <a:avLst/>
          </a:prstGeom>
          <a:noFill xmlns:a="http://schemas.openxmlformats.org/drawingml/2006/main"/>
          <a:ln xmlns:a="http://schemas.openxmlformats.org/drawingml/2006/main" w="19050">
            <a:solidFill>
              <a:srgbClr val="AEB7C7"/>
            </a:solidFill>
            <a:prstDash val="solid"/>
          </a:ln>
        </p:spPr>
      </p:sp>
      <p:sp>
        <p:nvSpPr>
          <p:cNvPr id="19" name="">
            <a:extLst xmlns:a="http://schemas.openxmlformats.org/drawingml/2006/main">
              <a:ext uri="{FF2B5EF4-FFF2-40B4-BE49-F238E27FC236}">
                <a16:creationId xmlns:a16="http://schemas.microsoft.com/office/drawing/2014/main" id="{70340F00-03A5-457F-B90F-CA6023861D1B}"/>
              </a:ext>
            </a:extLst>
          </p:cNvPr>
          <p:cNvSpPr>
            <a:spLocks xmlns:a="http://schemas.openxmlformats.org/drawingml/2006/main" noGrp="1"/>
          </p:cNvSpPr>
          <p:nvPr/>
        </p:nvSpPr>
        <p:spPr>
          <a:xfrm xmlns:a="http://schemas.openxmlformats.org/drawingml/2006/main">
            <a:off x="6191250" y="4991100"/>
            <a:ext cx="3619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4</a:t>
            </a:r>
          </a:p>
        </p:txBody>
      </p:sp>
      <p:sp>
        <p:nvSpPr>
          <p:cNvPr id="20" name="">
            <a:extLst xmlns:a="http://schemas.openxmlformats.org/drawingml/2006/main">
              <a:ext uri="{FF2B5EF4-FFF2-40B4-BE49-F238E27FC236}">
                <a16:creationId xmlns:a16="http://schemas.microsoft.com/office/drawing/2014/main" id="{6B3FF396-ECF7-4DBC-A3F1-3E0E707093DA}"/>
              </a:ext>
            </a:extLst>
          </p:cNvPr>
          <p:cNvSpPr>
            <a:spLocks xmlns:a="http://schemas.openxmlformats.org/drawingml/2006/main" noGrp="1"/>
          </p:cNvSpPr>
          <p:nvPr/>
        </p:nvSpPr>
        <p:spPr>
          <a:xfrm xmlns:a="http://schemas.openxmlformats.org/drawingml/2006/main">
            <a:off x="6762750" y="49815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b="1">
                <a:solidFill>
                  <a:srgbClr val="14213D"/>
                </a:solidFill>
                <a:latin typeface="Avenir Next"/>
                <a:ea typeface="Avenir Next"/>
                <a:cs typeface="Avenir Next"/>
              </a:defRPr>
            </a:pPr>
            <a:r>
              <a:rPr sz="1425" b="1">
                <a:solidFill>
                  <a:srgbClr val="14213D"/>
                </a:solidFill>
                <a:latin typeface="Avenir Next"/>
                <a:ea typeface="Avenir Next"/>
                <a:cs typeface="Avenir Next"/>
              </a:rPr>
              <a:t>Read path</a:t>
            </a:r>
          </a:p>
        </p:txBody>
      </p:sp>
      <p:sp>
        <p:nvSpPr>
          <p:cNvPr id="21" name="">
            <a:extLst xmlns:a="http://schemas.openxmlformats.org/drawingml/2006/main">
              <a:ext uri="{FF2B5EF4-FFF2-40B4-BE49-F238E27FC236}">
                <a16:creationId xmlns:a16="http://schemas.microsoft.com/office/drawing/2014/main" id="{3A6BF876-2EE9-4E62-BF85-2C635EFB5F1D}"/>
              </a:ext>
            </a:extLst>
          </p:cNvPr>
          <p:cNvSpPr>
            <a:spLocks xmlns:a="http://schemas.openxmlformats.org/drawingml/2006/main" noGrp="1"/>
          </p:cNvSpPr>
          <p:nvPr/>
        </p:nvSpPr>
        <p:spPr>
          <a:xfrm xmlns:a="http://schemas.openxmlformats.org/drawingml/2006/main">
            <a:off x="6762750" y="5286375"/>
            <a:ext cx="4524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Is the later query filtering it out?</a:t>
            </a:r>
          </a:p>
        </p:txBody>
      </p:sp>
      <p:sp>
        <p:nvSpPr>
          <p:cNvPr id="22" name="code-block">
            <a:extLst xmlns:a="http://schemas.openxmlformats.org/drawingml/2006/main">
              <a:ext uri="{FF2B5EF4-FFF2-40B4-BE49-F238E27FC236}">
                <a16:creationId xmlns:a16="http://schemas.microsoft.com/office/drawing/2014/main" id="{3886199C-FE3C-4347-85E5-617053E8085E}"/>
              </a:ext>
            </a:extLst>
          </p:cNvPr>
          <p:cNvSpPr>
            <a:spLocks xmlns:a="http://schemas.openxmlformats.org/drawingml/2006/main" noGrp="1"/>
          </p:cNvSpPr>
          <p:nvPr/>
        </p:nvSpPr>
        <p:spPr>
          <a:xfrm xmlns:a="http://schemas.openxmlformats.org/drawingml/2006/main">
            <a:off x="685800" y="4057650"/>
            <a:ext cx="4762500" cy="1428750"/>
          </a:xfrm>
          <a:prstGeom xmlns:a="http://schemas.openxmlformats.org/drawingml/2006/main" prst="roundRect">
            <a:avLst>
              <a:gd name="adj" fmla="val 10667"/>
            </a:avLst>
          </a:prstGeom>
          <a:solidFill xmlns:a="http://schemas.openxmlformats.org/drawingml/2006/main">
            <a:srgbClr val="172033"/>
          </a:solidFill>
          <a:ln xmlns:a="http://schemas.openxmlformats.org/drawingml/2006/main" w="9525">
            <a:solidFill>
              <a:srgbClr val="2D3953"/>
            </a:solidFill>
            <a:prstDash val="solid"/>
          </a:ln>
        </p:spPr>
      </p:sp>
      <p:sp>
        <p:nvSpPr>
          <p:cNvPr id="23" name="">
            <a:extLst xmlns:a="http://schemas.openxmlformats.org/drawingml/2006/main">
              <a:ext uri="{FF2B5EF4-FFF2-40B4-BE49-F238E27FC236}">
                <a16:creationId xmlns:a16="http://schemas.microsoft.com/office/drawing/2014/main" id="{CB389452-7966-46DF-903E-9152B33FD6DD}"/>
              </a:ext>
            </a:extLst>
          </p:cNvPr>
          <p:cNvSpPr>
            <a:spLocks xmlns:a="http://schemas.openxmlformats.org/drawingml/2006/main" noGrp="1"/>
          </p:cNvSpPr>
          <p:nvPr/>
        </p:nvSpPr>
        <p:spPr>
          <a:xfrm xmlns:a="http://schemas.openxmlformats.org/drawingml/2006/main">
            <a:off x="895350" y="4191000"/>
            <a:ext cx="434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2A9D6F"/>
                </a:solidFill>
                <a:latin typeface="Avenir Next"/>
                <a:ea typeface="Avenir Next"/>
                <a:cs typeface="Avenir Next"/>
              </a:defRPr>
            </a:pPr>
            <a:r>
              <a:rPr sz="1050" b="1">
                <a:solidFill>
                  <a:srgbClr val="2A9D6F"/>
                </a:solidFill>
                <a:latin typeface="Avenir Next"/>
                <a:ea typeface="Avenir Next"/>
                <a:cs typeface="Avenir Next"/>
              </a:rPr>
              <a:t>ONE OBSERVATION</a:t>
            </a:r>
          </a:p>
        </p:txBody>
      </p:sp>
      <p:sp>
        <p:nvSpPr>
          <p:cNvPr id="24" name="">
            <a:extLst xmlns:a="http://schemas.openxmlformats.org/drawingml/2006/main">
              <a:ext uri="{FF2B5EF4-FFF2-40B4-BE49-F238E27FC236}">
                <a16:creationId xmlns:a16="http://schemas.microsoft.com/office/drawing/2014/main" id="{52A28D18-E438-43B9-B515-63A8EBBEF959}"/>
              </a:ext>
            </a:extLst>
          </p:cNvPr>
          <p:cNvSpPr>
            <a:spLocks xmlns:a="http://schemas.openxmlformats.org/drawingml/2006/main" noGrp="1"/>
          </p:cNvSpPr>
          <p:nvPr/>
        </p:nvSpPr>
        <p:spPr>
          <a:xfrm xmlns:a="http://schemas.openxmlformats.org/drawingml/2006/main">
            <a:off x="895350" y="4533900"/>
            <a:ext cx="43434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HTTP 201 Created</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"id": 184, "status": "open" }</a:t>
            </a:r>
          </a:p>
        </p:txBody>
      </p:sp>
    </p:spTree>
    <p:extLst>
      <p:ext uri="{BB962C8B-B14F-4D97-AF65-F5344CB8AC3E}">
        <p14:creationId xmlns:p14="http://schemas.microsoft.com/office/powerpoint/2010/main" val="1272352895"/>
      </p:ext>
    </p:extLst>
  </p:cSld>
</p:sld>
</file>

<file path=ppt/slides/slide11.xml><?xml version="1.0" encoding="utf-8"?>
<p:sld xmlns:p="http://schemas.openxmlformats.org/presentationml/2006/main">
  <p:cSld>
    <p:bg>
      <p:bgPr>
        <a:solidFill xmlns:a="http://schemas.openxmlformats.org/drawingml/2006/main">
          <a:srgbClr val="0B5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0C1606-F86C-4635-A73A-01E072253ED4}"/>
              </a:ext>
            </a:extLst>
          </p:cNvPr>
          <p:cNvSpPr>
            <a:spLocks xmlns:a="http://schemas.openxmlformats.org/drawingml/2006/main" noGrp="1"/>
          </p:cNvSpPr>
          <p:nvPr/>
        </p:nvSpPr>
        <p:spPr>
          <a:xfrm xmlns:a="http://schemas.openxmlformats.org/drawingml/2006/main">
            <a:off x="590550" y="533400"/>
            <a:ext cx="91440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DAY 2</a:t>
            </a:r>
          </a:p>
        </p:txBody>
      </p:sp>
      <p:sp>
        <p:nvSpPr>
          <p:cNvPr id="2" name="">
            <a:extLst xmlns:a="http://schemas.openxmlformats.org/drawingml/2006/main">
              <a:ext uri="{FF2B5EF4-FFF2-40B4-BE49-F238E27FC236}">
                <a16:creationId xmlns:a16="http://schemas.microsoft.com/office/drawing/2014/main" id="{FBA3B410-A224-453A-857D-ABA22B46A0D9}"/>
              </a:ext>
            </a:extLst>
          </p:cNvPr>
          <p:cNvSpPr>
            <a:spLocks xmlns:a="http://schemas.openxmlformats.org/drawingml/2006/main" noGrp="1"/>
          </p:cNvSpPr>
          <p:nvPr/>
        </p:nvSpPr>
        <p:spPr>
          <a:xfrm xmlns:a="http://schemas.openxmlformats.org/drawingml/2006/main">
            <a:off x="590550" y="17145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4800" b="1">
                <a:solidFill>
                  <a:srgbClr val="FFFFFF"/>
                </a:solidFill>
                <a:latin typeface="Georgia"/>
                <a:ea typeface="Georgia"/>
                <a:cs typeface="Georgia"/>
              </a:defRPr>
            </a:pPr>
            <a:r>
              <a:rPr sz="4800" b="1">
                <a:solidFill>
                  <a:srgbClr val="FFFFFF"/>
                </a:solidFill>
                <a:latin typeface="Georgia"/>
                <a:ea typeface="Georgia"/>
                <a:cs typeface="Georgia"/>
              </a:rPr>
              <a:t>The Relational Model</a:t>
            </a:r>
          </a:p>
        </p:txBody>
      </p:sp>
      <p:sp>
        <p:nvSpPr>
          <p:cNvPr id="3" name="">
            <a:extLst xmlns:a="http://schemas.openxmlformats.org/drawingml/2006/main">
              <a:ext uri="{FF2B5EF4-FFF2-40B4-BE49-F238E27FC236}">
                <a16:creationId xmlns:a16="http://schemas.microsoft.com/office/drawing/2014/main" id="{B4494199-7A55-467E-9F50-8415920A6D9D}"/>
              </a:ext>
            </a:extLst>
          </p:cNvPr>
          <p:cNvSpPr>
            <a:spLocks xmlns:a="http://schemas.openxmlformats.org/drawingml/2006/main" noGrp="1"/>
          </p:cNvSpPr>
          <p:nvPr/>
        </p:nvSpPr>
        <p:spPr>
          <a:xfrm xmlns:a="http://schemas.openxmlformats.org/drawingml/2006/main">
            <a:off x="628650" y="2876550"/>
            <a:ext cx="714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950">
                <a:solidFill>
                  <a:srgbClr val="D9E7FF"/>
                </a:solidFill>
                <a:latin typeface="Avenir Next"/>
                <a:ea typeface="Avenir Next"/>
                <a:cs typeface="Avenir Next"/>
              </a:defRPr>
            </a:pPr>
            <a:r>
              <a:rPr sz="1950">
                <a:solidFill>
                  <a:srgbClr val="D9E7FF"/>
                </a:solidFill>
                <a:latin typeface="Avenir Next"/>
                <a:ea typeface="Avenir Next"/>
                <a:cs typeface="Avenir Next"/>
              </a:rPr>
              <a:t>A precise language for tables, questions, and transformations</a:t>
            </a:r>
          </a:p>
        </p:txBody>
      </p:sp>
      <p:sp>
        <p:nvSpPr>
          <p:cNvPr id="4" name="code-block">
            <a:extLst xmlns:a="http://schemas.openxmlformats.org/drawingml/2006/main">
              <a:ext uri="{FF2B5EF4-FFF2-40B4-BE49-F238E27FC236}">
                <a16:creationId xmlns:a16="http://schemas.microsoft.com/office/drawing/2014/main" id="{2A2A9BA7-BA61-4512-8750-903152BD63EE}"/>
              </a:ext>
            </a:extLst>
          </p:cNvPr>
          <p:cNvSpPr>
            <a:spLocks xmlns:a="http://schemas.openxmlformats.org/drawingml/2006/main" noGrp="1"/>
          </p:cNvSpPr>
          <p:nvPr/>
        </p:nvSpPr>
        <p:spPr>
          <a:xfrm xmlns:a="http://schemas.openxmlformats.org/drawingml/2006/main">
            <a:off x="6762750" y="3981450"/>
            <a:ext cx="4762500" cy="1333500"/>
          </a:xfrm>
          <a:prstGeom xmlns:a="http://schemas.openxmlformats.org/drawingml/2006/main" prst="roundRect">
            <a:avLst>
              <a:gd name="adj" fmla="val 11429"/>
            </a:avLst>
          </a:prstGeom>
          <a:solidFill xmlns:a="http://schemas.openxmlformats.org/drawingml/2006/main">
            <a:srgbClr val="172033"/>
          </a:solidFill>
          <a:ln xmlns:a="http://schemas.openxmlformats.org/drawingml/2006/main" w="9525">
            <a:solidFill>
              <a:srgbClr val="2D3953"/>
            </a:solidFill>
            <a:prstDash val="solid"/>
          </a:ln>
        </p:spPr>
      </p:sp>
      <p:sp>
        <p:nvSpPr>
          <p:cNvPr id="5" name="">
            <a:extLst xmlns:a="http://schemas.openxmlformats.org/drawingml/2006/main">
              <a:ext uri="{FF2B5EF4-FFF2-40B4-BE49-F238E27FC236}">
                <a16:creationId xmlns:a16="http://schemas.microsoft.com/office/drawing/2014/main" id="{C296F310-44E1-42DD-A5EA-546A631898F1}"/>
              </a:ext>
            </a:extLst>
          </p:cNvPr>
          <p:cNvSpPr>
            <a:spLocks xmlns:a="http://schemas.openxmlformats.org/drawingml/2006/main" noGrp="1"/>
          </p:cNvSpPr>
          <p:nvPr/>
        </p:nvSpPr>
        <p:spPr>
          <a:xfrm xmlns:a="http://schemas.openxmlformats.org/drawingml/2006/main">
            <a:off x="6972300" y="4114800"/>
            <a:ext cx="4343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RELATIONAL ALGEBRA</a:t>
            </a:r>
          </a:p>
        </p:txBody>
      </p:sp>
      <p:sp>
        <p:nvSpPr>
          <p:cNvPr id="6" name="">
            <a:extLst xmlns:a="http://schemas.openxmlformats.org/drawingml/2006/main">
              <a:ext uri="{FF2B5EF4-FFF2-40B4-BE49-F238E27FC236}">
                <a16:creationId xmlns:a16="http://schemas.microsoft.com/office/drawing/2014/main" id="{37107336-483D-4C9E-897E-56F3F5F2206D}"/>
              </a:ext>
            </a:extLst>
          </p:cNvPr>
          <p:cNvSpPr>
            <a:spLocks xmlns:a="http://schemas.openxmlformats.org/drawingml/2006/main" noGrp="1"/>
          </p:cNvSpPr>
          <p:nvPr/>
        </p:nvSpPr>
        <p:spPr>
          <a:xfrm xmlns:a="http://schemas.openxmlformats.org/drawingml/2006/main">
            <a:off x="6972300" y="4457700"/>
            <a:ext cx="4343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800">
                <a:solidFill>
                  <a:srgbClr val="F8FAFC"/>
                </a:solidFill>
                <a:latin typeface="Menlo"/>
                <a:ea typeface="Menlo"/>
                <a:cs typeface="Menlo"/>
              </a:defRPr>
            </a:pPr>
            <a:r>
              <a:rPr sz="1800">
                <a:solidFill>
                  <a:srgbClr val="F8FAFC"/>
                </a:solidFill>
                <a:latin typeface="Menlo"/>
                <a:ea typeface="Menlo"/>
                <a:cs typeface="Menlo"/>
              </a:rPr>
              <a:t>σ status = 'open' (tickets)</a:t>
            </a:r>
          </a:p>
          <a:p xmlns:a="http://schemas.openxmlformats.org/drawingml/2006/main">
            <a:pPr>
              <a:lnSpc>
                <a:spcPct val="115000"/>
              </a:lnSpc>
              <a:buNone/>
              <a:defRPr sz="1800">
                <a:solidFill>
                  <a:srgbClr val="F8FAFC"/>
                </a:solidFill>
                <a:latin typeface="Menlo"/>
                <a:ea typeface="Menlo"/>
                <a:cs typeface="Menlo"/>
              </a:defRPr>
            </a:pPr>
            <a:r>
              <a:rPr sz="1800">
                <a:solidFill>
                  <a:srgbClr val="F8FAFC"/>
                </a:solidFill>
                <a:latin typeface="Menlo"/>
                <a:ea typeface="Menlo"/>
                <a:cs typeface="Menlo"/>
              </a:rPr>
              <a:t>π ticket_id, title ( ... )</a:t>
            </a:r>
          </a:p>
        </p:txBody>
      </p:sp>
      <p:sp>
        <p:nvSpPr>
          <p:cNvPr id="7" name="">
            <a:extLst xmlns:a="http://schemas.openxmlformats.org/drawingml/2006/main">
              <a:ext uri="{FF2B5EF4-FFF2-40B4-BE49-F238E27FC236}">
                <a16:creationId xmlns:a16="http://schemas.microsoft.com/office/drawing/2014/main" id="{4632FCD7-7C50-4160-A2B4-566D309F3C23}"/>
              </a:ext>
            </a:extLst>
          </p:cNvPr>
          <p:cNvSpPr>
            <a:spLocks xmlns:a="http://schemas.openxmlformats.org/drawingml/2006/main" noGrp="1"/>
          </p:cNvSpPr>
          <p:nvPr/>
        </p:nvSpPr>
        <p:spPr>
          <a:xfrm xmlns:a="http://schemas.openxmlformats.org/drawingml/2006/main">
            <a:off x="628650" y="4953000"/>
            <a:ext cx="5429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15"/>
          </a:bodyPr>
          <a:lstStyle xmlns:a="http://schemas.openxmlformats.org/drawingml/2006/main"/>
          <a:p xmlns:a="http://schemas.openxmlformats.org/drawingml/2006/main">
            <a:pPr>
              <a:lnSpc>
                <a:spcPct val="108000"/>
              </a:lnSpc>
              <a:buNone/>
              <a:defRPr sz="2175" b="1">
                <a:solidFill>
                  <a:srgbClr val="FFFFFF"/>
                </a:solidFill>
                <a:latin typeface="Georgia"/>
                <a:ea typeface="Georgia"/>
                <a:cs typeface="Georgia"/>
              </a:defRPr>
            </a:pPr>
            <a:r>
              <a:rPr sz="2175" b="1">
                <a:solidFill>
                  <a:srgbClr val="FFFFFF"/>
                </a:solidFill>
                <a:latin typeface="Georgia"/>
                <a:ea typeface="Georgia"/>
                <a:cs typeface="Georgia"/>
              </a:rPr>
              <a:t>Tables are not spreadsheets. They represent relations governed by structure and rules.</a:t>
            </a:r>
          </a:p>
        </p:txBody>
      </p:sp>
      <p:sp>
        <p:nvSpPr>
          <p:cNvPr id="8" name="">
            <a:extLst xmlns:a="http://schemas.openxmlformats.org/drawingml/2006/main">
              <a:ext uri="{FF2B5EF4-FFF2-40B4-BE49-F238E27FC236}">
                <a16:creationId xmlns:a16="http://schemas.microsoft.com/office/drawing/2014/main" id="{4BE06ADB-436B-4D37-9D9E-0823EE5AFB8E}"/>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C5D7FA"/>
                </a:solidFill>
                <a:latin typeface="Menlo"/>
                <a:ea typeface="Menlo"/>
                <a:cs typeface="Menlo"/>
              </a:defRPr>
            </a:pPr>
            <a:r>
              <a:rPr sz="1050" b="1">
                <a:solidFill>
                  <a:srgbClr val="C5D7FA"/>
                </a:solidFill>
                <a:latin typeface="Menlo"/>
                <a:ea typeface="Menlo"/>
                <a:cs typeface="Menlo"/>
              </a:rPr>
              <a:t>11</a:t>
            </a:r>
          </a:p>
        </p:txBody>
      </p:sp>
    </p:spTree>
    <p:extLst>
      <p:ext uri="{BB962C8B-B14F-4D97-AF65-F5344CB8AC3E}">
        <p14:creationId xmlns:p14="http://schemas.microsoft.com/office/powerpoint/2010/main" val="461921130"/>
      </p:ext>
    </p:extLst>
  </p:cSld>
</p:sld>
</file>

<file path=ppt/slides/slide1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64CA095-F57B-4B6B-998B-0A4FD908B37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t>
            </a:r>
          </a:p>
        </p:txBody>
      </p:sp>
      <p:sp>
        <p:nvSpPr>
          <p:cNvPr id="2" name="slide-title">
            <a:extLst xmlns:a="http://schemas.openxmlformats.org/drawingml/2006/main">
              <a:ext uri="{FF2B5EF4-FFF2-40B4-BE49-F238E27FC236}">
                <a16:creationId xmlns:a16="http://schemas.microsoft.com/office/drawing/2014/main" id="{364641CA-0404-4657-9CC7-34789CEC3A4F}"/>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relation represents a set of structured facts</a:t>
            </a:r>
          </a:p>
        </p:txBody>
      </p:sp>
      <p:sp>
        <p:nvSpPr>
          <p:cNvPr id="3" name="">
            <a:extLst xmlns:a="http://schemas.openxmlformats.org/drawingml/2006/main">
              <a:ext uri="{FF2B5EF4-FFF2-40B4-BE49-F238E27FC236}">
                <a16:creationId xmlns:a16="http://schemas.microsoft.com/office/drawing/2014/main" id="{DF7DDF75-585B-430A-BFDB-CB3FC55F7DCD}"/>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This tickets relation has four attributes and three tuples.</a:t>
            </a:r>
          </a:p>
        </p:txBody>
      </p:sp>
      <p:sp>
        <p:nvSpPr>
          <p:cNvPr id="4" name="">
            <a:extLst xmlns:a="http://schemas.openxmlformats.org/drawingml/2006/main">
              <a:ext uri="{FF2B5EF4-FFF2-40B4-BE49-F238E27FC236}">
                <a16:creationId xmlns:a16="http://schemas.microsoft.com/office/drawing/2014/main" id="{7D95B910-B9DE-43A5-AF89-F54F629FF38C}"/>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12</a:t>
            </a:r>
          </a:p>
        </p:txBody>
      </p:sp>
      <p:graphicFrame>
        <p:nvGraphicFramePr>
          <p:cNvPr id="18" name=""/>
          <p:cNvGraphicFramePr/>
          <p:nvPr/>
        </p:nvGraphicFramePr>
        <p:xfrm>
          <a:off xmlns:a="http://schemas.openxmlformats.org/drawingml/2006/main" x="1095375" y="2333625"/>
          <a:ext xmlns:a="http://schemas.openxmlformats.org/drawingml/2006/main" cx="10001250" cy="2667000"/>
        </p:xfrm>
        <a:graphic xmlns:a="http://schemas.openxmlformats.org/drawingml/2006/main">
          <a:graphicData uri="http://schemas.openxmlformats.org/drawingml/2006/table">
            <a:tbl>
              <a:tblPr/>
              <a:tblGrid>
                <a:gridCol w="2500313"/>
                <a:gridCol w="2500313"/>
                <a:gridCol w="2500313"/>
                <a:gridCol w="2500313"/>
              </a:tblGrid>
              <a:tr h="666750">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title</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requester_id</a:t>
                      </a:r>
                    </a:p>
                  </a:txBody>
                  <a:tcPr marL="91440" marR="91440" marT="45720" marB="45720" anchor="ctr">
                    <a:solidFill>
                      <a:srgbClr val="14213D"/>
                    </a:solidFill>
                  </a:tcPr>
                </a:tc>
              </a:tr>
              <a:tr h="666750">
                <a:tc>
                  <a:txBody>
                    <a:bodyPr lIns="76200" tIns="38100" rIns="76200" bIns="38100">
                      <a:normAutofit/>
                    </a:bodyPr>
                    <a:lstStyle/>
                    <a:p>
                      <a:pPr algn="l">
                        <a:buNone/>
                      </a:pPr>
                      <a:r>
                        <a:rPr sz="1275" b="1">
                          <a:solidFill>
                            <a:srgbClr val="D95D39"/>
                          </a:solidFill>
                          <a:latin typeface="Menlo"/>
                          <a:ea typeface="Menlo"/>
                          <a:cs typeface="Menlo"/>
                        </a:rPr>
                        <a:t>101</a:t>
                      </a:r>
                    </a:p>
                  </a:txBody>
                  <a:tcPr marL="91440" marR="91440" marT="45720" marB="45720" anchor="ctr">
                    <a:solidFill>
                      <a:srgbClr val="FCE7D2"/>
                    </a:solidFill>
                  </a:tcPr>
                </a:tc>
                <a:tc>
                  <a:txBody>
                    <a:bodyPr lIns="76200" tIns="38100" rIns="76200" bIns="38100">
                      <a:normAutofit/>
                    </a:bodyPr>
                    <a:lstStyle/>
                    <a:p>
                      <a:pPr algn="l">
                        <a:buNone/>
                      </a:pPr>
                      <a:r>
                        <a:rPr sz="1275" b="0">
                          <a:solidFill>
                            <a:srgbClr val="14213D"/>
                          </a:solidFill>
                          <a:latin typeface="Menlo"/>
                          <a:ea typeface="Menlo"/>
                          <a:cs typeface="Menlo"/>
                        </a:rPr>
                        <a:t>Broken hydrant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7</a:t>
                      </a:r>
                    </a:p>
                  </a:txBody>
                  <a:tcPr marL="91440" marR="91440" marT="45720" marB="45720" anchor="ctr">
                    <a:solidFill>
                      <a:srgbClr val="FFFFFF"/>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102</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Streetlight out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closed</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3</a:t>
                      </a:r>
                    </a:p>
                  </a:txBody>
                  <a:tcPr marL="91440" marR="91440" marT="45720" marB="45720" anchor="ctr">
                    <a:solidFill>
                      <a:srgbClr val="FFFFFF"/>
                    </a:solidFill>
                  </a:tcPr>
                </a:tc>
              </a:tr>
              <a:tr h="666750">
                <a:tc>
                  <a:txBody>
                    <a:bodyPr lIns="76200" tIns="38100" rIns="76200" bIns="38100">
                      <a:normAutofit/>
                    </a:bodyPr>
                    <a:lstStyle/>
                    <a:p>
                      <a:pPr algn="l">
                        <a:buNone/>
                      </a:pPr>
                      <a:r>
                        <a:rPr sz="1275" b="0">
                          <a:solidFill>
                            <a:srgbClr val="14213D"/>
                          </a:solidFill>
                          <a:latin typeface="Menlo"/>
                          <a:ea typeface="Menlo"/>
                          <a:cs typeface="Menlo"/>
                        </a:rPr>
                        <a:t>103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Missed pickup</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7</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069D20F2-F963-40DE-8C17-9CF6FCDE6DD5}"/>
              </a:ext>
            </a:extLst>
          </p:cNvPr>
          <p:cNvSpPr>
            <a:spLocks xmlns:a="http://schemas.openxmlformats.org/drawingml/2006/main" noGrp="1"/>
          </p:cNvSpPr>
          <p:nvPr/>
        </p:nvSpPr>
        <p:spPr>
          <a:xfrm xmlns:a="http://schemas.openxmlformats.org/drawingml/2006/main">
            <a:off x="1095375" y="5457825"/>
            <a:ext cx="8572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schema</a:t>
            </a:r>
          </a:p>
        </p:txBody>
      </p:sp>
      <p:sp>
        <p:nvSpPr>
          <p:cNvPr id="7" name="">
            <a:extLst xmlns:a="http://schemas.openxmlformats.org/drawingml/2006/main">
              <a:ext uri="{FF2B5EF4-FFF2-40B4-BE49-F238E27FC236}">
                <a16:creationId xmlns:a16="http://schemas.microsoft.com/office/drawing/2014/main" id="{41EA56DF-4216-4289-A7E8-3E75C829F733}"/>
              </a:ext>
            </a:extLst>
          </p:cNvPr>
          <p:cNvSpPr>
            <a:spLocks xmlns:a="http://schemas.openxmlformats.org/drawingml/2006/main" noGrp="1"/>
          </p:cNvSpPr>
          <p:nvPr/>
        </p:nvSpPr>
        <p:spPr>
          <a:xfrm xmlns:a="http://schemas.openxmlformats.org/drawingml/2006/main">
            <a:off x="2105025"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attribute names + domains</a:t>
            </a:r>
          </a:p>
        </p:txBody>
      </p:sp>
      <p:sp>
        <p:nvSpPr>
          <p:cNvPr id="8" name="">
            <a:extLst xmlns:a="http://schemas.openxmlformats.org/drawingml/2006/main">
              <a:ext uri="{FF2B5EF4-FFF2-40B4-BE49-F238E27FC236}">
                <a16:creationId xmlns:a16="http://schemas.microsoft.com/office/drawing/2014/main" id="{B2305DAA-1E18-40D3-91F9-89D9DBEF8ABE}"/>
              </a:ext>
            </a:extLst>
          </p:cNvPr>
          <p:cNvSpPr>
            <a:spLocks xmlns:a="http://schemas.openxmlformats.org/drawingml/2006/main" noGrp="1"/>
          </p:cNvSpPr>
          <p:nvPr/>
        </p:nvSpPr>
        <p:spPr>
          <a:xfrm xmlns:a="http://schemas.openxmlformats.org/drawingml/2006/main">
            <a:off x="4419600" y="5457825"/>
            <a:ext cx="8572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tuple</a:t>
            </a:r>
          </a:p>
        </p:txBody>
      </p:sp>
      <p:sp>
        <p:nvSpPr>
          <p:cNvPr id="9" name="">
            <a:extLst xmlns:a="http://schemas.openxmlformats.org/drawingml/2006/main">
              <a:ext uri="{FF2B5EF4-FFF2-40B4-BE49-F238E27FC236}">
                <a16:creationId xmlns:a16="http://schemas.microsoft.com/office/drawing/2014/main" id="{8AD4E027-1F72-49D4-B6DD-1D5A6F7471E2}"/>
              </a:ext>
            </a:extLst>
          </p:cNvPr>
          <p:cNvSpPr>
            <a:spLocks xmlns:a="http://schemas.openxmlformats.org/drawingml/2006/main" noGrp="1"/>
          </p:cNvSpPr>
          <p:nvPr/>
        </p:nvSpPr>
        <p:spPr>
          <a:xfrm xmlns:a="http://schemas.openxmlformats.org/drawingml/2006/main">
            <a:off x="5429250"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one complete row of values</a:t>
            </a:r>
          </a:p>
        </p:txBody>
      </p:sp>
      <p:sp>
        <p:nvSpPr>
          <p:cNvPr id="10" name="">
            <a:extLst xmlns:a="http://schemas.openxmlformats.org/drawingml/2006/main">
              <a:ext uri="{FF2B5EF4-FFF2-40B4-BE49-F238E27FC236}">
                <a16:creationId xmlns:a16="http://schemas.microsoft.com/office/drawing/2014/main" id="{ACC7C6F5-5C5E-4650-BC5F-B9E465E4B147}"/>
              </a:ext>
            </a:extLst>
          </p:cNvPr>
          <p:cNvSpPr>
            <a:spLocks xmlns:a="http://schemas.openxmlformats.org/drawingml/2006/main" noGrp="1"/>
          </p:cNvSpPr>
          <p:nvPr/>
        </p:nvSpPr>
        <p:spPr>
          <a:xfrm xmlns:a="http://schemas.openxmlformats.org/drawingml/2006/main">
            <a:off x="7743825" y="5457825"/>
            <a:ext cx="8572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key</a:t>
            </a:r>
          </a:p>
        </p:txBody>
      </p:sp>
      <p:sp>
        <p:nvSpPr>
          <p:cNvPr id="11" name="">
            <a:extLst xmlns:a="http://schemas.openxmlformats.org/drawingml/2006/main">
              <a:ext uri="{FF2B5EF4-FFF2-40B4-BE49-F238E27FC236}">
                <a16:creationId xmlns:a16="http://schemas.microsoft.com/office/drawing/2014/main" id="{3DE465F6-0D17-47E2-ABD2-B5E33A4B2C35}"/>
              </a:ext>
            </a:extLst>
          </p:cNvPr>
          <p:cNvSpPr>
            <a:spLocks xmlns:a="http://schemas.openxmlformats.org/drawingml/2006/main" noGrp="1"/>
          </p:cNvSpPr>
          <p:nvPr/>
        </p:nvSpPr>
        <p:spPr>
          <a:xfrm xmlns:a="http://schemas.openxmlformats.org/drawingml/2006/main">
            <a:off x="8753475" y="5505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a:solidFill>
                  <a:srgbClr val="5C6577"/>
                </a:solidFill>
                <a:latin typeface="Avenir Next"/>
                <a:ea typeface="Avenir Next"/>
                <a:cs typeface="Avenir Next"/>
              </a:defRPr>
            </a:pPr>
            <a:r>
              <a:rPr sz="1200">
                <a:solidFill>
                  <a:srgbClr val="5C6577"/>
                </a:solidFill>
                <a:latin typeface="Avenir Next"/>
                <a:ea typeface="Avenir Next"/>
                <a:cs typeface="Avenir Next"/>
              </a:rPr>
              <a:t>stable identity</a:t>
            </a:r>
          </a:p>
        </p:txBody>
      </p:sp>
    </p:spTree>
    <p:extLst>
      <p:ext uri="{BB962C8B-B14F-4D97-AF65-F5344CB8AC3E}">
        <p14:creationId xmlns:p14="http://schemas.microsoft.com/office/powerpoint/2010/main" val="519993173"/>
      </p:ext>
    </p:extLst>
  </p:cSld>
</p:sld>
</file>

<file path=ppt/slides/slide1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E9B171D-0E3C-49B3-878D-E7E2B5895AF4}"/>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VOCABULARY</a:t>
            </a:r>
          </a:p>
        </p:txBody>
      </p:sp>
      <p:sp>
        <p:nvSpPr>
          <p:cNvPr id="2" name="slide-title">
            <a:extLst xmlns:a="http://schemas.openxmlformats.org/drawingml/2006/main">
              <a:ext uri="{FF2B5EF4-FFF2-40B4-BE49-F238E27FC236}">
                <a16:creationId xmlns:a16="http://schemas.microsoft.com/office/drawing/2014/main" id="{92D8EB6D-38CC-4DDA-9901-98E5B8636312}"/>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Schema and instance answer different questions</a:t>
            </a:r>
          </a:p>
        </p:txBody>
      </p:sp>
      <p:sp>
        <p:nvSpPr>
          <p:cNvPr id="3" name="">
            <a:extLst xmlns:a="http://schemas.openxmlformats.org/drawingml/2006/main">
              <a:ext uri="{FF2B5EF4-FFF2-40B4-BE49-F238E27FC236}">
                <a16:creationId xmlns:a16="http://schemas.microsoft.com/office/drawing/2014/main" id="{F2A7E369-E1D6-4098-9170-CA59A682280A}"/>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schema describes allowed structure; the instance is the data present now.</a:t>
            </a:r>
          </a:p>
        </p:txBody>
      </p:sp>
      <p:sp>
        <p:nvSpPr>
          <p:cNvPr id="4" name="">
            <a:extLst xmlns:a="http://schemas.openxmlformats.org/drawingml/2006/main">
              <a:ext uri="{FF2B5EF4-FFF2-40B4-BE49-F238E27FC236}">
                <a16:creationId xmlns:a16="http://schemas.microsoft.com/office/drawing/2014/main" id="{4677660D-635D-4369-96AC-C2B3FB778B0B}"/>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13</a:t>
            </a:r>
          </a:p>
        </p:txBody>
      </p:sp>
      <p:sp>
        <p:nvSpPr>
          <p:cNvPr id="5" name="">
            <a:extLst xmlns:a="http://schemas.openxmlformats.org/drawingml/2006/main">
              <a:ext uri="{FF2B5EF4-FFF2-40B4-BE49-F238E27FC236}">
                <a16:creationId xmlns:a16="http://schemas.microsoft.com/office/drawing/2014/main" id="{3E873E1E-9114-4549-B556-1BB6021BCDCF}"/>
              </a:ext>
            </a:extLst>
          </p:cNvPr>
          <p:cNvSpPr>
            <a:spLocks xmlns:a="http://schemas.openxmlformats.org/drawingml/2006/main" noGrp="1"/>
          </p:cNvSpPr>
          <p:nvPr/>
        </p:nvSpPr>
        <p:spPr>
          <a:xfrm xmlns:a="http://schemas.openxmlformats.org/drawingml/2006/main">
            <a:off x="552450" y="2190750"/>
            <a:ext cx="5238750" cy="3143250"/>
          </a:xfrm>
          <a:prstGeom xmlns:a="http://schemas.openxmlformats.org/drawingml/2006/main" prst="roundRect">
            <a:avLst>
              <a:gd name="adj" fmla="val 5455"/>
            </a:avLst>
          </a:prstGeom>
          <a:solidFill xmlns:a="http://schemas.openxmlformats.org/drawingml/2006/main">
            <a:srgbClr val="F4F8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930801F-A362-41E5-AA69-4EB788C5C0F2}"/>
              </a:ext>
            </a:extLst>
          </p:cNvPr>
          <p:cNvSpPr>
            <a:spLocks xmlns:a="http://schemas.openxmlformats.org/drawingml/2006/main" noGrp="1"/>
          </p:cNvSpPr>
          <p:nvPr/>
        </p:nvSpPr>
        <p:spPr>
          <a:xfrm xmlns:a="http://schemas.openxmlformats.org/drawingml/2006/main">
            <a:off x="552450" y="2190750"/>
            <a:ext cx="76200" cy="314325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7" name="">
            <a:extLst xmlns:a="http://schemas.openxmlformats.org/drawingml/2006/main">
              <a:ext uri="{FF2B5EF4-FFF2-40B4-BE49-F238E27FC236}">
                <a16:creationId xmlns:a16="http://schemas.microsoft.com/office/drawing/2014/main" id="{347CF7AB-D0B8-499A-BD25-6246DD2233BA}"/>
              </a:ext>
            </a:extLst>
          </p:cNvPr>
          <p:cNvSpPr>
            <a:spLocks xmlns:a="http://schemas.openxmlformats.org/drawingml/2006/main" noGrp="1"/>
          </p:cNvSpPr>
          <p:nvPr/>
        </p:nvSpPr>
        <p:spPr>
          <a:xfrm xmlns:a="http://schemas.openxmlformats.org/drawingml/2006/main">
            <a:off x="800100" y="2381250"/>
            <a:ext cx="4781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Schema</a:t>
            </a:r>
          </a:p>
        </p:txBody>
      </p:sp>
      <p:sp>
        <p:nvSpPr>
          <p:cNvPr id="8" name="">
            <a:extLst xmlns:a="http://schemas.openxmlformats.org/drawingml/2006/main">
              <a:ext uri="{FF2B5EF4-FFF2-40B4-BE49-F238E27FC236}">
                <a16:creationId xmlns:a16="http://schemas.microsoft.com/office/drawing/2014/main" id="{14366050-6549-4B4D-8AD6-E108CB1ED8B4}"/>
              </a:ext>
            </a:extLst>
          </p:cNvPr>
          <p:cNvSpPr>
            <a:spLocks xmlns:a="http://schemas.openxmlformats.org/drawingml/2006/main" noGrp="1"/>
          </p:cNvSpPr>
          <p:nvPr/>
        </p:nvSpPr>
        <p:spPr>
          <a:xfrm xmlns:a="http://schemas.openxmlformats.org/drawingml/2006/main">
            <a:off x="800100" y="2828925"/>
            <a:ext cx="4781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tickets(</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  ticket_id integer,</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  title text,</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  status text,</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  requester_id integer</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Changes deliberately and infrequently.</a:t>
            </a:r>
          </a:p>
        </p:txBody>
      </p:sp>
      <p:sp>
        <p:nvSpPr>
          <p:cNvPr id="9" name="">
            <a:extLst xmlns:a="http://schemas.openxmlformats.org/drawingml/2006/main">
              <a:ext uri="{FF2B5EF4-FFF2-40B4-BE49-F238E27FC236}">
                <a16:creationId xmlns:a16="http://schemas.microsoft.com/office/drawing/2014/main" id="{27099112-6E71-4974-B90A-284EB060DD5C}"/>
              </a:ext>
            </a:extLst>
          </p:cNvPr>
          <p:cNvSpPr>
            <a:spLocks xmlns:a="http://schemas.openxmlformats.org/drawingml/2006/main" noGrp="1"/>
          </p:cNvSpPr>
          <p:nvPr/>
        </p:nvSpPr>
        <p:spPr>
          <a:xfrm xmlns:a="http://schemas.openxmlformats.org/drawingml/2006/main">
            <a:off x="6400800" y="2190750"/>
            <a:ext cx="5238750" cy="3143250"/>
          </a:xfrm>
          <a:prstGeom xmlns:a="http://schemas.openxmlformats.org/drawingml/2006/main" prst="roundRect">
            <a:avLst>
              <a:gd name="adj" fmla="val 5455"/>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B7F93227-78A0-4656-B7AE-450DC2A1AA68}"/>
              </a:ext>
            </a:extLst>
          </p:cNvPr>
          <p:cNvSpPr>
            <a:spLocks xmlns:a="http://schemas.openxmlformats.org/drawingml/2006/main" noGrp="1"/>
          </p:cNvSpPr>
          <p:nvPr/>
        </p:nvSpPr>
        <p:spPr>
          <a:xfrm xmlns:a="http://schemas.openxmlformats.org/drawingml/2006/main">
            <a:off x="6400800" y="2190750"/>
            <a:ext cx="76200" cy="31432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1" name="">
            <a:extLst xmlns:a="http://schemas.openxmlformats.org/drawingml/2006/main">
              <a:ext uri="{FF2B5EF4-FFF2-40B4-BE49-F238E27FC236}">
                <a16:creationId xmlns:a16="http://schemas.microsoft.com/office/drawing/2014/main" id="{482AC0FC-D8CE-440B-8057-5E167D68A9C8}"/>
              </a:ext>
            </a:extLst>
          </p:cNvPr>
          <p:cNvSpPr>
            <a:spLocks xmlns:a="http://schemas.openxmlformats.org/drawingml/2006/main" noGrp="1"/>
          </p:cNvSpPr>
          <p:nvPr/>
        </p:nvSpPr>
        <p:spPr>
          <a:xfrm xmlns:a="http://schemas.openxmlformats.org/drawingml/2006/main">
            <a:off x="6648450" y="2381250"/>
            <a:ext cx="4781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Instance</a:t>
            </a:r>
          </a:p>
        </p:txBody>
      </p:sp>
      <p:sp>
        <p:nvSpPr>
          <p:cNvPr id="12" name="">
            <a:extLst xmlns:a="http://schemas.openxmlformats.org/drawingml/2006/main">
              <a:ext uri="{FF2B5EF4-FFF2-40B4-BE49-F238E27FC236}">
                <a16:creationId xmlns:a16="http://schemas.microsoft.com/office/drawing/2014/main" id="{C35F454B-EAF3-46BA-8EF9-636BC34CADFF}"/>
              </a:ext>
            </a:extLst>
          </p:cNvPr>
          <p:cNvSpPr>
            <a:spLocks xmlns:a="http://schemas.openxmlformats.org/drawingml/2006/main" noGrp="1"/>
          </p:cNvSpPr>
          <p:nvPr/>
        </p:nvSpPr>
        <p:spPr>
          <a:xfrm xmlns:a="http://schemas.openxmlformats.org/drawingml/2006/main">
            <a:off x="6648450" y="2828925"/>
            <a:ext cx="478155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The tuples stored at one moment.</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10:00: 3 tickets</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At 10:05: 4 tickets</a:t>
            </a:r>
          </a:p>
          <a:p xmlns:a="http://schemas.openxmlformats.org/drawingml/2006/main">
            <a:r>
              <a:t/>
            </a:r>
          </a:p>
          <a:p xmlns:a="http://schemas.openxmlformats.org/drawingml/2006/main">
            <a:pPr>
              <a:lnSpc>
                <a:spcPct val="115000"/>
              </a:lnSpc>
              <a:buNone/>
              <a:defRPr sz="1575">
                <a:solidFill>
                  <a:srgbClr val="5C6577"/>
                </a:solidFill>
                <a:latin typeface="Avenir Next"/>
                <a:ea typeface="Avenir Next"/>
                <a:cs typeface="Avenir Next"/>
              </a:defRPr>
            </a:pPr>
            <a:r>
              <a:rPr sz="1575">
                <a:solidFill>
                  <a:srgbClr val="5C6577"/>
                </a:solidFill>
                <a:latin typeface="Avenir Next"/>
                <a:ea typeface="Avenir Next"/>
                <a:cs typeface="Avenir Next"/>
              </a:rPr>
              <a:t>Changes whenever rows are inserted, updated, or deleted.</a:t>
            </a:r>
          </a:p>
        </p:txBody>
      </p:sp>
      <p:sp>
        <p:nvSpPr>
          <p:cNvPr id="13" name="">
            <a:extLst xmlns:a="http://schemas.openxmlformats.org/drawingml/2006/main">
              <a:ext uri="{FF2B5EF4-FFF2-40B4-BE49-F238E27FC236}">
                <a16:creationId xmlns:a16="http://schemas.microsoft.com/office/drawing/2014/main" id="{D645E5AA-DC26-4C4A-AAC7-6D2EAE4293F8}"/>
              </a:ext>
            </a:extLst>
          </p:cNvPr>
          <p:cNvSpPr>
            <a:spLocks xmlns:a="http://schemas.openxmlformats.org/drawingml/2006/main" noGrp="1"/>
          </p:cNvSpPr>
          <p:nvPr/>
        </p:nvSpPr>
        <p:spPr>
          <a:xfrm xmlns:a="http://schemas.openxmlformats.org/drawingml/2006/main">
            <a:off x="1257300" y="5667375"/>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200" b="1">
                <a:solidFill>
                  <a:srgbClr val="5C6577"/>
                </a:solidFill>
                <a:latin typeface="Avenir Next"/>
                <a:ea typeface="Avenir Next"/>
                <a:cs typeface="Avenir Next"/>
              </a:defRPr>
            </a:pPr>
            <a:r>
              <a:rPr sz="1200" b="1">
                <a:solidFill>
                  <a:srgbClr val="5C6577"/>
                </a:solidFill>
                <a:latin typeface="Avenir Next"/>
                <a:ea typeface="Avenir Next"/>
                <a:cs typeface="Avenir Next"/>
              </a:rPr>
              <a:t>Domain example</a:t>
            </a:r>
          </a:p>
        </p:txBody>
      </p:sp>
      <p:sp>
        <p:nvSpPr>
          <p:cNvPr id="14" name="code-block">
            <a:extLst xmlns:a="http://schemas.openxmlformats.org/drawingml/2006/main">
              <a:ext uri="{FF2B5EF4-FFF2-40B4-BE49-F238E27FC236}">
                <a16:creationId xmlns:a16="http://schemas.microsoft.com/office/drawing/2014/main" id="{4468F592-3985-48BF-8844-14D7F4B7D3EF}"/>
              </a:ext>
            </a:extLst>
          </p:cNvPr>
          <p:cNvSpPr>
            <a:spLocks xmlns:a="http://schemas.openxmlformats.org/drawingml/2006/main" noGrp="1"/>
          </p:cNvSpPr>
          <p:nvPr/>
        </p:nvSpPr>
        <p:spPr>
          <a:xfrm xmlns:a="http://schemas.openxmlformats.org/drawingml/2006/main">
            <a:off x="3000375" y="5505450"/>
            <a:ext cx="4000500" cy="666750"/>
          </a:xfrm>
          <a:prstGeom xmlns:a="http://schemas.openxmlformats.org/drawingml/2006/main" prst="roundRect">
            <a:avLst>
              <a:gd name="adj" fmla="val 22857"/>
            </a:avLst>
          </a:prstGeom>
          <a:solidFill xmlns:a="http://schemas.openxmlformats.org/drawingml/2006/main">
            <a:srgbClr val="172033"/>
          </a:solidFill>
          <a:ln xmlns:a="http://schemas.openxmlformats.org/drawingml/2006/main" w="9525">
            <a:solidFill>
              <a:srgbClr val="2D3953"/>
            </a:solidFill>
            <a:prstDash val="solid"/>
          </a:ln>
        </p:spPr>
      </p:sp>
      <p:sp>
        <p:nvSpPr>
          <p:cNvPr id="15" name="">
            <a:extLst xmlns:a="http://schemas.openxmlformats.org/drawingml/2006/main">
              <a:ext uri="{FF2B5EF4-FFF2-40B4-BE49-F238E27FC236}">
                <a16:creationId xmlns:a16="http://schemas.microsoft.com/office/drawing/2014/main" id="{5C27DC03-0FD4-4890-8877-29DB5D95530F}"/>
              </a:ext>
            </a:extLst>
          </p:cNvPr>
          <p:cNvSpPr>
            <a:spLocks xmlns:a="http://schemas.openxmlformats.org/drawingml/2006/main" noGrp="1"/>
          </p:cNvSpPr>
          <p:nvPr/>
        </p:nvSpPr>
        <p:spPr>
          <a:xfrm xmlns:a="http://schemas.openxmlformats.org/drawingml/2006/main">
            <a:off x="3209925" y="5715000"/>
            <a:ext cx="3581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161"/>
          </a:bodyPr>
          <a:lstStyle xmlns:a="http://schemas.openxmlformats.org/drawingml/2006/main"/>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status ∈ {'open', 'closed'}</a:t>
            </a:r>
          </a:p>
        </p:txBody>
      </p:sp>
      <p:sp>
        <p:nvSpPr>
          <p:cNvPr id="16" name="">
            <a:extLst xmlns:a="http://schemas.openxmlformats.org/drawingml/2006/main">
              <a:ext uri="{FF2B5EF4-FFF2-40B4-BE49-F238E27FC236}">
                <a16:creationId xmlns:a16="http://schemas.microsoft.com/office/drawing/2014/main" id="{897CB47C-B085-4C68-A66E-B86C0F4F46BF}"/>
              </a:ext>
            </a:extLst>
          </p:cNvPr>
          <p:cNvSpPr>
            <a:spLocks xmlns:a="http://schemas.openxmlformats.org/drawingml/2006/main" noGrp="1"/>
          </p:cNvSpPr>
          <p:nvPr/>
        </p:nvSpPr>
        <p:spPr>
          <a:xfrm xmlns:a="http://schemas.openxmlformats.org/drawingml/2006/main">
            <a:off x="7334250" y="5667375"/>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63"/>
          </a:bodyPr>
          <a:lstStyle xmlns:a="http://schemas.openxmlformats.org/drawingml/2006/main"/>
          <a:p xmlns:a="http://schemas.openxmlformats.org/drawingml/2006/main">
            <a:pPr>
              <a:buNone/>
              <a:defRPr sz="1350">
                <a:solidFill>
                  <a:srgbClr val="5C6577"/>
                </a:solidFill>
                <a:latin typeface="Avenir Next"/>
                <a:ea typeface="Avenir Next"/>
                <a:cs typeface="Avenir Next"/>
              </a:defRPr>
            </a:pPr>
            <a:r>
              <a:rPr sz="1350">
                <a:solidFill>
                  <a:srgbClr val="5C6577"/>
                </a:solidFill>
                <a:latin typeface="Avenir Next"/>
                <a:ea typeface="Avenir Next"/>
                <a:cs typeface="Avenir Next"/>
              </a:rPr>
              <a:t>A domain says which kind of value is valid for an attribute.</a:t>
            </a:r>
          </a:p>
        </p:txBody>
      </p:sp>
    </p:spTree>
    <p:extLst>
      <p:ext uri="{BB962C8B-B14F-4D97-AF65-F5344CB8AC3E}">
        <p14:creationId xmlns:p14="http://schemas.microsoft.com/office/powerpoint/2010/main" val="1974737888"/>
      </p:ext>
    </p:extLst>
  </p:cSld>
</p:sld>
</file>

<file path=ppt/slides/slide1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2E8E0F-7202-4898-A747-2E41E608E2F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KEYS</a:t>
            </a:r>
          </a:p>
        </p:txBody>
      </p:sp>
      <p:sp>
        <p:nvSpPr>
          <p:cNvPr id="2" name="slide-title">
            <a:extLst xmlns:a="http://schemas.openxmlformats.org/drawingml/2006/main">
              <a:ext uri="{FF2B5EF4-FFF2-40B4-BE49-F238E27FC236}">
                <a16:creationId xmlns:a16="http://schemas.microsoft.com/office/drawing/2014/main" id="{9EB1B572-83FA-492C-B280-9ED3485B09AD}"/>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Keys connect facts without repeating entire records</a:t>
            </a:r>
          </a:p>
        </p:txBody>
      </p:sp>
      <p:sp>
        <p:nvSpPr>
          <p:cNvPr id="3" name="">
            <a:extLst xmlns:a="http://schemas.openxmlformats.org/drawingml/2006/main">
              <a:ext uri="{FF2B5EF4-FFF2-40B4-BE49-F238E27FC236}">
                <a16:creationId xmlns:a16="http://schemas.microsoft.com/office/drawing/2014/main" id="{64948348-F6A8-4BE7-AEEA-4A5B51FF37A2}"/>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A foreign key stores the identifier of a tuple in another relation.</a:t>
            </a:r>
          </a:p>
        </p:txBody>
      </p:sp>
      <p:sp>
        <p:nvSpPr>
          <p:cNvPr id="4" name="">
            <a:extLst xmlns:a="http://schemas.openxmlformats.org/drawingml/2006/main">
              <a:ext uri="{FF2B5EF4-FFF2-40B4-BE49-F238E27FC236}">
                <a16:creationId xmlns:a16="http://schemas.microsoft.com/office/drawing/2014/main" id="{5081BC6E-40CC-4599-A8E6-A86A4A930018}"/>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14</a:t>
            </a:r>
          </a:p>
        </p:txBody>
      </p:sp>
      <p:sp>
        <p:nvSpPr>
          <p:cNvPr id="5" name="">
            <a:extLst xmlns:a="http://schemas.openxmlformats.org/drawingml/2006/main">
              <a:ext uri="{FF2B5EF4-FFF2-40B4-BE49-F238E27FC236}">
                <a16:creationId xmlns:a16="http://schemas.microsoft.com/office/drawing/2014/main" id="{CDE7F327-6405-44FE-935F-3FA5E0DEFC2A}"/>
              </a:ext>
            </a:extLst>
          </p:cNvPr>
          <p:cNvSpPr>
            <a:spLocks xmlns:a="http://schemas.openxmlformats.org/drawingml/2006/main" noGrp="1"/>
          </p:cNvSpPr>
          <p:nvPr/>
        </p:nvSpPr>
        <p:spPr>
          <a:xfrm xmlns:a="http://schemas.openxmlformats.org/drawingml/2006/main">
            <a:off x="714375" y="2133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1">
                <a:solidFill>
                  <a:srgbClr val="0B5FFF"/>
                </a:solidFill>
                <a:latin typeface="Menlo"/>
                <a:ea typeface="Menlo"/>
                <a:cs typeface="Menlo"/>
              </a:defRPr>
            </a:pPr>
            <a:r>
              <a:rPr sz="1500" b="1">
                <a:solidFill>
                  <a:srgbClr val="0B5FFF"/>
                </a:solidFill>
                <a:latin typeface="Menlo"/>
                <a:ea typeface="Menlo"/>
                <a:cs typeface="Menlo"/>
              </a:rPr>
              <a:t>users</a:t>
            </a:r>
          </a:p>
        </p:txBody>
      </p:sp>
      <p:graphicFrame>
        <p:nvGraphicFramePr>
          <p:cNvPr id="20" name=""/>
          <p:cNvGraphicFramePr/>
          <p:nvPr/>
        </p:nvGraphicFramePr>
        <p:xfrm>
          <a:off xmlns:a="http://schemas.openxmlformats.org/drawingml/2006/main" x="714375" y="2571750"/>
          <a:ext xmlns:a="http://schemas.openxmlformats.org/drawingml/2006/main" cx="4286250" cy="2428875"/>
        </p:xfrm>
        <a:graphic xmlns:a="http://schemas.openxmlformats.org/drawingml/2006/main">
          <a:graphicData uri="http://schemas.openxmlformats.org/drawingml/2006/table">
            <a:tbl>
              <a:tblPr/>
              <a:tblGrid>
                <a:gridCol w="2143125"/>
                <a:gridCol w="2143125"/>
              </a:tblGrid>
              <a:tr h="607219">
                <a:tc>
                  <a:txBody>
                    <a:bodyPr lIns="76200" tIns="38100" rIns="76200" bIns="38100">
                      <a:normAutofit/>
                    </a:bodyPr>
                    <a:lstStyle/>
                    <a:p>
                      <a:pPr algn="l">
                        <a:buNone/>
                      </a:pPr>
                      <a:r>
                        <a:rPr sz="1350" b="1">
                          <a:solidFill>
                            <a:srgbClr val="FFFFFF"/>
                          </a:solidFill>
                          <a:latin typeface="Avenir Next"/>
                          <a:ea typeface="Avenir Next"/>
                          <a:cs typeface="Avenir Next"/>
                        </a:rPr>
                        <a:t>user_id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name</a:t>
                      </a:r>
                    </a:p>
                  </a:txBody>
                  <a:tcPr marL="91440" marR="91440" marT="45720" marB="45720" anchor="ctr">
                    <a:solidFill>
                      <a:srgbClr val="14213D"/>
                    </a:solidFill>
                  </a:tcPr>
                </a:tc>
              </a:tr>
              <a:tr h="607219">
                <a:tc>
                  <a:txBody>
                    <a:bodyPr lIns="76200" tIns="38100" rIns="76200" bIns="38100">
                      <a:normAutofit/>
                    </a:bodyPr>
                    <a:lstStyle/>
                    <a:p>
                      <a:pPr algn="l">
                        <a:buNone/>
                      </a:pPr>
                      <a:r>
                        <a:rPr sz="1275" b="0">
                          <a:solidFill>
                            <a:srgbClr val="14213D"/>
                          </a:solidFill>
                          <a:latin typeface="Menlo"/>
                          <a:ea typeface="Menlo"/>
                          <a:cs typeface="Menlo"/>
                        </a:rPr>
                        <a:t>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Mina</a:t>
                      </a:r>
                    </a:p>
                  </a:txBody>
                  <a:tcPr marL="91440" marR="91440" marT="45720" marB="45720" anchor="ctr">
                    <a:solidFill>
                      <a:srgbClr val="FFFFFF"/>
                    </a:solidFill>
                  </a:tcPr>
                </a:tc>
              </a:tr>
              <a:tr h="607219">
                <a:tc>
                  <a:txBody>
                    <a:bodyPr lIns="76200" tIns="38100" rIns="76200" bIns="38100">
                      <a:normAutofit/>
                    </a:bodyPr>
                    <a:lstStyle/>
                    <a:p>
                      <a:pPr algn="l">
                        <a:buNone/>
                      </a:pPr>
                      <a:r>
                        <a:rPr sz="1275" b="1">
                          <a:solidFill>
                            <a:srgbClr val="D95D39"/>
                          </a:solidFill>
                          <a:latin typeface="Menlo"/>
                          <a:ea typeface="Menlo"/>
                          <a:cs typeface="Menlo"/>
                        </a:rPr>
                        <a:t>7</a:t>
                      </a:r>
                    </a:p>
                  </a:txBody>
                  <a:tcPr marL="91440" marR="91440" marT="45720" marB="45720" anchor="ctr">
                    <a:solidFill>
                      <a:srgbClr val="FCE7D2"/>
                    </a:solidFill>
                  </a:tcPr>
                </a:tc>
                <a:tc>
                  <a:txBody>
                    <a:bodyPr lIns="76200" tIns="38100" rIns="76200" bIns="38100">
                      <a:normAutofit/>
                    </a:bodyPr>
                    <a:lstStyle/>
                    <a:p>
                      <a:pPr algn="l">
                        <a:buNone/>
                      </a:pPr>
                      <a:r>
                        <a:rPr sz="1275" b="0">
                          <a:solidFill>
                            <a:srgbClr val="14213D"/>
                          </a:solidFill>
                          <a:latin typeface="Menlo"/>
                          <a:ea typeface="Menlo"/>
                          <a:cs typeface="Menlo"/>
                        </a:rPr>
                        <a:t>Luis</a:t>
                      </a:r>
                    </a:p>
                  </a:txBody>
                  <a:tcPr marL="91440" marR="91440" marT="45720" marB="45720" anchor="ctr">
                    <a:solidFill>
                      <a:srgbClr val="FFFFFF"/>
                    </a:solidFill>
                  </a:tcPr>
                </a:tc>
              </a:tr>
              <a:tr h="607219">
                <a:tc>
                  <a:txBody>
                    <a:bodyPr lIns="76200" tIns="38100" rIns="76200" bIns="38100">
                      <a:normAutofit/>
                    </a:bodyPr>
                    <a:lstStyle/>
                    <a:p>
                      <a:pPr algn="l">
                        <a:buNone/>
                      </a:pPr>
                      <a:r>
                        <a:rPr sz="1275" b="0">
                          <a:solidFill>
                            <a:srgbClr val="14213D"/>
                          </a:solidFill>
                          <a:latin typeface="Menlo"/>
                          <a:ea typeface="Menlo"/>
                          <a:cs typeface="Menlo"/>
                        </a:rPr>
                        <a:t>9</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Jo</a:t>
                      </a:r>
                    </a:p>
                  </a:txBody>
                  <a:tcPr marL="91440" marR="91440" marT="45720" marB="45720"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850C07A3-CBA8-4C72-8571-411FA3320208}"/>
              </a:ext>
            </a:extLst>
          </p:cNvPr>
          <p:cNvSpPr>
            <a:spLocks xmlns:a="http://schemas.openxmlformats.org/drawingml/2006/main" noGrp="1"/>
          </p:cNvSpPr>
          <p:nvPr/>
        </p:nvSpPr>
        <p:spPr>
          <a:xfrm xmlns:a="http://schemas.openxmlformats.org/drawingml/2006/main">
            <a:off x="6334125" y="2133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500" b="1">
                <a:solidFill>
                  <a:srgbClr val="007C77"/>
                </a:solidFill>
                <a:latin typeface="Menlo"/>
                <a:ea typeface="Menlo"/>
                <a:cs typeface="Menlo"/>
              </a:defRPr>
            </a:pPr>
            <a:r>
              <a:rPr sz="1500" b="1">
                <a:solidFill>
                  <a:srgbClr val="007C77"/>
                </a:solidFill>
                <a:latin typeface="Menlo"/>
                <a:ea typeface="Menlo"/>
                <a:cs typeface="Menlo"/>
              </a:rPr>
              <a:t>tickets</a:t>
            </a:r>
          </a:p>
        </p:txBody>
      </p:sp>
      <p:graphicFrame>
        <p:nvGraphicFramePr>
          <p:cNvPr id="22" name=""/>
          <p:cNvGraphicFramePr/>
          <p:nvPr/>
        </p:nvGraphicFramePr>
        <p:xfrm>
          <a:off xmlns:a="http://schemas.openxmlformats.org/drawingml/2006/main" x="6334125" y="2571750"/>
          <a:ext xmlns:a="http://schemas.openxmlformats.org/drawingml/2006/main" cx="5143500" cy="2428875"/>
        </p:xfrm>
        <a:graphic xmlns:a="http://schemas.openxmlformats.org/drawingml/2006/main">
          <a:graphicData uri="http://schemas.openxmlformats.org/drawingml/2006/table">
            <a:tbl>
              <a:tblPr/>
              <a:tblGrid>
                <a:gridCol w="1714500"/>
                <a:gridCol w="1714500"/>
                <a:gridCol w="1714500"/>
              </a:tblGrid>
              <a:tr h="607219">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title</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requester_id</a:t>
                      </a:r>
                    </a:p>
                  </a:txBody>
                  <a:tcPr marL="91440" marR="91440" marT="45720" marB="45720" anchor="ctr">
                    <a:solidFill>
                      <a:srgbClr val="14213D"/>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101</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Broken hydrant</a:t>
                      </a:r>
                    </a:p>
                  </a:txBody>
                  <a:tcPr marL="91440" marR="91440" marT="45720" marB="45720" anchor="ctr">
                    <a:solidFill>
                      <a:srgbClr val="FFFFFF"/>
                    </a:solidFill>
                  </a:tcPr>
                </a:tc>
                <a:tc>
                  <a:txBody>
                    <a:bodyPr lIns="76200" tIns="38100" rIns="76200" bIns="38100">
                      <a:normAutofit/>
                    </a:bodyPr>
                    <a:lstStyle/>
                    <a:p>
                      <a:pPr algn="l">
                        <a:buNone/>
                      </a:pPr>
                      <a:r>
                        <a:rPr sz="1275" b="1">
                          <a:solidFill>
                            <a:srgbClr val="D95D39"/>
                          </a:solidFill>
                          <a:latin typeface="Menlo"/>
                          <a:ea typeface="Menlo"/>
                          <a:cs typeface="Menlo"/>
                        </a:rPr>
                        <a:t>7</a:t>
                      </a:r>
                    </a:p>
                  </a:txBody>
                  <a:tcPr marL="91440" marR="91440" marT="45720" marB="45720" anchor="ctr">
                    <a:solidFill>
                      <a:srgbClr val="FCE7D2"/>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102</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Streetlight out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3</a:t>
                      </a:r>
                    </a:p>
                  </a:txBody>
                  <a:tcPr marL="91440" marR="91440" marT="45720" marB="45720" anchor="ctr">
                    <a:solidFill>
                      <a:srgbClr val="FFFFFF"/>
                    </a:solidFill>
                  </a:tcPr>
                </a:tc>
              </a:tr>
              <a:tr h="607219">
                <a:tc>
                  <a:txBody>
                    <a:bodyPr lIns="76200" tIns="38100" rIns="76200" bIns="38100">
                      <a:normAutofit/>
                    </a:bodyPr>
                    <a:lstStyle/>
                    <a:p>
                      <a:pPr algn="l">
                        <a:buNone/>
                      </a:pPr>
                      <a:r>
                        <a:rPr sz="1275" b="0">
                          <a:solidFill>
                            <a:srgbClr val="14213D"/>
                          </a:solidFill>
                          <a:latin typeface="Menlo"/>
                          <a:ea typeface="Menlo"/>
                          <a:cs typeface="Menlo"/>
                        </a:rPr>
                        <a:t>103</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Missed pickup</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7</a:t>
                      </a:r>
                    </a:p>
                  </a:txBody>
                  <a:tcPr marL="91440" marR="91440" marT="45720" marB="45720" anchor="ctr">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2E14E9F3-6CE3-45E1-BE1C-CDDD7F00CD08}"/>
              </a:ext>
            </a:extLst>
          </p:cNvPr>
          <p:cNvSpPr>
            <a:spLocks xmlns:a="http://schemas.openxmlformats.org/drawingml/2006/main" noGrp="1"/>
          </p:cNvSpPr>
          <p:nvPr/>
        </p:nvSpPr>
        <p:spPr>
          <a:xfrm xmlns:a="http://schemas.openxmlformats.org/drawingml/2006/main">
            <a:off x="5095875" y="3286125"/>
            <a:ext cx="1095375" cy="628650"/>
          </a:xfrm>
          <a:prstGeom xmlns:a="http://schemas.openxmlformats.org/drawingml/2006/main" prst="rightArrow">
            <a:avLst/>
          </a:prstGeom>
          <a:solidFill xmlns:a="http://schemas.openxmlformats.org/drawingml/2006/main">
            <a:srgbClr val="F4A261"/>
          </a:solidFill>
          <a:ln xmlns:a="http://schemas.openxmlformats.org/drawingml/2006/main" w="9525">
            <a:solidFill>
              <a:srgbClr val="D95D39"/>
            </a:solidFill>
            <a:prstDash val="solid"/>
          </a:ln>
        </p:spPr>
      </p:sp>
      <p:sp>
        <p:nvSpPr>
          <p:cNvPr id="10" name="">
            <a:extLst xmlns:a="http://schemas.openxmlformats.org/drawingml/2006/main">
              <a:ext uri="{FF2B5EF4-FFF2-40B4-BE49-F238E27FC236}">
                <a16:creationId xmlns:a16="http://schemas.microsoft.com/office/drawing/2014/main" id="{97BFC7A1-1BA8-40C7-9204-24689E594E3D}"/>
              </a:ext>
            </a:extLst>
          </p:cNvPr>
          <p:cNvSpPr>
            <a:spLocks xmlns:a="http://schemas.openxmlformats.org/drawingml/2006/main" noGrp="1"/>
          </p:cNvSpPr>
          <p:nvPr/>
        </p:nvSpPr>
        <p:spPr>
          <a:xfrm xmlns:a="http://schemas.openxmlformats.org/drawingml/2006/main">
            <a:off x="5095875" y="4048125"/>
            <a:ext cx="1095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125" b="1">
                <a:solidFill>
                  <a:srgbClr val="D95D39"/>
                </a:solidFill>
                <a:latin typeface="Menlo"/>
                <a:ea typeface="Menlo"/>
                <a:cs typeface="Menlo"/>
              </a:defRPr>
            </a:pPr>
            <a:r>
              <a:rPr sz="1125" b="1">
                <a:solidFill>
                  <a:srgbClr val="D95D39"/>
                </a:solidFill>
                <a:latin typeface="Menlo"/>
                <a:ea typeface="Menlo"/>
                <a:cs typeface="Menlo"/>
              </a:rPr>
              <a:t>FK → PK</a:t>
            </a:r>
          </a:p>
        </p:txBody>
      </p:sp>
      <p:sp>
        <p:nvSpPr>
          <p:cNvPr id="11" name="">
            <a:extLst xmlns:a="http://schemas.openxmlformats.org/drawingml/2006/main">
              <a:ext uri="{FF2B5EF4-FFF2-40B4-BE49-F238E27FC236}">
                <a16:creationId xmlns:a16="http://schemas.microsoft.com/office/drawing/2014/main" id="{B0EF0E14-0020-49C7-AB3B-E9CD91D297C4}"/>
              </a:ext>
            </a:extLst>
          </p:cNvPr>
          <p:cNvSpPr>
            <a:spLocks xmlns:a="http://schemas.openxmlformats.org/drawingml/2006/main" noGrp="1"/>
          </p:cNvSpPr>
          <p:nvPr/>
        </p:nvSpPr>
        <p:spPr>
          <a:xfrm xmlns:a="http://schemas.openxmlformats.org/drawingml/2006/main">
            <a:off x="1790700" y="5476875"/>
            <a:ext cx="8620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ticket 101 belongs to user 7, without storing Luis’s name in every ticket row</a:t>
            </a:r>
          </a:p>
        </p:txBody>
      </p:sp>
    </p:spTree>
    <p:extLst>
      <p:ext uri="{BB962C8B-B14F-4D97-AF65-F5344CB8AC3E}">
        <p14:creationId xmlns:p14="http://schemas.microsoft.com/office/powerpoint/2010/main" val="480501743"/>
      </p:ext>
    </p:extLst>
  </p:cSld>
</p:sld>
</file>

<file path=ppt/slides/slide15.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0300BD-1F1A-4642-A1C0-F76C4F4B8B63}"/>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A320237D-8867-4914-ADFF-FA14DDCA1D6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Selection keeps tuples that satisfy a condition</a:t>
            </a:r>
          </a:p>
        </p:txBody>
      </p:sp>
      <p:sp>
        <p:nvSpPr>
          <p:cNvPr id="3" name="">
            <a:extLst xmlns:a="http://schemas.openxmlformats.org/drawingml/2006/main">
              <a:ext uri="{FF2B5EF4-FFF2-40B4-BE49-F238E27FC236}">
                <a16:creationId xmlns:a16="http://schemas.microsoft.com/office/drawing/2014/main" id="{72158167-367D-4324-9F9A-BB51E53A5311}"/>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symbol sigma, σ, corresponds closely to a SQL WHERE condition.</a:t>
            </a:r>
          </a:p>
        </p:txBody>
      </p:sp>
      <p:sp>
        <p:nvSpPr>
          <p:cNvPr id="4" name="">
            <a:extLst xmlns:a="http://schemas.openxmlformats.org/drawingml/2006/main">
              <a:ext uri="{FF2B5EF4-FFF2-40B4-BE49-F238E27FC236}">
                <a16:creationId xmlns:a16="http://schemas.microsoft.com/office/drawing/2014/main" id="{0D812AE3-486A-4CFB-98F3-8DB13F696B23}"/>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15</a:t>
            </a:r>
          </a:p>
        </p:txBody>
      </p:sp>
      <p:graphicFrame>
        <p:nvGraphicFramePr>
          <p:cNvPr id="19" name=""/>
          <p:cNvGraphicFramePr/>
          <p:nvPr/>
        </p:nvGraphicFramePr>
        <p:xfrm>
          <a:off xmlns:a="http://schemas.openxmlformats.org/drawingml/2006/main" x="552450" y="2343150"/>
          <a:ext xmlns:a="http://schemas.openxmlformats.org/drawingml/2006/main" cx="6572250" cy="2714625"/>
        </p:xfrm>
        <a:graphic xmlns:a="http://schemas.openxmlformats.org/drawingml/2006/main">
          <a:graphicData uri="http://schemas.openxmlformats.org/drawingml/2006/table">
            <a:tbl>
              <a:tblPr/>
              <a:tblGrid>
                <a:gridCol w="2190750"/>
                <a:gridCol w="2190750"/>
                <a:gridCol w="2190750"/>
              </a:tblGrid>
              <a:tr h="678656">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title</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101</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Broken hydrant</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DDF3EE"/>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102</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Streetlight out</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closed</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103</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Missed pickup</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DDF3EE"/>
                    </a:solidFill>
                  </a:tcPr>
                </a:tc>
              </a:tr>
            </a:tbl>
          </a:graphicData>
        </a:graphic>
      </p:graphicFrame>
      <p:sp>
        <p:nvSpPr>
          <p:cNvPr id="6" name="">
            <a:extLst xmlns:a="http://schemas.openxmlformats.org/drawingml/2006/main">
              <a:ext uri="{FF2B5EF4-FFF2-40B4-BE49-F238E27FC236}">
                <a16:creationId xmlns:a16="http://schemas.microsoft.com/office/drawing/2014/main" id="{779ADFE7-FC68-46E8-BF15-349D95BC7960}"/>
              </a:ext>
            </a:extLst>
          </p:cNvPr>
          <p:cNvSpPr>
            <a:spLocks xmlns:a="http://schemas.openxmlformats.org/drawingml/2006/main" noGrp="1"/>
          </p:cNvSpPr>
          <p:nvPr/>
        </p:nvSpPr>
        <p:spPr>
          <a:xfrm xmlns:a="http://schemas.openxmlformats.org/drawingml/2006/main">
            <a:off x="7905750" y="23050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5400" b="1">
                <a:solidFill>
                  <a:srgbClr val="007C77"/>
                </a:solidFill>
                <a:latin typeface="Georgia"/>
                <a:ea typeface="Georgia"/>
                <a:cs typeface="Georgia"/>
              </a:defRPr>
            </a:pPr>
            <a:r>
              <a:rPr sz="5400" b="1">
                <a:solidFill>
                  <a:srgbClr val="007C77"/>
                </a:solidFill>
                <a:latin typeface="Georgia"/>
                <a:ea typeface="Georgia"/>
                <a:cs typeface="Georgia"/>
              </a:rPr>
              <a:t>σ</a:t>
            </a:r>
          </a:p>
        </p:txBody>
      </p:sp>
      <p:sp>
        <p:nvSpPr>
          <p:cNvPr id="7" name="code-block">
            <a:extLst xmlns:a="http://schemas.openxmlformats.org/drawingml/2006/main">
              <a:ext uri="{FF2B5EF4-FFF2-40B4-BE49-F238E27FC236}">
                <a16:creationId xmlns:a16="http://schemas.microsoft.com/office/drawing/2014/main" id="{30769F6B-88BA-4603-859C-C422AE79FA81}"/>
              </a:ext>
            </a:extLst>
          </p:cNvPr>
          <p:cNvSpPr>
            <a:spLocks xmlns:a="http://schemas.openxmlformats.org/drawingml/2006/main" noGrp="1"/>
          </p:cNvSpPr>
          <p:nvPr/>
        </p:nvSpPr>
        <p:spPr>
          <a:xfrm xmlns:a="http://schemas.openxmlformats.org/drawingml/2006/main">
            <a:off x="7524750" y="3305175"/>
            <a:ext cx="4095750" cy="904875"/>
          </a:xfrm>
          <a:prstGeom xmlns:a="http://schemas.openxmlformats.org/drawingml/2006/main" prst="roundRect">
            <a:avLst>
              <a:gd name="adj" fmla="val 16842"/>
            </a:avLst>
          </a:prstGeom>
          <a:solidFill xmlns:a="http://schemas.openxmlformats.org/drawingml/2006/main">
            <a:srgbClr val="172033"/>
          </a:solidFill>
          <a:ln xmlns:a="http://schemas.openxmlformats.org/drawingml/2006/main" w="9525">
            <a:solidFill>
              <a:srgbClr val="2D3953"/>
            </a:solidFill>
            <a:prstDash val="solid"/>
          </a:ln>
        </p:spPr>
      </p:sp>
      <p:sp>
        <p:nvSpPr>
          <p:cNvPr id="8" name="">
            <a:extLst xmlns:a="http://schemas.openxmlformats.org/drawingml/2006/main">
              <a:ext uri="{FF2B5EF4-FFF2-40B4-BE49-F238E27FC236}">
                <a16:creationId xmlns:a16="http://schemas.microsoft.com/office/drawing/2014/main" id="{BE9FA297-D7AD-42FF-95C7-362BDF579AC9}"/>
              </a:ext>
            </a:extLst>
          </p:cNvPr>
          <p:cNvSpPr>
            <a:spLocks xmlns:a="http://schemas.openxmlformats.org/drawingml/2006/main" noGrp="1"/>
          </p:cNvSpPr>
          <p:nvPr/>
        </p:nvSpPr>
        <p:spPr>
          <a:xfrm xmlns:a="http://schemas.openxmlformats.org/drawingml/2006/main">
            <a:off x="7734300" y="3438525"/>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ALGEBRA</a:t>
            </a:r>
          </a:p>
        </p:txBody>
      </p:sp>
      <p:sp>
        <p:nvSpPr>
          <p:cNvPr id="9" name="">
            <a:extLst xmlns:a="http://schemas.openxmlformats.org/drawingml/2006/main">
              <a:ext uri="{FF2B5EF4-FFF2-40B4-BE49-F238E27FC236}">
                <a16:creationId xmlns:a16="http://schemas.microsoft.com/office/drawing/2014/main" id="{87250B44-D9E8-40D6-B537-C00BA0370C15}"/>
              </a:ext>
            </a:extLst>
          </p:cNvPr>
          <p:cNvSpPr>
            <a:spLocks xmlns:a="http://schemas.openxmlformats.org/drawingml/2006/main" noGrp="1"/>
          </p:cNvSpPr>
          <p:nvPr/>
        </p:nvSpPr>
        <p:spPr>
          <a:xfrm xmlns:a="http://schemas.openxmlformats.org/drawingml/2006/main">
            <a:off x="7734300" y="3781425"/>
            <a:ext cx="36766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σ status = 'open' (tickets)</a:t>
            </a:r>
          </a:p>
        </p:txBody>
      </p:sp>
      <p:sp>
        <p:nvSpPr>
          <p:cNvPr id="10" name="code-block">
            <a:extLst xmlns:a="http://schemas.openxmlformats.org/drawingml/2006/main">
              <a:ext uri="{FF2B5EF4-FFF2-40B4-BE49-F238E27FC236}">
                <a16:creationId xmlns:a16="http://schemas.microsoft.com/office/drawing/2014/main" id="{EB1B154C-FC61-4386-8956-043EECD2806D}"/>
              </a:ext>
            </a:extLst>
          </p:cNvPr>
          <p:cNvSpPr>
            <a:spLocks xmlns:a="http://schemas.openxmlformats.org/drawingml/2006/main" noGrp="1"/>
          </p:cNvSpPr>
          <p:nvPr/>
        </p:nvSpPr>
        <p:spPr>
          <a:xfrm xmlns:a="http://schemas.openxmlformats.org/drawingml/2006/main">
            <a:off x="7524750" y="4457700"/>
            <a:ext cx="4095750" cy="1285875"/>
          </a:xfrm>
          <a:prstGeom xmlns:a="http://schemas.openxmlformats.org/drawingml/2006/main" prst="roundRect">
            <a:avLst>
              <a:gd name="adj" fmla="val 11852"/>
            </a:avLst>
          </a:prstGeom>
          <a:solidFill xmlns:a="http://schemas.openxmlformats.org/drawingml/2006/main">
            <a:srgbClr val="172033"/>
          </a:solidFill>
          <a:ln xmlns:a="http://schemas.openxmlformats.org/drawingml/2006/main" w="9525">
            <a:solidFill>
              <a:srgbClr val="2D3953"/>
            </a:solidFill>
            <a:prstDash val="solid"/>
          </a:ln>
        </p:spPr>
      </p:sp>
      <p:sp>
        <p:nvSpPr>
          <p:cNvPr id="11" name="">
            <a:extLst xmlns:a="http://schemas.openxmlformats.org/drawingml/2006/main">
              <a:ext uri="{FF2B5EF4-FFF2-40B4-BE49-F238E27FC236}">
                <a16:creationId xmlns:a16="http://schemas.microsoft.com/office/drawing/2014/main" id="{5DA28E24-1AFE-438F-889D-675495DB6DE0}"/>
              </a:ext>
            </a:extLst>
          </p:cNvPr>
          <p:cNvSpPr>
            <a:spLocks xmlns:a="http://schemas.openxmlformats.org/drawingml/2006/main" noGrp="1"/>
          </p:cNvSpPr>
          <p:nvPr/>
        </p:nvSpPr>
        <p:spPr>
          <a:xfrm xmlns:a="http://schemas.openxmlformats.org/drawingml/2006/main">
            <a:off x="7734300" y="4591050"/>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2" name="">
            <a:extLst xmlns:a="http://schemas.openxmlformats.org/drawingml/2006/main">
              <a:ext uri="{FF2B5EF4-FFF2-40B4-BE49-F238E27FC236}">
                <a16:creationId xmlns:a16="http://schemas.microsoft.com/office/drawing/2014/main" id="{AFF9BB9A-5528-4CA0-9B72-D9B7C7FDD552}"/>
              </a:ext>
            </a:extLst>
          </p:cNvPr>
          <p:cNvSpPr>
            <a:spLocks xmlns:a="http://schemas.openxmlformats.org/drawingml/2006/main" noGrp="1"/>
          </p:cNvSpPr>
          <p:nvPr/>
        </p:nvSpPr>
        <p:spPr>
          <a:xfrm xmlns:a="http://schemas.openxmlformats.org/drawingml/2006/main">
            <a:off x="7734300" y="4933950"/>
            <a:ext cx="367665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SELECT *</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FROM tickets</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WHERE status = 'open';</a:t>
            </a:r>
          </a:p>
        </p:txBody>
      </p:sp>
    </p:spTree>
    <p:extLst>
      <p:ext uri="{BB962C8B-B14F-4D97-AF65-F5344CB8AC3E}">
        <p14:creationId xmlns:p14="http://schemas.microsoft.com/office/powerpoint/2010/main" val="1190893663"/>
      </p:ext>
    </p:extLst>
  </p:cSld>
</p:sld>
</file>

<file path=ppt/slides/slide16.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FD8BBEE-610F-4CB5-A1F6-B2CA7BCD2DAA}"/>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0479B567-B066-48BD-A102-96E47E3310BA}"/>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Projection keeps selected attributes</a:t>
            </a:r>
          </a:p>
        </p:txBody>
      </p:sp>
      <p:sp>
        <p:nvSpPr>
          <p:cNvPr id="3" name="">
            <a:extLst xmlns:a="http://schemas.openxmlformats.org/drawingml/2006/main">
              <a:ext uri="{FF2B5EF4-FFF2-40B4-BE49-F238E27FC236}">
                <a16:creationId xmlns:a16="http://schemas.microsoft.com/office/drawing/2014/main" id="{25425EF1-5C70-4CBB-9BB4-9E1737ECC9AE}"/>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The symbol pi, π, corresponds to the output list after SQL SELECT.</a:t>
            </a:r>
          </a:p>
        </p:txBody>
      </p:sp>
      <p:sp>
        <p:nvSpPr>
          <p:cNvPr id="4" name="">
            <a:extLst xmlns:a="http://schemas.openxmlformats.org/drawingml/2006/main">
              <a:ext uri="{FF2B5EF4-FFF2-40B4-BE49-F238E27FC236}">
                <a16:creationId xmlns:a16="http://schemas.microsoft.com/office/drawing/2014/main" id="{98316E0D-27C7-4814-A046-7211461BAA47}"/>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16</a:t>
            </a:r>
          </a:p>
        </p:txBody>
      </p:sp>
      <p:graphicFrame>
        <p:nvGraphicFramePr>
          <p:cNvPr id="20" name=""/>
          <p:cNvGraphicFramePr/>
          <p:nvPr/>
        </p:nvGraphicFramePr>
        <p:xfrm>
          <a:off xmlns:a="http://schemas.openxmlformats.org/drawingml/2006/main" x="552450" y="2343150"/>
          <a:ext xmlns:a="http://schemas.openxmlformats.org/drawingml/2006/main" cx="6572250" cy="2714625"/>
        </p:xfrm>
        <a:graphic xmlns:a="http://schemas.openxmlformats.org/drawingml/2006/main">
          <a:graphicData uri="http://schemas.openxmlformats.org/drawingml/2006/table">
            <a:tbl>
              <a:tblPr/>
              <a:tblGrid>
                <a:gridCol w="1643063"/>
                <a:gridCol w="1643063"/>
                <a:gridCol w="1643063"/>
                <a:gridCol w="1643063"/>
              </a:tblGrid>
              <a:tr h="678656">
                <a:tc>
                  <a:txBody>
                    <a:bodyPr lIns="76200" tIns="38100" rIns="76200" bIns="38100">
                      <a:normAutofit/>
                    </a:bodyPr>
                    <a:lstStyle/>
                    <a:p>
                      <a:pPr algn="l">
                        <a:buNone/>
                      </a:pPr>
                      <a:r>
                        <a:rPr sz="1350" b="1">
                          <a:solidFill>
                            <a:srgbClr val="FFFFFF"/>
                          </a:solidFill>
                          <a:latin typeface="Avenir Next"/>
                          <a:ea typeface="Avenir Next"/>
                          <a:cs typeface="Avenir Next"/>
                        </a:rPr>
                        <a:t>ticket_id</a:t>
                      </a:r>
                    </a:p>
                  </a:txBody>
                  <a:tcPr marL="91440" marR="91440" marT="45720" marB="45720" anchor="ctr">
                    <a:solidFill>
                      <a:srgbClr val="007C77"/>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title</a:t>
                      </a:r>
                    </a:p>
                  </a:txBody>
                  <a:tcPr marL="91440" marR="91440" marT="45720" marB="45720" anchor="ctr">
                    <a:solidFill>
                      <a:srgbClr val="007C77"/>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status</a:t>
                      </a:r>
                    </a:p>
                  </a:txBody>
                  <a:tcPr marL="91440" marR="91440" marT="45720" marB="45720" anchor="ctr">
                    <a:solidFill>
                      <a:srgbClr val="14213D"/>
                    </a:solidFill>
                  </a:tcPr>
                </a:tc>
                <a:tc>
                  <a:txBody>
                    <a:bodyPr lIns="76200" tIns="38100" rIns="76200" bIns="38100">
                      <a:normAutofit/>
                    </a:bodyPr>
                    <a:lstStyle/>
                    <a:p>
                      <a:pPr algn="l">
                        <a:buNone/>
                      </a:pPr>
                      <a:r>
                        <a:rPr sz="1350" b="1">
                          <a:solidFill>
                            <a:srgbClr val="FFFFFF"/>
                          </a:solidFill>
                          <a:latin typeface="Avenir Next"/>
                          <a:ea typeface="Avenir Next"/>
                          <a:cs typeface="Avenir Next"/>
                        </a:rPr>
                        <a:t>requester_id</a:t>
                      </a:r>
                    </a:p>
                  </a:txBody>
                  <a:tcPr marL="91440" marR="91440" marT="45720" marB="45720" anchor="ctr">
                    <a:solidFill>
                      <a:srgbClr val="14213D"/>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101</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Broken hydrant</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7</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102</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Streetlight out</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closed</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3</a:t>
                      </a:r>
                    </a:p>
                  </a:txBody>
                  <a:tcPr marL="91440" marR="91440" marT="45720" marB="45720" anchor="ctr">
                    <a:solidFill>
                      <a:srgbClr val="FFFFFF"/>
                    </a:solidFill>
                  </a:tcPr>
                </a:tc>
              </a:tr>
              <a:tr h="678656">
                <a:tc>
                  <a:txBody>
                    <a:bodyPr lIns="76200" tIns="38100" rIns="76200" bIns="38100">
                      <a:normAutofit/>
                    </a:bodyPr>
                    <a:lstStyle/>
                    <a:p>
                      <a:pPr algn="l">
                        <a:buNone/>
                      </a:pPr>
                      <a:r>
                        <a:rPr sz="1275" b="0">
                          <a:solidFill>
                            <a:srgbClr val="14213D"/>
                          </a:solidFill>
                          <a:latin typeface="Menlo"/>
                          <a:ea typeface="Menlo"/>
                          <a:cs typeface="Menlo"/>
                        </a:rPr>
                        <a:t>103</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Missed pickup</a:t>
                      </a:r>
                    </a:p>
                  </a:txBody>
                  <a:tcPr marL="91440" marR="91440" marT="45720" marB="45720" anchor="ctr">
                    <a:solidFill>
                      <a:srgbClr val="DDF3EE"/>
                    </a:solidFill>
                  </a:tcPr>
                </a:tc>
                <a:tc>
                  <a:txBody>
                    <a:bodyPr lIns="76200" tIns="38100" rIns="76200" bIns="38100">
                      <a:normAutofit/>
                    </a:bodyPr>
                    <a:lstStyle/>
                    <a:p>
                      <a:pPr algn="l">
                        <a:buNone/>
                      </a:pPr>
                      <a:r>
                        <a:rPr sz="1275" b="0">
                          <a:solidFill>
                            <a:srgbClr val="14213D"/>
                          </a:solidFill>
                          <a:latin typeface="Menlo"/>
                          <a:ea typeface="Menlo"/>
                          <a:cs typeface="Menlo"/>
                        </a:rPr>
                        <a:t>open</a:t>
                      </a:r>
                    </a:p>
                  </a:txBody>
                  <a:tcPr marL="91440" marR="91440" marT="45720" marB="45720" anchor="ctr">
                    <a:solidFill>
                      <a:srgbClr val="FFFFFF"/>
                    </a:solidFill>
                  </a:tcPr>
                </a:tc>
                <a:tc>
                  <a:txBody>
                    <a:bodyPr lIns="76200" tIns="38100" rIns="76200" bIns="38100">
                      <a:normAutofit/>
                    </a:bodyPr>
                    <a:lstStyle/>
                    <a:p>
                      <a:pPr algn="l">
                        <a:buNone/>
                      </a:pPr>
                      <a:r>
                        <a:rPr sz="1275" b="0">
                          <a:solidFill>
                            <a:srgbClr val="14213D"/>
                          </a:solidFill>
                          <a:latin typeface="Menlo"/>
                          <a:ea typeface="Menlo"/>
                          <a:cs typeface="Menlo"/>
                        </a:rPr>
                        <a:t>7</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EBA5D8D-AFCB-4705-A4DB-9F18015F7075}"/>
              </a:ext>
            </a:extLst>
          </p:cNvPr>
          <p:cNvSpPr>
            <a:spLocks xmlns:a="http://schemas.openxmlformats.org/drawingml/2006/main" noGrp="1"/>
          </p:cNvSpPr>
          <p:nvPr/>
        </p:nvSpPr>
        <p:spPr>
          <a:xfrm xmlns:a="http://schemas.openxmlformats.org/drawingml/2006/main">
            <a:off x="7905750" y="2305050"/>
            <a:ext cx="85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5400" b="1">
                <a:solidFill>
                  <a:srgbClr val="0B5FFF"/>
                </a:solidFill>
                <a:latin typeface="Georgia"/>
                <a:ea typeface="Georgia"/>
                <a:cs typeface="Georgia"/>
              </a:defRPr>
            </a:pPr>
            <a:r>
              <a:rPr sz="5400" b="1">
                <a:solidFill>
                  <a:srgbClr val="0B5FFF"/>
                </a:solidFill>
                <a:latin typeface="Georgia"/>
                <a:ea typeface="Georgia"/>
                <a:cs typeface="Georgia"/>
              </a:rPr>
              <a:t>π</a:t>
            </a:r>
          </a:p>
        </p:txBody>
      </p:sp>
      <p:sp>
        <p:nvSpPr>
          <p:cNvPr id="7" name="code-block">
            <a:extLst xmlns:a="http://schemas.openxmlformats.org/drawingml/2006/main">
              <a:ext uri="{FF2B5EF4-FFF2-40B4-BE49-F238E27FC236}">
                <a16:creationId xmlns:a16="http://schemas.microsoft.com/office/drawing/2014/main" id="{389BE77C-20CA-4210-932D-65CE2E403AA6}"/>
              </a:ext>
            </a:extLst>
          </p:cNvPr>
          <p:cNvSpPr>
            <a:spLocks xmlns:a="http://schemas.openxmlformats.org/drawingml/2006/main" noGrp="1"/>
          </p:cNvSpPr>
          <p:nvPr/>
        </p:nvSpPr>
        <p:spPr>
          <a:xfrm xmlns:a="http://schemas.openxmlformats.org/drawingml/2006/main">
            <a:off x="7524750" y="3305175"/>
            <a:ext cx="4095750" cy="904875"/>
          </a:xfrm>
          <a:prstGeom xmlns:a="http://schemas.openxmlformats.org/drawingml/2006/main" prst="roundRect">
            <a:avLst>
              <a:gd name="adj" fmla="val 16842"/>
            </a:avLst>
          </a:prstGeom>
          <a:solidFill xmlns:a="http://schemas.openxmlformats.org/drawingml/2006/main">
            <a:srgbClr val="172033"/>
          </a:solidFill>
          <a:ln xmlns:a="http://schemas.openxmlformats.org/drawingml/2006/main" w="9525">
            <a:solidFill>
              <a:srgbClr val="2D3953"/>
            </a:solidFill>
            <a:prstDash val="solid"/>
          </a:ln>
        </p:spPr>
      </p:sp>
      <p:sp>
        <p:nvSpPr>
          <p:cNvPr id="8" name="">
            <a:extLst xmlns:a="http://schemas.openxmlformats.org/drawingml/2006/main">
              <a:ext uri="{FF2B5EF4-FFF2-40B4-BE49-F238E27FC236}">
                <a16:creationId xmlns:a16="http://schemas.microsoft.com/office/drawing/2014/main" id="{923A42CC-9D7C-4488-BED7-92569D3B0BBD}"/>
              </a:ext>
            </a:extLst>
          </p:cNvPr>
          <p:cNvSpPr>
            <a:spLocks xmlns:a="http://schemas.openxmlformats.org/drawingml/2006/main" noGrp="1"/>
          </p:cNvSpPr>
          <p:nvPr/>
        </p:nvSpPr>
        <p:spPr>
          <a:xfrm xmlns:a="http://schemas.openxmlformats.org/drawingml/2006/main">
            <a:off x="7734300" y="3438525"/>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B5FFF"/>
                </a:solidFill>
                <a:latin typeface="Avenir Next"/>
                <a:ea typeface="Avenir Next"/>
                <a:cs typeface="Avenir Next"/>
              </a:defRPr>
            </a:pPr>
            <a:r>
              <a:rPr sz="1050" b="1">
                <a:solidFill>
                  <a:srgbClr val="0B5FFF"/>
                </a:solidFill>
                <a:latin typeface="Avenir Next"/>
                <a:ea typeface="Avenir Next"/>
                <a:cs typeface="Avenir Next"/>
              </a:rPr>
              <a:t>ALGEBRA</a:t>
            </a:r>
          </a:p>
        </p:txBody>
      </p:sp>
      <p:sp>
        <p:nvSpPr>
          <p:cNvPr id="9" name="">
            <a:extLst xmlns:a="http://schemas.openxmlformats.org/drawingml/2006/main">
              <a:ext uri="{FF2B5EF4-FFF2-40B4-BE49-F238E27FC236}">
                <a16:creationId xmlns:a16="http://schemas.microsoft.com/office/drawing/2014/main" id="{4C86F3F3-0EE6-4C02-A499-0B364A0DEF60}"/>
              </a:ext>
            </a:extLst>
          </p:cNvPr>
          <p:cNvSpPr>
            <a:spLocks xmlns:a="http://schemas.openxmlformats.org/drawingml/2006/main" noGrp="1"/>
          </p:cNvSpPr>
          <p:nvPr/>
        </p:nvSpPr>
        <p:spPr>
          <a:xfrm xmlns:a="http://schemas.openxmlformats.org/drawingml/2006/main">
            <a:off x="7734300" y="3781425"/>
            <a:ext cx="36766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π ticket_id, title (tickets)</a:t>
            </a:r>
          </a:p>
        </p:txBody>
      </p:sp>
      <p:sp>
        <p:nvSpPr>
          <p:cNvPr id="10" name="code-block">
            <a:extLst xmlns:a="http://schemas.openxmlformats.org/drawingml/2006/main">
              <a:ext uri="{FF2B5EF4-FFF2-40B4-BE49-F238E27FC236}">
                <a16:creationId xmlns:a16="http://schemas.microsoft.com/office/drawing/2014/main" id="{39B903C8-A70B-4313-880A-0DE8BBBC11F7}"/>
              </a:ext>
            </a:extLst>
          </p:cNvPr>
          <p:cNvSpPr>
            <a:spLocks xmlns:a="http://schemas.openxmlformats.org/drawingml/2006/main" noGrp="1"/>
          </p:cNvSpPr>
          <p:nvPr/>
        </p:nvSpPr>
        <p:spPr>
          <a:xfrm xmlns:a="http://schemas.openxmlformats.org/drawingml/2006/main">
            <a:off x="7524750" y="4457700"/>
            <a:ext cx="4095750" cy="1066800"/>
          </a:xfrm>
          <a:prstGeom xmlns:a="http://schemas.openxmlformats.org/drawingml/2006/main" prst="roundRect">
            <a:avLst>
              <a:gd name="adj" fmla="val 14286"/>
            </a:avLst>
          </a:prstGeom>
          <a:solidFill xmlns:a="http://schemas.openxmlformats.org/drawingml/2006/main">
            <a:srgbClr val="172033"/>
          </a:solidFill>
          <a:ln xmlns:a="http://schemas.openxmlformats.org/drawingml/2006/main" w="9525">
            <a:solidFill>
              <a:srgbClr val="2D3953"/>
            </a:solidFill>
            <a:prstDash val="solid"/>
          </a:ln>
        </p:spPr>
      </p:sp>
      <p:sp>
        <p:nvSpPr>
          <p:cNvPr id="11" name="">
            <a:extLst xmlns:a="http://schemas.openxmlformats.org/drawingml/2006/main">
              <a:ext uri="{FF2B5EF4-FFF2-40B4-BE49-F238E27FC236}">
                <a16:creationId xmlns:a16="http://schemas.microsoft.com/office/drawing/2014/main" id="{D1574D4C-6C39-4D13-9D1C-9E26763DC3CE}"/>
              </a:ext>
            </a:extLst>
          </p:cNvPr>
          <p:cNvSpPr>
            <a:spLocks xmlns:a="http://schemas.openxmlformats.org/drawingml/2006/main" noGrp="1"/>
          </p:cNvSpPr>
          <p:nvPr/>
        </p:nvSpPr>
        <p:spPr>
          <a:xfrm xmlns:a="http://schemas.openxmlformats.org/drawingml/2006/main">
            <a:off x="7734300" y="4591050"/>
            <a:ext cx="36766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2" name="">
            <a:extLst xmlns:a="http://schemas.openxmlformats.org/drawingml/2006/main">
              <a:ext uri="{FF2B5EF4-FFF2-40B4-BE49-F238E27FC236}">
                <a16:creationId xmlns:a16="http://schemas.microsoft.com/office/drawing/2014/main" id="{9D545863-4F8B-49CF-8927-3A44222B17C2}"/>
              </a:ext>
            </a:extLst>
          </p:cNvPr>
          <p:cNvSpPr>
            <a:spLocks xmlns:a="http://schemas.openxmlformats.org/drawingml/2006/main" noGrp="1"/>
          </p:cNvSpPr>
          <p:nvPr/>
        </p:nvSpPr>
        <p:spPr>
          <a:xfrm xmlns:a="http://schemas.openxmlformats.org/drawingml/2006/main">
            <a:off x="7734300" y="4933950"/>
            <a:ext cx="36766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SELECT ticket_id, title</a:t>
            </a:r>
          </a:p>
          <a:p xmlns:a="http://schemas.openxmlformats.org/drawingml/2006/main">
            <a:pPr>
              <a:lnSpc>
                <a:spcPct val="115000"/>
              </a:lnSpc>
              <a:buNone/>
              <a:defRPr sz="1350">
                <a:solidFill>
                  <a:srgbClr val="F8FAFC"/>
                </a:solidFill>
                <a:latin typeface="Menlo"/>
                <a:ea typeface="Menlo"/>
                <a:cs typeface="Menlo"/>
              </a:defRPr>
            </a:pPr>
            <a:r>
              <a:rPr sz="1350">
                <a:solidFill>
                  <a:srgbClr val="F8FAFC"/>
                </a:solidFill>
                <a:latin typeface="Menlo"/>
                <a:ea typeface="Menlo"/>
                <a:cs typeface="Menlo"/>
              </a:rPr>
              <a:t>FROM tickets;</a:t>
            </a:r>
          </a:p>
        </p:txBody>
      </p:sp>
      <p:sp>
        <p:nvSpPr>
          <p:cNvPr id="13" name="">
            <a:extLst xmlns:a="http://schemas.openxmlformats.org/drawingml/2006/main">
              <a:ext uri="{FF2B5EF4-FFF2-40B4-BE49-F238E27FC236}">
                <a16:creationId xmlns:a16="http://schemas.microsoft.com/office/drawing/2014/main" id="{0C7D9448-37F6-489A-A769-BD801677F21B}"/>
              </a:ext>
            </a:extLst>
          </p:cNvPr>
          <p:cNvSpPr>
            <a:spLocks xmlns:a="http://schemas.openxmlformats.org/drawingml/2006/main" noGrp="1"/>
          </p:cNvSpPr>
          <p:nvPr/>
        </p:nvSpPr>
        <p:spPr>
          <a:xfrm xmlns:a="http://schemas.openxmlformats.org/drawingml/2006/main">
            <a:off x="7810500" y="57150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200" b="1">
                <a:solidFill>
                  <a:srgbClr val="5C6577"/>
                </a:solidFill>
                <a:latin typeface="Menlo"/>
                <a:ea typeface="Menlo"/>
                <a:cs typeface="Menlo"/>
              </a:defRPr>
            </a:pPr>
            <a:r>
              <a:rPr sz="1200" b="1">
                <a:solidFill>
                  <a:srgbClr val="5C6577"/>
                </a:solidFill>
                <a:latin typeface="Menlo"/>
                <a:ea typeface="Menlo"/>
                <a:cs typeface="Menlo"/>
              </a:rPr>
              <a:t>Output schema: (ticket_id, title)</a:t>
            </a:r>
          </a:p>
        </p:txBody>
      </p:sp>
    </p:spTree>
    <p:extLst>
      <p:ext uri="{BB962C8B-B14F-4D97-AF65-F5344CB8AC3E}">
        <p14:creationId xmlns:p14="http://schemas.microsoft.com/office/powerpoint/2010/main" val="155326410"/>
      </p:ext>
    </p:extLst>
  </p:cSld>
</p:sld>
</file>

<file path=ppt/slides/slide1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FD6D1F2-BA63-41A3-9729-0189C1BD97A9}"/>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80625"/>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RELATIONAL ALGEBRA</a:t>
            </a:r>
          </a:p>
        </p:txBody>
      </p:sp>
      <p:sp>
        <p:nvSpPr>
          <p:cNvPr id="2" name="slide-title">
            <a:extLst xmlns:a="http://schemas.openxmlformats.org/drawingml/2006/main">
              <a:ext uri="{FF2B5EF4-FFF2-40B4-BE49-F238E27FC236}">
                <a16:creationId xmlns:a16="http://schemas.microsoft.com/office/drawing/2014/main" id="{1B6360B9-22B5-4101-B2BC-2DE0C8660B34}"/>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Product pairs rows; join keeps meaningful matches</a:t>
            </a:r>
          </a:p>
        </p:txBody>
      </p:sp>
      <p:sp>
        <p:nvSpPr>
          <p:cNvPr id="3" name="">
            <a:extLst xmlns:a="http://schemas.openxmlformats.org/drawingml/2006/main">
              <a:ext uri="{FF2B5EF4-FFF2-40B4-BE49-F238E27FC236}">
                <a16:creationId xmlns:a16="http://schemas.microsoft.com/office/drawing/2014/main" id="{EC6D1B99-B13C-4CC8-86E1-1A8D0D3B53D0}"/>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A join is not merely placing two tables side by side.</a:t>
            </a:r>
          </a:p>
        </p:txBody>
      </p:sp>
      <p:sp>
        <p:nvSpPr>
          <p:cNvPr id="4" name="">
            <a:extLst xmlns:a="http://schemas.openxmlformats.org/drawingml/2006/main">
              <a:ext uri="{FF2B5EF4-FFF2-40B4-BE49-F238E27FC236}">
                <a16:creationId xmlns:a16="http://schemas.microsoft.com/office/drawing/2014/main" id="{3909C739-D2E0-439B-BF39-5D66C2C4BEBD}"/>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17</a:t>
            </a:r>
          </a:p>
        </p:txBody>
      </p:sp>
      <p:sp>
        <p:nvSpPr>
          <p:cNvPr id="5" name="">
            <a:extLst xmlns:a="http://schemas.openxmlformats.org/drawingml/2006/main">
              <a:ext uri="{FF2B5EF4-FFF2-40B4-BE49-F238E27FC236}">
                <a16:creationId xmlns:a16="http://schemas.microsoft.com/office/drawing/2014/main" id="{85F47131-6F85-43C4-97EC-18551B9DBF0E}"/>
              </a:ext>
            </a:extLst>
          </p:cNvPr>
          <p:cNvSpPr>
            <a:spLocks xmlns:a="http://schemas.openxmlformats.org/drawingml/2006/main" noGrp="1"/>
          </p:cNvSpPr>
          <p:nvPr/>
        </p:nvSpPr>
        <p:spPr>
          <a:xfrm xmlns:a="http://schemas.openxmlformats.org/drawingml/2006/main">
            <a:off x="552450" y="2190750"/>
            <a:ext cx="5048250" cy="3105150"/>
          </a:xfrm>
          <a:prstGeom xmlns:a="http://schemas.openxmlformats.org/drawingml/2006/main" prst="roundRect">
            <a:avLst>
              <a:gd name="adj" fmla="val 5521"/>
            </a:avLst>
          </a:prstGeom>
          <a:solidFill xmlns:a="http://schemas.openxmlformats.org/drawingml/2006/main">
            <a:srgbClr val="FFF8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7571CC15-9F3A-4209-93CA-CFC06EE1FD99}"/>
              </a:ext>
            </a:extLst>
          </p:cNvPr>
          <p:cNvSpPr>
            <a:spLocks xmlns:a="http://schemas.openxmlformats.org/drawingml/2006/main" noGrp="1"/>
          </p:cNvSpPr>
          <p:nvPr/>
        </p:nvSpPr>
        <p:spPr>
          <a:xfrm xmlns:a="http://schemas.openxmlformats.org/drawingml/2006/main">
            <a:off x="552450" y="2190750"/>
            <a:ext cx="76200" cy="310515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7" name="">
            <a:extLst xmlns:a="http://schemas.openxmlformats.org/drawingml/2006/main">
              <a:ext uri="{FF2B5EF4-FFF2-40B4-BE49-F238E27FC236}">
                <a16:creationId xmlns:a16="http://schemas.microsoft.com/office/drawing/2014/main" id="{0FECAB3D-BE19-4D41-87A6-DD8471BD8425}"/>
              </a:ext>
            </a:extLst>
          </p:cNvPr>
          <p:cNvSpPr>
            <a:spLocks xmlns:a="http://schemas.openxmlformats.org/drawingml/2006/main" noGrp="1"/>
          </p:cNvSpPr>
          <p:nvPr/>
        </p:nvSpPr>
        <p:spPr>
          <a:xfrm xmlns:a="http://schemas.openxmlformats.org/drawingml/2006/main">
            <a:off x="800100" y="2381250"/>
            <a:ext cx="459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Cartesian product  R × S</a:t>
            </a:r>
          </a:p>
        </p:txBody>
      </p:sp>
      <p:sp>
        <p:nvSpPr>
          <p:cNvPr id="8" name="">
            <a:extLst xmlns:a="http://schemas.openxmlformats.org/drawingml/2006/main">
              <a:ext uri="{FF2B5EF4-FFF2-40B4-BE49-F238E27FC236}">
                <a16:creationId xmlns:a16="http://schemas.microsoft.com/office/drawing/2014/main" id="{EB3D8754-3915-4AEC-957D-1B2A5940D3DA}"/>
              </a:ext>
            </a:extLst>
          </p:cNvPr>
          <p:cNvSpPr>
            <a:spLocks xmlns:a="http://schemas.openxmlformats.org/drawingml/2006/main" noGrp="1"/>
          </p:cNvSpPr>
          <p:nvPr/>
        </p:nvSpPr>
        <p:spPr>
          <a:xfrm xmlns:a="http://schemas.openxmlformats.org/drawingml/2006/main">
            <a:off x="800100" y="2828925"/>
            <a:ext cx="459105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Pairs every tuple in R with every tuple in S.</a:t>
            </a:r>
          </a:p>
          <a:p xmlns:a="http://schemas.openxmlformats.org/drawingml/2006/main">
            <a:r>
              <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If |R| = 3 and |S| = 4, then:</a:t>
            </a:r>
          </a:p>
          <a:p xmlns:a="http://schemas.openxmlformats.org/drawingml/2006/main">
            <a:r>
              <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|R × S| = 12</a:t>
            </a:r>
          </a:p>
          <a:p xmlns:a="http://schemas.openxmlformats.org/drawingml/2006/main">
            <a:r>
              <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Useful as a definition; usually too broad as a result.</a:t>
            </a:r>
          </a:p>
        </p:txBody>
      </p:sp>
      <p:sp>
        <p:nvSpPr>
          <p:cNvPr id="9" name="">
            <a:extLst xmlns:a="http://schemas.openxmlformats.org/drawingml/2006/main">
              <a:ext uri="{FF2B5EF4-FFF2-40B4-BE49-F238E27FC236}">
                <a16:creationId xmlns:a16="http://schemas.microsoft.com/office/drawing/2014/main" id="{DD1FCF3C-89BC-4B59-9791-9D8F4D94015A}"/>
              </a:ext>
            </a:extLst>
          </p:cNvPr>
          <p:cNvSpPr>
            <a:spLocks xmlns:a="http://schemas.openxmlformats.org/drawingml/2006/main" noGrp="1"/>
          </p:cNvSpPr>
          <p:nvPr/>
        </p:nvSpPr>
        <p:spPr>
          <a:xfrm xmlns:a="http://schemas.openxmlformats.org/drawingml/2006/main">
            <a:off x="6591300" y="2190750"/>
            <a:ext cx="5048250" cy="3105150"/>
          </a:xfrm>
          <a:prstGeom xmlns:a="http://schemas.openxmlformats.org/drawingml/2006/main" prst="roundRect">
            <a:avLst>
              <a:gd name="adj" fmla="val 5521"/>
            </a:avLst>
          </a:prstGeom>
          <a:solidFill xmlns:a="http://schemas.openxmlformats.org/drawingml/2006/main">
            <a:srgbClr val="F1FBF8"/>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076F9537-D622-45F7-9B8C-67582FD0AE22}"/>
              </a:ext>
            </a:extLst>
          </p:cNvPr>
          <p:cNvSpPr>
            <a:spLocks xmlns:a="http://schemas.openxmlformats.org/drawingml/2006/main" noGrp="1"/>
          </p:cNvSpPr>
          <p:nvPr/>
        </p:nvSpPr>
        <p:spPr>
          <a:xfrm xmlns:a="http://schemas.openxmlformats.org/drawingml/2006/main">
            <a:off x="6591300" y="2190750"/>
            <a:ext cx="76200" cy="310515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1" name="">
            <a:extLst xmlns:a="http://schemas.openxmlformats.org/drawingml/2006/main">
              <a:ext uri="{FF2B5EF4-FFF2-40B4-BE49-F238E27FC236}">
                <a16:creationId xmlns:a16="http://schemas.microsoft.com/office/drawing/2014/main" id="{9F489E3E-68CF-4BB4-A5E9-072770542608}"/>
              </a:ext>
            </a:extLst>
          </p:cNvPr>
          <p:cNvSpPr>
            <a:spLocks xmlns:a="http://schemas.openxmlformats.org/drawingml/2006/main" noGrp="1"/>
          </p:cNvSpPr>
          <p:nvPr/>
        </p:nvSpPr>
        <p:spPr>
          <a:xfrm xmlns:a="http://schemas.openxmlformats.org/drawingml/2006/main">
            <a:off x="6838950" y="2381250"/>
            <a:ext cx="4591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725" b="1">
                <a:solidFill>
                  <a:srgbClr val="14213D"/>
                </a:solidFill>
                <a:latin typeface="Georgia"/>
                <a:ea typeface="Georgia"/>
                <a:cs typeface="Georgia"/>
              </a:defRPr>
            </a:pPr>
            <a:r>
              <a:rPr sz="1725" b="1">
                <a:solidFill>
                  <a:srgbClr val="14213D"/>
                </a:solidFill>
                <a:latin typeface="Georgia"/>
                <a:ea typeface="Georgia"/>
                <a:cs typeface="Georgia"/>
              </a:rPr>
              <a:t>Equi-join  R ⋈ S</a:t>
            </a:r>
          </a:p>
        </p:txBody>
      </p:sp>
      <p:sp>
        <p:nvSpPr>
          <p:cNvPr id="12" name="">
            <a:extLst xmlns:a="http://schemas.openxmlformats.org/drawingml/2006/main">
              <a:ext uri="{FF2B5EF4-FFF2-40B4-BE49-F238E27FC236}">
                <a16:creationId xmlns:a16="http://schemas.microsoft.com/office/drawing/2014/main" id="{86ACBDD2-D8E4-4F2C-97D7-0177B0A3128C}"/>
              </a:ext>
            </a:extLst>
          </p:cNvPr>
          <p:cNvSpPr>
            <a:spLocks xmlns:a="http://schemas.openxmlformats.org/drawingml/2006/main" noGrp="1"/>
          </p:cNvSpPr>
          <p:nvPr/>
        </p:nvSpPr>
        <p:spPr>
          <a:xfrm xmlns:a="http://schemas.openxmlformats.org/drawingml/2006/main">
            <a:off x="6838950" y="2828925"/>
            <a:ext cx="459105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Keeps only pairs satisfying an equality condition.</a:t>
            </a:r>
          </a:p>
          <a:p xmlns:a="http://schemas.openxmlformats.org/drawingml/2006/main">
            <a:r>
              <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tickets.requester_id</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 users.user_id</a:t>
            </a:r>
          </a:p>
          <a:p xmlns:a="http://schemas.openxmlformats.org/drawingml/2006/main">
            <a:r>
              <a:t/>
            </a:r>
          </a:p>
          <a:p xmlns:a="http://schemas.openxmlformats.org/drawingml/2006/main">
            <a:pPr>
              <a:lnSpc>
                <a:spcPct val="115000"/>
              </a:lnSpc>
              <a:buNone/>
              <a:defRPr sz="1650">
                <a:solidFill>
                  <a:srgbClr val="5C6577"/>
                </a:solidFill>
                <a:latin typeface="Avenir Next"/>
                <a:ea typeface="Avenir Next"/>
                <a:cs typeface="Avenir Next"/>
              </a:defRPr>
            </a:pPr>
            <a:r>
              <a:rPr sz="1650">
                <a:solidFill>
                  <a:srgbClr val="5C6577"/>
                </a:solidFill>
                <a:latin typeface="Avenir Next"/>
                <a:ea typeface="Avenir Next"/>
                <a:cs typeface="Avenir Next"/>
              </a:rPr>
              <a:t>Reconstructs related facts when a query needs them together.</a:t>
            </a:r>
          </a:p>
        </p:txBody>
      </p:sp>
      <p:sp>
        <p:nvSpPr>
          <p:cNvPr id="13" name="">
            <a:extLst xmlns:a="http://schemas.openxmlformats.org/drawingml/2006/main">
              <a:ext uri="{FF2B5EF4-FFF2-40B4-BE49-F238E27FC236}">
                <a16:creationId xmlns:a16="http://schemas.microsoft.com/office/drawing/2014/main" id="{BC97EB24-BCAF-43FB-894B-3546DBF06E97}"/>
              </a:ext>
            </a:extLst>
          </p:cNvPr>
          <p:cNvSpPr>
            <a:spLocks xmlns:a="http://schemas.openxmlformats.org/drawingml/2006/main" noGrp="1"/>
          </p:cNvSpPr>
          <p:nvPr/>
        </p:nvSpPr>
        <p:spPr>
          <a:xfrm xmlns:a="http://schemas.openxmlformats.org/drawingml/2006/main">
            <a:off x="5648325" y="3333750"/>
            <a:ext cx="895350" cy="552450"/>
          </a:xfrm>
          <a:prstGeom xmlns:a="http://schemas.openxmlformats.org/drawingml/2006/main" prst="rightArrow">
            <a:avLst/>
          </a:prstGeom>
          <a:solidFill xmlns:a="http://schemas.openxmlformats.org/drawingml/2006/main">
            <a:srgbClr val="0B5FFF"/>
          </a:solidFill>
          <a:ln xmlns:a="http://schemas.openxmlformats.org/drawingml/2006/main" w="0">
            <a:solidFill>
              <a:srgbClr val="0B5FFF"/>
            </a:solidFill>
            <a:prstDash val="solid"/>
          </a:ln>
        </p:spPr>
      </p:sp>
      <p:sp>
        <p:nvSpPr>
          <p:cNvPr id="14" name="">
            <a:extLst xmlns:a="http://schemas.openxmlformats.org/drawingml/2006/main">
              <a:ext uri="{FF2B5EF4-FFF2-40B4-BE49-F238E27FC236}">
                <a16:creationId xmlns:a16="http://schemas.microsoft.com/office/drawing/2014/main" id="{FA5CC787-B6D6-48CA-88BF-F8475743B3F1}"/>
              </a:ext>
            </a:extLst>
          </p:cNvPr>
          <p:cNvSpPr>
            <a:spLocks xmlns:a="http://schemas.openxmlformats.org/drawingml/2006/main" noGrp="1"/>
          </p:cNvSpPr>
          <p:nvPr/>
        </p:nvSpPr>
        <p:spPr>
          <a:xfrm xmlns:a="http://schemas.openxmlformats.org/drawingml/2006/main">
            <a:off x="5553075" y="4048125"/>
            <a:ext cx="1095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0B5FFF"/>
                </a:solidFill>
                <a:latin typeface="Menlo"/>
                <a:ea typeface="Menlo"/>
                <a:cs typeface="Menlo"/>
              </a:defRPr>
            </a:pPr>
            <a:r>
              <a:rPr sz="1050" b="1">
                <a:solidFill>
                  <a:srgbClr val="0B5FFF"/>
                </a:solidFill>
                <a:latin typeface="Menlo"/>
                <a:ea typeface="Menlo"/>
                <a:cs typeface="Menlo"/>
              </a:rPr>
              <a:t>condition</a:t>
            </a:r>
          </a:p>
        </p:txBody>
      </p:sp>
      <p:sp>
        <p:nvSpPr>
          <p:cNvPr id="15" name="">
            <a:extLst xmlns:a="http://schemas.openxmlformats.org/drawingml/2006/main">
              <a:ext uri="{FF2B5EF4-FFF2-40B4-BE49-F238E27FC236}">
                <a16:creationId xmlns:a16="http://schemas.microsoft.com/office/drawing/2014/main" id="{DC5EF08D-5B29-4D7F-9920-9CDC8E0D8620}"/>
              </a:ext>
            </a:extLst>
          </p:cNvPr>
          <p:cNvSpPr>
            <a:spLocks xmlns:a="http://schemas.openxmlformats.org/drawingml/2006/main" noGrp="1"/>
          </p:cNvSpPr>
          <p:nvPr/>
        </p:nvSpPr>
        <p:spPr>
          <a:xfrm xmlns:a="http://schemas.openxmlformats.org/drawingml/2006/main">
            <a:off x="1714500" y="5734050"/>
            <a:ext cx="876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75" b="1">
                <a:solidFill>
                  <a:srgbClr val="14213D"/>
                </a:solidFill>
                <a:latin typeface="Avenir Next"/>
                <a:ea typeface="Avenir Next"/>
                <a:cs typeface="Avenir Next"/>
              </a:defRPr>
            </a:pPr>
            <a:r>
              <a:rPr sz="1575" b="1">
                <a:solidFill>
                  <a:srgbClr val="14213D"/>
                </a:solidFill>
                <a:latin typeface="Avenir Next"/>
                <a:ea typeface="Avenir Next"/>
                <a:cs typeface="Avenir Next"/>
              </a:rPr>
              <a:t>Join cardinality depends on the data and the condition, not only on input sizes.</a:t>
            </a:r>
          </a:p>
        </p:txBody>
      </p:sp>
    </p:spTree>
    <p:extLst>
      <p:ext uri="{BB962C8B-B14F-4D97-AF65-F5344CB8AC3E}">
        <p14:creationId xmlns:p14="http://schemas.microsoft.com/office/powerpoint/2010/main" val="925964483"/>
      </p:ext>
    </p:extLst>
  </p:cSld>
</p:sld>
</file>

<file path=ppt/slides/slide18.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E9DF5A-6357-4C3A-9CED-8A3F535A257B}"/>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TRANSLATION</a:t>
            </a:r>
          </a:p>
        </p:txBody>
      </p:sp>
      <p:sp>
        <p:nvSpPr>
          <p:cNvPr id="2" name="slide-title">
            <a:extLst xmlns:a="http://schemas.openxmlformats.org/drawingml/2006/main">
              <a:ext uri="{FF2B5EF4-FFF2-40B4-BE49-F238E27FC236}">
                <a16:creationId xmlns:a16="http://schemas.microsoft.com/office/drawing/2014/main" id="{AFC84756-242D-49C6-9B55-2BB62D4F969C}"/>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Relational reasoning explains what the SQL is doing</a:t>
            </a:r>
          </a:p>
        </p:txBody>
      </p:sp>
      <p:sp>
        <p:nvSpPr>
          <p:cNvPr id="3" name="">
            <a:extLst xmlns:a="http://schemas.openxmlformats.org/drawingml/2006/main">
              <a:ext uri="{FF2B5EF4-FFF2-40B4-BE49-F238E27FC236}">
                <a16:creationId xmlns:a16="http://schemas.microsoft.com/office/drawing/2014/main" id="{CC28B1D0-D4FB-4221-98A4-20E1DA940B07}"/>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Read the query as a sequence of transformations, not a chant of keywords.</a:t>
            </a:r>
          </a:p>
        </p:txBody>
      </p:sp>
      <p:sp>
        <p:nvSpPr>
          <p:cNvPr id="4" name="">
            <a:extLst xmlns:a="http://schemas.openxmlformats.org/drawingml/2006/main">
              <a:ext uri="{FF2B5EF4-FFF2-40B4-BE49-F238E27FC236}">
                <a16:creationId xmlns:a16="http://schemas.microsoft.com/office/drawing/2014/main" id="{7C4076F6-03C8-4AA6-A506-170019BA40EF}"/>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18</a:t>
            </a:r>
          </a:p>
        </p:txBody>
      </p:sp>
      <p:sp>
        <p:nvSpPr>
          <p:cNvPr id="5" name="code-block">
            <a:extLst xmlns:a="http://schemas.openxmlformats.org/drawingml/2006/main">
              <a:ext uri="{FF2B5EF4-FFF2-40B4-BE49-F238E27FC236}">
                <a16:creationId xmlns:a16="http://schemas.microsoft.com/office/drawing/2014/main" id="{3417B993-80D6-49D5-BD0A-1E2EE097FEC0}"/>
              </a:ext>
            </a:extLst>
          </p:cNvPr>
          <p:cNvSpPr>
            <a:spLocks xmlns:a="http://schemas.openxmlformats.org/drawingml/2006/main" noGrp="1"/>
          </p:cNvSpPr>
          <p:nvPr/>
        </p:nvSpPr>
        <p:spPr>
          <a:xfrm xmlns:a="http://schemas.openxmlformats.org/drawingml/2006/main">
            <a:off x="552450" y="2133600"/>
            <a:ext cx="4953000" cy="3143250"/>
          </a:xfrm>
          <a:prstGeom xmlns:a="http://schemas.openxmlformats.org/drawingml/2006/main" prst="roundRect">
            <a:avLst>
              <a:gd name="adj" fmla="val 4848"/>
            </a:avLst>
          </a:prstGeom>
          <a:solidFill xmlns:a="http://schemas.openxmlformats.org/drawingml/2006/main">
            <a:srgbClr val="172033"/>
          </a:solidFill>
          <a:ln xmlns:a="http://schemas.openxmlformats.org/drawingml/2006/main" w="9525">
            <a:solidFill>
              <a:srgbClr val="2D3953"/>
            </a:solidFill>
            <a:prstDash val="solid"/>
          </a:ln>
        </p:spPr>
      </p:sp>
      <p:sp>
        <p:nvSpPr>
          <p:cNvPr id="6" name="">
            <a:extLst xmlns:a="http://schemas.openxmlformats.org/drawingml/2006/main">
              <a:ext uri="{FF2B5EF4-FFF2-40B4-BE49-F238E27FC236}">
                <a16:creationId xmlns:a16="http://schemas.microsoft.com/office/drawing/2014/main" id="{0CEAE974-B9D4-4FB1-A071-AAA3799E1F9F}"/>
              </a:ext>
            </a:extLst>
          </p:cNvPr>
          <p:cNvSpPr>
            <a:spLocks xmlns:a="http://schemas.openxmlformats.org/drawingml/2006/main" noGrp="1"/>
          </p:cNvSpPr>
          <p:nvPr/>
        </p:nvSpPr>
        <p:spPr>
          <a:xfrm xmlns:a="http://schemas.openxmlformats.org/drawingml/2006/main">
            <a:off x="762000" y="2266950"/>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007C77"/>
                </a:solidFill>
                <a:latin typeface="Avenir Next"/>
                <a:ea typeface="Avenir Next"/>
                <a:cs typeface="Avenir Next"/>
              </a:defRPr>
            </a:pPr>
            <a:r>
              <a:rPr sz="1050" b="1">
                <a:solidFill>
                  <a:srgbClr val="007C77"/>
                </a:solidFill>
                <a:latin typeface="Avenir Next"/>
                <a:ea typeface="Avenir Next"/>
                <a:cs typeface="Avenir Next"/>
              </a:rPr>
              <a:t>RELATIONAL ALGEBRA</a:t>
            </a:r>
          </a:p>
        </p:txBody>
      </p:sp>
      <p:sp>
        <p:nvSpPr>
          <p:cNvPr id="7" name="">
            <a:extLst xmlns:a="http://schemas.openxmlformats.org/drawingml/2006/main">
              <a:ext uri="{FF2B5EF4-FFF2-40B4-BE49-F238E27FC236}">
                <a16:creationId xmlns:a16="http://schemas.microsoft.com/office/drawing/2014/main" id="{98C38E7B-97AF-45FF-AF41-D878FEBBE5E9}"/>
              </a:ext>
            </a:extLst>
          </p:cNvPr>
          <p:cNvSpPr>
            <a:spLocks xmlns:a="http://schemas.openxmlformats.org/drawingml/2006/main" noGrp="1"/>
          </p:cNvSpPr>
          <p:nvPr/>
        </p:nvSpPr>
        <p:spPr>
          <a:xfrm xmlns:a="http://schemas.openxmlformats.org/drawingml/2006/main">
            <a:off x="762000" y="2609850"/>
            <a:ext cx="45339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π title, name (</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σ status = 'open' (</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tickets ⋈ requester_id = user_id users</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  )</a:t>
            </a:r>
          </a:p>
          <a:p xmlns:a="http://schemas.openxmlformats.org/drawingml/2006/main">
            <a:pPr>
              <a:lnSpc>
                <a:spcPct val="115000"/>
              </a:lnSpc>
              <a:buNone/>
              <a:defRPr sz="1500">
                <a:solidFill>
                  <a:srgbClr val="F8FAFC"/>
                </a:solidFill>
                <a:latin typeface="Menlo"/>
                <a:ea typeface="Menlo"/>
                <a:cs typeface="Menlo"/>
              </a:defRPr>
            </a:pPr>
            <a:r>
              <a:rPr sz="1500">
                <a:solidFill>
                  <a:srgbClr val="F8FAFC"/>
                </a:solidFill>
                <a:latin typeface="Menlo"/>
                <a:ea typeface="Menlo"/>
                <a:cs typeface="Menlo"/>
              </a:rPr>
              <a:t>)</a:t>
            </a:r>
          </a:p>
        </p:txBody>
      </p:sp>
      <p:sp>
        <p:nvSpPr>
          <p:cNvPr id="8" name="code-block">
            <a:extLst xmlns:a="http://schemas.openxmlformats.org/drawingml/2006/main">
              <a:ext uri="{FF2B5EF4-FFF2-40B4-BE49-F238E27FC236}">
                <a16:creationId xmlns:a16="http://schemas.microsoft.com/office/drawing/2014/main" id="{E6E26777-D021-490E-8829-B8B1B4EA761D}"/>
              </a:ext>
            </a:extLst>
          </p:cNvPr>
          <p:cNvSpPr>
            <a:spLocks xmlns:a="http://schemas.openxmlformats.org/drawingml/2006/main" noGrp="1"/>
          </p:cNvSpPr>
          <p:nvPr/>
        </p:nvSpPr>
        <p:spPr>
          <a:xfrm xmlns:a="http://schemas.openxmlformats.org/drawingml/2006/main">
            <a:off x="6686550" y="2133600"/>
            <a:ext cx="4953000" cy="3143250"/>
          </a:xfrm>
          <a:prstGeom xmlns:a="http://schemas.openxmlformats.org/drawingml/2006/main" prst="roundRect">
            <a:avLst>
              <a:gd name="adj" fmla="val 4848"/>
            </a:avLst>
          </a:prstGeom>
          <a:solidFill xmlns:a="http://schemas.openxmlformats.org/drawingml/2006/main">
            <a:srgbClr val="172033"/>
          </a:solidFill>
          <a:ln xmlns:a="http://schemas.openxmlformats.org/drawingml/2006/main" w="9525">
            <a:solidFill>
              <a:srgbClr val="2D3953"/>
            </a:solidFill>
            <a:prstDash val="solid"/>
          </a:ln>
        </p:spPr>
      </p:sp>
      <p:sp>
        <p:nvSpPr>
          <p:cNvPr id="9" name="">
            <a:extLst xmlns:a="http://schemas.openxmlformats.org/drawingml/2006/main">
              <a:ext uri="{FF2B5EF4-FFF2-40B4-BE49-F238E27FC236}">
                <a16:creationId xmlns:a16="http://schemas.microsoft.com/office/drawing/2014/main" id="{268DC944-0006-46FC-BB1F-03095BFCA26A}"/>
              </a:ext>
            </a:extLst>
          </p:cNvPr>
          <p:cNvSpPr>
            <a:spLocks xmlns:a="http://schemas.openxmlformats.org/drawingml/2006/main" noGrp="1"/>
          </p:cNvSpPr>
          <p:nvPr/>
        </p:nvSpPr>
        <p:spPr>
          <a:xfrm xmlns:a="http://schemas.openxmlformats.org/drawingml/2006/main">
            <a:off x="6896100" y="2266950"/>
            <a:ext cx="453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050" b="1">
                <a:solidFill>
                  <a:srgbClr val="F4A261"/>
                </a:solidFill>
                <a:latin typeface="Avenir Next"/>
                <a:ea typeface="Avenir Next"/>
                <a:cs typeface="Avenir Next"/>
              </a:defRPr>
            </a:pPr>
            <a:r>
              <a:rPr sz="1050" b="1">
                <a:solidFill>
                  <a:srgbClr val="F4A261"/>
                </a:solidFill>
                <a:latin typeface="Avenir Next"/>
                <a:ea typeface="Avenir Next"/>
                <a:cs typeface="Avenir Next"/>
              </a:rPr>
              <a:t>SQL</a:t>
            </a:r>
          </a:p>
        </p:txBody>
      </p:sp>
      <p:sp>
        <p:nvSpPr>
          <p:cNvPr id="10" name="">
            <a:extLst xmlns:a="http://schemas.openxmlformats.org/drawingml/2006/main">
              <a:ext uri="{FF2B5EF4-FFF2-40B4-BE49-F238E27FC236}">
                <a16:creationId xmlns:a16="http://schemas.microsoft.com/office/drawing/2014/main" id="{36B19FBA-F99F-4376-968B-DC18D4B92BEE}"/>
              </a:ext>
            </a:extLst>
          </p:cNvPr>
          <p:cNvSpPr>
            <a:spLocks xmlns:a="http://schemas.openxmlformats.org/drawingml/2006/main" noGrp="1"/>
          </p:cNvSpPr>
          <p:nvPr/>
        </p:nvSpPr>
        <p:spPr>
          <a:xfrm xmlns:a="http://schemas.openxmlformats.org/drawingml/2006/main">
            <a:off x="6896100" y="2609850"/>
            <a:ext cx="45339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SELECT t.title, u.name</a:t>
            </a:r>
          </a:p>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FROM tickets AS t</a:t>
            </a:r>
          </a:p>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JOIN users AS u</a:t>
            </a:r>
          </a:p>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  ON t.requester_id = u.user_id</a:t>
            </a:r>
          </a:p>
          <a:p xmlns:a="http://schemas.openxmlformats.org/drawingml/2006/main">
            <a:pPr>
              <a:lnSpc>
                <a:spcPct val="115000"/>
              </a:lnSpc>
              <a:buNone/>
              <a:defRPr sz="1425">
                <a:solidFill>
                  <a:srgbClr val="F8FAFC"/>
                </a:solidFill>
                <a:latin typeface="Menlo"/>
                <a:ea typeface="Menlo"/>
                <a:cs typeface="Menlo"/>
              </a:defRPr>
            </a:pPr>
            <a:r>
              <a:rPr sz="1425">
                <a:solidFill>
                  <a:srgbClr val="F8FAFC"/>
                </a:solidFill>
                <a:latin typeface="Menlo"/>
                <a:ea typeface="Menlo"/>
                <a:cs typeface="Menlo"/>
              </a:rPr>
              <a:t>WHERE t.status = 'open';</a:t>
            </a:r>
          </a:p>
        </p:txBody>
      </p:sp>
      <p:sp>
        <p:nvSpPr>
          <p:cNvPr id="11" name="">
            <a:extLst xmlns:a="http://schemas.openxmlformats.org/drawingml/2006/main">
              <a:ext uri="{FF2B5EF4-FFF2-40B4-BE49-F238E27FC236}">
                <a16:creationId xmlns:a16="http://schemas.microsoft.com/office/drawing/2014/main" id="{6178B4F3-C142-4C3E-9224-6C327CEC1BF4}"/>
              </a:ext>
            </a:extLst>
          </p:cNvPr>
          <p:cNvSpPr>
            <a:spLocks xmlns:a="http://schemas.openxmlformats.org/drawingml/2006/main" noGrp="1"/>
          </p:cNvSpPr>
          <p:nvPr/>
        </p:nvSpPr>
        <p:spPr>
          <a:xfrm xmlns:a="http://schemas.openxmlformats.org/drawingml/2006/main">
            <a:off x="5638800" y="3267075"/>
            <a:ext cx="914400" cy="628650"/>
          </a:xfrm>
          <a:prstGeom xmlns:a="http://schemas.openxmlformats.org/drawingml/2006/main" prst="rightArrow">
            <a:avLst/>
          </a:prstGeom>
          <a:solidFill xmlns:a="http://schemas.openxmlformats.org/drawingml/2006/main">
            <a:srgbClr val="0B5FFF"/>
          </a:solidFill>
          <a:ln xmlns:a="http://schemas.openxmlformats.org/drawingml/2006/main" w="0">
            <a:solidFill>
              <a:srgbClr val="0B5FFF"/>
            </a:solidFill>
            <a:prstDash val="solid"/>
          </a:ln>
        </p:spPr>
      </p:sp>
      <p:sp>
        <p:nvSpPr>
          <p:cNvPr id="12" name="">
            <a:extLst xmlns:a="http://schemas.openxmlformats.org/drawingml/2006/main">
              <a:ext uri="{FF2B5EF4-FFF2-40B4-BE49-F238E27FC236}">
                <a16:creationId xmlns:a16="http://schemas.microsoft.com/office/drawing/2014/main" id="{5072F54C-C269-4314-9096-6F784F52BFE8}"/>
              </a:ext>
            </a:extLst>
          </p:cNvPr>
          <p:cNvSpPr>
            <a:spLocks xmlns:a="http://schemas.openxmlformats.org/drawingml/2006/main" noGrp="1"/>
          </p:cNvSpPr>
          <p:nvPr/>
        </p:nvSpPr>
        <p:spPr>
          <a:xfrm xmlns:a="http://schemas.openxmlformats.org/drawingml/2006/main">
            <a:off x="1704975" y="5667375"/>
            <a:ext cx="2686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1  join related facts</a:t>
            </a:r>
          </a:p>
        </p:txBody>
      </p:sp>
      <p:sp>
        <p:nvSpPr>
          <p:cNvPr id="13" name="">
            <a:extLst xmlns:a="http://schemas.openxmlformats.org/drawingml/2006/main">
              <a:ext uri="{FF2B5EF4-FFF2-40B4-BE49-F238E27FC236}">
                <a16:creationId xmlns:a16="http://schemas.microsoft.com/office/drawing/2014/main" id="{5B626F0D-48BD-4947-8ED6-CED705FB27A3}"/>
              </a:ext>
            </a:extLst>
          </p:cNvPr>
          <p:cNvSpPr>
            <a:spLocks xmlns:a="http://schemas.openxmlformats.org/drawingml/2006/main" noGrp="1"/>
          </p:cNvSpPr>
          <p:nvPr/>
        </p:nvSpPr>
        <p:spPr>
          <a:xfrm xmlns:a="http://schemas.openxmlformats.org/drawingml/2006/main">
            <a:off x="4752975" y="5667375"/>
            <a:ext cx="2686050" cy="323850"/>
          </a:xfrm>
          <a:prstGeom xmlns:a="http://schemas.openxmlformats.org/drawingml/2006/main" prst="roundRect">
            <a:avLst>
              <a:gd name="adj" fmla="val 50000"/>
            </a:avLst>
          </a:prstGeom>
          <a:solidFill xmlns:a="http://schemas.openxmlformats.org/drawingml/2006/main">
            <a:srgbClr val="F4A261"/>
          </a:solidFill>
          <a:ln xmlns:a="http://schemas.openxmlformats.org/drawingml/2006/main" w="9525">
            <a:solidFill>
              <a:srgbClr val="F4A261"/>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14213D"/>
                </a:solidFill>
                <a:latin typeface="Avenir Next"/>
                <a:ea typeface="Avenir Next"/>
                <a:cs typeface="Avenir Next"/>
              </a:defRPr>
            </a:pPr>
            <a:r>
              <a:rPr sz="1050" b="1">
                <a:solidFill>
                  <a:srgbClr val="14213D"/>
                </a:solidFill>
                <a:latin typeface="Avenir Next"/>
                <a:ea typeface="Avenir Next"/>
                <a:cs typeface="Avenir Next"/>
              </a:rPr>
              <a:t>2  select open tickets</a:t>
            </a:r>
          </a:p>
        </p:txBody>
      </p:sp>
      <p:sp>
        <p:nvSpPr>
          <p:cNvPr id="14" name="">
            <a:extLst xmlns:a="http://schemas.openxmlformats.org/drawingml/2006/main">
              <a:ext uri="{FF2B5EF4-FFF2-40B4-BE49-F238E27FC236}">
                <a16:creationId xmlns:a16="http://schemas.microsoft.com/office/drawing/2014/main" id="{4B8F9FA9-3680-4F0A-B86E-327E62FB4015}"/>
              </a:ext>
            </a:extLst>
          </p:cNvPr>
          <p:cNvSpPr>
            <a:spLocks xmlns:a="http://schemas.openxmlformats.org/drawingml/2006/main" noGrp="1"/>
          </p:cNvSpPr>
          <p:nvPr/>
        </p:nvSpPr>
        <p:spPr>
          <a:xfrm xmlns:a="http://schemas.openxmlformats.org/drawingml/2006/main">
            <a:off x="7800975" y="5667375"/>
            <a:ext cx="268605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3  project title + name</a:t>
            </a:r>
          </a:p>
        </p:txBody>
      </p:sp>
    </p:spTree>
    <p:extLst>
      <p:ext uri="{BB962C8B-B14F-4D97-AF65-F5344CB8AC3E}">
        <p14:creationId xmlns:p14="http://schemas.microsoft.com/office/powerpoint/2010/main" val="1018507781"/>
      </p:ext>
    </p:extLst>
  </p:cSld>
</p:sld>
</file>

<file path=ppt/slides/slide20.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C81B103-2D23-4996-AB3B-DF7D74C9A744}"/>
              </a:ext>
            </a:extLst>
          </p:cNvPr>
          <p:cNvSpPr>
            <a:spLocks xmlns:a="http://schemas.openxmlformats.org/drawingml/2006/main" noGrp="1"/>
          </p:cNvSpPr>
          <p:nvPr/>
        </p:nvSpPr>
        <p:spPr>
          <a:xfrm xmlns:a="http://schemas.openxmlformats.org/drawingml/2006/main">
            <a:off x="552450" y="400050"/>
            <a:ext cx="1447800" cy="323850"/>
          </a:xfrm>
          <a:prstGeom xmlns:a="http://schemas.openxmlformats.org/drawingml/2006/main" prst="roundRect">
            <a:avLst>
              <a:gd name="adj" fmla="val 50000"/>
            </a:avLst>
          </a:prstGeom>
          <a:solidFill xmlns:a="http://schemas.openxmlformats.org/drawingml/2006/main">
            <a:srgbClr val="14213D"/>
          </a:solidFill>
          <a:ln xmlns:a="http://schemas.openxmlformats.org/drawingml/2006/main" w="9525">
            <a:solidFill>
              <a:srgbClr val="14213D"/>
            </a:solidFill>
            <a:prstDash val="solid"/>
          </a:ln>
        </p:spPr>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1050" b="1">
                <a:solidFill>
                  <a:srgbClr val="FFFFFF"/>
                </a:solidFill>
                <a:latin typeface="Avenir Next"/>
                <a:ea typeface="Avenir Next"/>
                <a:cs typeface="Avenir Next"/>
              </a:defRPr>
            </a:pPr>
            <a:r>
              <a:rPr sz="1050" b="1">
                <a:solidFill>
                  <a:srgbClr val="FFFFFF"/>
                </a:solidFill>
                <a:latin typeface="Avenir Next"/>
                <a:ea typeface="Avenir Next"/>
                <a:cs typeface="Avenir Next"/>
              </a:rPr>
              <a:t>WEEK 1 RECAP</a:t>
            </a:r>
          </a:p>
        </p:txBody>
      </p:sp>
      <p:sp>
        <p:nvSpPr>
          <p:cNvPr id="2" name="slide-title">
            <a:extLst xmlns:a="http://schemas.openxmlformats.org/drawingml/2006/main">
              <a:ext uri="{FF2B5EF4-FFF2-40B4-BE49-F238E27FC236}">
                <a16:creationId xmlns:a16="http://schemas.microsoft.com/office/drawing/2014/main" id="{18232E54-9104-4342-8A4D-FFE333B08FC5}"/>
              </a:ext>
            </a:extLst>
          </p:cNvPr>
          <p:cNvSpPr>
            <a:spLocks xmlns:a="http://schemas.openxmlformats.org/drawingml/2006/main" noGrp="1"/>
          </p:cNvSpPr>
          <p:nvPr/>
        </p:nvSpPr>
        <p:spPr>
          <a:xfrm xmlns:a="http://schemas.openxmlformats.org/drawingml/2006/main">
            <a:off x="552450" y="876300"/>
            <a:ext cx="11087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95000"/>
              </a:lnSpc>
              <a:buNone/>
              <a:defRPr sz="3000" b="1">
                <a:solidFill>
                  <a:srgbClr val="14213D"/>
                </a:solidFill>
                <a:latin typeface="Georgia"/>
                <a:ea typeface="Georgia"/>
                <a:cs typeface="Georgia"/>
              </a:defRPr>
            </a:pPr>
            <a:r>
              <a:rPr sz="3000" b="1">
                <a:solidFill>
                  <a:srgbClr val="14213D"/>
                </a:solidFill>
                <a:latin typeface="Georgia"/>
                <a:ea typeface="Georgia"/>
                <a:cs typeface="Georgia"/>
              </a:rPr>
              <a:t>A database course starts with systems and meaning</a:t>
            </a:r>
          </a:p>
        </p:txBody>
      </p:sp>
      <p:sp>
        <p:nvSpPr>
          <p:cNvPr id="3" name="">
            <a:extLst xmlns:a="http://schemas.openxmlformats.org/drawingml/2006/main">
              <a:ext uri="{FF2B5EF4-FFF2-40B4-BE49-F238E27FC236}">
                <a16:creationId xmlns:a16="http://schemas.microsoft.com/office/drawing/2014/main" id="{1C3EC2AD-DA15-4EE2-B5C5-48AA8EF7B0CD}"/>
              </a:ext>
            </a:extLst>
          </p:cNvPr>
          <p:cNvSpPr>
            <a:spLocks xmlns:a="http://schemas.openxmlformats.org/drawingml/2006/main" noGrp="1"/>
          </p:cNvSpPr>
          <p:nvPr/>
        </p:nvSpPr>
        <p:spPr>
          <a:xfrm xmlns:a="http://schemas.openxmlformats.org/drawingml/2006/main">
            <a:off x="571500" y="1562100"/>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425">
                <a:solidFill>
                  <a:srgbClr val="5C6577"/>
                </a:solidFill>
                <a:latin typeface="Avenir Next"/>
                <a:ea typeface="Avenir Next"/>
                <a:cs typeface="Avenir Next"/>
              </a:defRPr>
            </a:pPr>
            <a:r>
              <a:rPr sz="1425">
                <a:solidFill>
                  <a:srgbClr val="5C6577"/>
                </a:solidFill>
                <a:latin typeface="Avenir Next"/>
                <a:ea typeface="Avenir Next"/>
                <a:cs typeface="Avenir Next"/>
              </a:rPr>
              <a:t>Next: SQL retrieval, joins, grouping, subqueries, and window functions.</a:t>
            </a:r>
          </a:p>
        </p:txBody>
      </p:sp>
      <p:sp>
        <p:nvSpPr>
          <p:cNvPr id="4" name="">
            <a:extLst xmlns:a="http://schemas.openxmlformats.org/drawingml/2006/main">
              <a:ext uri="{FF2B5EF4-FFF2-40B4-BE49-F238E27FC236}">
                <a16:creationId xmlns:a16="http://schemas.microsoft.com/office/drawing/2014/main" id="{00C5AAE2-2C31-4E2C-873D-52C5D7F527C5}"/>
              </a:ext>
            </a:extLst>
          </p:cNvPr>
          <p:cNvSpPr>
            <a:spLocks xmlns:a="http://schemas.openxmlformats.org/drawingml/2006/main" noGrp="1"/>
          </p:cNvSpPr>
          <p:nvPr/>
        </p:nvSpPr>
        <p:spPr>
          <a:xfrm xmlns:a="http://schemas.openxmlformats.org/drawingml/2006/main">
            <a:off x="11144250" y="6334125"/>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a:solidFill>
                  <a:srgbClr val="5C6577"/>
                </a:solidFill>
                <a:latin typeface="Menlo"/>
                <a:ea typeface="Menlo"/>
                <a:cs typeface="Menlo"/>
              </a:defRPr>
            </a:pPr>
            <a:r>
              <a:rPr sz="1050" b="1">
                <a:solidFill>
                  <a:srgbClr val="5C6577"/>
                </a:solidFill>
                <a:latin typeface="Menlo"/>
                <a:ea typeface="Menlo"/>
                <a:cs typeface="Menlo"/>
              </a:rPr>
              <a:t>20</a:t>
            </a:r>
          </a:p>
        </p:txBody>
      </p:sp>
      <p:sp>
        <p:nvSpPr>
          <p:cNvPr id="5" name="">
            <a:extLst xmlns:a="http://schemas.openxmlformats.org/drawingml/2006/main">
              <a:ext uri="{FF2B5EF4-FFF2-40B4-BE49-F238E27FC236}">
                <a16:creationId xmlns:a16="http://schemas.microsoft.com/office/drawing/2014/main" id="{C000E765-BC5F-474F-91DC-B50C22A00D45}"/>
              </a:ext>
            </a:extLst>
          </p:cNvPr>
          <p:cNvSpPr>
            <a:spLocks xmlns:a="http://schemas.openxmlformats.org/drawingml/2006/main" noGrp="1"/>
          </p:cNvSpPr>
          <p:nvPr/>
        </p:nvSpPr>
        <p:spPr>
          <a:xfrm xmlns:a="http://schemas.openxmlformats.org/drawingml/2006/main">
            <a:off x="552450" y="2143125"/>
            <a:ext cx="5219700" cy="1257300"/>
          </a:xfrm>
          <a:prstGeom xmlns:a="http://schemas.openxmlformats.org/drawingml/2006/main" prst="roundRect">
            <a:avLst>
              <a:gd name="adj" fmla="val 13636"/>
            </a:avLst>
          </a:prstGeom>
          <a:solidFill xmlns:a="http://schemas.openxmlformats.org/drawingml/2006/main">
            <a:srgbClr val="DCEBFF"/>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0B88D4A-4BA3-483C-8DDB-15D08E810EA0}"/>
              </a:ext>
            </a:extLst>
          </p:cNvPr>
          <p:cNvSpPr>
            <a:spLocks xmlns:a="http://schemas.openxmlformats.org/drawingml/2006/main" noGrp="1"/>
          </p:cNvSpPr>
          <p:nvPr/>
        </p:nvSpPr>
        <p:spPr>
          <a:xfrm xmlns:a="http://schemas.openxmlformats.org/drawingml/2006/main">
            <a:off x="552450" y="2143125"/>
            <a:ext cx="76200" cy="1257300"/>
          </a:xfrm>
          <a:prstGeom xmlns:a="http://schemas.openxmlformats.org/drawingml/2006/main" prst="rect">
            <a:avLst/>
          </a:prstGeom>
          <a:solidFill xmlns:a="http://schemas.openxmlformats.org/drawingml/2006/main">
            <a:srgbClr val="0B5FFF"/>
          </a:solidFill>
          <a:ln xmlns:a="http://schemas.openxmlformats.org/drawingml/2006/main" w="0">
            <a:solidFill>
              <a:srgbClr val="0B5FFF"/>
            </a:solidFill>
            <a:prstDash val="solid"/>
          </a:ln>
        </p:spPr>
      </p:sp>
      <p:sp>
        <p:nvSpPr>
          <p:cNvPr id="7" name="">
            <a:extLst xmlns:a="http://schemas.openxmlformats.org/drawingml/2006/main">
              <a:ext uri="{FF2B5EF4-FFF2-40B4-BE49-F238E27FC236}">
                <a16:creationId xmlns:a16="http://schemas.microsoft.com/office/drawing/2014/main" id="{9F6257C1-A57D-452E-8060-DCE762E22273}"/>
              </a:ext>
            </a:extLst>
          </p:cNvPr>
          <p:cNvSpPr>
            <a:spLocks xmlns:a="http://schemas.openxmlformats.org/drawingml/2006/main" noGrp="1"/>
          </p:cNvSpPr>
          <p:nvPr/>
        </p:nvSpPr>
        <p:spPr>
          <a:xfrm xmlns:a="http://schemas.openxmlformats.org/drawingml/2006/main">
            <a:off x="800100" y="2333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800" b="1">
                <a:solidFill>
                  <a:srgbClr val="14213D"/>
                </a:solidFill>
                <a:latin typeface="Georgia"/>
                <a:ea typeface="Georgia"/>
                <a:cs typeface="Georgia"/>
              </a:defRPr>
            </a:pPr>
            <a:r>
              <a:rPr sz="1800" b="1">
                <a:solidFill>
                  <a:srgbClr val="14213D"/>
                </a:solidFill>
                <a:latin typeface="Georgia"/>
                <a:ea typeface="Georgia"/>
                <a:cs typeface="Georgia"/>
              </a:rPr>
              <a:t>Trace</a:t>
            </a:r>
          </a:p>
        </p:txBody>
      </p:sp>
      <p:sp>
        <p:nvSpPr>
          <p:cNvPr id="8" name="">
            <a:extLst xmlns:a="http://schemas.openxmlformats.org/drawingml/2006/main">
              <a:ext uri="{FF2B5EF4-FFF2-40B4-BE49-F238E27FC236}">
                <a16:creationId xmlns:a16="http://schemas.microsoft.com/office/drawing/2014/main" id="{3D0A8481-E1B1-4B53-AF80-4FAFB267518C}"/>
              </a:ext>
            </a:extLst>
          </p:cNvPr>
          <p:cNvSpPr>
            <a:spLocks xmlns:a="http://schemas.openxmlformats.org/drawingml/2006/main" noGrp="1"/>
          </p:cNvSpPr>
          <p:nvPr/>
        </p:nvSpPr>
        <p:spPr>
          <a:xfrm xmlns:a="http://schemas.openxmlformats.org/drawingml/2006/main">
            <a:off x="800100" y="2781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client → API → identity → DBMS → data</a:t>
            </a:r>
          </a:p>
        </p:txBody>
      </p:sp>
      <p:sp>
        <p:nvSpPr>
          <p:cNvPr id="9" name="">
            <a:extLst xmlns:a="http://schemas.openxmlformats.org/drawingml/2006/main">
              <a:ext uri="{FF2B5EF4-FFF2-40B4-BE49-F238E27FC236}">
                <a16:creationId xmlns:a16="http://schemas.microsoft.com/office/drawing/2014/main" id="{894029D4-46E8-4ACD-A973-EAB4581971ED}"/>
              </a:ext>
            </a:extLst>
          </p:cNvPr>
          <p:cNvSpPr>
            <a:spLocks xmlns:a="http://schemas.openxmlformats.org/drawingml/2006/main" noGrp="1"/>
          </p:cNvSpPr>
          <p:nvPr/>
        </p:nvSpPr>
        <p:spPr>
          <a:xfrm xmlns:a="http://schemas.openxmlformats.org/drawingml/2006/main">
            <a:off x="6096000" y="2143125"/>
            <a:ext cx="5219700" cy="1257300"/>
          </a:xfrm>
          <a:prstGeom xmlns:a="http://schemas.openxmlformats.org/drawingml/2006/main" prst="roundRect">
            <a:avLst>
              <a:gd name="adj" fmla="val 13636"/>
            </a:avLst>
          </a:prstGeom>
          <a:solidFill xmlns:a="http://schemas.openxmlformats.org/drawingml/2006/main">
            <a:srgbClr val="FCE7D2"/>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1AED7ED8-D203-4EDD-B55D-AD04949BAFE7}"/>
              </a:ext>
            </a:extLst>
          </p:cNvPr>
          <p:cNvSpPr>
            <a:spLocks xmlns:a="http://schemas.openxmlformats.org/drawingml/2006/main" noGrp="1"/>
          </p:cNvSpPr>
          <p:nvPr/>
        </p:nvSpPr>
        <p:spPr>
          <a:xfrm xmlns:a="http://schemas.openxmlformats.org/drawingml/2006/main">
            <a:off x="6096000" y="2143125"/>
            <a:ext cx="76200" cy="1257300"/>
          </a:xfrm>
          <a:prstGeom xmlns:a="http://schemas.openxmlformats.org/drawingml/2006/main" prst="rect">
            <a:avLst/>
          </a:prstGeom>
          <a:solidFill xmlns:a="http://schemas.openxmlformats.org/drawingml/2006/main">
            <a:srgbClr val="F4A261"/>
          </a:solidFill>
          <a:ln xmlns:a="http://schemas.openxmlformats.org/drawingml/2006/main" w="0">
            <a:solidFill>
              <a:srgbClr val="F4A261"/>
            </a:solidFill>
            <a:prstDash val="solid"/>
          </a:ln>
        </p:spPr>
      </p:sp>
      <p:sp>
        <p:nvSpPr>
          <p:cNvPr id="11" name="">
            <a:extLst xmlns:a="http://schemas.openxmlformats.org/drawingml/2006/main">
              <a:ext uri="{FF2B5EF4-FFF2-40B4-BE49-F238E27FC236}">
                <a16:creationId xmlns:a16="http://schemas.microsoft.com/office/drawing/2014/main" id="{962780DE-6947-4571-844E-119DFCF97002}"/>
              </a:ext>
            </a:extLst>
          </p:cNvPr>
          <p:cNvSpPr>
            <a:spLocks xmlns:a="http://schemas.openxmlformats.org/drawingml/2006/main" noGrp="1"/>
          </p:cNvSpPr>
          <p:nvPr/>
        </p:nvSpPr>
        <p:spPr>
          <a:xfrm xmlns:a="http://schemas.openxmlformats.org/drawingml/2006/main">
            <a:off x="6343650" y="233362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800" b="1">
                <a:solidFill>
                  <a:srgbClr val="14213D"/>
                </a:solidFill>
                <a:latin typeface="Georgia"/>
                <a:ea typeface="Georgia"/>
                <a:cs typeface="Georgia"/>
              </a:defRPr>
            </a:pPr>
            <a:r>
              <a:rPr sz="1800" b="1">
                <a:solidFill>
                  <a:srgbClr val="14213D"/>
                </a:solidFill>
                <a:latin typeface="Georgia"/>
                <a:ea typeface="Georgia"/>
                <a:cs typeface="Georgia"/>
              </a:rPr>
              <a:t>Distinguish</a:t>
            </a:r>
          </a:p>
        </p:txBody>
      </p:sp>
      <p:sp>
        <p:nvSpPr>
          <p:cNvPr id="12" name="">
            <a:extLst xmlns:a="http://schemas.openxmlformats.org/drawingml/2006/main">
              <a:ext uri="{FF2B5EF4-FFF2-40B4-BE49-F238E27FC236}">
                <a16:creationId xmlns:a16="http://schemas.microsoft.com/office/drawing/2014/main" id="{79932E23-C438-415A-A659-03197F8EA8CE}"/>
              </a:ext>
            </a:extLst>
          </p:cNvPr>
          <p:cNvSpPr>
            <a:spLocks xmlns:a="http://schemas.openxmlformats.org/drawingml/2006/main" noGrp="1"/>
          </p:cNvSpPr>
          <p:nvPr/>
        </p:nvSpPr>
        <p:spPr>
          <a:xfrm xmlns:a="http://schemas.openxmlformats.org/drawingml/2006/main">
            <a:off x="6343650" y="2781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database ≠ DBMS ≠ managed platform</a:t>
            </a:r>
          </a:p>
        </p:txBody>
      </p:sp>
      <p:sp>
        <p:nvSpPr>
          <p:cNvPr id="13" name="">
            <a:extLst xmlns:a="http://schemas.openxmlformats.org/drawingml/2006/main">
              <a:ext uri="{FF2B5EF4-FFF2-40B4-BE49-F238E27FC236}">
                <a16:creationId xmlns:a16="http://schemas.microsoft.com/office/drawing/2014/main" id="{7568CB09-B98A-4C01-AF6E-B03E838D6981}"/>
              </a:ext>
            </a:extLst>
          </p:cNvPr>
          <p:cNvSpPr>
            <a:spLocks xmlns:a="http://schemas.openxmlformats.org/drawingml/2006/main" noGrp="1"/>
          </p:cNvSpPr>
          <p:nvPr/>
        </p:nvSpPr>
        <p:spPr>
          <a:xfrm xmlns:a="http://schemas.openxmlformats.org/drawingml/2006/main">
            <a:off x="552450" y="3686175"/>
            <a:ext cx="5219700" cy="1257300"/>
          </a:xfrm>
          <a:prstGeom xmlns:a="http://schemas.openxmlformats.org/drawingml/2006/main" prst="roundRect">
            <a:avLst>
              <a:gd name="adj" fmla="val 13636"/>
            </a:avLst>
          </a:prstGeom>
          <a:solidFill xmlns:a="http://schemas.openxmlformats.org/drawingml/2006/main">
            <a:srgbClr val="DDF3EE"/>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CBA1EA09-16A0-4E26-990A-976160FD3074}"/>
              </a:ext>
            </a:extLst>
          </p:cNvPr>
          <p:cNvSpPr>
            <a:spLocks xmlns:a="http://schemas.openxmlformats.org/drawingml/2006/main" noGrp="1"/>
          </p:cNvSpPr>
          <p:nvPr/>
        </p:nvSpPr>
        <p:spPr>
          <a:xfrm xmlns:a="http://schemas.openxmlformats.org/drawingml/2006/main">
            <a:off x="552450" y="3686175"/>
            <a:ext cx="76200" cy="1257300"/>
          </a:xfrm>
          <a:prstGeom xmlns:a="http://schemas.openxmlformats.org/drawingml/2006/main" prst="rect">
            <a:avLst/>
          </a:prstGeom>
          <a:solidFill xmlns:a="http://schemas.openxmlformats.org/drawingml/2006/main">
            <a:srgbClr val="007C77"/>
          </a:solidFill>
          <a:ln xmlns:a="http://schemas.openxmlformats.org/drawingml/2006/main" w="0">
            <a:solidFill>
              <a:srgbClr val="007C77"/>
            </a:solidFill>
            <a:prstDash val="solid"/>
          </a:ln>
        </p:spPr>
      </p:sp>
      <p:sp>
        <p:nvSpPr>
          <p:cNvPr id="15" name="">
            <a:extLst xmlns:a="http://schemas.openxmlformats.org/drawingml/2006/main">
              <a:ext uri="{FF2B5EF4-FFF2-40B4-BE49-F238E27FC236}">
                <a16:creationId xmlns:a16="http://schemas.microsoft.com/office/drawing/2014/main" id="{84972099-D3C8-4C9B-A61B-260B15701DA7}"/>
              </a:ext>
            </a:extLst>
          </p:cNvPr>
          <p:cNvSpPr>
            <a:spLocks xmlns:a="http://schemas.openxmlformats.org/drawingml/2006/main" noGrp="1"/>
          </p:cNvSpPr>
          <p:nvPr/>
        </p:nvSpPr>
        <p:spPr>
          <a:xfrm xmlns:a="http://schemas.openxmlformats.org/drawingml/2006/main">
            <a:off x="800100" y="387667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800" b="1">
                <a:solidFill>
                  <a:srgbClr val="14213D"/>
                </a:solidFill>
                <a:latin typeface="Georgia"/>
                <a:ea typeface="Georgia"/>
                <a:cs typeface="Georgia"/>
              </a:defRPr>
            </a:pPr>
            <a:r>
              <a:rPr sz="1800" b="1">
                <a:solidFill>
                  <a:srgbClr val="14213D"/>
                </a:solidFill>
                <a:latin typeface="Georgia"/>
                <a:ea typeface="Georgia"/>
                <a:cs typeface="Georgia"/>
              </a:rPr>
              <a:t>Model</a:t>
            </a:r>
          </a:p>
        </p:txBody>
      </p:sp>
      <p:sp>
        <p:nvSpPr>
          <p:cNvPr id="16" name="">
            <a:extLst xmlns:a="http://schemas.openxmlformats.org/drawingml/2006/main">
              <a:ext uri="{FF2B5EF4-FFF2-40B4-BE49-F238E27FC236}">
                <a16:creationId xmlns:a16="http://schemas.microsoft.com/office/drawing/2014/main" id="{8BD27B74-E4D4-409C-B588-FA54A0697364}"/>
              </a:ext>
            </a:extLst>
          </p:cNvPr>
          <p:cNvSpPr>
            <a:spLocks xmlns:a="http://schemas.openxmlformats.org/drawingml/2006/main" noGrp="1"/>
          </p:cNvSpPr>
          <p:nvPr/>
        </p:nvSpPr>
        <p:spPr>
          <a:xfrm xmlns:a="http://schemas.openxmlformats.org/drawingml/2006/main">
            <a:off x="800100" y="43243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relations, attributes, tuples, domains, keys</a:t>
            </a:r>
          </a:p>
        </p:txBody>
      </p:sp>
      <p:sp>
        <p:nvSpPr>
          <p:cNvPr id="17" name="">
            <a:extLst xmlns:a="http://schemas.openxmlformats.org/drawingml/2006/main">
              <a:ext uri="{FF2B5EF4-FFF2-40B4-BE49-F238E27FC236}">
                <a16:creationId xmlns:a16="http://schemas.microsoft.com/office/drawing/2014/main" id="{ACE2AF17-AEA5-4BC2-A128-3A197C2227FB}"/>
              </a:ext>
            </a:extLst>
          </p:cNvPr>
          <p:cNvSpPr>
            <a:spLocks xmlns:a="http://schemas.openxmlformats.org/drawingml/2006/main" noGrp="1"/>
          </p:cNvSpPr>
          <p:nvPr/>
        </p:nvSpPr>
        <p:spPr>
          <a:xfrm xmlns:a="http://schemas.openxmlformats.org/drawingml/2006/main">
            <a:off x="6096000" y="3686175"/>
            <a:ext cx="5219700" cy="1257300"/>
          </a:xfrm>
          <a:prstGeom xmlns:a="http://schemas.openxmlformats.org/drawingml/2006/main" prst="roundRect">
            <a:avLst>
              <a:gd name="adj" fmla="val 13636"/>
            </a:avLst>
          </a:prstGeom>
          <a:solidFill xmlns:a="http://schemas.openxmlformats.org/drawingml/2006/main">
            <a:srgbClr val="FBE2DA"/>
          </a:solidFill>
          <a:ln xmlns:a="http://schemas.openxmlformats.org/drawingml/2006/main" w="9525">
            <a:solidFill>
              <a:srgbClr val="E9E4D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8" name="">
            <a:extLst xmlns:a="http://schemas.openxmlformats.org/drawingml/2006/main">
              <a:ext uri="{FF2B5EF4-FFF2-40B4-BE49-F238E27FC236}">
                <a16:creationId xmlns:a16="http://schemas.microsoft.com/office/drawing/2014/main" id="{D1214085-292D-472E-AD2A-EFDB75D4B090}"/>
              </a:ext>
            </a:extLst>
          </p:cNvPr>
          <p:cNvSpPr>
            <a:spLocks xmlns:a="http://schemas.openxmlformats.org/drawingml/2006/main" noGrp="1"/>
          </p:cNvSpPr>
          <p:nvPr/>
        </p:nvSpPr>
        <p:spPr>
          <a:xfrm xmlns:a="http://schemas.openxmlformats.org/drawingml/2006/main">
            <a:off x="6096000" y="3686175"/>
            <a:ext cx="76200" cy="1257300"/>
          </a:xfrm>
          <a:prstGeom xmlns:a="http://schemas.openxmlformats.org/drawingml/2006/main" prst="rect">
            <a:avLst/>
          </a:prstGeom>
          <a:solidFill xmlns:a="http://schemas.openxmlformats.org/drawingml/2006/main">
            <a:srgbClr val="D95D39"/>
          </a:solidFill>
          <a:ln xmlns:a="http://schemas.openxmlformats.org/drawingml/2006/main" w="0">
            <a:solidFill>
              <a:srgbClr val="D95D39"/>
            </a:solidFill>
            <a:prstDash val="solid"/>
          </a:ln>
        </p:spPr>
      </p:sp>
      <p:sp>
        <p:nvSpPr>
          <p:cNvPr id="19" name="">
            <a:extLst xmlns:a="http://schemas.openxmlformats.org/drawingml/2006/main">
              <a:ext uri="{FF2B5EF4-FFF2-40B4-BE49-F238E27FC236}">
                <a16:creationId xmlns:a16="http://schemas.microsoft.com/office/drawing/2014/main" id="{18C9DBD3-73D4-493E-8CA9-D17DE91FF3AD}"/>
              </a:ext>
            </a:extLst>
          </p:cNvPr>
          <p:cNvSpPr>
            <a:spLocks xmlns:a="http://schemas.openxmlformats.org/drawingml/2006/main" noGrp="1"/>
          </p:cNvSpPr>
          <p:nvPr/>
        </p:nvSpPr>
        <p:spPr>
          <a:xfrm xmlns:a="http://schemas.openxmlformats.org/drawingml/2006/main">
            <a:off x="6343650" y="3876675"/>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buNone/>
              <a:defRPr sz="1800" b="1">
                <a:solidFill>
                  <a:srgbClr val="14213D"/>
                </a:solidFill>
                <a:latin typeface="Georgia"/>
                <a:ea typeface="Georgia"/>
                <a:cs typeface="Georgia"/>
              </a:defRPr>
            </a:pPr>
            <a:r>
              <a:rPr sz="1800" b="1">
                <a:solidFill>
                  <a:srgbClr val="14213D"/>
                </a:solidFill>
                <a:latin typeface="Georgia"/>
                <a:ea typeface="Georgia"/>
                <a:cs typeface="Georgia"/>
              </a:rPr>
              <a:t>Transform</a:t>
            </a:r>
          </a:p>
        </p:txBody>
      </p:sp>
      <p:sp>
        <p:nvSpPr>
          <p:cNvPr id="20" name="">
            <a:extLst xmlns:a="http://schemas.openxmlformats.org/drawingml/2006/main">
              <a:ext uri="{FF2B5EF4-FFF2-40B4-BE49-F238E27FC236}">
                <a16:creationId xmlns:a16="http://schemas.microsoft.com/office/drawing/2014/main" id="{609109AE-C65F-4EDA-A59F-CF058B089824}"/>
              </a:ext>
            </a:extLst>
          </p:cNvPr>
          <p:cNvSpPr>
            <a:spLocks xmlns:a="http://schemas.openxmlformats.org/drawingml/2006/main" noGrp="1"/>
          </p:cNvSpPr>
          <p:nvPr/>
        </p:nvSpPr>
        <p:spPr>
          <a:xfrm xmlns:a="http://schemas.openxmlformats.org/drawingml/2006/main">
            <a:off x="6343650" y="43243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15000"/>
              </a:lnSpc>
              <a:buNone/>
              <a:defRPr sz="1500">
                <a:solidFill>
                  <a:srgbClr val="5C6577"/>
                </a:solidFill>
                <a:latin typeface="Avenir Next"/>
                <a:ea typeface="Avenir Next"/>
                <a:cs typeface="Avenir Next"/>
              </a:defRPr>
            </a:pPr>
            <a:r>
              <a:rPr sz="1500">
                <a:solidFill>
                  <a:srgbClr val="5C6577"/>
                </a:solidFill>
                <a:latin typeface="Avenir Next"/>
                <a:ea typeface="Avenir Next"/>
                <a:cs typeface="Avenir Next"/>
              </a:rPr>
              <a:t>σ selection · π projection · ⋈ join</a:t>
            </a:r>
          </a:p>
        </p:txBody>
      </p:sp>
      <p:sp>
        <p:nvSpPr>
          <p:cNvPr id="21" name="">
            <a:extLst xmlns:a="http://schemas.openxmlformats.org/drawingml/2006/main">
              <a:ext uri="{FF2B5EF4-FFF2-40B4-BE49-F238E27FC236}">
                <a16:creationId xmlns:a16="http://schemas.microsoft.com/office/drawing/2014/main" id="{3B33986E-1992-4236-99BD-90C015265E2F}"/>
              </a:ext>
            </a:extLst>
          </p:cNvPr>
          <p:cNvSpPr>
            <a:spLocks xmlns:a="http://schemas.openxmlformats.org/drawingml/2006/main" noGrp="1"/>
          </p:cNvSpPr>
          <p:nvPr/>
        </p:nvSpPr>
        <p:spPr>
          <a:xfrm xmlns:a="http://schemas.openxmlformats.org/drawingml/2006/main">
            <a:off x="552450" y="5524500"/>
            <a:ext cx="10763250" cy="628650"/>
          </a:xfrm>
          <a:prstGeom xmlns:a="http://schemas.openxmlformats.org/drawingml/2006/main" prst="roundRect">
            <a:avLst>
              <a:gd name="adj" fmla="val 24242"/>
            </a:avLst>
          </a:prstGeom>
          <a:solidFill xmlns:a="http://schemas.openxmlformats.org/drawingml/2006/main">
            <a:srgbClr val="14213D"/>
          </a:solidFill>
          <a:ln xmlns:a="http://schemas.openxmlformats.org/drawingml/2006/main" w="0">
            <a:solidFill>
              <a:srgbClr val="14213D"/>
            </a:solidFill>
            <a:prstDash val="solid"/>
          </a:ln>
        </p:spPr>
      </p:sp>
      <p:sp>
        <p:nvSpPr>
          <p:cNvPr id="22" name="">
            <a:extLst xmlns:a="http://schemas.openxmlformats.org/drawingml/2006/main">
              <a:ext uri="{FF2B5EF4-FFF2-40B4-BE49-F238E27FC236}">
                <a16:creationId xmlns:a16="http://schemas.microsoft.com/office/drawing/2014/main" id="{BD8A1A78-E120-46B5-AC88-556CDE7272CD}"/>
              </a:ext>
            </a:extLst>
          </p:cNvPr>
          <p:cNvSpPr>
            <a:spLocks xmlns:a="http://schemas.openxmlformats.org/drawingml/2006/main" noGrp="1"/>
          </p:cNvSpPr>
          <p:nvPr/>
        </p:nvSpPr>
        <p:spPr>
          <a:xfrm xmlns:a="http://schemas.openxmlformats.org/drawingml/2006/main">
            <a:off x="819150" y="5695950"/>
            <a:ext cx="10229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FFFFFF"/>
                </a:solidFill>
                <a:latin typeface="Avenir Next"/>
                <a:ea typeface="Avenir Next"/>
                <a:cs typeface="Avenir Next"/>
              </a:defRPr>
            </a:pPr>
            <a:r>
              <a:rPr sz="1500" b="1">
                <a:solidFill>
                  <a:srgbClr val="FFFFFF"/>
                </a:solidFill>
                <a:latin typeface="Avenir Next"/>
                <a:ea typeface="Avenir Next"/>
                <a:cs typeface="Avenir Next"/>
              </a:rPr>
              <a:t>Before Week 2: read Chapter 2, especially §§ 2.5–2.8, and bring the SQL Query Ladder lab.</a:t>
            </a:r>
          </a:p>
        </p:txBody>
      </p:sp>
    </p:spTree>
    <p:extLst>
      <p:ext uri="{BB962C8B-B14F-4D97-AF65-F5344CB8AC3E}">
        <p14:creationId xmlns:p14="http://schemas.microsoft.com/office/powerpoint/2010/main" val="1028283722"/>
      </p:ext>
    </p:extLst>
  </p:cSld>
</p:sld>
</file>

<file path=ppt/theme/theme1.xml><?xml version="1.0" encoding="utf-8"?>
<a:theme xmlns:a="http://schemas.openxmlformats.org/drawingml/2006/main" name="ChatGPT">
  <a:themeElements>
    <a:clrScheme name="CST4714 Technical Classroom">
      <a:dk1>
        <a:srgbClr val="101826"/>
      </a:dk1>
      <a:lt1>
        <a:srgbClr val="FFFFFF"/>
      </a:lt1>
      <a:dk2>
        <a:srgbClr val="14213D"/>
      </a:dk2>
      <a:lt2>
        <a:srgbClr val="E9E4D8"/>
      </a:lt2>
      <a:accent1>
        <a:srgbClr val="0B5FFF"/>
      </a:accent1>
      <a:accent2>
        <a:srgbClr val="007C77"/>
      </a:accent2>
      <a:accent3>
        <a:srgbClr val="F4A261"/>
      </a:accent3>
      <a:accent4>
        <a:srgbClr val="D95D39"/>
      </a:accent4>
      <a:accent5>
        <a:srgbClr val="2A9D6F"/>
      </a:accent5>
      <a:accent6>
        <a:srgbClr val="4878A8"/>
      </a:accent6>
      <a:hlink>
        <a:srgbClr val="0B5FFF"/>
      </a:hlink>
      <a:folHlink>
        <a:srgbClr val="007C77"/>
      </a:folHlink>
    </a:clrScheme>
    <a:fontScheme name="Office">
      <a:majorFont>
        <a:latin typeface="Calibri Light"/>
        <a:ea typeface="Calibri Light"/>
        <a:cs typeface="Calibri Light"/>
      </a:majorFont>
      <a:minorFont>
        <a:latin typeface="Calibri"/>
        <a:ea typeface="Calibri"/>
        <a:cs typeface="Calibri"/>
      </a:minorFont>
    </a:fontScheme>
    <a:fmtScheme name="CST4714 Technical Classroom">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Atilio Barreda</dc:creator>
  <lastModifiedBy>Atilio Barreda</lastModifiedBy>
  <dc:title>Week 1: How Applications Use Databases</dc:title>
  <dcterms:created xsi:type="dcterms:W3CDTF">2026-09-03T02:52:59.5540000Z</dcterms:created>
  <dcterms:modified xsi:type="dcterms:W3CDTF">2026-09-02T00:00:00Z</dcterms:modified>
  <dc:subject>CST 4714 Database Administration</dc:subject>
  <dc:description>Week 1 presentation for Operating Cloud Databases.</dc:description>
  <dc:language>en-US</dc:language>
  <keywords>database administration; PostgreSQL; MongoDB; cloud databases; OER</keywords>
  <category>Open Educational Resource</category>
  <contentStatus>Release Candidate</contentStatus>
</coreProperties>
</file>