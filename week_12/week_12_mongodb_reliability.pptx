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0edf3a410cbb4567" Type="http://schemas.openxmlformats.org/officeDocument/2006/relationships/extended-properties" Target="docProps/app.xml"/><Relationship Id="R47cda99ea37a47ea" Type="http://schemas.openxmlformats.org/officeDocument/2006/relationships/officeDocument" Target="ppt/presentation.xml"/><Relationship Id="R6cfd331ed9df40cc"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b15191a02b0b4586"/>
  </p:sldMasterIdLst>
  <p:notesMasterIdLst>
    <p:notesMasterId xmlns:r="http://schemas.openxmlformats.org/officeDocument/2006/relationships" r:id="R14244c2349de4a05"/>
  </p:notesMasterIdLst>
  <p:sldIdLst>
    <p:sldId xmlns:r="http://schemas.openxmlformats.org/officeDocument/2006/relationships" id="256" r:id="R14db7cec52c049e3"/>
    <p:sldId xmlns:r="http://schemas.openxmlformats.org/officeDocument/2006/relationships" id="257" r:id="R4eaf436e8ed8463b"/>
    <p:sldId xmlns:r="http://schemas.openxmlformats.org/officeDocument/2006/relationships" id="258" r:id="Rb472edd0c6854508"/>
    <p:sldId xmlns:r="http://schemas.openxmlformats.org/officeDocument/2006/relationships" id="259" r:id="R838eea1f96d947ec"/>
    <p:sldId xmlns:r="http://schemas.openxmlformats.org/officeDocument/2006/relationships" id="260" r:id="Rf0c55af6479d4f9c"/>
    <p:sldId xmlns:r="http://schemas.openxmlformats.org/officeDocument/2006/relationships" id="261" r:id="Ra7250e3438bf4283"/>
    <p:sldId xmlns:r="http://schemas.openxmlformats.org/officeDocument/2006/relationships" id="262" r:id="R5017e8ac7fbc4e84"/>
    <p:sldId xmlns:r="http://schemas.openxmlformats.org/officeDocument/2006/relationships" id="263" r:id="R3340fecc03e94d5d"/>
    <p:sldId xmlns:r="http://schemas.openxmlformats.org/officeDocument/2006/relationships" id="264" r:id="R67b81f4ff6294df2"/>
    <p:sldId xmlns:r="http://schemas.openxmlformats.org/officeDocument/2006/relationships" id="265" r:id="Rcf66cf63b44d48d2"/>
    <p:sldId xmlns:r="http://schemas.openxmlformats.org/officeDocument/2006/relationships" id="266" r:id="Rb9c4081386104bcb"/>
    <p:sldId xmlns:r="http://schemas.openxmlformats.org/officeDocument/2006/relationships" id="267" r:id="R5e5cd403f96242e5"/>
    <p:sldId xmlns:r="http://schemas.openxmlformats.org/officeDocument/2006/relationships" id="268" r:id="R213c5fdf942b4167"/>
    <p:sldId xmlns:r="http://schemas.openxmlformats.org/officeDocument/2006/relationships" id="269" r:id="R535e3dfa840b411e"/>
    <p:sldId xmlns:r="http://schemas.openxmlformats.org/officeDocument/2006/relationships" id="270" r:id="R13171892e6484cac"/>
    <p:sldId xmlns:r="http://schemas.openxmlformats.org/officeDocument/2006/relationships" id="271" r:id="Ra02c8cdfcb80437f"/>
    <p:sldId xmlns:r="http://schemas.openxmlformats.org/officeDocument/2006/relationships" id="272" r:id="R69138e427ce64104"/>
    <p:sldId xmlns:r="http://schemas.openxmlformats.org/officeDocument/2006/relationships" id="273" r:id="R1de4d4fe157c4f67"/>
    <p:sldId xmlns:r="http://schemas.openxmlformats.org/officeDocument/2006/relationships" id="274" r:id="Rf274c3bdf5f54fe1"/>
    <p:sldId xmlns:r="http://schemas.openxmlformats.org/officeDocument/2006/relationships" id="275" r:id="R2fa2266390f9466a"/>
    <p:sldId xmlns:r="http://schemas.openxmlformats.org/officeDocument/2006/relationships" id="276" r:id="R98f7cc2518d54c37"/>
    <p:sldId xmlns:r="http://schemas.openxmlformats.org/officeDocument/2006/relationships" id="277" r:id="R583936baf3024341"/>
    <p:sldId xmlns:r="http://schemas.openxmlformats.org/officeDocument/2006/relationships" id="278" r:id="R480ea29db204478c"/>
    <p:sldId xmlns:r="http://schemas.openxmlformats.org/officeDocument/2006/relationships" id="279" r:id="R4ba206711bdb454b"/>
    <p:sldId xmlns:r="http://schemas.openxmlformats.org/officeDocument/2006/relationships" id="280" r:id="Reff67996acd24b6c"/>
    <p:sldId xmlns:r="http://schemas.openxmlformats.org/officeDocument/2006/relationships" id="281" r:id="Rc1741e7dc9bf4975"/>
    <p:sldId xmlns:r="http://schemas.openxmlformats.org/officeDocument/2006/relationships" id="282" r:id="R3fe7b2ffa9124139"/>
    <p:sldId xmlns:r="http://schemas.openxmlformats.org/officeDocument/2006/relationships" id="283" r:id="Rb53ac8e408d74a6e"/>
    <p:sldId xmlns:r="http://schemas.openxmlformats.org/officeDocument/2006/relationships" id="284" r:id="R28397868e8a54cb0"/>
    <p:sldId xmlns:r="http://schemas.openxmlformats.org/officeDocument/2006/relationships" id="285" r:id="Rbb3cb1e182d249a0"/>
    <p:sldId xmlns:ns0="http://schemas.openxmlformats.org/officeDocument/2006/relationships" id="286" ns0:id="rId3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10bbcd9b10cf4071" Type="http://schemas.openxmlformats.org/officeDocument/2006/relationships/tableStyles" Target="tableStyles.xml"/><Relationship Id="R13171892e6484cac" Type="http://schemas.openxmlformats.org/officeDocument/2006/relationships/slide" Target="slides/slide15.xml"/><Relationship Id="R14244c2349de4a05" Type="http://schemas.openxmlformats.org/officeDocument/2006/relationships/notesMaster" Target="notesMasters/notesMaster1.xml"/><Relationship Id="R14db7cec52c049e3" Type="http://schemas.openxmlformats.org/officeDocument/2006/relationships/slide" Target="slides/slide1.xml"/><Relationship Id="R1de4d4fe157c4f67" Type="http://schemas.openxmlformats.org/officeDocument/2006/relationships/slide" Target="slides/slide18.xml"/><Relationship Id="R213c5fdf942b4167" Type="http://schemas.openxmlformats.org/officeDocument/2006/relationships/slide" Target="slides/slide13.xml"/><Relationship Id="R28397868e8a54cb0" Type="http://schemas.openxmlformats.org/officeDocument/2006/relationships/slide" Target="slides/slide29.xml"/><Relationship Id="R2fa2266390f9466a" Type="http://schemas.openxmlformats.org/officeDocument/2006/relationships/slide" Target="slides/slide20.xml"/><Relationship Id="R3340fecc03e94d5d" Type="http://schemas.openxmlformats.org/officeDocument/2006/relationships/slide" Target="slides/slide8.xml"/><Relationship Id="R3fe7b2ffa9124139" Type="http://schemas.openxmlformats.org/officeDocument/2006/relationships/slide" Target="slides/slide27.xml"/><Relationship Id="R480ea29db204478c" Type="http://schemas.openxmlformats.org/officeDocument/2006/relationships/slide" Target="slides/slide23.xml"/><Relationship Id="R4ba206711bdb454b" Type="http://schemas.openxmlformats.org/officeDocument/2006/relationships/slide" Target="slides/slide24.xml"/><Relationship Id="R4eaf436e8ed8463b" Type="http://schemas.openxmlformats.org/officeDocument/2006/relationships/slide" Target="slides/slide2.xml"/><Relationship Id="R5017e8ac7fbc4e84" Type="http://schemas.openxmlformats.org/officeDocument/2006/relationships/slide" Target="slides/slide7.xml"/><Relationship Id="R535e3dfa840b411e" Type="http://schemas.openxmlformats.org/officeDocument/2006/relationships/slide" Target="slides/slide14.xml"/><Relationship Id="R583936baf3024341" Type="http://schemas.openxmlformats.org/officeDocument/2006/relationships/slide" Target="slides/slide22.xml"/><Relationship Id="R5e5cd403f96242e5" Type="http://schemas.openxmlformats.org/officeDocument/2006/relationships/slide" Target="slides/slide12.xml"/><Relationship Id="R67b81f4ff6294df2" Type="http://schemas.openxmlformats.org/officeDocument/2006/relationships/slide" Target="slides/slide9.xml"/><Relationship Id="R69138e427ce64104" Type="http://schemas.openxmlformats.org/officeDocument/2006/relationships/slide" Target="slides/slide17.xml"/><Relationship Id="R6b95f163ebe645bb" Type="http://schemas.openxmlformats.org/officeDocument/2006/relationships/theme" Target="theme/theme1.xml"/><Relationship Id="R838eea1f96d947ec" Type="http://schemas.openxmlformats.org/officeDocument/2006/relationships/slide" Target="slides/slide4.xml"/><Relationship Id="R98f7cc2518d54c37" Type="http://schemas.openxmlformats.org/officeDocument/2006/relationships/slide" Target="slides/slide21.xml"/><Relationship Id="R9f31560c25b54dcb" Type="http://schemas.openxmlformats.org/officeDocument/2006/relationships/presProps" Target="presProps.xml"/><Relationship Id="Ra02c8cdfcb80437f" Type="http://schemas.openxmlformats.org/officeDocument/2006/relationships/slide" Target="slides/slide16.xml"/><Relationship Id="Ra7250e3438bf4283" Type="http://schemas.openxmlformats.org/officeDocument/2006/relationships/slide" Target="slides/slide6.xml"/><Relationship Id="Rb15191a02b0b4586" Type="http://schemas.openxmlformats.org/officeDocument/2006/relationships/slideMaster" Target="slideMasters/slideMaster1.xml"/><Relationship Id="Rb472edd0c6854508" Type="http://schemas.openxmlformats.org/officeDocument/2006/relationships/slide" Target="slides/slide3.xml"/><Relationship Id="Rb53ac8e408d74a6e" Type="http://schemas.openxmlformats.org/officeDocument/2006/relationships/slide" Target="slides/slide28.xml"/><Relationship Id="Rb9c4081386104bcb" Type="http://schemas.openxmlformats.org/officeDocument/2006/relationships/slide" Target="slides/slide11.xml"/><Relationship Id="Rbb3cb1e182d249a0" Type="http://schemas.openxmlformats.org/officeDocument/2006/relationships/slide" Target="slides/slide30.xml"/><Relationship Id="Rc1741e7dc9bf4975" Type="http://schemas.openxmlformats.org/officeDocument/2006/relationships/slide" Target="slides/slide26.xml"/><Relationship Id="Rcf66cf63b44d48d2" Type="http://schemas.openxmlformats.org/officeDocument/2006/relationships/slide" Target="slides/slide10.xml"/><Relationship Id="Reff67996acd24b6c" Type="http://schemas.openxmlformats.org/officeDocument/2006/relationships/slide" Target="slides/slide25.xml"/><Relationship Id="Rf0c55af6479d4f9c" Type="http://schemas.openxmlformats.org/officeDocument/2006/relationships/slide" Target="slides/slide5.xml"/><Relationship Id="Rf274c3bdf5f54fe1" Type="http://schemas.openxmlformats.org/officeDocument/2006/relationships/slide" Target="slides/slide19.xml"/><Relationship Id="rId36"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d6bed5a09edc4cec"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68ddec64dc974673" Type="http://schemas.openxmlformats.org/officeDocument/2006/relationships/slide" Target="../slides/slide1.xml"/><Relationship Id="R89bc1cd58a8644ba"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6cee4dfe588a422c" Type="http://schemas.openxmlformats.org/officeDocument/2006/relationships/notesMaster" Target="../notesMasters/notesMaster1.xml"/><Relationship Id="Re82f033e4d7947ee"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33bbe336b8a84bed" Type="http://schemas.openxmlformats.org/officeDocument/2006/relationships/slide" Target="../slides/slide3.xml"/><Relationship Id="R97779a1347e14768"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a00cf9cf34ca47cb" Type="http://schemas.openxmlformats.org/officeDocument/2006/relationships/slide" Target="../slides/slide4.xml"/><Relationship Id="Rf15cd8ee1aac4fd7"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70fb431ffd85460b" Type="http://schemas.openxmlformats.org/officeDocument/2006/relationships/notesMaster" Target="../notesMasters/notesMaster1.xml"/><Relationship Id="Rdff291848897443d"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5529c3ed5eca4b7d" Type="http://schemas.openxmlformats.org/officeDocument/2006/relationships/notesMaster" Target="../notesMasters/notesMaster1.xml"/><Relationship Id="Rcc6b530b90a54bbb"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07f5c9e0375647f2" Type="http://schemas.openxmlformats.org/officeDocument/2006/relationships/slide" Target="../slides/slide7.xml"/><Relationship Id="R0b012876836c46eb"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12df2788fc8f4c59" Type="http://schemas.openxmlformats.org/officeDocument/2006/relationships/notesMaster" Target="../notesMasters/notesMaster1.xml"/><Relationship Id="R1650e51028244736"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5d1f510d3e484908" Type="http://schemas.openxmlformats.org/officeDocument/2006/relationships/slide" Target="../slides/slide9.xml"/><Relationship Id="Rb70492f2a44845a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64f5575fa2dc4488" Type="http://schemas.openxmlformats.org/officeDocument/2006/relationships/notesMaster" Target="../notesMasters/notesMaster1.xml"/><Relationship Id="R657491341bda48e4"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846a1e71c0e449a7" Type="http://schemas.openxmlformats.org/officeDocument/2006/relationships/notesMaster" Target="../notesMasters/notesMaster1.xml"/><Relationship Id="Rd6bc2072eb734300"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cad67c1f21944f20" Type="http://schemas.openxmlformats.org/officeDocument/2006/relationships/notesMaster" Target="../notesMasters/notesMaster1.xml"/><Relationship Id="Re8d43d531f834b6d"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3f6a4c0fcda64cf6" Type="http://schemas.openxmlformats.org/officeDocument/2006/relationships/slide" Target="../slides/slide13.xml"/><Relationship Id="R82bdd3fc612d4fbe"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61592d5e845845e6" Type="http://schemas.openxmlformats.org/officeDocument/2006/relationships/notesMaster" Target="../notesMasters/notesMaster1.xml"/><Relationship Id="R6320b649d66d4e63"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34b3bb0ec7384f12" Type="http://schemas.openxmlformats.org/officeDocument/2006/relationships/slide" Target="../slides/slide15.xml"/><Relationship Id="R960392cc8b934779"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0b6e3dc1157b49f2" Type="http://schemas.openxmlformats.org/officeDocument/2006/relationships/slide" Target="../slides/slide16.xml"/><Relationship Id="Ra6eddcc614b74d06"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30afc43b068c47c5" Type="http://schemas.openxmlformats.org/officeDocument/2006/relationships/slide" Target="../slides/slide17.xml"/><Relationship Id="Rddf96c7c6d94495f"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1058f5202d3a4a5c" Type="http://schemas.openxmlformats.org/officeDocument/2006/relationships/notesMaster" Target="../notesMasters/notesMaster1.xml"/><Relationship Id="R4a76151a97ac4e08"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8d7ca4c82f504326" Type="http://schemas.openxmlformats.org/officeDocument/2006/relationships/slide" Target="../slides/slide19.xml"/><Relationship Id="R93e116ff90df4fb6"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71ac6e3a2c49469b" Type="http://schemas.openxmlformats.org/officeDocument/2006/relationships/notesMaster" Target="../notesMasters/notesMaster1.xml"/><Relationship Id="R767ee8e86d4a423c"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90d37ce5ca6a49ea" Type="http://schemas.openxmlformats.org/officeDocument/2006/relationships/slide" Target="../slides/slide21.xml"/><Relationship Id="Rcb62bf5ad6124504"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b35037fb84a54d04" Type="http://schemas.openxmlformats.org/officeDocument/2006/relationships/notesMaster" Target="../notesMasters/notesMaster1.xml"/><Relationship Id="Rfe2b0169b2ed42a6"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760e9a5bc2a246f0" Type="http://schemas.openxmlformats.org/officeDocument/2006/relationships/slide" Target="../slides/slide23.xml"/><Relationship Id="R7f77950db62546f5"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6402c47aecc240b3" Type="http://schemas.openxmlformats.org/officeDocument/2006/relationships/notesMaster" Target="../notesMasters/notesMaster1.xml"/><Relationship Id="Rc1598c143e2f4439"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8c220e2141f64ac7" Type="http://schemas.openxmlformats.org/officeDocument/2006/relationships/notesMaster" Target="../notesMasters/notesMaster1.xml"/><Relationship Id="Re4a7cbd2f682449d"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8a5028d4c78b4d7c" Type="http://schemas.openxmlformats.org/officeDocument/2006/relationships/notesMaster" Target="../notesMasters/notesMaster1.xml"/><Relationship Id="Rd20c852888d24b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3f01e4aaf7104cab" Type="http://schemas.openxmlformats.org/officeDocument/2006/relationships/notesMaster" Target="../notesMasters/notesMaster1.xml"/><Relationship Id="R4f990b8529a14525"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54971c328eba45bd" Type="http://schemas.openxmlformats.org/officeDocument/2006/relationships/notesMaster" Target="../notesMasters/notesMaster1.xml"/><Relationship Id="Rc834b7f615174b3f"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6803c6b2af1d40e0" Type="http://schemas.openxmlformats.org/officeDocument/2006/relationships/slide" Target="../slides/slide29.xml"/><Relationship Id="R6891e32132144bd7"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72581c6a353e4024" Type="http://schemas.openxmlformats.org/officeDocument/2006/relationships/notesMaster" Target="../notesMasters/notesMaster1.xml"/><Relationship Id="Rb96f00636f2c41ab"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resident submits a request, receives a confirmation, and opens the ticket page. The page says that the request cannot be found. We should resist choosing an explanation before examining what happened. The write might not have completed. A database copy might be behind. The client might have lost the response to a write that actually succeeded. A later operation might even have deleted the ticket. Similar symptoms can come from different mechanisms.</a:t>
            </a:r>
          </a:p>
          <a:p xmlns:a="http://schemas.openxmlformats.org/drawingml/2006/main">
            <a:r>
              <a:t/>
            </a:r>
          </a:p>
          <a:p xmlns:a="http://schemas.openxmlformats.org/drawingml/2006/main">
            <a:r>
              <a:t>Last week we checked whether an aggregation counted the intended records and whether a document rule rejected the intended inputs. This week adds the behavior of multiple database members and the problem of recovering earlier data. A correct query is useful only if we understand which state it can read. A replicated database is useful only if its failure behavior matches what the application promises.</a:t>
            </a:r>
          </a:p>
          <a:p xmlns:a="http://schemas.openxmlformats.org/drawingml/2006/main">
            <a:r>
              <a:t/>
            </a:r>
          </a:p>
          <a:p xmlns:a="http://schemas.openxmlformats.org/drawingml/2006/main">
            <a:r>
              <a:t>Our first class follows one request through acknowledgment, reading, and a network partition. We will also calculate separate objectives for lost work and time without service. Our second class uses a small recovery notebook. It restores five tickets into another target, reveals a wrong value that several reasonable checks miss, and repairs that document from the saved artifact.</a:t>
            </a:r>
          </a:p>
          <a:p xmlns:a="http://schemas.openxmlformats.org/drawingml/2006/main">
            <a:r>
              <a:t/>
            </a:r>
          </a:p>
          <a:p xmlns:a="http://schemas.openxmlformats.org/drawingml/2006/main">
            <a:r>
              <a:t>Both labs are individual. The first response stays in Brightspace. The second stays in the notebook. The work is understanding and testing the mechanism, not producing a stack of reports.</a:t>
            </a:r>
          </a:p>
          <a:p xmlns:a="http://schemas.openxmlformats.org/drawingml/2006/main">
            <a:r>
              <a:t/>
            </a:r>
          </a:p>
          <a:p xmlns:a="http://schemas.openxmlformats.org/drawingml/2006/main">
            <a:r>
              <a:t>Sources: Course Chapter 12, current Week 12 individual labs, and Notebook 05. Opening scenario and teaching sequence are authored course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replica set maintains copies of a logical database on multiple members. In this diagram, A is the primary. Under normal operation, it accepts the client's write. B and C are secondaries. They receive changes through replication and apply them to their own copies. The diagram uses the same member names as today's lab so that we can follow one example without changing its labels.</a:t>
            </a:r>
          </a:p>
          <a:p xmlns:a="http://schemas.openxmlformats.org/drawingml/2006/main">
            <a:r>
              <a:t/>
            </a:r>
          </a:p>
          <a:p xmlns:a="http://schemas.openxmlformats.org/drawingml/2006/main">
            <a:r>
              <a:t>The oplog is a bounded history of data-changing operations used in that replication process. Think of it as the change history that lets a secondary catch up, rather than a separate table that our application normally queries. B and C need not apply each change at precisely the same instant as A. During that interval, their visible data can differ.</a:t>
            </a:r>
          </a:p>
          <a:p xmlns:a="http://schemas.openxmlformats.org/drawingml/2006/main">
            <a:r>
              <a:t/>
            </a:r>
          </a:p>
          <a:p xmlns:a="http://schemas.openxmlformats.org/drawingml/2006/main">
            <a:r>
              <a:t>This difference is called replication lag. It does not automatically mean that a write has been lost. It means that we need to know which member answered a read and which guarantees that read requested. If a secondary falls behind the history still retained in the oplog, catching up can require more than replaying a few recent entries.</a:t>
            </a:r>
          </a:p>
          <a:p xmlns:a="http://schemas.openxmlformats.org/drawingml/2006/main">
            <a:r>
              <a:t/>
            </a:r>
          </a:p>
          <a:p xmlns:a="http://schemas.openxmlformats.org/drawingml/2006/main">
            <a:r>
              <a:t>If the primary becomes unavailable, an election may choose a replacement when the necessary members can coordinate. Detecting failure, holding that election, and letting the client find the replacement take time. Multiple members improve the range of failures the system can handle, but do not make every operation uninterrupted.</a:t>
            </a:r>
          </a:p>
          <a:p xmlns:a="http://schemas.openxmlformats.org/drawingml/2006/main">
            <a:r>
              <a:t/>
            </a:r>
          </a:p>
          <a:p xmlns:a="http://schemas.openxmlformats.org/drawingml/2006/main">
            <a:r>
              <a:t>Sources: https://www.mongodb.com/docs/manual/replication/ ; https://www.mongodb.com/docs/manual/core/replica-set-oplog/ . Native source diagram retained and relabeled for the course A/B/C 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same request represented as a sequence of states. At first, none of the three members contains it. Next, A applies the insert. At that moment A has the request, but the table does not yet show B applying it. C is isolated and still has its earlier state. An application must not turn the fact that one member changed into an unsupported statement about all three.</a:t>
            </a:r>
          </a:p>
          <a:p xmlns:a="http://schemas.openxmlformats.org/drawingml/2006/main">
            <a:r>
              <a:t/>
            </a:r>
          </a:p>
          <a:p xmlns:a="http://schemas.openxmlformats.org/drawingml/2006/main">
            <a:r>
              <a:t>Now separate retaining a change from applying it. In the third data row, A and B have made the oplog entry durable, but B has not yet applied the insert to its collection. In MongoDB eight point zero and later, with the default majority journaling behavior, those two retained entries can satisfy majority acknowledgment. B's collection can still look older at that moment. In the last row, B applies the insert and its collection contains the request. This extra step is why a successful acknowledgment and an immediately current secondary read are different claims.</a:t>
            </a:r>
          </a:p>
          <a:p xmlns:a="http://schemas.openxmlformats.org/drawingml/2006/main">
            <a:r>
              <a:t/>
            </a:r>
          </a:p>
          <a:p xmlns:a="http://schemas.openxmlformats.org/drawingml/2006/main">
            <a:r>
              <a:t>Now imagine that a later read reaches C while its older state remains eligible for that read. The request can appear missing there even though A and B retained it. The absence is evidence about the state returned by that read. It is not, by itself, proof that the acknowledged request disappeared from the replica set.</a:t>
            </a:r>
          </a:p>
          <a:p xmlns:a="http://schemas.openxmlformats.org/drawingml/2006/main">
            <a:r>
              <a:t/>
            </a:r>
          </a:p>
          <a:p xmlns:a="http://schemas.openxmlformats.org/drawingml/2006/main">
            <a:r>
              <a:t>These rows describe a possible sequence, not fixed replication delays. Our three voting members all store data, so two form the majority. C need not participate for A and B to satisfy that condition. The example gives us a reason to connect the confirmation read to the preceding write rather than assume that selecting any secondary will return it immediately.</a:t>
            </a:r>
          </a:p>
          <a:p xmlns:a="http://schemas.openxmlformats.org/drawingml/2006/main">
            <a:r>
              <a:t/>
            </a:r>
          </a:p>
          <a:p xmlns:a="http://schemas.openxmlformats.org/drawingml/2006/main">
            <a:r>
              <a:t>Sources: https://www.mongodb.com/docs/manual/reference/write-concern/#reads-after---w---majority----writes ; https://www.mongodb.com/docs/manual/core/read-preference/ . MongoDB 8.0+ sequence with default majority journaling, checked September 14,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Write concern specifies the acknowledgment the client requests. In our particular three-member example, w equal to one asks for the primary's acknowledgment. That can let the client receive success before another member retains the change. A later failure can therefore have different consequences from a write whose requested acknowledgment includes additional members.</a:t>
            </a:r>
          </a:p>
          <a:p xmlns:a="http://schemas.openxmlformats.org/drawingml/2006/main">
            <a:r>
              <a:t/>
            </a:r>
          </a:p>
          <a:p xmlns:a="http://schemas.openxmlformats.org/drawingml/2006/main">
            <a:r>
              <a:t>With majority write concern, our three voting, data-bearing members require a majority of two. A and B can provide those acknowledgments in the supplied case. We should not reuse that arithmetic blindly for a deployment with a different combination of voting members and arbiters. The configuration matters, and journaling behavior is part of the durability question.</a:t>
            </a:r>
          </a:p>
          <a:p xmlns:a="http://schemas.openxmlformats.org/drawingml/2006/main">
            <a:r>
              <a:t/>
            </a:r>
          </a:p>
          <a:p xmlns:a="http://schemas.openxmlformats.org/drawingml/2006/main">
            <a:r>
              <a:t>Asking for three acknowledgments creates a different availability boundary. C is isolated, so the current A/B side cannot collect an acknowledgment from it. A bounded acknowledgment wait can report that the requested condition was not met in time. That report does not reverse modifications that the primary already performed.</a:t>
            </a:r>
          </a:p>
          <a:p xmlns:a="http://schemas.openxmlformats.org/drawingml/2006/main">
            <a:r>
              <a:t/>
            </a:r>
          </a:p>
          <a:p xmlns:a="http://schemas.openxmlformats.org/drawingml/2006/main">
            <a:r>
              <a:t>The choice follows the application's consequences. A resident's confirmed submission deserves a clear retention promise. A developer also needs a defined response when the promise cannot be confirmed. We should state both the desired success condition and the application's behavior under uncertainty, rather than assume that a stronger-sounding setting makes failures impossible.</a:t>
            </a:r>
          </a:p>
          <a:p xmlns:a="http://schemas.openxmlformats.org/drawingml/2006/main">
            <a:r>
              <a:t/>
            </a:r>
          </a:p>
          <a:p xmlns:a="http://schemas.openxmlformats.org/drawingml/2006/main">
            <a:r>
              <a:t>Sources: https://www.mongodb.com/docs/manual/reference/write-concern/ . Table applies to the authored three-voting-data-bearing-member case, not arbitrary topologies.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mongosh example, which means it belongs in the MongoDB shell rather than in a Python notebook cell. The first two lines choose a fresh practice database. The random suffix helps separate this demonstration from a project database or a previous class example. Selecting the database changes the shell's target. The later write creates the stored data.</a:t>
            </a:r>
          </a:p>
          <a:p xmlns:a="http://schemas.openxmlformats.org/drawingml/2006/main">
            <a:r>
              <a:t/>
            </a:r>
          </a:p>
          <a:p xmlns:a="http://schemas.openxmlformats.org/drawingml/2006/main">
            <a:r>
              <a:t>The inserted document has an internal identifier, submission dash 1099, and a business ticket number, 1099. Keeping a stable identifier for this submission attempt gives the application something precise to ask about later. It is different from creating a new identifier every time a browser retries the same user action.</a:t>
            </a:r>
          </a:p>
          <a:p xmlns:a="http://schemas.openxmlformats.org/drawingml/2006/main">
            <a:r>
              <a:t/>
            </a:r>
          </a:p>
          <a:p xmlns:a="http://schemas.openxmlformats.org/drawingml/2006/main">
            <a:r>
              <a:t>Notice where writeConcern appears. It is an option to insertOne, outside the ticket document. It changes the requested acknowledgment rather than adding a field to the resident's request. The majority setting names the success condition. The five-thousand value is an acknowledgment timeout in milliseconds. It should not be interpreted as a guarantee that every part of a network operation completes within exactly five seconds.</a:t>
            </a:r>
          </a:p>
          <a:p xmlns:a="http://schemas.openxmlformats.org/drawingml/2006/main">
            <a:r>
              <a:t/>
            </a:r>
          </a:p>
          <a:p xmlns:a="http://schemas.openxmlformats.org/drawingml/2006/main">
            <a:r>
              <a:t>A normal successful execution demonstrates the command shape and the resulting record. It does not demonstrate what happens when a member fails. Today's first lab is a reasoning exercise, so students do not need to create this shell database or alter a replica set to complete their response.</a:t>
            </a:r>
          </a:p>
          <a:p xmlns:a="http://schemas.openxmlformats.org/drawingml/2006/main">
            <a:r>
              <a:t/>
            </a:r>
          </a:p>
          <a:p xmlns:a="http://schemas.openxmlformats.org/drawingml/2006/main">
            <a:r>
              <a:t>Sources: Course Chapter 12 acknowledgment example; https://www.mongodb.com/docs/manual/reference/method/db.collection.insertOne/ ; https://www.mongodb.com/docs/manual/reference/write-concern/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Suppose the client does not receive the acknowledgment it expected. The application now needs to resolve an uncertain outcome. This read asks about the stable submission identifier and retrieves the fields that describe the intended operation. The example illustrates the question to ask, rather than a complete retry library.</a:t>
            </a:r>
          </a:p>
          <a:p xmlns:a="http://schemas.openxmlformats.org/drawingml/2006/main">
            <a:r>
              <a:t/>
            </a:r>
          </a:p>
          <a:p xmlns:a="http://schemas.openxmlformats.org/drawingml/2006/main">
            <a:r>
              <a:t>If the document exists, its content still matters. Finding the identifier alone is not enough when an identifier may have been reused incorrectly. The application should confirm that the stored ticket represents the same intended submission. A duplicate-key error on a repeated insert similarly tells us that the key is already present. It does not certify that the existing content is the operation we meant to perform.</a:t>
            </a:r>
          </a:p>
          <a:p xmlns:a="http://schemas.openxmlformats.org/drawingml/2006/main">
            <a:r>
              <a:t/>
            </a:r>
          </a:p>
          <a:p xmlns:a="http://schemas.openxmlformats.org/drawingml/2006/main">
            <a:r>
              <a:t>If the read returns nothing, we must also examine the read path. An unrelated read from an older secondary can return absence even when another side retains the write. The application needs a suitable read-back strategy, bounded waiting, and retry behavior designed for this operation. Blindly producing a new identifier risks creating a duplicate user request.</a:t>
            </a:r>
          </a:p>
          <a:p xmlns:a="http://schemas.openxmlformats.org/drawingml/2006/main">
            <a:r>
              <a:t/>
            </a:r>
          </a:p>
          <a:p xmlns:a="http://schemas.openxmlformats.org/drawingml/2006/main">
            <a:r>
              <a:t>The distinction between the internal identifier and the business workflow is useful beyond MongoDB. A database can enforce uniqueness for a stored key, while the application remains responsible for associating that key with one intended action. We will use that same distinction when the recovery notebook separately tests its unique ticket-number index.</a:t>
            </a:r>
          </a:p>
          <a:p xmlns:a="http://schemas.openxmlformats.org/drawingml/2006/main">
            <a:r>
              <a:t/>
            </a:r>
          </a:p>
          <a:p xmlns:a="http://schemas.openxmlformats.org/drawingml/2006/main">
            <a:r>
              <a:t>Sources: Original course read-back illustration; https://www.mongodb.com/docs/manual/core/retryable-writes/ ; https://www.mongodb.com/docs/manual/core/index-unique/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preference and read concern address different parts of a read. Read preference selects eligible members. A primary preference directs this ordinary read to the primary. A secondary-preferred route favors an eligible secondary, with the documented fallback behavior. Neither name tells us everything about how recent the returned state must be.</a:t>
            </a:r>
          </a:p>
          <a:p xmlns:a="http://schemas.openxmlformats.org/drawingml/2006/main">
            <a:r>
              <a:t/>
            </a:r>
          </a:p>
          <a:p xmlns:a="http://schemas.openxmlformats.org/drawingml/2006/main">
            <a:r>
              <a:t>Read concern addresses the consistency and isolation properties of the returned data. Local read concern can expose data that is not majority committed. Majority read concern constrains the read to majority-committed data under the documented semantics. Those words refer to a guarantee about the state, not a command that instantly updates every copy.</a:t>
            </a:r>
          </a:p>
          <a:p xmlns:a="http://schemas.openxmlformats.org/drawingml/2006/main">
            <a:r>
              <a:t/>
            </a:r>
          </a:p>
          <a:p xmlns:a="http://schemas.openxmlformats.org/drawingml/2006/main">
            <a:r>
              <a:t>Return to the request in our table. C can be behind A and B. An older state that C knows can already be majority committed and still predate the new submission. Therefore majority read concern alone does not mean that this member must return the latest possible value everywhere in the system.</a:t>
            </a:r>
          </a:p>
          <a:p xmlns:a="http://schemas.openxmlformats.org/drawingml/2006/main">
            <a:r>
              <a:t/>
            </a:r>
          </a:p>
          <a:p xmlns:a="http://schemas.openxmlformats.org/drawingml/2006/main">
            <a:r>
              <a:t>This is why a configuration recommendation should include a specific workflow. An hourly report and a resident's immediate confirmation page have different expectations. We can consider a delayed report route when the application can explain its freshness. For the confirmation page, we need to connect the read to the user's preceding write rather than choose settings from their names alone.</a:t>
            </a:r>
          </a:p>
          <a:p xmlns:a="http://schemas.openxmlformats.org/drawingml/2006/main">
            <a:r>
              <a:t/>
            </a:r>
          </a:p>
          <a:p xmlns:a="http://schemas.openxmlformats.org/drawingml/2006/main">
            <a:r>
              <a:t>Sources: https://www.mongodb.com/docs/manual/core/read-preference/ ; https://www.mongodb.com/docs/manual/reference/read-concern/ . The report and confirmation comparison is an authored workload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gives one concrete candidate for the confirmation workflow. The write requests majority acknowledgment. The following read uses the primary route and majority read concern. Both operations participate in the same causally consistent session. The session is the relationship between these operations, not another database member.</a:t>
            </a:r>
          </a:p>
          <a:p xmlns:a="http://schemas.openxmlformats.org/drawingml/2006/main">
            <a:r>
              <a:t/>
            </a:r>
          </a:p>
          <a:p xmlns:a="http://schemas.openxmlformats.org/drawingml/2006/main">
            <a:r>
              <a:t>A causal dependency records that the later operation follows the earlier one. With the documented read and write concerns, that relationship supports reading one's own preceding write. It prevents us from treating the confirmation read as a completely unrelated request with no knowledge of the operation that just happened.</a:t>
            </a:r>
          </a:p>
          <a:p xmlns:a="http://schemas.openxmlformats.org/drawingml/2006/main">
            <a:r>
              <a:t/>
            </a:r>
          </a:p>
          <a:p xmlns:a="http://schemas.openxmlformats.org/drawingml/2006/main">
            <a:r>
              <a:t>A suitable secondary read can also participate in a causal workflow. If that secondary has not reached the required state, the read may need to wait. During a communication failure it may be unable to make that progress before the application's deadline. Preserving the requested ordering does not mean that every read must return immediately.</a:t>
            </a:r>
          </a:p>
          <a:p xmlns:a="http://schemas.openxmlformats.org/drawingml/2006/main">
            <a:r>
              <a:t/>
            </a:r>
          </a:p>
          <a:p xmlns:a="http://schemas.openxmlformats.org/drawingml/2006/main">
            <a:r>
              <a:t>The workflow also does not freeze the ticket forever. Another authorized operation may change or delete it later. Causal ordering should not be confused with locking out all other users or guaranteeing the globally newest state for every unrelated request. For the lab, explain the promise for this confirmation sequence, the settings that support it, and what the client should do if it cannot obtain that promise in time.</a:t>
            </a:r>
          </a:p>
          <a:p xmlns:a="http://schemas.openxmlformats.org/drawingml/2006/main">
            <a:r>
              <a:t/>
            </a:r>
          </a:p>
          <a:p xmlns:a="http://schemas.openxmlformats.org/drawingml/2006/main">
            <a:r>
              <a:t>Sources: https://www.mongodb.com/docs/manual/core/causal-consistency-read-write-concerns/ ; https://www.mongodb.com/docs/manual/core/read-isolation-consistency-recency/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network partition separates C from the A/B side. A and B can still communicate with each other, and in this example A is already the primary. The absence of C alone does not require A to stop being primary while it remains healthy and connected to the voting majority.</a:t>
            </a:r>
          </a:p>
          <a:p xmlns:a="http://schemas.openxmlformats.org/drawingml/2006/main">
            <a:r>
              <a:t/>
            </a:r>
          </a:p>
          <a:p xmlns:a="http://schemas.openxmlformats.org/drawingml/2006/main">
            <a:r>
              <a:t>This distinction matters because a diagram of a broken network is not automatically a diagram of a failed primary. We must identify which members can communicate and which operation the client is asking them to perform. A and B can coordinate their active history. C cannot acknowledge a new change that it has not received from them.</a:t>
            </a:r>
          </a:p>
          <a:p xmlns:a="http://schemas.openxmlformats.org/drawingml/2006/main">
            <a:r>
              <a:t/>
            </a:r>
          </a:p>
          <a:p xmlns:a="http://schemas.openxmlformats.org/drawingml/2006/main">
            <a:r>
              <a:t>The dashed link represents messages that cannot cross the partition as required. It does not mean that the missing member has an independent copy of every future write. A client reaching that side cannot obtain information that the side has not learned merely by selecting a different read preference.</a:t>
            </a:r>
          </a:p>
          <a:p xmlns:a="http://schemas.openxmlformats.org/drawingml/2006/main">
            <a:r>
              <a:t/>
            </a:r>
          </a:p>
          <a:p xmlns:a="http://schemas.openxmlformats.org/drawingml/2006/main">
            <a:r>
              <a:t>The practical analysis therefore follows the operation. A majority-acknowledged write can complete on the side with the required participants, subject to the other normal conditions. A read on an older side may have to return older information or wait for a guarantee it cannot currently establish. We will use that concrete conflict to explain CAP, rather than treating the three letters as permanent product categories.</a:t>
            </a:r>
          </a:p>
          <a:p xmlns:a="http://schemas.openxmlformats.org/drawingml/2006/main">
            <a:r>
              <a:t/>
            </a:r>
          </a:p>
          <a:p xmlns:a="http://schemas.openxmlformats.org/drawingml/2006/main">
            <a:r>
              <a:t>Sources: Retained course native partition diagram, relabeled A/B/C; https://www.mongodb.com/docs/manual/core/replica-set-elections/ ; https://www.mongodb.com/docs/manual/core/causal-consistency-read-write-concerns/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a specific ordering of application events. On the A/B side, a write changes a ticket from open to resolved and completes. Only afterward does a new read begin on the isolated C side. Assume there is no intervening write changing the ticket back. C has not learned the new status because the necessary messages cannot cross the partition.</a:t>
            </a:r>
          </a:p>
          <a:p xmlns:a="http://schemas.openxmlformats.org/drawingml/2006/main">
            <a:r>
              <a:t/>
            </a:r>
          </a:p>
          <a:p xmlns:a="http://schemas.openxmlformats.org/drawingml/2006/main">
            <a:r>
              <a:t>If C answers open from its old state, the answer conflicts with the promise that operations behave like one current copy in this ordering. If it waits for coordination or cannot complete the operation, it sacrifices availability for that operation under the theorem's definition. Returning an unavailable error is not the same as successfully completing the requested read.</a:t>
            </a:r>
          </a:p>
          <a:p xmlns:a="http://schemas.openxmlformats.org/drawingml/2006/main">
            <a:r>
              <a:t/>
            </a:r>
          </a:p>
          <a:p xmlns:a="http://schemas.openxmlformats.org/drawingml/2006/main">
            <a:r>
              <a:t>The consistency in CAP is a linearizable, single-copy style property. It is not the same use of consistency as the C in ACID, which concerns preserving the application's integrity conditions. Both copies might contain statuses that are individually valid according to a schema, while still giving incompatible current answers.</a:t>
            </a:r>
          </a:p>
          <a:p xmlns:a="http://schemas.openxmlformats.org/drawingml/2006/main">
            <a:r>
              <a:t/>
            </a:r>
          </a:p>
          <a:p xmlns:a="http://schemas.openxmlformats.org/drawingml/2006/main">
            <a:r>
              <a:t>The availability definition is also stricter than a monthly uptime percentage. The theorem concerns the inability to guarantee the required behavior for every relevant operation during the modeled communication failure. Real applications make more specific promises, but a product label cannot make the missing communication disappear. Today's task is explaining that conflict with the request state in front of us.</a:t>
            </a:r>
          </a:p>
          <a:p xmlns:a="http://schemas.openxmlformats.org/drawingml/2006/main">
            <a:r>
              <a:t/>
            </a:r>
          </a:p>
          <a:p xmlns:a="http://schemas.openxmlformats.org/drawingml/2006/main">
            <a:r>
              <a:t>Sources: Course Chapter 12 authored partition example; Gilbert and Lynch, 2002, https://people.cs.rutgers.edu/~rmartin/teaching/spring04/cs553/BrewersConjecture-SigAct.pdf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change the failure. A itself becomes unavailable. If the remaining eligible B and C can communicate, they can form the voting majority of two in this three-member configuration. They can participate in an election to select a primary according to the replica-set rules. This is different from the previous diagram, where A was still present on the majority side.</a:t>
            </a:r>
          </a:p>
          <a:p xmlns:a="http://schemas.openxmlformats.org/drawingml/2006/main">
            <a:r>
              <a:t/>
            </a:r>
          </a:p>
          <a:p xmlns:a="http://schemas.openxmlformats.org/drawingml/2006/main">
            <a:r>
              <a:t>In the second row, A is lost and B and C cannot communicate with each other. Each remaining member is alone. Neither can independently collect the majority needed for an election. The existence of two surviving machines is not enough if they cannot coordinate.</a:t>
            </a:r>
          </a:p>
          <a:p xmlns:a="http://schemas.openxmlformats.org/drawingml/2006/main">
            <a:r>
              <a:t/>
            </a:r>
          </a:p>
          <a:p xmlns:a="http://schemas.openxmlformats.org/drawingml/2006/main">
            <a:r>
              <a:t>From the application's perspective, several pieces of work may contribute to an interruption. Members need to recognize the failed primary. An election must complete successfully. The driver must discover a suitable new target. The duration depends on configuration and conditions, so we should not promise that every failover takes one fixed number of seconds.</a:t>
            </a:r>
          </a:p>
          <a:p xmlns:a="http://schemas.openxmlformats.org/drawingml/2006/main">
            <a:r>
              <a:t/>
            </a:r>
          </a:p>
          <a:p xmlns:a="http://schemas.openxmlformats.org/drawingml/2006/main">
            <a:r>
              <a:t>Drivers can retry supported operations under their documented rules. That is useful, but it does not transform every multi-step application action into a safely repeatable operation. A database retry and a person pressing Submit again are not automatically the same event. Stable identifiers and operation-specific reasoning remain necessary when the application cannot tell which parts of a workflow completed.</a:t>
            </a:r>
          </a:p>
          <a:p xmlns:a="http://schemas.openxmlformats.org/drawingml/2006/main">
            <a:r>
              <a:t/>
            </a:r>
          </a:p>
          <a:p xmlns:a="http://schemas.openxmlformats.org/drawingml/2006/main">
            <a:r>
              <a:t>Sources: https://www.mongodb.com/docs/manual/core/replica-set-elections/ ; https://www.mongodb.com/docs/manual/core/retryable-writes/ . Table assumes eligible voting data-bearing members and the stated connectivity.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example changes the failure category again. The database members are working, and an authorized operation deletes the five tickets. Replication can carry that deletion to the other members just as it carries inserts and updates. The resulting zero count can be a faithful reproduction of the active change history, even though the deletion was a serious human mistake.</a:t>
            </a:r>
          </a:p>
          <a:p xmlns:a="http://schemas.openxmlformats.org/drawingml/2006/main">
            <a:r>
              <a:t/>
            </a:r>
          </a:p>
          <a:p xmlns:a="http://schemas.openxmlformats.org/drawingml/2006/main">
            <a:r>
              <a:t>The saved export has a different role. It represents an earlier state outside the current collection. If the artifact remains retained and usable, it can provide the old ticket values after the active copies have all accepted the deletion. That is why we need to distinguish service continuity from access to recoverable history.</a:t>
            </a:r>
          </a:p>
          <a:p xmlns:a="http://schemas.openxmlformats.org/drawingml/2006/main">
            <a:r>
              <a:t/>
            </a:r>
          </a:p>
          <a:p xmlns:a="http://schemas.openxmlformats.org/drawingml/2006/main">
            <a:r>
              <a:t>The table does not promise that every copied file is a sufficient backup. We still need to know which state it represents, what it contains, whether the tool can read it, where it can be restored, and whether the application works afterward. A data file without the required rules or credentials may leave the recovery incomplete.</a:t>
            </a:r>
          </a:p>
          <a:p xmlns:a="http://schemas.openxmlformats.org/drawingml/2006/main">
            <a:r>
              <a:t/>
            </a:r>
          </a:p>
          <a:p xmlns:a="http://schemas.openxmlformats.org/drawingml/2006/main">
            <a:r>
              <a:t>An oplog should not be described as an unlimited archive of every application state. Its replication history has bounds and operational constraints. Our classroom exercise therefore retains an explicit small artifact and restores it elsewhere. It addresses a logical recovery question rather than assuming that another active replica is the earlier version we need.</a:t>
            </a:r>
          </a:p>
          <a:p xmlns:a="http://schemas.openxmlformats.org/drawingml/2006/main">
            <a:r>
              <a:t/>
            </a:r>
          </a:p>
          <a:p xmlns:a="http://schemas.openxmlformats.org/drawingml/2006/main">
            <a:r>
              <a:t>Sources: Authored five-ticket deletion example; https://www.mongodb.com/docs/manual/core/replica-set-oplog/ ; https://www.mongodb.com/docs/database-tools/mongodump/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Recovery point objective, or RPO, describes the tolerated gap in recoverable work. This example supplies the actual represented point: the artifact contains the complete dataset as of sixteen ten. The deletion occurs at sixteen twenty-two. There is no later export or replayable event log available in the stated case.</a:t>
            </a:r>
          </a:p>
          <a:p xmlns:a="http://schemas.openxmlformats.org/drawingml/2006/main">
            <a:r>
              <a:t/>
            </a:r>
          </a:p>
          <a:p xmlns:a="http://schemas.openxmlformats.org/drawingml/2006/main">
            <a:r>
              <a:t>The difference is twelve minutes. Work occurring after the saved point falls outside what this artifact can recover. If the application's objective tolerates at most five minutes of lost work, this artifact does not meet that objective. Restoring it very quickly would not make it contain those missing later changes.</a:t>
            </a:r>
          </a:p>
          <a:p xmlns:a="http://schemas.openxmlformats.org/drawingml/2006/main">
            <a:r>
              <a:t/>
            </a:r>
          </a:p>
          <a:p xmlns:a="http://schemas.openxmlformats.org/drawingml/2006/main">
            <a:r>
              <a:t>Notice why the represented time is explicit. Saying only that an export finished at sixteen ten would leave open when its contents were read. A long-running export across changing data may not represent one clean instant at its completion time. Our small worked case supplies a complete point so that we can reason without hiding that assumption.</a:t>
            </a:r>
          </a:p>
          <a:p xmlns:a="http://schemas.openxmlformats.org/drawingml/2006/main">
            <a:r>
              <a:t/>
            </a:r>
          </a:p>
          <a:p xmlns:a="http://schemas.openxmlformats.org/drawingml/2006/main">
            <a:r>
              <a:t>The timeline expresses a time window, not an invented number of lost tickets. We have not been given an arrival rate or a count of changes in those twelve minutes. A careful incident account would preserve that distinction. We can establish that the artifact misses the time-based objective without fabricating how many residents or records were affected during the uncovered interval.</a:t>
            </a:r>
          </a:p>
          <a:p xmlns:a="http://schemas.openxmlformats.org/drawingml/2006/main">
            <a:r>
              <a:t/>
            </a:r>
          </a:p>
          <a:p xmlns:a="http://schemas.openxmlformats.org/drawingml/2006/main">
            <a:r>
              <a:t>Sources: Original course recovery timeline and Chapter 8/12 recovery-objective definitions. These worked times differ from the assessed Week 12 Lab 1 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Recovery time objective, or RTO, concerns the tolerated time to restore service. The clock does not necessarily begin when someone finally launches a restore command. The incident has already interrupted the service while people detect the problem, retrieve the artifact, and obtain the access or authorization required to use it.</a:t>
            </a:r>
          </a:p>
          <a:p xmlns:a="http://schemas.openxmlformats.org/drawingml/2006/main">
            <a:r>
              <a:t/>
            </a:r>
          </a:p>
          <a:p xmlns:a="http://schemas.openxmlformats.org/drawingml/2006/main">
            <a:r>
              <a:t>In this worked case, detection takes two minutes. Retrieving and authorizing the artifact takes another minute. Restoring the data and passing the application checks takes four minutes. These phases are sequential in the supplied example, so the observed total is seven minutes. Against a ten-minute objective, this particular drill fits the service-restoration target.</a:t>
            </a:r>
          </a:p>
          <a:p xmlns:a="http://schemas.openxmlformats.org/drawingml/2006/main">
            <a:r>
              <a:t/>
            </a:r>
          </a:p>
          <a:p xmlns:a="http://schemas.openxmlformats.org/drawingml/2006/main">
            <a:r>
              <a:t>That result does not repair the twelve-minute gap in the saved data. The preceding slide showed an RPO failure even though this slide shows an RTO success. The two objectives describe different consequences. An application can resume quickly with old data, or recover more recent data while remaining unavailable for too long.</a:t>
            </a:r>
          </a:p>
          <a:p xmlns:a="http://schemas.openxmlformats.org/drawingml/2006/main">
            <a:r>
              <a:t/>
            </a:r>
          </a:p>
          <a:p xmlns:a="http://schemas.openxmlformats.org/drawingml/2006/main">
            <a:r>
              <a:t>We should also distinguish the stated target from evidence about a particular rehearsal. Seven minutes is an observed result under these supplied conditions. It is not a guarantee for every future dataset size, operator delay, network path, or failure. In the lab, use the times that are actually supplied and identify any part of the incident-to-service interval that has not been measured.</a:t>
            </a:r>
          </a:p>
          <a:p xmlns:a="http://schemas.openxmlformats.org/drawingml/2006/main">
            <a:r>
              <a:t/>
            </a:r>
          </a:p>
          <a:p xmlns:a="http://schemas.openxmlformats.org/drawingml/2006/main">
            <a:r>
              <a:t>Sources: Original course worked recovery timeline; current Week 12 instructor guide. No production service-level guarantee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Atlas backup page, captured on August twenty-fifth. The page offers upgrades for continuous or daily backup. Those controls describe available upgrade choices. They are not a record that a backup has run successfully for this free deployment.</a:t>
            </a:r>
          </a:p>
          <a:p xmlns:a="http://schemas.openxmlformats.org/drawingml/2006/main">
            <a:r>
              <a:t/>
            </a:r>
          </a:p>
          <a:p xmlns:a="http://schemas.openxmlformats.org/drawingml/2006/main">
            <a:r>
              <a:t>The Free-cluster documentation excludes native Atlas backups and directs users to MongoDB Database Tools as a logical backup alternative. It also limits the failure-testing controls available on this plan. We can study recovery using the free plan without purchasing an upgrade.</a:t>
            </a:r>
          </a:p>
          <a:p xmlns:a="http://schemas.openxmlformats.org/drawingml/2006/main">
            <a:r>
              <a:t/>
            </a:r>
          </a:p>
          <a:p xmlns:a="http://schemas.openxmlformats.org/drawingml/2006/main">
            <a:r>
              <a:t>A separate logical artifact therefore remains relevant. We can create one for a small dataset, keep it outside the active collection, and test recovery in a different target. The notebook chooses an inspectable document-only file so that its contents and omissions are easy to follow. We will compare that narrower exercise with the broader scope of a MongoDB logical dump.</a:t>
            </a:r>
          </a:p>
          <a:p xmlns:a="http://schemas.openxmlformats.org/drawingml/2006/main">
            <a:r>
              <a:t/>
            </a:r>
          </a:p>
          <a:p xmlns:a="http://schemas.openxmlformats.org/drawingml/2006/main">
            <a:r>
              <a:t>The screenshot documents the interface and plan boundary at its capture date. The official documentation remains the reference when the interface or plan changes. We should not infer automatic protection from marketing text on an upgrade screen. The operational question is which artifact our current process actually retains and whether we have demonstrated that the intended recovery works.</a:t>
            </a:r>
          </a:p>
          <a:p xmlns:a="http://schemas.openxmlformats.org/drawingml/2006/main">
            <a:r>
              <a:t/>
            </a:r>
          </a:p>
          <a:p xmlns:a="http://schemas.openxmlformats.org/drawingml/2006/main">
            <a:r>
              <a:t>Sources: Course screenshot, textbook/figures/cloud_interfaces/atlas_free_tier_backup.png, captured August 25, 2026; https://www.mongodb.com/docs/atlas/reference/free-shared-limitations/ , checked September 14,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lab asks for one individual Brightspace text response. Its first part concerns the resident's confirmation and immediate ticket page. Use the supplied A, B, and C case to connect the requested acknowledgment, eligible read route, read concern, and causal relationship. The explanation should describe what the client does when it cannot confirm the outcome.</a:t>
            </a:r>
          </a:p>
          <a:p xmlns:a="http://schemas.openxmlformats.org/drawingml/2006/main">
            <a:r>
              <a:t/>
            </a:r>
          </a:p>
          <a:p xmlns:a="http://schemas.openxmlformats.org/drawingml/2006/main">
            <a:r>
              <a:t>The second part uses the lab's own recovery times. Those times are different from the worked example we just calculated. Distinguish the represented recovery point from the interval required to restore service. If part of the incident response is not measured, say what remains unknown rather than inventing a duration that makes the target pass.</a:t>
            </a:r>
          </a:p>
          <a:p xmlns:a="http://schemas.openxmlformats.org/drawingml/2006/main">
            <a:r>
              <a:t/>
            </a:r>
          </a:p>
          <a:p xmlns:a="http://schemas.openxmlformats.org/drawingml/2006/main">
            <a:r>
              <a:t>Work from the member states and incident times in the lab. Leave your cloud deployment running normally. Explain the proposed behavior as if a colleague were deciding what a confirmation message should mean. Name the reason for each setting and describe the result when the required members cannot respond.</a:t>
            </a:r>
          </a:p>
          <a:p xmlns:a="http://schemas.openxmlformats.org/drawingml/2006/main">
            <a:r>
              <a:t/>
            </a:r>
          </a:p>
          <a:p xmlns:a="http://schemas.openxmlformats.org/drawingml/2006/main">
            <a:r>
              <a:t>We will also introduce the final through the single final-project page linked in this week's guide. Use your existing project notes to identify an important write and the behavior its user expects. That discussion transfers today's ideas into a project without adding another Week 12 deliverable or replacing the final's canonical instructions with a competing checklist.</a:t>
            </a:r>
          </a:p>
          <a:p xmlns:a="http://schemas.openxmlformats.org/drawingml/2006/main">
            <a:r>
              <a:t/>
            </a:r>
          </a:p>
          <a:p xmlns:a="http://schemas.openxmlformats.org/drawingml/2006/main">
            <a:r>
              <a:t>Sources: course/weeks/week_12/lab_01_reliability_decisions.md and course/assignments/final_project.md.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second class moves from reasoning about failure to performing a small recovery. The notebook starts with five synthetic tickets and creates an inspectable saved artifact. It restores the documents into a different target so that the source remains available and the recovery process does not overwrite the collection we are trying to understand.</a:t>
            </a:r>
          </a:p>
          <a:p xmlns:a="http://schemas.openxmlformats.org/drawingml/2006/main">
            <a:r>
              <a:t/>
            </a:r>
          </a:p>
          <a:p xmlns:a="http://schemas.openxmlformats.org/drawingml/2006/main">
            <a:r>
              <a:t>Successful insertion into that target is only the beginning. We will compare the restored information with the saved version and introduce one deliberate error after restoration. The result keeps the correct count, the correct identifiers, and valid date types, but a subject is wrong. That counterexample lets us examine what our checks actually establish.</a:t>
            </a:r>
          </a:p>
          <a:p xmlns:a="http://schemas.openxmlformats.org/drawingml/2006/main">
            <a:r>
              <a:t/>
            </a:r>
          </a:p>
          <a:p xmlns:a="http://schemas.openxmlformats.org/drawingml/2006/main">
            <a:r>
              <a:t>Your repair selects the saved document for one ticket and replaces the damaged version. The surrounding code is provided so that the work focuses on the source of the recovery value and the operation's result. Repeating the repair should not create another ticket or change an unrelated one.</a:t>
            </a:r>
          </a:p>
          <a:p xmlns:a="http://schemas.openxmlformats.org/drawingml/2006/main">
            <a:r>
              <a:t/>
            </a:r>
          </a:p>
          <a:p xmlns:a="http://schemas.openxmlformats.org/drawingml/2006/main">
            <a:r>
              <a:t>We will then distinguish those document values from the collection's operational rules. The JSON file does not recreate the unique business key, compound index, or validator automatically. Restoring those definitions and testing their behavior is a separate part of reopening the application. The finished notebook and a short recommendation inside it form the one submission for this class.</a:t>
            </a:r>
          </a:p>
          <a:p xmlns:a="http://schemas.openxmlformats.org/drawingml/2006/main">
            <a:r>
              <a:t/>
            </a:r>
          </a:p>
          <a:p xmlns:a="http://schemas.openxmlformats.org/drawingml/2006/main">
            <a:r>
              <a:t>Sources: Current Notebook 05 and Week 12 Lab 2. All ticket values and the incorrect-migration scenario are synthetic course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default notebook uses an in-memory library called mongomock. It lets us work with the documents, serialize and parse the artifact, repair the target, and test the unique ticket-number index without an Atlas account. It does not implement the server's schema validation feature. The notebook therefore labels those schema outcomes as a supplied trace rather than pretending the local library enforced the rules.</a:t>
            </a:r>
          </a:p>
          <a:p xmlns:a="http://schemas.openxmlformats.org/drawingml/2006/main">
            <a:r>
              <a:t/>
            </a:r>
          </a:p>
          <a:p xmlns:a="http://schemas.openxmlformats.org/drawingml/2006/main">
            <a:r>
              <a:t>The Atlas path runs the same recovery work against MongoDB and adds actual server schema tests. To use it, the notebook must connect from its own runtime. In Colab, that runtime belongs to Google's environment. Adding the current IP from your laptop's browser can therefore authorize a different computer from the one running Python.</a:t>
            </a:r>
          </a:p>
          <a:p xmlns:a="http://schemas.openxmlformats.org/drawingml/2006/main">
            <a:r>
              <a:t/>
            </a:r>
          </a:p>
          <a:p xmlns:a="http://schemas.openxmlformats.org/drawingml/2006/main">
            <a:r>
              <a:t>The notebook prints the runtime IPv4 address before the connection cell. Add that single address as a temporary slash-thirty-two entry and wait for the rule to become active. Enter the driver URI only in the hidden prompt. Keep TLS certificate verification enabled rather than treating an insecure switch as a connection fix.</a:t>
            </a:r>
          </a:p>
          <a:p xmlns:a="http://schemas.openxmlformats.org/drawingml/2006/main">
            <a:r>
              <a:t/>
            </a:r>
          </a:p>
          <a:p xmlns:a="http://schemas.openxmlformats.org/drawingml/2006/main">
            <a:r>
              <a:t>The database user also needs the operations used in the two practice databases, including collection modification for validation. A website login and a successful ping do not grant those permissions. If setup would prevent the lesson, local mode remains available, with its limitation stated accurately in the recommendation.</a:t>
            </a:r>
          </a:p>
          <a:p xmlns:a="http://schemas.openxmlformats.org/drawingml/2006/main">
            <a:r>
              <a:t/>
            </a:r>
          </a:p>
          <a:p xmlns:a="http://schemas.openxmlformats.org/drawingml/2006/main">
            <a:r>
              <a:t>Sources: Current Notebook 05 connection cells; https://www.mongodb.com/docs/atlas/security/ip-access-list/ ; https://www.mongodb.com/docs/languages/python/pymongo-driver/current/security/tls/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five records in the recovery notebook. They are a fresh, self-contained fixture. We do not need a surviving collection from last week's class, and we should not assume that a reused ticket number means every field matches a previous teaching example.</a:t>
            </a:r>
          </a:p>
          <a:p xmlns:a="http://schemas.openxmlformats.org/drawingml/2006/main">
            <a:r>
              <a:t/>
            </a:r>
          </a:p>
          <a:p xmlns:a="http://schemas.openxmlformats.org/drawingml/2006/main">
            <a:r>
              <a:t>Read the statuses first. Ticket 1001 is open. Ticket 1002 is in progress. Ticket 1004 is new. Those are the three active tickets under the course's definition. Tickets 1003 and 1005 are resolved, but they are still part of the saved dataset. Recovering the active-query result must not accidentally mean recovering only active records and silently losing resolved history.</a:t>
            </a:r>
          </a:p>
          <a:p xmlns:a="http://schemas.openxmlformats.org/drawingml/2006/main">
            <a:r>
              <a:t/>
            </a:r>
          </a:p>
          <a:p xmlns:a="http://schemas.openxmlformats.org/drawingml/2006/main">
            <a:r>
              <a:t>The subjects give us known values that are easy to recognize. The first ticket concerns a dark streetlight near a bus stop. Ticket 1004 concerns a broken bench slat. Either can be used for the supplied incorrect-migration case later. Their distinct content helps us check more than the existence of the ticket number.</a:t>
            </a:r>
          </a:p>
          <a:p xmlns:a="http://schemas.openxmlformats.org/drawingml/2006/main">
            <a:r>
              <a:t/>
            </a:r>
          </a:p>
          <a:p xmlns:a="http://schemas.openxmlformats.org/drawingml/2006/main">
            <a:r>
              <a:t>The opening times are UTC values in February 2026. The notebook constructs actual datetime values and the driver stores BSON dates. The abbreviated display on this slide is for readability. Later we will inspect a type-preserving representation and compare it with a parser that recognizes only ordinary JSON structure. All five documents should survive the complete recovery exercise.</a:t>
            </a:r>
          </a:p>
          <a:p xmlns:a="http://schemas.openxmlformats.org/drawingml/2006/main">
            <a:r>
              <a:t/>
            </a:r>
          </a:p>
          <a:p xmlns:a="http://schemas.openxmlformats.org/drawingml/2006/main">
            <a:r>
              <a:t>Sources: Exact current Notebook 05 source fixture. This table abbreviates display dates but does not change their recorded instants.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Ordinary JSON supports numbers, strings, objects, arrays, booleans, and null. It does not define a native date value or distinguish every numeric storage type that BSON supports. An application can agree on a representation, but the parser must understand that agreement if it is to reconstruct the intended stored types.</a:t>
            </a:r>
          </a:p>
          <a:p xmlns:a="http://schemas.openxmlformats.org/drawingml/2006/main">
            <a:r>
              <a:t/>
            </a:r>
          </a:p>
          <a:p xmlns:a="http://schemas.openxmlformats.org/drawingml/2006/main">
            <a:r>
              <a:t>This example shows two selected fields from ticket 1001 in Canonical Extended JSON. The numberInt marker identifies the integer ticket number. The date marker contains a numberLong value representing milliseconds since the Unix epoch. For the opening time in our fixture, that value corresponds to February first at twenty-three ten UTC.</a:t>
            </a:r>
          </a:p>
          <a:p xmlns:a="http://schemas.openxmlformats.org/drawingml/2006/main">
            <a:r>
              <a:t/>
            </a:r>
          </a:p>
          <a:p xmlns:a="http://schemas.openxmlformats.org/drawingml/2006/main">
            <a:r>
              <a:t>The quotation marks around the marker's numeric text do not mean that the intended recovered date is just an arbitrary string. The combination of reserved marker keys and values tells a BSON-aware parser how to interpret it. A parser that knows only JSON can read the syntax while leaving these marker objects as ordinary dictionaries.</a:t>
            </a:r>
          </a:p>
          <a:p xmlns:a="http://schemas.openxmlformats.org/drawingml/2006/main">
            <a:r>
              <a:t/>
            </a:r>
          </a:p>
          <a:p xmlns:a="http://schemas.openxmlformats.org/drawingml/2006/main">
            <a:r>
              <a:t>Canonical mode emphasizes preservation of BSON type information. That makes the text more explicit and sometimes less compact than a display intended only for people. We use it here because a restore should retain the stored meaning, not merely produce similar-looking text. The next example makes the difference between a successful JSON parse and a typed reconstruction visible in Python.</a:t>
            </a:r>
          </a:p>
          <a:p xmlns:a="http://schemas.openxmlformats.org/drawingml/2006/main">
            <a:r>
              <a:t/>
            </a:r>
          </a:p>
          <a:p xmlns:a="http://schemas.openxmlformats.org/drawingml/2006/main">
            <a:r>
              <a:t>Sources: Selected fields from Notebook 05; https://www.mongodb.com/docs/languages/python/pymongo-driver/current/data-formats/extended-json/ ; https://www.mongodb.com/docs/manual/reference/bson-types/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parsers receive the same valid JSON text. The text contains an opened-at field whose value uses the Extended JSON date marker. The ordinary json library successfully parses that syntax, so there is no JSON syntax error to warn us that we are using the narrower interpretation.</a:t>
            </a:r>
          </a:p>
          <a:p xmlns:a="http://schemas.openxmlformats.org/drawingml/2006/main">
            <a:r>
              <a:t/>
            </a:r>
          </a:p>
          <a:p xmlns:a="http://schemas.openxmlformats.org/drawingml/2006/main">
            <a:r>
              <a:t>The first output is dict. The opened-at value is still a Python dictionary holding the marker structure. It is not a datetime value that the driver can use as the same BSON date merely because the keys happen to contain a dollar sign and the word date.</a:t>
            </a:r>
          </a:p>
          <a:p xmlns:a="http://schemas.openxmlformats.org/drawingml/2006/main">
            <a:r>
              <a:t/>
            </a:r>
          </a:p>
          <a:p xmlns:a="http://schemas.openxmlformats.org/drawingml/2006/main">
            <a:r>
              <a:t>The second parser comes from BSON's json_util module. It understands the marker convention and, with the notebook's options, reconstructs the corresponding datetime. The second output is therefore datetime. The options also keep our UTC-aware date handling consistent across the source, file parse, and restored database values.</a:t>
            </a:r>
          </a:p>
          <a:p xmlns:a="http://schemas.openxmlformats.org/drawingml/2006/main">
            <a:r>
              <a:t/>
            </a:r>
          </a:p>
          <a:p xmlns:a="http://schemas.openxmlformats.org/drawingml/2006/main">
            <a:r>
              <a:t>This difference is more useful than a general instruction to check types because we can observe the two actual results. A plain parse can be appropriate when a program intends to inspect or transform the marker objects. It is incomplete when our goal is to reconstruct the original stored date without that extra interpretation. In the notebook, we use the BSON-aware result before inserting the recovered documents, then verify the resulting values rather than assuming the parser's name is sufficient evidence.</a:t>
            </a:r>
          </a:p>
          <a:p xmlns:a="http://schemas.openxmlformats.org/drawingml/2006/main">
            <a:r>
              <a:t/>
            </a:r>
          </a:p>
          <a:p xmlns:a="http://schemas.openxmlformats.org/drawingml/2006/main">
            <a:r>
              <a:t>Sources: Original course parser comparison using the exact ticket 1001 instant; https://pymongo.readthedocs.io/en/stable/api/bson/json_util.html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recovery workflow has three distinct objects. The source collection contains the five stored documents and its collection rules. The artifact contains selected document data encoded as Canonical Extended JSON. The separate target begins with the recovered documents and MongoDB's automatic internal-identifier index, but without the custom rules we will reconstruct later.</a:t>
            </a:r>
          </a:p>
          <a:p xmlns:a="http://schemas.openxmlformats.org/drawingml/2006/main">
            <a:r>
              <a:t/>
            </a:r>
          </a:p>
          <a:p xmlns:a="http://schemas.openxmlformats.org/drawingml/2006/main">
            <a:r>
              <a:t>The notebook keeps a manifest beside this process. It records the expected collection, count, identifiers, index definitions, validator definition, and file digest. That manifest stays in the notebook. It is not secretly embedded into each ticket document or automatically recovered from the document-only JSON file.</a:t>
            </a:r>
          </a:p>
          <a:p xmlns:a="http://schemas.openxmlformats.org/drawingml/2006/main">
            <a:r>
              <a:t/>
            </a:r>
          </a:p>
          <a:p xmlns:a="http://schemas.openxmlformats.org/drawingml/2006/main">
            <a:r>
              <a:t>Before resetting the disposable target, the restore checks the artifact's digest and parses the content. If either step fails, it should stop before discarding the existing target state. This ordering is useful even in a classroom because it makes a failed precondition visible instead of converting a bad artifact into another destructive step.</a:t>
            </a:r>
          </a:p>
          <a:p xmlns:a="http://schemas.openxmlformats.org/drawingml/2006/main">
            <a:r>
              <a:t/>
            </a:r>
          </a:p>
          <a:p xmlns:a="http://schemas.openxmlformats.org/drawingml/2006/main">
            <a:r>
              <a:t>A matching digest identifies the bytes recorded by the manifest. It does not prove a trusted origin, completeness, or a consistent snapshot across changing collections. Our source is a small quiescent fixture, so we can compare every saved document with a known baseline. Production recovery needs a strategy matched to its scale and invariants, as well as access and verification beyond this one-collection demonstration.</a:t>
            </a:r>
          </a:p>
          <a:p xmlns:a="http://schemas.openxmlformats.org/drawingml/2006/main">
            <a:r>
              <a:t/>
            </a:r>
          </a:p>
          <a:p xmlns:a="http://schemas.openxmlformats.org/drawingml/2006/main">
            <a:r>
              <a:t>Sources: Current Notebook 05 export/manifest/restore cells. Diagram is an authored explanation of that exact scope, not a claim of a production snapshot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target now contains an intentionally wrong subject. In the displayed case, ticket 1001 should describe a dark streetlight near a bus stop. The incorrect migration replaced that subject with unrelated text. No document was inserted or deleted by this change.</a:t>
            </a:r>
          </a:p>
          <a:p xmlns:a="http://schemas.openxmlformats.org/drawingml/2006/main">
            <a:r>
              <a:t/>
            </a:r>
          </a:p>
          <a:p xmlns:a="http://schemas.openxmlformats.org/drawingml/2006/main">
            <a:r>
              <a:t>That explains the first true result: there are still five documents. The update also left every ticket number unchanged, so the expected identifiers still match. It did not change opened-at, so the datetime check also remains true. Each check answers a legitimate question, but none of those questions concerns whether this subject matches the saved version.</a:t>
            </a:r>
          </a:p>
          <a:p xmlns:a="http://schemas.openxmlformats.org/drawingml/2006/main">
            <a:r>
              <a:t/>
            </a:r>
          </a:p>
          <a:p xmlns:a="http://schemas.openxmlformats.org/drawingml/2006/main">
            <a:r>
              <a:t>The complete typed-value comparison becomes false. The notebook serializes the compared values with the same Canonical Extended JSON options and sorted field names. That also avoids treating an integer and an equal-valued double as interchangeable simply because ordinary Python numeric equality permits that comparison.</a:t>
            </a:r>
          </a:p>
          <a:p xmlns:a="http://schemas.openxmlformats.org/drawingml/2006/main">
            <a:r>
              <a:t/>
            </a:r>
          </a:p>
          <a:p xmlns:a="http://schemas.openxmlformats.org/drawingml/2006/main">
            <a:r>
              <a:t>The subject remains a string, so the schema alone cannot identify its incorrect business meaning. A validator can reject a missing or wrong-typed field while accepting a plausible but inaccurate value. This is why recovering data and restoring rules are complementary activities. For your repair, we know the correct value because we retained the earlier artifact. We are not asking you to guess the resident's intended subject from the damaged database.</a:t>
            </a:r>
          </a:p>
          <a:p xmlns:a="http://schemas.openxmlformats.org/drawingml/2006/main">
            <a:r>
              <a:t/>
            </a:r>
          </a:p>
          <a:p xmlns:a="http://schemas.openxmlformats.org/drawingml/2006/main">
            <a:r>
              <a:t>Sources: Current Notebook 05 incorrect-migration case and typed-value comparison. Results were tested for both documented student ticket choices.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saved lookup uses documents parsed from the verified artifact. It is not a fresh query against the source or the damaged restore target. That matters because the current target is precisely the state we have reason to distrust. Each ticket number selects its saved document in this lookup.</a:t>
            </a:r>
          </a:p>
          <a:p xmlns:a="http://schemas.openxmlformats.org/drawingml/2006/main">
            <a:r>
              <a:t/>
            </a:r>
          </a:p>
          <a:p xmlns:a="http://schemas.openxmlformats.org/drawingml/2006/main">
            <a:r>
              <a:t>The replacement call has two arguments to read separately. The first selects the existing ticket using the damaged ticket number. The second supplies the complete saved document as the replacement. The saved internal identifier still belongs to that same document, so the operation restores its values without inventing a different identity.</a:t>
            </a:r>
          </a:p>
          <a:p xmlns:a="http://schemas.openxmlformats.org/drawingml/2006/main">
            <a:r>
              <a:t/>
            </a:r>
          </a:p>
          <a:p xmlns:a="http://schemas.openxmlformats.org/drawingml/2006/main">
            <a:r>
              <a:t>On the first repair of the supplied error, one document matches and one document changes. On a repeated repair, the same document still matches, but its values already agree with the replacement, so the modified count is zero. The total remains five. A zero modified count on that second run is not evidence that the intended ticket vanished.</a:t>
            </a:r>
          </a:p>
          <a:p xmlns:a="http://schemas.openxmlformats.org/drawingml/2006/main">
            <a:r>
              <a:t/>
            </a:r>
          </a:p>
          <a:p xmlns:a="http://schemas.openxmlformats.org/drawingml/2006/main">
            <a:r>
              <a:t>This is a useful example of interpreting operation results in context. We check which record matched, whether the values now agree, and whether another record appeared. The student change is selecting the correct saved document in the provided code. The important explanation is why that source and replacement are appropriate, and why the earlier count-only confidence was insufficient.</a:t>
            </a:r>
          </a:p>
          <a:p xmlns:a="http://schemas.openxmlformats.org/drawingml/2006/main">
            <a:r>
              <a:t/>
            </a:r>
          </a:p>
          <a:p xmlns:a="http://schemas.openxmlformats.org/drawingml/2006/main">
            <a:r>
              <a:t>Sources: Current Notebook 05 documented repair; https://www.mongodb.com/docs/languages/python/pymongo-driver/current/crud/replace/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and the document-only restore can contain matching ticket documents while behaving differently on the next write. Collection rules are not ordinary fields that travel inside each ticket. We must examine them as a separate part of the recovered system.</a:t>
            </a:r>
          </a:p>
          <a:p xmlns:a="http://schemas.openxmlformats.org/drawingml/2006/main">
            <a:r>
              <a:t/>
            </a:r>
          </a:p>
          <a:p xmlns:a="http://schemas.openxmlformats.org/drawingml/2006/main">
            <a:r>
              <a:t>MongoDB creates the internal-identifier index for the restored collection. That automatic index checks the internal id. It does not, by itself, prevent two documents with different internal ids from using the same business ticket number. Our unique ticket-id index supplied that separate rule in the source, and it is missing from the initial document-only restore.</a:t>
            </a:r>
          </a:p>
          <a:p xmlns:a="http://schemas.openxmlformats.org/drawingml/2006/main">
            <a:r>
              <a:t/>
            </a:r>
          </a:p>
          <a:p xmlns:a="http://schemas.openxmlformats.org/drawingml/2006/main">
            <a:r>
              <a:t>The compound index on status and opening date is also missing. Its definition concerns the keys and their order. The small five-ticket exercise does not establish a measured performance improvement from that index, but it does let us inspect whether the expected definition has been recreated.</a:t>
            </a:r>
          </a:p>
          <a:p xmlns:a="http://schemas.openxmlformats.org/drawingml/2006/main">
            <a:r>
              <a:t/>
            </a:r>
          </a:p>
          <a:p xmlns:a="http://schemas.openxmlformats.org/drawingml/2006/main">
            <a:r>
              <a:t>On the Atlas path, the source validator restricts required fields and permitted types or values. The document file does not reinstall that validator automatically. A name in an inventory is not enough to reconstruct every rule: the required key order, uniqueness flag, schema, and enforcement settings matter. This is why the colleague receiving only the JSON file should ask for the collection definitions and relevant environment information before assuming the application is ready to reopen.</a:t>
            </a:r>
          </a:p>
          <a:p xmlns:a="http://schemas.openxmlformats.org/drawingml/2006/main">
            <a:r>
              <a:t/>
            </a:r>
          </a:p>
          <a:p xmlns:a="http://schemas.openxmlformats.org/drawingml/2006/main">
            <a:r>
              <a:t>Sources: Current Notebook 05 source and document-only restore; https://www.mongodb.com/docs/manual/core/index-unique/ ; https://www.mongodb.com/docs/manual/core/schema-validation/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commands recreate the definitions separately from the saved ticket values. The first index uses ticket-id as a unique business key. The name makes it recognizable when we inspect the collection. The uniqueness option, not the friendly name, establishes the constraint.</a:t>
            </a:r>
          </a:p>
          <a:p xmlns:a="http://schemas.openxmlformats.org/drawingml/2006/main">
            <a:r>
              <a:t/>
            </a:r>
          </a:p>
          <a:p xmlns:a="http://schemas.openxmlformats.org/drawingml/2006/main">
            <a:r>
              <a:t>The second index orders status ascending and opening date descending. This returns a definition used by the workload discussion in the course. Recreating an index is still a write to database metadata and needs the appropriate permission. Its existence should not be confused with a measured improvement for every query.</a:t>
            </a:r>
          </a:p>
          <a:p xmlns:a="http://schemas.openxmlformats.org/drawingml/2006/main">
            <a:r>
              <a:t/>
            </a:r>
          </a:p>
          <a:p xmlns:a="http://schemas.openxmlformats.org/drawingml/2006/main">
            <a:r>
              <a:t>The final command runs only on the Atlas path. The notebook has already defined ticket-validator as the schema for this five-ticket fixture. collMod installs that validator on the restored collection with strict validation and an error action. The local library cannot execute that server feature, so the code skips it and states the limitation.</a:t>
            </a:r>
          </a:p>
          <a:p xmlns:a="http://schemas.openxmlformats.org/drawingml/2006/main">
            <a:r>
              <a:t/>
            </a:r>
          </a:p>
          <a:p xmlns:a="http://schemas.openxmlformats.org/drawingml/2006/main">
            <a:r>
              <a:t>Installing a schema does not rewrite an inaccurate subject into the value the resident intended. Nor is issuing a successful metadata command the end of verification. We still need an allowed input and rejected counterexamples to demonstrate the rule's behavior. Keeping reconstruction separate from data restoration lets us explain exactly which part of the procedure supplied the missing behavior and which assumptions remain outside this artifact's scope.</a:t>
            </a:r>
          </a:p>
          <a:p xmlns:a="http://schemas.openxmlformats.org/drawingml/2006/main">
            <a:r>
              <a:t/>
            </a:r>
          </a:p>
          <a:p xmlns:a="http://schemas.openxmlformats.org/drawingml/2006/main">
            <a:r>
              <a:t>Sources: Current Notebook 05 rule reconstruction; https://www.mongodb.com/docs/manual/reference/command/collMod/ ; https://www.mongodb.com/docs/manual/core/schema-validation/specify-validation-level/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test is an allowed write. A validator that rejects everything would not make a usable application, so success on a valid example matters. The temporary ticket uses values that satisfy the notebook's required fields and permitted types. It should be accepted before we interpret any negative case.</a:t>
            </a:r>
          </a:p>
          <a:p xmlns:a="http://schemas.openxmlformats.org/drawingml/2006/main">
            <a:r>
              <a:t/>
            </a:r>
          </a:p>
          <a:p xmlns:a="http://schemas.openxmlformats.org/drawingml/2006/main">
            <a:r>
              <a:t>The duplicate test uses a new internal identifier but repeats ticket number 1001. The separate unique business-key index must reject it. Error eleven-thousand identifies that duplicate-key failure. It is different from document-validation error one-twenty-one, which the Atlas path expects for the three schema counterexamples.</a:t>
            </a:r>
          </a:p>
          <a:p xmlns:a="http://schemas.openxmlformats.org/drawingml/2006/main">
            <a:r>
              <a:t/>
            </a:r>
          </a:p>
          <a:p xmlns:a="http://schemas.openxmlformats.org/drawingml/2006/main">
            <a:r>
              <a:t>Those counterexamples change one relevant property at a time: an unsupported status, a date represented as text, and a required date that is absent. A network error or permission denial would not establish that the schema rejected the intended input. The notebook propagates unrelated errors rather than counting every failure as a successful test.</a:t>
            </a:r>
          </a:p>
          <a:p xmlns:a="http://schemas.openxmlformats.org/drawingml/2006/main">
            <a:r>
              <a:t/>
            </a:r>
          </a:p>
          <a:p xmlns:a="http://schemas.openxmlformats.org/drawingml/2006/main">
            <a:r>
              <a:t>Both paths exercise their unique-index behavior. Only the real server path enforces the schema here. The local schema lines are a supplied trace to interpret, and your recommendation should preserve that distinction. The notebook then removes its temporary records and leaves the five practice tickets. Tests should tell us something about the restored application behavior without quietly leaving extra data behind.</a:t>
            </a:r>
          </a:p>
          <a:p xmlns:a="http://schemas.openxmlformats.org/drawingml/2006/main">
            <a:r>
              <a:t/>
            </a:r>
          </a:p>
          <a:p xmlns:a="http://schemas.openxmlformats.org/drawingml/2006/main">
            <a:r>
              <a:t>Sources: Current Notebook 05 positive/negative cases; https://www.mongodb.com/docs/manual/core/schema-validation/handle-invalid-documents/ ; https://www.mongodb.com/docs/manual/core/index-unique/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row describes the file we actually used. It contains selected collection documents in a BSON-aware textual representation. We reconstructed the collection rules from separate definitions. Receiving that file alone would not give a colleague every rule or hosted project setting required by the application.</a:t>
            </a:r>
          </a:p>
          <a:p xmlns:a="http://schemas.openxmlformats.org/drawingml/2006/main">
            <a:r>
              <a:t/>
            </a:r>
          </a:p>
          <a:p xmlns:a="http://schemas.openxmlformats.org/drawingml/2006/main">
            <a:r>
              <a:t>MongoDB Database Tools provide a broader logical dump and restore path. Within documented behavior, a dump can include selected namespace data and metadata such as collection options and index definitions. Compatibility, credentials, the destination namespace, and tool errors still matter. The broader scope should not be summarized as recreating an entire Atlas project.</a:t>
            </a:r>
          </a:p>
          <a:p xmlns:a="http://schemas.openxmlformats.org/drawingml/2006/main">
            <a:r>
              <a:t/>
            </a:r>
          </a:p>
          <a:p xmlns:a="http://schemas.openxmlformats.org/drawingml/2006/main">
            <a:r>
              <a:t>The PostgreSQL archive from Week 8 likewise carries schema and constraints within its selected dump scope. It differs from the document-only JSON file, but it also leaves hosted project settings and external application dependencies to separate procedures. The useful comparison identifies concrete contents and omissions rather than declaring one filename extension universally safer.</a:t>
            </a:r>
          </a:p>
          <a:p xmlns:a="http://schemas.openxmlformats.org/drawingml/2006/main">
            <a:r>
              <a:t/>
            </a:r>
          </a:p>
          <a:p xmlns:a="http://schemas.openxmlformats.org/drawingml/2006/main">
            <a:r>
              <a:t>Our source did not change during this classroom export. We have not established a live multi-collection snapshot, a point-in-time recovery service, or a production cutover plan. Those require additional mechanisms and tests. The exercise gives us a transparent way to reason about artifact scope and verify a small recovery, which is a foundation for understanding larger backup systems rather than a substitute for their operational requirements.</a:t>
            </a:r>
          </a:p>
          <a:p xmlns:a="http://schemas.openxmlformats.org/drawingml/2006/main">
            <a:r>
              <a:t/>
            </a:r>
          </a:p>
          <a:p xmlns:a="http://schemas.openxmlformats.org/drawingml/2006/main">
            <a:r>
              <a:t>Sources: https://www.mongodb.com/docs/database-tools/mongodump/ ; https://www.mongodb.com/docs/database-tools/mongorestore/ ; https://www.postgresql.org/docs/current/app-pgdump.html ; course Week 8 archive and Notebook 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the recovery notebook individually. Choose one of the two supplied ticket numbers for the incorrect-migration case, select its saved document in the repair cell, and check the resulting values. Repeat the repair so that you can interpret a matched record whose data no longer needs changing.</a:t>
            </a:r>
          </a:p>
          <a:p xmlns:a="http://schemas.openxmlformats.org/drawingml/2006/main">
            <a:r>
              <a:t/>
            </a:r>
          </a:p>
          <a:p xmlns:a="http://schemas.openxmlformats.org/drawingml/2006/main">
            <a:r>
              <a:t>Your short recommendation stays in the notebook. Explain why the incorrect subject survived the earlier checks, name a rule that required separate reconstruction, and compare the artifact's scope with the PostgreSQL archive from Week 8. Use the execution path you actually used. Interpreting a supplied schema trace should not become a claim that you tested a server validator.</a:t>
            </a:r>
          </a:p>
          <a:p xmlns:a="http://schemas.openxmlformats.org/drawingml/2006/main">
            <a:r>
              <a:t/>
            </a:r>
          </a:p>
          <a:p xmlns:a="http://schemas.openxmlformats.org/drawingml/2006/main">
            <a:r>
              <a:t>The cleanup code removes only the practice tickets collections from the two uniquely named databases. It also deletes this run's temporary JSON file and closes the Python client. It does not remove unrelated collections or shut down a shared hosted deployment. That narrow scope is deliberate: classroom cleanup should not become a reason to discard someone else's work.</a:t>
            </a:r>
          </a:p>
          <a:p xmlns:a="http://schemas.openxmlformats.org/drawingml/2006/main">
            <a:r>
              <a:t/>
            </a:r>
          </a:p>
          <a:p xmlns:a="http://schemas.openxmlformats.org/drawingml/2006/main">
            <a:r>
              <a:t>If you used Atlas, remove the temporary network-access entry separately and clear the printed runtime-IP output before submission. Keep the synthetic data and meaningful query results. Submit the completed notebook in Brightspace. No separate report, exported-file attachment, or additional final-project checkpoint is required for this lab.</a:t>
            </a:r>
          </a:p>
          <a:p xmlns:a="http://schemas.openxmlformats.org/drawingml/2006/main">
            <a:r>
              <a:t/>
            </a:r>
          </a:p>
          <a:p xmlns:a="http://schemas.openxmlformats.org/drawingml/2006/main">
            <a:r>
              <a:t>Sources: Current course/weeks/week_12/lab_02_mongodb_recovery.md and Notebook 05 cleanup cells. No hosted cluster deletion is part of the assignment.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interview explanation should connect a problem, an action, and a result that you can actually explain. The sample account names a small collection and a separate restore target. It identifies a concrete failure in the checking strategy: the right count did not prove the values were correct. It then describes recovering a document from a retained artifact and treating collection rules as a separate concern.</a:t>
            </a:r>
          </a:p>
          <a:p xmlns:a="http://schemas.openxmlformats.org/drawingml/2006/main">
            <a:r>
              <a:t/>
            </a:r>
          </a:p>
          <a:p xmlns:a="http://schemas.openxmlformats.org/drawingml/2006/main">
            <a:r>
              <a:t>You do not need to inflate this into a claim of running production disaster recovery. You can show the code, explain the expected values, and discuss what the experiment left out. That makes the account useful to a developer, analyst, or database operator who wants to understand how you reason about data correctness.</a:t>
            </a:r>
          </a:p>
          <a:p xmlns:a="http://schemas.openxmlformats.org/drawingml/2006/main">
            <a:r>
              <a:t/>
            </a:r>
          </a:p>
          <a:p xmlns:a="http://schemas.openxmlformats.org/drawingml/2006/main">
            <a:r>
              <a:t>Adapt the statement to your actual path. If you used local mode, say which operations you executed and which schema behavior you interpreted from the supplied trace. If you used Atlas, distinguish its real validation results from the replica-state scenarios that we analyzed without triggering a failover.</a:t>
            </a:r>
          </a:p>
          <a:p xmlns:a="http://schemas.openxmlformats.org/drawingml/2006/main">
            <a:r>
              <a:t/>
            </a:r>
          </a:p>
          <a:p xmlns:a="http://schemas.openxmlformats.org/drawingml/2006/main">
            <a:r>
              <a:t>The same habits carry into the next week. Before recommending more capacity or sharding, we need a workload, a meaningful measure, and a clear limitation. Before loading another dataset through Python, we need to know its identifiers, types, and repeat-run behavior. Reliability, recovery, performance, and integration become connected engineering decisions rather than disconnected lists of product features.</a:t>
            </a:r>
          </a:p>
          <a:p xmlns:a="http://schemas.openxmlformats.org/drawingml/2006/main">
            <a:r>
              <a:t/>
            </a:r>
          </a:p>
          <a:p xmlns:a="http://schemas.openxmlformats.org/drawingml/2006/main">
            <a:r>
              <a:t>Sources: Authored career account based on the current Week 12 work; syllabus Week 13 capacity, sharding, and Python integration handoff. This is a model to adapt, not a claim about unperformed professional experience.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short animations go with this week's reading. Students can watch them before class to preview the mechanisms, or afterwards to review: Replica sets: oplog, lag, and elections (1:24); Write concern, read preference, and read concern (1:39); Replication is not backup: logical recovery (1:31). Each video is silent with on-screen captions and a subtitle file, and is linked from the Week 12 README. The diagrams are schematic illustrations, not benchmarks.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aabbc75f92da418d"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5f2db464669412a" Type="http://schemas.openxmlformats.org/officeDocument/2006/relationships/slideLayout" Target="../slideLayouts/slideLayout1.xml"/><Relationship Id="Rf476d0803bee4e58"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5f2db464669412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cbe51fd6fb504058" Type="http://schemas.openxmlformats.org/officeDocument/2006/relationships/notesSlide" Target="../notesSlides/notesSlide1.xml"/><Relationship Id="Rcf923c94c8524188"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609a4803219f4dd5" Type="http://schemas.openxmlformats.org/officeDocument/2006/relationships/slideLayout" Target="../slideLayouts/slideLayout1.xml"/><Relationship Id="Re5f0d5bb7fb7493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85a0ae08fc3c4e76" Type="http://schemas.openxmlformats.org/officeDocument/2006/relationships/slideLayout" Target="../slideLayouts/slideLayout1.xml"/><Relationship Id="Ra0bfee7004054b9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15cbbce163814054" Type="http://schemas.openxmlformats.org/officeDocument/2006/relationships/slideLayout" Target="../slideLayouts/slideLayout1.xml"/><Relationship Id="R5e8ab8325fb54e7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71b7185c75ad4971" Type="http://schemas.openxmlformats.org/officeDocument/2006/relationships/slideLayout" Target="../slideLayouts/slideLayout1.xml"/><Relationship Id="Rb9389a13c132465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3584f2a34e844a10" Type="http://schemas.openxmlformats.org/officeDocument/2006/relationships/slideLayout" Target="../slideLayouts/slideLayout1.xml"/><Relationship Id="Raa0e984c9efb47de"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9a574dccf8cf489a" Type="http://schemas.openxmlformats.org/officeDocument/2006/relationships/slideLayout" Target="../slideLayouts/slideLayout1.xml"/><Relationship Id="Rf2ff824346de483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00965babaa664224" Type="http://schemas.openxmlformats.org/officeDocument/2006/relationships/slideLayout" Target="../slideLayouts/slideLayout1.xml"/><Relationship Id="Rc8d770415c2a4d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94d53c53a561430b" Type="http://schemas.openxmlformats.org/officeDocument/2006/relationships/notesSlide" Target="../notesSlides/notesSlide9.xml"/><Relationship Id="Ref0e7004f97d428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59ebea57a9704c75" Type="http://schemas.openxmlformats.org/officeDocument/2006/relationships/notesSlide" Target="../notesSlides/notesSlide10.xml"/><Relationship Id="Rf298683ce34b42f2"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12b57dae59904fc6" Type="http://schemas.openxmlformats.org/officeDocument/2006/relationships/slideLayout" Target="../slideLayouts/slideLayout1.xml"/><Relationship Id="Rc3e939400e094bf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4ee5e3a005dd4ea1" Type="http://schemas.openxmlformats.org/officeDocument/2006/relationships/slideLayout" Target="../slideLayouts/slideLayout1.xml"/><Relationship Id="R7b50d4e2f051486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2b63a076ff324bf2" Type="http://schemas.openxmlformats.org/officeDocument/2006/relationships/slideLayout" Target="../slideLayouts/slideLayout1.xml"/><Relationship Id="Re43d8995c04e4c0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4dfb989c9e4942ae" Type="http://schemas.openxmlformats.org/officeDocument/2006/relationships/notesSlide" Target="../notesSlides/notesSlide14.xml"/><Relationship Id="R6497499aeb104b47"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3de2c76bf3da4dda" Type="http://schemas.openxmlformats.org/officeDocument/2006/relationships/slideLayout" Target="../slideLayouts/slideLayout1.xml"/><Relationship Id="Rd5706beffc2e4a2f" Type="http://schemas.openxmlformats.org/officeDocument/2006/relationships/notesSlide" Target="../notesSlides/notesSlide15.xml"/><Relationship Id="Rea1932ef1f6e4974" Type="http://schemas.openxmlformats.org/officeDocument/2006/relationships/image" Target="../media/image.png"/></Relationships>
</file>

<file path=ppt/slides/_rels/slide16.xml.rels><?xml version='1.0' encoding='UTF-8' standalone='yes'?>
<Relationships xmlns="http://schemas.openxmlformats.org/package/2006/relationships"><Relationship Id="R2a90371ddc4c4e01" Type="http://schemas.openxmlformats.org/officeDocument/2006/relationships/slideLayout" Target="../slideLayouts/slideLayout1.xml"/><Relationship Id="Rc9b5c238511c48da"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20510ede5b3c4d78" Type="http://schemas.openxmlformats.org/officeDocument/2006/relationships/slideLayout" Target="../slideLayouts/slideLayout1.xml"/><Relationship Id="Ra176d68e9f6842b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52f3f5effa1944ea" Type="http://schemas.openxmlformats.org/officeDocument/2006/relationships/notesSlide" Target="../notesSlides/notesSlide18.xml"/><Relationship Id="Ra13c9a0c271d438d"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a309914870034f64" Type="http://schemas.openxmlformats.org/officeDocument/2006/relationships/notesSlide" Target="../notesSlides/notesSlide19.xml"/><Relationship Id="Rd3cdb10604e44c50"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7078a27a51b34b77" Type="http://schemas.openxmlformats.org/officeDocument/2006/relationships/notesSlide" Target="../notesSlides/notesSlide20.xml"/><Relationship Id="Re6de4a3235b6410f"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410c8549ca2b40c0" Type="http://schemas.openxmlformats.org/officeDocument/2006/relationships/notesSlide" Target="../notesSlides/notesSlide21.xml"/><Relationship Id="Recef7adbf29444e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889396d53047422f" Type="http://schemas.openxmlformats.org/officeDocument/2006/relationships/notesSlide" Target="../notesSlides/notesSlide22.xml"/><Relationship Id="Re49f2f6471664b2a"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6ca0c6542f214c6b" Type="http://schemas.openxmlformats.org/officeDocument/2006/relationships/slideLayout" Target="../slideLayouts/slideLayout1.xml"/><Relationship Id="R9f9c3415ab4a4f6e"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4fa4acd1902f4aa5" Type="http://schemas.openxmlformats.org/officeDocument/2006/relationships/slideLayout" Target="../slideLayouts/slideLayout1.xml"/><Relationship Id="Rb09044fbd96b4c7e"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6ec351494eb24e16" Type="http://schemas.openxmlformats.org/officeDocument/2006/relationships/notesSlide" Target="../notesSlides/notesSlide25.xml"/><Relationship Id="Rf54afd4428094183"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84627a5ef25f4c55" Type="http://schemas.openxmlformats.org/officeDocument/2006/relationships/slideLayout" Target="../slideLayouts/slideLayout1.xml"/><Relationship Id="Rc9ade5e658c5453c"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8e937ec0b43d43b0" Type="http://schemas.openxmlformats.org/officeDocument/2006/relationships/slideLayout" Target="../slideLayouts/slideLayout1.xml"/><Relationship Id="R95757f3bf35946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0afff55c89004373" Type="http://schemas.openxmlformats.org/officeDocument/2006/relationships/notesSlide" Target="../notesSlides/notesSlide28.xml"/><Relationship Id="R44560b2fbcef4cb5"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45bb859138f8415d" Type="http://schemas.openxmlformats.org/officeDocument/2006/relationships/notesSlide" Target="../notesSlides/notesSlide29.xml"/><Relationship Id="R4da266d5f8114daf"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21382c1d45c54f83" Type="http://schemas.openxmlformats.org/officeDocument/2006/relationships/notesSlide" Target="../notesSlides/notesSlide30.xml"/><Relationship Id="R56a710c9ff0046fb"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hyperlink" Target="https://github.com/lolusername/CST4714_DB_admin/blob/main/week_12/videos/01_replica_set_election.mp4" TargetMode="External"/><Relationship Id="rId4" Type="http://schemas.openxmlformats.org/officeDocument/2006/relationships/image" Target="../media/image2.png"/><Relationship Id="rId5" Type="http://schemas.openxmlformats.org/officeDocument/2006/relationships/hyperlink" Target="https://github.com/lolusername/CST4714_DB_admin/blob/main/week_12/videos/02_write_read_concern.mp4" TargetMode="External"/><Relationship Id="rId6" Type="http://schemas.openxmlformats.org/officeDocument/2006/relationships/image" Target="../media/image3.png"/><Relationship Id="rId7" Type="http://schemas.openxmlformats.org/officeDocument/2006/relationships/hyperlink" Target="https://github.com/lolusername/CST4714_DB_admin/blob/main/week_12/videos/03_logical_recovery.mp4" TargetMode="External"/><Relationship Id="rId8" Type="http://schemas.openxmlformats.org/officeDocument/2006/relationships/notesSlide" Target="../notesSlides/notesSlide31.xml"/></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C8188069-8312-436A-BF1F-954C143EB015}"/>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12  /  CST4714</a:t>
            </a:r>
          </a:p>
        </p:txBody>
      </p:sp>
      <p:sp>
        <p:nvSpPr>
          <p:cNvPr id="2" name="slide-title">
            <a:extLst xmlns:a="http://schemas.openxmlformats.org/drawingml/2006/main">
              <a:ext uri="{FF2B5EF4-FFF2-40B4-BE49-F238E27FC236}">
                <a16:creationId xmlns:a16="http://schemas.microsoft.com/office/drawing/2014/main" id="{994DB46F-8C4E-4D58-81D3-E684DE354FF8}"/>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MongoDB Reliability and Recovery</a:t>
            </a:r>
          </a:p>
        </p:txBody>
      </p:sp>
      <p:sp>
        <p:nvSpPr>
          <p:cNvPr id="3" name="">
            <a:extLst xmlns:a="http://schemas.openxmlformats.org/drawingml/2006/main">
              <a:ext uri="{FF2B5EF4-FFF2-40B4-BE49-F238E27FC236}">
                <a16:creationId xmlns:a16="http://schemas.microsoft.com/office/drawing/2014/main" id="{92810E87-9198-4F5F-8E40-E1069F4D4E79}"/>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335DEA7F-29E1-4D07-A9BB-BED884646BF6}"/>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01</a:t>
            </a:r>
          </a:p>
        </p:txBody>
      </p:sp>
      <p:sp>
        <p:nvSpPr>
          <p:cNvPr id="5" name="opening">
            <a:extLst xmlns:a="http://schemas.openxmlformats.org/drawingml/2006/main">
              <a:ext uri="{FF2B5EF4-FFF2-40B4-BE49-F238E27FC236}">
                <a16:creationId xmlns:a16="http://schemas.microsoft.com/office/drawing/2014/main" id="{38E1A775-FF39-4EEA-B8A3-E0A9F6ABFD4D}"/>
              </a:ext>
            </a:extLst>
          </p:cNvPr>
          <p:cNvSpPr>
            <a:spLocks xmlns:a="http://schemas.openxmlformats.org/drawingml/2006/main" noGrp="1"/>
          </p:cNvSpPr>
          <p:nvPr/>
        </p:nvSpPr>
        <p:spPr>
          <a:xfrm xmlns:a="http://schemas.openxmlformats.org/drawingml/2006/main">
            <a:off x="723900" y="1981200"/>
            <a:ext cx="10668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0">
                <a:solidFill>
                  <a:srgbClr val="111827"/>
                </a:solidFill>
                <a:latin typeface="Georgia"/>
                <a:ea typeface="Georgia"/>
                <a:cs typeface="Georgia"/>
              </a:defRPr>
            </a:pPr>
            <a:r>
              <a:rPr sz="3450" b="0">
                <a:solidFill>
                  <a:srgbClr val="111827"/>
                </a:solidFill>
                <a:latin typeface="Georgia"/>
                <a:ea typeface="Georgia"/>
                <a:cs typeface="Georgia"/>
              </a:rPr>
              <a:t>A resident sees a confirmation.</a:t>
            </a:r>
          </a:p>
          <a:p xmlns:a="http://schemas.openxmlformats.org/drawingml/2006/main">
            <a:pPr>
              <a:defRPr sz="3450" b="0">
                <a:solidFill>
                  <a:srgbClr val="111827"/>
                </a:solidFill>
                <a:latin typeface="Georgia"/>
                <a:ea typeface="Georgia"/>
                <a:cs typeface="Georgia"/>
              </a:defRPr>
            </a:pPr>
            <a:r>
              <a:rPr sz="3450" b="0">
                <a:solidFill>
                  <a:srgbClr val="111827"/>
                </a:solidFill>
                <a:latin typeface="Georgia"/>
                <a:ea typeface="Georgia"/>
                <a:cs typeface="Georgia"/>
              </a:rPr>
              <a:t>The next page cannot find the request.</a:t>
            </a:r>
          </a:p>
        </p:txBody>
      </p:sp>
      <p:sp>
        <p:nvSpPr>
          <p:cNvPr id="6" name="arc">
            <a:extLst xmlns:a="http://schemas.openxmlformats.org/drawingml/2006/main">
              <a:ext uri="{FF2B5EF4-FFF2-40B4-BE49-F238E27FC236}">
                <a16:creationId xmlns:a16="http://schemas.microsoft.com/office/drawing/2014/main" id="{B8084447-3AAF-4465-A058-4808849CC651}"/>
              </a:ext>
            </a:extLst>
          </p:cNvPr>
          <p:cNvSpPr>
            <a:spLocks xmlns:a="http://schemas.openxmlformats.org/drawingml/2006/main" noGrp="1"/>
          </p:cNvSpPr>
          <p:nvPr/>
        </p:nvSpPr>
        <p:spPr>
          <a:xfrm xmlns:a="http://schemas.openxmlformats.org/drawingml/2006/main">
            <a:off x="723900" y="5219700"/>
            <a:ext cx="1066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475569"/>
                </a:solidFill>
                <a:latin typeface="Helvetica Neue"/>
                <a:ea typeface="Helvetica Neue"/>
                <a:cs typeface="Helvetica Neue"/>
              </a:defRPr>
            </a:pPr>
            <a:r>
              <a:rPr sz="2325" b="0">
                <a:solidFill>
                  <a:srgbClr val="475569"/>
                </a:solidFill>
                <a:latin typeface="Helvetica Neue"/>
                <a:ea typeface="Helvetica Neue"/>
                <a:cs typeface="Helvetica Neue"/>
              </a:rPr>
              <a:t>Day 1: acknowledgment, reads, and failure behavior</a:t>
            </a:r>
          </a:p>
          <a:p xmlns:a="http://schemas.openxmlformats.org/drawingml/2006/main">
            <a:pPr>
              <a:defRPr sz="2325" b="0">
                <a:solidFill>
                  <a:srgbClr val="475569"/>
                </a:solidFill>
                <a:latin typeface="Helvetica Neue"/>
                <a:ea typeface="Helvetica Neue"/>
                <a:cs typeface="Helvetica Neue"/>
              </a:defRPr>
            </a:pPr>
            <a:r>
              <a:rPr sz="2325" b="0">
                <a:solidFill>
                  <a:srgbClr val="475569"/>
                </a:solidFill>
                <a:latin typeface="Helvetica Neue"/>
                <a:ea typeface="Helvetica Neue"/>
                <a:cs typeface="Helvetica Neue"/>
              </a:rPr>
              <a:t>Day 2: recovering correct documents and their rules</a:t>
            </a:r>
          </a:p>
        </p:txBody>
      </p:sp>
    </p:spTree>
    <p:extLst>
      <p:ext uri="{BB962C8B-B14F-4D97-AF65-F5344CB8AC3E}">
        <p14:creationId xmlns:p14="http://schemas.microsoft.com/office/powerpoint/2010/main" val="1411623532"/>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E28A42A-829A-493F-A512-0F652F9A364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28BB5E32-BE76-49CF-B82A-F6F5DA66A7CF}"/>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12  /  CST4714</a:t>
            </a:r>
          </a:p>
        </p:txBody>
      </p:sp>
      <p:sp>
        <p:nvSpPr>
          <p:cNvPr id="3" name="slide-title">
            <a:extLst xmlns:a="http://schemas.openxmlformats.org/drawingml/2006/main">
              <a:ext uri="{FF2B5EF4-FFF2-40B4-BE49-F238E27FC236}">
                <a16:creationId xmlns:a16="http://schemas.microsoft.com/office/drawing/2014/main" id="{251EAF28-C8DF-456C-8CDC-49A8F84282DC}"/>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Primary, secondaries, and the oplog</a:t>
            </a:r>
          </a:p>
        </p:txBody>
      </p:sp>
      <p:sp>
        <p:nvSpPr>
          <p:cNvPr id="4" name="">
            <a:extLst xmlns:a="http://schemas.openxmlformats.org/drawingml/2006/main">
              <a:ext uri="{FF2B5EF4-FFF2-40B4-BE49-F238E27FC236}">
                <a16:creationId xmlns:a16="http://schemas.microsoft.com/office/drawing/2014/main" id="{9426E46D-A29D-4802-B03C-8463EC66EDB0}"/>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C47AEF6C-A1C6-4493-B8D7-12F54B32A9F4}"/>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7C414605-D3AC-45A5-B39B-DC16BD89CEED}"/>
              </a:ext>
            </a:extLst>
          </p:cNvPr>
          <p:cNvSpPr>
            <a:spLocks xmlns:a="http://schemas.openxmlformats.org/drawingml/2006/main" noGrp="1"/>
          </p:cNvSpPr>
          <p:nvPr/>
        </p:nvSpPr>
        <p:spPr>
          <a:xfrm xmlns:a="http://schemas.openxmlformats.org/drawingml/2006/main" flipV="1">
            <a:off x="2190750" y="2928938"/>
            <a:ext cx="3810000" cy="119063"/>
          </a:xfrm>
          <a:prstGeom xmlns:a="http://schemas.openxmlformats.org/drawingml/2006/main" prst="line">
            <a:avLst/>
          </a:prstGeom>
          <a:noFill xmlns:a="http://schemas.openxmlformats.org/drawingml/2006/main"/>
          <a:ln xmlns:a="http://schemas.openxmlformats.org/drawingml/2006/main" w="38100">
            <a:solidFill>
              <a:srgbClr val="1D4ED8"/>
            </a:solidFill>
            <a:prstDash val="solid"/>
          </a:ln>
        </p:spPr>
      </p:sp>
      <p:sp>
        <p:nvSpPr>
          <p:cNvPr id="7" name="">
            <a:extLst xmlns:a="http://schemas.openxmlformats.org/drawingml/2006/main">
              <a:ext uri="{FF2B5EF4-FFF2-40B4-BE49-F238E27FC236}">
                <a16:creationId xmlns:a16="http://schemas.microsoft.com/office/drawing/2014/main" id="{BF3F9D7B-DF3B-4649-B52E-35FD0A97224E}"/>
              </a:ext>
            </a:extLst>
          </p:cNvPr>
          <p:cNvSpPr>
            <a:spLocks xmlns:a="http://schemas.openxmlformats.org/drawingml/2006/main" noGrp="1"/>
          </p:cNvSpPr>
          <p:nvPr/>
        </p:nvSpPr>
        <p:spPr>
          <a:xfrm xmlns:a="http://schemas.openxmlformats.org/drawingml/2006/main" flipV="1">
            <a:off x="6000750" y="2262188"/>
            <a:ext cx="3976688" cy="66675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8" name="">
            <a:extLst xmlns:a="http://schemas.openxmlformats.org/drawingml/2006/main">
              <a:ext uri="{FF2B5EF4-FFF2-40B4-BE49-F238E27FC236}">
                <a16:creationId xmlns:a16="http://schemas.microsoft.com/office/drawing/2014/main" id="{C8BE3E63-0AE7-42C5-AE14-CEFA3EEE481B}"/>
              </a:ext>
            </a:extLst>
          </p:cNvPr>
          <p:cNvSpPr>
            <a:spLocks xmlns:a="http://schemas.openxmlformats.org/drawingml/2006/main" noGrp="1"/>
          </p:cNvSpPr>
          <p:nvPr/>
        </p:nvSpPr>
        <p:spPr>
          <a:xfrm xmlns:a="http://schemas.openxmlformats.org/drawingml/2006/main">
            <a:off x="7322344" y="2386013"/>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oplog</a:t>
            </a:r>
          </a:p>
        </p:txBody>
      </p:sp>
      <p:sp>
        <p:nvSpPr>
          <p:cNvPr id="9" name="">
            <a:extLst xmlns:a="http://schemas.openxmlformats.org/drawingml/2006/main">
              <a:ext uri="{FF2B5EF4-FFF2-40B4-BE49-F238E27FC236}">
                <a16:creationId xmlns:a16="http://schemas.microsoft.com/office/drawing/2014/main" id="{02CD4466-1DD4-463E-B960-FFE3ABB3B6A2}"/>
              </a:ext>
            </a:extLst>
          </p:cNvPr>
          <p:cNvSpPr>
            <a:spLocks xmlns:a="http://schemas.openxmlformats.org/drawingml/2006/main" noGrp="1"/>
          </p:cNvSpPr>
          <p:nvPr/>
        </p:nvSpPr>
        <p:spPr>
          <a:xfrm xmlns:a="http://schemas.openxmlformats.org/drawingml/2006/main">
            <a:off x="6000750" y="2928938"/>
            <a:ext cx="3976688" cy="14763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0" name="">
            <a:extLst xmlns:a="http://schemas.openxmlformats.org/drawingml/2006/main">
              <a:ext uri="{FF2B5EF4-FFF2-40B4-BE49-F238E27FC236}">
                <a16:creationId xmlns:a16="http://schemas.microsoft.com/office/drawing/2014/main" id="{DAE57629-AD16-4FDE-A1A5-F73AC399795C}"/>
              </a:ext>
            </a:extLst>
          </p:cNvPr>
          <p:cNvSpPr>
            <a:spLocks xmlns:a="http://schemas.openxmlformats.org/drawingml/2006/main" noGrp="1"/>
          </p:cNvSpPr>
          <p:nvPr/>
        </p:nvSpPr>
        <p:spPr>
          <a:xfrm xmlns:a="http://schemas.openxmlformats.org/drawingml/2006/main">
            <a:off x="7322344" y="3457575"/>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oplog</a:t>
            </a:r>
          </a:p>
        </p:txBody>
      </p:sp>
      <p:sp>
        <p:nvSpPr>
          <p:cNvPr id="11" name="">
            <a:extLst xmlns:a="http://schemas.openxmlformats.org/drawingml/2006/main">
              <a:ext uri="{FF2B5EF4-FFF2-40B4-BE49-F238E27FC236}">
                <a16:creationId xmlns:a16="http://schemas.microsoft.com/office/drawing/2014/main" id="{960FF578-FA3B-4AA8-80D5-B530A25291BC}"/>
              </a:ext>
            </a:extLst>
          </p:cNvPr>
          <p:cNvSpPr>
            <a:spLocks xmlns:a="http://schemas.openxmlformats.org/drawingml/2006/main" noGrp="1"/>
          </p:cNvSpPr>
          <p:nvPr/>
        </p:nvSpPr>
        <p:spPr>
          <a:xfrm xmlns:a="http://schemas.openxmlformats.org/drawingml/2006/main">
            <a:off x="1000125" y="2524125"/>
            <a:ext cx="2381250" cy="1047750"/>
          </a:xfrm>
          <a:prstGeom xmlns:a="http://schemas.openxmlformats.org/drawingml/2006/main" prst="rect">
            <a:avLst/>
          </a:prstGeom>
          <a:solidFill xmlns:a="http://schemas.openxmlformats.org/drawingml/2006/main">
            <a:srgbClr val="1D4ED8"/>
          </a:solidFill>
          <a:ln xmlns:a="http://schemas.openxmlformats.org/drawingml/2006/main" w="9525">
            <a:solidFill>
              <a:srgbClr val="1D4ED8"/>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Client write</a:t>
            </a:r>
          </a:p>
        </p:txBody>
      </p:sp>
      <p:sp>
        <p:nvSpPr>
          <p:cNvPr id="12" name="">
            <a:extLst xmlns:a="http://schemas.openxmlformats.org/drawingml/2006/main">
              <a:ext uri="{FF2B5EF4-FFF2-40B4-BE49-F238E27FC236}">
                <a16:creationId xmlns:a16="http://schemas.microsoft.com/office/drawing/2014/main" id="{60BC49F3-517A-4CF8-A5B0-1936AD2646BA}"/>
              </a:ext>
            </a:extLst>
          </p:cNvPr>
          <p:cNvSpPr>
            <a:spLocks xmlns:a="http://schemas.openxmlformats.org/drawingml/2006/main" noGrp="1"/>
          </p:cNvSpPr>
          <p:nvPr/>
        </p:nvSpPr>
        <p:spPr>
          <a:xfrm xmlns:a="http://schemas.openxmlformats.org/drawingml/2006/main">
            <a:off x="1000125" y="3667125"/>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ticket_id 1099</a:t>
            </a:r>
          </a:p>
        </p:txBody>
      </p:sp>
      <p:sp>
        <p:nvSpPr>
          <p:cNvPr id="13" name="">
            <a:extLst xmlns:a="http://schemas.openxmlformats.org/drawingml/2006/main">
              <a:ext uri="{FF2B5EF4-FFF2-40B4-BE49-F238E27FC236}">
                <a16:creationId xmlns:a16="http://schemas.microsoft.com/office/drawing/2014/main" id="{3BE6A590-CCF5-463B-B900-155E04AC4CA0}"/>
              </a:ext>
            </a:extLst>
          </p:cNvPr>
          <p:cNvSpPr>
            <a:spLocks xmlns:a="http://schemas.openxmlformats.org/drawingml/2006/main" noGrp="1"/>
          </p:cNvSpPr>
          <p:nvPr/>
        </p:nvSpPr>
        <p:spPr>
          <a:xfrm xmlns:a="http://schemas.openxmlformats.org/drawingml/2006/main">
            <a:off x="4762500" y="2238375"/>
            <a:ext cx="2476500" cy="138112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Primary A</a:t>
            </a:r>
          </a:p>
          <a:p xmlns:a="http://schemas.openxmlformats.org/drawingml/2006/main">
            <a:pPr algn="ctr">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accepts writes</a:t>
            </a:r>
          </a:p>
        </p:txBody>
      </p:sp>
      <p:sp>
        <p:nvSpPr>
          <p:cNvPr id="14" name="">
            <a:extLst xmlns:a="http://schemas.openxmlformats.org/drawingml/2006/main">
              <a:ext uri="{FF2B5EF4-FFF2-40B4-BE49-F238E27FC236}">
                <a16:creationId xmlns:a16="http://schemas.microsoft.com/office/drawing/2014/main" id="{6E38E5E2-0C54-42E1-A9D9-A3711C288DE0}"/>
              </a:ext>
            </a:extLst>
          </p:cNvPr>
          <p:cNvSpPr>
            <a:spLocks xmlns:a="http://schemas.openxmlformats.org/drawingml/2006/main" noGrp="1"/>
          </p:cNvSpPr>
          <p:nvPr/>
        </p:nvSpPr>
        <p:spPr>
          <a:xfrm xmlns:a="http://schemas.openxmlformats.org/drawingml/2006/main">
            <a:off x="4762500" y="3714750"/>
            <a:ext cx="247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records operation in oplog</a:t>
            </a:r>
          </a:p>
        </p:txBody>
      </p:sp>
      <p:sp>
        <p:nvSpPr>
          <p:cNvPr id="15" name="">
            <a:extLst xmlns:a="http://schemas.openxmlformats.org/drawingml/2006/main">
              <a:ext uri="{FF2B5EF4-FFF2-40B4-BE49-F238E27FC236}">
                <a16:creationId xmlns:a16="http://schemas.microsoft.com/office/drawing/2014/main" id="{C07D62A9-1C97-4CF6-9892-848124E828D3}"/>
              </a:ext>
            </a:extLst>
          </p:cNvPr>
          <p:cNvSpPr>
            <a:spLocks xmlns:a="http://schemas.openxmlformats.org/drawingml/2006/main" noGrp="1"/>
          </p:cNvSpPr>
          <p:nvPr/>
        </p:nvSpPr>
        <p:spPr>
          <a:xfrm xmlns:a="http://schemas.openxmlformats.org/drawingml/2006/main">
            <a:off x="8810625" y="1762125"/>
            <a:ext cx="233362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Secondary B</a:t>
            </a:r>
          </a:p>
        </p:txBody>
      </p:sp>
      <p:sp>
        <p:nvSpPr>
          <p:cNvPr id="16" name="">
            <a:extLst xmlns:a="http://schemas.openxmlformats.org/drawingml/2006/main">
              <a:ext uri="{FF2B5EF4-FFF2-40B4-BE49-F238E27FC236}">
                <a16:creationId xmlns:a16="http://schemas.microsoft.com/office/drawing/2014/main" id="{2857BE1C-449A-49F5-A9E2-4E66EA1A6B33}"/>
              </a:ext>
            </a:extLst>
          </p:cNvPr>
          <p:cNvSpPr>
            <a:spLocks xmlns:a="http://schemas.openxmlformats.org/drawingml/2006/main" noGrp="1"/>
          </p:cNvSpPr>
          <p:nvPr/>
        </p:nvSpPr>
        <p:spPr>
          <a:xfrm xmlns:a="http://schemas.openxmlformats.org/drawingml/2006/main">
            <a:off x="8810625" y="2857500"/>
            <a:ext cx="2333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fetches and applies</a:t>
            </a:r>
          </a:p>
        </p:txBody>
      </p:sp>
      <p:sp>
        <p:nvSpPr>
          <p:cNvPr id="17" name="">
            <a:extLst xmlns:a="http://schemas.openxmlformats.org/drawingml/2006/main">
              <a:ext uri="{FF2B5EF4-FFF2-40B4-BE49-F238E27FC236}">
                <a16:creationId xmlns:a16="http://schemas.microsoft.com/office/drawing/2014/main" id="{96215DFB-EC66-4C8A-A8E3-82C7DE713D8D}"/>
              </a:ext>
            </a:extLst>
          </p:cNvPr>
          <p:cNvSpPr>
            <a:spLocks xmlns:a="http://schemas.openxmlformats.org/drawingml/2006/main" noGrp="1"/>
          </p:cNvSpPr>
          <p:nvPr/>
        </p:nvSpPr>
        <p:spPr>
          <a:xfrm xmlns:a="http://schemas.openxmlformats.org/drawingml/2006/main">
            <a:off x="8810625" y="3905250"/>
            <a:ext cx="233362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Secondary C</a:t>
            </a:r>
          </a:p>
        </p:txBody>
      </p:sp>
      <p:sp>
        <p:nvSpPr>
          <p:cNvPr id="18" name="">
            <a:extLst xmlns:a="http://schemas.openxmlformats.org/drawingml/2006/main">
              <a:ext uri="{FF2B5EF4-FFF2-40B4-BE49-F238E27FC236}">
                <a16:creationId xmlns:a16="http://schemas.microsoft.com/office/drawing/2014/main" id="{29E25D9C-466F-409E-A362-D323DB9F2C20}"/>
              </a:ext>
            </a:extLst>
          </p:cNvPr>
          <p:cNvSpPr>
            <a:spLocks xmlns:a="http://schemas.openxmlformats.org/drawingml/2006/main" noGrp="1"/>
          </p:cNvSpPr>
          <p:nvPr/>
        </p:nvSpPr>
        <p:spPr>
          <a:xfrm xmlns:a="http://schemas.openxmlformats.org/drawingml/2006/main">
            <a:off x="8810625" y="5000625"/>
            <a:ext cx="2333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may temporarily lag</a:t>
            </a:r>
          </a:p>
        </p:txBody>
      </p:sp>
      <p:sp>
        <p:nvSpPr>
          <p:cNvPr id="19" name="">
            <a:extLst xmlns:a="http://schemas.openxmlformats.org/drawingml/2006/main">
              <a:ext uri="{FF2B5EF4-FFF2-40B4-BE49-F238E27FC236}">
                <a16:creationId xmlns:a16="http://schemas.microsoft.com/office/drawing/2014/main" id="{9BF6E575-E4FA-4EAE-874B-9618EDB7AE77}"/>
              </a:ext>
            </a:extLst>
          </p:cNvPr>
          <p:cNvSpPr>
            <a:spLocks xmlns:a="http://schemas.openxmlformats.org/drawingml/2006/main" noGrp="1"/>
          </p:cNvSpPr>
          <p:nvPr/>
        </p:nvSpPr>
        <p:spPr>
          <a:xfrm xmlns:a="http://schemas.openxmlformats.org/drawingml/2006/main">
            <a:off x="895350" y="56673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350">
                <a:solidFill>
                  <a:srgbClr val="475569"/>
                </a:solidFill>
                <a:latin typeface="Helvetica Neue"/>
                <a:ea typeface="Helvetica Neue"/>
                <a:cs typeface="Helvetica Neue"/>
              </a:defRPr>
            </a:pPr>
            <a:r>
              <a:rPr sz="1350">
                <a:solidFill>
                  <a:srgbClr val="475569"/>
                </a:solidFill>
                <a:latin typeface="Helvetica Neue"/>
                <a:ea typeface="Helvetica Neue"/>
                <a:cs typeface="Helvetica Neue"/>
              </a:rPr>
              <a:t>The oplog carries changes. Copies can lag, and election and reconnection take time.</a:t>
            </a:r>
          </a:p>
        </p:txBody>
      </p:sp>
    </p:spTree>
    <p:extLst>
      <p:ext uri="{BB962C8B-B14F-4D97-AF65-F5344CB8AC3E}">
        <p14:creationId xmlns:p14="http://schemas.microsoft.com/office/powerpoint/2010/main" val="823406426"/>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4DC53273-BCE2-4BC9-8627-598FD81F3F43}"/>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12  /  CST4714</a:t>
            </a:r>
          </a:p>
        </p:txBody>
      </p:sp>
      <p:sp>
        <p:nvSpPr>
          <p:cNvPr id="2" name="slide-title">
            <a:extLst xmlns:a="http://schemas.openxmlformats.org/drawingml/2006/main">
              <a:ext uri="{FF2B5EF4-FFF2-40B4-BE49-F238E27FC236}">
                <a16:creationId xmlns:a16="http://schemas.microsoft.com/office/drawing/2014/main" id="{5FE255D6-2575-4018-8265-98B8360BE002}"/>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Retaining a write and applying it</a:t>
            </a:r>
          </a:p>
        </p:txBody>
      </p:sp>
      <p:sp>
        <p:nvSpPr>
          <p:cNvPr id="3" name="">
            <a:extLst xmlns:a="http://schemas.openxmlformats.org/drawingml/2006/main">
              <a:ext uri="{FF2B5EF4-FFF2-40B4-BE49-F238E27FC236}">
                <a16:creationId xmlns:a16="http://schemas.microsoft.com/office/drawing/2014/main" id="{DADFBE66-F6A9-4D31-99A0-659FF7A7546D}"/>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B8E1F296-8C94-4CDA-A4B7-E161B35A500A}"/>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03</a:t>
            </a:r>
          </a:p>
        </p:txBody>
      </p:sp>
      <p:graphicFrame>
        <p:nvGraphicFramePr>
          <p:cNvPr id="12" name=""/>
          <p:cNvGraphicFramePr/>
          <p:nvPr/>
        </p:nvGraphicFramePr>
        <p:xfrm>
          <a:off xmlns:a="http://schemas.openxmlformats.org/drawingml/2006/main" x="685800" y="1733550"/>
          <a:ext xmlns:a="http://schemas.openxmlformats.org/drawingml/2006/main" cx="10820400" cy="3095625"/>
        </p:xfrm>
        <a:graphic xmlns:a="http://schemas.openxmlformats.org/drawingml/2006/main">
          <a:graphicData uri="http://schemas.openxmlformats.org/drawingml/2006/table">
            <a:tbl>
              <a:tblPr/>
              <a:tblGrid>
                <a:gridCol w="4076700"/>
                <a:gridCol w="2238375"/>
                <a:gridCol w="2238375"/>
                <a:gridCol w="2266950"/>
              </a:tblGrid>
              <a:tr h="619125">
                <a:tc>
                  <a:txBody>
                    <a:bodyPr lIns="114300" tIns="76200" rIns="114300" bIns="76200"/>
                    <a:lstStyle/>
                    <a:p>
                      <a:r>
                        <a:rPr sz="1950" b="1">
                          <a:solidFill>
                            <a:srgbClr val="FFFFFF"/>
                          </a:solidFill>
                          <a:latin typeface="Helvetica Neue"/>
                          <a:ea typeface="Helvetica Neue"/>
                          <a:cs typeface="Helvetica Neue"/>
                        </a:rPr>
                        <a:t>Moment</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A collection</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B collection</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C collection</a:t>
                      </a:r>
                    </a:p>
                  </a:txBody>
                  <a:tcPr marL="91440" marR="91440" marT="45720" marB="45720" anchor="ctr">
                    <a:solidFill>
                      <a:srgbClr val="214AE8"/>
                    </a:solidFill>
                  </a:tcPr>
                </a:tc>
              </a:tr>
              <a:tr h="619125">
                <a:tc>
                  <a:txBody>
                    <a:bodyPr lIns="114300" tIns="76200" rIns="114300" bIns="76200"/>
                    <a:lstStyle/>
                    <a:p>
                      <a:r>
                        <a:rPr sz="1950" b="0">
                          <a:solidFill>
                            <a:srgbClr val="111827"/>
                          </a:solidFill>
                          <a:latin typeface="Helvetica Neue"/>
                          <a:ea typeface="Helvetica Neue"/>
                          <a:cs typeface="Helvetica Neue"/>
                        </a:rPr>
                        <a:t>Before submission</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Absent</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Absent</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Absent</a:t>
                      </a:r>
                    </a:p>
                  </a:txBody>
                  <a:tcPr marL="91440" marR="91440" marT="45720" marB="45720" anchor="ctr">
                    <a:solidFill>
                      <a:srgbClr val="FFFFFF"/>
                    </a:solidFill>
                  </a:tcPr>
                </a:tc>
              </a:tr>
              <a:tr h="619125">
                <a:tc>
                  <a:txBody>
                    <a:bodyPr lIns="114300" tIns="76200" rIns="114300" bIns="76200"/>
                    <a:lstStyle/>
                    <a:p>
                      <a:r>
                        <a:rPr sz="1950" b="0">
                          <a:solidFill>
                            <a:srgbClr val="111827"/>
                          </a:solidFill>
                          <a:latin typeface="Helvetica Neue"/>
                          <a:ea typeface="Helvetica Neue"/>
                          <a:cs typeface="Helvetica Neue"/>
                        </a:rPr>
                        <a:t>A applies the insert</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Present</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Absent</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Absent</a:t>
                      </a:r>
                    </a:p>
                  </a:txBody>
                  <a:tcPr marL="91440" marR="91440" marT="45720" marB="45720" anchor="ctr">
                    <a:solidFill>
                      <a:srgbClr val="F1F5F9"/>
                    </a:solidFill>
                  </a:tcPr>
                </a:tc>
              </a:tr>
              <a:tr h="619125">
                <a:tc>
                  <a:txBody>
                    <a:bodyPr lIns="114300" tIns="76200" rIns="114300" bIns="76200"/>
                    <a:lstStyle/>
                    <a:p>
                      <a:r>
                        <a:rPr sz="1950" b="0">
                          <a:solidFill>
                            <a:srgbClr val="111827"/>
                          </a:solidFill>
                          <a:latin typeface="Helvetica Neue"/>
                          <a:ea typeface="Helvetica Neue"/>
                          <a:cs typeface="Helvetica Neue"/>
                        </a:rPr>
                        <a:t>B retains the oplog entry</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Present</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Not yet applied</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Absent</a:t>
                      </a:r>
                    </a:p>
                  </a:txBody>
                  <a:tcPr marL="91440" marR="91440" marT="45720" marB="45720" anchor="ctr">
                    <a:solidFill>
                      <a:srgbClr val="FFFFFF"/>
                    </a:solidFill>
                  </a:tcPr>
                </a:tc>
              </a:tr>
              <a:tr h="619125">
                <a:tc>
                  <a:txBody>
                    <a:bodyPr lIns="114300" tIns="76200" rIns="114300" bIns="76200"/>
                    <a:lstStyle/>
                    <a:p>
                      <a:r>
                        <a:rPr sz="1950" b="0">
                          <a:solidFill>
                            <a:srgbClr val="111827"/>
                          </a:solidFill>
                          <a:latin typeface="Helvetica Neue"/>
                          <a:ea typeface="Helvetica Neue"/>
                          <a:cs typeface="Helvetica Neue"/>
                        </a:rPr>
                        <a:t>B applies the insert</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Present</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Present</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Absent</a:t>
                      </a:r>
                    </a:p>
                  </a:txBody>
                  <a:tcPr marL="91440" marR="91440" marT="45720" marB="45720" anchor="ctr">
                    <a:solidFill>
                      <a:srgbClr val="F1F5F9"/>
                    </a:solidFill>
                  </a:tcPr>
                </a:tc>
              </a:tr>
            </a:tbl>
          </a:graphicData>
        </a:graphic>
      </p:graphicFrame>
      <p:sp>
        <p:nvSpPr>
          <p:cNvPr id="6" name="trace">
            <a:extLst xmlns:a="http://schemas.openxmlformats.org/drawingml/2006/main">
              <a:ext uri="{FF2B5EF4-FFF2-40B4-BE49-F238E27FC236}">
                <a16:creationId xmlns:a16="http://schemas.microsoft.com/office/drawing/2014/main" id="{1778758C-4FB0-4E4E-ADEA-A467F094F413}"/>
              </a:ext>
            </a:extLst>
          </p:cNvPr>
          <p:cNvSpPr>
            <a:spLocks xmlns:a="http://schemas.openxmlformats.org/drawingml/2006/main" noGrp="1"/>
          </p:cNvSpPr>
          <p:nvPr/>
        </p:nvSpPr>
        <p:spPr>
          <a:xfrm xmlns:a="http://schemas.openxmlformats.org/drawingml/2006/main">
            <a:off x="723900" y="525780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A and B can acknowledge their durable oplog entries in the third data row.</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B may still need to apply the insert before a collection read can see it.</a:t>
            </a:r>
          </a:p>
        </p:txBody>
      </p:sp>
      <p:sp>
        <p:nvSpPr>
          <p:cNvPr id="7" name="trace-boundary">
            <a:extLst xmlns:a="http://schemas.openxmlformats.org/drawingml/2006/main">
              <a:ext uri="{FF2B5EF4-FFF2-40B4-BE49-F238E27FC236}">
                <a16:creationId xmlns:a16="http://schemas.microsoft.com/office/drawing/2014/main" id="{A8A21F53-8EC5-4C2E-9699-758A27E50FC5}"/>
              </a:ext>
            </a:extLst>
          </p:cNvPr>
          <p:cNvSpPr>
            <a:spLocks xmlns:a="http://schemas.openxmlformats.org/drawingml/2006/main" noGrp="1"/>
          </p:cNvSpPr>
          <p:nvPr/>
        </p:nvSpPr>
        <p:spPr>
          <a:xfrm xmlns:a="http://schemas.openxmlformats.org/drawingml/2006/main">
            <a:off x="723900" y="620077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475569"/>
                </a:solidFill>
                <a:latin typeface="Helvetica Neue"/>
                <a:ea typeface="Helvetica Neue"/>
                <a:cs typeface="Helvetica Neue"/>
              </a:defRPr>
            </a:pPr>
            <a:r>
              <a:rPr sz="1725" b="0">
                <a:solidFill>
                  <a:srgbClr val="475569"/>
                </a:solidFill>
                <a:latin typeface="Helvetica Neue"/>
                <a:ea typeface="Helvetica Neue"/>
                <a:cs typeface="Helvetica Neue"/>
              </a:rPr>
              <a:t>MongoDB 8.0+ with default majority journaling. Supplied state trace.</a:t>
            </a:r>
          </a:p>
        </p:txBody>
      </p:sp>
    </p:spTree>
    <p:extLst>
      <p:ext uri="{BB962C8B-B14F-4D97-AF65-F5344CB8AC3E}">
        <p14:creationId xmlns:p14="http://schemas.microsoft.com/office/powerpoint/2010/main" val="187455770"/>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A65825B9-DA0E-42B4-B285-82D73BB29E1E}"/>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12  /  CST4714</a:t>
            </a:r>
          </a:p>
        </p:txBody>
      </p:sp>
      <p:sp>
        <p:nvSpPr>
          <p:cNvPr id="2" name="slide-title">
            <a:extLst xmlns:a="http://schemas.openxmlformats.org/drawingml/2006/main">
              <a:ext uri="{FF2B5EF4-FFF2-40B4-BE49-F238E27FC236}">
                <a16:creationId xmlns:a16="http://schemas.microsoft.com/office/drawing/2014/main" id="{F064A3AB-B8C2-46D3-8ABB-631B92FE9409}"/>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Write concern changes the acknowledgment</a:t>
            </a:r>
          </a:p>
        </p:txBody>
      </p:sp>
      <p:sp>
        <p:nvSpPr>
          <p:cNvPr id="3" name="">
            <a:extLst xmlns:a="http://schemas.openxmlformats.org/drawingml/2006/main">
              <a:ext uri="{FF2B5EF4-FFF2-40B4-BE49-F238E27FC236}">
                <a16:creationId xmlns:a16="http://schemas.microsoft.com/office/drawing/2014/main" id="{34958713-F50C-41BD-89F4-468D15C5984C}"/>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DE76FBAD-622A-4D25-9D80-8E908411D1BB}"/>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04</a:t>
            </a:r>
          </a:p>
        </p:txBody>
      </p:sp>
      <p:graphicFrame>
        <p:nvGraphicFramePr>
          <p:cNvPr id="11" name=""/>
          <p:cNvGraphicFramePr/>
          <p:nvPr/>
        </p:nvGraphicFramePr>
        <p:xfrm>
          <a:off xmlns:a="http://schemas.openxmlformats.org/drawingml/2006/main" x="685800" y="1752600"/>
          <a:ext xmlns:a="http://schemas.openxmlformats.org/drawingml/2006/main" cx="10820400" cy="3162300"/>
        </p:xfrm>
        <a:graphic xmlns:a="http://schemas.openxmlformats.org/drawingml/2006/main">
          <a:graphicData uri="http://schemas.openxmlformats.org/drawingml/2006/table">
            <a:tbl>
              <a:tblPr/>
              <a:tblGrid>
                <a:gridCol w="2705100"/>
                <a:gridCol w="3952875"/>
                <a:gridCol w="4162425"/>
              </a:tblGrid>
              <a:tr h="790575">
                <a:tc>
                  <a:txBody>
                    <a:bodyPr lIns="114300" tIns="76200" rIns="114300" bIns="76200"/>
                    <a:lstStyle/>
                    <a:p>
                      <a:r>
                        <a:rPr sz="1950" b="1">
                          <a:solidFill>
                            <a:srgbClr val="FFFFFF"/>
                          </a:solidFill>
                          <a:latin typeface="Helvetica Neue"/>
                          <a:ea typeface="Helvetica Neue"/>
                          <a:cs typeface="Helvetica Neue"/>
                        </a:rPr>
                        <a:t>Setting in this case</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Acknowledgment required</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A limitation</a:t>
                      </a:r>
                    </a:p>
                  </a:txBody>
                  <a:tcPr marL="91440" marR="91440" marT="45720" marB="45720" anchor="ctr">
                    <a:solidFill>
                      <a:srgbClr val="214AE8"/>
                    </a:solidFill>
                  </a:tcPr>
                </a:tc>
              </a:tr>
              <a:tr h="790575">
                <a:tc>
                  <a:txBody>
                    <a:bodyPr lIns="114300" tIns="76200" rIns="114300" bIns="76200"/>
                    <a:lstStyle/>
                    <a:p>
                      <a:r>
                        <a:rPr sz="1950" b="0">
                          <a:solidFill>
                            <a:srgbClr val="111827"/>
                          </a:solidFill>
                          <a:latin typeface="Helvetica Neue"/>
                          <a:ea typeface="Helvetica Neue"/>
                          <a:cs typeface="Helvetica Neue"/>
                        </a:rPr>
                        <a:t>w: 1</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The primary</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The write can lack a second retained copy</a:t>
                      </a:r>
                    </a:p>
                  </a:txBody>
                  <a:tcPr marL="91440" marR="91440" marT="45720" marB="45720" anchor="ctr">
                    <a:solidFill>
                      <a:srgbClr val="FFFFFF"/>
                    </a:solidFill>
                  </a:tcPr>
                </a:tc>
              </a:tr>
              <a:tr h="790575">
                <a:tc>
                  <a:txBody>
                    <a:bodyPr lIns="114300" tIns="76200" rIns="114300" bIns="76200"/>
                    <a:lstStyle/>
                    <a:p>
                      <a:r>
                        <a:rPr sz="1950" b="0">
                          <a:solidFill>
                            <a:srgbClr val="111827"/>
                          </a:solidFill>
                          <a:latin typeface="Helvetica Neue"/>
                          <a:ea typeface="Helvetica Neue"/>
                          <a:cs typeface="Helvetica Neue"/>
                        </a:rPr>
                        <a:t>w: "majority"</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Two voting, data-bearing members</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The required members must be reachable</a:t>
                      </a:r>
                    </a:p>
                  </a:txBody>
                  <a:tcPr marL="91440" marR="91440" marT="45720" marB="45720" anchor="ctr">
                    <a:solidFill>
                      <a:srgbClr val="F1F5F9"/>
                    </a:solidFill>
                  </a:tcPr>
                </a:tc>
              </a:tr>
              <a:tr h="790575">
                <a:tc>
                  <a:txBody>
                    <a:bodyPr lIns="114300" tIns="76200" rIns="114300" bIns="76200"/>
                    <a:lstStyle/>
                    <a:p>
                      <a:r>
                        <a:rPr sz="1950" b="0">
                          <a:solidFill>
                            <a:srgbClr val="111827"/>
                          </a:solidFill>
                          <a:latin typeface="Helvetica Neue"/>
                          <a:ea typeface="Helvetica Neue"/>
                          <a:cs typeface="Helvetica Neue"/>
                        </a:rPr>
                        <a:t>w: 3</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All three data-bearing members</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C is isolated, so this cannot complete now</a:t>
                      </a:r>
                    </a:p>
                  </a:txBody>
                  <a:tcPr marL="91440" marR="91440" marT="45720" marB="45720" anchor="ctr">
                    <a:solidFill>
                      <a:srgbClr val="FFFFFF"/>
                    </a:solidFill>
                  </a:tcPr>
                </a:tc>
              </a:tr>
            </a:tbl>
          </a:graphicData>
        </a:graphic>
      </p:graphicFrame>
      <p:sp>
        <p:nvSpPr>
          <p:cNvPr id="6" name="write-limit">
            <a:extLst xmlns:a="http://schemas.openxmlformats.org/drawingml/2006/main">
              <a:ext uri="{FF2B5EF4-FFF2-40B4-BE49-F238E27FC236}">
                <a16:creationId xmlns:a16="http://schemas.microsoft.com/office/drawing/2014/main" id="{E33161FA-1DE1-4417-9FEC-58503233F115}"/>
              </a:ext>
            </a:extLst>
          </p:cNvPr>
          <p:cNvSpPr>
            <a:spLocks xmlns:a="http://schemas.openxmlformats.org/drawingml/2006/main" noGrp="1"/>
          </p:cNvSpPr>
          <p:nvPr/>
        </p:nvSpPr>
        <p:spPr>
          <a:xfrm xmlns:a="http://schemas.openxmlformats.org/drawingml/2006/main">
            <a:off x="723900" y="5381625"/>
            <a:ext cx="10668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A timeout can stop the acknowledgment wait without undoing the write.</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Journaling and the deployment configuration also affect durability.</a:t>
            </a:r>
          </a:p>
        </p:txBody>
      </p:sp>
    </p:spTree>
    <p:extLst>
      <p:ext uri="{BB962C8B-B14F-4D97-AF65-F5344CB8AC3E}">
        <p14:creationId xmlns:p14="http://schemas.microsoft.com/office/powerpoint/2010/main" val="386684047"/>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887442DF-8285-4D1E-A515-F94EC4370831}"/>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12  /  CST4714</a:t>
            </a:r>
          </a:p>
        </p:txBody>
      </p:sp>
      <p:sp>
        <p:nvSpPr>
          <p:cNvPr id="2" name="slide-title">
            <a:extLst xmlns:a="http://schemas.openxmlformats.org/drawingml/2006/main">
              <a:ext uri="{FF2B5EF4-FFF2-40B4-BE49-F238E27FC236}">
                <a16:creationId xmlns:a16="http://schemas.microsoft.com/office/drawing/2014/main" id="{95D76ACA-8614-45EC-B716-B0660B32FD2E}"/>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write with a stable submission identifier</a:t>
            </a:r>
          </a:p>
        </p:txBody>
      </p:sp>
      <p:sp>
        <p:nvSpPr>
          <p:cNvPr id="3" name="">
            <a:extLst xmlns:a="http://schemas.openxmlformats.org/drawingml/2006/main">
              <a:ext uri="{FF2B5EF4-FFF2-40B4-BE49-F238E27FC236}">
                <a16:creationId xmlns:a16="http://schemas.microsoft.com/office/drawing/2014/main" id="{6CD48A4A-F3A9-409B-9859-1C0B1EB3D8C6}"/>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82FB8159-8D8E-452F-8CC3-7CB9851B423A}"/>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1C605E6B-B563-4FD3-938E-D1647D8535FD}"/>
              </a:ext>
            </a:extLst>
          </p:cNvPr>
          <p:cNvSpPr>
            <a:spLocks xmlns:a="http://schemas.openxmlformats.org/drawingml/2006/main" noGrp="1"/>
          </p:cNvSpPr>
          <p:nvPr/>
        </p:nvSpPr>
        <p:spPr>
          <a:xfrm xmlns:a="http://schemas.openxmlformats.org/drawingml/2006/main">
            <a:off x="685800" y="1657350"/>
            <a:ext cx="10820400" cy="33909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js-write">
            <a:extLst xmlns:a="http://schemas.openxmlformats.org/drawingml/2006/main">
              <a:ext uri="{FF2B5EF4-FFF2-40B4-BE49-F238E27FC236}">
                <a16:creationId xmlns:a16="http://schemas.microsoft.com/office/drawing/2014/main" id="{53348510-1186-4DEB-AB67-F410AD3B3FDF}"/>
              </a:ext>
            </a:extLst>
          </p:cNvPr>
          <p:cNvSpPr>
            <a:spLocks xmlns:a="http://schemas.openxmlformats.org/drawingml/2006/main" noGrp="1"/>
          </p:cNvSpPr>
          <p:nvPr/>
        </p:nvSpPr>
        <p:spPr>
          <a:xfrm xmlns:a="http://schemas.openxmlformats.org/drawingml/2006/main">
            <a:off x="876300" y="1828800"/>
            <a:ext cx="104394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const reliabilityPracticeName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"cst4714_reliability_" + ObjectId().toHexString().slice(-8);</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db = db.getSiblingDB(reliabilityPracticeName);</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db.tickets.insertOne(</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 _id: "submission-1099", ticket_id: 1099,</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status: "new", subject: "Write concern test"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 writeConcern: { w: "majority", wtimeout: 5000 }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p:txBody>
      </p:sp>
      <p:sp>
        <p:nvSpPr>
          <p:cNvPr id="7" name="write-caption">
            <a:extLst xmlns:a="http://schemas.openxmlformats.org/drawingml/2006/main">
              <a:ext uri="{FF2B5EF4-FFF2-40B4-BE49-F238E27FC236}">
                <a16:creationId xmlns:a16="http://schemas.microsoft.com/office/drawing/2014/main" id="{24FE7306-5C2B-44AB-AB6C-60DDAF1A2DC9}"/>
              </a:ext>
            </a:extLst>
          </p:cNvPr>
          <p:cNvSpPr>
            <a:spLocks xmlns:a="http://schemas.openxmlformats.org/drawingml/2006/main" noGrp="1"/>
          </p:cNvSpPr>
          <p:nvPr/>
        </p:nvSpPr>
        <p:spPr>
          <a:xfrm xmlns:a="http://schemas.openxmlformats.org/drawingml/2006/main">
            <a:off x="723900" y="5381625"/>
            <a:ext cx="106680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Mongosh illustration in a new practice database.</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The timeout is 5,000 milliseconds for the requested write concern.</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A normal acknowledgment does not demonstrate failover.</a:t>
            </a:r>
          </a:p>
        </p:txBody>
      </p:sp>
    </p:spTree>
    <p:extLst>
      <p:ext uri="{BB962C8B-B14F-4D97-AF65-F5344CB8AC3E}">
        <p14:creationId xmlns:p14="http://schemas.microsoft.com/office/powerpoint/2010/main" val="647871232"/>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F7A54DCB-E551-47E6-8F4C-2B4DC07077A1}"/>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12  /  CST4714</a:t>
            </a:r>
          </a:p>
        </p:txBody>
      </p:sp>
      <p:sp>
        <p:nvSpPr>
          <p:cNvPr id="2" name="slide-title">
            <a:extLst xmlns:a="http://schemas.openxmlformats.org/drawingml/2006/main">
              <a:ext uri="{FF2B5EF4-FFF2-40B4-BE49-F238E27FC236}">
                <a16:creationId xmlns:a16="http://schemas.microsoft.com/office/drawing/2014/main" id="{4340E2CE-ACC3-4179-9E4E-F9F1BA905AA7}"/>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An uncertain write needs a read-back strategy</a:t>
            </a:r>
          </a:p>
        </p:txBody>
      </p:sp>
      <p:sp>
        <p:nvSpPr>
          <p:cNvPr id="3" name="">
            <a:extLst xmlns:a="http://schemas.openxmlformats.org/drawingml/2006/main">
              <a:ext uri="{FF2B5EF4-FFF2-40B4-BE49-F238E27FC236}">
                <a16:creationId xmlns:a16="http://schemas.microsoft.com/office/drawing/2014/main" id="{07844480-7BCC-4A2B-A057-6BFC9462E65A}"/>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287F3E25-A993-447D-AD37-8DEF9AE3015D}"/>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0402A5DF-A572-488F-9830-3815362621F1}"/>
              </a:ext>
            </a:extLst>
          </p:cNvPr>
          <p:cNvSpPr>
            <a:spLocks xmlns:a="http://schemas.openxmlformats.org/drawingml/2006/main" noGrp="1"/>
          </p:cNvSpPr>
          <p:nvPr/>
        </p:nvSpPr>
        <p:spPr>
          <a:xfrm xmlns:a="http://schemas.openxmlformats.org/drawingml/2006/main">
            <a:off x="685800" y="1752600"/>
            <a:ext cx="10820400" cy="180975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js-readback">
            <a:extLst xmlns:a="http://schemas.openxmlformats.org/drawingml/2006/main">
              <a:ext uri="{FF2B5EF4-FFF2-40B4-BE49-F238E27FC236}">
                <a16:creationId xmlns:a16="http://schemas.microsoft.com/office/drawing/2014/main" id="{F5FAECAB-81C0-4E11-B269-AD51DD45147C}"/>
              </a:ext>
            </a:extLst>
          </p:cNvPr>
          <p:cNvSpPr>
            <a:spLocks xmlns:a="http://schemas.openxmlformats.org/drawingml/2006/main" noGrp="1"/>
          </p:cNvSpPr>
          <p:nvPr/>
        </p:nvSpPr>
        <p:spPr>
          <a:xfrm xmlns:a="http://schemas.openxmlformats.org/drawingml/2006/main">
            <a:off x="876300" y="1924050"/>
            <a:ext cx="1043940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db.tickets.findOne(</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  { _id: "submission-1099" },</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  { _id: 1, ticket_id: 1, status: 1, subject: 1 }</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a:t>
            </a:r>
          </a:p>
        </p:txBody>
      </p:sp>
      <p:sp>
        <p:nvSpPr>
          <p:cNvPr id="7" name="readback">
            <a:extLst xmlns:a="http://schemas.openxmlformats.org/drawingml/2006/main">
              <a:ext uri="{FF2B5EF4-FFF2-40B4-BE49-F238E27FC236}">
                <a16:creationId xmlns:a16="http://schemas.microsoft.com/office/drawing/2014/main" id="{4289DFBD-08B8-42F3-98D8-AA4172F36DE1}"/>
              </a:ext>
            </a:extLst>
          </p:cNvPr>
          <p:cNvSpPr>
            <a:spLocks xmlns:a="http://schemas.openxmlformats.org/drawingml/2006/main" noGrp="1"/>
          </p:cNvSpPr>
          <p:nvPr/>
        </p:nvSpPr>
        <p:spPr>
          <a:xfrm xmlns:a="http://schemas.openxmlformats.org/drawingml/2006/main">
            <a:off x="723900" y="4152900"/>
            <a:ext cx="106680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Check the saved identifier and the intended content.</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Reusing this _id cannot create a second document with that same _id.</a:t>
            </a:r>
          </a:p>
        </p:txBody>
      </p:sp>
      <p:sp>
        <p:nvSpPr>
          <p:cNvPr id="8" name="duplicate">
            <a:extLst xmlns:a="http://schemas.openxmlformats.org/drawingml/2006/main">
              <a:ext uri="{FF2B5EF4-FFF2-40B4-BE49-F238E27FC236}">
                <a16:creationId xmlns:a16="http://schemas.microsoft.com/office/drawing/2014/main" id="{0E396105-11CE-4752-9D0E-832E091699E3}"/>
              </a:ext>
            </a:extLst>
          </p:cNvPr>
          <p:cNvSpPr>
            <a:spLocks xmlns:a="http://schemas.openxmlformats.org/drawingml/2006/main" noGrp="1"/>
          </p:cNvSpPr>
          <p:nvPr/>
        </p:nvSpPr>
        <p:spPr>
          <a:xfrm xmlns:a="http://schemas.openxmlformats.org/drawingml/2006/main">
            <a:off x="723900" y="5676900"/>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A duplicate-key error alone does not prove the existing request is yours.</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A missing read from a lagging copy does not prove the write failed.</a:t>
            </a:r>
          </a:p>
        </p:txBody>
      </p:sp>
    </p:spTree>
    <p:extLst>
      <p:ext uri="{BB962C8B-B14F-4D97-AF65-F5344CB8AC3E}">
        <p14:creationId xmlns:p14="http://schemas.microsoft.com/office/powerpoint/2010/main" val="719073914"/>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0C94326B-440F-4F21-AB3D-7AD403973895}"/>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12  /  CST4714</a:t>
            </a:r>
          </a:p>
        </p:txBody>
      </p:sp>
      <p:sp>
        <p:nvSpPr>
          <p:cNvPr id="2" name="slide-title">
            <a:extLst xmlns:a="http://schemas.openxmlformats.org/drawingml/2006/main">
              <a:ext uri="{FF2B5EF4-FFF2-40B4-BE49-F238E27FC236}">
                <a16:creationId xmlns:a16="http://schemas.microsoft.com/office/drawing/2014/main" id="{4DED664A-AB65-406F-BC4E-1406751EEB44}"/>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Read routing and visible state are separate</a:t>
            </a:r>
          </a:p>
        </p:txBody>
      </p:sp>
      <p:sp>
        <p:nvSpPr>
          <p:cNvPr id="3" name="">
            <a:extLst xmlns:a="http://schemas.openxmlformats.org/drawingml/2006/main">
              <a:ext uri="{FF2B5EF4-FFF2-40B4-BE49-F238E27FC236}">
                <a16:creationId xmlns:a16="http://schemas.microsoft.com/office/drawing/2014/main" id="{6058CAA7-712B-4466-9712-1D09AFABA2B6}"/>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49A2BBB3-75E4-4688-920B-06FE5B6CE469}"/>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07</a:t>
            </a:r>
          </a:p>
        </p:txBody>
      </p:sp>
      <p:graphicFrame>
        <p:nvGraphicFramePr>
          <p:cNvPr id="11" name=""/>
          <p:cNvGraphicFramePr/>
          <p:nvPr/>
        </p:nvGraphicFramePr>
        <p:xfrm>
          <a:off xmlns:a="http://schemas.openxmlformats.org/drawingml/2006/main" x="685800" y="1695450"/>
          <a:ext xmlns:a="http://schemas.openxmlformats.org/drawingml/2006/main" cx="10820400" cy="3333750"/>
        </p:xfrm>
        <a:graphic xmlns:a="http://schemas.openxmlformats.org/drawingml/2006/main">
          <a:graphicData uri="http://schemas.openxmlformats.org/drawingml/2006/table">
            <a:tbl>
              <a:tblPr/>
              <a:tblGrid>
                <a:gridCol w="2895600"/>
                <a:gridCol w="3133725"/>
                <a:gridCol w="4791075"/>
              </a:tblGrid>
              <a:tr h="666750">
                <a:tc>
                  <a:txBody>
                    <a:bodyPr lIns="114300" tIns="76200" rIns="114300" bIns="76200"/>
                    <a:lstStyle/>
                    <a:p>
                      <a:r>
                        <a:rPr sz="1950" b="1">
                          <a:solidFill>
                            <a:srgbClr val="FFFFFF"/>
                          </a:solidFill>
                          <a:latin typeface="Helvetica Neue"/>
                          <a:ea typeface="Helvetica Neue"/>
                          <a:cs typeface="Helvetica Neue"/>
                        </a:rPr>
                        <a:t>Control</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Example</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Meaning</a:t>
                      </a:r>
                    </a:p>
                  </a:txBody>
                  <a:tcPr marL="91440" marR="91440" marT="45720" marB="45720" anchor="ctr">
                    <a:solidFill>
                      <a:srgbClr val="214AE8"/>
                    </a:solidFill>
                  </a:tcPr>
                </a:tc>
              </a:tr>
              <a:tr h="666750">
                <a:tc>
                  <a:txBody>
                    <a:bodyPr lIns="114300" tIns="76200" rIns="114300" bIns="76200"/>
                    <a:lstStyle/>
                    <a:p>
                      <a:r>
                        <a:rPr sz="1950" b="0">
                          <a:solidFill>
                            <a:srgbClr val="111827"/>
                          </a:solidFill>
                          <a:latin typeface="Helvetica Neue"/>
                          <a:ea typeface="Helvetica Neue"/>
                          <a:cs typeface="Helvetica Neue"/>
                        </a:rPr>
                        <a:t>Read preference</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primary</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Select the primary for this read</a:t>
                      </a:r>
                    </a:p>
                  </a:txBody>
                  <a:tcPr marL="91440" marR="91440" marT="45720" marB="45720" anchor="ctr">
                    <a:solidFill>
                      <a:srgbClr val="FFFFFF"/>
                    </a:solidFill>
                  </a:tcPr>
                </a:tc>
              </a:tr>
              <a:tr h="666750">
                <a:tc>
                  <a:txBody>
                    <a:bodyPr lIns="114300" tIns="76200" rIns="114300" bIns="76200"/>
                    <a:lstStyle/>
                    <a:p>
                      <a:r>
                        <a:rPr sz="1950" b="0">
                          <a:solidFill>
                            <a:srgbClr val="111827"/>
                          </a:solidFill>
                          <a:latin typeface="Helvetica Neue"/>
                          <a:ea typeface="Helvetica Neue"/>
                          <a:cs typeface="Helvetica Neue"/>
                        </a:rPr>
                        <a:t>Read preference</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secondaryPreferred</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Prefer an eligible secondary</a:t>
                      </a:r>
                    </a:p>
                  </a:txBody>
                  <a:tcPr marL="91440" marR="91440" marT="45720" marB="45720" anchor="ctr">
                    <a:solidFill>
                      <a:srgbClr val="F1F5F9"/>
                    </a:solidFill>
                  </a:tcPr>
                </a:tc>
              </a:tr>
              <a:tr h="666750">
                <a:tc>
                  <a:txBody>
                    <a:bodyPr lIns="114300" tIns="76200" rIns="114300" bIns="76200"/>
                    <a:lstStyle/>
                    <a:p>
                      <a:r>
                        <a:rPr sz="1950" b="0">
                          <a:solidFill>
                            <a:srgbClr val="111827"/>
                          </a:solidFill>
                          <a:latin typeface="Helvetica Neue"/>
                          <a:ea typeface="Helvetica Neue"/>
                          <a:cs typeface="Helvetica Neue"/>
                        </a:rPr>
                        <a:t>Read concern</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local</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May include data not majority committed</a:t>
                      </a:r>
                    </a:p>
                  </a:txBody>
                  <a:tcPr marL="91440" marR="91440" marT="45720" marB="45720" anchor="ctr">
                    <a:solidFill>
                      <a:srgbClr val="FFFFFF"/>
                    </a:solidFill>
                  </a:tcPr>
                </a:tc>
              </a:tr>
              <a:tr h="666750">
                <a:tc>
                  <a:txBody>
                    <a:bodyPr lIns="114300" tIns="76200" rIns="114300" bIns="76200"/>
                    <a:lstStyle/>
                    <a:p>
                      <a:r>
                        <a:rPr sz="1950" b="0">
                          <a:solidFill>
                            <a:srgbClr val="111827"/>
                          </a:solidFill>
                          <a:latin typeface="Helvetica Neue"/>
                          <a:ea typeface="Helvetica Neue"/>
                          <a:cs typeface="Helvetica Neue"/>
                        </a:rPr>
                        <a:t>Read concern</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majority</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Return majority-committed data</a:t>
                      </a:r>
                    </a:p>
                  </a:txBody>
                  <a:tcPr marL="91440" marR="91440" marT="45720" marB="45720" anchor="ctr">
                    <a:solidFill>
                      <a:srgbClr val="F1F5F9"/>
                    </a:solidFill>
                  </a:tcPr>
                </a:tc>
              </a:tr>
            </a:tbl>
          </a:graphicData>
        </a:graphic>
      </p:graphicFrame>
      <p:sp>
        <p:nvSpPr>
          <p:cNvPr id="6" name="majority-read">
            <a:extLst xmlns:a="http://schemas.openxmlformats.org/drawingml/2006/main">
              <a:ext uri="{FF2B5EF4-FFF2-40B4-BE49-F238E27FC236}">
                <a16:creationId xmlns:a16="http://schemas.microsoft.com/office/drawing/2014/main" id="{92C087C9-BAE8-4DC2-8133-37A8A16563F9}"/>
              </a:ext>
            </a:extLst>
          </p:cNvPr>
          <p:cNvSpPr>
            <a:spLocks xmlns:a="http://schemas.openxmlformats.org/drawingml/2006/main" noGrp="1"/>
          </p:cNvSpPr>
          <p:nvPr/>
        </p:nvSpPr>
        <p:spPr>
          <a:xfrm xmlns:a="http://schemas.openxmlformats.org/drawingml/2006/main">
            <a:off x="723900" y="5476875"/>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A lagging member can hold older majority-committed data.</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Majority read concern alone does not make every copy current.</a:t>
            </a:r>
          </a:p>
        </p:txBody>
      </p:sp>
    </p:spTree>
    <p:extLst>
      <p:ext uri="{BB962C8B-B14F-4D97-AF65-F5344CB8AC3E}">
        <p14:creationId xmlns:p14="http://schemas.microsoft.com/office/powerpoint/2010/main" val="434816563"/>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C64DD0E7-815B-4B6F-95EF-C5C812CE39D7}"/>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12  /  CST4714</a:t>
            </a:r>
          </a:p>
        </p:txBody>
      </p:sp>
      <p:sp>
        <p:nvSpPr>
          <p:cNvPr id="2" name="slide-title">
            <a:extLst xmlns:a="http://schemas.openxmlformats.org/drawingml/2006/main">
              <a:ext uri="{FF2B5EF4-FFF2-40B4-BE49-F238E27FC236}">
                <a16:creationId xmlns:a16="http://schemas.microsoft.com/office/drawing/2014/main" id="{5A7825D2-79B9-4AAB-9C97-D2ADC498B687}"/>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causal session connects the confirmation read</a:t>
            </a:r>
          </a:p>
        </p:txBody>
      </p:sp>
      <p:sp>
        <p:nvSpPr>
          <p:cNvPr id="3" name="">
            <a:extLst xmlns:a="http://schemas.openxmlformats.org/drawingml/2006/main">
              <a:ext uri="{FF2B5EF4-FFF2-40B4-BE49-F238E27FC236}">
                <a16:creationId xmlns:a16="http://schemas.microsoft.com/office/drawing/2014/main" id="{2142437F-90E9-4F64-BB45-FFAC4C3610B4}"/>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76174786-B062-4050-95AC-EC0802D55E03}"/>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08</a:t>
            </a:r>
          </a:p>
        </p:txBody>
      </p:sp>
      <p:graphicFrame>
        <p:nvGraphicFramePr>
          <p:cNvPr id="12" name=""/>
          <p:cNvGraphicFramePr/>
          <p:nvPr/>
        </p:nvGraphicFramePr>
        <p:xfrm>
          <a:off xmlns:a="http://schemas.openxmlformats.org/drawingml/2006/main" x="685800" y="1666875"/>
          <a:ext xmlns:a="http://schemas.openxmlformats.org/drawingml/2006/main" cx="10820400" cy="3333750"/>
        </p:xfrm>
        <a:graphic xmlns:a="http://schemas.openxmlformats.org/drawingml/2006/main">
          <a:graphicData uri="http://schemas.openxmlformats.org/drawingml/2006/table">
            <a:tbl>
              <a:tblPr/>
              <a:tblGrid>
                <a:gridCol w="4324350"/>
                <a:gridCol w="6496050"/>
              </a:tblGrid>
              <a:tr h="666750">
                <a:tc>
                  <a:txBody>
                    <a:bodyPr lIns="114300" tIns="76200" rIns="114300" bIns="76200"/>
                    <a:lstStyle/>
                    <a:p>
                      <a:r>
                        <a:rPr sz="1950" b="1">
                          <a:solidFill>
                            <a:srgbClr val="FFFFFF"/>
                          </a:solidFill>
                          <a:latin typeface="Helvetica Neue"/>
                          <a:ea typeface="Helvetica Neue"/>
                          <a:cs typeface="Helvetica Neue"/>
                        </a:rPr>
                        <a:t>Part of this workflow</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Concrete choice</a:t>
                      </a:r>
                    </a:p>
                  </a:txBody>
                  <a:tcPr marL="91440" marR="91440" marT="45720" marB="45720" anchor="ctr">
                    <a:solidFill>
                      <a:srgbClr val="214AE8"/>
                    </a:solidFill>
                  </a:tcPr>
                </a:tc>
              </a:tr>
              <a:tr h="666750">
                <a:tc>
                  <a:txBody>
                    <a:bodyPr lIns="114300" tIns="76200" rIns="114300" bIns="76200"/>
                    <a:lstStyle/>
                    <a:p>
                      <a:r>
                        <a:rPr sz="1950" b="0">
                          <a:solidFill>
                            <a:srgbClr val="111827"/>
                          </a:solidFill>
                          <a:latin typeface="Helvetica Neue"/>
                          <a:ea typeface="Helvetica Neue"/>
                          <a:cs typeface="Helvetica Neue"/>
                        </a:rPr>
                        <a:t>Write concern</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majority</a:t>
                      </a:r>
                    </a:p>
                  </a:txBody>
                  <a:tcPr marL="91440" marR="91440" marT="45720" marB="45720" anchor="ctr">
                    <a:solidFill>
                      <a:srgbClr val="FFFFFF"/>
                    </a:solidFill>
                  </a:tcPr>
                </a:tc>
              </a:tr>
              <a:tr h="666750">
                <a:tc>
                  <a:txBody>
                    <a:bodyPr lIns="114300" tIns="76200" rIns="114300" bIns="76200"/>
                    <a:lstStyle/>
                    <a:p>
                      <a:r>
                        <a:rPr sz="1950" b="0">
                          <a:solidFill>
                            <a:srgbClr val="111827"/>
                          </a:solidFill>
                          <a:latin typeface="Helvetica Neue"/>
                          <a:ea typeface="Helvetica Neue"/>
                          <a:cs typeface="Helvetica Neue"/>
                        </a:rPr>
                        <a:t>Read preference</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primary</a:t>
                      </a:r>
                    </a:p>
                  </a:txBody>
                  <a:tcPr marL="91440" marR="91440" marT="45720" marB="45720" anchor="ctr">
                    <a:solidFill>
                      <a:srgbClr val="F1F5F9"/>
                    </a:solidFill>
                  </a:tcPr>
                </a:tc>
              </a:tr>
              <a:tr h="666750">
                <a:tc>
                  <a:txBody>
                    <a:bodyPr lIns="114300" tIns="76200" rIns="114300" bIns="76200"/>
                    <a:lstStyle/>
                    <a:p>
                      <a:r>
                        <a:rPr sz="1950" b="0">
                          <a:solidFill>
                            <a:srgbClr val="111827"/>
                          </a:solidFill>
                          <a:latin typeface="Helvetica Neue"/>
                          <a:ea typeface="Helvetica Neue"/>
                          <a:cs typeface="Helvetica Neue"/>
                        </a:rPr>
                        <a:t>Read concern</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majority</a:t>
                      </a:r>
                    </a:p>
                  </a:txBody>
                  <a:tcPr marL="91440" marR="91440" marT="45720" marB="45720" anchor="ctr">
                    <a:solidFill>
                      <a:srgbClr val="FFFFFF"/>
                    </a:solidFill>
                  </a:tcPr>
                </a:tc>
              </a:tr>
              <a:tr h="666750">
                <a:tc>
                  <a:txBody>
                    <a:bodyPr lIns="114300" tIns="76200" rIns="114300" bIns="76200"/>
                    <a:lstStyle/>
                    <a:p>
                      <a:r>
                        <a:rPr sz="1950" b="0">
                          <a:solidFill>
                            <a:srgbClr val="111827"/>
                          </a:solidFill>
                          <a:latin typeface="Helvetica Neue"/>
                          <a:ea typeface="Helvetica Neue"/>
                          <a:cs typeface="Helvetica Neue"/>
                        </a:rPr>
                        <a:t>Operation relationship</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Write and following read use the same causal session</a:t>
                      </a:r>
                    </a:p>
                  </a:txBody>
                  <a:tcPr marL="91440" marR="91440" marT="45720" marB="45720" anchor="ctr">
                    <a:solidFill>
                      <a:srgbClr val="F1F5F9"/>
                    </a:solidFill>
                  </a:tcPr>
                </a:tc>
              </a:tr>
            </a:tbl>
          </a:graphicData>
        </a:graphic>
      </p:graphicFrame>
      <p:sp>
        <p:nvSpPr>
          <p:cNvPr id="6" name="causal">
            <a:extLst xmlns:a="http://schemas.openxmlformats.org/drawingml/2006/main">
              <a:ext uri="{FF2B5EF4-FFF2-40B4-BE49-F238E27FC236}">
                <a16:creationId xmlns:a16="http://schemas.microsoft.com/office/drawing/2014/main" id="{6A9D0C06-CFAD-4AB7-BFE0-D84B985B59B0}"/>
              </a:ext>
            </a:extLst>
          </p:cNvPr>
          <p:cNvSpPr>
            <a:spLocks xmlns:a="http://schemas.openxmlformats.org/drawingml/2006/main" noGrp="1"/>
          </p:cNvSpPr>
          <p:nvPr/>
        </p:nvSpPr>
        <p:spPr>
          <a:xfrm xmlns:a="http://schemas.openxmlformats.org/drawingml/2006/main">
            <a:off x="723900" y="533400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The later read carries a dependency on the earlier write.</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A suitable secondary read may wait to catch up instead of returning old state.</a:t>
            </a:r>
          </a:p>
        </p:txBody>
      </p:sp>
      <p:sp>
        <p:nvSpPr>
          <p:cNvPr id="7" name="causal-limit">
            <a:extLst xmlns:a="http://schemas.openxmlformats.org/drawingml/2006/main">
              <a:ext uri="{FF2B5EF4-FFF2-40B4-BE49-F238E27FC236}">
                <a16:creationId xmlns:a16="http://schemas.microsoft.com/office/drawing/2014/main" id="{B29C5891-045C-4978-A4F8-C1C108F00C03}"/>
              </a:ext>
            </a:extLst>
          </p:cNvPr>
          <p:cNvSpPr>
            <a:spLocks xmlns:a="http://schemas.openxmlformats.org/drawingml/2006/main" noGrp="1"/>
          </p:cNvSpPr>
          <p:nvPr/>
        </p:nvSpPr>
        <p:spPr>
          <a:xfrm xmlns:a="http://schemas.openxmlformats.org/drawingml/2006/main">
            <a:off x="723900" y="62198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Timeouts and later changes by other requests remain possible.</a:t>
            </a:r>
          </a:p>
        </p:txBody>
      </p:sp>
    </p:spTree>
    <p:extLst>
      <p:ext uri="{BB962C8B-B14F-4D97-AF65-F5344CB8AC3E}">
        <p14:creationId xmlns:p14="http://schemas.microsoft.com/office/powerpoint/2010/main" val="1001424400"/>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3D8DD37-9B03-464A-81B3-950BA261350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2033638B-4641-409F-9BC8-D56615F1A037}"/>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12  /  CST4714</a:t>
            </a:r>
          </a:p>
        </p:txBody>
      </p:sp>
      <p:sp>
        <p:nvSpPr>
          <p:cNvPr id="3" name="slide-title">
            <a:extLst xmlns:a="http://schemas.openxmlformats.org/drawingml/2006/main">
              <a:ext uri="{FF2B5EF4-FFF2-40B4-BE49-F238E27FC236}">
                <a16:creationId xmlns:a16="http://schemas.microsoft.com/office/drawing/2014/main" id="{ECD82A73-523A-432F-BCB1-11BF6FB136AA}"/>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and B remain connected while C is isolated</a:t>
            </a:r>
          </a:p>
        </p:txBody>
      </p:sp>
      <p:sp>
        <p:nvSpPr>
          <p:cNvPr id="4" name="">
            <a:extLst xmlns:a="http://schemas.openxmlformats.org/drawingml/2006/main">
              <a:ext uri="{FF2B5EF4-FFF2-40B4-BE49-F238E27FC236}">
                <a16:creationId xmlns:a16="http://schemas.microsoft.com/office/drawing/2014/main" id="{40E8FA1E-FE00-441A-81B0-399C484E4800}"/>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F149DFB9-25D2-4057-B3AC-36D977953C56}"/>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09</a:t>
            </a:r>
          </a:p>
        </p:txBody>
      </p:sp>
      <p:sp>
        <p:nvSpPr>
          <p:cNvPr id="6" name="">
            <a:extLst xmlns:a="http://schemas.openxmlformats.org/drawingml/2006/main">
              <a:ext uri="{FF2B5EF4-FFF2-40B4-BE49-F238E27FC236}">
                <a16:creationId xmlns:a16="http://schemas.microsoft.com/office/drawing/2014/main" id="{C3CB0F49-1E5B-4EC6-AD62-79B044DFF62D}"/>
              </a:ext>
            </a:extLst>
          </p:cNvPr>
          <p:cNvSpPr>
            <a:spLocks xmlns:a="http://schemas.openxmlformats.org/drawingml/2006/main" noGrp="1"/>
          </p:cNvSpPr>
          <p:nvPr/>
        </p:nvSpPr>
        <p:spPr>
          <a:xfrm xmlns:a="http://schemas.openxmlformats.org/drawingml/2006/main">
            <a:off x="2214563" y="3119438"/>
            <a:ext cx="3833813" cy="0"/>
          </a:xfrm>
          <a:prstGeom xmlns:a="http://schemas.openxmlformats.org/drawingml/2006/main" prst="line">
            <a:avLst/>
          </a:prstGeom>
          <a:noFill xmlns:a="http://schemas.openxmlformats.org/drawingml/2006/main"/>
          <a:ln xmlns:a="http://schemas.openxmlformats.org/drawingml/2006/main" w="28575">
            <a:solidFill>
              <a:srgbClr val="CBD5E1"/>
            </a:solidFill>
            <a:prstDash val="dash"/>
          </a:ln>
        </p:spPr>
      </p:sp>
      <p:sp>
        <p:nvSpPr>
          <p:cNvPr id="7" name="">
            <a:extLst xmlns:a="http://schemas.openxmlformats.org/drawingml/2006/main">
              <a:ext uri="{FF2B5EF4-FFF2-40B4-BE49-F238E27FC236}">
                <a16:creationId xmlns:a16="http://schemas.microsoft.com/office/drawing/2014/main" id="{ADA16937-EB7C-4A86-98FF-DAD83CFE997B}"/>
              </a:ext>
            </a:extLst>
          </p:cNvPr>
          <p:cNvSpPr>
            <a:spLocks xmlns:a="http://schemas.openxmlformats.org/drawingml/2006/main" noGrp="1"/>
          </p:cNvSpPr>
          <p:nvPr/>
        </p:nvSpPr>
        <p:spPr>
          <a:xfrm xmlns:a="http://schemas.openxmlformats.org/drawingml/2006/main">
            <a:off x="6048375" y="3119438"/>
            <a:ext cx="3833813" cy="0"/>
          </a:xfrm>
          <a:prstGeom xmlns:a="http://schemas.openxmlformats.org/drawingml/2006/main" prst="line">
            <a:avLst/>
          </a:prstGeom>
          <a:noFill xmlns:a="http://schemas.openxmlformats.org/drawingml/2006/main"/>
          <a:ln xmlns:a="http://schemas.openxmlformats.org/drawingml/2006/main" w="28575">
            <a:solidFill>
              <a:srgbClr val="CBD5E1"/>
            </a:solidFill>
            <a:prstDash val="dash"/>
          </a:ln>
        </p:spPr>
      </p:sp>
      <p:sp>
        <p:nvSpPr>
          <p:cNvPr id="8" name="">
            <a:extLst xmlns:a="http://schemas.openxmlformats.org/drawingml/2006/main">
              <a:ext uri="{FF2B5EF4-FFF2-40B4-BE49-F238E27FC236}">
                <a16:creationId xmlns:a16="http://schemas.microsoft.com/office/drawing/2014/main" id="{BF34A487-0059-4FCA-803F-C889E065A858}"/>
              </a:ext>
            </a:extLst>
          </p:cNvPr>
          <p:cNvSpPr>
            <a:spLocks xmlns:a="http://schemas.openxmlformats.org/drawingml/2006/main" noGrp="1"/>
          </p:cNvSpPr>
          <p:nvPr/>
        </p:nvSpPr>
        <p:spPr>
          <a:xfrm xmlns:a="http://schemas.openxmlformats.org/drawingml/2006/main">
            <a:off x="904875" y="2381250"/>
            <a:ext cx="2619375" cy="1476375"/>
          </a:xfrm>
          <a:prstGeom xmlns:a="http://schemas.openxmlformats.org/drawingml/2006/main" prst="rect">
            <a:avLst/>
          </a:prstGeom>
          <a:solidFill xmlns:a="http://schemas.openxmlformats.org/drawingml/2006/main">
            <a:srgbClr val="1D4ED8"/>
          </a:solidFill>
          <a:ln xmlns:a="http://schemas.openxmlformats.org/drawingml/2006/main" w="9525">
            <a:solidFill>
              <a:srgbClr val="1D4ED8"/>
            </a:solidFill>
            <a:prstDash val="solid"/>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buNone/>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A and B</a:t>
            </a:r>
          </a:p>
          <a:p xmlns:a="http://schemas.openxmlformats.org/drawingml/2006/main">
            <a:pPr algn="ctr">
              <a:buNone/>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2 voting members</a:t>
            </a:r>
          </a:p>
        </p:txBody>
      </p:sp>
      <p:sp>
        <p:nvSpPr>
          <p:cNvPr id="9" name="">
            <a:extLst xmlns:a="http://schemas.openxmlformats.org/drawingml/2006/main">
              <a:ext uri="{FF2B5EF4-FFF2-40B4-BE49-F238E27FC236}">
                <a16:creationId xmlns:a16="http://schemas.microsoft.com/office/drawing/2014/main" id="{10ED6FBB-904A-4E29-B744-81533A53712C}"/>
              </a:ext>
            </a:extLst>
          </p:cNvPr>
          <p:cNvSpPr>
            <a:spLocks xmlns:a="http://schemas.openxmlformats.org/drawingml/2006/main" noGrp="1"/>
          </p:cNvSpPr>
          <p:nvPr/>
        </p:nvSpPr>
        <p:spPr>
          <a:xfrm xmlns:a="http://schemas.openxmlformats.org/drawingml/2006/main">
            <a:off x="904875" y="3952875"/>
            <a:ext cx="2619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A can remain primary</a:t>
            </a:r>
          </a:p>
        </p:txBody>
      </p:sp>
      <p:sp>
        <p:nvSpPr>
          <p:cNvPr id="10" name="">
            <a:extLst xmlns:a="http://schemas.openxmlformats.org/drawingml/2006/main">
              <a:ext uri="{FF2B5EF4-FFF2-40B4-BE49-F238E27FC236}">
                <a16:creationId xmlns:a16="http://schemas.microsoft.com/office/drawing/2014/main" id="{26F9F441-7A84-4733-A04C-83696866A8CF}"/>
              </a:ext>
            </a:extLst>
          </p:cNvPr>
          <p:cNvSpPr>
            <a:spLocks xmlns:a="http://schemas.openxmlformats.org/drawingml/2006/main" noGrp="1"/>
          </p:cNvSpPr>
          <p:nvPr/>
        </p:nvSpPr>
        <p:spPr>
          <a:xfrm xmlns:a="http://schemas.openxmlformats.org/drawingml/2006/main">
            <a:off x="4810125" y="1762125"/>
            <a:ext cx="2476500" cy="2714625"/>
          </a:xfrm>
          <a:prstGeom xmlns:a="http://schemas.openxmlformats.org/drawingml/2006/main" prst="rect">
            <a:avLst/>
          </a:prstGeom>
          <a:solidFill xmlns:a="http://schemas.openxmlformats.org/drawingml/2006/main">
            <a:srgbClr val="F8FAFC"/>
          </a:solidFill>
          <a:ln xmlns:a="http://schemas.openxmlformats.org/drawingml/2006/main" w="9525">
            <a:solidFill>
              <a:srgbClr val="94A3B8"/>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Network partition</a:t>
            </a:r>
          </a:p>
        </p:txBody>
      </p:sp>
      <p:sp>
        <p:nvSpPr>
          <p:cNvPr id="11" name="">
            <a:extLst xmlns:a="http://schemas.openxmlformats.org/drawingml/2006/main">
              <a:ext uri="{FF2B5EF4-FFF2-40B4-BE49-F238E27FC236}">
                <a16:creationId xmlns:a16="http://schemas.microsoft.com/office/drawing/2014/main" id="{87BE215E-5D66-4488-8540-143F4A1845F0}"/>
              </a:ext>
            </a:extLst>
          </p:cNvPr>
          <p:cNvSpPr>
            <a:spLocks xmlns:a="http://schemas.openxmlformats.org/drawingml/2006/main" noGrp="1"/>
          </p:cNvSpPr>
          <p:nvPr/>
        </p:nvSpPr>
        <p:spPr>
          <a:xfrm xmlns:a="http://schemas.openxmlformats.org/drawingml/2006/main">
            <a:off x="4810125" y="4572000"/>
            <a:ext cx="247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messages are lost or delayed between sides</a:t>
            </a:r>
          </a:p>
        </p:txBody>
      </p:sp>
      <p:sp>
        <p:nvSpPr>
          <p:cNvPr id="12" name="">
            <a:extLst xmlns:a="http://schemas.openxmlformats.org/drawingml/2006/main">
              <a:ext uri="{FF2B5EF4-FFF2-40B4-BE49-F238E27FC236}">
                <a16:creationId xmlns:a16="http://schemas.microsoft.com/office/drawing/2014/main" id="{DFD340B7-B2A4-4BC2-AAD7-D40AF6BAF0E9}"/>
              </a:ext>
            </a:extLst>
          </p:cNvPr>
          <p:cNvSpPr>
            <a:spLocks xmlns:a="http://schemas.openxmlformats.org/drawingml/2006/main" noGrp="1"/>
          </p:cNvSpPr>
          <p:nvPr/>
        </p:nvSpPr>
        <p:spPr>
          <a:xfrm xmlns:a="http://schemas.openxmlformats.org/drawingml/2006/main">
            <a:off x="8572500" y="2381250"/>
            <a:ext cx="2619375" cy="1476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wrap="square" lIns="76200" tIns="76200" rIns="76200" bIns="76200" anchor="ctr">
            <a:noAutofit/>
          </a:bodyPr>
          <a:lstStyle xmlns:a="http://schemas.openxmlformats.org/drawingml/2006/main"/>
          <a:p xmlns:a="http://schemas.openxmlformats.org/drawingml/2006/main">
            <a:pPr algn="ctr">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C alone</a:t>
            </a:r>
          </a:p>
          <a:p xmlns:a="http://schemas.openxmlformats.org/drawingml/2006/main">
            <a:pPr algn="ctr">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1 voting member</a:t>
            </a:r>
          </a:p>
        </p:txBody>
      </p:sp>
      <p:sp>
        <p:nvSpPr>
          <p:cNvPr id="13" name="">
            <a:extLst xmlns:a="http://schemas.openxmlformats.org/drawingml/2006/main">
              <a:ext uri="{FF2B5EF4-FFF2-40B4-BE49-F238E27FC236}">
                <a16:creationId xmlns:a16="http://schemas.microsoft.com/office/drawing/2014/main" id="{519F34E3-E777-41E6-8D4B-44657AA73C07}"/>
              </a:ext>
            </a:extLst>
          </p:cNvPr>
          <p:cNvSpPr>
            <a:spLocks xmlns:a="http://schemas.openxmlformats.org/drawingml/2006/main" noGrp="1"/>
          </p:cNvSpPr>
          <p:nvPr/>
        </p:nvSpPr>
        <p:spPr>
          <a:xfrm xmlns:a="http://schemas.openxmlformats.org/drawingml/2006/main">
            <a:off x="8572500" y="3952875"/>
            <a:ext cx="2619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cannot form a voting majority</a:t>
            </a:r>
          </a:p>
        </p:txBody>
      </p:sp>
      <p:sp>
        <p:nvSpPr>
          <p:cNvPr id="14" name="">
            <a:extLst xmlns:a="http://schemas.openxmlformats.org/drawingml/2006/main">
              <a:ext uri="{FF2B5EF4-FFF2-40B4-BE49-F238E27FC236}">
                <a16:creationId xmlns:a16="http://schemas.microsoft.com/office/drawing/2014/main" id="{6F429FD4-2DA3-4F61-AC25-0AB40E963522}"/>
              </a:ext>
            </a:extLst>
          </p:cNvPr>
          <p:cNvSpPr>
            <a:spLocks xmlns:a="http://schemas.openxmlformats.org/drawingml/2006/main" noGrp="1"/>
          </p:cNvSpPr>
          <p:nvPr/>
        </p:nvSpPr>
        <p:spPr>
          <a:xfrm xmlns:a="http://schemas.openxmlformats.org/drawingml/2006/main">
            <a:off x="895350" y="56673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350">
                <a:solidFill>
                  <a:srgbClr val="475569"/>
                </a:solidFill>
                <a:latin typeface="Helvetica Neue"/>
                <a:ea typeface="Helvetica Neue"/>
                <a:cs typeface="Helvetica Neue"/>
              </a:defRPr>
            </a:pPr>
            <a:r>
              <a:rPr sz="1350">
                <a:solidFill>
                  <a:srgbClr val="475569"/>
                </a:solidFill>
                <a:latin typeface="Helvetica Neue"/>
                <a:ea typeface="Helvetica Neue"/>
                <a:cs typeface="Helvetica Neue"/>
              </a:rPr>
              <a:t>C cannot acknowledge a new write that it has not received from A and B.</a:t>
            </a:r>
          </a:p>
        </p:txBody>
      </p:sp>
    </p:spTree>
    <p:extLst>
      <p:ext uri="{BB962C8B-B14F-4D97-AF65-F5344CB8AC3E}">
        <p14:creationId xmlns:p14="http://schemas.microsoft.com/office/powerpoint/2010/main" val="718455628"/>
      </p:ext>
    </p:extLst>
  </p:cSld>
</p:sld>
</file>

<file path=ppt/slides/slide1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737D744B-D2FC-44B4-A251-B19BA950AD97}"/>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12  /  CST4714</a:t>
            </a:r>
          </a:p>
        </p:txBody>
      </p:sp>
      <p:sp>
        <p:nvSpPr>
          <p:cNvPr id="2" name="slide-title">
            <a:extLst xmlns:a="http://schemas.openxmlformats.org/drawingml/2006/main">
              <a:ext uri="{FF2B5EF4-FFF2-40B4-BE49-F238E27FC236}">
                <a16:creationId xmlns:a16="http://schemas.microsoft.com/office/drawing/2014/main" id="{C200A7FB-89A3-465D-90E1-44BAD4AFB952}"/>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partition creates a specific consistency conflict</a:t>
            </a:r>
          </a:p>
        </p:txBody>
      </p:sp>
      <p:sp>
        <p:nvSpPr>
          <p:cNvPr id="3" name="">
            <a:extLst xmlns:a="http://schemas.openxmlformats.org/drawingml/2006/main">
              <a:ext uri="{FF2B5EF4-FFF2-40B4-BE49-F238E27FC236}">
                <a16:creationId xmlns:a16="http://schemas.microsoft.com/office/drawing/2014/main" id="{4444A4B0-14E1-44B0-915F-574F3D7DFF66}"/>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4CFA8BAE-EFAA-46B8-A195-9AD2BED9B354}"/>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10</a:t>
            </a:r>
          </a:p>
        </p:txBody>
      </p:sp>
      <p:sp>
        <p:nvSpPr>
          <p:cNvPr id="5" name="cap-case">
            <a:extLst xmlns:a="http://schemas.openxmlformats.org/drawingml/2006/main">
              <a:ext uri="{FF2B5EF4-FFF2-40B4-BE49-F238E27FC236}">
                <a16:creationId xmlns:a16="http://schemas.microsoft.com/office/drawing/2014/main" id="{3A6D68E0-FF96-424B-83C3-2B918BD97658}"/>
              </a:ext>
            </a:extLst>
          </p:cNvPr>
          <p:cNvSpPr>
            <a:spLocks xmlns:a="http://schemas.openxmlformats.org/drawingml/2006/main" noGrp="1"/>
          </p:cNvSpPr>
          <p:nvPr/>
        </p:nvSpPr>
        <p:spPr>
          <a:xfrm xmlns:a="http://schemas.openxmlformats.org/drawingml/2006/main">
            <a:off x="723900" y="177165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A write changes ticket status to resolved on the A/B side.</a:t>
            </a:r>
          </a:p>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That write completes before a new read begins on the C side.</a:t>
            </a:r>
          </a:p>
        </p:txBody>
      </p:sp>
      <p:graphicFrame>
        <p:nvGraphicFramePr>
          <p:cNvPr id="13" name=""/>
          <p:cNvGraphicFramePr/>
          <p:nvPr/>
        </p:nvGraphicFramePr>
        <p:xfrm>
          <a:off xmlns:a="http://schemas.openxmlformats.org/drawingml/2006/main" x="685800" y="3371850"/>
          <a:ext xmlns:a="http://schemas.openxmlformats.org/drawingml/2006/main" cx="10820400" cy="2238375"/>
        </p:xfrm>
        <a:graphic xmlns:a="http://schemas.openxmlformats.org/drawingml/2006/main">
          <a:graphicData uri="http://schemas.openxmlformats.org/drawingml/2006/table">
            <a:tbl>
              <a:tblPr/>
              <a:tblGrid>
                <a:gridCol w="4533900"/>
                <a:gridCol w="6286500"/>
              </a:tblGrid>
              <a:tr h="746125">
                <a:tc>
                  <a:txBody>
                    <a:bodyPr lIns="114300" tIns="76200" rIns="114300" bIns="76200"/>
                    <a:lstStyle/>
                    <a:p>
                      <a:r>
                        <a:rPr sz="2025" b="1">
                          <a:solidFill>
                            <a:srgbClr val="FFFFFF"/>
                          </a:solidFill>
                          <a:latin typeface="Helvetica Neue"/>
                          <a:ea typeface="Helvetica Neue"/>
                          <a:cs typeface="Helvetica Neue"/>
                        </a:rPr>
                        <a:t>C's possible behavior</a:t>
                      </a:r>
                    </a:p>
                  </a:txBody>
                  <a:tcPr marL="91440" marR="91440" marT="45720" marB="45720" anchor="ctr">
                    <a:solidFill>
                      <a:srgbClr val="214AE8"/>
                    </a:solidFill>
                  </a:tcPr>
                </a:tc>
                <a:tc>
                  <a:txBody>
                    <a:bodyPr lIns="114300" tIns="76200" rIns="114300" bIns="76200"/>
                    <a:lstStyle/>
                    <a:p>
                      <a:r>
                        <a:rPr sz="2025" b="1">
                          <a:solidFill>
                            <a:srgbClr val="FFFFFF"/>
                          </a:solidFill>
                          <a:latin typeface="Helvetica Neue"/>
                          <a:ea typeface="Helvetica Neue"/>
                          <a:cs typeface="Helvetica Neue"/>
                        </a:rPr>
                        <a:t>Consequence</a:t>
                      </a:r>
                    </a:p>
                  </a:txBody>
                  <a:tcPr marL="91440" marR="91440" marT="45720" marB="45720" anchor="ctr">
                    <a:solidFill>
                      <a:srgbClr val="214AE8"/>
                    </a:solidFill>
                  </a:tcPr>
                </a:tc>
              </a:tr>
              <a:tr h="746125">
                <a:tc>
                  <a:txBody>
                    <a:bodyPr lIns="114300" tIns="76200" rIns="114300" bIns="76200"/>
                    <a:lstStyle/>
                    <a:p>
                      <a:r>
                        <a:rPr sz="2025" b="0">
                          <a:solidFill>
                            <a:srgbClr val="111827"/>
                          </a:solidFill>
                          <a:latin typeface="Helvetica Neue"/>
                          <a:ea typeface="Helvetica Neue"/>
                          <a:cs typeface="Helvetica Neue"/>
                        </a:rPr>
                        <a:t>Return the old status, open</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The read can violate the single-current-copy promise</a:t>
                      </a:r>
                    </a:p>
                  </a:txBody>
                  <a:tcPr marL="91440" marR="91440" marT="45720" marB="45720" anchor="ctr">
                    <a:solidFill>
                      <a:srgbClr val="FFFFFF"/>
                    </a:solidFill>
                  </a:tcPr>
                </a:tc>
              </a:tr>
              <a:tr h="746125">
                <a:tc>
                  <a:txBody>
                    <a:bodyPr lIns="114300" tIns="76200" rIns="114300" bIns="76200"/>
                    <a:lstStyle/>
                    <a:p>
                      <a:r>
                        <a:rPr sz="2025" b="0">
                          <a:solidFill>
                            <a:srgbClr val="111827"/>
                          </a:solidFill>
                          <a:latin typeface="Helvetica Neue"/>
                          <a:ea typeface="Helvetica Neue"/>
                          <a:cs typeface="Helvetica Neue"/>
                        </a:rPr>
                        <a:t>Wait or reject until coordination is possible</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That operation is unavailable in the CAP sense</a:t>
                      </a:r>
                    </a:p>
                  </a:txBody>
                  <a:tcPr marL="91440" marR="91440" marT="45720" marB="45720" anchor="ctr">
                    <a:solidFill>
                      <a:srgbClr val="F1F5F9"/>
                    </a:solidFill>
                  </a:tcPr>
                </a:tc>
              </a:tr>
            </a:tbl>
          </a:graphicData>
        </a:graphic>
      </p:graphicFrame>
      <p:sp>
        <p:nvSpPr>
          <p:cNvPr id="7" name="cap-definitions">
            <a:extLst xmlns:a="http://schemas.openxmlformats.org/drawingml/2006/main">
              <a:ext uri="{FF2B5EF4-FFF2-40B4-BE49-F238E27FC236}">
                <a16:creationId xmlns:a16="http://schemas.microsoft.com/office/drawing/2014/main" id="{D1AD0FFC-24C7-4022-918E-1B0E4E413492}"/>
              </a:ext>
            </a:extLst>
          </p:cNvPr>
          <p:cNvSpPr>
            <a:spLocks xmlns:a="http://schemas.openxmlformats.org/drawingml/2006/main" noGrp="1"/>
          </p:cNvSpPr>
          <p:nvPr/>
        </p:nvSpPr>
        <p:spPr>
          <a:xfrm xmlns:a="http://schemas.openxmlformats.org/drawingml/2006/main">
            <a:off x="723900" y="59055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CAP consistency means linearizable behavior, not the C in ACID.</a:t>
            </a:r>
          </a:p>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CAP availability is not an uptime percentage.</a:t>
            </a:r>
          </a:p>
        </p:txBody>
      </p:sp>
    </p:spTree>
    <p:extLst>
      <p:ext uri="{BB962C8B-B14F-4D97-AF65-F5344CB8AC3E}">
        <p14:creationId xmlns:p14="http://schemas.microsoft.com/office/powerpoint/2010/main" val="511421560"/>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F56CACE6-D669-481F-819A-0C880A856C6C}"/>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12  /  CST4714</a:t>
            </a:r>
          </a:p>
        </p:txBody>
      </p:sp>
      <p:sp>
        <p:nvSpPr>
          <p:cNvPr id="2" name="slide-title">
            <a:extLst xmlns:a="http://schemas.openxmlformats.org/drawingml/2006/main">
              <a:ext uri="{FF2B5EF4-FFF2-40B4-BE49-F238E27FC236}">
                <a16:creationId xmlns:a16="http://schemas.microsoft.com/office/drawing/2014/main" id="{68227261-1BBD-4755-8802-F0DBA73986DB}"/>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replacement primary needs an election</a:t>
            </a:r>
          </a:p>
        </p:txBody>
      </p:sp>
      <p:sp>
        <p:nvSpPr>
          <p:cNvPr id="3" name="">
            <a:extLst xmlns:a="http://schemas.openxmlformats.org/drawingml/2006/main">
              <a:ext uri="{FF2B5EF4-FFF2-40B4-BE49-F238E27FC236}">
                <a16:creationId xmlns:a16="http://schemas.microsoft.com/office/drawing/2014/main" id="{D9B70087-DD09-4E7E-A94E-B55410CAB515}"/>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0E88A176-67B3-418F-9CC5-F59F32B88CA6}"/>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11</a:t>
            </a:r>
          </a:p>
        </p:txBody>
      </p:sp>
      <p:graphicFrame>
        <p:nvGraphicFramePr>
          <p:cNvPr id="12" name=""/>
          <p:cNvGraphicFramePr/>
          <p:nvPr/>
        </p:nvGraphicFramePr>
        <p:xfrm>
          <a:off xmlns:a="http://schemas.openxmlformats.org/drawingml/2006/main" x="685800" y="1752600"/>
          <a:ext xmlns:a="http://schemas.openxmlformats.org/drawingml/2006/main" cx="10820400" cy="2381250"/>
        </p:xfrm>
        <a:graphic xmlns:a="http://schemas.openxmlformats.org/drawingml/2006/main">
          <a:graphicData uri="http://schemas.openxmlformats.org/drawingml/2006/table">
            <a:tbl>
              <a:tblPr/>
              <a:tblGrid>
                <a:gridCol w="5238750"/>
                <a:gridCol w="5581650"/>
              </a:tblGrid>
              <a:tr h="793750">
                <a:tc>
                  <a:txBody>
                    <a:bodyPr lIns="114300" tIns="76200" rIns="114300" bIns="76200"/>
                    <a:lstStyle/>
                    <a:p>
                      <a:r>
                        <a:rPr sz="2100" b="1">
                          <a:solidFill>
                            <a:srgbClr val="FFFFFF"/>
                          </a:solidFill>
                          <a:latin typeface="Helvetica Neue"/>
                          <a:ea typeface="Helvetica Neue"/>
                          <a:cs typeface="Helvetica Neue"/>
                        </a:rPr>
                        <a:t>Failure state</a:t>
                      </a:r>
                    </a:p>
                  </a:txBody>
                  <a:tcPr marL="91440" marR="91440" marT="45720" marB="45720" anchor="ctr">
                    <a:solidFill>
                      <a:srgbClr val="214AE8"/>
                    </a:solidFill>
                  </a:tcPr>
                </a:tc>
                <a:tc>
                  <a:txBody>
                    <a:bodyPr lIns="114300" tIns="76200" rIns="114300" bIns="76200"/>
                    <a:lstStyle/>
                    <a:p>
                      <a:r>
                        <a:rPr sz="2100" b="1">
                          <a:solidFill>
                            <a:srgbClr val="FFFFFF"/>
                          </a:solidFill>
                          <a:latin typeface="Helvetica Neue"/>
                          <a:ea typeface="Helvetica Neue"/>
                          <a:cs typeface="Helvetica Neue"/>
                        </a:rPr>
                        <a:t>What the members can do</a:t>
                      </a:r>
                    </a:p>
                  </a:txBody>
                  <a:tcPr marL="91440" marR="91440" marT="45720" marB="45720" anchor="ctr">
                    <a:solidFill>
                      <a:srgbClr val="214AE8"/>
                    </a:solidFill>
                  </a:tcPr>
                </a:tc>
              </a:tr>
              <a:tr h="793750">
                <a:tc>
                  <a:txBody>
                    <a:bodyPr lIns="114300" tIns="76200" rIns="114300" bIns="76200"/>
                    <a:lstStyle/>
                    <a:p>
                      <a:r>
                        <a:rPr sz="2100" b="0">
                          <a:solidFill>
                            <a:srgbClr val="111827"/>
                          </a:solidFill>
                          <a:latin typeface="Helvetica Neue"/>
                          <a:ea typeface="Helvetica Neue"/>
                          <a:cs typeface="Helvetica Neue"/>
                        </a:rPr>
                        <a:t>A is lost; B and C can communicate</a:t>
                      </a:r>
                    </a:p>
                  </a:txBody>
                  <a:tcPr marL="91440" marR="91440" marT="45720" marB="45720" anchor="ctr">
                    <a:solidFill>
                      <a:srgbClr val="FFFFFF"/>
                    </a:solidFill>
                  </a:tcPr>
                </a:tc>
                <a:tc>
                  <a:txBody>
                    <a:bodyPr lIns="114300" tIns="76200" rIns="114300" bIns="76200"/>
                    <a:lstStyle/>
                    <a:p>
                      <a:r>
                        <a:rPr sz="2100" b="0">
                          <a:solidFill>
                            <a:srgbClr val="111827"/>
                          </a:solidFill>
                          <a:latin typeface="Helvetica Neue"/>
                          <a:ea typeface="Helvetica Neue"/>
                          <a:cs typeface="Helvetica Neue"/>
                        </a:rPr>
                        <a:t>Eligible members can elect a primary with two votes</a:t>
                      </a:r>
                    </a:p>
                  </a:txBody>
                  <a:tcPr marL="91440" marR="91440" marT="45720" marB="45720" anchor="ctr">
                    <a:solidFill>
                      <a:srgbClr val="FFFFFF"/>
                    </a:solidFill>
                  </a:tcPr>
                </a:tc>
              </a:tr>
              <a:tr h="793750">
                <a:tc>
                  <a:txBody>
                    <a:bodyPr lIns="114300" tIns="76200" rIns="114300" bIns="76200"/>
                    <a:lstStyle/>
                    <a:p>
                      <a:r>
                        <a:rPr sz="2100" b="0">
                          <a:solidFill>
                            <a:srgbClr val="111827"/>
                          </a:solidFill>
                          <a:latin typeface="Helvetica Neue"/>
                          <a:ea typeface="Helvetica Neue"/>
                          <a:cs typeface="Helvetica Neue"/>
                        </a:rPr>
                        <a:t>A is lost; B and C cannot communicate</a:t>
                      </a:r>
                    </a:p>
                  </a:txBody>
                  <a:tcPr marL="91440" marR="91440" marT="45720" marB="45720" anchor="ctr">
                    <a:solidFill>
                      <a:srgbClr val="F1F5F9"/>
                    </a:solidFill>
                  </a:tcPr>
                </a:tc>
                <a:tc>
                  <a:txBody>
                    <a:bodyPr lIns="114300" tIns="76200" rIns="114300" bIns="76200"/>
                    <a:lstStyle/>
                    <a:p>
                      <a:r>
                        <a:rPr sz="2100" b="0">
                          <a:solidFill>
                            <a:srgbClr val="111827"/>
                          </a:solidFill>
                          <a:latin typeface="Helvetica Neue"/>
                          <a:ea typeface="Helvetica Neue"/>
                          <a:cs typeface="Helvetica Neue"/>
                        </a:rPr>
                        <a:t>Neither remaining member alone has a voting majority</a:t>
                      </a:r>
                    </a:p>
                  </a:txBody>
                  <a:tcPr marL="91440" marR="91440" marT="45720" marB="45720" anchor="ctr">
                    <a:solidFill>
                      <a:srgbClr val="F1F5F9"/>
                    </a:solidFill>
                  </a:tcPr>
                </a:tc>
              </a:tr>
            </a:tbl>
          </a:graphicData>
        </a:graphic>
      </p:graphicFrame>
      <p:sp>
        <p:nvSpPr>
          <p:cNvPr id="6" name="failover">
            <a:extLst xmlns:a="http://schemas.openxmlformats.org/drawingml/2006/main">
              <a:ext uri="{FF2B5EF4-FFF2-40B4-BE49-F238E27FC236}">
                <a16:creationId xmlns:a16="http://schemas.microsoft.com/office/drawing/2014/main" id="{D90B61B6-31BD-4CE2-B569-8AC43DEB751C}"/>
              </a:ext>
            </a:extLst>
          </p:cNvPr>
          <p:cNvSpPr>
            <a:spLocks xmlns:a="http://schemas.openxmlformats.org/drawingml/2006/main" noGrp="1"/>
          </p:cNvSpPr>
          <p:nvPr/>
        </p:nvSpPr>
        <p:spPr>
          <a:xfrm xmlns:a="http://schemas.openxmlformats.org/drawingml/2006/main">
            <a:off x="723900" y="4705350"/>
            <a:ext cx="10668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Failure detection, election, and driver reconnection take time.</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Some operations may fail or wait while there is no writable primary.</a:t>
            </a:r>
          </a:p>
        </p:txBody>
      </p:sp>
      <p:sp>
        <p:nvSpPr>
          <p:cNvPr id="7" name="driver-limit">
            <a:extLst xmlns:a="http://schemas.openxmlformats.org/drawingml/2006/main">
              <a:ext uri="{FF2B5EF4-FFF2-40B4-BE49-F238E27FC236}">
                <a16:creationId xmlns:a16="http://schemas.microsoft.com/office/drawing/2014/main" id="{62DFDA5D-F8A6-4729-AAD8-D873F3F79DCE}"/>
              </a:ext>
            </a:extLst>
          </p:cNvPr>
          <p:cNvSpPr>
            <a:spLocks xmlns:a="http://schemas.openxmlformats.org/drawingml/2006/main" noGrp="1"/>
          </p:cNvSpPr>
          <p:nvPr/>
        </p:nvSpPr>
        <p:spPr>
          <a:xfrm xmlns:a="http://schemas.openxmlformats.org/drawingml/2006/main">
            <a:off x="723900" y="59055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Supported driver retries help with particular operations.</a:t>
            </a:r>
          </a:p>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They do not make every application action safe to repeat.</a:t>
            </a:r>
          </a:p>
        </p:txBody>
      </p:sp>
    </p:spTree>
    <p:extLst>
      <p:ext uri="{BB962C8B-B14F-4D97-AF65-F5344CB8AC3E}">
        <p14:creationId xmlns:p14="http://schemas.microsoft.com/office/powerpoint/2010/main" val="193038428"/>
      </p:ext>
    </p:extLst>
  </p:cSld>
</p:sld>
</file>

<file path=ppt/slides/slide1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1F6A0395-8C42-4FEA-8061-F5BF730AD4AE}"/>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12  /  CST4714</a:t>
            </a:r>
          </a:p>
        </p:txBody>
      </p:sp>
      <p:sp>
        <p:nvSpPr>
          <p:cNvPr id="2" name="slide-title">
            <a:extLst xmlns:a="http://schemas.openxmlformats.org/drawingml/2006/main">
              <a:ext uri="{FF2B5EF4-FFF2-40B4-BE49-F238E27FC236}">
                <a16:creationId xmlns:a16="http://schemas.microsoft.com/office/drawing/2014/main" id="{BDE9FC6F-C50F-4AFF-A38C-D130079092CC}"/>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An authorized deletion can reach every replica</a:t>
            </a:r>
          </a:p>
        </p:txBody>
      </p:sp>
      <p:sp>
        <p:nvSpPr>
          <p:cNvPr id="3" name="">
            <a:extLst xmlns:a="http://schemas.openxmlformats.org/drawingml/2006/main">
              <a:ext uri="{FF2B5EF4-FFF2-40B4-BE49-F238E27FC236}">
                <a16:creationId xmlns:a16="http://schemas.microsoft.com/office/drawing/2014/main" id="{CCCC40F2-755C-4348-AF83-0EFC44B70E50}"/>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2A9B4224-1525-4B0B-9CB5-B60EB982B93B}"/>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12</a:t>
            </a:r>
          </a:p>
        </p:txBody>
      </p:sp>
      <p:graphicFrame>
        <p:nvGraphicFramePr>
          <p:cNvPr id="12" name=""/>
          <p:cNvGraphicFramePr/>
          <p:nvPr/>
        </p:nvGraphicFramePr>
        <p:xfrm>
          <a:off xmlns:a="http://schemas.openxmlformats.org/drawingml/2006/main" x="685800" y="1752600"/>
          <a:ext xmlns:a="http://schemas.openxmlformats.org/drawingml/2006/main" cx="10820400" cy="2428875"/>
        </p:xfrm>
        <a:graphic xmlns:a="http://schemas.openxmlformats.org/drawingml/2006/main">
          <a:graphicData uri="http://schemas.openxmlformats.org/drawingml/2006/table">
            <a:tbl>
              <a:tblPr/>
              <a:tblGrid>
                <a:gridCol w="3171825"/>
                <a:gridCol w="1685925"/>
                <a:gridCol w="1685925"/>
                <a:gridCol w="1685925"/>
                <a:gridCol w="2590800"/>
              </a:tblGrid>
              <a:tr h="809625">
                <a:tc>
                  <a:txBody>
                    <a:bodyPr lIns="114300" tIns="76200" rIns="114300" bIns="76200"/>
                    <a:lstStyle/>
                    <a:p>
                      <a:r>
                        <a:rPr sz="1950" b="1">
                          <a:solidFill>
                            <a:srgbClr val="FFFFFF"/>
                          </a:solidFill>
                          <a:latin typeface="Helvetica Neue"/>
                          <a:ea typeface="Helvetica Neue"/>
                          <a:cs typeface="Helvetica Neue"/>
                        </a:rPr>
                        <a:t>State</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A</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B</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C</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Earlier export</a:t>
                      </a:r>
                    </a:p>
                  </a:txBody>
                  <a:tcPr marL="91440" marR="91440" marT="45720" marB="45720" anchor="ctr">
                    <a:solidFill>
                      <a:srgbClr val="214AE8"/>
                    </a:solidFill>
                  </a:tcPr>
                </a:tc>
              </a:tr>
              <a:tr h="809625">
                <a:tc>
                  <a:txBody>
                    <a:bodyPr lIns="114300" tIns="76200" rIns="114300" bIns="76200"/>
                    <a:lstStyle/>
                    <a:p>
                      <a:r>
                        <a:rPr sz="1950" b="0">
                          <a:solidFill>
                            <a:srgbClr val="111827"/>
                          </a:solidFill>
                          <a:latin typeface="Helvetica Neue"/>
                          <a:ea typeface="Helvetica Neue"/>
                          <a:cs typeface="Helvetica Neue"/>
                        </a:rPr>
                        <a:t>Before deletion</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5 tickets</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5 tickets</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5 tickets</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5 saved tickets</a:t>
                      </a:r>
                    </a:p>
                  </a:txBody>
                  <a:tcPr marL="91440" marR="91440" marT="45720" marB="45720" anchor="ctr">
                    <a:solidFill>
                      <a:srgbClr val="FFFFFF"/>
                    </a:solidFill>
                  </a:tcPr>
                </a:tc>
              </a:tr>
              <a:tr h="809625">
                <a:tc>
                  <a:txBody>
                    <a:bodyPr lIns="114300" tIns="76200" rIns="114300" bIns="76200"/>
                    <a:lstStyle/>
                    <a:p>
                      <a:r>
                        <a:rPr sz="1950" b="0">
                          <a:solidFill>
                            <a:srgbClr val="111827"/>
                          </a:solidFill>
                          <a:latin typeface="Helvetica Neue"/>
                          <a:ea typeface="Helvetica Neue"/>
                          <a:cs typeface="Helvetica Neue"/>
                        </a:rPr>
                        <a:t>After deletion replicates</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0 tickets</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0 tickets</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0 tickets</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Still 5 saved tickets</a:t>
                      </a:r>
                    </a:p>
                  </a:txBody>
                  <a:tcPr marL="91440" marR="91440" marT="45720" marB="45720" anchor="ctr">
                    <a:solidFill>
                      <a:srgbClr val="F1F5F9"/>
                    </a:solidFill>
                  </a:tcPr>
                </a:tc>
              </a:tr>
            </a:tbl>
          </a:graphicData>
        </a:graphic>
      </p:graphicFrame>
      <p:sp>
        <p:nvSpPr>
          <p:cNvPr id="6" name="deletion">
            <a:extLst xmlns:a="http://schemas.openxmlformats.org/drawingml/2006/main">
              <a:ext uri="{FF2B5EF4-FFF2-40B4-BE49-F238E27FC236}">
                <a16:creationId xmlns:a16="http://schemas.microsoft.com/office/drawing/2014/main" id="{893FE5DD-5698-4E4F-96EE-3CB882B47F69}"/>
              </a:ext>
            </a:extLst>
          </p:cNvPr>
          <p:cNvSpPr>
            <a:spLocks xmlns:a="http://schemas.openxmlformats.org/drawingml/2006/main" noGrp="1"/>
          </p:cNvSpPr>
          <p:nvPr/>
        </p:nvSpPr>
        <p:spPr>
          <a:xfrm xmlns:a="http://schemas.openxmlformats.org/drawingml/2006/main">
            <a:off x="723900" y="4714875"/>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Replication correctly carries out the destructive operation.</a:t>
            </a:r>
          </a:p>
          <a:p xmlns:a="http://schemas.openxmlformats.org/drawingml/2006/main">
            <a:pPr>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Recovering older data requires a separate retained artifact.</a:t>
            </a:r>
          </a:p>
        </p:txBody>
      </p:sp>
      <p:sp>
        <p:nvSpPr>
          <p:cNvPr id="7" name="history-limit">
            <a:extLst xmlns:a="http://schemas.openxmlformats.org/drawingml/2006/main">
              <a:ext uri="{FF2B5EF4-FFF2-40B4-BE49-F238E27FC236}">
                <a16:creationId xmlns:a16="http://schemas.microsoft.com/office/drawing/2014/main" id="{63BFD923-2508-4457-B79C-75AC7D3470F4}"/>
              </a:ext>
            </a:extLst>
          </p:cNvPr>
          <p:cNvSpPr>
            <a:spLocks xmlns:a="http://schemas.openxmlformats.org/drawingml/2006/main" noGrp="1"/>
          </p:cNvSpPr>
          <p:nvPr/>
        </p:nvSpPr>
        <p:spPr>
          <a:xfrm xmlns:a="http://schemas.openxmlformats.org/drawingml/2006/main">
            <a:off x="723900" y="61912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An oplog has a bounded history. It is not an indefinite recovery archive.</a:t>
            </a:r>
          </a:p>
        </p:txBody>
      </p:sp>
    </p:spTree>
    <p:extLst>
      <p:ext uri="{BB962C8B-B14F-4D97-AF65-F5344CB8AC3E}">
        <p14:creationId xmlns:p14="http://schemas.microsoft.com/office/powerpoint/2010/main" val="1323082933"/>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3" name="eyebrow">
            <a:extLst xmlns:a="http://schemas.openxmlformats.org/drawingml/2006/main">
              <a:ext uri="{FF2B5EF4-FFF2-40B4-BE49-F238E27FC236}">
                <a16:creationId xmlns:a16="http://schemas.microsoft.com/office/drawing/2014/main" id="{2CB715EB-114C-477B-AD46-B189D0666FCC}"/>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12  /  CST4714</a:t>
            </a:r>
          </a:p>
        </p:txBody>
      </p:sp>
      <p:sp>
        <p:nvSpPr>
          <p:cNvPr id="2" name="slide-title">
            <a:extLst xmlns:a="http://schemas.openxmlformats.org/drawingml/2006/main">
              <a:ext uri="{FF2B5EF4-FFF2-40B4-BE49-F238E27FC236}">
                <a16:creationId xmlns:a16="http://schemas.microsoft.com/office/drawing/2014/main" id="{8E49A908-5B93-4E12-9729-6A22E8440E5C}"/>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Recovery point objective (RPO)</a:t>
            </a:r>
          </a:p>
        </p:txBody>
      </p:sp>
      <p:sp>
        <p:nvSpPr>
          <p:cNvPr id="3" name="">
            <a:extLst xmlns:a="http://schemas.openxmlformats.org/drawingml/2006/main">
              <a:ext uri="{FF2B5EF4-FFF2-40B4-BE49-F238E27FC236}">
                <a16:creationId xmlns:a16="http://schemas.microsoft.com/office/drawing/2014/main" id="{3685E970-4368-4480-B035-80CFF970C65E}"/>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871A9520-B3B9-4379-9556-F0BDB3D50A98}"/>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13</a:t>
            </a:r>
          </a:p>
        </p:txBody>
      </p:sp>
      <p:sp>
        <p:nvSpPr>
          <p:cNvPr id="5" name="rpo-case">
            <a:extLst xmlns:a="http://schemas.openxmlformats.org/drawingml/2006/main">
              <a:ext uri="{FF2B5EF4-FFF2-40B4-BE49-F238E27FC236}">
                <a16:creationId xmlns:a16="http://schemas.microsoft.com/office/drawing/2014/main" id="{2587D597-33CF-4793-9DD0-F753F23B6B17}"/>
              </a:ext>
            </a:extLst>
          </p:cNvPr>
          <p:cNvSpPr>
            <a:spLocks xmlns:a="http://schemas.openxmlformats.org/drawingml/2006/main" noGrp="1"/>
          </p:cNvSpPr>
          <p:nvPr/>
        </p:nvSpPr>
        <p:spPr>
          <a:xfrm xmlns:a="http://schemas.openxmlformats.org/drawingml/2006/main">
            <a:off x="723900" y="1743075"/>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A complete artifact represents 16:10. Deletion happens at 16:22.</a:t>
            </a:r>
          </a:p>
          <a:p xmlns:a="http://schemas.openxmlformats.org/drawingml/2006/main">
            <a:pPr>
              <a:defRPr sz="2325" b="0">
                <a:solidFill>
                  <a:srgbClr val="111827"/>
                </a:solidFill>
                <a:latin typeface="Helvetica Neue"/>
                <a:ea typeface="Helvetica Neue"/>
                <a:cs typeface="Helvetica Neue"/>
              </a:defRPr>
            </a:pPr>
            <a:r>
              <a:rPr sz="2325" b="0">
                <a:solidFill>
                  <a:srgbClr val="111827"/>
                </a:solidFill>
                <a:latin typeface="Helvetica Neue"/>
                <a:ea typeface="Helvetica Neue"/>
                <a:cs typeface="Helvetica Neue"/>
              </a:rPr>
              <a:t>No later export or replayable event log exists in this case.</a:t>
            </a:r>
          </a:p>
        </p:txBody>
      </p:sp>
      <p:sp>
        <p:nvSpPr>
          <p:cNvPr id="6" name="">
            <a:extLst xmlns:a="http://schemas.openxmlformats.org/drawingml/2006/main">
              <a:ext uri="{FF2B5EF4-FFF2-40B4-BE49-F238E27FC236}">
                <a16:creationId xmlns:a16="http://schemas.microsoft.com/office/drawing/2014/main" id="{A986FEBE-6A58-4AFE-B1C6-1FB5A16960B9}"/>
              </a:ext>
            </a:extLst>
          </p:cNvPr>
          <p:cNvSpPr>
            <a:spLocks xmlns:a="http://schemas.openxmlformats.org/drawingml/2006/main" noGrp="1"/>
          </p:cNvSpPr>
          <p:nvPr/>
        </p:nvSpPr>
        <p:spPr>
          <a:xfrm xmlns:a="http://schemas.openxmlformats.org/drawingml/2006/main">
            <a:off x="1295400" y="3457575"/>
            <a:ext cx="9601200" cy="476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7" name="">
            <a:extLst xmlns:a="http://schemas.openxmlformats.org/drawingml/2006/main">
              <a:ext uri="{FF2B5EF4-FFF2-40B4-BE49-F238E27FC236}">
                <a16:creationId xmlns:a16="http://schemas.microsoft.com/office/drawing/2014/main" id="{067540F1-CA8A-41C3-A6AE-A5089589F519}"/>
              </a:ext>
            </a:extLst>
          </p:cNvPr>
          <p:cNvSpPr>
            <a:spLocks xmlns:a="http://schemas.openxmlformats.org/drawingml/2006/main" noGrp="1"/>
          </p:cNvSpPr>
          <p:nvPr/>
        </p:nvSpPr>
        <p:spPr>
          <a:xfrm xmlns:a="http://schemas.openxmlformats.org/drawingml/2006/main">
            <a:off x="1295400" y="3267075"/>
            <a:ext cx="47625" cy="438150"/>
          </a:xfrm>
          <a:prstGeom xmlns:a="http://schemas.openxmlformats.org/drawingml/2006/main" prst="rect">
            <a:avLst/>
          </a:prstGeom>
          <a:solidFill xmlns:a="http://schemas.openxmlformats.org/drawingml/2006/main">
            <a:srgbClr val="214AE8"/>
          </a:solidFill>
          <a:ln xmlns:a="http://schemas.openxmlformats.org/drawingml/2006/main" w="0">
            <a:solidFill>
              <a:srgbClr val="214AE8"/>
            </a:solidFill>
          </a:ln>
        </p:spPr>
      </p:sp>
      <p:sp>
        <p:nvSpPr>
          <p:cNvPr id="8" name="">
            <a:extLst xmlns:a="http://schemas.openxmlformats.org/drawingml/2006/main">
              <a:ext uri="{FF2B5EF4-FFF2-40B4-BE49-F238E27FC236}">
                <a16:creationId xmlns:a16="http://schemas.microsoft.com/office/drawing/2014/main" id="{8CCF697E-E6BB-4AD8-A9BD-BB072155FC97}"/>
              </a:ext>
            </a:extLst>
          </p:cNvPr>
          <p:cNvSpPr>
            <a:spLocks xmlns:a="http://schemas.openxmlformats.org/drawingml/2006/main" noGrp="1"/>
          </p:cNvSpPr>
          <p:nvPr/>
        </p:nvSpPr>
        <p:spPr>
          <a:xfrm xmlns:a="http://schemas.openxmlformats.org/drawingml/2006/main">
            <a:off x="10858500" y="3267075"/>
            <a:ext cx="47625" cy="438150"/>
          </a:xfrm>
          <a:prstGeom xmlns:a="http://schemas.openxmlformats.org/drawingml/2006/main" prst="rect">
            <a:avLst/>
          </a:prstGeom>
          <a:solidFill xmlns:a="http://schemas.openxmlformats.org/drawingml/2006/main">
            <a:srgbClr val="214AE8"/>
          </a:solidFill>
          <a:ln xmlns:a="http://schemas.openxmlformats.org/drawingml/2006/main" w="0">
            <a:solidFill>
              <a:srgbClr val="214AE8"/>
            </a:solidFill>
          </a:ln>
        </p:spPr>
      </p:sp>
      <p:sp>
        <p:nvSpPr>
          <p:cNvPr id="9" name="artifact-time">
            <a:extLst xmlns:a="http://schemas.openxmlformats.org/drawingml/2006/main">
              <a:ext uri="{FF2B5EF4-FFF2-40B4-BE49-F238E27FC236}">
                <a16:creationId xmlns:a16="http://schemas.microsoft.com/office/drawing/2014/main" id="{95CB1B0F-0846-4875-9AA5-68A1CB6A7EFF}"/>
              </a:ext>
            </a:extLst>
          </p:cNvPr>
          <p:cNvSpPr>
            <a:spLocks xmlns:a="http://schemas.openxmlformats.org/drawingml/2006/main" noGrp="1"/>
          </p:cNvSpPr>
          <p:nvPr/>
        </p:nvSpPr>
        <p:spPr>
          <a:xfrm xmlns:a="http://schemas.openxmlformats.org/drawingml/2006/main">
            <a:off x="904875" y="3790950"/>
            <a:ext cx="2762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214AE8"/>
                </a:solidFill>
                <a:latin typeface="Helvetica Neue"/>
                <a:ea typeface="Helvetica Neue"/>
                <a:cs typeface="Helvetica Neue"/>
              </a:defRPr>
            </a:pPr>
            <a:r>
              <a:rPr sz="2250" b="1">
                <a:solidFill>
                  <a:srgbClr val="214AE8"/>
                </a:solidFill>
                <a:latin typeface="Helvetica Neue"/>
                <a:ea typeface="Helvetica Neue"/>
                <a:cs typeface="Helvetica Neue"/>
              </a:rPr>
              <a:t>16:10</a:t>
            </a:r>
          </a:p>
          <a:p xmlns:a="http://schemas.openxmlformats.org/drawingml/2006/main">
            <a:pPr>
              <a:defRPr sz="2250" b="1">
                <a:solidFill>
                  <a:srgbClr val="214AE8"/>
                </a:solidFill>
                <a:latin typeface="Helvetica Neue"/>
                <a:ea typeface="Helvetica Neue"/>
                <a:cs typeface="Helvetica Neue"/>
              </a:defRPr>
            </a:pPr>
            <a:r>
              <a:rPr sz="2250" b="1">
                <a:solidFill>
                  <a:srgbClr val="214AE8"/>
                </a:solidFill>
                <a:latin typeface="Helvetica Neue"/>
                <a:ea typeface="Helvetica Neue"/>
                <a:cs typeface="Helvetica Neue"/>
              </a:rPr>
              <a:t>Saved state</a:t>
            </a:r>
          </a:p>
        </p:txBody>
      </p:sp>
      <p:sp>
        <p:nvSpPr>
          <p:cNvPr id="10" name="incident-time">
            <a:extLst xmlns:a="http://schemas.openxmlformats.org/drawingml/2006/main">
              <a:ext uri="{FF2B5EF4-FFF2-40B4-BE49-F238E27FC236}">
                <a16:creationId xmlns:a16="http://schemas.microsoft.com/office/drawing/2014/main" id="{CBDAE349-15E4-4574-982B-80241DA61088}"/>
              </a:ext>
            </a:extLst>
          </p:cNvPr>
          <p:cNvSpPr>
            <a:spLocks xmlns:a="http://schemas.openxmlformats.org/drawingml/2006/main" noGrp="1"/>
          </p:cNvSpPr>
          <p:nvPr/>
        </p:nvSpPr>
        <p:spPr>
          <a:xfrm xmlns:a="http://schemas.openxmlformats.org/drawingml/2006/main">
            <a:off x="9277350" y="3790950"/>
            <a:ext cx="2209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214AE8"/>
                </a:solidFill>
                <a:latin typeface="Helvetica Neue"/>
                <a:ea typeface="Helvetica Neue"/>
                <a:cs typeface="Helvetica Neue"/>
              </a:defRPr>
            </a:pPr>
            <a:r>
              <a:rPr sz="2250" b="1">
                <a:solidFill>
                  <a:srgbClr val="214AE8"/>
                </a:solidFill>
                <a:latin typeface="Helvetica Neue"/>
                <a:ea typeface="Helvetica Neue"/>
                <a:cs typeface="Helvetica Neue"/>
              </a:rPr>
              <a:t>16:22</a:t>
            </a:r>
          </a:p>
          <a:p xmlns:a="http://schemas.openxmlformats.org/drawingml/2006/main">
            <a:pPr>
              <a:defRPr sz="2250" b="1">
                <a:solidFill>
                  <a:srgbClr val="214AE8"/>
                </a:solidFill>
                <a:latin typeface="Helvetica Neue"/>
                <a:ea typeface="Helvetica Neue"/>
                <a:cs typeface="Helvetica Neue"/>
              </a:defRPr>
            </a:pPr>
            <a:r>
              <a:rPr sz="2250" b="1">
                <a:solidFill>
                  <a:srgbClr val="214AE8"/>
                </a:solidFill>
                <a:latin typeface="Helvetica Neue"/>
                <a:ea typeface="Helvetica Neue"/>
                <a:cs typeface="Helvetica Neue"/>
              </a:rPr>
              <a:t>Deletion</a:t>
            </a:r>
          </a:p>
        </p:txBody>
      </p:sp>
      <p:sp>
        <p:nvSpPr>
          <p:cNvPr id="11" name="rpo-equation">
            <a:extLst xmlns:a="http://schemas.openxmlformats.org/drawingml/2006/main">
              <a:ext uri="{FF2B5EF4-FFF2-40B4-BE49-F238E27FC236}">
                <a16:creationId xmlns:a16="http://schemas.microsoft.com/office/drawing/2014/main" id="{83755A92-C5A1-4987-9653-5E38E5C6E8D2}"/>
              </a:ext>
            </a:extLst>
          </p:cNvPr>
          <p:cNvSpPr>
            <a:spLocks xmlns:a="http://schemas.openxmlformats.org/drawingml/2006/main" noGrp="1"/>
          </p:cNvSpPr>
          <p:nvPr/>
        </p:nvSpPr>
        <p:spPr>
          <a:xfrm xmlns:a="http://schemas.openxmlformats.org/drawingml/2006/main">
            <a:off x="723900" y="50768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11827"/>
                </a:solidFill>
                <a:latin typeface="Menlo"/>
                <a:ea typeface="Menlo"/>
                <a:cs typeface="Menlo"/>
              </a:defRPr>
            </a:pPr>
            <a:r>
              <a:rPr sz="2550" b="0">
                <a:solidFill>
                  <a:srgbClr val="111827"/>
                </a:solidFill>
                <a:latin typeface="Menlo"/>
                <a:ea typeface="Menlo"/>
                <a:cs typeface="Menlo"/>
              </a:rPr>
              <a:t>Recovery-point gap = 16:22 - 16:10 = 12 minutes</a:t>
            </a:r>
          </a:p>
        </p:txBody>
      </p:sp>
      <p:sp>
        <p:nvSpPr>
          <p:cNvPr id="12" name="rpo-target">
            <a:extLst xmlns:a="http://schemas.openxmlformats.org/drawingml/2006/main">
              <a:ext uri="{FF2B5EF4-FFF2-40B4-BE49-F238E27FC236}">
                <a16:creationId xmlns:a16="http://schemas.microsoft.com/office/drawing/2014/main" id="{1A11A5E0-2BC0-42D8-BD37-18FF97B072B1}"/>
              </a:ext>
            </a:extLst>
          </p:cNvPr>
          <p:cNvSpPr>
            <a:spLocks xmlns:a="http://schemas.openxmlformats.org/drawingml/2006/main" noGrp="1"/>
          </p:cNvSpPr>
          <p:nvPr/>
        </p:nvSpPr>
        <p:spPr>
          <a:xfrm xmlns:a="http://schemas.openxmlformats.org/drawingml/2006/main">
            <a:off x="723900" y="60769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A five-minute data-loss objective is not met by this artifact.</a:t>
            </a:r>
          </a:p>
        </p:txBody>
      </p:sp>
    </p:spTree>
    <p:extLst>
      <p:ext uri="{BB962C8B-B14F-4D97-AF65-F5344CB8AC3E}">
        <p14:creationId xmlns:p14="http://schemas.microsoft.com/office/powerpoint/2010/main" val="93836673"/>
      </p:ext>
    </p:extLst>
  </p:cSld>
</p:sld>
</file>

<file path=ppt/slides/slide1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58865F4C-DD59-452B-9DE9-E1F1F162D8A5}"/>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12  /  CST4714</a:t>
            </a:r>
          </a:p>
        </p:txBody>
      </p:sp>
      <p:sp>
        <p:nvSpPr>
          <p:cNvPr id="2" name="slide-title">
            <a:extLst xmlns:a="http://schemas.openxmlformats.org/drawingml/2006/main">
              <a:ext uri="{FF2B5EF4-FFF2-40B4-BE49-F238E27FC236}">
                <a16:creationId xmlns:a16="http://schemas.microsoft.com/office/drawing/2014/main" id="{8BC6C1DF-E2C3-4CE9-8F7F-C9D1D2747D01}"/>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Recovery time objective (RTO)</a:t>
            </a:r>
          </a:p>
        </p:txBody>
      </p:sp>
      <p:sp>
        <p:nvSpPr>
          <p:cNvPr id="3" name="">
            <a:extLst xmlns:a="http://schemas.openxmlformats.org/drawingml/2006/main">
              <a:ext uri="{FF2B5EF4-FFF2-40B4-BE49-F238E27FC236}">
                <a16:creationId xmlns:a16="http://schemas.microsoft.com/office/drawing/2014/main" id="{0D3C5F2A-81E1-4ABC-BC21-793F602872C9}"/>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0E52D7A7-2DDB-446A-85C9-A01FC1BC2F5C}"/>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14</a:t>
            </a:r>
          </a:p>
        </p:txBody>
      </p:sp>
      <p:graphicFrame>
        <p:nvGraphicFramePr>
          <p:cNvPr id="12" name=""/>
          <p:cNvGraphicFramePr/>
          <p:nvPr/>
        </p:nvGraphicFramePr>
        <p:xfrm>
          <a:off xmlns:a="http://schemas.openxmlformats.org/drawingml/2006/main" x="685800" y="1714500"/>
          <a:ext xmlns:a="http://schemas.openxmlformats.org/drawingml/2006/main" cx="10820400" cy="2809875"/>
        </p:xfrm>
        <a:graphic xmlns:a="http://schemas.openxmlformats.org/drawingml/2006/main">
          <a:graphicData uri="http://schemas.openxmlformats.org/drawingml/2006/table">
            <a:tbl>
              <a:tblPr/>
              <a:tblGrid>
                <a:gridCol w="7620000"/>
                <a:gridCol w="3200400"/>
              </a:tblGrid>
              <a:tr h="702469">
                <a:tc>
                  <a:txBody>
                    <a:bodyPr lIns="114300" tIns="76200" rIns="114300" bIns="76200"/>
                    <a:lstStyle/>
                    <a:p>
                      <a:r>
                        <a:rPr sz="2100" b="1">
                          <a:solidFill>
                            <a:srgbClr val="FFFFFF"/>
                          </a:solidFill>
                          <a:latin typeface="Helvetica Neue"/>
                          <a:ea typeface="Helvetica Neue"/>
                          <a:cs typeface="Helvetica Neue"/>
                        </a:rPr>
                        <a:t>Work after the incident</a:t>
                      </a:r>
                    </a:p>
                  </a:txBody>
                  <a:tcPr marL="91440" marR="91440" marT="45720" marB="45720" anchor="ctr">
                    <a:solidFill>
                      <a:srgbClr val="214AE8"/>
                    </a:solidFill>
                  </a:tcPr>
                </a:tc>
                <a:tc>
                  <a:txBody>
                    <a:bodyPr lIns="114300" tIns="76200" rIns="114300" bIns="76200"/>
                    <a:lstStyle/>
                    <a:p>
                      <a:r>
                        <a:rPr sz="2100" b="1">
                          <a:solidFill>
                            <a:srgbClr val="FFFFFF"/>
                          </a:solidFill>
                          <a:latin typeface="Helvetica Neue"/>
                          <a:ea typeface="Helvetica Neue"/>
                          <a:cs typeface="Helvetica Neue"/>
                        </a:rPr>
                        <a:t>Duration</a:t>
                      </a:r>
                    </a:p>
                  </a:txBody>
                  <a:tcPr marL="91440" marR="91440" marT="45720" marB="45720" anchor="ctr">
                    <a:solidFill>
                      <a:srgbClr val="214AE8"/>
                    </a:solidFill>
                  </a:tcPr>
                </a:tc>
              </a:tr>
              <a:tr h="702469">
                <a:tc>
                  <a:txBody>
                    <a:bodyPr lIns="114300" tIns="76200" rIns="114300" bIns="76200"/>
                    <a:lstStyle/>
                    <a:p>
                      <a:r>
                        <a:rPr sz="2100" b="0">
                          <a:solidFill>
                            <a:srgbClr val="111827"/>
                          </a:solidFill>
                          <a:latin typeface="Helvetica Neue"/>
                          <a:ea typeface="Helvetica Neue"/>
                          <a:cs typeface="Helvetica Neue"/>
                        </a:rPr>
                        <a:t>Detect the deletion</a:t>
                      </a:r>
                    </a:p>
                  </a:txBody>
                  <a:tcPr marL="91440" marR="91440" marT="45720" marB="45720" anchor="ctr">
                    <a:solidFill>
                      <a:srgbClr val="FFFFFF"/>
                    </a:solidFill>
                  </a:tcPr>
                </a:tc>
                <a:tc>
                  <a:txBody>
                    <a:bodyPr lIns="114300" tIns="76200" rIns="114300" bIns="76200"/>
                    <a:lstStyle/>
                    <a:p>
                      <a:r>
                        <a:rPr sz="2100" b="0">
                          <a:solidFill>
                            <a:srgbClr val="111827"/>
                          </a:solidFill>
                          <a:latin typeface="Helvetica Neue"/>
                          <a:ea typeface="Helvetica Neue"/>
                          <a:cs typeface="Helvetica Neue"/>
                        </a:rPr>
                        <a:t>2 minutes</a:t>
                      </a:r>
                    </a:p>
                  </a:txBody>
                  <a:tcPr marL="91440" marR="91440" marT="45720" marB="45720" anchor="ctr">
                    <a:solidFill>
                      <a:srgbClr val="FFFFFF"/>
                    </a:solidFill>
                  </a:tcPr>
                </a:tc>
              </a:tr>
              <a:tr h="702469">
                <a:tc>
                  <a:txBody>
                    <a:bodyPr lIns="114300" tIns="76200" rIns="114300" bIns="76200"/>
                    <a:lstStyle/>
                    <a:p>
                      <a:r>
                        <a:rPr sz="2100" b="0">
                          <a:solidFill>
                            <a:srgbClr val="111827"/>
                          </a:solidFill>
                          <a:latin typeface="Helvetica Neue"/>
                          <a:ea typeface="Helvetica Neue"/>
                          <a:cs typeface="Helvetica Neue"/>
                        </a:rPr>
                        <a:t>Retrieve and authorize the artifact</a:t>
                      </a:r>
                    </a:p>
                  </a:txBody>
                  <a:tcPr marL="91440" marR="91440" marT="45720" marB="45720" anchor="ctr">
                    <a:solidFill>
                      <a:srgbClr val="F1F5F9"/>
                    </a:solidFill>
                  </a:tcPr>
                </a:tc>
                <a:tc>
                  <a:txBody>
                    <a:bodyPr lIns="114300" tIns="76200" rIns="114300" bIns="76200"/>
                    <a:lstStyle/>
                    <a:p>
                      <a:r>
                        <a:rPr sz="2100" b="0">
                          <a:solidFill>
                            <a:srgbClr val="111827"/>
                          </a:solidFill>
                          <a:latin typeface="Helvetica Neue"/>
                          <a:ea typeface="Helvetica Neue"/>
                          <a:cs typeface="Helvetica Neue"/>
                        </a:rPr>
                        <a:t>1 minute</a:t>
                      </a:r>
                    </a:p>
                  </a:txBody>
                  <a:tcPr marL="91440" marR="91440" marT="45720" marB="45720" anchor="ctr">
                    <a:solidFill>
                      <a:srgbClr val="F1F5F9"/>
                    </a:solidFill>
                  </a:tcPr>
                </a:tc>
              </a:tr>
              <a:tr h="702469">
                <a:tc>
                  <a:txBody>
                    <a:bodyPr lIns="114300" tIns="76200" rIns="114300" bIns="76200"/>
                    <a:lstStyle/>
                    <a:p>
                      <a:r>
                        <a:rPr sz="2100" b="0">
                          <a:solidFill>
                            <a:srgbClr val="111827"/>
                          </a:solidFill>
                          <a:latin typeface="Helvetica Neue"/>
                          <a:ea typeface="Helvetica Neue"/>
                          <a:cs typeface="Helvetica Neue"/>
                        </a:rPr>
                        <a:t>Restore and pass application checks</a:t>
                      </a:r>
                    </a:p>
                  </a:txBody>
                  <a:tcPr marL="91440" marR="91440" marT="45720" marB="45720" anchor="ctr">
                    <a:solidFill>
                      <a:srgbClr val="FFFFFF"/>
                    </a:solidFill>
                  </a:tcPr>
                </a:tc>
                <a:tc>
                  <a:txBody>
                    <a:bodyPr lIns="114300" tIns="76200" rIns="114300" bIns="76200"/>
                    <a:lstStyle/>
                    <a:p>
                      <a:r>
                        <a:rPr sz="2100" b="0">
                          <a:solidFill>
                            <a:srgbClr val="111827"/>
                          </a:solidFill>
                          <a:latin typeface="Helvetica Neue"/>
                          <a:ea typeface="Helvetica Neue"/>
                          <a:cs typeface="Helvetica Neue"/>
                        </a:rPr>
                        <a:t>4 minutes</a:t>
                      </a:r>
                    </a:p>
                  </a:txBody>
                  <a:tcPr marL="91440" marR="91440" marT="45720" marB="45720" anchor="ctr">
                    <a:solidFill>
                      <a:srgbClr val="FFFFFF"/>
                    </a:solidFill>
                  </a:tcPr>
                </a:tc>
              </a:tr>
            </a:tbl>
          </a:graphicData>
        </a:graphic>
      </p:graphicFrame>
      <p:sp>
        <p:nvSpPr>
          <p:cNvPr id="6" name="rto-equation">
            <a:extLst xmlns:a="http://schemas.openxmlformats.org/drawingml/2006/main">
              <a:ext uri="{FF2B5EF4-FFF2-40B4-BE49-F238E27FC236}">
                <a16:creationId xmlns:a16="http://schemas.microsoft.com/office/drawing/2014/main" id="{F73D3CE3-C573-4843-9F46-0B0038576B3F}"/>
              </a:ext>
            </a:extLst>
          </p:cNvPr>
          <p:cNvSpPr>
            <a:spLocks xmlns:a="http://schemas.openxmlformats.org/drawingml/2006/main" noGrp="1"/>
          </p:cNvSpPr>
          <p:nvPr/>
        </p:nvSpPr>
        <p:spPr>
          <a:xfrm xmlns:a="http://schemas.openxmlformats.org/drawingml/2006/main">
            <a:off x="723900" y="501015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11827"/>
                </a:solidFill>
                <a:latin typeface="Menlo"/>
                <a:ea typeface="Menlo"/>
                <a:cs typeface="Menlo"/>
              </a:defRPr>
            </a:pPr>
            <a:r>
              <a:rPr sz="2550" b="0">
                <a:solidFill>
                  <a:srgbClr val="111827"/>
                </a:solidFill>
                <a:latin typeface="Menlo"/>
                <a:ea typeface="Menlo"/>
                <a:cs typeface="Menlo"/>
              </a:rPr>
              <a:t>Observed recovery time = 2 + 1 + 4 = 7 minutes</a:t>
            </a:r>
          </a:p>
        </p:txBody>
      </p:sp>
      <p:sp>
        <p:nvSpPr>
          <p:cNvPr id="7" name="rto-target">
            <a:extLst xmlns:a="http://schemas.openxmlformats.org/drawingml/2006/main">
              <a:ext uri="{FF2B5EF4-FFF2-40B4-BE49-F238E27FC236}">
                <a16:creationId xmlns:a16="http://schemas.microsoft.com/office/drawing/2014/main" id="{4C346847-A5C9-45AA-A9C2-99BBA2EBE2EC}"/>
              </a:ext>
            </a:extLst>
          </p:cNvPr>
          <p:cNvSpPr>
            <a:spLocks xmlns:a="http://schemas.openxmlformats.org/drawingml/2006/main" noGrp="1"/>
          </p:cNvSpPr>
          <p:nvPr/>
        </p:nvSpPr>
        <p:spPr>
          <a:xfrm xmlns:a="http://schemas.openxmlformats.org/drawingml/2006/main">
            <a:off x="723900" y="5895975"/>
            <a:ext cx="10668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This drill meets a ten-minute service-restoration objective.</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It still misses the five-minute data-loss objective from the previous slide.</a:t>
            </a:r>
          </a:p>
        </p:txBody>
      </p:sp>
    </p:spTree>
    <p:extLst>
      <p:ext uri="{BB962C8B-B14F-4D97-AF65-F5344CB8AC3E}">
        <p14:creationId xmlns:p14="http://schemas.microsoft.com/office/powerpoint/2010/main" val="1706220381"/>
      </p:ext>
    </p:extLst>
  </p:cSld>
</p:sld>
</file>

<file path=ppt/slides/slide15.xml><?xml version="1.0" encoding="utf-8"?>
<ns0:sld xmlns:ns0="http://schemas.openxmlformats.org/presentationml/2006/main" xmlns:ns1="http://schemas.openxmlformats.org/drawingml/2006/main" xmlns:ns2="http://schemas.openxmlformats.org/officeDocument/2006/relationships" xmlns:ns3="http://schemas.microsoft.com/office/drawing/2014/main" xmlns:ns4="http://schemas.microsoft.com/office/powerpoint/2010/main">
  <ns0:cSld>
    <ns0:bg>
      <ns0:bgPr>
        <ns1:solidFill>
          <ns1:srgbClr val="F7F3E9"/>
        </ns1:solidFill>
      </ns0:bgPr>
    </ns0:bg>
    <ns0:spTree>
      <ns0:nvGrpSpPr>
        <ns0:cNvPr id="1" name=""/>
        <ns0:cNvGrpSpPr/>
        <ns0:nvPr/>
      </ns0:nvGrpSpPr>
      <ns0:grpSpPr>
        <ns1:xfrm/>
      </ns0:grpSpPr>
      <ns0:pic>
        <ns0:nvPicPr>
          <ns0:cNvPr id="20" name="" descr="Redacted Atlas Backup page offering paid continuous or daily backup upgrades. The screen does not show a completed backup. Captured August 25, 2026."/>
          <ns0:cNvPicPr>
            <ns1:picLocks noChangeAspect="1"/>
          </ns0:cNvPicPr>
          <ns0:nvPr/>
        </ns0:nvPicPr>
        <ns0:blipFill>
          <ns1:blip ns2:embed="Rea1932ef1f6e4974"/>
          <ns1:srcRect l="0" t="9500" r="0" b="9500"/>
          <ns1:stretch>
            <ns1:fillRect l="0" t="0" r="0" b="0"/>
          </ns1:stretch>
        </ns0:blipFill>
        <ns0:spPr>
          <ns1:xfrm>
            <ns1:off x="685800" y="1819275"/>
            <ns1:ext cx="6838950" cy="3990975"/>
          </ns1:xfrm>
          <ns1:prstGeom prst="roundRect">
            <ns1:avLst>
              <ns1:gd name="adj" fmla="val 3000"/>
            </ns1:avLst>
          </ns1:prstGeom>
        </ns0:spPr>
      </ns0:pic>
      <ns0:sp>
        <ns0:nvSpPr>
          <ns0:cNvPr id="14" name="eyebrow">
            <ns1:extLst>
              <ns1:ext uri="{FF2B5EF4-FFF2-40B4-BE49-F238E27FC236}">
                <ns3:creationId id="{5EB73089-1C3E-495B-B63A-7F32D728A8E2}"/>
              </ns1:ext>
            </ns1:extLst>
          </ns0:cNvPr>
          <ns0:cNvSpPr>
            <ns1:spLocks noGrp="1"/>
          </ns0:cNvSpPr>
          <ns0:nvPr/>
        </ns0:nvSpPr>
        <ns0:spPr>
          <ns1:xfrm>
            <ns1:off x="609600" y="295275"/>
            <ns1:ext cx="5715000" cy="228600"/>
          </ns1:xfrm>
          <ns1:prstGeom prst="rect">
            <ns1:avLst/>
          </ns1:prstGeom>
          <ns1:noFill/>
          <ns1:ln w="0">
            <ns1:noFill/>
          </ns1:ln>
        </ns0:spPr>
        <ns0:txBody>
          <ns1:bodyPr wrap="square" lIns="0" tIns="0" rIns="0" bIns="0" anchor="t">
            <ns1:noAutofit/>
          </ns1:bodyPr>
          <ns1:lstStyle/>
          <ns1:p>
            <ns1:pPr>
              <ns1:defRPr sz="1050" b="1">
                <ns1:solidFill>
                  <ns1:srgbClr val="214AE8"/>
                </ns1:solidFill>
                <ns1:latin typeface="Helvetica Neue"/>
                <ns1:ea typeface="Helvetica Neue"/>
                <ns1:cs typeface="Helvetica Neue"/>
              </ns1:defRPr>
            </ns1:pPr>
            <ns1:r>
              <ns1:rPr sz="1050" b="1">
                <ns1:solidFill>
                  <ns1:srgbClr val="214AE8"/>
                </ns1:solidFill>
                <ns1:latin typeface="Helvetica Neue"/>
                <ns1:ea typeface="Helvetica Neue"/>
                <ns1:cs typeface="Helvetica Neue"/>
              </ns1:rPr>
              <ns1:t>WEEK 12  /  CST4714</ns1:t>
            </ns1:r>
          </ns1:p>
        </ns0:txBody>
      </ns0:sp>
      <ns0:sp>
        <ns0:nvSpPr>
          <ns0:cNvPr id="15" name="slide-title">
            <ns1:extLst>
              <ns1:ext uri="{FF2B5EF4-FFF2-40B4-BE49-F238E27FC236}">
                <ns3:creationId id="{C72CAAF0-2EF6-4538-A09C-B01FF9F88A55}"/>
              </ns1:ext>
            </ns1:extLst>
          </ns0:cNvPr>
          <ns0:cNvSpPr>
            <ns1:spLocks noGrp="1"/>
          </ns0:cNvSpPr>
          <ns0:nvPr/>
        </ns0:nvSpPr>
        <ns0:spPr>
          <ns1:xfrm>
            <ns1:off x="609600" y="619125"/>
            <ns1:ext cx="10972800" cy="628650"/>
          </ns1:xfrm>
          <ns1:prstGeom prst="rect">
            <ns1:avLst/>
          </ns1:prstGeom>
          <ns1:noFill/>
          <ns1:ln w="0">
            <ns1:noFill/>
          </ns1:ln>
        </ns0:spPr>
        <ns0:txBody>
          <ns1:bodyPr wrap="square" lIns="0" tIns="0" rIns="0" bIns="0" anchor="t">
            <ns1:noAutofit/>
          </ns1:bodyPr>
          <ns1:lstStyle/>
          <ns1:p>
            <ns1:pPr>
              <ns1:defRPr sz="2700" b="1">
                <ns1:solidFill>
                  <ns1:srgbClr val="111827"/>
                </ns1:solidFill>
                <ns1:latin typeface="Helvetica Neue"/>
                <ns1:ea typeface="Helvetica Neue"/>
                <ns1:cs typeface="Helvetica Neue"/>
              </ns1:defRPr>
            </ns1:pPr>
            <ns1:r>
              <ns1:rPr sz="2700" b="1">
                <ns1:solidFill>
                  <ns1:srgbClr val="111827"/>
                </ns1:solidFill>
                <ns1:latin typeface="Helvetica Neue"/>
                <ns1:ea typeface="Helvetica Neue"/>
                <ns1:cs typeface="Helvetica Neue"/>
              </ns1:rPr>
              <ns1:t>The Atlas Free backup screen offers an upgrade</ns1:t>
            </ns1:r>
          </ns1:p>
        </ns0:txBody>
      </ns0:sp>
      <ns0:sp>
        <ns0:nvSpPr>
          <ns0:cNvPr id="16" name="backup-boundary">
            <ns1:extLst>
              <ns1:ext uri="{FF2B5EF4-FFF2-40B4-BE49-F238E27FC236}">
                <ns3:creationId id="{23CD4D7F-8F29-4E14-AC42-4EE73D9AC1A9}"/>
              </ns1:ext>
            </ns1:extLst>
          </ns0:cNvPr>
          <ns0:cNvSpPr>
            <ns1:spLocks noGrp="1"/>
          </ns0:cNvSpPr>
          <ns0:nvPr/>
        </ns0:nvSpPr>
        <ns0:spPr>
          <ns1:xfrm>
            <ns1:off x="7972425" y="1952625"/>
            <ns1:ext cx="3476625" cy="895350"/>
          </ns1:xfrm>
          <ns1:prstGeom prst="rect">
            <ns1:avLst/>
          </ns1:prstGeom>
          <ns1:noFill/>
          <ns1:ln w="0">
            <ns1:noFill/>
          </ns1:ln>
        </ns0:spPr>
        <ns0:txBody>
          <ns1:bodyPr wrap="square" lIns="0" tIns="0" rIns="0" bIns="0" anchor="t">
            <ns1:noAutofit/>
          </ns1:bodyPr>
          <ns1:lstStyle/>
          <ns1:p>
            <ns1:pPr>
              <ns1:defRPr sz="2400" b="1">
                <ns1:solidFill>
                  <ns1:srgbClr val="111827"/>
                </ns1:solidFill>
                <ns1:latin typeface="Helvetica Neue"/>
                <ns1:ea typeface="Helvetica Neue"/>
                <ns1:cs typeface="Helvetica Neue"/>
              </ns1:defRPr>
            </ns1:pPr>
            <ns1:r>
              <ns1:rPr sz="2400" b="1">
                <ns1:solidFill>
                  <ns1:srgbClr val="111827"/>
                </ns1:solidFill>
                <ns1:latin typeface="Helvetica Neue"/>
                <ns1:ea typeface="Helvetica Neue"/>
                <ns1:cs typeface="Helvetica Neue"/>
              </ns1:rPr>
              <ns1:t>No native Atlas backup</ns1:t>
            </ns1:r>
          </ns1:p>
          <ns1:p>
            <ns1:pPr>
              <ns1:defRPr sz="2400" b="1">
                <ns1:solidFill>
                  <ns1:srgbClr val="111827"/>
                </ns1:solidFill>
                <ns1:latin typeface="Helvetica Neue"/>
                <ns1:ea typeface="Helvetica Neue"/>
                <ns1:cs typeface="Helvetica Neue"/>
              </ns1:defRPr>
            </ns1:pPr>
            <ns1:r>
              <ns1:rPr sz="2400" b="1">
                <ns1:solidFill>
                  <ns1:srgbClr val="111827"/>
                </ns1:solidFill>
                <ns1:latin typeface="Helvetica Neue"/>
                <ns1:ea typeface="Helvetica Neue"/>
                <ns1:cs typeface="Helvetica Neue"/>
              </ns1:rPr>
              <ns1:t>on the Free cluster.</ns1:t>
            </ns1:r>
          </ns1:p>
        </ns0:txBody>
      </ns0:sp>
      <ns0:sp>
        <ns0:nvSpPr>
          <ns0:cNvPr id="17" name="backup-alternative">
            <ns1:extLst>
              <ns1:ext uri="{FF2B5EF4-FFF2-40B4-BE49-F238E27FC236}">
                <ns3:creationId id="{0C2A22EC-44A9-4E33-8EE1-D700F3DA15D1}"/>
              </ns1:ext>
            </ns1:extLst>
          </ns0:cNvPr>
          <ns0:cNvSpPr>
            <ns1:spLocks noGrp="1"/>
          </ns0:cNvSpPr>
          <ns0:nvPr/>
        </ns0:nvSpPr>
        <ns0:spPr>
          <ns1:xfrm>
            <ns1:off x="7972425" y="3409950"/>
            <ns1:ext cx="3476625" cy="1285875"/>
          </ns1:xfrm>
          <ns1:prstGeom prst="rect">
            <ns1:avLst/>
          </ns1:prstGeom>
          <ns1:noFill/>
          <ns1:ln w="0">
            <ns1:noFill/>
          </ns1:ln>
        </ns0:spPr>
        <ns0:txBody>
          <ns1:bodyPr wrap="square" lIns="0" tIns="0" rIns="0" bIns="0" anchor="t">
            <ns1:noAutofit/>
          </ns1:bodyPr>
          <ns1:lstStyle/>
          <ns1:p>
            <ns1:pPr>
              <ns1:defRPr sz="2175" b="0">
                <ns1:solidFill>
                  <ns1:srgbClr val="111827"/>
                </ns1:solidFill>
                <ns1:latin typeface="Helvetica Neue"/>
                <ns1:ea typeface="Helvetica Neue"/>
                <ns1:cs typeface="Helvetica Neue"/>
              </ns1:defRPr>
            </ns1:pPr>
            <ns1:r>
              <ns1:rPr sz="2175" b="0">
                <ns1:solidFill>
                  <ns1:srgbClr val="111827"/>
                </ns1:solidFill>
                <ns1:latin typeface="Helvetica Neue"/>
                <ns1:ea typeface="Helvetica Neue"/>
                <ns1:cs typeface="Helvetica Neue"/>
              </ns1:rPr>
              <ns1:t>Use a separate logical</ns1:t>
            </ns1:r>
          </ns1:p>
          <ns1:p>
            <ns1:pPr>
              <ns1:defRPr sz="2175" b="0">
                <ns1:solidFill>
                  <ns1:srgbClr val="111827"/>
                </ns1:solidFill>
                <ns1:latin typeface="Helvetica Neue"/>
                <ns1:ea typeface="Helvetica Neue"/>
                <ns1:cs typeface="Helvetica Neue"/>
              </ns1:defRPr>
            </ns1:pPr>
            <ns1:r>
              <ns1:rPr sz="2175" b="0">
                <ns1:solidFill>
                  <ns1:srgbClr val="111827"/>
                </ns1:solidFill>
                <ns1:latin typeface="Helvetica Neue"/>
                <ns1:ea typeface="Helvetica Neue"/>
                <ns1:cs typeface="Helvetica Neue"/>
              </ns1:rPr>
              <ns1:t>recovery artifact and</ns1:t>
            </ns1:r>
          </ns1:p>
          <ns1:p>
            <ns1:pPr>
              <ns1:defRPr sz="2175" b="0">
                <ns1:solidFill>
                  <ns1:srgbClr val="111827"/>
                </ns1:solidFill>
                <ns1:latin typeface="Helvetica Neue"/>
                <ns1:ea typeface="Helvetica Neue"/>
                <ns1:cs typeface="Helvetica Neue"/>
              </ns1:defRPr>
            </ns1:pPr>
            <ns1:r>
              <ns1:rPr sz="2175" b="0">
                <ns1:solidFill>
                  <ns1:srgbClr val="111827"/>
                </ns1:solidFill>
                <ns1:latin typeface="Helvetica Neue"/>
                <ns1:ea typeface="Helvetica Neue"/>
                <ns1:cs typeface="Helvetica Neue"/>
              </ns1:rPr>
              <ns1:t>a tested restore target.</ns1:t>
            </ns1:r>
          </ns1:p>
        </ns0:txBody>
      </ns0:sp>
      <ns0:sp>
        <ns0:nvSpPr>
          <ns0:cNvPr id="18" name="backup-date">
            <ns1:extLst>
              <ns1:ext uri="{FF2B5EF4-FFF2-40B4-BE49-F238E27FC236}">
                <ns3:creationId id="{724A8E3D-6B27-48C5-8B90-EF1D2EE23847}"/>
              </ns1:ext>
            </ns1:extLst>
          </ns0:cNvPr>
          <ns0:cNvSpPr>
            <ns1:spLocks noGrp="1"/>
          </ns0:cNvSpPr>
          <ns0:nvPr/>
        </ns0:nvSpPr>
        <ns0:spPr>
          <ns1:xfrm>
            <ns1:off x="723900" y="6000750"/>
            <ns1:ext cx="10572750" cy="600075"/>
          </ns1:xfrm>
          <ns1:prstGeom prst="rect">
            <ns1:avLst/>
          </ns1:prstGeom>
          <ns1:noFill/>
          <ns1:ln w="0">
            <ns1:noFill/>
          </ns1:ln>
        </ns0:spPr>
        <ns0:txBody>
          <ns1:bodyPr wrap="square" lIns="0" tIns="0" rIns="0" bIns="0" anchor="t">
            <ns1:noAutofit/>
          </ns1:bodyPr>
          <ns1:lstStyle/>
          <ns1:p>
            <ns1:pPr>
              <ns1:defRPr sz="1725" b="0">
                <ns1:solidFill>
                  <ns1:srgbClr val="475569"/>
                </ns1:solidFill>
                <ns1:latin typeface="Helvetica Neue"/>
                <ns1:ea typeface="Helvetica Neue"/>
                <ns1:cs typeface="Helvetica Neue"/>
              </ns1:defRPr>
            </ns1:pPr>
            <ns1:r>
              <ns1:rPr sz="1725" b="0">
                <ns1:solidFill>
                  <ns1:srgbClr val="475569"/>
                </ns1:solidFill>
                <ns1:latin typeface="Helvetica Neue"/>
                <ns1:ea typeface="Helvetica Neue"/>
                <ns1:cs typeface="Helvetica Neue"/>
              </ns1:rPr>
              <ns1:t>Interface captured August 25, 2026. Documentation checked September 14.</ns1:t>
            </ns1:r>
          </ns1:p>
          <ns1:p>
            <ns1:pPr>
              <ns1:defRPr sz="1725" b="0">
                <ns1:solidFill>
                  <ns1:srgbClr val="475569"/>
                </ns1:solidFill>
                <ns1:latin typeface="Helvetica Neue"/>
                <ns1:ea typeface="Helvetica Neue"/>
                <ns1:cs typeface="Helvetica Neue"/>
              </ns1:defRPr>
            </ns1:pPr>
            <ns1:r>
              <ns1:rPr sz="1725" b="0">
                <ns1:solidFill>
                  <ns1:srgbClr val="475569"/>
                </ns1:solidFill>
                <ns1:latin typeface="Helvetica Neue"/>
                <ns1:ea typeface="Helvetica Neue"/>
                <ns1:cs typeface="Helvetica Neue"/>
              </ns1:rPr>
              <ns1:t>These are upgrade choices. No completed backup appears here.</ns1:t>
            </ns1:r>
          </ns1:p>
        </ns0:txBody>
      </ns0:sp>
      <ns0:sp>
        <ns0:nvSpPr>
          <ns0:cNvPr id="19" name="slide-number">
            <ns1:extLst>
              <ns1:ext uri="{FF2B5EF4-FFF2-40B4-BE49-F238E27FC236}">
                <ns3:creationId id="{043C8090-F016-4AEB-BEF0-0F78D86848E8}"/>
              </ns1:ext>
            </ns1:extLst>
          </ns0:cNvPr>
          <ns0:cNvSpPr>
            <ns1:spLocks noGrp="1"/>
          </ns0:cNvSpPr>
          <ns0:nvPr/>
        </ns0:nvSpPr>
        <ns0:spPr>
          <ns1:xfrm>
            <ns1:off x="11125200" y="6467475"/>
            <ns1:ext cx="457200" cy="190500"/>
          </ns1:xfrm>
          <ns1:prstGeom prst="rect">
            <ns1:avLst/>
          </ns1:prstGeom>
          <ns1:noFill/>
          <ns1:ln w="0">
            <ns1:noFill/>
          </ns1:ln>
        </ns0:spPr>
        <ns0:txBody>
          <ns1:bodyPr wrap="square" lIns="0" tIns="0" rIns="0" bIns="0" anchor="t">
            <ns1:noAutofit/>
          </ns1:bodyPr>
          <ns1:lstStyle/>
          <ns1:p>
            <ns1:pPr>
              <ns1:defRPr sz="900" b="0">
                <ns1:solidFill>
                  <ns1:srgbClr val="64748B"/>
                </ns1:solidFill>
                <ns1:latin typeface="Helvetica Neue"/>
                <ns1:ea typeface="Helvetica Neue"/>
                <ns1:cs typeface="Helvetica Neue"/>
              </ns1:defRPr>
            </ns1:pPr>
            <ns1:r>
              <ns1:rPr sz="900" b="0">
                <ns1:solidFill>
                  <ns1:srgbClr val="64748B"/>
                </ns1:solidFill>
                <ns1:latin typeface="Helvetica Neue"/>
                <ns1:ea typeface="Helvetica Neue"/>
                <ns1:cs typeface="Helvetica Neue"/>
              </ns1:rPr>
              <ns1:t>15</ns1:t>
            </ns1:r>
          </ns1:p>
        </ns0:txBody>
      </ns0:sp>
    </ns0:spTree>
    <ns0:extLst>
      <ns0:ext uri="{BB962C8B-B14F-4D97-AF65-F5344CB8AC3E}">
        <ns4:creationId val="1642023271"/>
      </ns0:ext>
    </ns0:extLst>
  </ns0:cSld>
</ns0:sld>
</file>

<file path=ppt/slides/slide1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E2CC3E01-4B31-4986-9CEA-F8B49C0988D6}"/>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12  /  CST4714</a:t>
            </a:r>
          </a:p>
        </p:txBody>
      </p:sp>
      <p:sp>
        <p:nvSpPr>
          <p:cNvPr id="2" name="slide-title">
            <a:extLst xmlns:a="http://schemas.openxmlformats.org/drawingml/2006/main">
              <a:ext uri="{FF2B5EF4-FFF2-40B4-BE49-F238E27FC236}">
                <a16:creationId xmlns:a16="http://schemas.microsoft.com/office/drawing/2014/main" id="{4608C590-6FC3-42A4-B076-27E45CAC7A02}"/>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Lab 1: confirmation and recovery decisions</a:t>
            </a:r>
          </a:p>
        </p:txBody>
      </p:sp>
      <p:sp>
        <p:nvSpPr>
          <p:cNvPr id="3" name="">
            <a:extLst xmlns:a="http://schemas.openxmlformats.org/drawingml/2006/main">
              <a:ext uri="{FF2B5EF4-FFF2-40B4-BE49-F238E27FC236}">
                <a16:creationId xmlns:a16="http://schemas.microsoft.com/office/drawing/2014/main" id="{482DB817-DBE6-419C-9042-D78ADB2470C2}"/>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DB6F9E7E-4950-4E27-8F67-BBB1FFCFF3DB}"/>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16</a:t>
            </a:r>
          </a:p>
        </p:txBody>
      </p:sp>
      <p:sp>
        <p:nvSpPr>
          <p:cNvPr id="5" name="lab1">
            <a:extLst xmlns:a="http://schemas.openxmlformats.org/drawingml/2006/main">
              <a:ext uri="{FF2B5EF4-FFF2-40B4-BE49-F238E27FC236}">
                <a16:creationId xmlns:a16="http://schemas.microsoft.com/office/drawing/2014/main" id="{2488DB43-EF28-49BA-A79D-A0743AA84DF7}"/>
              </a:ext>
            </a:extLst>
          </p:cNvPr>
          <p:cNvSpPr>
            <a:spLocks xmlns:a="http://schemas.openxmlformats.org/drawingml/2006/main" noGrp="1"/>
          </p:cNvSpPr>
          <p:nvPr/>
        </p:nvSpPr>
        <p:spPr>
          <a:xfrm xmlns:a="http://schemas.openxmlformats.org/drawingml/2006/main">
            <a:off x="723900" y="1762125"/>
            <a:ext cx="106680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0">
                <a:solidFill>
                  <a:srgbClr val="111827"/>
                </a:solidFill>
                <a:latin typeface="Helvetica Neue"/>
                <a:ea typeface="Helvetica Neue"/>
                <a:cs typeface="Helvetica Neue"/>
              </a:defRPr>
            </a:pPr>
            <a:r>
              <a:rPr sz="2475" b="0">
                <a:solidFill>
                  <a:srgbClr val="111827"/>
                </a:solidFill>
                <a:latin typeface="Helvetica Neue"/>
                <a:ea typeface="Helvetica Neue"/>
                <a:cs typeface="Helvetica Neue"/>
              </a:rPr>
              <a:t>Choose the read/write policy for the supplied A/B/C case.</a:t>
            </a:r>
          </a:p>
          <a:p xmlns:a="http://schemas.openxmlformats.org/drawingml/2006/main">
            <a:pPr>
              <a:defRPr sz="2475" b="0">
                <a:solidFill>
                  <a:srgbClr val="111827"/>
                </a:solidFill>
                <a:latin typeface="Helvetica Neue"/>
                <a:ea typeface="Helvetica Neue"/>
                <a:cs typeface="Helvetica Neue"/>
              </a:defRPr>
            </a:pPr>
            <a:r>
              <a:rPr sz="2475" b="0">
                <a:solidFill>
                  <a:srgbClr val="111827"/>
                </a:solidFill>
                <a:latin typeface="Helvetica Neue"/>
                <a:ea typeface="Helvetica Neue"/>
                <a:cs typeface="Helvetica Neue"/>
              </a:rPr>
              <a:t>Analyze the lab's recovery timeline using its own times.</a:t>
            </a:r>
          </a:p>
          <a:p xmlns:a="http://schemas.openxmlformats.org/drawingml/2006/main">
            <a:pPr>
              <a:defRPr sz="2475" b="0">
                <a:solidFill>
                  <a:srgbClr val="111827"/>
                </a:solidFill>
                <a:latin typeface="Helvetica Neue"/>
                <a:ea typeface="Helvetica Neue"/>
                <a:cs typeface="Helvetica Neue"/>
              </a:defRPr>
            </a:pPr>
            <a:r>
              <a:rPr sz="2475" b="0">
                <a:solidFill>
                  <a:srgbClr val="111827"/>
                </a:solidFill>
                <a:latin typeface="Helvetica Neue"/>
                <a:ea typeface="Helvetica Neue"/>
                <a:cs typeface="Helvetica Neue"/>
              </a:rPr>
              <a:t>Submit one Brightspace text response, individually.</a:t>
            </a:r>
          </a:p>
        </p:txBody>
      </p:sp>
      <p:sp>
        <p:nvSpPr>
          <p:cNvPr id="6" name="lab1-scope">
            <a:extLst xmlns:a="http://schemas.openxmlformats.org/drawingml/2006/main">
              <a:ext uri="{FF2B5EF4-FFF2-40B4-BE49-F238E27FC236}">
                <a16:creationId xmlns:a16="http://schemas.microsoft.com/office/drawing/2014/main" id="{F2A29F42-77BA-4478-AA50-B9452D19F0AC}"/>
              </a:ext>
            </a:extLst>
          </p:cNvPr>
          <p:cNvSpPr>
            <a:spLocks xmlns:a="http://schemas.openxmlformats.org/drawingml/2006/main" noGrp="1"/>
          </p:cNvSpPr>
          <p:nvPr/>
        </p:nvSpPr>
        <p:spPr>
          <a:xfrm xmlns:a="http://schemas.openxmlformats.org/drawingml/2006/main">
            <a:off x="723900" y="3981450"/>
            <a:ext cx="10668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Use the supplied member states and incident times.</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Keep your cloud deployment running normally.</a:t>
            </a:r>
          </a:p>
        </p:txBody>
      </p:sp>
      <p:sp>
        <p:nvSpPr>
          <p:cNvPr id="7" name="project">
            <a:extLst xmlns:a="http://schemas.openxmlformats.org/drawingml/2006/main">
              <a:ext uri="{FF2B5EF4-FFF2-40B4-BE49-F238E27FC236}">
                <a16:creationId xmlns:a16="http://schemas.microsoft.com/office/drawing/2014/main" id="{92D91A7D-2CFA-4D75-AD5E-51409B09A493}"/>
              </a:ext>
            </a:extLst>
          </p:cNvPr>
          <p:cNvSpPr>
            <a:spLocks xmlns:a="http://schemas.openxmlformats.org/drawingml/2006/main" noGrp="1"/>
          </p:cNvSpPr>
          <p:nvPr/>
        </p:nvSpPr>
        <p:spPr>
          <a:xfrm xmlns:a="http://schemas.openxmlformats.org/drawingml/2006/main">
            <a:off x="723900" y="56197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Project discussion uses the single final-project page in the week guide.</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Apply the reasoning to one important operation in your existing project notes.</a:t>
            </a:r>
          </a:p>
        </p:txBody>
      </p:sp>
    </p:spTree>
    <p:extLst>
      <p:ext uri="{BB962C8B-B14F-4D97-AF65-F5344CB8AC3E}">
        <p14:creationId xmlns:p14="http://schemas.microsoft.com/office/powerpoint/2010/main" val="2096751345"/>
      </p:ext>
    </p:extLst>
  </p:cSld>
</p:sld>
</file>

<file path=ppt/slides/slide17.xml><?xml version="1.0" encoding="utf-8"?>
<p:sld xmlns:p="http://schemas.openxmlformats.org/presentationml/2006/main">
  <p:cSld>
    <p:bg>
      <p:bgPr>
        <a:solidFill xmlns:a="http://schemas.openxmlformats.org/drawingml/2006/main">
          <a:srgbClr val="214AE8"/>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DA1D26B1-D27A-4CDA-92CC-15772E498202}"/>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WEEK 12  /  CST4714</a:t>
            </a:r>
          </a:p>
        </p:txBody>
      </p:sp>
      <p:sp>
        <p:nvSpPr>
          <p:cNvPr id="2" name="slide-title">
            <a:extLst xmlns:a="http://schemas.openxmlformats.org/drawingml/2006/main">
              <a:ext uri="{FF2B5EF4-FFF2-40B4-BE49-F238E27FC236}">
                <a16:creationId xmlns:a16="http://schemas.microsoft.com/office/drawing/2014/main" id="{3984FDDF-BE6E-48C6-BA54-541F9F79E4DE}"/>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Day 2: Document Recovery and Collection Rules</a:t>
            </a:r>
          </a:p>
        </p:txBody>
      </p:sp>
      <p:sp>
        <p:nvSpPr>
          <p:cNvPr id="3" name="">
            <a:extLst xmlns:a="http://schemas.openxmlformats.org/drawingml/2006/main">
              <a:ext uri="{FF2B5EF4-FFF2-40B4-BE49-F238E27FC236}">
                <a16:creationId xmlns:a16="http://schemas.microsoft.com/office/drawing/2014/main" id="{09E56B00-EC1C-424C-BF7E-972A11CB4A61}"/>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A2857F9A-3E52-4664-8D6F-CD287ACEB786}"/>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FFFFFF"/>
                </a:solidFill>
                <a:latin typeface="Helvetica Neue"/>
                <a:ea typeface="Helvetica Neue"/>
                <a:cs typeface="Helvetica Neue"/>
              </a:defRPr>
            </a:pPr>
            <a:r>
              <a:rPr sz="900" b="0">
                <a:solidFill>
                  <a:srgbClr val="FFFFFF"/>
                </a:solidFill>
                <a:latin typeface="Helvetica Neue"/>
                <a:ea typeface="Helvetica Neue"/>
                <a:cs typeface="Helvetica Neue"/>
              </a:rPr>
              <a:t>17</a:t>
            </a:r>
          </a:p>
        </p:txBody>
      </p:sp>
      <p:sp>
        <p:nvSpPr>
          <p:cNvPr id="5" name="day2">
            <a:extLst xmlns:a="http://schemas.openxmlformats.org/drawingml/2006/main">
              <a:ext uri="{FF2B5EF4-FFF2-40B4-BE49-F238E27FC236}">
                <a16:creationId xmlns:a16="http://schemas.microsoft.com/office/drawing/2014/main" id="{AB730670-FE3B-4FD3-A8C2-CEBBB02A4137}"/>
              </a:ext>
            </a:extLst>
          </p:cNvPr>
          <p:cNvSpPr>
            <a:spLocks xmlns:a="http://schemas.openxmlformats.org/drawingml/2006/main" noGrp="1"/>
          </p:cNvSpPr>
          <p:nvPr/>
        </p:nvSpPr>
        <p:spPr>
          <a:xfrm xmlns:a="http://schemas.openxmlformats.org/drawingml/2006/main">
            <a:off x="723900" y="2057400"/>
            <a:ext cx="10668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75" b="0">
                <a:solidFill>
                  <a:srgbClr val="FFFFFF"/>
                </a:solidFill>
                <a:latin typeface="Georgia"/>
                <a:ea typeface="Georgia"/>
                <a:cs typeface="Georgia"/>
              </a:defRPr>
            </a:pPr>
            <a:r>
              <a:rPr sz="3375" b="0">
                <a:solidFill>
                  <a:srgbClr val="FFFFFF"/>
                </a:solidFill>
                <a:latin typeface="Georgia"/>
                <a:ea typeface="Georgia"/>
                <a:cs typeface="Georgia"/>
              </a:rPr>
              <a:t>Five restored tickets can have the right IDs</a:t>
            </a:r>
          </a:p>
          <a:p xmlns:a="http://schemas.openxmlformats.org/drawingml/2006/main">
            <a:pPr>
              <a:defRPr sz="3375" b="0">
                <a:solidFill>
                  <a:srgbClr val="FFFFFF"/>
                </a:solidFill>
                <a:latin typeface="Georgia"/>
                <a:ea typeface="Georgia"/>
                <a:cs typeface="Georgia"/>
              </a:defRPr>
            </a:pPr>
            <a:r>
              <a:rPr sz="3375" b="0">
                <a:solidFill>
                  <a:srgbClr val="FFFFFF"/>
                </a:solidFill>
                <a:latin typeface="Georgia"/>
                <a:ea typeface="Georgia"/>
                <a:cs typeface="Georgia"/>
              </a:rPr>
              <a:t>and still contain the wrong information.</a:t>
            </a:r>
          </a:p>
        </p:txBody>
      </p:sp>
      <p:sp>
        <p:nvSpPr>
          <p:cNvPr id="6" name="day2-plan">
            <a:extLst xmlns:a="http://schemas.openxmlformats.org/drawingml/2006/main">
              <a:ext uri="{FF2B5EF4-FFF2-40B4-BE49-F238E27FC236}">
                <a16:creationId xmlns:a16="http://schemas.microsoft.com/office/drawing/2014/main" id="{0A96B3E7-72DF-4D6D-99C0-114F976CB4CB}"/>
              </a:ext>
            </a:extLst>
          </p:cNvPr>
          <p:cNvSpPr>
            <a:spLocks xmlns:a="http://schemas.openxmlformats.org/drawingml/2006/main" noGrp="1"/>
          </p:cNvSpPr>
          <p:nvPr/>
        </p:nvSpPr>
        <p:spPr>
          <a:xfrm xmlns:a="http://schemas.openxmlformats.org/drawingml/2006/main">
            <a:off x="723900" y="5267325"/>
            <a:ext cx="106680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The notebook traces the saved values, repairs one document,</a:t>
            </a:r>
          </a:p>
          <a:p xmlns:a="http://schemas.openxmlformats.org/drawingml/2006/main">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and tests the rules that the data file omitted.</a:t>
            </a:r>
          </a:p>
        </p:txBody>
      </p:sp>
    </p:spTree>
    <p:extLst>
      <p:ext uri="{BB962C8B-B14F-4D97-AF65-F5344CB8AC3E}">
        <p14:creationId xmlns:p14="http://schemas.microsoft.com/office/powerpoint/2010/main" val="1087562817"/>
      </p:ext>
    </p:extLst>
  </p:cSld>
</p:sld>
</file>

<file path=ppt/slides/slide1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583AAB22-417E-4B2A-9D95-6ACD99F85992}"/>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12  /  CST4714</a:t>
            </a:r>
          </a:p>
        </p:txBody>
      </p:sp>
      <p:sp>
        <p:nvSpPr>
          <p:cNvPr id="2" name="slide-title">
            <a:extLst xmlns:a="http://schemas.openxmlformats.org/drawingml/2006/main">
              <a:ext uri="{FF2B5EF4-FFF2-40B4-BE49-F238E27FC236}">
                <a16:creationId xmlns:a16="http://schemas.microsoft.com/office/drawing/2014/main" id="{E901EF8D-855B-4D05-AD52-C17D70661D67}"/>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notebook can run locally or use Atlas</a:t>
            </a:r>
          </a:p>
        </p:txBody>
      </p:sp>
      <p:sp>
        <p:nvSpPr>
          <p:cNvPr id="3" name="">
            <a:extLst xmlns:a="http://schemas.openxmlformats.org/drawingml/2006/main">
              <a:ext uri="{FF2B5EF4-FFF2-40B4-BE49-F238E27FC236}">
                <a16:creationId xmlns:a16="http://schemas.microsoft.com/office/drawing/2014/main" id="{FA8FDCC5-49F6-49F6-B23F-F3654759F017}"/>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75AF71D7-C127-4309-B011-F323BFE1A99A}"/>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18</a:t>
            </a:r>
          </a:p>
        </p:txBody>
      </p:sp>
      <p:graphicFrame>
        <p:nvGraphicFramePr>
          <p:cNvPr id="11" name=""/>
          <p:cNvGraphicFramePr/>
          <p:nvPr/>
        </p:nvGraphicFramePr>
        <p:xfrm>
          <a:off xmlns:a="http://schemas.openxmlformats.org/drawingml/2006/main" x="685800" y="1733550"/>
          <a:ext xmlns:a="http://schemas.openxmlformats.org/drawingml/2006/main" cx="10820400" cy="2505075"/>
        </p:xfrm>
        <a:graphic xmlns:a="http://schemas.openxmlformats.org/drawingml/2006/main">
          <a:graphicData uri="http://schemas.openxmlformats.org/drawingml/2006/table">
            <a:tbl>
              <a:tblPr/>
              <a:tblGrid>
                <a:gridCol w="3171825"/>
                <a:gridCol w="3971925"/>
                <a:gridCol w="3676650"/>
              </a:tblGrid>
              <a:tr h="835025">
                <a:tc>
                  <a:txBody>
                    <a:bodyPr lIns="114300" tIns="76200" rIns="114300" bIns="76200"/>
                    <a:lstStyle/>
                    <a:p>
                      <a:r>
                        <a:rPr sz="1950" b="1">
                          <a:solidFill>
                            <a:srgbClr val="FFFFFF"/>
                          </a:solidFill>
                          <a:latin typeface="Helvetica Neue"/>
                          <a:ea typeface="Helvetica Neue"/>
                          <a:cs typeface="Helvetica Neue"/>
                        </a:rPr>
                        <a:t>Path</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What runs</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A limit to remember</a:t>
                      </a:r>
                    </a:p>
                  </a:txBody>
                  <a:tcPr marL="91440" marR="91440" marT="45720" marB="45720" anchor="ctr">
                    <a:solidFill>
                      <a:srgbClr val="214AE8"/>
                    </a:solidFill>
                  </a:tcPr>
                </a:tc>
              </a:tr>
              <a:tr h="835025">
                <a:tc>
                  <a:txBody>
                    <a:bodyPr lIns="114300" tIns="76200" rIns="114300" bIns="76200"/>
                    <a:lstStyle/>
                    <a:p>
                      <a:r>
                        <a:rPr sz="1950" b="0">
                          <a:solidFill>
                            <a:srgbClr val="111827"/>
                          </a:solidFill>
                          <a:latin typeface="Helvetica Neue"/>
                          <a:ea typeface="Helvetica Neue"/>
                          <a:cs typeface="Helvetica Neue"/>
                        </a:rPr>
                        <a:t>Local: USE_ATLAS = False</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Data recovery, repair, unique-index test</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Schema outcomes are a supplied trace</a:t>
                      </a:r>
                    </a:p>
                  </a:txBody>
                  <a:tcPr marL="91440" marR="91440" marT="45720" marB="45720" anchor="ctr">
                    <a:solidFill>
                      <a:srgbClr val="FFFFFF"/>
                    </a:solidFill>
                  </a:tcPr>
                </a:tc>
              </a:tr>
              <a:tr h="835025">
                <a:tc>
                  <a:txBody>
                    <a:bodyPr lIns="114300" tIns="76200" rIns="114300" bIns="76200"/>
                    <a:lstStyle/>
                    <a:p>
                      <a:r>
                        <a:rPr sz="1950" b="0">
                          <a:solidFill>
                            <a:srgbClr val="111827"/>
                          </a:solidFill>
                          <a:latin typeface="Helvetica Neue"/>
                          <a:ea typeface="Helvetica Neue"/>
                          <a:cs typeface="Helvetica Neue"/>
                        </a:rPr>
                        <a:t>Atlas: USE_ATLAS = True</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The same work plus server schema tests</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Network access and permissions are required</a:t>
                      </a:r>
                    </a:p>
                  </a:txBody>
                  <a:tcPr marL="91440" marR="91440" marT="45720" marB="45720" anchor="ctr">
                    <a:solidFill>
                      <a:srgbClr val="F1F5F9"/>
                    </a:solidFill>
                  </a:tcPr>
                </a:tc>
              </a:tr>
            </a:tbl>
          </a:graphicData>
        </a:graphic>
      </p:graphicFrame>
      <p:sp>
        <p:nvSpPr>
          <p:cNvPr id="6" name="connection">
            <a:extLst xmlns:a="http://schemas.openxmlformats.org/drawingml/2006/main">
              <a:ext uri="{FF2B5EF4-FFF2-40B4-BE49-F238E27FC236}">
                <a16:creationId xmlns:a16="http://schemas.microsoft.com/office/drawing/2014/main" id="{88777335-ABC6-49B6-A846-F2D8578F29FC}"/>
              </a:ext>
            </a:extLst>
          </p:cNvPr>
          <p:cNvSpPr>
            <a:spLocks xmlns:a="http://schemas.openxmlformats.org/drawingml/2006/main" noGrp="1"/>
          </p:cNvSpPr>
          <p:nvPr/>
        </p:nvSpPr>
        <p:spPr>
          <a:xfrm xmlns:a="http://schemas.openxmlformats.org/drawingml/2006/main">
            <a:off x="723900" y="4676775"/>
            <a:ext cx="106680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For Atlas, add the notebook runtime IPv4 as a temporary /32 entry.</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Pause until it is active, then enter the URI in the hidden prompt.</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Keep TLS verification enabled. Your laptop may have a different IP.</a:t>
            </a:r>
          </a:p>
        </p:txBody>
      </p:sp>
    </p:spTree>
    <p:extLst>
      <p:ext uri="{BB962C8B-B14F-4D97-AF65-F5344CB8AC3E}">
        <p14:creationId xmlns:p14="http://schemas.microsoft.com/office/powerpoint/2010/main" val="187455770"/>
      </p:ext>
    </p:extLst>
  </p:cSld>
</p:sld>
</file>

<file path=ppt/slides/slide1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8A8D9DDE-FE66-4DA4-B3F9-8583E8C662F4}"/>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12  /  CST4714</a:t>
            </a:r>
          </a:p>
        </p:txBody>
      </p:sp>
      <p:sp>
        <p:nvSpPr>
          <p:cNvPr id="2" name="slide-title">
            <a:extLst xmlns:a="http://schemas.openxmlformats.org/drawingml/2006/main">
              <a:ext uri="{FF2B5EF4-FFF2-40B4-BE49-F238E27FC236}">
                <a16:creationId xmlns:a16="http://schemas.microsoft.com/office/drawing/2014/main" id="{4D590CDC-DE22-4E15-9DBF-7BF92EA1A5DE}"/>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Five fresh tickets in the recovery notebook</a:t>
            </a:r>
          </a:p>
        </p:txBody>
      </p:sp>
      <p:sp>
        <p:nvSpPr>
          <p:cNvPr id="3" name="">
            <a:extLst xmlns:a="http://schemas.openxmlformats.org/drawingml/2006/main">
              <a:ext uri="{FF2B5EF4-FFF2-40B4-BE49-F238E27FC236}">
                <a16:creationId xmlns:a16="http://schemas.microsoft.com/office/drawing/2014/main" id="{030F3D34-63C9-4D03-949C-749A70ADF069}"/>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F1DB1485-ADC4-46B6-8B32-23E940ECC47B}"/>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19</a:t>
            </a:r>
          </a:p>
        </p:txBody>
      </p:sp>
      <p:graphicFrame>
        <p:nvGraphicFramePr>
          <p:cNvPr id="11" name=""/>
          <p:cNvGraphicFramePr/>
          <p:nvPr/>
        </p:nvGraphicFramePr>
        <p:xfrm>
          <a:off xmlns:a="http://schemas.openxmlformats.org/drawingml/2006/main" x="685800" y="1657350"/>
          <a:ext xmlns:a="http://schemas.openxmlformats.org/drawingml/2006/main" cx="10820400" cy="3676650"/>
        </p:xfrm>
        <a:graphic xmlns:a="http://schemas.openxmlformats.org/drawingml/2006/main">
          <a:graphicData uri="http://schemas.openxmlformats.org/drawingml/2006/table">
            <a:tbl>
              <a:tblPr/>
              <a:tblGrid>
                <a:gridCol w="1314450"/>
                <a:gridCol w="2381250"/>
                <a:gridCol w="4610100"/>
                <a:gridCol w="2514600"/>
              </a:tblGrid>
              <a:tr h="612775">
                <a:tc>
                  <a:txBody>
                    <a:bodyPr lIns="114300" tIns="76200" rIns="114300" bIns="76200"/>
                    <a:lstStyle/>
                    <a:p>
                      <a:r>
                        <a:rPr sz="1875" b="1">
                          <a:solidFill>
                            <a:srgbClr val="FFFFFF"/>
                          </a:solidFill>
                          <a:latin typeface="Helvetica Neue"/>
                          <a:ea typeface="Helvetica Neue"/>
                          <a:cs typeface="Helvetica Neue"/>
                        </a:rPr>
                        <a:t>Ticket</a:t>
                      </a:r>
                    </a:p>
                  </a:txBody>
                  <a:tcPr marL="91440" marR="91440" marT="45720" marB="45720" anchor="ctr">
                    <a:solidFill>
                      <a:srgbClr val="214AE8"/>
                    </a:solidFill>
                  </a:tcPr>
                </a:tc>
                <a:tc>
                  <a:txBody>
                    <a:bodyPr lIns="114300" tIns="76200" rIns="114300" bIns="76200"/>
                    <a:lstStyle/>
                    <a:p>
                      <a:r>
                        <a:rPr sz="1875" b="1">
                          <a:solidFill>
                            <a:srgbClr val="FFFFFF"/>
                          </a:solidFill>
                          <a:latin typeface="Helvetica Neue"/>
                          <a:ea typeface="Helvetica Neue"/>
                          <a:cs typeface="Helvetica Neue"/>
                        </a:rPr>
                        <a:t>Status</a:t>
                      </a:r>
                    </a:p>
                  </a:txBody>
                  <a:tcPr marL="91440" marR="91440" marT="45720" marB="45720" anchor="ctr">
                    <a:solidFill>
                      <a:srgbClr val="214AE8"/>
                    </a:solidFill>
                  </a:tcPr>
                </a:tc>
                <a:tc>
                  <a:txBody>
                    <a:bodyPr lIns="114300" tIns="76200" rIns="114300" bIns="76200"/>
                    <a:lstStyle/>
                    <a:p>
                      <a:r>
                        <a:rPr sz="1875" b="1">
                          <a:solidFill>
                            <a:srgbClr val="FFFFFF"/>
                          </a:solidFill>
                          <a:latin typeface="Helvetica Neue"/>
                          <a:ea typeface="Helvetica Neue"/>
                          <a:cs typeface="Helvetica Neue"/>
                        </a:rPr>
                        <a:t>Subject</a:t>
                      </a:r>
                    </a:p>
                  </a:txBody>
                  <a:tcPr marL="91440" marR="91440" marT="45720" marB="45720" anchor="ctr">
                    <a:solidFill>
                      <a:srgbClr val="214AE8"/>
                    </a:solidFill>
                  </a:tcPr>
                </a:tc>
                <a:tc>
                  <a:txBody>
                    <a:bodyPr lIns="114300" tIns="76200" rIns="114300" bIns="76200"/>
                    <a:lstStyle/>
                    <a:p>
                      <a:r>
                        <a:rPr sz="1875" b="1">
                          <a:solidFill>
                            <a:srgbClr val="FFFFFF"/>
                          </a:solidFill>
                          <a:latin typeface="Helvetica Neue"/>
                          <a:ea typeface="Helvetica Neue"/>
                          <a:cs typeface="Helvetica Neue"/>
                        </a:rPr>
                        <a:t>Opened (UTC)</a:t>
                      </a:r>
                    </a:p>
                  </a:txBody>
                  <a:tcPr marL="91440" marR="91440" marT="45720" marB="45720" anchor="ctr">
                    <a:solidFill>
                      <a:srgbClr val="214AE8"/>
                    </a:solidFill>
                  </a:tcPr>
                </a:tc>
              </a:tr>
              <a:tr h="612775">
                <a:tc>
                  <a:txBody>
                    <a:bodyPr lIns="114300" tIns="76200" rIns="114300" bIns="76200"/>
                    <a:lstStyle/>
                    <a:p>
                      <a:r>
                        <a:rPr sz="1875" b="0">
                          <a:solidFill>
                            <a:srgbClr val="111827"/>
                          </a:solidFill>
                          <a:latin typeface="Helvetica Neue"/>
                          <a:ea typeface="Helvetica Neue"/>
                          <a:cs typeface="Helvetica Neue"/>
                        </a:rPr>
                        <a:t>1001</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open</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Streetlight dark near bus stop</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Feb 1, 23:10</a:t>
                      </a:r>
                    </a:p>
                  </a:txBody>
                  <a:tcPr marL="91440" marR="91440" marT="45720" marB="45720" anchor="ctr">
                    <a:solidFill>
                      <a:srgbClr val="FFFFFF"/>
                    </a:solidFill>
                  </a:tcPr>
                </a:tc>
              </a:tr>
              <a:tr h="612775">
                <a:tc>
                  <a:txBody>
                    <a:bodyPr lIns="114300" tIns="76200" rIns="114300" bIns="76200"/>
                    <a:lstStyle/>
                    <a:p>
                      <a:r>
                        <a:rPr sz="1875" b="0">
                          <a:solidFill>
                            <a:srgbClr val="111827"/>
                          </a:solidFill>
                          <a:latin typeface="Helvetica Neue"/>
                          <a:ea typeface="Helvetica Neue"/>
                          <a:cs typeface="Helvetica Neue"/>
                        </a:rPr>
                        <a:t>1002</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in_progress</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Missed recycling pickup</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Feb 2, 15:45</a:t>
                      </a:r>
                    </a:p>
                  </a:txBody>
                  <a:tcPr marL="91440" marR="91440" marT="45720" marB="45720" anchor="ctr">
                    <a:solidFill>
                      <a:srgbClr val="F1F5F9"/>
                    </a:solidFill>
                  </a:tcPr>
                </a:tc>
              </a:tr>
              <a:tr h="612775">
                <a:tc>
                  <a:txBody>
                    <a:bodyPr lIns="114300" tIns="76200" rIns="114300" bIns="76200"/>
                    <a:lstStyle/>
                    <a:p>
                      <a:r>
                        <a:rPr sz="1875" b="0">
                          <a:solidFill>
                            <a:srgbClr val="111827"/>
                          </a:solidFill>
                          <a:latin typeface="Helvetica Neue"/>
                          <a:ea typeface="Helvetica Neue"/>
                          <a:cs typeface="Helvetica Neue"/>
                        </a:rPr>
                        <a:t>1003</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resolved</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Low water pressure</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Feb 3, 12:05</a:t>
                      </a:r>
                    </a:p>
                  </a:txBody>
                  <a:tcPr marL="91440" marR="91440" marT="45720" marB="45720" anchor="ctr">
                    <a:solidFill>
                      <a:srgbClr val="FFFFFF"/>
                    </a:solidFill>
                  </a:tcPr>
                </a:tc>
              </a:tr>
              <a:tr h="612775">
                <a:tc>
                  <a:txBody>
                    <a:bodyPr lIns="114300" tIns="76200" rIns="114300" bIns="76200"/>
                    <a:lstStyle/>
                    <a:p>
                      <a:r>
                        <a:rPr sz="1875" b="0">
                          <a:solidFill>
                            <a:srgbClr val="111827"/>
                          </a:solidFill>
                          <a:latin typeface="Helvetica Neue"/>
                          <a:ea typeface="Helvetica Neue"/>
                          <a:cs typeface="Helvetica Neue"/>
                        </a:rPr>
                        <a:t>1004</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new</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Broken bench slat</a:t>
                      </a:r>
                    </a:p>
                  </a:txBody>
                  <a:tcPr marL="91440" marR="91440" marT="45720" marB="45720" anchor="ctr">
                    <a:solidFill>
                      <a:srgbClr val="F1F5F9"/>
                    </a:solidFill>
                  </a:tcPr>
                </a:tc>
                <a:tc>
                  <a:txBody>
                    <a:bodyPr lIns="114300" tIns="76200" rIns="114300" bIns="76200"/>
                    <a:lstStyle/>
                    <a:p>
                      <a:r>
                        <a:rPr sz="1875" b="0">
                          <a:solidFill>
                            <a:srgbClr val="111827"/>
                          </a:solidFill>
                          <a:latin typeface="Helvetica Neue"/>
                          <a:ea typeface="Helvetica Neue"/>
                          <a:cs typeface="Helvetica Neue"/>
                        </a:rPr>
                        <a:t>Feb 4, 17:20</a:t>
                      </a:r>
                    </a:p>
                  </a:txBody>
                  <a:tcPr marL="91440" marR="91440" marT="45720" marB="45720" anchor="ctr">
                    <a:solidFill>
                      <a:srgbClr val="F1F5F9"/>
                    </a:solidFill>
                  </a:tcPr>
                </a:tc>
              </a:tr>
              <a:tr h="612775">
                <a:tc>
                  <a:txBody>
                    <a:bodyPr lIns="114300" tIns="76200" rIns="114300" bIns="76200"/>
                    <a:lstStyle/>
                    <a:p>
                      <a:r>
                        <a:rPr sz="1875" b="0">
                          <a:solidFill>
                            <a:srgbClr val="111827"/>
                          </a:solidFill>
                          <a:latin typeface="Helvetica Neue"/>
                          <a:ea typeface="Helvetica Neue"/>
                          <a:cs typeface="Helvetica Neue"/>
                        </a:rPr>
                        <a:t>1005</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resolved</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Overflowing corner bin</a:t>
                      </a:r>
                    </a:p>
                  </a:txBody>
                  <a:tcPr marL="91440" marR="91440" marT="45720" marB="45720" anchor="ctr">
                    <a:solidFill>
                      <a:srgbClr val="FFFFFF"/>
                    </a:solidFill>
                  </a:tcPr>
                </a:tc>
                <a:tc>
                  <a:txBody>
                    <a:bodyPr lIns="114300" tIns="76200" rIns="114300" bIns="76200"/>
                    <a:lstStyle/>
                    <a:p>
                      <a:r>
                        <a:rPr sz="1875" b="0">
                          <a:solidFill>
                            <a:srgbClr val="111827"/>
                          </a:solidFill>
                          <a:latin typeface="Helvetica Neue"/>
                          <a:ea typeface="Helvetica Neue"/>
                          <a:cs typeface="Helvetica Neue"/>
                        </a:rPr>
                        <a:t>Feb 5, 14:00</a:t>
                      </a:r>
                    </a:p>
                  </a:txBody>
                  <a:tcPr marL="91440" marR="91440" marT="45720" marB="45720" anchor="ctr">
                    <a:solidFill>
                      <a:srgbClr val="FFFFFF"/>
                    </a:solidFill>
                  </a:tcPr>
                </a:tc>
              </a:tr>
            </a:tbl>
          </a:graphicData>
        </a:graphic>
      </p:graphicFrame>
      <p:sp>
        <p:nvSpPr>
          <p:cNvPr id="6" name="fixture">
            <a:extLst xmlns:a="http://schemas.openxmlformats.org/drawingml/2006/main">
              <a:ext uri="{FF2B5EF4-FFF2-40B4-BE49-F238E27FC236}">
                <a16:creationId xmlns:a16="http://schemas.microsoft.com/office/drawing/2014/main" id="{704E5025-4019-4E62-9972-F2A55A208D99}"/>
              </a:ext>
            </a:extLst>
          </p:cNvPr>
          <p:cNvSpPr>
            <a:spLocks xmlns:a="http://schemas.openxmlformats.org/drawingml/2006/main" noGrp="1"/>
          </p:cNvSpPr>
          <p:nvPr/>
        </p:nvSpPr>
        <p:spPr>
          <a:xfrm xmlns:a="http://schemas.openxmlformats.org/drawingml/2006/main">
            <a:off x="723900" y="5753100"/>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Active IDs: 1001, 1002, 1004. All five documents should survive recovery.</a:t>
            </a:r>
          </a:p>
          <a:p xmlns:a="http://schemas.openxmlformats.org/drawingml/2006/main">
            <a:pPr>
              <a:defRPr sz="2025" b="0">
                <a:solidFill>
                  <a:srgbClr val="111827"/>
                </a:solidFill>
                <a:latin typeface="Helvetica Neue"/>
                <a:ea typeface="Helvetica Neue"/>
                <a:cs typeface="Helvetica Neue"/>
              </a:defRPr>
            </a:pPr>
            <a:r>
              <a:rPr sz="2025" b="0">
                <a:solidFill>
                  <a:srgbClr val="111827"/>
                </a:solidFill>
                <a:latin typeface="Helvetica Neue"/>
                <a:ea typeface="Helvetica Neue"/>
                <a:cs typeface="Helvetica Neue"/>
              </a:rPr>
              <a:t>This fixture is separate from Week 11's four-ticket example.</a:t>
            </a:r>
          </a:p>
        </p:txBody>
      </p:sp>
    </p:spTree>
    <p:extLst>
      <p:ext uri="{BB962C8B-B14F-4D97-AF65-F5344CB8AC3E}">
        <p14:creationId xmlns:p14="http://schemas.microsoft.com/office/powerpoint/2010/main" val="187455770"/>
      </p:ext>
    </p:extLst>
  </p:cSld>
</p:sld>
</file>

<file path=ppt/slides/slide2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6688A426-2241-430F-81E1-CE8E9861FFF9}"/>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12  /  CST4714</a:t>
            </a:r>
          </a:p>
        </p:txBody>
      </p:sp>
      <p:sp>
        <p:nvSpPr>
          <p:cNvPr id="2" name="slide-title">
            <a:extLst xmlns:a="http://schemas.openxmlformats.org/drawingml/2006/main">
              <a:ext uri="{FF2B5EF4-FFF2-40B4-BE49-F238E27FC236}">
                <a16:creationId xmlns:a16="http://schemas.microsoft.com/office/drawing/2014/main" id="{648D20B4-846E-4928-A18D-E6281438AF21}"/>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Canonical Extended JSON carries type markers</a:t>
            </a:r>
          </a:p>
        </p:txBody>
      </p:sp>
      <p:sp>
        <p:nvSpPr>
          <p:cNvPr id="3" name="">
            <a:extLst xmlns:a="http://schemas.openxmlformats.org/drawingml/2006/main">
              <a:ext uri="{FF2B5EF4-FFF2-40B4-BE49-F238E27FC236}">
                <a16:creationId xmlns:a16="http://schemas.microsoft.com/office/drawing/2014/main" id="{B675A060-3AC0-4673-9A35-5CB50B8EEE35}"/>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91D0947F-FE88-42D0-8A28-CF1C9FE749BE}"/>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20</a:t>
            </a:r>
          </a:p>
        </p:txBody>
      </p:sp>
      <p:sp>
        <p:nvSpPr>
          <p:cNvPr id="5" name="">
            <a:extLst xmlns:a="http://schemas.openxmlformats.org/drawingml/2006/main">
              <a:ext uri="{FF2B5EF4-FFF2-40B4-BE49-F238E27FC236}">
                <a16:creationId xmlns:a16="http://schemas.microsoft.com/office/drawing/2014/main" id="{704ED563-D2FF-4160-82DA-B6CEE6D2ADA3}"/>
              </a:ext>
            </a:extLst>
          </p:cNvPr>
          <p:cNvSpPr>
            <a:spLocks xmlns:a="http://schemas.openxmlformats.org/drawingml/2006/main" noGrp="1"/>
          </p:cNvSpPr>
          <p:nvPr/>
        </p:nvSpPr>
        <p:spPr>
          <a:xfrm xmlns:a="http://schemas.openxmlformats.org/drawingml/2006/main">
            <a:off x="685800" y="1724025"/>
            <a:ext cx="10820400" cy="28575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json-example">
            <a:extLst xmlns:a="http://schemas.openxmlformats.org/drawingml/2006/main">
              <a:ext uri="{FF2B5EF4-FFF2-40B4-BE49-F238E27FC236}">
                <a16:creationId xmlns:a16="http://schemas.microsoft.com/office/drawing/2014/main" id="{17E237F7-B6DB-4129-8788-9FB63819ED78}"/>
              </a:ext>
            </a:extLst>
          </p:cNvPr>
          <p:cNvSpPr>
            <a:spLocks xmlns:a="http://schemas.openxmlformats.org/drawingml/2006/main" noGrp="1"/>
          </p:cNvSpPr>
          <p:nvPr/>
        </p:nvSpPr>
        <p:spPr>
          <a:xfrm xmlns:a="http://schemas.openxmlformats.org/drawingml/2006/main">
            <a:off x="876300" y="1895475"/>
            <a:ext cx="10439400" cy="2514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E2E8F0"/>
                </a:solidFill>
                <a:latin typeface="Menlo"/>
                <a:ea typeface="Menlo"/>
                <a:cs typeface="Menlo"/>
              </a:defRPr>
            </a:pPr>
            <a:r>
              <a:rPr sz="2175" b="0">
                <a:solidFill>
                  <a:srgbClr val="E2E8F0"/>
                </a:solidFill>
                <a:latin typeface="Menlo"/>
                <a:ea typeface="Menlo"/>
                <a:cs typeface="Menlo"/>
              </a:rPr>
              <a:t>{</a:t>
            </a:r>
          </a:p>
          <a:p xmlns:a="http://schemas.openxmlformats.org/drawingml/2006/main">
            <a:pPr>
              <a:defRPr sz="2175" b="0">
                <a:solidFill>
                  <a:srgbClr val="E2E8F0"/>
                </a:solidFill>
                <a:latin typeface="Menlo"/>
                <a:ea typeface="Menlo"/>
                <a:cs typeface="Menlo"/>
              </a:defRPr>
            </a:pPr>
            <a:r>
              <a:rPr sz="2175" b="0">
                <a:solidFill>
                  <a:srgbClr val="E2E8F0"/>
                </a:solidFill>
                <a:latin typeface="Menlo"/>
                <a:ea typeface="Menlo"/>
                <a:cs typeface="Menlo"/>
              </a:rPr>
              <a:t>  "ticket_id": { "$numberInt": "1001" },</a:t>
            </a:r>
          </a:p>
          <a:p xmlns:a="http://schemas.openxmlformats.org/drawingml/2006/main">
            <a:pPr>
              <a:defRPr sz="2175" b="0">
                <a:solidFill>
                  <a:srgbClr val="E2E8F0"/>
                </a:solidFill>
                <a:latin typeface="Menlo"/>
                <a:ea typeface="Menlo"/>
                <a:cs typeface="Menlo"/>
              </a:defRPr>
            </a:pPr>
            <a:r>
              <a:rPr sz="2175" b="0">
                <a:solidFill>
                  <a:srgbClr val="E2E8F0"/>
                </a:solidFill>
                <a:latin typeface="Menlo"/>
                <a:ea typeface="Menlo"/>
                <a:cs typeface="Menlo"/>
              </a:rPr>
              <a:t>  "opened_at": {</a:t>
            </a:r>
          </a:p>
          <a:p xmlns:a="http://schemas.openxmlformats.org/drawingml/2006/main">
            <a:pPr>
              <a:defRPr sz="2175" b="0">
                <a:solidFill>
                  <a:srgbClr val="E2E8F0"/>
                </a:solidFill>
                <a:latin typeface="Menlo"/>
                <a:ea typeface="Menlo"/>
                <a:cs typeface="Menlo"/>
              </a:defRPr>
            </a:pPr>
            <a:r>
              <a:rPr sz="2175" b="0">
                <a:solidFill>
                  <a:srgbClr val="E2E8F0"/>
                </a:solidFill>
                <a:latin typeface="Menlo"/>
                <a:ea typeface="Menlo"/>
                <a:cs typeface="Menlo"/>
              </a:rPr>
              <a:t>    "$date": { "$numberLong": "1769987400000" }</a:t>
            </a:r>
          </a:p>
          <a:p xmlns:a="http://schemas.openxmlformats.org/drawingml/2006/main">
            <a:pPr>
              <a:defRPr sz="2175" b="0">
                <a:solidFill>
                  <a:srgbClr val="E2E8F0"/>
                </a:solidFill>
                <a:latin typeface="Menlo"/>
                <a:ea typeface="Menlo"/>
                <a:cs typeface="Menlo"/>
              </a:defRPr>
            </a:pPr>
            <a:r>
              <a:rPr sz="2175" b="0">
                <a:solidFill>
                  <a:srgbClr val="E2E8F0"/>
                </a:solidFill>
                <a:latin typeface="Menlo"/>
                <a:ea typeface="Menlo"/>
                <a:cs typeface="Menlo"/>
              </a:rPr>
              <a:t>  }</a:t>
            </a:r>
          </a:p>
          <a:p xmlns:a="http://schemas.openxmlformats.org/drawingml/2006/main">
            <a:pPr>
              <a:defRPr sz="2175" b="0">
                <a:solidFill>
                  <a:srgbClr val="E2E8F0"/>
                </a:solidFill>
                <a:latin typeface="Menlo"/>
                <a:ea typeface="Menlo"/>
                <a:cs typeface="Menlo"/>
              </a:defRPr>
            </a:pPr>
            <a:r>
              <a:rPr sz="2175" b="0">
                <a:solidFill>
                  <a:srgbClr val="E2E8F0"/>
                </a:solidFill>
                <a:latin typeface="Menlo"/>
                <a:ea typeface="Menlo"/>
                <a:cs typeface="Menlo"/>
              </a:rPr>
              <a:t>}</a:t>
            </a:r>
          </a:p>
        </p:txBody>
      </p:sp>
      <p:sp>
        <p:nvSpPr>
          <p:cNvPr id="7" name="ejson-caption">
            <a:extLst xmlns:a="http://schemas.openxmlformats.org/drawingml/2006/main">
              <a:ext uri="{FF2B5EF4-FFF2-40B4-BE49-F238E27FC236}">
                <a16:creationId xmlns:a16="http://schemas.microsoft.com/office/drawing/2014/main" id="{B4F6A95E-4D38-4A02-B662-25811BF0D79B}"/>
              </a:ext>
            </a:extLst>
          </p:cNvPr>
          <p:cNvSpPr>
            <a:spLocks xmlns:a="http://schemas.openxmlformats.org/drawingml/2006/main" noGrp="1"/>
          </p:cNvSpPr>
          <p:nvPr/>
        </p:nvSpPr>
        <p:spPr>
          <a:xfrm xmlns:a="http://schemas.openxmlformats.org/drawingml/2006/main">
            <a:off x="723900" y="5143500"/>
            <a:ext cx="10668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Selected fields from ticket 1001, not the complete document.</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The date number is milliseconds since the Unix epoch.</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These markers let a BSON-aware parser reconstruct the stored types.</a:t>
            </a:r>
          </a:p>
        </p:txBody>
      </p:sp>
    </p:spTree>
    <p:extLst>
      <p:ext uri="{BB962C8B-B14F-4D97-AF65-F5344CB8AC3E}">
        <p14:creationId xmlns:p14="http://schemas.microsoft.com/office/powerpoint/2010/main" val="187455770"/>
      </p:ext>
    </p:extLst>
  </p:cSld>
</p:sld>
</file>

<file path=ppt/slides/slide2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1317DACA-1DF7-4384-A4A6-2FD4BDEAB6A2}"/>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12  /  CST4714</a:t>
            </a:r>
          </a:p>
        </p:txBody>
      </p:sp>
      <p:sp>
        <p:nvSpPr>
          <p:cNvPr id="2" name="slide-title">
            <a:extLst xmlns:a="http://schemas.openxmlformats.org/drawingml/2006/main">
              <a:ext uri="{FF2B5EF4-FFF2-40B4-BE49-F238E27FC236}">
                <a16:creationId xmlns:a16="http://schemas.microsoft.com/office/drawing/2014/main" id="{F2C31CE9-6196-45CD-8F68-9F68C37013B0}"/>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parser determines the reconstructed values</a:t>
            </a:r>
          </a:p>
        </p:txBody>
      </p:sp>
      <p:sp>
        <p:nvSpPr>
          <p:cNvPr id="3" name="">
            <a:extLst xmlns:a="http://schemas.openxmlformats.org/drawingml/2006/main">
              <a:ext uri="{FF2B5EF4-FFF2-40B4-BE49-F238E27FC236}">
                <a16:creationId xmlns:a16="http://schemas.microsoft.com/office/drawing/2014/main" id="{1C460BA0-903E-4D13-B493-BDA58B6582D3}"/>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AA19C498-6179-4F0A-9D64-7BFE231A40A9}"/>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21</a:t>
            </a:r>
          </a:p>
        </p:txBody>
      </p:sp>
      <p:sp>
        <p:nvSpPr>
          <p:cNvPr id="5" name="">
            <a:extLst xmlns:a="http://schemas.openxmlformats.org/drawingml/2006/main">
              <a:ext uri="{FF2B5EF4-FFF2-40B4-BE49-F238E27FC236}">
                <a16:creationId xmlns:a16="http://schemas.microsoft.com/office/drawing/2014/main" id="{F2DD57A6-B7A1-4D90-8E1D-A192FD47BD59}"/>
              </a:ext>
            </a:extLst>
          </p:cNvPr>
          <p:cNvSpPr>
            <a:spLocks xmlns:a="http://schemas.openxmlformats.org/drawingml/2006/main" noGrp="1"/>
          </p:cNvSpPr>
          <p:nvPr/>
        </p:nvSpPr>
        <p:spPr>
          <a:xfrm xmlns:a="http://schemas.openxmlformats.org/drawingml/2006/main">
            <a:off x="685800" y="1685925"/>
            <a:ext cx="10820400" cy="325755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parsers">
            <a:extLst xmlns:a="http://schemas.openxmlformats.org/drawingml/2006/main">
              <a:ext uri="{FF2B5EF4-FFF2-40B4-BE49-F238E27FC236}">
                <a16:creationId xmlns:a16="http://schemas.microsoft.com/office/drawing/2014/main" id="{38C47113-F6FB-488A-A69A-40F22F100FC5}"/>
              </a:ext>
            </a:extLst>
          </p:cNvPr>
          <p:cNvSpPr>
            <a:spLocks xmlns:a="http://schemas.openxmlformats.org/drawingml/2006/main" noGrp="1"/>
          </p:cNvSpPr>
          <p:nvPr/>
        </p:nvSpPr>
        <p:spPr>
          <a:xfrm xmlns:a="http://schemas.openxmlformats.org/drawingml/2006/main">
            <a:off x="876300" y="1857375"/>
            <a:ext cx="10439400" cy="2914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date_text =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'{"opened_at": {"$date":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'{"$numberLong": "1769987400000"}}}'</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plain = json.loads(date_text)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typed = json_util.loads(date_text, json_options=JSON_OPTIONS)</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print(type(plain["opened_at"]).__name__)</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print(type(typed["opened_at"]).__name__)</a:t>
            </a:r>
          </a:p>
        </p:txBody>
      </p:sp>
      <p:sp>
        <p:nvSpPr>
          <p:cNvPr id="7" name="parser-result">
            <a:extLst xmlns:a="http://schemas.openxmlformats.org/drawingml/2006/main">
              <a:ext uri="{FF2B5EF4-FFF2-40B4-BE49-F238E27FC236}">
                <a16:creationId xmlns:a16="http://schemas.microsoft.com/office/drawing/2014/main" id="{9B6D2EF5-9717-468C-BDEC-B9D68D2A0A9A}"/>
              </a:ext>
            </a:extLst>
          </p:cNvPr>
          <p:cNvSpPr>
            <a:spLocks xmlns:a="http://schemas.openxmlformats.org/drawingml/2006/main" noGrp="1"/>
          </p:cNvSpPr>
          <p:nvPr/>
        </p:nvSpPr>
        <p:spPr>
          <a:xfrm xmlns:a="http://schemas.openxmlformats.org/drawingml/2006/main">
            <a:off x="723900" y="5324475"/>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0">
                <a:solidFill>
                  <a:srgbClr val="214AE8"/>
                </a:solidFill>
                <a:latin typeface="Menlo"/>
                <a:ea typeface="Menlo"/>
                <a:cs typeface="Menlo"/>
              </a:defRPr>
            </a:pPr>
            <a:r>
              <a:rPr sz="2475" b="0">
                <a:solidFill>
                  <a:srgbClr val="214AE8"/>
                </a:solidFill>
                <a:latin typeface="Menlo"/>
                <a:ea typeface="Menlo"/>
                <a:cs typeface="Menlo"/>
              </a:rPr>
              <a:t>Outputs: dict, then datetime</a:t>
            </a:r>
          </a:p>
        </p:txBody>
      </p:sp>
      <p:sp>
        <p:nvSpPr>
          <p:cNvPr id="8" name="parser-scope">
            <a:extLst xmlns:a="http://schemas.openxmlformats.org/drawingml/2006/main">
              <a:ext uri="{FF2B5EF4-FFF2-40B4-BE49-F238E27FC236}">
                <a16:creationId xmlns:a16="http://schemas.microsoft.com/office/drawing/2014/main" id="{BF0F24FF-98D8-4C43-BCB7-C1E7EE002C07}"/>
              </a:ext>
            </a:extLst>
          </p:cNvPr>
          <p:cNvSpPr>
            <a:spLocks xmlns:a="http://schemas.openxmlformats.org/drawingml/2006/main" noGrp="1"/>
          </p:cNvSpPr>
          <p:nvPr/>
        </p:nvSpPr>
        <p:spPr>
          <a:xfrm xmlns:a="http://schemas.openxmlformats.org/drawingml/2006/main">
            <a:off x="723900" y="61531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The notebook imports json/json_util and defines JSON_OPTIONS before this work.</a:t>
            </a:r>
          </a:p>
        </p:txBody>
      </p:sp>
    </p:spTree>
    <p:extLst>
      <p:ext uri="{BB962C8B-B14F-4D97-AF65-F5344CB8AC3E}">
        <p14:creationId xmlns:p14="http://schemas.microsoft.com/office/powerpoint/2010/main" val="187455770"/>
      </p:ext>
    </p:extLst>
  </p:cSld>
</p:sld>
</file>

<file path=ppt/slides/slide2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eyebrow">
            <a:extLst xmlns:a="http://schemas.openxmlformats.org/drawingml/2006/main">
              <a:ext uri="{FF2B5EF4-FFF2-40B4-BE49-F238E27FC236}">
                <a16:creationId xmlns:a16="http://schemas.microsoft.com/office/drawing/2014/main" id="{71E2FD5D-3494-4FD7-8C58-CF92DB5C8141}"/>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12  /  CST4714</a:t>
            </a:r>
          </a:p>
        </p:txBody>
      </p:sp>
      <p:sp>
        <p:nvSpPr>
          <p:cNvPr id="2" name="slide-title">
            <a:extLst xmlns:a="http://schemas.openxmlformats.org/drawingml/2006/main">
              <a:ext uri="{FF2B5EF4-FFF2-40B4-BE49-F238E27FC236}">
                <a16:creationId xmlns:a16="http://schemas.microsoft.com/office/drawing/2014/main" id="{E1D42019-259F-4E23-8C60-F656A3520191}"/>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source, artifact, and target remain distinct</a:t>
            </a:r>
          </a:p>
        </p:txBody>
      </p:sp>
      <p:sp>
        <p:nvSpPr>
          <p:cNvPr id="3" name="">
            <a:extLst xmlns:a="http://schemas.openxmlformats.org/drawingml/2006/main">
              <a:ext uri="{FF2B5EF4-FFF2-40B4-BE49-F238E27FC236}">
                <a16:creationId xmlns:a16="http://schemas.microsoft.com/office/drawing/2014/main" id="{013B8B29-8500-4328-976D-9054D33CE3C8}"/>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9DC25C36-5250-4816-AF55-379AE592FE0D}"/>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22</a:t>
            </a:r>
          </a:p>
        </p:txBody>
      </p:sp>
      <p:sp>
        <p:nvSpPr>
          <p:cNvPr id="5" name="">
            <a:extLst xmlns:a="http://schemas.openxmlformats.org/drawingml/2006/main">
              <a:ext uri="{FF2B5EF4-FFF2-40B4-BE49-F238E27FC236}">
                <a16:creationId xmlns:a16="http://schemas.microsoft.com/office/drawing/2014/main" id="{5603659B-CF8D-4D66-B14E-4967CB526C45}"/>
              </a:ext>
            </a:extLst>
          </p:cNvPr>
          <p:cNvSpPr>
            <a:spLocks xmlns:a="http://schemas.openxmlformats.org/drawingml/2006/main" noGrp="1"/>
          </p:cNvSpPr>
          <p:nvPr/>
        </p:nvSpPr>
        <p:spPr>
          <a:xfrm xmlns:a="http://schemas.openxmlformats.org/drawingml/2006/main">
            <a:off x="723900" y="2314575"/>
            <a:ext cx="3409950" cy="2019300"/>
          </a:xfrm>
          <a:prstGeom xmlns:a="http://schemas.openxmlformats.org/drawingml/2006/main" prst="rect">
            <a:avLst/>
          </a:prstGeom>
          <a:solidFill xmlns:a="http://schemas.openxmlformats.org/drawingml/2006/main">
            <a:srgbClr val="F1F5F9"/>
          </a:solidFill>
          <a:ln xmlns:a="http://schemas.openxmlformats.org/drawingml/2006/main" w="0">
            <a:solidFill>
              <a:srgbClr val="F1F5F9"/>
            </a:solidFill>
          </a:ln>
        </p:spPr>
      </p:sp>
      <p:sp>
        <p:nvSpPr>
          <p:cNvPr id="6" name="flow-title-0">
            <a:extLst xmlns:a="http://schemas.openxmlformats.org/drawingml/2006/main">
              <a:ext uri="{FF2B5EF4-FFF2-40B4-BE49-F238E27FC236}">
                <a16:creationId xmlns:a16="http://schemas.microsoft.com/office/drawing/2014/main" id="{BCFA1C52-850B-4AF1-AD53-2404FCE41A5F}"/>
              </a:ext>
            </a:extLst>
          </p:cNvPr>
          <p:cNvSpPr>
            <a:spLocks xmlns:a="http://schemas.openxmlformats.org/drawingml/2006/main" noGrp="1"/>
          </p:cNvSpPr>
          <p:nvPr/>
        </p:nvSpPr>
        <p:spPr>
          <a:xfrm xmlns:a="http://schemas.openxmlformats.org/drawingml/2006/main">
            <a:off x="895350" y="2505075"/>
            <a:ext cx="30765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214AE8"/>
                </a:solidFill>
                <a:latin typeface="Helvetica Neue"/>
                <a:ea typeface="Helvetica Neue"/>
                <a:cs typeface="Helvetica Neue"/>
              </a:defRPr>
            </a:pPr>
            <a:r>
              <a:rPr sz="2100" b="1">
                <a:solidFill>
                  <a:srgbClr val="214AE8"/>
                </a:solidFill>
                <a:latin typeface="Helvetica Neue"/>
                <a:ea typeface="Helvetica Neue"/>
                <a:cs typeface="Helvetica Neue"/>
              </a:rPr>
              <a:t>Source collection</a:t>
            </a:r>
          </a:p>
        </p:txBody>
      </p:sp>
      <p:sp>
        <p:nvSpPr>
          <p:cNvPr id="7" name="flow-body-0">
            <a:extLst xmlns:a="http://schemas.openxmlformats.org/drawingml/2006/main">
              <a:ext uri="{FF2B5EF4-FFF2-40B4-BE49-F238E27FC236}">
                <a16:creationId xmlns:a16="http://schemas.microsoft.com/office/drawing/2014/main" id="{BD44E251-4855-403A-91CB-94E8C163501E}"/>
              </a:ext>
            </a:extLst>
          </p:cNvPr>
          <p:cNvSpPr>
            <a:spLocks xmlns:a="http://schemas.openxmlformats.org/drawingml/2006/main" noGrp="1"/>
          </p:cNvSpPr>
          <p:nvPr/>
        </p:nvSpPr>
        <p:spPr>
          <a:xfrm xmlns:a="http://schemas.openxmlformats.org/drawingml/2006/main">
            <a:off x="895350" y="3286125"/>
            <a:ext cx="30765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5 tickets</a:t>
            </a:r>
          </a:p>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Indexes and validator</a:t>
            </a:r>
          </a:p>
        </p:txBody>
      </p:sp>
      <p:sp>
        <p:nvSpPr>
          <p:cNvPr id="8" name="">
            <a:extLst xmlns:a="http://schemas.openxmlformats.org/drawingml/2006/main">
              <a:ext uri="{FF2B5EF4-FFF2-40B4-BE49-F238E27FC236}">
                <a16:creationId xmlns:a16="http://schemas.microsoft.com/office/drawing/2014/main" id="{96DF8C6E-1395-4390-BCDE-DE501C67429C}"/>
              </a:ext>
            </a:extLst>
          </p:cNvPr>
          <p:cNvSpPr>
            <a:spLocks xmlns:a="http://schemas.openxmlformats.org/drawingml/2006/main" noGrp="1"/>
          </p:cNvSpPr>
          <p:nvPr/>
        </p:nvSpPr>
        <p:spPr>
          <a:xfrm xmlns:a="http://schemas.openxmlformats.org/drawingml/2006/main">
            <a:off x="4391025" y="2314575"/>
            <a:ext cx="3409950" cy="2019300"/>
          </a:xfrm>
          <a:prstGeom xmlns:a="http://schemas.openxmlformats.org/drawingml/2006/main" prst="rect">
            <a:avLst/>
          </a:prstGeom>
          <a:solidFill xmlns:a="http://schemas.openxmlformats.org/drawingml/2006/main">
            <a:srgbClr val="E7EDFF"/>
          </a:solidFill>
          <a:ln xmlns:a="http://schemas.openxmlformats.org/drawingml/2006/main" w="0">
            <a:solidFill>
              <a:srgbClr val="E7EDFF"/>
            </a:solidFill>
          </a:ln>
        </p:spPr>
      </p:sp>
      <p:sp>
        <p:nvSpPr>
          <p:cNvPr id="9" name="flow-title-1">
            <a:extLst xmlns:a="http://schemas.openxmlformats.org/drawingml/2006/main">
              <a:ext uri="{FF2B5EF4-FFF2-40B4-BE49-F238E27FC236}">
                <a16:creationId xmlns:a16="http://schemas.microsoft.com/office/drawing/2014/main" id="{9D58AA78-165F-4354-9C1D-F6E5E857C47B}"/>
              </a:ext>
            </a:extLst>
          </p:cNvPr>
          <p:cNvSpPr>
            <a:spLocks xmlns:a="http://schemas.openxmlformats.org/drawingml/2006/main" noGrp="1"/>
          </p:cNvSpPr>
          <p:nvPr/>
        </p:nvSpPr>
        <p:spPr>
          <a:xfrm xmlns:a="http://schemas.openxmlformats.org/drawingml/2006/main">
            <a:off x="4562475" y="2505075"/>
            <a:ext cx="30765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214AE8"/>
                </a:solidFill>
                <a:latin typeface="Helvetica Neue"/>
                <a:ea typeface="Helvetica Neue"/>
                <a:cs typeface="Helvetica Neue"/>
              </a:defRPr>
            </a:pPr>
            <a:r>
              <a:rPr sz="2100" b="1">
                <a:solidFill>
                  <a:srgbClr val="214AE8"/>
                </a:solidFill>
                <a:latin typeface="Helvetica Neue"/>
                <a:ea typeface="Helvetica Neue"/>
                <a:cs typeface="Helvetica Neue"/>
              </a:rPr>
              <a:t>Document artifact</a:t>
            </a:r>
          </a:p>
        </p:txBody>
      </p:sp>
      <p:sp>
        <p:nvSpPr>
          <p:cNvPr id="10" name="flow-body-1">
            <a:extLst xmlns:a="http://schemas.openxmlformats.org/drawingml/2006/main">
              <a:ext uri="{FF2B5EF4-FFF2-40B4-BE49-F238E27FC236}">
                <a16:creationId xmlns:a16="http://schemas.microsoft.com/office/drawing/2014/main" id="{3B6A69D9-662A-48A9-9A47-2080A78DAC60}"/>
              </a:ext>
            </a:extLst>
          </p:cNvPr>
          <p:cNvSpPr>
            <a:spLocks xmlns:a="http://schemas.openxmlformats.org/drawingml/2006/main" noGrp="1"/>
          </p:cNvSpPr>
          <p:nvPr/>
        </p:nvSpPr>
        <p:spPr>
          <a:xfrm xmlns:a="http://schemas.openxmlformats.org/drawingml/2006/main">
            <a:off x="4562475" y="3286125"/>
            <a:ext cx="30765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5 saved documents</a:t>
            </a:r>
          </a:p>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Canonical Extended JSON</a:t>
            </a:r>
          </a:p>
        </p:txBody>
      </p:sp>
      <p:sp>
        <p:nvSpPr>
          <p:cNvPr id="11" name="">
            <a:extLst xmlns:a="http://schemas.openxmlformats.org/drawingml/2006/main">
              <a:ext uri="{FF2B5EF4-FFF2-40B4-BE49-F238E27FC236}">
                <a16:creationId xmlns:a16="http://schemas.microsoft.com/office/drawing/2014/main" id="{55548FA1-C98A-4E69-A8D4-BC1223797C74}"/>
              </a:ext>
            </a:extLst>
          </p:cNvPr>
          <p:cNvSpPr>
            <a:spLocks xmlns:a="http://schemas.openxmlformats.org/drawingml/2006/main" noGrp="1"/>
          </p:cNvSpPr>
          <p:nvPr/>
        </p:nvSpPr>
        <p:spPr>
          <a:xfrm xmlns:a="http://schemas.openxmlformats.org/drawingml/2006/main">
            <a:off x="8058150" y="2314575"/>
            <a:ext cx="3409950" cy="2019300"/>
          </a:xfrm>
          <a:prstGeom xmlns:a="http://schemas.openxmlformats.org/drawingml/2006/main" prst="rect">
            <a:avLst/>
          </a:prstGeom>
          <a:solidFill xmlns:a="http://schemas.openxmlformats.org/drawingml/2006/main">
            <a:srgbClr val="F1F5F9"/>
          </a:solidFill>
          <a:ln xmlns:a="http://schemas.openxmlformats.org/drawingml/2006/main" w="0">
            <a:solidFill>
              <a:srgbClr val="F1F5F9"/>
            </a:solidFill>
          </a:ln>
        </p:spPr>
      </p:sp>
      <p:sp>
        <p:nvSpPr>
          <p:cNvPr id="12" name="flow-title-2">
            <a:extLst xmlns:a="http://schemas.openxmlformats.org/drawingml/2006/main">
              <a:ext uri="{FF2B5EF4-FFF2-40B4-BE49-F238E27FC236}">
                <a16:creationId xmlns:a16="http://schemas.microsoft.com/office/drawing/2014/main" id="{8F107383-7180-4CD3-B73F-0649F929823B}"/>
              </a:ext>
            </a:extLst>
          </p:cNvPr>
          <p:cNvSpPr>
            <a:spLocks xmlns:a="http://schemas.openxmlformats.org/drawingml/2006/main" noGrp="1"/>
          </p:cNvSpPr>
          <p:nvPr/>
        </p:nvSpPr>
        <p:spPr>
          <a:xfrm xmlns:a="http://schemas.openxmlformats.org/drawingml/2006/main">
            <a:off x="8229600" y="2505075"/>
            <a:ext cx="30765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214AE8"/>
                </a:solidFill>
                <a:latin typeface="Helvetica Neue"/>
                <a:ea typeface="Helvetica Neue"/>
                <a:cs typeface="Helvetica Neue"/>
              </a:defRPr>
            </a:pPr>
            <a:r>
              <a:rPr sz="2100" b="1">
                <a:solidFill>
                  <a:srgbClr val="214AE8"/>
                </a:solidFill>
                <a:latin typeface="Helvetica Neue"/>
                <a:ea typeface="Helvetica Neue"/>
                <a:cs typeface="Helvetica Neue"/>
              </a:rPr>
              <a:t>Separate target</a:t>
            </a:r>
          </a:p>
        </p:txBody>
      </p:sp>
      <p:sp>
        <p:nvSpPr>
          <p:cNvPr id="13" name="flow-body-2">
            <a:extLst xmlns:a="http://schemas.openxmlformats.org/drawingml/2006/main">
              <a:ext uri="{FF2B5EF4-FFF2-40B4-BE49-F238E27FC236}">
                <a16:creationId xmlns:a16="http://schemas.microsoft.com/office/drawing/2014/main" id="{DBB7E72E-D8B3-4D84-986F-660E08C47018}"/>
              </a:ext>
            </a:extLst>
          </p:cNvPr>
          <p:cNvSpPr>
            <a:spLocks xmlns:a="http://schemas.openxmlformats.org/drawingml/2006/main" noGrp="1"/>
          </p:cNvSpPr>
          <p:nvPr/>
        </p:nvSpPr>
        <p:spPr>
          <a:xfrm xmlns:a="http://schemas.openxmlformats.org/drawingml/2006/main">
            <a:off x="8229600" y="3286125"/>
            <a:ext cx="30765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5 recovered tickets</a:t>
            </a:r>
          </a:p>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Initially only the _id_ index</a:t>
            </a:r>
          </a:p>
        </p:txBody>
      </p:sp>
      <p:sp>
        <p:nvSpPr>
          <p:cNvPr id="14" name="artifact-boundary">
            <a:extLst xmlns:a="http://schemas.openxmlformats.org/drawingml/2006/main">
              <a:ext uri="{FF2B5EF4-FFF2-40B4-BE49-F238E27FC236}">
                <a16:creationId xmlns:a16="http://schemas.microsoft.com/office/drawing/2014/main" id="{09D949C4-8CC7-4F6F-AB86-1009627A2096}"/>
              </a:ext>
            </a:extLst>
          </p:cNvPr>
          <p:cNvSpPr>
            <a:spLocks xmlns:a="http://schemas.openxmlformats.org/drawingml/2006/main" noGrp="1"/>
          </p:cNvSpPr>
          <p:nvPr/>
        </p:nvSpPr>
        <p:spPr>
          <a:xfrm xmlns:a="http://schemas.openxmlformats.org/drawingml/2006/main">
            <a:off x="723900" y="5048250"/>
            <a:ext cx="106680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The notebook keeps the metadata manifest separately.</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It checks the artifact hash and parses the data before resetting its target.</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An unchanged hash identifies bytes, not completeness or authenticity.</a:t>
            </a:r>
          </a:p>
        </p:txBody>
      </p:sp>
    </p:spTree>
    <p:extLst>
      <p:ext uri="{BB962C8B-B14F-4D97-AF65-F5344CB8AC3E}">
        <p14:creationId xmlns:p14="http://schemas.microsoft.com/office/powerpoint/2010/main" val="187455770"/>
      </p:ext>
    </p:extLst>
  </p:cSld>
</p:sld>
</file>

<file path=ppt/slides/slide2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318B4579-8F00-4F88-B472-4598BF45B8A9}"/>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12  /  CST4714</a:t>
            </a:r>
          </a:p>
        </p:txBody>
      </p:sp>
      <p:sp>
        <p:nvSpPr>
          <p:cNvPr id="2" name="slide-title">
            <a:extLst xmlns:a="http://schemas.openxmlformats.org/drawingml/2006/main">
              <a:ext uri="{FF2B5EF4-FFF2-40B4-BE49-F238E27FC236}">
                <a16:creationId xmlns:a16="http://schemas.microsoft.com/office/drawing/2014/main" id="{6268D475-388C-4F8B-A699-5AABAAA1F944}"/>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A wrong subject survives three weak checks</a:t>
            </a:r>
          </a:p>
        </p:txBody>
      </p:sp>
      <p:sp>
        <p:nvSpPr>
          <p:cNvPr id="3" name="">
            <a:extLst xmlns:a="http://schemas.openxmlformats.org/drawingml/2006/main">
              <a:ext uri="{FF2B5EF4-FFF2-40B4-BE49-F238E27FC236}">
                <a16:creationId xmlns:a16="http://schemas.microsoft.com/office/drawing/2014/main" id="{7D84E4B1-C7BC-4910-B7C6-959DB853E3A0}"/>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49ECDF3E-D59D-438E-B459-22029BE9C29C}"/>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23</a:t>
            </a:r>
          </a:p>
        </p:txBody>
      </p:sp>
      <p:graphicFrame>
        <p:nvGraphicFramePr>
          <p:cNvPr id="12" name=""/>
          <p:cNvGraphicFramePr/>
          <p:nvPr/>
        </p:nvGraphicFramePr>
        <p:xfrm>
          <a:off xmlns:a="http://schemas.openxmlformats.org/drawingml/2006/main" x="685800" y="1685925"/>
          <a:ext xmlns:a="http://schemas.openxmlformats.org/drawingml/2006/main" cx="10820400" cy="3114675"/>
        </p:xfrm>
        <a:graphic xmlns:a="http://schemas.openxmlformats.org/drawingml/2006/main">
          <a:graphicData uri="http://schemas.openxmlformats.org/drawingml/2006/table">
            <a:tbl>
              <a:tblPr/>
              <a:tblGrid>
                <a:gridCol w="8477250"/>
                <a:gridCol w="2343150"/>
              </a:tblGrid>
              <a:tr h="622935">
                <a:tc>
                  <a:txBody>
                    <a:bodyPr lIns="114300" tIns="76200" rIns="114300" bIns="76200"/>
                    <a:lstStyle/>
                    <a:p>
                      <a:r>
                        <a:rPr sz="2025" b="1">
                          <a:solidFill>
                            <a:srgbClr val="FFFFFF"/>
                          </a:solidFill>
                          <a:latin typeface="Helvetica Neue"/>
                          <a:ea typeface="Helvetica Neue"/>
                          <a:cs typeface="Helvetica Neue"/>
                        </a:rPr>
                        <a:t>Check after the incorrect migration</a:t>
                      </a:r>
                    </a:p>
                  </a:txBody>
                  <a:tcPr marL="91440" marR="91440" marT="45720" marB="45720" anchor="ctr">
                    <a:solidFill>
                      <a:srgbClr val="214AE8"/>
                    </a:solidFill>
                  </a:tcPr>
                </a:tc>
                <a:tc>
                  <a:txBody>
                    <a:bodyPr lIns="114300" tIns="76200" rIns="114300" bIns="76200"/>
                    <a:lstStyle/>
                    <a:p>
                      <a:r>
                        <a:rPr sz="2025" b="1">
                          <a:solidFill>
                            <a:srgbClr val="FFFFFF"/>
                          </a:solidFill>
                          <a:latin typeface="Helvetica Neue"/>
                          <a:ea typeface="Helvetica Neue"/>
                          <a:cs typeface="Helvetica Neue"/>
                        </a:rPr>
                        <a:t>Result</a:t>
                      </a:r>
                    </a:p>
                  </a:txBody>
                  <a:tcPr marL="91440" marR="91440" marT="45720" marB="45720" anchor="ctr">
                    <a:solidFill>
                      <a:srgbClr val="214AE8"/>
                    </a:solidFill>
                  </a:tcPr>
                </a:tc>
              </a:tr>
              <a:tr h="622935">
                <a:tc>
                  <a:txBody>
                    <a:bodyPr lIns="114300" tIns="76200" rIns="114300" bIns="76200"/>
                    <a:lstStyle/>
                    <a:p>
                      <a:r>
                        <a:rPr sz="2025" b="0">
                          <a:solidFill>
                            <a:srgbClr val="111827"/>
                          </a:solidFill>
                          <a:latin typeface="Helvetica Neue"/>
                          <a:ea typeface="Helvetica Neue"/>
                          <a:cs typeface="Helvetica Neue"/>
                        </a:rPr>
                        <a:t>Five documents</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True</a:t>
                      </a:r>
                    </a:p>
                  </a:txBody>
                  <a:tcPr marL="91440" marR="91440" marT="45720" marB="45720" anchor="ctr">
                    <a:solidFill>
                      <a:srgbClr val="FFFFFF"/>
                    </a:solidFill>
                  </a:tcPr>
                </a:tc>
              </a:tr>
              <a:tr h="622935">
                <a:tc>
                  <a:txBody>
                    <a:bodyPr lIns="114300" tIns="76200" rIns="114300" bIns="76200"/>
                    <a:lstStyle/>
                    <a:p>
                      <a:r>
                        <a:rPr sz="2025" b="0">
                          <a:solidFill>
                            <a:srgbClr val="111827"/>
                          </a:solidFill>
                          <a:latin typeface="Helvetica Neue"/>
                          <a:ea typeface="Helvetica Neue"/>
                          <a:cs typeface="Helvetica Neue"/>
                        </a:rPr>
                        <a:t>Expected ticket IDs</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True</a:t>
                      </a:r>
                    </a:p>
                  </a:txBody>
                  <a:tcPr marL="91440" marR="91440" marT="45720" marB="45720" anchor="ctr">
                    <a:solidFill>
                      <a:srgbClr val="F1F5F9"/>
                    </a:solidFill>
                  </a:tcPr>
                </a:tc>
              </a:tr>
              <a:tr h="622935">
                <a:tc>
                  <a:txBody>
                    <a:bodyPr lIns="114300" tIns="76200" rIns="114300" bIns="76200"/>
                    <a:lstStyle/>
                    <a:p>
                      <a:r>
                        <a:rPr sz="2025" b="0">
                          <a:solidFill>
                            <a:srgbClr val="111827"/>
                          </a:solidFill>
                          <a:latin typeface="Helvetica Neue"/>
                          <a:ea typeface="Helvetica Neue"/>
                          <a:cs typeface="Helvetica Neue"/>
                        </a:rPr>
                        <a:t>All opening values are datetime</a:t>
                      </a:r>
                    </a:p>
                  </a:txBody>
                  <a:tcPr marL="91440" marR="91440" marT="45720" marB="45720" anchor="ctr">
                    <a:solidFill>
                      <a:srgbClr val="FFFFFF"/>
                    </a:solidFill>
                  </a:tcPr>
                </a:tc>
                <a:tc>
                  <a:txBody>
                    <a:bodyPr lIns="114300" tIns="76200" rIns="114300" bIns="76200"/>
                    <a:lstStyle/>
                    <a:p>
                      <a:r>
                        <a:rPr sz="2025" b="0">
                          <a:solidFill>
                            <a:srgbClr val="111827"/>
                          </a:solidFill>
                          <a:latin typeface="Helvetica Neue"/>
                          <a:ea typeface="Helvetica Neue"/>
                          <a:cs typeface="Helvetica Neue"/>
                        </a:rPr>
                        <a:t>True</a:t>
                      </a:r>
                    </a:p>
                  </a:txBody>
                  <a:tcPr marL="91440" marR="91440" marT="45720" marB="45720" anchor="ctr">
                    <a:solidFill>
                      <a:srgbClr val="FFFFFF"/>
                    </a:solidFill>
                  </a:tcPr>
                </a:tc>
              </a:tr>
              <a:tr h="622935">
                <a:tc>
                  <a:txBody>
                    <a:bodyPr lIns="114300" tIns="76200" rIns="114300" bIns="76200"/>
                    <a:lstStyle/>
                    <a:p>
                      <a:r>
                        <a:rPr sz="2025" b="0">
                          <a:solidFill>
                            <a:srgbClr val="111827"/>
                          </a:solidFill>
                          <a:latin typeface="Helvetica Neue"/>
                          <a:ea typeface="Helvetica Neue"/>
                          <a:cs typeface="Helvetica Neue"/>
                        </a:rPr>
                        <a:t>All saved document values and types match</a:t>
                      </a:r>
                    </a:p>
                  </a:txBody>
                  <a:tcPr marL="91440" marR="91440" marT="45720" marB="45720" anchor="ctr">
                    <a:solidFill>
                      <a:srgbClr val="F1F5F9"/>
                    </a:solidFill>
                  </a:tcPr>
                </a:tc>
                <a:tc>
                  <a:txBody>
                    <a:bodyPr lIns="114300" tIns="76200" rIns="114300" bIns="76200"/>
                    <a:lstStyle/>
                    <a:p>
                      <a:r>
                        <a:rPr sz="2025" b="0">
                          <a:solidFill>
                            <a:srgbClr val="111827"/>
                          </a:solidFill>
                          <a:latin typeface="Helvetica Neue"/>
                          <a:ea typeface="Helvetica Neue"/>
                          <a:cs typeface="Helvetica Neue"/>
                        </a:rPr>
                        <a:t>False</a:t>
                      </a:r>
                    </a:p>
                  </a:txBody>
                  <a:tcPr marL="91440" marR="91440" marT="45720" marB="45720" anchor="ctr">
                    <a:solidFill>
                      <a:srgbClr val="F1F5F9"/>
                    </a:solidFill>
                  </a:tcPr>
                </a:tc>
              </a:tr>
            </a:tbl>
          </a:graphicData>
        </a:graphic>
      </p:graphicFrame>
      <p:sp>
        <p:nvSpPr>
          <p:cNvPr id="6" name="wrong-subject">
            <a:extLst xmlns:a="http://schemas.openxmlformats.org/drawingml/2006/main">
              <a:ext uri="{FF2B5EF4-FFF2-40B4-BE49-F238E27FC236}">
                <a16:creationId xmlns:a16="http://schemas.microsoft.com/office/drawing/2014/main" id="{34DDB87E-46F3-420A-ABE7-A09BE2655AC9}"/>
              </a:ext>
            </a:extLst>
          </p:cNvPr>
          <p:cNvSpPr>
            <a:spLocks xmlns:a="http://schemas.openxmlformats.org/drawingml/2006/main" noGrp="1"/>
          </p:cNvSpPr>
          <p:nvPr/>
        </p:nvSpPr>
        <p:spPr>
          <a:xfrm xmlns:a="http://schemas.openxmlformats.org/drawingml/2006/main">
            <a:off x="723900" y="522922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Saved 1001: Streetlight dark near bus stop</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Restored 1001: Text replaced by an incorrect migration</a:t>
            </a:r>
          </a:p>
        </p:txBody>
      </p:sp>
      <p:sp>
        <p:nvSpPr>
          <p:cNvPr id="7" name="schema-limit">
            <a:extLst xmlns:a="http://schemas.openxmlformats.org/drawingml/2006/main">
              <a:ext uri="{FF2B5EF4-FFF2-40B4-BE49-F238E27FC236}">
                <a16:creationId xmlns:a16="http://schemas.microsoft.com/office/drawing/2014/main" id="{1071DC03-6486-4E20-A69C-287D59B98E10}"/>
              </a:ext>
            </a:extLst>
          </p:cNvPr>
          <p:cNvSpPr>
            <a:spLocks xmlns:a="http://schemas.openxmlformats.org/drawingml/2006/main" noGrp="1"/>
          </p:cNvSpPr>
          <p:nvPr/>
        </p:nvSpPr>
        <p:spPr>
          <a:xfrm xmlns:a="http://schemas.openxmlformats.org/drawingml/2006/main">
            <a:off x="723900" y="6248400"/>
            <a:ext cx="10668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The wrong subject is still a string, so the schema alone cannot detect this error.</a:t>
            </a:r>
          </a:p>
        </p:txBody>
      </p:sp>
    </p:spTree>
    <p:extLst>
      <p:ext uri="{BB962C8B-B14F-4D97-AF65-F5344CB8AC3E}">
        <p14:creationId xmlns:p14="http://schemas.microsoft.com/office/powerpoint/2010/main" val="187455770"/>
      </p:ext>
    </p:extLst>
  </p:cSld>
</p:sld>
</file>

<file path=ppt/slides/slide2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2913DA23-EC4E-4986-81A6-9E2670B76BA0}"/>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12  /  CST4714</a:t>
            </a:r>
          </a:p>
        </p:txBody>
      </p:sp>
      <p:sp>
        <p:nvSpPr>
          <p:cNvPr id="2" name="slide-title">
            <a:extLst xmlns:a="http://schemas.openxmlformats.org/drawingml/2006/main">
              <a:ext uri="{FF2B5EF4-FFF2-40B4-BE49-F238E27FC236}">
                <a16:creationId xmlns:a16="http://schemas.microsoft.com/office/drawing/2014/main" id="{C11D82C6-4D6F-4D41-9E6E-11DD64BCEDC0}"/>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Restoring one document with replace_one</a:t>
            </a:r>
          </a:p>
        </p:txBody>
      </p:sp>
      <p:sp>
        <p:nvSpPr>
          <p:cNvPr id="3" name="">
            <a:extLst xmlns:a="http://schemas.openxmlformats.org/drawingml/2006/main">
              <a:ext uri="{FF2B5EF4-FFF2-40B4-BE49-F238E27FC236}">
                <a16:creationId xmlns:a16="http://schemas.microsoft.com/office/drawing/2014/main" id="{1C331D9F-7502-495D-8420-13B22DE408A5}"/>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1A8E3FB2-FE44-4C69-8A70-0EFB861284CE}"/>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24</a:t>
            </a:r>
          </a:p>
        </p:txBody>
      </p:sp>
      <p:sp>
        <p:nvSpPr>
          <p:cNvPr id="5" name="">
            <a:extLst xmlns:a="http://schemas.openxmlformats.org/drawingml/2006/main">
              <a:ext uri="{FF2B5EF4-FFF2-40B4-BE49-F238E27FC236}">
                <a16:creationId xmlns:a16="http://schemas.microsoft.com/office/drawing/2014/main" id="{393725F7-0C76-44AA-BF4B-B9E1F8DE8717}"/>
              </a:ext>
            </a:extLst>
          </p:cNvPr>
          <p:cNvSpPr>
            <a:spLocks xmlns:a="http://schemas.openxmlformats.org/drawingml/2006/main" noGrp="1"/>
          </p:cNvSpPr>
          <p:nvPr/>
        </p:nvSpPr>
        <p:spPr>
          <a:xfrm xmlns:a="http://schemas.openxmlformats.org/drawingml/2006/main">
            <a:off x="685800" y="1676400"/>
            <a:ext cx="10820400" cy="321945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repair">
            <a:extLst xmlns:a="http://schemas.openxmlformats.org/drawingml/2006/main">
              <a:ext uri="{FF2B5EF4-FFF2-40B4-BE49-F238E27FC236}">
                <a16:creationId xmlns:a16="http://schemas.microsoft.com/office/drawing/2014/main" id="{E22655D6-2A50-4008-B186-B24D4C7C3BAD}"/>
              </a:ext>
            </a:extLst>
          </p:cNvPr>
          <p:cNvSpPr>
            <a:spLocks xmlns:a="http://schemas.openxmlformats.org/drawingml/2006/main" noGrp="1"/>
          </p:cNvSpPr>
          <p:nvPr/>
        </p:nvSpPr>
        <p:spPr>
          <a:xfrm xmlns:a="http://schemas.openxmlformats.org/drawingml/2006/main">
            <a:off x="876300" y="1847850"/>
            <a:ext cx="10439400" cy="2876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saved_by_id = {</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doc["ticket_id"]: doc for doc in restored_documents</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recovery_document = saved_by_id[DAMAGED_TICKET]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repair = restore_tickets.replace_one(</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    {"ticket_id": DAMAGED_TICKET}, recovery_document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a:t>
            </a:r>
          </a:p>
          <a:p xmlns:a="http://schemas.openxmlformats.org/drawingml/2006/main">
            <a:pPr>
              <a:defRPr sz="1875" b="0">
                <a:solidFill>
                  <a:srgbClr val="E2E8F0"/>
                </a:solidFill>
                <a:latin typeface="Menlo"/>
                <a:ea typeface="Menlo"/>
                <a:cs typeface="Menlo"/>
              </a:defRPr>
            </a:pPr>
            <a:r>
              <a:rPr sz="1875" b="0">
                <a:solidFill>
                  <a:srgbClr val="E2E8F0"/>
                </a:solidFill>
                <a:latin typeface="Menlo"/>
                <a:ea typeface="Menlo"/>
                <a:cs typeface="Menlo"/>
              </a:rPr>
              <a:t>print(repair.matched_count, repair.modified_count)</a:t>
            </a:r>
          </a:p>
        </p:txBody>
      </p:sp>
      <p:sp>
        <p:nvSpPr>
          <p:cNvPr id="7" name="repair-result">
            <a:extLst xmlns:a="http://schemas.openxmlformats.org/drawingml/2006/main">
              <a:ext uri="{FF2B5EF4-FFF2-40B4-BE49-F238E27FC236}">
                <a16:creationId xmlns:a16="http://schemas.microsoft.com/office/drawing/2014/main" id="{C0E7581C-45F7-4DF3-AFBE-79F926B37B1C}"/>
              </a:ext>
            </a:extLst>
          </p:cNvPr>
          <p:cNvSpPr>
            <a:spLocks xmlns:a="http://schemas.openxmlformats.org/drawingml/2006/main" noGrp="1"/>
          </p:cNvSpPr>
          <p:nvPr/>
        </p:nvSpPr>
        <p:spPr>
          <a:xfrm xmlns:a="http://schemas.openxmlformats.org/drawingml/2006/main">
            <a:off x="723900" y="530542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First repair: 1 matched, 1 modified. Repeat: 1 matched, 0 modified.</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Five tickets remain, with the saved values restored.</a:t>
            </a:r>
          </a:p>
        </p:txBody>
      </p:sp>
      <p:sp>
        <p:nvSpPr>
          <p:cNvPr id="8" name="repair-context">
            <a:extLst xmlns:a="http://schemas.openxmlformats.org/drawingml/2006/main">
              <a:ext uri="{FF2B5EF4-FFF2-40B4-BE49-F238E27FC236}">
                <a16:creationId xmlns:a16="http://schemas.microsoft.com/office/drawing/2014/main" id="{8DA3D1B5-62EC-4C83-A3DB-19FE9E8472B5}"/>
              </a:ext>
            </a:extLst>
          </p:cNvPr>
          <p:cNvSpPr>
            <a:spLocks xmlns:a="http://schemas.openxmlformats.org/drawingml/2006/main" noGrp="1"/>
          </p:cNvSpPr>
          <p:nvPr/>
        </p:nvSpPr>
        <p:spPr>
          <a:xfrm xmlns:a="http://schemas.openxmlformats.org/drawingml/2006/main">
            <a:off x="723900" y="6191250"/>
            <a:ext cx="10668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11827"/>
                </a:solidFill>
                <a:latin typeface="Helvetica Neue"/>
                <a:ea typeface="Helvetica Neue"/>
                <a:cs typeface="Helvetica Neue"/>
              </a:defRPr>
            </a:pPr>
            <a:r>
              <a:rPr sz="1800" b="0">
                <a:solidFill>
                  <a:srgbClr val="111827"/>
                </a:solidFill>
                <a:latin typeface="Helvetica Neue"/>
                <a:ea typeface="Helvetica Neue"/>
                <a:cs typeface="Helvetica Neue"/>
              </a:rPr>
              <a:t>Use the verified file parse. The same saved _id identifies the existing document.</a:t>
            </a:r>
          </a:p>
        </p:txBody>
      </p:sp>
    </p:spTree>
    <p:extLst>
      <p:ext uri="{BB962C8B-B14F-4D97-AF65-F5344CB8AC3E}">
        <p14:creationId xmlns:p14="http://schemas.microsoft.com/office/powerpoint/2010/main" val="187455770"/>
      </p:ext>
    </p:extLst>
  </p:cSld>
</p:sld>
</file>

<file path=ppt/slides/slide2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06110E57-BA4E-439B-8A74-874FBF0B43A1}"/>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12  /  CST4714</a:t>
            </a:r>
          </a:p>
        </p:txBody>
      </p:sp>
      <p:sp>
        <p:nvSpPr>
          <p:cNvPr id="2" name="slide-title">
            <a:extLst xmlns:a="http://schemas.openxmlformats.org/drawingml/2006/main">
              <a:ext uri="{FF2B5EF4-FFF2-40B4-BE49-F238E27FC236}">
                <a16:creationId xmlns:a16="http://schemas.microsoft.com/office/drawing/2014/main" id="{7267A170-1A11-49AC-B9A9-1B9505DA3C59}"/>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Documents do not contain collection rules</a:t>
            </a:r>
          </a:p>
        </p:txBody>
      </p:sp>
      <p:sp>
        <p:nvSpPr>
          <p:cNvPr id="3" name="">
            <a:extLst xmlns:a="http://schemas.openxmlformats.org/drawingml/2006/main">
              <a:ext uri="{FF2B5EF4-FFF2-40B4-BE49-F238E27FC236}">
                <a16:creationId xmlns:a16="http://schemas.microsoft.com/office/drawing/2014/main" id="{AF5EA755-281B-4F07-ACEB-F581FF022E7F}"/>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872F2AFC-1017-461E-9FB9-56E72C60F109}"/>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25</a:t>
            </a:r>
          </a:p>
        </p:txBody>
      </p:sp>
      <p:graphicFrame>
        <p:nvGraphicFramePr>
          <p:cNvPr id="11" name=""/>
          <p:cNvGraphicFramePr/>
          <p:nvPr/>
        </p:nvGraphicFramePr>
        <p:xfrm>
          <a:off xmlns:a="http://schemas.openxmlformats.org/drawingml/2006/main" x="685800" y="1695450"/>
          <a:ext xmlns:a="http://schemas.openxmlformats.org/drawingml/2006/main" cx="10820400" cy="3295650"/>
        </p:xfrm>
        <a:graphic xmlns:a="http://schemas.openxmlformats.org/drawingml/2006/main">
          <a:graphicData uri="http://schemas.openxmlformats.org/drawingml/2006/table">
            <a:tbl>
              <a:tblPr/>
              <a:tblGrid>
                <a:gridCol w="5219700"/>
                <a:gridCol w="2133600"/>
                <a:gridCol w="3467100"/>
              </a:tblGrid>
              <a:tr h="659130">
                <a:tc>
                  <a:txBody>
                    <a:bodyPr lIns="114300" tIns="76200" rIns="114300" bIns="76200"/>
                    <a:lstStyle/>
                    <a:p>
                      <a:r>
                        <a:rPr sz="1950" b="1">
                          <a:solidFill>
                            <a:srgbClr val="FFFFFF"/>
                          </a:solidFill>
                          <a:latin typeface="Helvetica Neue"/>
                          <a:ea typeface="Helvetica Neue"/>
                          <a:cs typeface="Helvetica Neue"/>
                        </a:rPr>
                        <a:t>Collection feature</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Source</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Document-only restore</a:t>
                      </a:r>
                    </a:p>
                  </a:txBody>
                  <a:tcPr marL="91440" marR="91440" marT="45720" marB="45720" anchor="ctr">
                    <a:solidFill>
                      <a:srgbClr val="214AE8"/>
                    </a:solidFill>
                  </a:tcPr>
                </a:tc>
              </a:tr>
              <a:tr h="659130">
                <a:tc>
                  <a:txBody>
                    <a:bodyPr lIns="114300" tIns="76200" rIns="114300" bIns="76200"/>
                    <a:lstStyle/>
                    <a:p>
                      <a:r>
                        <a:rPr sz="1950" b="0">
                          <a:solidFill>
                            <a:srgbClr val="111827"/>
                          </a:solidFill>
                          <a:latin typeface="Helvetica Neue"/>
                          <a:ea typeface="Helvetica Neue"/>
                          <a:cs typeface="Helvetica Neue"/>
                        </a:rPr>
                        <a:t>Automatic _id_ index</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Present</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Created automatically</a:t>
                      </a:r>
                    </a:p>
                  </a:txBody>
                  <a:tcPr marL="91440" marR="91440" marT="45720" marB="45720" anchor="ctr">
                    <a:solidFill>
                      <a:srgbClr val="FFFFFF"/>
                    </a:solidFill>
                  </a:tcPr>
                </a:tc>
              </a:tr>
              <a:tr h="659130">
                <a:tc>
                  <a:txBody>
                    <a:bodyPr lIns="114300" tIns="76200" rIns="114300" bIns="76200"/>
                    <a:lstStyle/>
                    <a:p>
                      <a:r>
                        <a:rPr sz="1950" b="0">
                          <a:solidFill>
                            <a:srgbClr val="111827"/>
                          </a:solidFill>
                          <a:latin typeface="Helvetica Neue"/>
                          <a:ea typeface="Helvetica Neue"/>
                          <a:cs typeface="Helvetica Neue"/>
                        </a:rPr>
                        <a:t>Unique ticket_id index</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Present</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Missing</a:t>
                      </a:r>
                    </a:p>
                  </a:txBody>
                  <a:tcPr marL="91440" marR="91440" marT="45720" marB="45720" anchor="ctr">
                    <a:solidFill>
                      <a:srgbClr val="F1F5F9"/>
                    </a:solidFill>
                  </a:tcPr>
                </a:tc>
              </a:tr>
              <a:tr h="659130">
                <a:tc>
                  <a:txBody>
                    <a:bodyPr lIns="114300" tIns="76200" rIns="114300" bIns="76200"/>
                    <a:lstStyle/>
                    <a:p>
                      <a:r>
                        <a:rPr sz="1950" b="0">
                          <a:solidFill>
                            <a:srgbClr val="111827"/>
                          </a:solidFill>
                          <a:latin typeface="Helvetica Neue"/>
                          <a:ea typeface="Helvetica Neue"/>
                          <a:cs typeface="Helvetica Neue"/>
                        </a:rPr>
                        <a:t>Status/date compound index</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Present</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Missing</a:t>
                      </a:r>
                    </a:p>
                  </a:txBody>
                  <a:tcPr marL="91440" marR="91440" marT="45720" marB="45720" anchor="ctr">
                    <a:solidFill>
                      <a:srgbClr val="FFFFFF"/>
                    </a:solidFill>
                  </a:tcPr>
                </a:tc>
              </a:tr>
              <a:tr h="659130">
                <a:tc>
                  <a:txBody>
                    <a:bodyPr lIns="114300" tIns="76200" rIns="114300" bIns="76200"/>
                    <a:lstStyle/>
                    <a:p>
                      <a:r>
                        <a:rPr sz="1950" b="0">
                          <a:solidFill>
                            <a:srgbClr val="111827"/>
                          </a:solidFill>
                          <a:latin typeface="Helvetica Neue"/>
                          <a:ea typeface="Helvetica Neue"/>
                          <a:cs typeface="Helvetica Neue"/>
                        </a:rPr>
                        <a:t>Server schema validator (Atlas path)</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Installed</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Missing</a:t>
                      </a:r>
                    </a:p>
                  </a:txBody>
                  <a:tcPr marL="91440" marR="91440" marT="45720" marB="45720" anchor="ctr">
                    <a:solidFill>
                      <a:srgbClr val="F1F5F9"/>
                    </a:solidFill>
                  </a:tcPr>
                </a:tc>
              </a:tr>
            </a:tbl>
          </a:graphicData>
        </a:graphic>
      </p:graphicFrame>
      <p:sp>
        <p:nvSpPr>
          <p:cNvPr id="6" name="metadata-limit">
            <a:extLst xmlns:a="http://schemas.openxmlformats.org/drawingml/2006/main">
              <a:ext uri="{FF2B5EF4-FFF2-40B4-BE49-F238E27FC236}">
                <a16:creationId xmlns:a16="http://schemas.microsoft.com/office/drawing/2014/main" id="{FC232401-3650-435E-9C28-F5B493D4805A}"/>
              </a:ext>
            </a:extLst>
          </p:cNvPr>
          <p:cNvSpPr>
            <a:spLocks xmlns:a="http://schemas.openxmlformats.org/drawingml/2006/main" noGrp="1"/>
          </p:cNvSpPr>
          <p:nvPr/>
        </p:nvSpPr>
        <p:spPr>
          <a:xfrm xmlns:a="http://schemas.openxmlformats.org/drawingml/2006/main">
            <a:off x="723900" y="5476875"/>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The notebook supplies definitions separately from the document JSON.</a:t>
            </a:r>
          </a:p>
          <a:p xmlns:a="http://schemas.openxmlformats.org/drawingml/2006/main">
            <a:pPr>
              <a:defRPr sz="2175" b="0">
                <a:solidFill>
                  <a:srgbClr val="111827"/>
                </a:solidFill>
                <a:latin typeface="Helvetica Neue"/>
                <a:ea typeface="Helvetica Neue"/>
                <a:cs typeface="Helvetica Neue"/>
              </a:defRPr>
            </a:pPr>
            <a:r>
              <a:rPr sz="2175" b="0">
                <a:solidFill>
                  <a:srgbClr val="111827"/>
                </a:solidFill>
                <a:latin typeface="Helvetica Neue"/>
                <a:ea typeface="Helvetica Neue"/>
                <a:cs typeface="Helvetica Neue"/>
              </a:rPr>
              <a:t>An index name alone would not describe its keys, order, or uniqueness.</a:t>
            </a:r>
          </a:p>
        </p:txBody>
      </p:sp>
    </p:spTree>
    <p:extLst>
      <p:ext uri="{BB962C8B-B14F-4D97-AF65-F5344CB8AC3E}">
        <p14:creationId xmlns:p14="http://schemas.microsoft.com/office/powerpoint/2010/main" val="187455770"/>
      </p:ext>
    </p:extLst>
  </p:cSld>
</p:sld>
</file>

<file path=ppt/slides/slide2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F0555BEC-9098-46C8-AC0C-34D6A717ACBF}"/>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12  /  CST4714</a:t>
            </a:r>
          </a:p>
        </p:txBody>
      </p:sp>
      <p:sp>
        <p:nvSpPr>
          <p:cNvPr id="2" name="slide-title">
            <a:extLst xmlns:a="http://schemas.openxmlformats.org/drawingml/2006/main">
              <a:ext uri="{FF2B5EF4-FFF2-40B4-BE49-F238E27FC236}">
                <a16:creationId xmlns:a16="http://schemas.microsoft.com/office/drawing/2014/main" id="{C337CC86-DE19-4F72-BA98-8E1A8868871F}"/>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Reconstruction of indexes and validation rules</a:t>
            </a:r>
          </a:p>
        </p:txBody>
      </p:sp>
      <p:sp>
        <p:nvSpPr>
          <p:cNvPr id="3" name="">
            <a:extLst xmlns:a="http://schemas.openxmlformats.org/drawingml/2006/main">
              <a:ext uri="{FF2B5EF4-FFF2-40B4-BE49-F238E27FC236}">
                <a16:creationId xmlns:a16="http://schemas.microsoft.com/office/drawing/2014/main" id="{03B6DDF8-2B52-405A-9191-70BDBCBE8EC0}"/>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017DAFF9-DC4B-4533-8549-0B6ACFE4A5C3}"/>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26</a:t>
            </a:r>
          </a:p>
        </p:txBody>
      </p:sp>
      <p:sp>
        <p:nvSpPr>
          <p:cNvPr id="5" name="">
            <a:extLst xmlns:a="http://schemas.openxmlformats.org/drawingml/2006/main">
              <a:ext uri="{FF2B5EF4-FFF2-40B4-BE49-F238E27FC236}">
                <a16:creationId xmlns:a16="http://schemas.microsoft.com/office/drawing/2014/main" id="{BB2CA3B1-8F09-4AF7-B496-1A95C7820679}"/>
              </a:ext>
            </a:extLst>
          </p:cNvPr>
          <p:cNvSpPr>
            <a:spLocks xmlns:a="http://schemas.openxmlformats.org/drawingml/2006/main" noGrp="1"/>
          </p:cNvSpPr>
          <p:nvPr/>
        </p:nvSpPr>
        <p:spPr>
          <a:xfrm xmlns:a="http://schemas.openxmlformats.org/drawingml/2006/main">
            <a:off x="685800" y="1657350"/>
            <a:ext cx="10820400" cy="4105275"/>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6" name="python-rules">
            <a:extLst xmlns:a="http://schemas.openxmlformats.org/drawingml/2006/main">
              <a:ext uri="{FF2B5EF4-FFF2-40B4-BE49-F238E27FC236}">
                <a16:creationId xmlns:a16="http://schemas.microsoft.com/office/drawing/2014/main" id="{D5F27EE3-D8EC-4EE1-B5A7-B8D177969067}"/>
              </a:ext>
            </a:extLst>
          </p:cNvPr>
          <p:cNvSpPr>
            <a:spLocks xmlns:a="http://schemas.openxmlformats.org/drawingml/2006/main" noGrp="1"/>
          </p:cNvSpPr>
          <p:nvPr/>
        </p:nvSpPr>
        <p:spPr>
          <a:xfrm xmlns:a="http://schemas.openxmlformats.org/drawingml/2006/main">
            <a:off x="876300" y="1828800"/>
            <a:ext cx="10439400" cy="3762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restore_tickets.create_index(</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"ticket_id", unique=True, name="unique_ticket_id"</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restore_tickets.create_index(</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[("status", 1), ("opened_at", -1)], name="status_by_date"</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if USE_ATLAS:</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restore_database.command(</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"collMod", "tickets", validator=ticket_validator,</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validationLevel="strict", validationAction="error",</a:t>
            </a:r>
          </a:p>
          <a:p xmlns:a="http://schemas.openxmlformats.org/drawingml/2006/main">
            <a:pPr>
              <a:defRPr sz="1800" b="0">
                <a:solidFill>
                  <a:srgbClr val="E2E8F0"/>
                </a:solidFill>
                <a:latin typeface="Menlo"/>
                <a:ea typeface="Menlo"/>
                <a:cs typeface="Menlo"/>
              </a:defRPr>
            </a:pPr>
            <a:r>
              <a:rPr sz="1800" b="0">
                <a:solidFill>
                  <a:srgbClr val="E2E8F0"/>
                </a:solidFill>
                <a:latin typeface="Menlo"/>
                <a:ea typeface="Menlo"/>
                <a:cs typeface="Menlo"/>
              </a:rPr>
              <a:t>    )</a:t>
            </a:r>
          </a:p>
        </p:txBody>
      </p:sp>
      <p:sp>
        <p:nvSpPr>
          <p:cNvPr id="7" name="rules-context">
            <a:extLst xmlns:a="http://schemas.openxmlformats.org/drawingml/2006/main">
              <a:ext uri="{FF2B5EF4-FFF2-40B4-BE49-F238E27FC236}">
                <a16:creationId xmlns:a16="http://schemas.microsoft.com/office/drawing/2014/main" id="{205E1F0F-E231-49ED-978A-B06A99871003}"/>
              </a:ext>
            </a:extLst>
          </p:cNvPr>
          <p:cNvSpPr>
            <a:spLocks xmlns:a="http://schemas.openxmlformats.org/drawingml/2006/main" noGrp="1"/>
          </p:cNvSpPr>
          <p:nvPr/>
        </p:nvSpPr>
        <p:spPr>
          <a:xfrm xmlns:a="http://schemas.openxmlformats.org/drawingml/2006/main">
            <a:off x="723900" y="5962650"/>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ticket_validator is the notebook's defined schema. Local mode skips collMod.</a:t>
            </a:r>
          </a:p>
          <a:p xmlns:a="http://schemas.openxmlformats.org/drawingml/2006/main">
            <a:pPr>
              <a:defRPr sz="1875" b="0">
                <a:solidFill>
                  <a:srgbClr val="111827"/>
                </a:solidFill>
                <a:latin typeface="Helvetica Neue"/>
                <a:ea typeface="Helvetica Neue"/>
                <a:cs typeface="Helvetica Neue"/>
              </a:defRPr>
            </a:pPr>
            <a:r>
              <a:rPr sz="1875" b="0">
                <a:solidFill>
                  <a:srgbClr val="111827"/>
                </a:solidFill>
                <a:latin typeface="Helvetica Neue"/>
                <a:ea typeface="Helvetica Neue"/>
                <a:cs typeface="Helvetica Neue"/>
              </a:rPr>
              <a:t>Installing a rule does not prove the restored subject is correct.</a:t>
            </a:r>
          </a:p>
        </p:txBody>
      </p:sp>
    </p:spTree>
    <p:extLst>
      <p:ext uri="{BB962C8B-B14F-4D97-AF65-F5344CB8AC3E}">
        <p14:creationId xmlns:p14="http://schemas.microsoft.com/office/powerpoint/2010/main" val="187455770"/>
      </p:ext>
    </p:extLst>
  </p:cSld>
</p:sld>
</file>

<file path=ppt/slides/slide2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04F80168-6A8B-4B45-86B5-A6320115BC5A}"/>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12  /  CST4714</a:t>
            </a:r>
          </a:p>
        </p:txBody>
      </p:sp>
      <p:sp>
        <p:nvSpPr>
          <p:cNvPr id="2" name="slide-title">
            <a:extLst xmlns:a="http://schemas.openxmlformats.org/drawingml/2006/main">
              <a:ext uri="{FF2B5EF4-FFF2-40B4-BE49-F238E27FC236}">
                <a16:creationId xmlns:a16="http://schemas.microsoft.com/office/drawing/2014/main" id="{69B7115F-B700-496E-91B0-7CA5AC7E7A19}"/>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restored rules need allowed and rejected tests</a:t>
            </a:r>
          </a:p>
        </p:txBody>
      </p:sp>
      <p:sp>
        <p:nvSpPr>
          <p:cNvPr id="3" name="">
            <a:extLst xmlns:a="http://schemas.openxmlformats.org/drawingml/2006/main">
              <a:ext uri="{FF2B5EF4-FFF2-40B4-BE49-F238E27FC236}">
                <a16:creationId xmlns:a16="http://schemas.microsoft.com/office/drawing/2014/main" id="{267B0349-D06A-4D41-A39D-DDEC3739DC71}"/>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4DAD2576-1310-48A4-A48D-B521AB45706A}"/>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27</a:t>
            </a:r>
          </a:p>
        </p:txBody>
      </p:sp>
      <p:graphicFrame>
        <p:nvGraphicFramePr>
          <p:cNvPr id="11" name=""/>
          <p:cNvGraphicFramePr/>
          <p:nvPr/>
        </p:nvGraphicFramePr>
        <p:xfrm>
          <a:off xmlns:a="http://schemas.openxmlformats.org/drawingml/2006/main" x="685800" y="1666875"/>
          <a:ext xmlns:a="http://schemas.openxmlformats.org/drawingml/2006/main" cx="10820400" cy="3448050"/>
        </p:xfrm>
        <a:graphic xmlns:a="http://schemas.openxmlformats.org/drawingml/2006/main">
          <a:graphicData uri="http://schemas.openxmlformats.org/drawingml/2006/table">
            <a:tbl>
              <a:tblPr/>
              <a:tblGrid>
                <a:gridCol w="6067425"/>
                <a:gridCol w="4752975"/>
              </a:tblGrid>
              <a:tr h="574675">
                <a:tc>
                  <a:txBody>
                    <a:bodyPr lIns="114300" tIns="76200" rIns="114300" bIns="76200"/>
                    <a:lstStyle/>
                    <a:p>
                      <a:r>
                        <a:rPr sz="1950" b="1">
                          <a:solidFill>
                            <a:srgbClr val="FFFFFF"/>
                          </a:solidFill>
                          <a:latin typeface="Helvetica Neue"/>
                          <a:ea typeface="Helvetica Neue"/>
                          <a:cs typeface="Helvetica Neue"/>
                        </a:rPr>
                        <a:t>Test</a:t>
                      </a:r>
                    </a:p>
                  </a:txBody>
                  <a:tcPr marL="91440" marR="91440" marT="45720" marB="45720" anchor="ctr">
                    <a:solidFill>
                      <a:srgbClr val="214AE8"/>
                    </a:solidFill>
                  </a:tcPr>
                </a:tc>
                <a:tc>
                  <a:txBody>
                    <a:bodyPr lIns="114300" tIns="76200" rIns="114300" bIns="76200"/>
                    <a:lstStyle/>
                    <a:p>
                      <a:r>
                        <a:rPr sz="1950" b="1">
                          <a:solidFill>
                            <a:srgbClr val="FFFFFF"/>
                          </a:solidFill>
                          <a:latin typeface="Helvetica Neue"/>
                          <a:ea typeface="Helvetica Neue"/>
                          <a:cs typeface="Helvetica Neue"/>
                        </a:rPr>
                        <a:t>Expected behavior</a:t>
                      </a:r>
                    </a:p>
                  </a:txBody>
                  <a:tcPr marL="91440" marR="91440" marT="45720" marB="45720" anchor="ctr">
                    <a:solidFill>
                      <a:srgbClr val="214AE8"/>
                    </a:solidFill>
                  </a:tcPr>
                </a:tc>
              </a:tr>
              <a:tr h="574675">
                <a:tc>
                  <a:txBody>
                    <a:bodyPr lIns="114300" tIns="76200" rIns="114300" bIns="76200"/>
                    <a:lstStyle/>
                    <a:p>
                      <a:r>
                        <a:rPr sz="1950" b="0">
                          <a:solidFill>
                            <a:srgbClr val="111827"/>
                          </a:solidFill>
                          <a:latin typeface="Helvetica Neue"/>
                          <a:ea typeface="Helvetica Neue"/>
                          <a:cs typeface="Helvetica Neue"/>
                        </a:rPr>
                        <a:t>Valid new ticket 1099</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Accept</a:t>
                      </a:r>
                    </a:p>
                  </a:txBody>
                  <a:tcPr marL="91440" marR="91440" marT="45720" marB="45720" anchor="ctr">
                    <a:solidFill>
                      <a:srgbClr val="FFFFFF"/>
                    </a:solidFill>
                  </a:tcPr>
                </a:tc>
              </a:tr>
              <a:tr h="574675">
                <a:tc>
                  <a:txBody>
                    <a:bodyPr lIns="114300" tIns="76200" rIns="114300" bIns="76200"/>
                    <a:lstStyle/>
                    <a:p>
                      <a:r>
                        <a:rPr sz="1950" b="0">
                          <a:solidFill>
                            <a:srgbClr val="111827"/>
                          </a:solidFill>
                          <a:latin typeface="Helvetica Neue"/>
                          <a:ea typeface="Helvetica Neue"/>
                          <a:cs typeface="Helvetica Neue"/>
                        </a:rPr>
                        <a:t>Second document with ticket_id 1001</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Reject duplicate key: 11000</a:t>
                      </a:r>
                    </a:p>
                  </a:txBody>
                  <a:tcPr marL="91440" marR="91440" marT="45720" marB="45720" anchor="ctr">
                    <a:solidFill>
                      <a:srgbClr val="F1F5F9"/>
                    </a:solidFill>
                  </a:tcPr>
                </a:tc>
              </a:tr>
              <a:tr h="574675">
                <a:tc>
                  <a:txBody>
                    <a:bodyPr lIns="114300" tIns="76200" rIns="114300" bIns="76200"/>
                    <a:lstStyle/>
                    <a:p>
                      <a:r>
                        <a:rPr sz="1950" b="0">
                          <a:solidFill>
                            <a:srgbClr val="111827"/>
                          </a:solidFill>
                          <a:latin typeface="Helvetica Neue"/>
                          <a:ea typeface="Helvetica Neue"/>
                          <a:cs typeface="Helvetica Neue"/>
                        </a:rPr>
                        <a:t>1100: status almost_done</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Reject validation: 121</a:t>
                      </a:r>
                    </a:p>
                  </a:txBody>
                  <a:tcPr marL="91440" marR="91440" marT="45720" marB="45720" anchor="ctr">
                    <a:solidFill>
                      <a:srgbClr val="FFFFFF"/>
                    </a:solidFill>
                  </a:tcPr>
                </a:tc>
              </a:tr>
              <a:tr h="574675">
                <a:tc>
                  <a:txBody>
                    <a:bodyPr lIns="114300" tIns="76200" rIns="114300" bIns="76200"/>
                    <a:lstStyle/>
                    <a:p>
                      <a:r>
                        <a:rPr sz="1950" b="0">
                          <a:solidFill>
                            <a:srgbClr val="111827"/>
                          </a:solidFill>
                          <a:latin typeface="Helvetica Neue"/>
                          <a:ea typeface="Helvetica Neue"/>
                          <a:cs typeface="Helvetica Neue"/>
                        </a:rPr>
                        <a:t>1101: date stored as text</a:t>
                      </a:r>
                    </a:p>
                  </a:txBody>
                  <a:tcPr marL="91440" marR="91440" marT="45720" marB="45720" anchor="ctr">
                    <a:solidFill>
                      <a:srgbClr val="F1F5F9"/>
                    </a:solidFill>
                  </a:tcPr>
                </a:tc>
                <a:tc>
                  <a:txBody>
                    <a:bodyPr lIns="114300" tIns="76200" rIns="114300" bIns="76200"/>
                    <a:lstStyle/>
                    <a:p>
                      <a:r>
                        <a:rPr sz="1950" b="0">
                          <a:solidFill>
                            <a:srgbClr val="111827"/>
                          </a:solidFill>
                          <a:latin typeface="Helvetica Neue"/>
                          <a:ea typeface="Helvetica Neue"/>
                          <a:cs typeface="Helvetica Neue"/>
                        </a:rPr>
                        <a:t>Reject validation: 121</a:t>
                      </a:r>
                    </a:p>
                  </a:txBody>
                  <a:tcPr marL="91440" marR="91440" marT="45720" marB="45720" anchor="ctr">
                    <a:solidFill>
                      <a:srgbClr val="F1F5F9"/>
                    </a:solidFill>
                  </a:tcPr>
                </a:tc>
              </a:tr>
              <a:tr h="574675">
                <a:tc>
                  <a:txBody>
                    <a:bodyPr lIns="114300" tIns="76200" rIns="114300" bIns="76200"/>
                    <a:lstStyle/>
                    <a:p>
                      <a:r>
                        <a:rPr sz="1950" b="0">
                          <a:solidFill>
                            <a:srgbClr val="111827"/>
                          </a:solidFill>
                          <a:latin typeface="Helvetica Neue"/>
                          <a:ea typeface="Helvetica Neue"/>
                          <a:cs typeface="Helvetica Neue"/>
                        </a:rPr>
                        <a:t>1102: missing opened_at</a:t>
                      </a:r>
                    </a:p>
                  </a:txBody>
                  <a:tcPr marL="91440" marR="91440" marT="45720" marB="45720" anchor="ctr">
                    <a:solidFill>
                      <a:srgbClr val="FFFFFF"/>
                    </a:solidFill>
                  </a:tcPr>
                </a:tc>
                <a:tc>
                  <a:txBody>
                    <a:bodyPr lIns="114300" tIns="76200" rIns="114300" bIns="76200"/>
                    <a:lstStyle/>
                    <a:p>
                      <a:r>
                        <a:rPr sz="1950" b="0">
                          <a:solidFill>
                            <a:srgbClr val="111827"/>
                          </a:solidFill>
                          <a:latin typeface="Helvetica Neue"/>
                          <a:ea typeface="Helvetica Neue"/>
                          <a:cs typeface="Helvetica Neue"/>
                        </a:rPr>
                        <a:t>Reject validation: 121</a:t>
                      </a:r>
                    </a:p>
                  </a:txBody>
                  <a:tcPr marL="91440" marR="91440" marT="45720" marB="45720" anchor="ctr">
                    <a:solidFill>
                      <a:srgbClr val="FFFFFF"/>
                    </a:solidFill>
                  </a:tcPr>
                </a:tc>
              </a:tr>
            </a:tbl>
          </a:graphicData>
        </a:graphic>
      </p:graphicFrame>
      <p:sp>
        <p:nvSpPr>
          <p:cNvPr id="6" name="test-scope">
            <a:extLst xmlns:a="http://schemas.openxmlformats.org/drawingml/2006/main">
              <a:ext uri="{FF2B5EF4-FFF2-40B4-BE49-F238E27FC236}">
                <a16:creationId xmlns:a16="http://schemas.microsoft.com/office/drawing/2014/main" id="{153E7EF3-D98B-45DF-BDEA-145AC5761A81}"/>
              </a:ext>
            </a:extLst>
          </p:cNvPr>
          <p:cNvSpPr>
            <a:spLocks xmlns:a="http://schemas.openxmlformats.org/drawingml/2006/main" noGrp="1"/>
          </p:cNvSpPr>
          <p:nvPr/>
        </p:nvSpPr>
        <p:spPr>
          <a:xfrm xmlns:a="http://schemas.openxmlformats.org/drawingml/2006/main">
            <a:off x="723900" y="547687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Both paths test the unique index. Atlas also executes the schema tests.</a:t>
            </a:r>
          </a:p>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Local schema output is a supplied trace, not server enforcement.</a:t>
            </a:r>
          </a:p>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The notebook removes temporary test documents and keeps the five tickets.</a:t>
            </a:r>
          </a:p>
        </p:txBody>
      </p:sp>
    </p:spTree>
    <p:extLst>
      <p:ext uri="{BB962C8B-B14F-4D97-AF65-F5344CB8AC3E}">
        <p14:creationId xmlns:p14="http://schemas.microsoft.com/office/powerpoint/2010/main" val="187455770"/>
      </p:ext>
    </p:extLst>
  </p:cSld>
</p:sld>
</file>

<file path=ppt/slides/slide2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B6A2CA41-AB3A-4475-B228-81C5D60F0607}"/>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12  /  CST4714</a:t>
            </a:r>
          </a:p>
        </p:txBody>
      </p:sp>
      <p:sp>
        <p:nvSpPr>
          <p:cNvPr id="2" name="slide-title">
            <a:extLst xmlns:a="http://schemas.openxmlformats.org/drawingml/2006/main">
              <a:ext uri="{FF2B5EF4-FFF2-40B4-BE49-F238E27FC236}">
                <a16:creationId xmlns:a16="http://schemas.microsoft.com/office/drawing/2014/main" id="{3352E879-BAE3-4CEA-AA46-1DACB2A9347B}"/>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The recovery artifacts have different scopes</a:t>
            </a:r>
          </a:p>
        </p:txBody>
      </p:sp>
      <p:sp>
        <p:nvSpPr>
          <p:cNvPr id="3" name="">
            <a:extLst xmlns:a="http://schemas.openxmlformats.org/drawingml/2006/main">
              <a:ext uri="{FF2B5EF4-FFF2-40B4-BE49-F238E27FC236}">
                <a16:creationId xmlns:a16="http://schemas.microsoft.com/office/drawing/2014/main" id="{7ED85C31-CF6F-4DF7-AFE0-DB11E2F3A45D}"/>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FD9744F0-D5C9-4368-A5E9-D8653EDD535E}"/>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28</a:t>
            </a:r>
          </a:p>
        </p:txBody>
      </p:sp>
      <p:graphicFrame>
        <p:nvGraphicFramePr>
          <p:cNvPr id="11" name=""/>
          <p:cNvGraphicFramePr/>
          <p:nvPr/>
        </p:nvGraphicFramePr>
        <p:xfrm>
          <a:off xmlns:a="http://schemas.openxmlformats.org/drawingml/2006/main" x="685800" y="1714500"/>
          <a:ext xmlns:a="http://schemas.openxmlformats.org/drawingml/2006/main" cx="10820400" cy="3314700"/>
        </p:xfrm>
        <a:graphic xmlns:a="http://schemas.openxmlformats.org/drawingml/2006/main">
          <a:graphicData uri="http://schemas.openxmlformats.org/drawingml/2006/table">
            <a:tbl>
              <a:tblPr/>
              <a:tblGrid>
                <a:gridCol w="3048000"/>
                <a:gridCol w="2438400"/>
                <a:gridCol w="2762250"/>
                <a:gridCol w="2571750"/>
              </a:tblGrid>
              <a:tr h="828675">
                <a:tc>
                  <a:txBody>
                    <a:bodyPr lIns="114300" tIns="76200" rIns="114300" bIns="76200"/>
                    <a:lstStyle/>
                    <a:p>
                      <a:r>
                        <a:rPr sz="1800" b="1">
                          <a:solidFill>
                            <a:srgbClr val="FFFFFF"/>
                          </a:solidFill>
                          <a:latin typeface="Helvetica Neue"/>
                          <a:ea typeface="Helvetica Neue"/>
                          <a:cs typeface="Helvetica Neue"/>
                        </a:rPr>
                        <a:t>Artifact</a:t>
                      </a:r>
                    </a:p>
                  </a:txBody>
                  <a:tcPr marL="91440" marR="91440" marT="45720" marB="45720" anchor="ctr">
                    <a:solidFill>
                      <a:srgbClr val="214AE8"/>
                    </a:solidFill>
                  </a:tcPr>
                </a:tc>
                <a:tc>
                  <a:txBody>
                    <a:bodyPr lIns="114300" tIns="76200" rIns="114300" bIns="76200"/>
                    <a:lstStyle/>
                    <a:p>
                      <a:r>
                        <a:rPr sz="1800" b="1">
                          <a:solidFill>
                            <a:srgbClr val="FFFFFF"/>
                          </a:solidFill>
                          <a:latin typeface="Helvetica Neue"/>
                          <a:ea typeface="Helvetica Neue"/>
                          <a:cs typeface="Helvetica Neue"/>
                        </a:rPr>
                        <a:t>Documents / rows</a:t>
                      </a:r>
                    </a:p>
                  </a:txBody>
                  <a:tcPr marL="91440" marR="91440" marT="45720" marB="45720" anchor="ctr">
                    <a:solidFill>
                      <a:srgbClr val="214AE8"/>
                    </a:solidFill>
                  </a:tcPr>
                </a:tc>
                <a:tc>
                  <a:txBody>
                    <a:bodyPr lIns="114300" tIns="76200" rIns="114300" bIns="76200"/>
                    <a:lstStyle/>
                    <a:p>
                      <a:r>
                        <a:rPr sz="1800" b="1">
                          <a:solidFill>
                            <a:srgbClr val="FFFFFF"/>
                          </a:solidFill>
                          <a:latin typeface="Helvetica Neue"/>
                          <a:ea typeface="Helvetica Neue"/>
                          <a:cs typeface="Helvetica Neue"/>
                        </a:rPr>
                        <a:t>Rules in its scope</a:t>
                      </a:r>
                    </a:p>
                  </a:txBody>
                  <a:tcPr marL="91440" marR="91440" marT="45720" marB="45720" anchor="ctr">
                    <a:solidFill>
                      <a:srgbClr val="214AE8"/>
                    </a:solidFill>
                  </a:tcPr>
                </a:tc>
                <a:tc>
                  <a:txBody>
                    <a:bodyPr lIns="114300" tIns="76200" rIns="114300" bIns="76200"/>
                    <a:lstStyle/>
                    <a:p>
                      <a:r>
                        <a:rPr sz="1800" b="1">
                          <a:solidFill>
                            <a:srgbClr val="FFFFFF"/>
                          </a:solidFill>
                          <a:latin typeface="Helvetica Neue"/>
                          <a:ea typeface="Helvetica Neue"/>
                          <a:cs typeface="Helvetica Neue"/>
                        </a:rPr>
                        <a:t>Hosted project settings</a:t>
                      </a:r>
                    </a:p>
                  </a:txBody>
                  <a:tcPr marL="91440" marR="91440" marT="45720" marB="45720" anchor="ctr">
                    <a:solidFill>
                      <a:srgbClr val="214AE8"/>
                    </a:solidFill>
                  </a:tcPr>
                </a:tc>
              </a:tr>
              <a:tr h="828675">
                <a:tc>
                  <a:txBody>
                    <a:bodyPr lIns="114300" tIns="76200" rIns="114300" bIns="76200"/>
                    <a:lstStyle/>
                    <a:p>
                      <a:r>
                        <a:rPr sz="1800" b="0">
                          <a:solidFill>
                            <a:srgbClr val="111827"/>
                          </a:solidFill>
                          <a:latin typeface="Helvetica Neue"/>
                          <a:ea typeface="Helvetica Neue"/>
                          <a:cs typeface="Helvetica Neue"/>
                        </a:rPr>
                        <a:t>This Extended JSON file</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Selected collection</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Rebuilt separately</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No</a:t>
                      </a:r>
                    </a:p>
                  </a:txBody>
                  <a:tcPr marL="91440" marR="91440" marT="45720" marB="45720" anchor="ctr">
                    <a:solidFill>
                      <a:srgbClr val="FFFFFF"/>
                    </a:solidFill>
                  </a:tcPr>
                </a:tc>
              </a:tr>
              <a:tr h="828675">
                <a:tc>
                  <a:txBody>
                    <a:bodyPr lIns="114300" tIns="76200" rIns="114300" bIns="76200"/>
                    <a:lstStyle/>
                    <a:p>
                      <a:r>
                        <a:rPr sz="1800" b="0">
                          <a:solidFill>
                            <a:srgbClr val="111827"/>
                          </a:solidFill>
                          <a:latin typeface="Helvetica Neue"/>
                          <a:ea typeface="Helvetica Neue"/>
                          <a:cs typeface="Helvetica Neue"/>
                        </a:rPr>
                        <a:t>MongoDB logical dump</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Selected namespaces</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Metadata and indexes</a:t>
                      </a:r>
                    </a:p>
                  </a:txBody>
                  <a:tcPr marL="91440" marR="91440" marT="45720" marB="45720" anchor="ctr">
                    <a:solidFill>
                      <a:srgbClr val="F1F5F9"/>
                    </a:solidFill>
                  </a:tcPr>
                </a:tc>
                <a:tc>
                  <a:txBody>
                    <a:bodyPr lIns="114300" tIns="76200" rIns="114300" bIns="76200"/>
                    <a:lstStyle/>
                    <a:p>
                      <a:r>
                        <a:rPr sz="1800" b="0">
                          <a:solidFill>
                            <a:srgbClr val="111827"/>
                          </a:solidFill>
                          <a:latin typeface="Helvetica Neue"/>
                          <a:ea typeface="Helvetica Neue"/>
                          <a:cs typeface="Helvetica Neue"/>
                        </a:rPr>
                        <a:t>Not the whole project</a:t>
                      </a:r>
                    </a:p>
                  </a:txBody>
                  <a:tcPr marL="91440" marR="91440" marT="45720" marB="45720" anchor="ctr">
                    <a:solidFill>
                      <a:srgbClr val="F1F5F9"/>
                    </a:solidFill>
                  </a:tcPr>
                </a:tc>
              </a:tr>
              <a:tr h="828675">
                <a:tc>
                  <a:txBody>
                    <a:bodyPr lIns="114300" tIns="76200" rIns="114300" bIns="76200"/>
                    <a:lstStyle/>
                    <a:p>
                      <a:r>
                        <a:rPr sz="1800" b="0">
                          <a:solidFill>
                            <a:srgbClr val="111827"/>
                          </a:solidFill>
                          <a:latin typeface="Helvetica Neue"/>
                          <a:ea typeface="Helvetica Neue"/>
                          <a:cs typeface="Helvetica Neue"/>
                        </a:rPr>
                        <a:t>Week 8 PostgreSQL archive</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Selected database content</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Schema and constraints</a:t>
                      </a:r>
                    </a:p>
                  </a:txBody>
                  <a:tcPr marL="91440" marR="91440" marT="45720" marB="45720" anchor="ctr">
                    <a:solidFill>
                      <a:srgbClr val="FFFFFF"/>
                    </a:solidFill>
                  </a:tcPr>
                </a:tc>
                <a:tc>
                  <a:txBody>
                    <a:bodyPr lIns="114300" tIns="76200" rIns="114300" bIns="76200"/>
                    <a:lstStyle/>
                    <a:p>
                      <a:r>
                        <a:rPr sz="1800" b="0">
                          <a:solidFill>
                            <a:srgbClr val="111827"/>
                          </a:solidFill>
                          <a:latin typeface="Helvetica Neue"/>
                          <a:ea typeface="Helvetica Neue"/>
                          <a:cs typeface="Helvetica Neue"/>
                        </a:rPr>
                        <a:t>Not the whole project</a:t>
                      </a:r>
                    </a:p>
                  </a:txBody>
                  <a:tcPr marL="91440" marR="91440" marT="45720" marB="45720" anchor="ctr">
                    <a:solidFill>
                      <a:srgbClr val="FFFFFF"/>
                    </a:solidFill>
                  </a:tcPr>
                </a:tc>
              </a:tr>
            </a:tbl>
          </a:graphicData>
        </a:graphic>
      </p:graphicFrame>
      <p:sp>
        <p:nvSpPr>
          <p:cNvPr id="6" name="dump-limit">
            <a:extLst xmlns:a="http://schemas.openxmlformats.org/drawingml/2006/main">
              <a:ext uri="{FF2B5EF4-FFF2-40B4-BE49-F238E27FC236}">
                <a16:creationId xmlns:a16="http://schemas.microsoft.com/office/drawing/2014/main" id="{708097DD-434A-4B50-A4CB-D2A13CBAF80E}"/>
              </a:ext>
            </a:extLst>
          </p:cNvPr>
          <p:cNvSpPr>
            <a:spLocks xmlns:a="http://schemas.openxmlformats.org/drawingml/2006/main" noGrp="1"/>
          </p:cNvSpPr>
          <p:nvPr/>
        </p:nvSpPr>
        <p:spPr>
          <a:xfrm xmlns:a="http://schemas.openxmlformats.org/drawingml/2006/main">
            <a:off x="723900" y="54959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The classroom data stays unchanged during export.</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A busy application also needs a way to capture related data consistently</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and a plan for switching the application to its restored database.</a:t>
            </a:r>
          </a:p>
        </p:txBody>
      </p:sp>
    </p:spTree>
    <p:extLst>
      <p:ext uri="{BB962C8B-B14F-4D97-AF65-F5344CB8AC3E}">
        <p14:creationId xmlns:p14="http://schemas.microsoft.com/office/powerpoint/2010/main" val="187455770"/>
      </p:ext>
    </p:extLst>
  </p:cSld>
</p:sld>
</file>

<file path=ppt/slides/slide2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57DB5705-B7C7-4DF7-9B60-5900A3324310}"/>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12  /  CST4714</a:t>
            </a:r>
          </a:p>
        </p:txBody>
      </p:sp>
      <p:sp>
        <p:nvSpPr>
          <p:cNvPr id="2" name="slide-title">
            <a:extLst xmlns:a="http://schemas.openxmlformats.org/drawingml/2006/main">
              <a:ext uri="{FF2B5EF4-FFF2-40B4-BE49-F238E27FC236}">
                <a16:creationId xmlns:a16="http://schemas.microsoft.com/office/drawing/2014/main" id="{7AA3FFD9-8D26-4174-87B4-C0BBABE743C6}"/>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Lab 2: one repair and one recovery recommendation</a:t>
            </a:r>
          </a:p>
        </p:txBody>
      </p:sp>
      <p:sp>
        <p:nvSpPr>
          <p:cNvPr id="3" name="">
            <a:extLst xmlns:a="http://schemas.openxmlformats.org/drawingml/2006/main">
              <a:ext uri="{FF2B5EF4-FFF2-40B4-BE49-F238E27FC236}">
                <a16:creationId xmlns:a16="http://schemas.microsoft.com/office/drawing/2014/main" id="{867BF712-5443-4F22-AE43-2892C35D6D05}"/>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CC400EB8-92D8-4CF8-839B-D27065FCCE22}"/>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29</a:t>
            </a:r>
          </a:p>
        </p:txBody>
      </p:sp>
      <p:sp>
        <p:nvSpPr>
          <p:cNvPr id="5" name="lab2">
            <a:extLst xmlns:a="http://schemas.openxmlformats.org/drawingml/2006/main">
              <a:ext uri="{FF2B5EF4-FFF2-40B4-BE49-F238E27FC236}">
                <a16:creationId xmlns:a16="http://schemas.microsoft.com/office/drawing/2014/main" id="{18BF8E25-D55A-4046-8D39-626E63D5BE13}"/>
              </a:ext>
            </a:extLst>
          </p:cNvPr>
          <p:cNvSpPr>
            <a:spLocks xmlns:a="http://schemas.openxmlformats.org/drawingml/2006/main" noGrp="1"/>
          </p:cNvSpPr>
          <p:nvPr/>
        </p:nvSpPr>
        <p:spPr>
          <a:xfrm xmlns:a="http://schemas.openxmlformats.org/drawingml/2006/main">
            <a:off x="723900" y="1743075"/>
            <a:ext cx="106680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In Notebook 05, choose ticket 1001 or 1004 and complete the repair.</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Explain the missed error, a separately restored rule, and the archive difference.</a:t>
            </a:r>
          </a:p>
          <a:p xmlns:a="http://schemas.openxmlformats.org/drawingml/2006/main">
            <a:pPr>
              <a:defRPr sz="2250" b="0">
                <a:solidFill>
                  <a:srgbClr val="111827"/>
                </a:solidFill>
                <a:latin typeface="Helvetica Neue"/>
                <a:ea typeface="Helvetica Neue"/>
                <a:cs typeface="Helvetica Neue"/>
              </a:defRPr>
            </a:pPr>
            <a:r>
              <a:rPr sz="2250" b="0">
                <a:solidFill>
                  <a:srgbClr val="111827"/>
                </a:solidFill>
                <a:latin typeface="Helvetica Neue"/>
                <a:ea typeface="Helvetica Neue"/>
                <a:cs typeface="Helvetica Neue"/>
              </a:rPr>
              <a:t>Submit the completed notebook in Brightspace, individually.</a:t>
            </a:r>
          </a:p>
        </p:txBody>
      </p:sp>
      <p:sp>
        <p:nvSpPr>
          <p:cNvPr id="6" name="">
            <a:extLst xmlns:a="http://schemas.openxmlformats.org/drawingml/2006/main">
              <a:ext uri="{FF2B5EF4-FFF2-40B4-BE49-F238E27FC236}">
                <a16:creationId xmlns:a16="http://schemas.microsoft.com/office/drawing/2014/main" id="{8A1C79CE-0AA8-4069-A19A-451BAB1C0BCC}"/>
              </a:ext>
            </a:extLst>
          </p:cNvPr>
          <p:cNvSpPr>
            <a:spLocks xmlns:a="http://schemas.openxmlformats.org/drawingml/2006/main" noGrp="1"/>
          </p:cNvSpPr>
          <p:nvPr/>
        </p:nvSpPr>
        <p:spPr>
          <a:xfrm xmlns:a="http://schemas.openxmlformats.org/drawingml/2006/main">
            <a:off x="685800" y="3705225"/>
            <a:ext cx="10820400" cy="1905000"/>
          </a:xfrm>
          <a:prstGeom xmlns:a="http://schemas.openxmlformats.org/drawingml/2006/main" prst="rect">
            <a:avLst/>
          </a:prstGeom>
          <a:solidFill xmlns:a="http://schemas.openxmlformats.org/drawingml/2006/main">
            <a:srgbClr val="101728"/>
          </a:solidFill>
          <a:ln xmlns:a="http://schemas.openxmlformats.org/drawingml/2006/main" w="0">
            <a:solidFill>
              <a:srgbClr val="101728"/>
            </a:solidFill>
          </a:ln>
        </p:spPr>
      </p:sp>
      <p:sp>
        <p:nvSpPr>
          <p:cNvPr id="7" name="python-cleanup">
            <a:extLst xmlns:a="http://schemas.openxmlformats.org/drawingml/2006/main">
              <a:ext uri="{FF2B5EF4-FFF2-40B4-BE49-F238E27FC236}">
                <a16:creationId xmlns:a16="http://schemas.microsoft.com/office/drawing/2014/main" id="{79926F97-8111-4325-B27E-2C51F7F650A1}"/>
              </a:ext>
            </a:extLst>
          </p:cNvPr>
          <p:cNvSpPr>
            <a:spLocks xmlns:a="http://schemas.openxmlformats.org/drawingml/2006/main" noGrp="1"/>
          </p:cNvSpPr>
          <p:nvPr/>
        </p:nvSpPr>
        <p:spPr>
          <a:xfrm xmlns:a="http://schemas.openxmlformats.org/drawingml/2006/main">
            <a:off x="876300" y="3876675"/>
            <a:ext cx="104394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source_database.drop_collection("tickets")</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restore_database.drop_collection("tickets")</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EXPORT_FILE.unlink(missing_ok=True)</a:t>
            </a:r>
          </a:p>
          <a:p xmlns:a="http://schemas.openxmlformats.org/drawingml/2006/main">
            <a:pPr>
              <a:defRPr sz="1950" b="0">
                <a:solidFill>
                  <a:srgbClr val="E2E8F0"/>
                </a:solidFill>
                <a:latin typeface="Menlo"/>
                <a:ea typeface="Menlo"/>
                <a:cs typeface="Menlo"/>
              </a:defRPr>
            </a:pPr>
            <a:r>
              <a:rPr sz="1950" b="0">
                <a:solidFill>
                  <a:srgbClr val="E2E8F0"/>
                </a:solidFill>
                <a:latin typeface="Menlo"/>
                <a:ea typeface="Menlo"/>
                <a:cs typeface="Menlo"/>
              </a:rPr>
              <a:t>client.close()</a:t>
            </a:r>
          </a:p>
        </p:txBody>
      </p:sp>
      <p:sp>
        <p:nvSpPr>
          <p:cNvPr id="8" name="cleanup-boundary">
            <a:extLst xmlns:a="http://schemas.openxmlformats.org/drawingml/2006/main">
              <a:ext uri="{FF2B5EF4-FFF2-40B4-BE49-F238E27FC236}">
                <a16:creationId xmlns:a16="http://schemas.microsoft.com/office/drawing/2014/main" id="{78DA96BF-0A8D-4D72-AD44-3CDB84B3F978}"/>
              </a:ext>
            </a:extLst>
          </p:cNvPr>
          <p:cNvSpPr>
            <a:spLocks xmlns:a="http://schemas.openxmlformats.org/drawingml/2006/main" noGrp="1"/>
          </p:cNvSpPr>
          <p:nvPr/>
        </p:nvSpPr>
        <p:spPr>
          <a:xfrm xmlns:a="http://schemas.openxmlformats.org/drawingml/2006/main">
            <a:off x="723900" y="59245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Remove the temporary Atlas IP rule separately and clear its printed output.</a:t>
            </a:r>
          </a:p>
          <a:p xmlns:a="http://schemas.openxmlformats.org/drawingml/2006/main">
            <a:pPr>
              <a:defRPr sz="1950" b="0">
                <a:solidFill>
                  <a:srgbClr val="111827"/>
                </a:solidFill>
                <a:latin typeface="Helvetica Neue"/>
                <a:ea typeface="Helvetica Neue"/>
                <a:cs typeface="Helvetica Neue"/>
              </a:defRPr>
            </a:pPr>
            <a:r>
              <a:rPr sz="1950" b="0">
                <a:solidFill>
                  <a:srgbClr val="111827"/>
                </a:solidFill>
                <a:latin typeface="Helvetica Neue"/>
                <a:ea typeface="Helvetica Neue"/>
                <a:cs typeface="Helvetica Neue"/>
              </a:rPr>
              <a:t>No separate report, data-file attachment, or shared-cluster deletion.</a:t>
            </a:r>
          </a:p>
        </p:txBody>
      </p:sp>
    </p:spTree>
    <p:extLst>
      <p:ext uri="{BB962C8B-B14F-4D97-AF65-F5344CB8AC3E}">
        <p14:creationId xmlns:p14="http://schemas.microsoft.com/office/powerpoint/2010/main" val="187455770"/>
      </p:ext>
    </p:extLst>
  </p:cSld>
</p:sld>
</file>

<file path=ppt/slides/slide3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F5285078-AF8E-4708-A4B0-1D1ABA12E754}"/>
              </a:ext>
            </a:extLst>
          </p:cNvPr>
          <p:cNvSpPr>
            <a:spLocks xmlns:a="http://schemas.openxmlformats.org/drawingml/2006/main" noGrp="1"/>
          </p:cNvSpPr>
          <p:nvPr/>
        </p:nvSpPr>
        <p:spPr>
          <a:xfrm xmlns:a="http://schemas.openxmlformats.org/drawingml/2006/main">
            <a:off x="609600" y="295275"/>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b="1">
                <a:solidFill>
                  <a:srgbClr val="214AE8"/>
                </a:solidFill>
                <a:latin typeface="Helvetica Neue"/>
                <a:ea typeface="Helvetica Neue"/>
                <a:cs typeface="Helvetica Neue"/>
              </a:defRPr>
            </a:pPr>
            <a:r>
              <a:rPr sz="1050" b="1">
                <a:solidFill>
                  <a:srgbClr val="214AE8"/>
                </a:solidFill>
                <a:latin typeface="Helvetica Neue"/>
                <a:ea typeface="Helvetica Neue"/>
                <a:cs typeface="Helvetica Neue"/>
              </a:rPr>
              <a:t>WEEK 12  /  CST4714</a:t>
            </a:r>
          </a:p>
        </p:txBody>
      </p:sp>
      <p:sp>
        <p:nvSpPr>
          <p:cNvPr id="2" name="slide-title">
            <a:extLst xmlns:a="http://schemas.openxmlformats.org/drawingml/2006/main">
              <a:ext uri="{FF2B5EF4-FFF2-40B4-BE49-F238E27FC236}">
                <a16:creationId xmlns:a16="http://schemas.microsoft.com/office/drawing/2014/main" id="{5E237B49-9FB8-41A9-A8ED-F63012526DA9}"/>
              </a:ext>
            </a:extLst>
          </p:cNvPr>
          <p:cNvSpPr>
            <a:spLocks xmlns:a="http://schemas.openxmlformats.org/drawingml/2006/main" noGrp="1"/>
          </p:cNvSpPr>
          <p:nvPr/>
        </p:nvSpPr>
        <p:spPr>
          <a:xfrm xmlns:a="http://schemas.openxmlformats.org/drawingml/2006/main">
            <a:off x="609600" y="6191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11827"/>
                </a:solidFill>
                <a:latin typeface="Helvetica Neue"/>
                <a:ea typeface="Helvetica Neue"/>
                <a:cs typeface="Helvetica Neue"/>
              </a:defRPr>
            </a:pPr>
            <a:r>
              <a:rPr sz="2775" b="1">
                <a:solidFill>
                  <a:srgbClr val="111827"/>
                </a:solidFill>
                <a:latin typeface="Helvetica Neue"/>
                <a:ea typeface="Helvetica Neue"/>
                <a:cs typeface="Helvetica Neue"/>
              </a:rPr>
              <a:t>Describing the recovery work in an interview</a:t>
            </a:r>
          </a:p>
        </p:txBody>
      </p:sp>
      <p:sp>
        <p:nvSpPr>
          <p:cNvPr id="3" name="">
            <a:extLst xmlns:a="http://schemas.openxmlformats.org/drawingml/2006/main">
              <a:ext uri="{FF2B5EF4-FFF2-40B4-BE49-F238E27FC236}">
                <a16:creationId xmlns:a16="http://schemas.microsoft.com/office/drawing/2014/main" id="{7D052A4E-5C98-4FBD-81B6-A97EE1649556}"/>
              </a:ext>
            </a:extLst>
          </p:cNvPr>
          <p:cNvSpPr>
            <a:spLocks xmlns:a="http://schemas.openxmlformats.org/drawingml/2006/main" noGrp="1"/>
          </p:cNvSpPr>
          <p:nvPr/>
        </p:nvSpPr>
        <p:spPr>
          <a:xfrm xmlns:a="http://schemas.openxmlformats.org/drawingml/2006/main">
            <a:off x="609600" y="1295400"/>
            <a:ext cx="109728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ln>
        </p:spPr>
      </p:sp>
      <p:sp>
        <p:nvSpPr>
          <p:cNvPr id="4" name="slide-number">
            <a:extLst xmlns:a="http://schemas.openxmlformats.org/drawingml/2006/main">
              <a:ext uri="{FF2B5EF4-FFF2-40B4-BE49-F238E27FC236}">
                <a16:creationId xmlns:a16="http://schemas.microsoft.com/office/drawing/2014/main" id="{191A2826-2A09-4492-B218-4D3FF196833D}"/>
              </a:ext>
            </a:extLst>
          </p:cNvPr>
          <p:cNvSpPr>
            <a:spLocks xmlns:a="http://schemas.openxmlformats.org/drawingml/2006/main" noGrp="1"/>
          </p:cNvSpPr>
          <p:nvPr/>
        </p:nvSpPr>
        <p:spPr>
          <a:xfrm xmlns:a="http://schemas.openxmlformats.org/drawingml/2006/main">
            <a:off x="11125200" y="64674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00" b="0">
                <a:solidFill>
                  <a:srgbClr val="64748B"/>
                </a:solidFill>
                <a:latin typeface="Helvetica Neue"/>
                <a:ea typeface="Helvetica Neue"/>
                <a:cs typeface="Helvetica Neue"/>
              </a:defRPr>
            </a:pPr>
            <a:r>
              <a:rPr sz="900" b="0">
                <a:solidFill>
                  <a:srgbClr val="64748B"/>
                </a:solidFill>
                <a:latin typeface="Helvetica Neue"/>
                <a:ea typeface="Helvetica Neue"/>
                <a:cs typeface="Helvetica Neue"/>
              </a:rPr>
              <a:t>30</a:t>
            </a:r>
          </a:p>
        </p:txBody>
      </p:sp>
      <p:sp>
        <p:nvSpPr>
          <p:cNvPr id="5" name="career">
            <a:extLst xmlns:a="http://schemas.openxmlformats.org/drawingml/2006/main">
              <a:ext uri="{FF2B5EF4-FFF2-40B4-BE49-F238E27FC236}">
                <a16:creationId xmlns:a16="http://schemas.microsoft.com/office/drawing/2014/main" id="{91843C82-BEE2-4D50-80E2-A7321F13933F}"/>
              </a:ext>
            </a:extLst>
          </p:cNvPr>
          <p:cNvSpPr>
            <a:spLocks xmlns:a="http://schemas.openxmlformats.org/drawingml/2006/main" noGrp="1"/>
          </p:cNvSpPr>
          <p:nvPr/>
        </p:nvSpPr>
        <p:spPr>
          <a:xfrm xmlns:a="http://schemas.openxmlformats.org/drawingml/2006/main">
            <a:off x="723900" y="1743075"/>
            <a:ext cx="106680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0">
                <a:solidFill>
                  <a:srgbClr val="111827"/>
                </a:solidFill>
                <a:latin typeface="Georgia"/>
                <a:ea typeface="Georgia"/>
                <a:cs typeface="Georgia"/>
              </a:defRPr>
            </a:pPr>
            <a:r>
              <a:rPr sz="2550" b="0">
                <a:solidFill>
                  <a:srgbClr val="111827"/>
                </a:solidFill>
                <a:latin typeface="Georgia"/>
                <a:ea typeface="Georgia"/>
                <a:cs typeface="Georgia"/>
              </a:rPr>
              <a:t>I restored a small collection into a separate target and found that the right count did not prove the values were correct. I recovered the damaged document from the saved artifact, checked its typed values, and tested the collection rules separately. I can explain which failure this recovery method addresses and which parts of a hosted deployment it leaves out.</a:t>
            </a:r>
          </a:p>
        </p:txBody>
      </p:sp>
      <p:sp>
        <p:nvSpPr>
          <p:cNvPr id="6" name="career-boundary">
            <a:extLst xmlns:a="http://schemas.openxmlformats.org/drawingml/2006/main">
              <a:ext uri="{FF2B5EF4-FFF2-40B4-BE49-F238E27FC236}">
                <a16:creationId xmlns:a16="http://schemas.microsoft.com/office/drawing/2014/main" id="{9D50E0B4-F9E7-45A7-AEAF-0C3076573DF0}"/>
              </a:ext>
            </a:extLst>
          </p:cNvPr>
          <p:cNvSpPr>
            <a:spLocks xmlns:a="http://schemas.openxmlformats.org/drawingml/2006/main" noGrp="1"/>
          </p:cNvSpPr>
          <p:nvPr/>
        </p:nvSpPr>
        <p:spPr>
          <a:xfrm xmlns:a="http://schemas.openxmlformats.org/drawingml/2006/main">
            <a:off x="723900" y="5391150"/>
            <a:ext cx="106680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Use the account that matches your own work and execution path.</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Interpreting a supplied schema trace is different from testing a server rule.</a:t>
            </a:r>
          </a:p>
          <a:p xmlns:a="http://schemas.openxmlformats.org/drawingml/2006/main">
            <a:pPr>
              <a:defRPr sz="2100" b="0">
                <a:solidFill>
                  <a:srgbClr val="111827"/>
                </a:solidFill>
                <a:latin typeface="Helvetica Neue"/>
                <a:ea typeface="Helvetica Neue"/>
                <a:cs typeface="Helvetica Neue"/>
              </a:defRPr>
            </a:pPr>
            <a:r>
              <a:rPr sz="2100" b="0">
                <a:solidFill>
                  <a:srgbClr val="111827"/>
                </a:solidFill>
                <a:latin typeface="Helvetica Neue"/>
                <a:ea typeface="Helvetica Neue"/>
                <a:cs typeface="Helvetica Neue"/>
              </a:rPr>
              <a:t>Next week: capacity, sharding, and safe Python data integration.</a:t>
            </a:r>
          </a:p>
        </p:txBody>
      </p:sp>
    </p:spTree>
    <p:extLst>
      <p:ext uri="{BB962C8B-B14F-4D97-AF65-F5344CB8AC3E}">
        <p14:creationId xmlns:p14="http://schemas.microsoft.com/office/powerpoint/2010/main" val="187455770"/>
      </p:ext>
    </p:extLst>
  </p:cSld>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sp>
        <p:nvSpPr>
          <p:cNvPr id="2" name="cst4714-videos"/>
          <p:cNvSpPr txBox="1"/>
          <p:nvPr/>
        </p:nvSpPr>
        <p:spPr>
          <a:xfrm>
            <a:off x="0" y="0"/>
            <a:ext cx="10" cy="10"/>
          </a:xfrm>
          <a:prstGeom prst="rect">
            <a:avLst/>
          </a:prstGeom>
          <a:noFill/>
        </p:spPr>
        <p:txBody>
          <a:bodyPr wrap="square" lIns="0" rIns="0" tIns="0" bIns="0" anchor="t">
            <a:spAutoFit/>
          </a:bodyPr>
          <a:lstStyle/>
          <a:p>
            <a:pPr algn="l"/>
            <a:r>
              <a:rPr sz="1800" b="0">
                <a:solidFill>
                  <a:srgbClr val="111827"/>
                </a:solidFill>
                <a:latin typeface="Helvetica Neue"/>
              </a:rPr>
              <a:t/>
            </a:r>
          </a:p>
        </p:txBody>
      </p:sp>
      <p:sp>
        <p:nvSpPr>
          <p:cNvPr id="3" name="eyebrow"/>
          <p:cNvSpPr txBox="1"/>
          <p:nvPr/>
        </p:nvSpPr>
        <p:spPr>
          <a:xfrm>
            <a:off x="609600" y="295275"/>
            <a:ext cx="5715000" cy="228600"/>
          </a:xfrm>
          <a:prstGeom prst="rect">
            <a:avLst/>
          </a:prstGeom>
          <a:noFill/>
        </p:spPr>
        <p:txBody>
          <a:bodyPr wrap="square" lIns="0" rIns="0" tIns="0" bIns="0" anchor="t">
            <a:spAutoFit/>
          </a:bodyPr>
          <a:lstStyle/>
          <a:p>
            <a:pPr algn="l"/>
            <a:r>
              <a:rPr sz="1400" b="1">
                <a:solidFill>
                  <a:srgbClr val="BF3E05"/>
                </a:solidFill>
                <a:latin typeface="Helvetica Neue"/>
              </a:rPr>
              <a:t>WEEK 12  /  CST4714</a:t>
            </a:r>
          </a:p>
        </p:txBody>
      </p:sp>
      <p:sp>
        <p:nvSpPr>
          <p:cNvPr id="4" name="slide-title"/>
          <p:cNvSpPr txBox="1"/>
          <p:nvPr/>
        </p:nvSpPr>
        <p:spPr>
          <a:xfrm>
            <a:off x="609600" y="619125"/>
            <a:ext cx="10972800" cy="628650"/>
          </a:xfrm>
          <a:prstGeom prst="rect">
            <a:avLst/>
          </a:prstGeom>
          <a:noFill/>
        </p:spPr>
        <p:txBody>
          <a:bodyPr wrap="square" lIns="0" rIns="0" tIns="0" bIns="0" anchor="t">
            <a:spAutoFit/>
          </a:bodyPr>
          <a:lstStyle/>
          <a:p>
            <a:pPr algn="l"/>
            <a:r>
              <a:rPr sz="3600" b="1">
                <a:solidFill>
                  <a:srgbClr val="111827"/>
                </a:solidFill>
                <a:latin typeface="Helvetica Neue"/>
              </a:rPr>
              <a:t>This week's videos</a:t>
            </a:r>
          </a:p>
        </p:txBody>
      </p:sp>
      <p:sp>
        <p:nvSpPr>
          <p:cNvPr id="5" name="Rectangle 4"/>
          <p:cNvSpPr/>
          <p:nvPr/>
        </p:nvSpPr>
        <p:spPr>
          <a:xfrm>
            <a:off x="609600" y="1295400"/>
            <a:ext cx="10972800" cy="9525"/>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lide-number"/>
          <p:cNvSpPr txBox="1"/>
          <p:nvPr/>
        </p:nvSpPr>
        <p:spPr>
          <a:xfrm>
            <a:off x="11125200" y="6467475"/>
            <a:ext cx="457200" cy="190500"/>
          </a:xfrm>
          <a:prstGeom prst="rect">
            <a:avLst/>
          </a:prstGeom>
          <a:noFill/>
        </p:spPr>
        <p:txBody>
          <a:bodyPr wrap="square" lIns="0" rIns="0" tIns="0" bIns="0" anchor="t">
            <a:spAutoFit/>
          </a:bodyPr>
          <a:lstStyle/>
          <a:p>
            <a:pPr algn="r"/>
            <a:r>
              <a:rPr sz="1200" b="0">
                <a:solidFill>
                  <a:srgbClr val="475569"/>
                </a:solidFill>
                <a:latin typeface="Helvetica Neue"/>
              </a:rPr>
              <a:t>31</a:t>
            </a:r>
          </a:p>
        </p:txBody>
      </p:sp>
      <p:pic>
        <p:nvPicPr>
          <p:cNvPr id="7" name="video-thumb-1" descr="01_replica_set_election.png">
            <a:hlinkClick r:id="rId3"/>
          </p:cNvPr>
          <p:cNvPicPr>
            <a:picLocks noChangeAspect="1"/>
          </p:cNvPicPr>
          <p:nvPr/>
        </p:nvPicPr>
        <p:blipFill>
          <a:blip r:embed="rId2"/>
          <a:stretch>
            <a:fillRect/>
          </a:stretch>
        </p:blipFill>
        <p:spPr>
          <a:xfrm>
            <a:off x="609600" y="1600200"/>
            <a:ext cx="3454400" cy="1943100"/>
          </a:xfrm>
          <a:prstGeom prst="rect">
            <a:avLst/>
          </a:prstGeom>
          <a:ln>
            <a:solidFill>
              <a:srgbClr val="CBD5E1"/>
            </a:solidFill>
          </a:ln>
        </p:spPr>
      </p:pic>
      <p:sp>
        <p:nvSpPr>
          <p:cNvPr id="8" name="video-title-1"/>
          <p:cNvSpPr txBox="1"/>
          <p:nvPr/>
        </p:nvSpPr>
        <p:spPr>
          <a:xfrm>
            <a:off x="609600" y="3623300"/>
            <a:ext cx="3454400" cy="520000"/>
          </a:xfrm>
          <a:prstGeom prst="rect">
            <a:avLst/>
          </a:prstGeom>
          <a:noFill/>
        </p:spPr>
        <p:txBody>
          <a:bodyPr wrap="square" lIns="0" rIns="0" tIns="0" bIns="0" anchor="t">
            <a:spAutoFit/>
          </a:bodyPr>
          <a:lstStyle/>
          <a:p>
            <a:pPr algn="l"/>
            <a:r>
              <a:rPr sz="1500" b="1">
                <a:solidFill>
                  <a:srgbClr val="111827"/>
                </a:solidFill>
                <a:latin typeface="Helvetica Neue"/>
                <a:hlinkClick r:id="rId3"/>
              </a:rPr>
              <a:t>▶ Replica sets: oplog, lag, and elections  (1:24)</a:t>
            </a:r>
          </a:p>
        </p:txBody>
      </p:sp>
      <p:pic>
        <p:nvPicPr>
          <p:cNvPr id="9" name="video-thumb-2" descr="02_write_read_concern.png">
            <a:hlinkClick r:id="rId5"/>
          </p:cNvPr>
          <p:cNvPicPr>
            <a:picLocks noChangeAspect="1"/>
          </p:cNvPicPr>
          <p:nvPr/>
        </p:nvPicPr>
        <p:blipFill>
          <a:blip r:embed="rId4"/>
          <a:stretch>
            <a:fillRect/>
          </a:stretch>
        </p:blipFill>
        <p:spPr>
          <a:xfrm>
            <a:off x="4368800" y="1600200"/>
            <a:ext cx="3454400" cy="1943100"/>
          </a:xfrm>
          <a:prstGeom prst="rect">
            <a:avLst/>
          </a:prstGeom>
          <a:ln>
            <a:solidFill>
              <a:srgbClr val="CBD5E1"/>
            </a:solidFill>
          </a:ln>
        </p:spPr>
      </p:pic>
      <p:sp>
        <p:nvSpPr>
          <p:cNvPr id="10" name="video-title-2"/>
          <p:cNvSpPr txBox="1"/>
          <p:nvPr/>
        </p:nvSpPr>
        <p:spPr>
          <a:xfrm>
            <a:off x="4368800" y="3623300"/>
            <a:ext cx="3454400" cy="520000"/>
          </a:xfrm>
          <a:prstGeom prst="rect">
            <a:avLst/>
          </a:prstGeom>
          <a:noFill/>
        </p:spPr>
        <p:txBody>
          <a:bodyPr wrap="square" lIns="0" rIns="0" tIns="0" bIns="0" anchor="t">
            <a:spAutoFit/>
          </a:bodyPr>
          <a:lstStyle/>
          <a:p>
            <a:pPr algn="l"/>
            <a:r>
              <a:rPr sz="1500" b="1">
                <a:solidFill>
                  <a:srgbClr val="111827"/>
                </a:solidFill>
                <a:latin typeface="Helvetica Neue"/>
                <a:hlinkClick r:id="rId5"/>
              </a:rPr>
              <a:t>▶ Write concern, read preference, and read concern  (1:39)</a:t>
            </a:r>
          </a:p>
        </p:txBody>
      </p:sp>
      <p:pic>
        <p:nvPicPr>
          <p:cNvPr id="11" name="video-thumb-3" descr="03_logical_recovery.png">
            <a:hlinkClick r:id="rId7"/>
          </p:cNvPr>
          <p:cNvPicPr>
            <a:picLocks noChangeAspect="1"/>
          </p:cNvPicPr>
          <p:nvPr/>
        </p:nvPicPr>
        <p:blipFill>
          <a:blip r:embed="rId6"/>
          <a:stretch>
            <a:fillRect/>
          </a:stretch>
        </p:blipFill>
        <p:spPr>
          <a:xfrm>
            <a:off x="8128000" y="1600200"/>
            <a:ext cx="3454400" cy="1943100"/>
          </a:xfrm>
          <a:prstGeom prst="rect">
            <a:avLst/>
          </a:prstGeom>
          <a:ln>
            <a:solidFill>
              <a:srgbClr val="CBD5E1"/>
            </a:solidFill>
          </a:ln>
        </p:spPr>
      </p:pic>
      <p:sp>
        <p:nvSpPr>
          <p:cNvPr id="12" name="video-title-3"/>
          <p:cNvSpPr txBox="1"/>
          <p:nvPr/>
        </p:nvSpPr>
        <p:spPr>
          <a:xfrm>
            <a:off x="8128000" y="3623300"/>
            <a:ext cx="3454400" cy="520000"/>
          </a:xfrm>
          <a:prstGeom prst="rect">
            <a:avLst/>
          </a:prstGeom>
          <a:noFill/>
        </p:spPr>
        <p:txBody>
          <a:bodyPr wrap="square" lIns="0" rIns="0" tIns="0" bIns="0" anchor="t">
            <a:spAutoFit/>
          </a:bodyPr>
          <a:lstStyle/>
          <a:p>
            <a:pPr algn="l"/>
            <a:r>
              <a:rPr sz="1500" b="1">
                <a:solidFill>
                  <a:srgbClr val="111827"/>
                </a:solidFill>
                <a:latin typeface="Helvetica Neue"/>
                <a:hlinkClick r:id="rId7"/>
              </a:rPr>
              <a:t>▶ Replication is not backup: logical recovery  (1:31)</a:t>
            </a:r>
          </a:p>
        </p:txBody>
      </p:sp>
      <p:sp>
        <p:nvSpPr>
          <p:cNvPr id="13" name="videos-note"/>
          <p:cNvSpPr txBox="1"/>
          <p:nvPr/>
        </p:nvSpPr>
        <p:spPr>
          <a:xfrm>
            <a:off x="609600" y="4243300"/>
            <a:ext cx="10372800" cy="300000"/>
          </a:xfrm>
          <a:prstGeom prst="rect">
            <a:avLst/>
          </a:prstGeom>
          <a:noFill/>
        </p:spPr>
        <p:txBody>
          <a:bodyPr wrap="square" lIns="0" rIns="0" tIns="0" bIns="0" anchor="t">
            <a:spAutoFit/>
          </a:bodyPr>
          <a:lstStyle/>
          <a:p>
            <a:pPr algn="l"/>
            <a:r>
              <a:rPr sz="1200" b="0">
                <a:solidFill>
                  <a:srgbClr val="475569"/>
                </a:solidFill>
                <a:latin typeface="Helvetica Neue"/>
              </a:rPr>
              <a:t>Click a thumbnail to play on GitHub. Silent, with captions and .srt subtitles; diagrams are schematic.</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CST4714 Database Administration</dc:creator>
  <cp:lastModifiedBy>CST4714 Database Administration</cp:lastModifiedBy>
  <dc:title>Week 12: MongoDB Reliability and Recovery</dc:title>
  <dcterms:created xsi:type="dcterms:W3CDTF">2026-09-14T05:02:13.5810000Z</dcterms:created>
  <dcterms:modified xsi:type="dcterms:W3CDTF">2026-09-14T05:02:13.5810000Z</dcterms:modified>
  <dc:language>en-US</dc:language>
  <cp:contentStatus>Draft</cp:contentStatus>
  <dc:description>CST4714 course teaching draft. AI-assisted preparation is documented in the private fellowship quality record.</dc:description>
</cp:coreProperties>
</file>