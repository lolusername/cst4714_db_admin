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2"/>
    <p:restoredTop sz="81029"/>
  </p:normalViewPr>
  <p:slideViewPr>
    <p:cSldViewPr snapToGrid="0" snapToObjects="1">
      <p:cViewPr varScale="1">
        <p:scale>
          <a:sx n="170" d="100"/>
          <a:sy n="170" d="100"/>
        </p:scale>
        <p:origin x="101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54141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mongodb.com/docs/manual/crud/#:~:text=CRUD%20operations%20create%2C%20read%2C%20update%2C,and%20delete%20documents"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mongodb.com/docs/manual/indexes/#:~:text=Indexes%20support%20efficient%20execution%20of,of%20documents%20it%20must%20scan"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blog.panoply.io/mongodb-best-practices#:~:text=But%20when%20it%20comes%20to,or%20very%20similar%20across%20applications"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www.mongodb.com/company/blog/performance-best-practices-indexing#:~:text=Use%20Covered%20Queries%20When%20Possible" TargetMode="External"/><Relationship Id="rId5" Type="http://schemas.openxmlformats.org/officeDocument/2006/relationships/hyperlink" Target="https://www.mongodb.com/company/blog/performance-best-practices-indexing#:~:text=Having%20both%20worked%20for%20a,have%20to%20address%20with%20users" TargetMode="External"/><Relationship Id="rId4" Type="http://schemas.openxmlformats.org/officeDocument/2006/relationships/hyperlink" Target="https://blog.panoply.io/mongodb-best-practices#:~:text=Keep%20in%20mind%20that%20this,possible%20data%20in%20one%20document"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mongodb.com/docs/manual/replication/#:~:text=A%20replica%20set%20in%20MongoDB,tasks%20related%20to%20replica%20sets"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s://www.mongodb.com/docs/manual/replication/#:~:text=Asynchronous%20Replication" TargetMode="Externa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mongodb.com/docs/manual/sharding/#:~:text=Sharding%20is%20a%20method%20for,sets%20and%20high%20throughput%20operations"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www.mongodb.com/docs/manual/sharding/#:~:text=Advantages%20of%20Sharding" TargetMode="Externa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geeksforgeeks.org/mongodb/mongodb-backup-and-restoration/#:~:text=,space%20and%20reduces%20backup%20time"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www.geeksforgeeks.org/mongodb/mongodb-backup-and-restoration/#:~:text=Data%20Restoration%20in%20MongoDB"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mongodb.com/company/blog/performance-best-practices-indexing#:~:text=Having%20both%20worked%20for%20a,have%20to%20address%20with%20users" TargetMode="External"/><Relationship Id="rId2" Type="http://schemas.openxmlformats.org/officeDocument/2006/relationships/slide" Target="../slides/slide11.xml"/><Relationship Id="rId1" Type="http://schemas.openxmlformats.org/officeDocument/2006/relationships/notesMaster" Target="../notesMasters/notesMaster1.xml"/><Relationship Id="rId6" Type="http://schemas.openxmlformats.org/officeDocument/2006/relationships/hyperlink" Target="https://blog.panoply.io/mongodb-best-practices#:~:text=Keep%20in%20mind%20that%20this,possible%20data%20in%20one%20document" TargetMode="External"/><Relationship Id="rId5" Type="http://schemas.openxmlformats.org/officeDocument/2006/relationships/hyperlink" Target="https://blog.panoply.io/mongodb-best-practices#:~:text=But%20when%20it%20comes%20to,or%20very%20similar%20across%20applications" TargetMode="External"/><Relationship Id="rId4" Type="http://schemas.openxmlformats.org/officeDocument/2006/relationships/hyperlink" Target="https://www.mongodb.com/company/blog/performance-best-practices-indexing#:~:text=Use%20Covered%20Queries%20When%20Possible" TargetMode="Externa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mongodb.com/company/blog/mongodbs-2024-year-in-review#:~:text=In%20October%20we%20released%20MongoDB,perform%20queries%20directly%20on%20data"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https://www.mongodb.com/company/blog/mongodbs-2024-year-in-review#:~:text=Search%20functionality%20is%20indispensable%20in,search%20workloads%20like%20never%20before" TargetMode="External"/><Relationship Id="rId5" Type="http://schemas.openxmlformats.org/officeDocument/2006/relationships/hyperlink" Target="https://www.mongodb.com/company/blog/product-release-announcements/top-4-reasons-to-use-mongodb-8-0#:~:text=MongoDB%208,key%E2%80%94with%20no%20cryptography%20expertise%20required" TargetMode="External"/><Relationship Id="rId4" Type="http://schemas.openxmlformats.org/officeDocument/2006/relationships/hyperlink" Target="https://www.mongodb.com/company/blog/product-release-announcements/top-4-reasons-to-use-mongodb-8-0#:~:text=MongoDB%208,lower%20resource%20usage%20and%20costs"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Welcome to this detailed exploration of MongoDB. MongoDB is a document‑oriented, schema‑less database that stores data as flexible JSON‑like documents rather than fixed rows and columns, making it easy to evolve your data model over time.
 It supports dynamic schemas, rich query capabilities and full index support, and provides replication, sharding and automatic scaling out of the box. These features allow administrators to build highly available and horizontally scalable applications.
 Throughout this presentation we will cover the core architecture, CRUD operations, indexing, schema design, transactions, replication, sharding, backups, security, performance tuning, and recent innovations.
 Our goal is to equip both beginners and database administrators with conceptual understanding as well as practical code examples and best practices based on authoritative sources【933685053734866†L43-L129】.</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This slide illustrates the hierarchical architecture of MongoDB. At the top we have the server instance, which can host multiple databases.
 Each database contains collections. A collection is analogous to a table in a relational database, but unlike tables, collections do not enforce a rigid schema and can store documents of varying shapes.
 A document is the basic unit of data, expressed in BSON, a binary encoding of JSON. Documents consist of key–value pairs and can embed subdocuments or arrays. Each document automatically has a unique _id field as the primary key.
 This flexible model allows us to model complex objects in a single record and evolve our schema as application requirements change【933685053734866†L139-L180】.</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MongoDB provides a rich API for performing CRUD operations. To create new documents you call insertOne() or insertMany() on a collection. MongoDB will automatically create the collection on the first insert if it does not already exist.
 Reading data is done using find(), which accepts a query filter and returns a cursor. You can chain methods like toArray() or forEach() to process the results. Query operators such as $gt, $lt, $in and $regex allow you to express a wide range of predicates.
 Updates use updateOne(), updateMany() or replaceOne() and apply atomic changes at the document level. Modification operators like $set, $inc and $push allow you to update fields or append to arrays. Deletions are performed with deleteOne() or deleteMany().
 It is important to always provide a filter to update and delete operations to avoid unintended mass modifications. All these writes are atomic at the document level and form the foundation for higher‑level transactions</a:t>
            </a:r>
            <a:r>
              <a:rPr u="sng">
                <a:solidFill>
                  <a:schemeClr val="accent6"/>
                </a:solidFill>
                <a:hlinkClick r:id="rId3"/>
              </a:rPr>
              <a:t>(www.mongodb.com)</a:t>
            </a:r>
            <a: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Indexes are the primary mechanism for accelerating queries in MongoDB. Without an index, the database must perform a collection scan, examining every document. By defining indexes on fields used in filters or sorts, you dramatically reduce the number of documents scanned.
 The default _id index ensures uniqueness for every document. Single‑field indexes support simple equality matches, while compound indexes cover multiple fields and follow the ESR rule: equality conditions first, then sort keys, then range conditions.
 Multikey indexes index each element of an array, enabling efficient queries on array contents. Geospatial indexes support location queries, text indexes power full‑text search, hashed indexes distribute documents across shards and TTL indexes automatically remove expired data. Partial and sparse indexes limit indexing to subsets of documents, reducing storage and improving performance.
 Remember that each index increases write costs and consumes memory, so index only the queries you need</a:t>
            </a:r>
            <a:r>
              <a:rPr u="sng">
                <a:solidFill>
                  <a:schemeClr val="accent6"/>
                </a:solidFill>
                <a:hlinkClick r:id="rId3"/>
              </a:rPr>
              <a:t>(www.mongodb.com)</a:t>
            </a:r>
            <a: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When designing a schema in MongoDB, start by analysing the queries and operations your application performs most frequently. Because MongoDB documents can vary in structure, the same underlying data can be modelled in multiple ways. Choose the model that minimises the number of queries and simplifies your code.
 Embedding related data into a single document improves locality and avoids joins, which MongoDB does not support. However, embedding is not always appropriate – large or frequently updated subdocuments may be better represented as separate collections with references.
 Indexes should be created thoughtfully. Use compound indexes to support queries that filter and sort on multiple fields, and follow the ESR rule. Avoid indexing fields with very low cardinality, as such indexes provide little benefit and waste memory. Partial and sparse indexes limit indexes to relevant documents, TTL indexes automatically expire outdated records, and text indexes enable keyword search.
 To achieve good performance your working set – the subset of documents and indexes that you access frequently – should fit in memory. If it does not, consider adding memory or sharding the dataset across servers. Replication provides redundancy and failover and may help distribute read traffic. Sharding partitions data horizontally, allowing the cluster to scale writes and storage capacity</a:t>
            </a:r>
            <a:r>
              <a:rPr u="sng">
                <a:solidFill>
                  <a:schemeClr val="accent6"/>
                </a:solidFill>
                <a:hlinkClick r:id="rId3"/>
              </a:rPr>
              <a:t>(blog.panoply.io)</a:t>
            </a:r>
            <a:r>
              <a:rPr u="sng">
                <a:solidFill>
                  <a:schemeClr val="accent6"/>
                </a:solidFill>
                <a:hlinkClick r:id="rId4"/>
              </a:rPr>
              <a:t>(blog.panoply.io)</a:t>
            </a:r>
            <a:r>
              <a:rPr u="sng">
                <a:solidFill>
                  <a:schemeClr val="accent6"/>
                </a:solidFill>
                <a:hlinkClick r:id="rId5"/>
              </a:rPr>
              <a:t>(www.mongodb.com)</a:t>
            </a:r>
            <a:r>
              <a:rPr u="sng">
                <a:solidFill>
                  <a:schemeClr val="accent6"/>
                </a:solidFill>
                <a:hlinkClick r:id="rId6"/>
              </a:rPr>
              <a:t>(www.mongodb.com)</a:t>
            </a:r>
            <a: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MongoDB enforces the ACID properties at the document level. Every single write operation is atomic: either the entire document is written or none of it is. With the introduction of multi‑document transactions in version 4.0, you can group multiple operations across collections into a single atomic unit that is committed or aborted together.
 Transactions provide snapshot isolation and write durability via the WiredTiger storage engine. Transactions in replica sets and sharded clusters use a two‑phase commit protocol to ensure that all participating nodes agree on the outcome of the transaction.
 The code example demonstrates using the Node.js driver to start a session, begin a transaction, update an order document and the inventory document, and commit or abort based on errors. Always remember to end the session. Transactions should be short‑lived to minimise lock contention and can have performance overhead, so use them when you truly need atomicity across multiple documents【933685053734866†L260-L296】.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A MongoDB replica set is a group of mongod processes that maintain the same data set. At any time exactly one member is the primary, which accepts all write operations. Secondaries replicate the primary’s operations by tailing the oplog — a special capped collection that records all mutations in order. This asynchronous replication helps minimise write latency.
 If the primary becomes unavailable due to network failure or maintenance, the remaining members hold an election to choose a new primary. Clients automatically retry writes on the new primary. Heartbeat messages circulate between members to monitor health and coordinate elections.
 You can direct read operations to secondaries using read preferences to offload work from the primary. Be aware that secondaries may lag behind the primary, so you may see slightly stale data. Use write concern “majority” to ensure writes are replicated to the majority of the replica set before acknowledging success</a:t>
            </a:r>
            <a:r>
              <a:rPr u="sng">
                <a:solidFill>
                  <a:schemeClr val="accent6"/>
                </a:solidFill>
                <a:hlinkClick r:id="rId3"/>
              </a:rPr>
              <a:t>(www.mongodb.com)</a:t>
            </a:r>
            <a:r>
              <a:rPr u="sng">
                <a:solidFill>
                  <a:schemeClr val="accent6"/>
                </a:solidFill>
                <a:hlinkClick r:id="rId4"/>
              </a:rPr>
              <a:t>(www.mongodb.com)</a:t>
            </a:r>
            <a: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Sharding is MongoDB’s mechanism for horizontal scaling. When your data or write throughput outgrows the capabilities of a single server, you can partition collections across multiple shards. Each shard is itself a replica set, providing high availability. mongos routers act as query routers and forward operations to the correct shards based on the shard key.
 A sharded cluster includes a set of config servers that store metadata about which chunks live on which shards. The balancer process continually monitors the distribution of chunks and migrates them to maintain an even distribution. Selecting a good shard key is critical: it should have high cardinality and distribute documents evenly to avoid hotspots.
 Sharding allows you to scale writes and storage capacity while still leveraging replica sets for fault tolerance. It adds operational complexity and requires careful planning of shard keys and chunk migrations</a:t>
            </a:r>
            <a:r>
              <a:rPr u="sng">
                <a:solidFill>
                  <a:schemeClr val="accent6"/>
                </a:solidFill>
                <a:hlinkClick r:id="rId3"/>
              </a:rPr>
              <a:t>(www.mongodb.com)</a:t>
            </a:r>
            <a:r>
              <a:rPr u="sng">
                <a:solidFill>
                  <a:schemeClr val="accent6"/>
                </a:solidFill>
                <a:hlinkClick r:id="rId4"/>
              </a:rPr>
              <a:t>(www.mongodb.com)</a:t>
            </a:r>
            <a: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Protecting your data from accidental deletion, corruption or system failure is essential. MongoDB supports several backup strategies. The mongodump utility connects to a running database and writes a binary dump of BSON data and metadata to files. mongorestore uses those files to rebuild a database or collection. This approach works well for small deployments but does not scale as well for very large datasets.
 For production systems, MongoDB Cloud Manager and Ops Manager provide a more sophisticated backup service. They continuously copy the oplog to the cloud or on‑premises storage and take periodic snapshots of the entire dataset. This allows point‑in‑time restores and reduces the window of data loss.
 You can also create filesystem snapshots using LVM or storage array features, but you must ensure write consistency by either locking the database or using journaling features. Finally, a cold backup involves stopping writes to the node and copying the data directory; this method is simple but requires downtime. Always test your restore procedures regularly</a:t>
            </a:r>
            <a:r>
              <a:rPr u="sng">
                <a:solidFill>
                  <a:schemeClr val="accent6"/>
                </a:solidFill>
                <a:hlinkClick r:id="rId3"/>
              </a:rPr>
              <a:t>(www.geeksforgeeks.org)</a:t>
            </a:r>
            <a:r>
              <a:rPr u="sng">
                <a:solidFill>
                  <a:schemeClr val="accent6"/>
                </a:solidFill>
                <a:hlinkClick r:id="rId4"/>
              </a:rPr>
              <a:t>(www.geeksforgeeks.org)</a:t>
            </a:r>
            <a: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Security is a multi‑layered concern in any database system. MongoDB supports several authentication mechanisms. SCRAM (Salted Challenge Response Authentication Mechanism) uses hashed passwords with challenge–response to avoid sending plain credentials. x.509 certificates enable mutual TLS authentication where both client and server verify each other’s certificates. For enterprise environments, MongoDB integrates with LDAP or Kerberos to centralise user management.
 Authorization is enforced through role‑based access control. Each user is assigned one or more roles that grant privileges on databases, collections or cluster functions. For example, a readWrite role on a database allows users to query and update documents but not to manage indexes or perform administrative tasks.
 Encryption protects data both in transit and at rest. TLS/SSL secures client–server communication. The WiredTiger storage engine supports encryption at rest, requiring a key management solution. Client‑side field level encryption allows you to encrypt individual fields within documents before they reach the server. Auditing records operations such as authentication events, DDL changes and CRUD operations in an audit log for compliance and forensic analysis.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Performance optimisation in MongoDB involves the judicious use of indexes, careful query design, efficient storage allocation and proactive monitoring. When creating indexes, focus on the fields used in the majority of your queries and sorts. Compound indexes can support multiple predicates; following the ESR rule helps the database utilise the index efficiently. Avoid unnecessary indexes since they slow down writes and consume memory.
 Always inspect query plans with explain() to see how the query is executed and adjust your indexes accordingly. Unbounded sorts and skip/limit combinations cause MongoDB to scan extensive ranges; designing indexes to cover sort fields avoids this.
 Large documents not only waste network bandwidth but also risk hitting the 16 MB document size limit. Splitting large arrays into separate collections can help. WiredTiger compresses documents and maintains document‑level locks, but ensure your working set fits into memory; otherwise, frequent page faults will degrade performance.
 Use replication to scale reads and sharding to scale writes and storage. Monitor key metrics such as CPU, memory usage, I/O utilisation, open connections and replication lag. Tools like MongoDB Atlas provide dashboards, and open‑source monitors like Prometheus can be integrated. Review slow query logs periodically and update indexes or refactor queries accordingly</a:t>
            </a:r>
            <a:r>
              <a:rPr u="sng">
                <a:solidFill>
                  <a:schemeClr val="accent6"/>
                </a:solidFill>
                <a:hlinkClick r:id="rId3"/>
              </a:rPr>
              <a:t>(www.mongodb.com)</a:t>
            </a:r>
            <a:r>
              <a:rPr u="sng">
                <a:solidFill>
                  <a:schemeClr val="accent6"/>
                </a:solidFill>
                <a:hlinkClick r:id="rId4"/>
              </a:rPr>
              <a:t>(www.mongodb.com)</a:t>
            </a:r>
            <a:r>
              <a:rPr u="sng">
                <a:solidFill>
                  <a:schemeClr val="accent6"/>
                </a:solidFill>
                <a:hlinkClick r:id="rId5"/>
              </a:rPr>
              <a:t>(blog.panoply.io)</a:t>
            </a:r>
            <a:r>
              <a:rPr u="sng">
                <a:solidFill>
                  <a:schemeClr val="accent6"/>
                </a:solidFill>
                <a:hlinkClick r:id="rId6"/>
              </a:rPr>
              <a:t>(blog.panoply.io)</a:t>
            </a:r>
            <a: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MongoDB 8.0 introduces significant performance gains and new features. According to MongoDB’s release notes, reads are up to 36 percent faster and update throughput can be 59 percent higher for many workloads. Enhancements to the query planner, concurrency control and storage engine contribute to these improvements.
 The release also boosts sharded cluster efficiency, with queries performing up to 60 percent faster and CPU utilisation dropping by up to 67 percent. This reduces infrastructure costs and increases throughput. Queryable encryption now supports range and prefix queries on encrypted fields, enabling secure search without compromising confidentiality.
 MongoDB is embracing generative AI by integrating vector search into the database. Vector search stores high‑dimensional embeddings and supports nearest‑neighbour queries to find semantically similar documents. Dedicated search nodes accelerate full‑text and vector queries by offloading them from the primary nodes, yielding 40–60 percent faster search performance. These features signal MongoDB’s evolution into a platform for AI‑powered applications</a:t>
            </a:r>
            <a:r>
              <a:rPr u="sng">
                <a:solidFill>
                  <a:schemeClr val="accent6"/>
                </a:solidFill>
                <a:hlinkClick r:id="rId3"/>
              </a:rPr>
              <a:t>(www.mongodb.com)</a:t>
            </a:r>
            <a:r>
              <a:rPr u="sng">
                <a:solidFill>
                  <a:schemeClr val="accent6"/>
                </a:solidFill>
                <a:hlinkClick r:id="rId4"/>
              </a:rPr>
              <a:t>(www.mongodb.com)</a:t>
            </a:r>
            <a:r>
              <a:rPr u="sng">
                <a:solidFill>
                  <a:schemeClr val="accent6"/>
                </a:solidFill>
                <a:hlinkClick r:id="rId5"/>
              </a:rPr>
              <a:t>(www.mongodb.com)</a:t>
            </a:r>
            <a:r>
              <a:rPr u="sng">
                <a:solidFill>
                  <a:schemeClr val="accent6"/>
                </a:solidFill>
                <a:hlinkClick r:id="rId6"/>
              </a:rPr>
              <a:t>(www.mongodb.com)</a:t>
            </a:r>
            <a: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MongoDB has grown into a rich ecosystem of tools and services. mongod is the core database server process and mongos routes queries in a sharded cluster. The mongosh shell provides an interactive environment for issuing commands and scripts. Compass is a graphical interface that helps you visualise your data, build aggregation pipelines and explore indexes without writing code.
 MongoDB Atlas offers a fully managed cloud database with built‑in security, monitoring, backup, scaling and serverless triggers. Cloud Manager and Ops Manager provide similar functionality for on‑premises deployments, including automated provisioning, upgrades and continuous backups.
 Drivers are available for all major programming languages, enabling developers to work with MongoDB in their native environments. Change streams let you subscribe to real‑time database events for reactive applications. Realm and the Data API simplify mobile and serverless development. For ad‑hoc tasks, mongoexport/mongoimport can dump and load collections, and third‑party GUIs like Studio 3T and Robo 3T add convenience【933685053734866†L464-L535】.</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In this presentation we journeyed through MongoDB’s architecture, document model, CRUD operations, indexing, schema design, transactions, replication, sharding, backups, security, performance tuning, the ecosystem of tools and exciting new features. MongoDB’s flexibility makes it suitable for many different applications, but success depends on thoughtful schema design, proper indexing and careful attention to security and scalability.
 As next steps, spin up a MongoDB instance locally or on Atlas and practice modelling data, writing queries and designing indexes. Use built‑in tools to monitor performance and enable authentication and encryption to secure your data. Regularly back up your data and test restores. Keep up with releases to benefit from new capabilities like queryable encryption and vector search that extend MongoDB’s reach into secure and AI‑powered applications.
 With a solid grasp of these concepts and tools, you can confidently administer MongoDB clusters and develop robust, scalable applications that leverage the power of this document database【724356471452419†L166-L173】.</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file:///home/oai/share/mongodb_whitepaper_online.pdf#:~:text=programming%20language,Versions" TargetMode="External"/><Relationship Id="rId4" Type="http://schemas.openxmlformats.org/officeDocument/2006/relationships/hyperlink" Target="file:///home/oai/share/20-NoSQLMongoDB.pdf#:~:text=What%20is%20MongoDB%3F%20%E2%80%A2%20Developed,C%2B%2B%2C%20Haskell%2C%20Erlang%2017"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file:///home/oai/share/20-NoSQLMongoDB.pdf#:~:text=MongoDB%3A%20Hierarchical%20Objects%20%E2%80%A2%20A,21"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hyperlink" Target="file:///home/oai/share/mongodb_whitepaper_online.pdf#:~:text=Storage%20Engines%3A"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hyperlink" Target="file:///home/oai/share/20-NoSQLMongoDB.pdf#:~:text=MongoDB%20Features%20%E2%80%A2%20Document,Map%2FReduce%20functionality%2028%20Agile%20Scalable" TargetMode="External"/><Relationship Id="rId4" Type="http://schemas.openxmlformats.org/officeDocument/2006/relationships/hyperlink" Target="https://www.mongodb.com/docs/manual/crud/#:~:text=CRUD%20operations%20create%2C%20read%2C%20update%2C,and%20delete%20documents"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ww.mongodb.com/docs/manual/indexes/#:~:text=Indexes%20support%20efficient%20execution%20of,of%20documents%20it%20must%20scan"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hyperlink" Target="file:///home/oai/share/mongodb_whitepaper_online.pdf#:~:text=Indexing%20Indexes%20support%20the%20efficient,of%20documents%20it%20must%20inspect"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www.mongodb.com/company/blog/performance-best-practices-indexing#:~:text=Use%20Covered%20Queries%20When%20Possible"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https://www.mongodb.com/company/blog/performance-best-practices-indexing#:~:text=Having%20both%20worked%20for%20a,have%20to%20address%20with%20users" TargetMode="External"/><Relationship Id="rId5" Type="http://schemas.openxmlformats.org/officeDocument/2006/relationships/hyperlink" Target="https://blog.panoply.io/mongodb-best-practices#:~:text=Keep%20in%20mind%20that%20this,possible%20data%20in%20one%20document" TargetMode="External"/><Relationship Id="rId4" Type="http://schemas.openxmlformats.org/officeDocument/2006/relationships/hyperlink" Target="https://blog.panoply.io/mongodb-best-practices#:~:text=But%20when%20it%20comes%20to,or%20very%20similar%20across%20applications"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hyperlink" Target="file:///home/oai/share/mongodb_whitepaper_online.pdf#:~:text=Isolation%20Guarantees%3A%20MongoDB%20uses%20reader,as%20a%20database%20or%20collection" TargetMode="External"/><Relationship Id="rId4" Type="http://schemas.openxmlformats.org/officeDocument/2006/relationships/hyperlink" Target="file:///home/oai/share/mongodb_whitepaper_online.pdf#:~:text=ACID%20Properties"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file:///home/oai/share/mongodb_whitepaper_online.pdf" TargetMode="External"/><Relationship Id="rId5" Type="http://schemas.openxmlformats.org/officeDocument/2006/relationships/hyperlink" Target="https://www.mongodb.com/docs/manual/replication/#:~:text=Asynchronous%20Replication" TargetMode="External"/><Relationship Id="rId4" Type="http://schemas.openxmlformats.org/officeDocument/2006/relationships/hyperlink" Target="https://www.mongodb.com/docs/manual/replication/#:~:text=A%20replica%20set%20in%20MongoDB,tasks%20related%20to%20replica%20sets"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file:///home/oai/share/mongodb_whitepaper_online.pdf#:~:text=Sharding" TargetMode="External"/><Relationship Id="rId5" Type="http://schemas.openxmlformats.org/officeDocument/2006/relationships/hyperlink" Target="https://www.mongodb.com/docs/manual/sharding/#:~:text=Advantages%20of%20Sharding" TargetMode="External"/><Relationship Id="rId4" Type="http://schemas.openxmlformats.org/officeDocument/2006/relationships/hyperlink" Target="https://www.mongodb.com/docs/manual/sharding/#:~:text=Sharding%20is%20a%20method%20for,sets%20and%20high%20throughput%20operations"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file:///home/oai/share/mongodb_whitepaper_online.pdf#:~:text=MongoDb%20Backup%20Methods" TargetMode="External"/><Relationship Id="rId5" Type="http://schemas.openxmlformats.org/officeDocument/2006/relationships/hyperlink" Target="https://www.geeksforgeeks.org/mongodb/mongodb-backup-and-restoration/#:~:text=Data%20Restoration%20in%20MongoDB" TargetMode="External"/><Relationship Id="rId4" Type="http://schemas.openxmlformats.org/officeDocument/2006/relationships/hyperlink" Target="https://www.geeksforgeeks.org/mongodb/mongodb-backup-and-restoration/#:~:text=,space%20and%20reduces%20backup%20time"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file:///home/oai/share/mongodb_whitepaper_online.pdf#:~:text=Securities%20Features"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hyperlink" Target="https://blog.panoply.io/mongodb-best-practices#:~:text=Keep%20in%20mind%20that%20this,possible%20data%20in%20one%20document"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blog.panoply.io/mongodb-best-practices#:~:text=But%20when%20it%20comes%20to,or%20very%20similar%20across%20applications" TargetMode="External"/><Relationship Id="rId5" Type="http://schemas.openxmlformats.org/officeDocument/2006/relationships/hyperlink" Target="https://www.mongodb.com/company/blog/performance-best-practices-indexing#:~:text=Use%20Covered%20Queries%20When%20Possible" TargetMode="External"/><Relationship Id="rId4" Type="http://schemas.openxmlformats.org/officeDocument/2006/relationships/hyperlink" Target="https://www.mongodb.com/company/blog/performance-best-practices-indexing#:~:text=Having%20both%20worked%20for%20a,have%20to%20address%20with%20users"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hyperlink" Target="https://www.mongodb.com/company/blog/mongodbs-2024-year-in-review#:~:text=Search%20functionality%20is%20indispensable%20in,search%20workloads%20like%20never%20before"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hyperlink" Target="https://www.mongodb.com/company/blog/product-release-announcements/top-4-reasons-to-use-mongodb-8-0#:~:text=MongoDB%208,key%E2%80%94with%20no%20cryptography%20expertise%20required" TargetMode="External"/><Relationship Id="rId5" Type="http://schemas.openxmlformats.org/officeDocument/2006/relationships/hyperlink" Target="https://www.mongodb.com/company/blog/product-release-announcements/top-4-reasons-to-use-mongodb-8-0#:~:text=MongoDB%208,lower%20resource%20usage%20and%20costs" TargetMode="External"/><Relationship Id="rId4" Type="http://schemas.openxmlformats.org/officeDocument/2006/relationships/hyperlink" Target="https://www.mongodb.com/company/blog/mongodbs-2024-year-in-review#:~:text=In%20October%20we%20released%20MongoDB,perform%20queries%20directly%20on%20data"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hyperlink" Target="file:///home/oai/share/mongodb_whitepaper_online.pdf#:~:text=Securities%20Features" TargetMode="External"/><Relationship Id="rId4" Type="http://schemas.openxmlformats.org/officeDocument/2006/relationships/hyperlink" Target="file:///home/oai/share/mongodb_whitepaper_online.pdf#:~:text=MongoDb%20Backup%20Methods"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file:///home/oai/share/20-NoSQLMongoDB.pdf#:~:text=What%20is%20MongoDB%3F%20%E2%80%A2%20Developed,C%2B%2B%2C%20Haskell%2C%20Erlang%2017"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hyperlink" Target="https://www.mongodb.com/company/blog/mongodbs-2024-year-in-review#:~:text=In%20October%20we%20released%20MongoDB,perform%20queries%20directly%20on%20data"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50000"/>
            </a:srgbClr>
          </a:solidFill>
          <a:ln w="12700">
            <a:solidFill>
              <a:srgbClr val="000000">
                <a:alpha val="50000"/>
              </a:srgbClr>
            </a:solidFill>
            <a:prstDash val="solid"/>
          </a:ln>
        </p:spPr>
        <p:txBody>
          <a:bodyPr/>
          <a:lstStyle/>
          <a:p>
            <a:endParaRPr/>
          </a:p>
        </p:txBody>
      </p:sp>
      <p:sp>
        <p:nvSpPr>
          <p:cNvPr id="4" name="Text 1"/>
          <p:cNvSpPr/>
          <p:nvPr/>
        </p:nvSpPr>
        <p:spPr>
          <a:xfrm>
            <a:off x="457200" y="1828800"/>
            <a:ext cx="8229600" cy="1828800"/>
          </a:xfrm>
          <a:prstGeom prst="rect">
            <a:avLst/>
          </a:prstGeom>
          <a:noFill/>
          <a:ln/>
        </p:spPr>
        <p:txBody>
          <a:bodyPr wrap="square" rtlCol="0" anchor="ctr"/>
          <a:lstStyle/>
          <a:p>
            <a:pPr marL="0" indent="0" algn="ctr">
              <a:buNone/>
            </a:pPr>
            <a:r>
              <a:rPr lang="en-US" sz="4400" b="1" dirty="0">
                <a:solidFill>
                  <a:srgbClr val="FFFFFF"/>
                </a:solidFill>
              </a:rPr>
              <a:t>MongoDB
</a:t>
            </a:r>
            <a:endParaRPr lang="en-US" sz="4400" dirty="0"/>
          </a:p>
          <a:p>
            <a:pPr marL="0" indent="0" algn="ctr">
              <a:buNone/>
            </a:pPr>
            <a:r>
              <a:rPr lang="en-US" sz="1800" i="1" dirty="0">
                <a:solidFill>
                  <a:srgbClr val="D3D3D3"/>
                </a:solidFill>
              </a:rPr>
              <a:t>Comprehensive Guide for DB Administrators &amp; Beginners</a:t>
            </a:r>
            <a:endParaRPr lang="en-US" sz="4400" dirty="0"/>
          </a:p>
        </p:txBody>
      </p:sp>
      <p:sp>
        <p:nvSpPr>
          <p:cNvPr id="5" name="Text 2"/>
          <p:cNvSpPr/>
          <p:nvPr/>
        </p:nvSpPr>
        <p:spPr>
          <a:xfrm>
            <a:off x="457200" y="4754880"/>
            <a:ext cx="8229600" cy="274320"/>
          </a:xfrm>
          <a:prstGeom prst="rect">
            <a:avLst/>
          </a:prstGeom>
          <a:noFill/>
          <a:ln/>
        </p:spPr>
        <p:txBody>
          <a:bodyPr wrap="square" lIns="0" tIns="0" rIns="0" bIns="0" rtlCol="0" anchor="ctr"/>
          <a:lstStyle/>
          <a:p>
            <a:pPr marL="0" indent="0" algn="l">
              <a:buNone/>
            </a:pPr>
            <a:r>
              <a:rPr lang="en-US" sz="700" u="sng" dirty="0">
                <a:solidFill>
                  <a:srgbClr val="0070C0"/>
                </a:solidFill>
                <a:hlinkClick r:id="rId4"/>
              </a:rPr>
              <a:t>[1]</a:t>
            </a:r>
            <a:r>
              <a:rPr lang="en-US" sz="700" dirty="0">
                <a:solidFill>
                  <a:srgbClr val="000000"/>
                </a:solidFill>
              </a:rPr>
              <a:t>   </a:t>
            </a:r>
            <a:r>
              <a:rPr lang="en-US" sz="700" u="sng" dirty="0">
                <a:solidFill>
                  <a:srgbClr val="0070C0"/>
                </a:solidFill>
                <a:hlinkClick r:id="rId5"/>
              </a:rPr>
              <a:t>[2]</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marL="0" indent="0">
              <a:buNone/>
            </a:pPr>
            <a:r>
              <a:rPr lang="en-US" sz="2800" b="1" dirty="0">
                <a:solidFill>
                  <a:srgbClr val="003366"/>
                </a:solidFill>
              </a:rPr>
              <a:t>Architecture &amp; Data Model</a:t>
            </a:r>
            <a:endParaRPr lang="en-US" sz="2800" dirty="0"/>
          </a:p>
        </p:txBody>
      </p:sp>
      <p:sp>
        <p:nvSpPr>
          <p:cNvPr id="3" name="Shape 1"/>
          <p:cNvSpPr/>
          <p:nvPr/>
        </p:nvSpPr>
        <p:spPr>
          <a:xfrm>
            <a:off x="695968" y="1097280"/>
            <a:ext cx="1442705" cy="640080"/>
          </a:xfrm>
          <a:prstGeom prst="roundRect">
            <a:avLst>
              <a:gd name="adj" fmla="val 7143"/>
            </a:avLst>
          </a:prstGeom>
          <a:solidFill>
            <a:srgbClr val="E8EEF7"/>
          </a:solidFill>
          <a:ln w="12700">
            <a:solidFill>
              <a:srgbClr val="A6C1E8"/>
            </a:solidFill>
            <a:prstDash val="solid"/>
          </a:ln>
        </p:spPr>
        <p:txBody>
          <a:bodyPr/>
          <a:lstStyle/>
          <a:p>
            <a:endParaRPr/>
          </a:p>
        </p:txBody>
      </p:sp>
      <p:sp>
        <p:nvSpPr>
          <p:cNvPr id="4" name="Text 2"/>
          <p:cNvSpPr/>
          <p:nvPr/>
        </p:nvSpPr>
        <p:spPr>
          <a:xfrm>
            <a:off x="695968" y="1280160"/>
            <a:ext cx="1442705" cy="274320"/>
          </a:xfrm>
          <a:prstGeom prst="rect">
            <a:avLst/>
          </a:prstGeom>
          <a:noFill/>
          <a:ln/>
        </p:spPr>
        <p:txBody>
          <a:bodyPr wrap="square" rtlCol="0" anchor="ctr"/>
          <a:lstStyle/>
          <a:p>
            <a:pPr marL="0" indent="0" algn="ctr">
              <a:buNone/>
            </a:pPr>
            <a:r>
              <a:rPr lang="en-US" sz="1200" dirty="0">
                <a:solidFill>
                  <a:srgbClr val="003366"/>
                </a:solidFill>
              </a:rPr>
              <a:t>Instance</a:t>
            </a:r>
            <a:endParaRPr lang="en-US" sz="1200" dirty="0"/>
          </a:p>
        </p:txBody>
      </p:sp>
      <p:sp>
        <p:nvSpPr>
          <p:cNvPr id="5" name="Shape 3"/>
          <p:cNvSpPr/>
          <p:nvPr/>
        </p:nvSpPr>
        <p:spPr>
          <a:xfrm>
            <a:off x="2365830" y="1280160"/>
            <a:ext cx="206101" cy="274320"/>
          </a:xfrm>
          <a:prstGeom prst="rightArrow">
            <a:avLst/>
          </a:prstGeom>
          <a:solidFill>
            <a:srgbClr val="A6C1E8"/>
          </a:solidFill>
          <a:ln w="12700">
            <a:solidFill>
              <a:srgbClr val="A6C1E8"/>
            </a:solidFill>
            <a:prstDash val="solid"/>
          </a:ln>
        </p:spPr>
        <p:txBody>
          <a:bodyPr/>
          <a:lstStyle/>
          <a:p>
            <a:endParaRPr/>
          </a:p>
        </p:txBody>
      </p:sp>
      <p:sp>
        <p:nvSpPr>
          <p:cNvPr id="6" name="Shape 4"/>
          <p:cNvSpPr/>
          <p:nvPr/>
        </p:nvSpPr>
        <p:spPr>
          <a:xfrm>
            <a:off x="2707648" y="1097280"/>
            <a:ext cx="1442705" cy="640080"/>
          </a:xfrm>
          <a:prstGeom prst="roundRect">
            <a:avLst>
              <a:gd name="adj" fmla="val 7143"/>
            </a:avLst>
          </a:prstGeom>
          <a:solidFill>
            <a:srgbClr val="E8EEF7"/>
          </a:solidFill>
          <a:ln w="12700">
            <a:solidFill>
              <a:srgbClr val="A6C1E8"/>
            </a:solidFill>
            <a:prstDash val="solid"/>
          </a:ln>
        </p:spPr>
        <p:txBody>
          <a:bodyPr/>
          <a:lstStyle/>
          <a:p>
            <a:endParaRPr/>
          </a:p>
        </p:txBody>
      </p:sp>
      <p:sp>
        <p:nvSpPr>
          <p:cNvPr id="7" name="Text 5"/>
          <p:cNvSpPr/>
          <p:nvPr/>
        </p:nvSpPr>
        <p:spPr>
          <a:xfrm>
            <a:off x="2707648" y="1280160"/>
            <a:ext cx="1442705" cy="274320"/>
          </a:xfrm>
          <a:prstGeom prst="rect">
            <a:avLst/>
          </a:prstGeom>
          <a:noFill/>
          <a:ln/>
        </p:spPr>
        <p:txBody>
          <a:bodyPr wrap="square" rtlCol="0" anchor="ctr"/>
          <a:lstStyle/>
          <a:p>
            <a:pPr marL="0" indent="0" algn="ctr">
              <a:buNone/>
            </a:pPr>
            <a:r>
              <a:rPr lang="en-US" sz="1200" dirty="0">
                <a:solidFill>
                  <a:srgbClr val="003366"/>
                </a:solidFill>
              </a:rPr>
              <a:t>Database</a:t>
            </a:r>
            <a:endParaRPr lang="en-US" sz="1200" dirty="0"/>
          </a:p>
        </p:txBody>
      </p:sp>
      <p:sp>
        <p:nvSpPr>
          <p:cNvPr id="8" name="Shape 6"/>
          <p:cNvSpPr/>
          <p:nvPr/>
        </p:nvSpPr>
        <p:spPr>
          <a:xfrm>
            <a:off x="4377510" y="1280160"/>
            <a:ext cx="206101" cy="274320"/>
          </a:xfrm>
          <a:prstGeom prst="rightArrow">
            <a:avLst/>
          </a:prstGeom>
          <a:solidFill>
            <a:srgbClr val="A6C1E8"/>
          </a:solidFill>
          <a:ln w="12700">
            <a:solidFill>
              <a:srgbClr val="A6C1E8"/>
            </a:solidFill>
            <a:prstDash val="solid"/>
          </a:ln>
        </p:spPr>
        <p:txBody>
          <a:bodyPr/>
          <a:lstStyle/>
          <a:p>
            <a:endParaRPr/>
          </a:p>
        </p:txBody>
      </p:sp>
      <p:sp>
        <p:nvSpPr>
          <p:cNvPr id="9" name="Shape 7"/>
          <p:cNvSpPr/>
          <p:nvPr/>
        </p:nvSpPr>
        <p:spPr>
          <a:xfrm>
            <a:off x="4719328" y="1097280"/>
            <a:ext cx="1442705" cy="640080"/>
          </a:xfrm>
          <a:prstGeom prst="roundRect">
            <a:avLst>
              <a:gd name="adj" fmla="val 7143"/>
            </a:avLst>
          </a:prstGeom>
          <a:solidFill>
            <a:srgbClr val="E8EEF7"/>
          </a:solidFill>
          <a:ln w="12700">
            <a:solidFill>
              <a:srgbClr val="A6C1E8"/>
            </a:solidFill>
            <a:prstDash val="solid"/>
          </a:ln>
        </p:spPr>
        <p:txBody>
          <a:bodyPr/>
          <a:lstStyle/>
          <a:p>
            <a:endParaRPr/>
          </a:p>
        </p:txBody>
      </p:sp>
      <p:sp>
        <p:nvSpPr>
          <p:cNvPr id="10" name="Text 8"/>
          <p:cNvSpPr/>
          <p:nvPr/>
        </p:nvSpPr>
        <p:spPr>
          <a:xfrm>
            <a:off x="4719328" y="1280160"/>
            <a:ext cx="1442705" cy="274320"/>
          </a:xfrm>
          <a:prstGeom prst="rect">
            <a:avLst/>
          </a:prstGeom>
          <a:noFill/>
          <a:ln/>
        </p:spPr>
        <p:txBody>
          <a:bodyPr wrap="square" rtlCol="0" anchor="ctr"/>
          <a:lstStyle/>
          <a:p>
            <a:pPr marL="0" indent="0" algn="ctr">
              <a:buNone/>
            </a:pPr>
            <a:r>
              <a:rPr lang="en-US" sz="1200" dirty="0">
                <a:solidFill>
                  <a:srgbClr val="003366"/>
                </a:solidFill>
              </a:rPr>
              <a:t>Collection</a:t>
            </a:r>
            <a:endParaRPr lang="en-US" sz="1200" dirty="0"/>
          </a:p>
        </p:txBody>
      </p:sp>
      <p:sp>
        <p:nvSpPr>
          <p:cNvPr id="11" name="Shape 9"/>
          <p:cNvSpPr/>
          <p:nvPr/>
        </p:nvSpPr>
        <p:spPr>
          <a:xfrm>
            <a:off x="6389190" y="1280160"/>
            <a:ext cx="206101" cy="274320"/>
          </a:xfrm>
          <a:prstGeom prst="rightArrow">
            <a:avLst/>
          </a:prstGeom>
          <a:solidFill>
            <a:srgbClr val="A6C1E8"/>
          </a:solidFill>
          <a:ln w="12700">
            <a:solidFill>
              <a:srgbClr val="A6C1E8"/>
            </a:solidFill>
            <a:prstDash val="solid"/>
          </a:ln>
        </p:spPr>
        <p:txBody>
          <a:bodyPr/>
          <a:lstStyle/>
          <a:p>
            <a:endParaRPr/>
          </a:p>
        </p:txBody>
      </p:sp>
      <p:sp>
        <p:nvSpPr>
          <p:cNvPr id="12" name="Shape 10"/>
          <p:cNvSpPr/>
          <p:nvPr/>
        </p:nvSpPr>
        <p:spPr>
          <a:xfrm>
            <a:off x="6731008" y="1097280"/>
            <a:ext cx="1442705" cy="640080"/>
          </a:xfrm>
          <a:prstGeom prst="roundRect">
            <a:avLst>
              <a:gd name="adj" fmla="val 7143"/>
            </a:avLst>
          </a:prstGeom>
          <a:solidFill>
            <a:srgbClr val="E8EEF7"/>
          </a:solidFill>
          <a:ln w="12700">
            <a:solidFill>
              <a:srgbClr val="A6C1E8"/>
            </a:solidFill>
            <a:prstDash val="solid"/>
          </a:ln>
        </p:spPr>
        <p:txBody>
          <a:bodyPr/>
          <a:lstStyle/>
          <a:p>
            <a:endParaRPr/>
          </a:p>
        </p:txBody>
      </p:sp>
      <p:sp>
        <p:nvSpPr>
          <p:cNvPr id="13" name="Text 11"/>
          <p:cNvSpPr/>
          <p:nvPr/>
        </p:nvSpPr>
        <p:spPr>
          <a:xfrm>
            <a:off x="6731008" y="1280160"/>
            <a:ext cx="1442705" cy="274320"/>
          </a:xfrm>
          <a:prstGeom prst="rect">
            <a:avLst/>
          </a:prstGeom>
          <a:noFill/>
          <a:ln/>
        </p:spPr>
        <p:txBody>
          <a:bodyPr wrap="square" rtlCol="0" anchor="ctr"/>
          <a:lstStyle/>
          <a:p>
            <a:pPr marL="0" indent="0" algn="ctr">
              <a:buNone/>
            </a:pPr>
            <a:r>
              <a:rPr lang="en-US" sz="1200" dirty="0">
                <a:solidFill>
                  <a:srgbClr val="003366"/>
                </a:solidFill>
              </a:rPr>
              <a:t>Document</a:t>
            </a:r>
            <a:endParaRPr lang="en-US" sz="1200" dirty="0"/>
          </a:p>
        </p:txBody>
      </p:sp>
      <p:sp>
        <p:nvSpPr>
          <p:cNvPr id="14" name="Shape 12"/>
          <p:cNvSpPr/>
          <p:nvPr/>
        </p:nvSpPr>
        <p:spPr>
          <a:xfrm>
            <a:off x="8400870" y="1280160"/>
            <a:ext cx="206101" cy="274320"/>
          </a:xfrm>
          <a:prstGeom prst="rightArrow">
            <a:avLst/>
          </a:prstGeom>
          <a:solidFill>
            <a:srgbClr val="A6C1E8"/>
          </a:solidFill>
          <a:ln w="12700">
            <a:solidFill>
              <a:srgbClr val="A6C1E8"/>
            </a:solidFill>
            <a:prstDash val="solid"/>
          </a:ln>
        </p:spPr>
        <p:txBody>
          <a:bodyPr/>
          <a:lstStyle/>
          <a:p>
            <a:endParaRPr/>
          </a:p>
        </p:txBody>
      </p:sp>
      <p:sp>
        <p:nvSpPr>
          <p:cNvPr id="15" name="Shape 13"/>
          <p:cNvSpPr/>
          <p:nvPr/>
        </p:nvSpPr>
        <p:spPr>
          <a:xfrm>
            <a:off x="8503920" y="1097280"/>
            <a:ext cx="1920240" cy="640080"/>
          </a:xfrm>
          <a:prstGeom prst="roundRect">
            <a:avLst>
              <a:gd name="adj" fmla="val 7143"/>
            </a:avLst>
          </a:prstGeom>
          <a:solidFill>
            <a:srgbClr val="E8EEF7"/>
          </a:solidFill>
          <a:ln w="12700">
            <a:solidFill>
              <a:srgbClr val="A6C1E8"/>
            </a:solidFill>
            <a:prstDash val="solid"/>
          </a:ln>
        </p:spPr>
        <p:txBody>
          <a:bodyPr/>
          <a:lstStyle/>
          <a:p>
            <a:endParaRPr/>
          </a:p>
        </p:txBody>
      </p:sp>
      <p:sp>
        <p:nvSpPr>
          <p:cNvPr id="16" name="Text 14"/>
          <p:cNvSpPr/>
          <p:nvPr/>
        </p:nvSpPr>
        <p:spPr>
          <a:xfrm>
            <a:off x="7782568" y="1303020"/>
            <a:ext cx="1920240" cy="274320"/>
          </a:xfrm>
          <a:prstGeom prst="rect">
            <a:avLst/>
          </a:prstGeom>
          <a:noFill/>
          <a:ln/>
        </p:spPr>
        <p:txBody>
          <a:bodyPr wrap="square" rtlCol="0" anchor="ctr"/>
          <a:lstStyle/>
          <a:p>
            <a:pPr marL="0" indent="0" algn="ctr">
              <a:buNone/>
            </a:pPr>
            <a:r>
              <a:rPr lang="en-US" sz="1200" dirty="0">
                <a:solidFill>
                  <a:srgbClr val="003366"/>
                </a:solidFill>
              </a:rPr>
              <a:t>Field</a:t>
            </a:r>
            <a:endParaRPr lang="en-US" sz="1200" dirty="0"/>
          </a:p>
        </p:txBody>
      </p:sp>
      <p:sp>
        <p:nvSpPr>
          <p:cNvPr id="17" name="Text 15"/>
          <p:cNvSpPr/>
          <p:nvPr/>
        </p:nvSpPr>
        <p:spPr>
          <a:xfrm>
            <a:off x="457200" y="2194560"/>
            <a:ext cx="4389120" cy="1828800"/>
          </a:xfrm>
          <a:prstGeom prst="rect">
            <a:avLst/>
          </a:prstGeom>
          <a:noFill/>
          <a:ln/>
        </p:spPr>
        <p:txBody>
          <a:bodyPr wrap="square" rtlCol="0" anchor="ctr"/>
          <a:lstStyle/>
          <a:p>
            <a:pPr marL="0" indent="0">
              <a:buNone/>
            </a:pPr>
            <a:r>
              <a:rPr lang="en-US" sz="1600" b="1" dirty="0">
                <a:solidFill>
                  <a:srgbClr val="003366"/>
                </a:solidFill>
              </a:rPr>
              <a:t>Document Model
</a:t>
            </a:r>
            <a:r>
              <a:rPr lang="en-US" sz="1200" dirty="0">
                <a:solidFill>
                  <a:srgbClr val="333333"/>
                </a:solidFill>
              </a:rPr>
              <a:t>MongoDB is built around a hierarchical data model. At the top is the MongoDB server instance, which can host multiple databases. Each database contains collections, and collections store BSON documents – flexible, schema‑less objects comprised of fields and nested subdocuments. The dynamic document structure allows you to vary the shape of your data from document to document.</a:t>
            </a:r>
            <a:endParaRPr lang="en-US" sz="1600" dirty="0"/>
          </a:p>
        </p:txBody>
      </p:sp>
      <p:sp>
        <p:nvSpPr>
          <p:cNvPr id="18" name="Shape 16"/>
          <p:cNvSpPr/>
          <p:nvPr/>
        </p:nvSpPr>
        <p:spPr>
          <a:xfrm>
            <a:off x="4937760" y="2194560"/>
            <a:ext cx="3749040" cy="2011680"/>
          </a:xfrm>
          <a:prstGeom prst="roundRect">
            <a:avLst>
              <a:gd name="adj" fmla="val 2273"/>
            </a:avLst>
          </a:prstGeom>
          <a:solidFill>
            <a:srgbClr val="F0F5FA"/>
          </a:solidFill>
          <a:ln w="12700">
            <a:solidFill>
              <a:srgbClr val="D6E2F1"/>
            </a:solidFill>
            <a:prstDash val="solid"/>
          </a:ln>
        </p:spPr>
        <p:txBody>
          <a:bodyPr/>
          <a:lstStyle/>
          <a:p>
            <a:endParaRPr/>
          </a:p>
        </p:txBody>
      </p:sp>
      <p:sp>
        <p:nvSpPr>
          <p:cNvPr id="19" name="Text 17"/>
          <p:cNvSpPr/>
          <p:nvPr/>
        </p:nvSpPr>
        <p:spPr>
          <a:xfrm>
            <a:off x="4983480" y="2240280"/>
            <a:ext cx="3657600" cy="1920240"/>
          </a:xfrm>
          <a:prstGeom prst="rect">
            <a:avLst/>
          </a:prstGeom>
          <a:noFill/>
          <a:ln/>
        </p:spPr>
        <p:txBody>
          <a:bodyPr wrap="square" lIns="635" tIns="635" rIns="635" bIns="635" rtlCol="0" anchor="ctr"/>
          <a:lstStyle/>
          <a:p>
            <a:pPr marL="0" indent="0" algn="l">
              <a:buNone/>
            </a:pPr>
            <a:r>
              <a:rPr lang="en-US" sz="1200" dirty="0">
                <a:solidFill>
                  <a:srgbClr val="000000"/>
                </a:solidFill>
                <a:latin typeface="Consolas" pitchFamily="34" charset="0"/>
                <a:ea typeface="Consolas" pitchFamily="34" charset="-122"/>
                <a:cs typeface="Consolas" pitchFamily="34" charset="-120"/>
              </a:rPr>
              <a:t>{</a:t>
            </a:r>
            <a:endParaRPr lang="en-US" sz="1200" dirty="0"/>
          </a:p>
          <a:p>
            <a:pPr marL="0" indent="0" algn="l">
              <a:buNone/>
            </a:pPr>
            <a:r>
              <a:rPr lang="en-US" sz="1200" dirty="0">
                <a:solidFill>
                  <a:srgbClr val="000000"/>
                </a:solidFill>
                <a:latin typeface="Consolas" pitchFamily="34" charset="0"/>
                <a:ea typeface="Consolas" pitchFamily="34" charset="-122"/>
                <a:cs typeface="Consolas" pitchFamily="34" charset="-120"/>
              </a:rPr>
              <a:t>  </a:t>
            </a:r>
            <a:endParaRPr lang="en-US" sz="1200" dirty="0"/>
          </a:p>
          <a:p>
            <a:pPr marL="0" indent="0" algn="l">
              <a:buNone/>
            </a:pPr>
            <a:r>
              <a:rPr lang="en-US" sz="1200" dirty="0">
                <a:solidFill>
                  <a:srgbClr val="000000"/>
                </a:solidFill>
                <a:latin typeface="Consolas" pitchFamily="34" charset="0"/>
                <a:ea typeface="Consolas" pitchFamily="34" charset="-122"/>
                <a:cs typeface="Consolas" pitchFamily="34" charset="-120"/>
              </a:rPr>
              <a:t>_id: </a:t>
            </a:r>
            <a:r>
              <a:rPr lang="en-US" sz="1200" dirty="0">
                <a:solidFill>
                  <a:srgbClr val="795E26"/>
                </a:solidFill>
                <a:latin typeface="Consolas" pitchFamily="34" charset="0"/>
                <a:ea typeface="Consolas" pitchFamily="34" charset="-122"/>
                <a:cs typeface="Consolas" pitchFamily="34" charset="-120"/>
              </a:rPr>
              <a:t>ObjectId</a:t>
            </a:r>
            <a:r>
              <a:rPr lang="en-US" sz="1200" dirty="0">
                <a:solidFill>
                  <a:srgbClr val="000000"/>
                </a:solidFill>
                <a:latin typeface="Consolas" pitchFamily="34" charset="0"/>
                <a:ea typeface="Consolas" pitchFamily="34" charset="-122"/>
                <a:cs typeface="Consolas" pitchFamily="34" charset="-120"/>
              </a:rPr>
              <a:t>(</a:t>
            </a:r>
            <a:r>
              <a:rPr lang="en-US" sz="1200" dirty="0">
                <a:solidFill>
                  <a:srgbClr val="A31515"/>
                </a:solidFill>
                <a:latin typeface="Consolas" pitchFamily="34" charset="0"/>
                <a:ea typeface="Consolas" pitchFamily="34" charset="-122"/>
                <a:cs typeface="Consolas" pitchFamily="34" charset="-120"/>
              </a:rPr>
              <a:t>'64f5...'</a:t>
            </a:r>
            <a:r>
              <a:rPr lang="en-US" sz="1200" dirty="0">
                <a:solidFill>
                  <a:srgbClr val="000000"/>
                </a:solidFill>
                <a:latin typeface="Consolas" pitchFamily="34" charset="0"/>
                <a:ea typeface="Consolas" pitchFamily="34" charset="-122"/>
                <a:cs typeface="Consolas" pitchFamily="34" charset="-120"/>
              </a:rPr>
              <a:t>),</a:t>
            </a:r>
            <a:endParaRPr lang="en-US" sz="1200" dirty="0"/>
          </a:p>
          <a:p>
            <a:pPr marL="0" indent="0" algn="l">
              <a:buNone/>
            </a:pPr>
            <a:r>
              <a:rPr lang="en-US" sz="1200" dirty="0">
                <a:solidFill>
                  <a:srgbClr val="000000"/>
                </a:solidFill>
                <a:latin typeface="Consolas" pitchFamily="34" charset="0"/>
                <a:ea typeface="Consolas" pitchFamily="34" charset="-122"/>
                <a:cs typeface="Consolas" pitchFamily="34" charset="-120"/>
              </a:rPr>
              <a:t>  </a:t>
            </a:r>
            <a:endParaRPr lang="en-US" sz="1200" dirty="0"/>
          </a:p>
          <a:p>
            <a:pPr marL="0" indent="0" algn="l">
              <a:buNone/>
            </a:pPr>
            <a:r>
              <a:rPr lang="en-US" sz="1200" dirty="0">
                <a:solidFill>
                  <a:srgbClr val="000000"/>
                </a:solidFill>
                <a:latin typeface="Consolas" pitchFamily="34" charset="0"/>
                <a:ea typeface="Consolas" pitchFamily="34" charset="-122"/>
                <a:cs typeface="Consolas" pitchFamily="34" charset="-120"/>
              </a:rPr>
              <a:t>name: </a:t>
            </a:r>
            <a:r>
              <a:rPr lang="en-US" sz="1200" dirty="0">
                <a:solidFill>
                  <a:srgbClr val="A31515"/>
                </a:solidFill>
                <a:latin typeface="Consolas" pitchFamily="34" charset="0"/>
                <a:ea typeface="Consolas" pitchFamily="34" charset="-122"/>
                <a:cs typeface="Consolas" pitchFamily="34" charset="-120"/>
              </a:rPr>
              <a:t>'Alice'</a:t>
            </a:r>
            <a:r>
              <a:rPr lang="en-US" sz="1200" dirty="0">
                <a:solidFill>
                  <a:srgbClr val="000000"/>
                </a:solidFill>
                <a:latin typeface="Consolas" pitchFamily="34" charset="0"/>
                <a:ea typeface="Consolas" pitchFamily="34" charset="-122"/>
                <a:cs typeface="Consolas" pitchFamily="34" charset="-120"/>
              </a:rPr>
              <a:t>,</a:t>
            </a:r>
            <a:endParaRPr lang="en-US" sz="1200" dirty="0"/>
          </a:p>
          <a:p>
            <a:pPr marL="0" indent="0" algn="l">
              <a:buNone/>
            </a:pPr>
            <a:r>
              <a:rPr lang="en-US" sz="1200" dirty="0">
                <a:solidFill>
                  <a:srgbClr val="000000"/>
                </a:solidFill>
                <a:latin typeface="Consolas" pitchFamily="34" charset="0"/>
                <a:ea typeface="Consolas" pitchFamily="34" charset="-122"/>
                <a:cs typeface="Consolas" pitchFamily="34" charset="-120"/>
              </a:rPr>
              <a:t>  </a:t>
            </a:r>
            <a:endParaRPr lang="en-US" sz="1200" dirty="0"/>
          </a:p>
          <a:p>
            <a:pPr marL="0" indent="0" algn="l">
              <a:buNone/>
            </a:pPr>
            <a:r>
              <a:rPr lang="en-US" sz="1200" dirty="0">
                <a:solidFill>
                  <a:srgbClr val="000000"/>
                </a:solidFill>
                <a:latin typeface="Consolas" pitchFamily="34" charset="0"/>
                <a:ea typeface="Consolas" pitchFamily="34" charset="-122"/>
                <a:cs typeface="Consolas" pitchFamily="34" charset="-120"/>
              </a:rPr>
              <a:t>email: </a:t>
            </a:r>
            <a:r>
              <a:rPr lang="en-US" sz="1200" dirty="0">
                <a:solidFill>
                  <a:srgbClr val="A31515"/>
                </a:solidFill>
                <a:latin typeface="Consolas" pitchFamily="34" charset="0"/>
                <a:ea typeface="Consolas" pitchFamily="34" charset="-122"/>
                <a:cs typeface="Consolas" pitchFamily="34" charset="-120"/>
              </a:rPr>
              <a:t>'alice@example.com'</a:t>
            </a:r>
            <a:r>
              <a:rPr lang="en-US" sz="1200" dirty="0">
                <a:solidFill>
                  <a:srgbClr val="000000"/>
                </a:solidFill>
                <a:latin typeface="Consolas" pitchFamily="34" charset="0"/>
                <a:ea typeface="Consolas" pitchFamily="34" charset="-122"/>
                <a:cs typeface="Consolas" pitchFamily="34" charset="-120"/>
              </a:rPr>
              <a:t>,</a:t>
            </a:r>
            <a:endParaRPr lang="en-US" sz="1200" dirty="0"/>
          </a:p>
          <a:p>
            <a:pPr marL="0" indent="0" algn="l">
              <a:buNone/>
            </a:pPr>
            <a:r>
              <a:rPr lang="en-US" sz="1200" dirty="0">
                <a:solidFill>
                  <a:srgbClr val="000000"/>
                </a:solidFill>
                <a:latin typeface="Consolas" pitchFamily="34" charset="0"/>
                <a:ea typeface="Consolas" pitchFamily="34" charset="-122"/>
                <a:cs typeface="Consolas" pitchFamily="34" charset="-120"/>
              </a:rPr>
              <a:t>  </a:t>
            </a:r>
            <a:endParaRPr lang="en-US" sz="1200" dirty="0"/>
          </a:p>
          <a:p>
            <a:pPr marL="0" indent="0" algn="l">
              <a:buNone/>
            </a:pPr>
            <a:r>
              <a:rPr lang="en-US" sz="1200" dirty="0">
                <a:solidFill>
                  <a:srgbClr val="000000"/>
                </a:solidFill>
                <a:latin typeface="Consolas" pitchFamily="34" charset="0"/>
                <a:ea typeface="Consolas" pitchFamily="34" charset="-122"/>
                <a:cs typeface="Consolas" pitchFamily="34" charset="-120"/>
              </a:rPr>
              <a:t>address: {</a:t>
            </a:r>
            <a:endParaRPr lang="en-US" sz="1200" dirty="0"/>
          </a:p>
          <a:p>
            <a:pPr marL="0" indent="0" algn="l">
              <a:buNone/>
            </a:pPr>
            <a:r>
              <a:rPr lang="en-US" sz="1200" dirty="0">
                <a:solidFill>
                  <a:srgbClr val="000000"/>
                </a:solidFill>
                <a:latin typeface="Consolas" pitchFamily="34" charset="0"/>
                <a:ea typeface="Consolas" pitchFamily="34" charset="-122"/>
                <a:cs typeface="Consolas" pitchFamily="34" charset="-120"/>
              </a:rPr>
              <a:t>    </a:t>
            </a:r>
            <a:endParaRPr lang="en-US" sz="1200" dirty="0"/>
          </a:p>
          <a:p>
            <a:pPr marL="0" indent="0" algn="l">
              <a:buNone/>
            </a:pPr>
            <a:r>
              <a:rPr lang="en-US" sz="1200" dirty="0">
                <a:solidFill>
                  <a:srgbClr val="000000"/>
                </a:solidFill>
                <a:latin typeface="Consolas" pitchFamily="34" charset="0"/>
                <a:ea typeface="Consolas" pitchFamily="34" charset="-122"/>
                <a:cs typeface="Consolas" pitchFamily="34" charset="-120"/>
              </a:rPr>
              <a:t>street: </a:t>
            </a:r>
            <a:r>
              <a:rPr lang="en-US" sz="1200" dirty="0">
                <a:solidFill>
                  <a:srgbClr val="A31515"/>
                </a:solidFill>
                <a:latin typeface="Consolas" pitchFamily="34" charset="0"/>
                <a:ea typeface="Consolas" pitchFamily="34" charset="-122"/>
                <a:cs typeface="Consolas" pitchFamily="34" charset="-120"/>
              </a:rPr>
              <a:t>'123 Main St'</a:t>
            </a:r>
            <a:r>
              <a:rPr lang="en-US" sz="1200" dirty="0">
                <a:solidFill>
                  <a:srgbClr val="000000"/>
                </a:solidFill>
                <a:latin typeface="Consolas" pitchFamily="34" charset="0"/>
                <a:ea typeface="Consolas" pitchFamily="34" charset="-122"/>
                <a:cs typeface="Consolas" pitchFamily="34" charset="-120"/>
              </a:rPr>
              <a:t>,</a:t>
            </a:r>
            <a:endParaRPr lang="en-US" sz="1200" dirty="0"/>
          </a:p>
          <a:p>
            <a:pPr marL="0" indent="0" algn="l">
              <a:buNone/>
            </a:pPr>
            <a:r>
              <a:rPr lang="en-US" sz="1200" dirty="0">
                <a:solidFill>
                  <a:srgbClr val="000000"/>
                </a:solidFill>
                <a:latin typeface="Consolas" pitchFamily="34" charset="0"/>
                <a:ea typeface="Consolas" pitchFamily="34" charset="-122"/>
                <a:cs typeface="Consolas" pitchFamily="34" charset="-120"/>
              </a:rPr>
              <a:t>    </a:t>
            </a:r>
            <a:endParaRPr lang="en-US" sz="1200" dirty="0"/>
          </a:p>
          <a:p>
            <a:pPr marL="0" indent="0" algn="l">
              <a:buNone/>
            </a:pPr>
            <a:r>
              <a:rPr lang="en-US" sz="1200" dirty="0">
                <a:solidFill>
                  <a:srgbClr val="000000"/>
                </a:solidFill>
                <a:latin typeface="Consolas" pitchFamily="34" charset="0"/>
                <a:ea typeface="Consolas" pitchFamily="34" charset="-122"/>
                <a:cs typeface="Consolas" pitchFamily="34" charset="-120"/>
              </a:rPr>
              <a:t>city: </a:t>
            </a:r>
            <a:r>
              <a:rPr lang="en-US" sz="1200" dirty="0">
                <a:solidFill>
                  <a:srgbClr val="A31515"/>
                </a:solidFill>
                <a:latin typeface="Consolas" pitchFamily="34" charset="0"/>
                <a:ea typeface="Consolas" pitchFamily="34" charset="-122"/>
                <a:cs typeface="Consolas" pitchFamily="34" charset="-120"/>
              </a:rPr>
              <a:t>'Metropolis'</a:t>
            </a:r>
            <a:r>
              <a:rPr lang="en-US" sz="1200" dirty="0">
                <a:solidFill>
                  <a:srgbClr val="000000"/>
                </a:solidFill>
                <a:latin typeface="Consolas" pitchFamily="34" charset="0"/>
                <a:ea typeface="Consolas" pitchFamily="34" charset="-122"/>
                <a:cs typeface="Consolas" pitchFamily="34" charset="-120"/>
              </a:rPr>
              <a:t>,</a:t>
            </a:r>
            <a:endParaRPr lang="en-US" sz="1200" dirty="0"/>
          </a:p>
          <a:p>
            <a:pPr marL="0" indent="0" algn="l">
              <a:buNone/>
            </a:pPr>
            <a:r>
              <a:rPr lang="en-US" sz="1200" dirty="0">
                <a:solidFill>
                  <a:srgbClr val="000000"/>
                </a:solidFill>
                <a:latin typeface="Consolas" pitchFamily="34" charset="0"/>
                <a:ea typeface="Consolas" pitchFamily="34" charset="-122"/>
                <a:cs typeface="Consolas" pitchFamily="34" charset="-120"/>
              </a:rPr>
              <a:t>    </a:t>
            </a:r>
            <a:endParaRPr lang="en-US" sz="1200" dirty="0"/>
          </a:p>
          <a:p>
            <a:pPr marL="0" indent="0" algn="l">
              <a:buNone/>
            </a:pPr>
            <a:r>
              <a:rPr lang="en-US" sz="1200" dirty="0">
                <a:solidFill>
                  <a:srgbClr val="000000"/>
                </a:solidFill>
                <a:latin typeface="Consolas" pitchFamily="34" charset="0"/>
                <a:ea typeface="Consolas" pitchFamily="34" charset="-122"/>
                <a:cs typeface="Consolas" pitchFamily="34" charset="-120"/>
              </a:rPr>
              <a:t>zip: </a:t>
            </a:r>
            <a:r>
              <a:rPr lang="en-US" sz="1200" dirty="0">
                <a:solidFill>
                  <a:srgbClr val="098658"/>
                </a:solidFill>
                <a:latin typeface="Consolas" pitchFamily="34" charset="0"/>
                <a:ea typeface="Consolas" pitchFamily="34" charset="-122"/>
                <a:cs typeface="Consolas" pitchFamily="34" charset="-120"/>
              </a:rPr>
              <a:t>54321</a:t>
            </a:r>
            <a:endParaRPr lang="en-US" sz="1200" dirty="0"/>
          </a:p>
          <a:p>
            <a:pPr marL="0" indent="0" algn="l">
              <a:buNone/>
            </a:pPr>
            <a:r>
              <a:rPr lang="en-US" sz="1200" dirty="0">
                <a:solidFill>
                  <a:srgbClr val="000000"/>
                </a:solidFill>
                <a:latin typeface="Consolas" pitchFamily="34" charset="0"/>
                <a:ea typeface="Consolas" pitchFamily="34" charset="-122"/>
                <a:cs typeface="Consolas" pitchFamily="34" charset="-120"/>
              </a:rPr>
              <a:t>  </a:t>
            </a:r>
            <a:endParaRPr lang="en-US" sz="1200" dirty="0"/>
          </a:p>
          <a:p>
            <a:pPr marL="0" indent="0" algn="l">
              <a:buNone/>
            </a:pPr>
            <a:r>
              <a:rPr lang="en-US" sz="1200" dirty="0">
                <a:solidFill>
                  <a:srgbClr val="000000"/>
                </a:solidFill>
                <a:latin typeface="Consolas" pitchFamily="34" charset="0"/>
                <a:ea typeface="Consolas" pitchFamily="34" charset="-122"/>
                <a:cs typeface="Consolas" pitchFamily="34" charset="-120"/>
              </a:rPr>
              <a:t>},</a:t>
            </a:r>
            <a:endParaRPr lang="en-US" sz="1200" dirty="0"/>
          </a:p>
          <a:p>
            <a:pPr marL="0" indent="0" algn="l">
              <a:buNone/>
            </a:pPr>
            <a:r>
              <a:rPr lang="en-US" sz="1200" dirty="0">
                <a:solidFill>
                  <a:srgbClr val="000000"/>
                </a:solidFill>
                <a:latin typeface="Consolas" pitchFamily="34" charset="0"/>
                <a:ea typeface="Consolas" pitchFamily="34" charset="-122"/>
                <a:cs typeface="Consolas" pitchFamily="34" charset="-120"/>
              </a:rPr>
              <a:t>  </a:t>
            </a:r>
            <a:endParaRPr lang="en-US" sz="1200" dirty="0"/>
          </a:p>
          <a:p>
            <a:pPr marL="0" indent="0" algn="l">
              <a:buNone/>
            </a:pPr>
            <a:r>
              <a:rPr lang="en-US" sz="1200" dirty="0">
                <a:solidFill>
                  <a:srgbClr val="000000"/>
                </a:solidFill>
                <a:latin typeface="Consolas" pitchFamily="34" charset="0"/>
                <a:ea typeface="Consolas" pitchFamily="34" charset="-122"/>
                <a:cs typeface="Consolas" pitchFamily="34" charset="-120"/>
              </a:rPr>
              <a:t>tags: [</a:t>
            </a:r>
            <a:r>
              <a:rPr lang="en-US" sz="1200" dirty="0">
                <a:solidFill>
                  <a:srgbClr val="A31515"/>
                </a:solidFill>
                <a:latin typeface="Consolas" pitchFamily="34" charset="0"/>
                <a:ea typeface="Consolas" pitchFamily="34" charset="-122"/>
                <a:cs typeface="Consolas" pitchFamily="34" charset="-120"/>
              </a:rPr>
              <a:t>'admin'</a:t>
            </a:r>
            <a:r>
              <a:rPr lang="en-US" sz="1200" dirty="0">
                <a:solidFill>
                  <a:srgbClr val="000000"/>
                </a:solidFill>
                <a:latin typeface="Consolas" pitchFamily="34" charset="0"/>
                <a:ea typeface="Consolas" pitchFamily="34" charset="-122"/>
                <a:cs typeface="Consolas" pitchFamily="34" charset="-120"/>
              </a:rPr>
              <a:t>, </a:t>
            </a:r>
            <a:r>
              <a:rPr lang="en-US" sz="1200" dirty="0">
                <a:solidFill>
                  <a:srgbClr val="A31515"/>
                </a:solidFill>
                <a:latin typeface="Consolas" pitchFamily="34" charset="0"/>
                <a:ea typeface="Consolas" pitchFamily="34" charset="-122"/>
                <a:cs typeface="Consolas" pitchFamily="34" charset="-120"/>
              </a:rPr>
              <a:t>'premium'</a:t>
            </a:r>
            <a:r>
              <a:rPr lang="en-US" sz="1200" dirty="0">
                <a:solidFill>
                  <a:srgbClr val="000000"/>
                </a:solidFill>
                <a:latin typeface="Consolas" pitchFamily="34" charset="0"/>
                <a:ea typeface="Consolas" pitchFamily="34" charset="-122"/>
                <a:cs typeface="Consolas" pitchFamily="34" charset="-120"/>
              </a:rPr>
              <a:t>],</a:t>
            </a:r>
            <a:endParaRPr lang="en-US" sz="1200" dirty="0"/>
          </a:p>
          <a:p>
            <a:pPr marL="0" indent="0" algn="l">
              <a:buNone/>
            </a:pPr>
            <a:r>
              <a:rPr lang="en-US" sz="1200" dirty="0">
                <a:solidFill>
                  <a:srgbClr val="000000"/>
                </a:solidFill>
                <a:latin typeface="Consolas" pitchFamily="34" charset="0"/>
                <a:ea typeface="Consolas" pitchFamily="34" charset="-122"/>
                <a:cs typeface="Consolas" pitchFamily="34" charset="-120"/>
              </a:rPr>
              <a:t>  </a:t>
            </a:r>
            <a:endParaRPr lang="en-US" sz="1200" dirty="0"/>
          </a:p>
          <a:p>
            <a:pPr marL="0" indent="0" algn="l">
              <a:buNone/>
            </a:pPr>
            <a:r>
              <a:rPr lang="en-US" sz="1200" dirty="0">
                <a:solidFill>
                  <a:srgbClr val="000000"/>
                </a:solidFill>
                <a:latin typeface="Consolas" pitchFamily="34" charset="0"/>
                <a:ea typeface="Consolas" pitchFamily="34" charset="-122"/>
                <a:cs typeface="Consolas" pitchFamily="34" charset="-120"/>
              </a:rPr>
              <a:t>createdAt: </a:t>
            </a:r>
            <a:r>
              <a:rPr lang="en-US" sz="1200" dirty="0">
                <a:solidFill>
                  <a:srgbClr val="795E26"/>
                </a:solidFill>
                <a:latin typeface="Consolas" pitchFamily="34" charset="0"/>
                <a:ea typeface="Consolas" pitchFamily="34" charset="-122"/>
                <a:cs typeface="Consolas" pitchFamily="34" charset="-120"/>
              </a:rPr>
              <a:t>ISODate</a:t>
            </a:r>
            <a:r>
              <a:rPr lang="en-US" sz="1200" dirty="0">
                <a:solidFill>
                  <a:srgbClr val="000000"/>
                </a:solidFill>
                <a:latin typeface="Consolas" pitchFamily="34" charset="0"/>
                <a:ea typeface="Consolas" pitchFamily="34" charset="-122"/>
                <a:cs typeface="Consolas" pitchFamily="34" charset="-120"/>
              </a:rPr>
              <a:t>(</a:t>
            </a:r>
            <a:r>
              <a:rPr lang="en-US" sz="1200" dirty="0">
                <a:solidFill>
                  <a:srgbClr val="A31515"/>
                </a:solidFill>
                <a:latin typeface="Consolas" pitchFamily="34" charset="0"/>
                <a:ea typeface="Consolas" pitchFamily="34" charset="-122"/>
                <a:cs typeface="Consolas" pitchFamily="34" charset="-120"/>
              </a:rPr>
              <a:t>'2024-10-21T14:30:00Z'</a:t>
            </a:r>
            <a:r>
              <a:rPr lang="en-US" sz="1200" dirty="0">
                <a:solidFill>
                  <a:srgbClr val="000000"/>
                </a:solidFill>
                <a:latin typeface="Consolas" pitchFamily="34" charset="0"/>
                <a:ea typeface="Consolas" pitchFamily="34" charset="-122"/>
                <a:cs typeface="Consolas" pitchFamily="34" charset="-120"/>
              </a:rPr>
              <a:t>)
}</a:t>
            </a:r>
            <a:endParaRPr lang="en-US" sz="1200" dirty="0"/>
          </a:p>
        </p:txBody>
      </p:sp>
      <p:sp>
        <p:nvSpPr>
          <p:cNvPr id="20" name="Text 18"/>
          <p:cNvSpPr/>
          <p:nvPr/>
        </p:nvSpPr>
        <p:spPr>
          <a:xfrm>
            <a:off x="457200" y="4754880"/>
            <a:ext cx="8229600" cy="274320"/>
          </a:xfrm>
          <a:prstGeom prst="rect">
            <a:avLst/>
          </a:prstGeom>
          <a:noFill/>
          <a:ln/>
        </p:spPr>
        <p:txBody>
          <a:bodyPr wrap="square" lIns="0" tIns="0" rIns="0" bIns="0" rtlCol="0" anchor="ctr"/>
          <a:lstStyle/>
          <a:p>
            <a:pPr marL="0" indent="0" algn="l">
              <a:buNone/>
            </a:pPr>
            <a:r>
              <a:rPr lang="en-US" sz="700" u="sng" dirty="0">
                <a:solidFill>
                  <a:srgbClr val="0070C0"/>
                </a:solidFill>
                <a:hlinkClick r:id="rId3"/>
              </a:rPr>
              <a:t>[3]</a:t>
            </a:r>
            <a:r>
              <a:rPr lang="en-US" sz="700" dirty="0">
                <a:solidFill>
                  <a:srgbClr val="000000"/>
                </a:solidFill>
              </a:rPr>
              <a:t>   </a:t>
            </a:r>
            <a:r>
              <a:rPr lang="en-US" sz="700" u="sng" dirty="0">
                <a:solidFill>
                  <a:srgbClr val="0070C0"/>
                </a:solidFill>
                <a:hlinkClick r:id="rId4"/>
              </a:rPr>
              <a:t>[4]</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600" b="1" dirty="0">
                <a:solidFill>
                  <a:srgbClr val="003366"/>
                </a:solidFill>
              </a:rPr>
              <a:t>CRUD Operations</a:t>
            </a:r>
            <a:endParaRPr lang="en-US" sz="2600" dirty="0"/>
          </a:p>
        </p:txBody>
      </p:sp>
      <p:sp>
        <p:nvSpPr>
          <p:cNvPr id="3" name="Text 1"/>
          <p:cNvSpPr/>
          <p:nvPr/>
        </p:nvSpPr>
        <p:spPr>
          <a:xfrm>
            <a:off x="457200" y="1005840"/>
            <a:ext cx="4389120" cy="3200400"/>
          </a:xfrm>
          <a:prstGeom prst="rect">
            <a:avLst/>
          </a:prstGeom>
          <a:noFill/>
          <a:ln/>
        </p:spPr>
        <p:txBody>
          <a:bodyPr wrap="square" rtlCol="0" anchor="ctr"/>
          <a:lstStyle/>
          <a:p>
            <a:pPr marL="0" indent="0">
              <a:buNone/>
            </a:pPr>
            <a:r>
              <a:rPr lang="en-US" sz="1400" b="1" dirty="0">
                <a:solidFill>
                  <a:srgbClr val="003366"/>
                </a:solidFill>
              </a:rPr>
              <a:t>Create
</a:t>
            </a:r>
            <a:r>
              <a:rPr lang="en-US" sz="1200" dirty="0">
                <a:solidFill>
                  <a:srgbClr val="333333"/>
                </a:solidFill>
              </a:rPr>
              <a:t>Use insertOne() or insertMany() to add documents. Collections are created automatically when you insert a document.
</a:t>
            </a:r>
            <a:r>
              <a:rPr lang="en-US" sz="1400" b="1" dirty="0">
                <a:solidFill>
                  <a:srgbClr val="003366"/>
                </a:solidFill>
              </a:rPr>
              <a:t>Read
</a:t>
            </a:r>
            <a:r>
              <a:rPr lang="en-US" sz="1200" dirty="0">
                <a:solidFill>
                  <a:srgbClr val="333333"/>
                </a:solidFill>
              </a:rPr>
              <a:t>Use find() to query documents. You can filter using operators (e.g., $gt, $in) and projection to return specific fields.
</a:t>
            </a:r>
            <a:r>
              <a:rPr lang="en-US" sz="1400" b="1" dirty="0">
                <a:solidFill>
                  <a:srgbClr val="003366"/>
                </a:solidFill>
              </a:rPr>
              <a:t>Update
</a:t>
            </a:r>
            <a:r>
              <a:rPr lang="en-US" sz="1200" dirty="0">
                <a:solidFill>
                  <a:srgbClr val="333333"/>
                </a:solidFill>
              </a:rPr>
              <a:t>Use updateOne(), updateMany() or replaceOne() to modify documents. Updates are atomic at the document level and support operators like $set and $inc.
</a:t>
            </a:r>
            <a:r>
              <a:rPr lang="en-US" sz="1400" b="1" dirty="0">
                <a:solidFill>
                  <a:srgbClr val="003366"/>
                </a:solidFill>
              </a:rPr>
              <a:t>Delete
</a:t>
            </a:r>
            <a:r>
              <a:rPr lang="en-US" sz="1200" dirty="0">
                <a:solidFill>
                  <a:srgbClr val="333333"/>
                </a:solidFill>
              </a:rPr>
              <a:t>Use deleteOne() or deleteMany() to remove documents. Always provide a filter to avoid deleting entire collections.</a:t>
            </a:r>
            <a:endParaRPr lang="en-US" sz="1400" dirty="0"/>
          </a:p>
        </p:txBody>
      </p:sp>
      <p:sp>
        <p:nvSpPr>
          <p:cNvPr id="4" name="Shape 2"/>
          <p:cNvSpPr/>
          <p:nvPr/>
        </p:nvSpPr>
        <p:spPr>
          <a:xfrm>
            <a:off x="4937760" y="1005840"/>
            <a:ext cx="3749040" cy="3017520"/>
          </a:xfrm>
          <a:prstGeom prst="roundRect">
            <a:avLst>
              <a:gd name="adj" fmla="val 1515"/>
            </a:avLst>
          </a:prstGeom>
          <a:solidFill>
            <a:srgbClr val="F8F9FA"/>
          </a:solidFill>
          <a:ln w="12700">
            <a:solidFill>
              <a:srgbClr val="D9E2EF"/>
            </a:solidFill>
            <a:prstDash val="solid"/>
          </a:ln>
        </p:spPr>
        <p:txBody>
          <a:bodyPr/>
          <a:lstStyle/>
          <a:p>
            <a:endParaRPr/>
          </a:p>
        </p:txBody>
      </p:sp>
      <p:sp>
        <p:nvSpPr>
          <p:cNvPr id="5" name="Text 3"/>
          <p:cNvSpPr/>
          <p:nvPr/>
        </p:nvSpPr>
        <p:spPr>
          <a:xfrm>
            <a:off x="4983480" y="1051560"/>
            <a:ext cx="3657600" cy="2971800"/>
          </a:xfrm>
          <a:prstGeom prst="rect">
            <a:avLst/>
          </a:prstGeom>
          <a:noFill/>
          <a:ln/>
        </p:spPr>
        <p:txBody>
          <a:bodyPr wrap="square" lIns="635" tIns="635" rIns="635" bIns="635" rtlCol="0" anchor="ctr"/>
          <a:lstStyle/>
          <a:p>
            <a:pPr marL="0" indent="0">
              <a:buNone/>
            </a:pPr>
            <a:r>
              <a:rPr lang="en-US" sz="1200" dirty="0">
                <a:solidFill>
                  <a:srgbClr val="6A9955"/>
                </a:solidFill>
                <a:latin typeface="Consolas" pitchFamily="34" charset="0"/>
                <a:ea typeface="Consolas" pitchFamily="34" charset="-122"/>
                <a:cs typeface="Consolas" pitchFamily="34" charset="-120"/>
              </a:rPr>
              <a:t>// Insert a new user</a:t>
            </a:r>
            <a:r>
              <a:rPr lang="en-US" sz="1200" dirty="0">
                <a:solidFill>
                  <a:srgbClr val="000000"/>
                </a:solidFill>
                <a:latin typeface="Consolas" pitchFamily="34" charset="0"/>
                <a:ea typeface="Consolas" pitchFamily="34" charset="-122"/>
                <a:cs typeface="Consolas" pitchFamily="34" charset="-120"/>
              </a:rPr>
              <a:t>
</a:t>
            </a:r>
            <a:r>
              <a:rPr lang="en-US" sz="1200" dirty="0">
                <a:solidFill>
                  <a:srgbClr val="007ACC"/>
                </a:solidFill>
                <a:latin typeface="Consolas" pitchFamily="34" charset="0"/>
                <a:ea typeface="Consolas" pitchFamily="34" charset="-122"/>
                <a:cs typeface="Consolas" pitchFamily="34" charset="-120"/>
              </a:rPr>
              <a:t>await</a:t>
            </a:r>
            <a:r>
              <a:rPr lang="en-US" sz="1200" dirty="0">
                <a:solidFill>
                  <a:srgbClr val="000000"/>
                </a:solidFill>
                <a:latin typeface="Consolas" pitchFamily="34" charset="0"/>
                <a:ea typeface="Consolas" pitchFamily="34" charset="-122"/>
                <a:cs typeface="Consolas" pitchFamily="34" charset="-120"/>
              </a:rPr>
              <a:t> users.</a:t>
            </a:r>
            <a:r>
              <a:rPr lang="en-US" sz="1200" dirty="0">
                <a:solidFill>
                  <a:srgbClr val="795E26"/>
                </a:solidFill>
                <a:latin typeface="Consolas" pitchFamily="34" charset="0"/>
                <a:ea typeface="Consolas" pitchFamily="34" charset="-122"/>
                <a:cs typeface="Consolas" pitchFamily="34" charset="-120"/>
              </a:rPr>
              <a:t>insertOne</a:t>
            </a:r>
            <a:r>
              <a:rPr lang="en-US" sz="1200" dirty="0">
                <a:solidFill>
                  <a:srgbClr val="000000"/>
                </a:solidFill>
                <a:latin typeface="Consolas" pitchFamily="34" charset="0"/>
                <a:ea typeface="Consolas" pitchFamily="34" charset="-122"/>
                <a:cs typeface="Consolas" pitchFamily="34" charset="-120"/>
              </a:rPr>
              <a:t>({ name: </a:t>
            </a:r>
            <a:r>
              <a:rPr lang="en-US" sz="1200" dirty="0">
                <a:solidFill>
                  <a:srgbClr val="A31515"/>
                </a:solidFill>
                <a:latin typeface="Consolas" pitchFamily="34" charset="0"/>
                <a:ea typeface="Consolas" pitchFamily="34" charset="-122"/>
                <a:cs typeface="Consolas" pitchFamily="34" charset="-120"/>
              </a:rPr>
              <a:t>'Bob'</a:t>
            </a:r>
            <a:r>
              <a:rPr lang="en-US" sz="1200" dirty="0">
                <a:solidFill>
                  <a:srgbClr val="000000"/>
                </a:solidFill>
                <a:latin typeface="Consolas" pitchFamily="34" charset="0"/>
                <a:ea typeface="Consolas" pitchFamily="34" charset="-122"/>
                <a:cs typeface="Consolas" pitchFamily="34" charset="-120"/>
              </a:rPr>
              <a:t>, age: </a:t>
            </a:r>
            <a:r>
              <a:rPr lang="en-US" sz="1200" dirty="0">
                <a:solidFill>
                  <a:srgbClr val="098658"/>
                </a:solidFill>
                <a:latin typeface="Consolas" pitchFamily="34" charset="0"/>
                <a:ea typeface="Consolas" pitchFamily="34" charset="-122"/>
                <a:cs typeface="Consolas" pitchFamily="34" charset="-120"/>
              </a:rPr>
              <a:t>29</a:t>
            </a:r>
            <a:r>
              <a:rPr lang="en-US" sz="1200" dirty="0">
                <a:solidFill>
                  <a:srgbClr val="000000"/>
                </a:solidFill>
                <a:latin typeface="Consolas" pitchFamily="34" charset="0"/>
                <a:ea typeface="Consolas" pitchFamily="34" charset="-122"/>
                <a:cs typeface="Consolas" pitchFamily="34" charset="-120"/>
              </a:rPr>
              <a:t> });
</a:t>
            </a:r>
            <a:r>
              <a:rPr lang="en-US" sz="1200" dirty="0">
                <a:solidFill>
                  <a:srgbClr val="6A9955"/>
                </a:solidFill>
                <a:latin typeface="Consolas" pitchFamily="34" charset="0"/>
                <a:ea typeface="Consolas" pitchFamily="34" charset="-122"/>
                <a:cs typeface="Consolas" pitchFamily="34" charset="-120"/>
              </a:rPr>
              <a:t>// Find users older than 25</a:t>
            </a:r>
            <a:r>
              <a:rPr lang="en-US" sz="1200" dirty="0">
                <a:solidFill>
                  <a:srgbClr val="000000"/>
                </a:solidFill>
                <a:latin typeface="Consolas" pitchFamily="34" charset="0"/>
                <a:ea typeface="Consolas" pitchFamily="34" charset="-122"/>
                <a:cs typeface="Consolas" pitchFamily="34" charset="-120"/>
              </a:rPr>
              <a:t>
</a:t>
            </a:r>
            <a:r>
              <a:rPr lang="en-US" sz="1200" dirty="0">
                <a:solidFill>
                  <a:srgbClr val="007ACC"/>
                </a:solidFill>
                <a:latin typeface="Consolas" pitchFamily="34" charset="0"/>
                <a:ea typeface="Consolas" pitchFamily="34" charset="-122"/>
                <a:cs typeface="Consolas" pitchFamily="34" charset="-120"/>
              </a:rPr>
              <a:t>const</a:t>
            </a:r>
            <a:r>
              <a:rPr lang="en-US" sz="1200" dirty="0">
                <a:solidFill>
                  <a:srgbClr val="000000"/>
                </a:solidFill>
                <a:latin typeface="Consolas" pitchFamily="34" charset="0"/>
                <a:ea typeface="Consolas" pitchFamily="34" charset="-122"/>
                <a:cs typeface="Consolas" pitchFamily="34" charset="-120"/>
              </a:rPr>
              <a:t> docs = </a:t>
            </a:r>
            <a:r>
              <a:rPr lang="en-US" sz="1200" dirty="0">
                <a:solidFill>
                  <a:srgbClr val="007ACC"/>
                </a:solidFill>
                <a:latin typeface="Consolas" pitchFamily="34" charset="0"/>
                <a:ea typeface="Consolas" pitchFamily="34" charset="-122"/>
                <a:cs typeface="Consolas" pitchFamily="34" charset="-120"/>
              </a:rPr>
              <a:t>await</a:t>
            </a:r>
            <a:r>
              <a:rPr lang="en-US" sz="1200" dirty="0">
                <a:solidFill>
                  <a:srgbClr val="000000"/>
                </a:solidFill>
                <a:latin typeface="Consolas" pitchFamily="34" charset="0"/>
                <a:ea typeface="Consolas" pitchFamily="34" charset="-122"/>
                <a:cs typeface="Consolas" pitchFamily="34" charset="-120"/>
              </a:rPr>
              <a:t> users.</a:t>
            </a:r>
            <a:r>
              <a:rPr lang="en-US" sz="1200" dirty="0">
                <a:solidFill>
                  <a:srgbClr val="795E26"/>
                </a:solidFill>
                <a:latin typeface="Consolas" pitchFamily="34" charset="0"/>
                <a:ea typeface="Consolas" pitchFamily="34" charset="-122"/>
                <a:cs typeface="Consolas" pitchFamily="34" charset="-120"/>
              </a:rPr>
              <a:t>find</a:t>
            </a:r>
            <a:r>
              <a:rPr lang="en-US" sz="1200" dirty="0">
                <a:solidFill>
                  <a:srgbClr val="000000"/>
                </a:solidFill>
                <a:latin typeface="Consolas" pitchFamily="34" charset="0"/>
                <a:ea typeface="Consolas" pitchFamily="34" charset="-122"/>
                <a:cs typeface="Consolas" pitchFamily="34" charset="-120"/>
              </a:rPr>
              <a:t>({ age: { $gt: </a:t>
            </a:r>
            <a:r>
              <a:rPr lang="en-US" sz="1200" dirty="0">
                <a:solidFill>
                  <a:srgbClr val="098658"/>
                </a:solidFill>
                <a:latin typeface="Consolas" pitchFamily="34" charset="0"/>
                <a:ea typeface="Consolas" pitchFamily="34" charset="-122"/>
                <a:cs typeface="Consolas" pitchFamily="34" charset="-120"/>
              </a:rPr>
              <a:t>25</a:t>
            </a:r>
            <a:r>
              <a:rPr lang="en-US" sz="1200" dirty="0">
                <a:solidFill>
                  <a:srgbClr val="000000"/>
                </a:solidFill>
                <a:latin typeface="Consolas" pitchFamily="34" charset="0"/>
                <a:ea typeface="Consolas" pitchFamily="34" charset="-122"/>
                <a:cs typeface="Consolas" pitchFamily="34" charset="-120"/>
              </a:rPr>
              <a:t> } }).</a:t>
            </a:r>
            <a:r>
              <a:rPr lang="en-US" sz="1200" dirty="0">
                <a:solidFill>
                  <a:srgbClr val="795E26"/>
                </a:solidFill>
                <a:latin typeface="Consolas" pitchFamily="34" charset="0"/>
                <a:ea typeface="Consolas" pitchFamily="34" charset="-122"/>
                <a:cs typeface="Consolas" pitchFamily="34" charset="-120"/>
              </a:rPr>
              <a:t>toArray</a:t>
            </a:r>
            <a:r>
              <a:rPr lang="en-US" sz="1200" dirty="0">
                <a:solidFill>
                  <a:srgbClr val="000000"/>
                </a:solidFill>
                <a:latin typeface="Consolas" pitchFamily="34" charset="0"/>
                <a:ea typeface="Consolas" pitchFamily="34" charset="-122"/>
                <a:cs typeface="Consolas" pitchFamily="34" charset="-120"/>
              </a:rPr>
              <a:t>();
</a:t>
            </a:r>
            <a:r>
              <a:rPr lang="en-US" sz="1200" dirty="0">
                <a:solidFill>
                  <a:srgbClr val="6A9955"/>
                </a:solidFill>
                <a:latin typeface="Consolas" pitchFamily="34" charset="0"/>
                <a:ea typeface="Consolas" pitchFamily="34" charset="-122"/>
                <a:cs typeface="Consolas" pitchFamily="34" charset="-120"/>
              </a:rPr>
              <a:t>// Update a user</a:t>
            </a:r>
            <a:r>
              <a:rPr lang="en-US" sz="1200" dirty="0">
                <a:solidFill>
                  <a:srgbClr val="000000"/>
                </a:solidFill>
                <a:latin typeface="Consolas" pitchFamily="34" charset="0"/>
                <a:ea typeface="Consolas" pitchFamily="34" charset="-122"/>
                <a:cs typeface="Consolas" pitchFamily="34" charset="-120"/>
              </a:rPr>
              <a:t>
</a:t>
            </a:r>
            <a:r>
              <a:rPr lang="en-US" sz="1200" dirty="0">
                <a:solidFill>
                  <a:srgbClr val="007ACC"/>
                </a:solidFill>
                <a:latin typeface="Consolas" pitchFamily="34" charset="0"/>
                <a:ea typeface="Consolas" pitchFamily="34" charset="-122"/>
                <a:cs typeface="Consolas" pitchFamily="34" charset="-120"/>
              </a:rPr>
              <a:t>await</a:t>
            </a:r>
            <a:r>
              <a:rPr lang="en-US" sz="1200" dirty="0">
                <a:solidFill>
                  <a:srgbClr val="000000"/>
                </a:solidFill>
                <a:latin typeface="Consolas" pitchFamily="34" charset="0"/>
                <a:ea typeface="Consolas" pitchFamily="34" charset="-122"/>
                <a:cs typeface="Consolas" pitchFamily="34" charset="-120"/>
              </a:rPr>
              <a:t> users.</a:t>
            </a:r>
            <a:r>
              <a:rPr lang="en-US" sz="1200" dirty="0">
                <a:solidFill>
                  <a:srgbClr val="795E26"/>
                </a:solidFill>
                <a:latin typeface="Consolas" pitchFamily="34" charset="0"/>
                <a:ea typeface="Consolas" pitchFamily="34" charset="-122"/>
                <a:cs typeface="Consolas" pitchFamily="34" charset="-120"/>
              </a:rPr>
              <a:t>updateOne</a:t>
            </a:r>
            <a:r>
              <a:rPr lang="en-US" sz="1200" dirty="0">
                <a:solidFill>
                  <a:srgbClr val="000000"/>
                </a:solidFill>
                <a:latin typeface="Consolas" pitchFamily="34" charset="0"/>
                <a:ea typeface="Consolas" pitchFamily="34" charset="-122"/>
                <a:cs typeface="Consolas" pitchFamily="34" charset="-120"/>
              </a:rPr>
              <a:t>({ name: </a:t>
            </a:r>
            <a:r>
              <a:rPr lang="en-US" sz="1200" dirty="0">
                <a:solidFill>
                  <a:srgbClr val="A31515"/>
                </a:solidFill>
                <a:latin typeface="Consolas" pitchFamily="34" charset="0"/>
                <a:ea typeface="Consolas" pitchFamily="34" charset="-122"/>
                <a:cs typeface="Consolas" pitchFamily="34" charset="-120"/>
              </a:rPr>
              <a:t>'Bob'</a:t>
            </a:r>
            <a:r>
              <a:rPr lang="en-US" sz="1200" dirty="0">
                <a:solidFill>
                  <a:srgbClr val="000000"/>
                </a:solidFill>
                <a:latin typeface="Consolas" pitchFamily="34" charset="0"/>
                <a:ea typeface="Consolas" pitchFamily="34" charset="-122"/>
                <a:cs typeface="Consolas" pitchFamily="34" charset="-120"/>
              </a:rPr>
              <a:t> }, { $set: { age: </a:t>
            </a:r>
            <a:r>
              <a:rPr lang="en-US" sz="1200" dirty="0">
                <a:solidFill>
                  <a:srgbClr val="098658"/>
                </a:solidFill>
                <a:latin typeface="Consolas" pitchFamily="34" charset="0"/>
                <a:ea typeface="Consolas" pitchFamily="34" charset="-122"/>
                <a:cs typeface="Consolas" pitchFamily="34" charset="-120"/>
              </a:rPr>
              <a:t>30</a:t>
            </a:r>
            <a:r>
              <a:rPr lang="en-US" sz="1200" dirty="0">
                <a:solidFill>
                  <a:srgbClr val="000000"/>
                </a:solidFill>
                <a:latin typeface="Consolas" pitchFamily="34" charset="0"/>
                <a:ea typeface="Consolas" pitchFamily="34" charset="-122"/>
                <a:cs typeface="Consolas" pitchFamily="34" charset="-120"/>
              </a:rPr>
              <a:t> } });
</a:t>
            </a:r>
            <a:r>
              <a:rPr lang="en-US" sz="1200" dirty="0">
                <a:solidFill>
                  <a:srgbClr val="6A9955"/>
                </a:solidFill>
                <a:latin typeface="Consolas" pitchFamily="34" charset="0"/>
                <a:ea typeface="Consolas" pitchFamily="34" charset="-122"/>
                <a:cs typeface="Consolas" pitchFamily="34" charset="-120"/>
              </a:rPr>
              <a:t>// Delete a user</a:t>
            </a:r>
            <a:r>
              <a:rPr lang="en-US" sz="1200" dirty="0">
                <a:solidFill>
                  <a:srgbClr val="000000"/>
                </a:solidFill>
                <a:latin typeface="Consolas" pitchFamily="34" charset="0"/>
                <a:ea typeface="Consolas" pitchFamily="34" charset="-122"/>
                <a:cs typeface="Consolas" pitchFamily="34" charset="-120"/>
              </a:rPr>
              <a:t>
</a:t>
            </a:r>
            <a:r>
              <a:rPr lang="en-US" sz="1200" dirty="0">
                <a:solidFill>
                  <a:srgbClr val="007ACC"/>
                </a:solidFill>
                <a:latin typeface="Consolas" pitchFamily="34" charset="0"/>
                <a:ea typeface="Consolas" pitchFamily="34" charset="-122"/>
                <a:cs typeface="Consolas" pitchFamily="34" charset="-120"/>
              </a:rPr>
              <a:t>await</a:t>
            </a:r>
            <a:r>
              <a:rPr lang="en-US" sz="1200" dirty="0">
                <a:solidFill>
                  <a:srgbClr val="000000"/>
                </a:solidFill>
                <a:latin typeface="Consolas" pitchFamily="34" charset="0"/>
                <a:ea typeface="Consolas" pitchFamily="34" charset="-122"/>
                <a:cs typeface="Consolas" pitchFamily="34" charset="-120"/>
              </a:rPr>
              <a:t> users.</a:t>
            </a:r>
            <a:r>
              <a:rPr lang="en-US" sz="1200" dirty="0">
                <a:solidFill>
                  <a:srgbClr val="795E26"/>
                </a:solidFill>
                <a:latin typeface="Consolas" pitchFamily="34" charset="0"/>
                <a:ea typeface="Consolas" pitchFamily="34" charset="-122"/>
                <a:cs typeface="Consolas" pitchFamily="34" charset="-120"/>
              </a:rPr>
              <a:t>deleteOne</a:t>
            </a:r>
            <a:r>
              <a:rPr lang="en-US" sz="1200" dirty="0">
                <a:solidFill>
                  <a:srgbClr val="000000"/>
                </a:solidFill>
                <a:latin typeface="Consolas" pitchFamily="34" charset="0"/>
                <a:ea typeface="Consolas" pitchFamily="34" charset="-122"/>
                <a:cs typeface="Consolas" pitchFamily="34" charset="-120"/>
              </a:rPr>
              <a:t>({ name: </a:t>
            </a:r>
            <a:r>
              <a:rPr lang="en-US" sz="1200" dirty="0">
                <a:solidFill>
                  <a:srgbClr val="A31515"/>
                </a:solidFill>
                <a:latin typeface="Consolas" pitchFamily="34" charset="0"/>
                <a:ea typeface="Consolas" pitchFamily="34" charset="-122"/>
                <a:cs typeface="Consolas" pitchFamily="34" charset="-120"/>
              </a:rPr>
              <a:t>'Bob'</a:t>
            </a:r>
            <a:r>
              <a:rPr lang="en-US" sz="1200" dirty="0">
                <a:solidFill>
                  <a:srgbClr val="000000"/>
                </a:solidFill>
                <a:latin typeface="Consolas" pitchFamily="34" charset="0"/>
                <a:ea typeface="Consolas" pitchFamily="34" charset="-122"/>
                <a:cs typeface="Consolas" pitchFamily="34" charset="-120"/>
              </a:rPr>
              <a:t> });</a:t>
            </a:r>
            <a:endParaRPr lang="en-US" sz="1200" dirty="0"/>
          </a:p>
        </p:txBody>
      </p:sp>
      <p:pic>
        <p:nvPicPr>
          <p:cNvPr id="6" name="Image 0" descr="preencoded.png"/>
          <p:cNvPicPr>
            <a:picLocks noChangeAspect="1"/>
          </p:cNvPicPr>
          <p:nvPr/>
        </p:nvPicPr>
        <p:blipFill>
          <a:blip r:embed="rId3"/>
          <a:stretch>
            <a:fillRect/>
          </a:stretch>
        </p:blipFill>
        <p:spPr>
          <a:xfrm>
            <a:off x="4892040" y="731520"/>
            <a:ext cx="365760" cy="365760"/>
          </a:xfrm>
          <a:prstGeom prst="rect">
            <a:avLst/>
          </a:prstGeom>
        </p:spPr>
      </p:pic>
      <p:sp>
        <p:nvSpPr>
          <p:cNvPr id="7" name="Text 4"/>
          <p:cNvSpPr/>
          <p:nvPr/>
        </p:nvSpPr>
        <p:spPr>
          <a:xfrm>
            <a:off x="457200" y="4754880"/>
            <a:ext cx="8229600" cy="274320"/>
          </a:xfrm>
          <a:prstGeom prst="rect">
            <a:avLst/>
          </a:prstGeom>
          <a:noFill/>
          <a:ln/>
        </p:spPr>
        <p:txBody>
          <a:bodyPr wrap="square" lIns="0" tIns="0" rIns="0" bIns="0" rtlCol="0" anchor="ctr"/>
          <a:lstStyle/>
          <a:p>
            <a:pPr marL="0" indent="0" algn="l">
              <a:buNone/>
            </a:pPr>
            <a:r>
              <a:rPr lang="en-US" sz="700" u="sng" dirty="0">
                <a:solidFill>
                  <a:srgbClr val="0070C0"/>
                </a:solidFill>
                <a:hlinkClick r:id="rId4"/>
              </a:rPr>
              <a:t>[5]</a:t>
            </a:r>
            <a:r>
              <a:rPr lang="en-US" sz="700" dirty="0">
                <a:solidFill>
                  <a:srgbClr val="000000"/>
                </a:solidFill>
              </a:rPr>
              <a:t>   </a:t>
            </a:r>
            <a:r>
              <a:rPr lang="en-US" sz="700" u="sng" dirty="0">
                <a:solidFill>
                  <a:srgbClr val="0070C0"/>
                </a:solidFill>
                <a:hlinkClick r:id="rId5"/>
              </a:rPr>
              <a:t>[6]</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003366"/>
                </a:solidFill>
              </a:rPr>
              <a:t>Indexing &amp; Query Optimization</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4480560" cy="3215640"/>
        </p:xfrm>
        <a:graphic>
          <a:graphicData uri="http://schemas.openxmlformats.org/drawingml/2006/table">
            <a:tbl>
              <a:tblPr/>
              <a:tblGrid>
                <a:gridCol w="224028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tblGrid>
              <a:tr h="246888">
                <a:tc>
                  <a:txBody>
                    <a:bodyPr/>
                    <a:lstStyle/>
                    <a:p>
                      <a:pPr marL="0" indent="0">
                        <a:buNone/>
                      </a:pPr>
                      <a:r>
                        <a:rPr lang="en-US" sz="1000" b="1" dirty="0">
                          <a:solidFill>
                            <a:srgbClr val="003366"/>
                          </a:solidFill>
                        </a:rPr>
                        <a:t>Index Type</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solidFill>
                      <a:srgbClr val="E3EDF7"/>
                    </a:solidFill>
                  </a:tcPr>
                </a:tc>
                <a:tc>
                  <a:txBody>
                    <a:bodyPr/>
                    <a:lstStyle/>
                    <a:p>
                      <a:pPr marL="0" indent="0">
                        <a:buNone/>
                      </a:pPr>
                      <a:r>
                        <a:rPr lang="en-US" sz="1000" b="1" dirty="0">
                          <a:solidFill>
                            <a:srgbClr val="003366"/>
                          </a:solidFill>
                        </a:rPr>
                        <a:t>Use Case / Description</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solidFill>
                      <a:srgbClr val="E3EDF7"/>
                    </a:solidFill>
                  </a:tcPr>
                </a:tc>
                <a:extLst>
                  <a:ext uri="{0D108BD9-81ED-4DB2-BD59-A6C34878D82A}">
                    <a16:rowId xmlns:a16="http://schemas.microsoft.com/office/drawing/2014/main" val="10000"/>
                  </a:ext>
                </a:extLst>
              </a:tr>
              <a:tr h="246888">
                <a:tc>
                  <a:txBody>
                    <a:bodyPr/>
                    <a:lstStyle/>
                    <a:p>
                      <a:pPr marL="0" indent="0">
                        <a:buNone/>
                      </a:pPr>
                      <a:r>
                        <a:rPr lang="en-US" sz="1000" dirty="0">
                          <a:solidFill>
                            <a:srgbClr val="003366"/>
                          </a:solidFill>
                        </a:rPr>
                        <a:t>_id (Default)</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tc>
                  <a:txBody>
                    <a:bodyPr/>
                    <a:lstStyle/>
                    <a:p>
                      <a:pPr marL="0" indent="0">
                        <a:buNone/>
                      </a:pPr>
                      <a:r>
                        <a:rPr lang="en-US" sz="1000" dirty="0">
                          <a:solidFill>
                            <a:srgbClr val="333333"/>
                          </a:solidFill>
                        </a:rPr>
                        <a:t>Unique identifier for each document</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extLst>
                  <a:ext uri="{0D108BD9-81ED-4DB2-BD59-A6C34878D82A}">
                    <a16:rowId xmlns:a16="http://schemas.microsoft.com/office/drawing/2014/main" val="10001"/>
                  </a:ext>
                </a:extLst>
              </a:tr>
              <a:tr h="246888">
                <a:tc>
                  <a:txBody>
                    <a:bodyPr/>
                    <a:lstStyle/>
                    <a:p>
                      <a:pPr marL="0" indent="0">
                        <a:buNone/>
                      </a:pPr>
                      <a:r>
                        <a:rPr lang="en-US" sz="1000" dirty="0">
                          <a:solidFill>
                            <a:srgbClr val="003366"/>
                          </a:solidFill>
                        </a:rPr>
                        <a:t>Single‑field</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tc>
                  <a:txBody>
                    <a:bodyPr/>
                    <a:lstStyle/>
                    <a:p>
                      <a:pPr marL="0" indent="0">
                        <a:buNone/>
                      </a:pPr>
                      <a:r>
                        <a:rPr lang="en-US" sz="1000" dirty="0">
                          <a:solidFill>
                            <a:srgbClr val="333333"/>
                          </a:solidFill>
                        </a:rPr>
                        <a:t>Index on a single field to speed equality queries</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extLst>
                  <a:ext uri="{0D108BD9-81ED-4DB2-BD59-A6C34878D82A}">
                    <a16:rowId xmlns:a16="http://schemas.microsoft.com/office/drawing/2014/main" val="10002"/>
                  </a:ext>
                </a:extLst>
              </a:tr>
              <a:tr h="246888">
                <a:tc>
                  <a:txBody>
                    <a:bodyPr/>
                    <a:lstStyle/>
                    <a:p>
                      <a:pPr marL="0" indent="0">
                        <a:buNone/>
                      </a:pPr>
                      <a:r>
                        <a:rPr lang="en-US" sz="1000" dirty="0">
                          <a:solidFill>
                            <a:srgbClr val="003366"/>
                          </a:solidFill>
                        </a:rPr>
                        <a:t>Compound</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tc>
                  <a:txBody>
                    <a:bodyPr/>
                    <a:lstStyle/>
                    <a:p>
                      <a:pPr marL="0" indent="0">
                        <a:buNone/>
                      </a:pPr>
                      <a:r>
                        <a:rPr lang="en-US" sz="1000" dirty="0">
                          <a:solidFill>
                            <a:srgbClr val="333333"/>
                          </a:solidFill>
                        </a:rPr>
                        <a:t>Index on multiple fields (ESR: Equality, Sort, Range rule)</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extLst>
                  <a:ext uri="{0D108BD9-81ED-4DB2-BD59-A6C34878D82A}">
                    <a16:rowId xmlns:a16="http://schemas.microsoft.com/office/drawing/2014/main" val="10003"/>
                  </a:ext>
                </a:extLst>
              </a:tr>
              <a:tr h="246888">
                <a:tc>
                  <a:txBody>
                    <a:bodyPr/>
                    <a:lstStyle/>
                    <a:p>
                      <a:pPr marL="0" indent="0">
                        <a:buNone/>
                      </a:pPr>
                      <a:r>
                        <a:rPr lang="en-US" sz="1000" dirty="0">
                          <a:solidFill>
                            <a:srgbClr val="003366"/>
                          </a:solidFill>
                        </a:rPr>
                        <a:t>Multikey</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tc>
                  <a:txBody>
                    <a:bodyPr/>
                    <a:lstStyle/>
                    <a:p>
                      <a:pPr marL="0" indent="0">
                        <a:buNone/>
                      </a:pPr>
                      <a:r>
                        <a:rPr lang="en-US" sz="1000" dirty="0">
                          <a:solidFill>
                            <a:srgbClr val="333333"/>
                          </a:solidFill>
                        </a:rPr>
                        <a:t>Index array contents</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extLst>
                  <a:ext uri="{0D108BD9-81ED-4DB2-BD59-A6C34878D82A}">
                    <a16:rowId xmlns:a16="http://schemas.microsoft.com/office/drawing/2014/main" val="10004"/>
                  </a:ext>
                </a:extLst>
              </a:tr>
              <a:tr h="246888">
                <a:tc>
                  <a:txBody>
                    <a:bodyPr/>
                    <a:lstStyle/>
                    <a:p>
                      <a:pPr marL="0" indent="0">
                        <a:buNone/>
                      </a:pPr>
                      <a:r>
                        <a:rPr lang="en-US" sz="1000" dirty="0">
                          <a:solidFill>
                            <a:srgbClr val="003366"/>
                          </a:solidFill>
                        </a:rPr>
                        <a:t>Geospatial</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tc>
                  <a:txBody>
                    <a:bodyPr/>
                    <a:lstStyle/>
                    <a:p>
                      <a:pPr marL="0" indent="0">
                        <a:buNone/>
                      </a:pPr>
                      <a:r>
                        <a:rPr lang="en-US" sz="1000" dirty="0">
                          <a:solidFill>
                            <a:srgbClr val="333333"/>
                          </a:solidFill>
                        </a:rPr>
                        <a:t>2dsphere/2d indexes for location queries</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extLst>
                  <a:ext uri="{0D108BD9-81ED-4DB2-BD59-A6C34878D82A}">
                    <a16:rowId xmlns:a16="http://schemas.microsoft.com/office/drawing/2014/main" val="10005"/>
                  </a:ext>
                </a:extLst>
              </a:tr>
              <a:tr h="246888">
                <a:tc>
                  <a:txBody>
                    <a:bodyPr/>
                    <a:lstStyle/>
                    <a:p>
                      <a:pPr marL="0" indent="0">
                        <a:buNone/>
                      </a:pPr>
                      <a:r>
                        <a:rPr lang="en-US" sz="1000" dirty="0">
                          <a:solidFill>
                            <a:srgbClr val="003366"/>
                          </a:solidFill>
                        </a:rPr>
                        <a:t>Text</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tc>
                  <a:txBody>
                    <a:bodyPr/>
                    <a:lstStyle/>
                    <a:p>
                      <a:pPr marL="0" indent="0">
                        <a:buNone/>
                      </a:pPr>
                      <a:r>
                        <a:rPr lang="en-US" sz="1000" dirty="0">
                          <a:solidFill>
                            <a:srgbClr val="333333"/>
                          </a:solidFill>
                        </a:rPr>
                        <a:t>Full‑text search in strings</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extLst>
                  <a:ext uri="{0D108BD9-81ED-4DB2-BD59-A6C34878D82A}">
                    <a16:rowId xmlns:a16="http://schemas.microsoft.com/office/drawing/2014/main" val="10006"/>
                  </a:ext>
                </a:extLst>
              </a:tr>
              <a:tr h="246888">
                <a:tc>
                  <a:txBody>
                    <a:bodyPr/>
                    <a:lstStyle/>
                    <a:p>
                      <a:pPr marL="0" indent="0">
                        <a:buNone/>
                      </a:pPr>
                      <a:r>
                        <a:rPr lang="en-US" sz="1000" dirty="0">
                          <a:solidFill>
                            <a:srgbClr val="003366"/>
                          </a:solidFill>
                        </a:rPr>
                        <a:t>Hashed</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tc>
                  <a:txBody>
                    <a:bodyPr/>
                    <a:lstStyle/>
                    <a:p>
                      <a:pPr marL="0" indent="0">
                        <a:buNone/>
                      </a:pPr>
                      <a:r>
                        <a:rPr lang="en-US" sz="1000" dirty="0">
                          <a:solidFill>
                            <a:srgbClr val="333333"/>
                          </a:solidFill>
                        </a:rPr>
                        <a:t>Shards data uniformly based on hashed field</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extLst>
                  <a:ext uri="{0D108BD9-81ED-4DB2-BD59-A6C34878D82A}">
                    <a16:rowId xmlns:a16="http://schemas.microsoft.com/office/drawing/2014/main" val="10007"/>
                  </a:ext>
                </a:extLst>
              </a:tr>
              <a:tr h="246888">
                <a:tc>
                  <a:txBody>
                    <a:bodyPr/>
                    <a:lstStyle/>
                    <a:p>
                      <a:pPr marL="0" indent="0">
                        <a:buNone/>
                      </a:pPr>
                      <a:r>
                        <a:rPr lang="en-US" sz="1000" dirty="0">
                          <a:solidFill>
                            <a:srgbClr val="003366"/>
                          </a:solidFill>
                        </a:rPr>
                        <a:t>TTL</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tc>
                  <a:txBody>
                    <a:bodyPr/>
                    <a:lstStyle/>
                    <a:p>
                      <a:pPr marL="0" indent="0">
                        <a:buNone/>
                      </a:pPr>
                      <a:r>
                        <a:rPr lang="en-US" sz="1000" dirty="0">
                          <a:solidFill>
                            <a:srgbClr val="333333"/>
                          </a:solidFill>
                        </a:rPr>
                        <a:t>Expire documents after a fixed period</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extLst>
                  <a:ext uri="{0D108BD9-81ED-4DB2-BD59-A6C34878D82A}">
                    <a16:rowId xmlns:a16="http://schemas.microsoft.com/office/drawing/2014/main" val="10008"/>
                  </a:ext>
                </a:extLst>
              </a:tr>
              <a:tr h="246888">
                <a:tc>
                  <a:txBody>
                    <a:bodyPr/>
                    <a:lstStyle/>
                    <a:p>
                      <a:pPr marL="0" indent="0">
                        <a:buNone/>
                      </a:pPr>
                      <a:r>
                        <a:rPr lang="en-US" sz="1000" dirty="0">
                          <a:solidFill>
                            <a:srgbClr val="003366"/>
                          </a:solidFill>
                        </a:rPr>
                        <a:t>Partial/Sparse</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tc>
                  <a:txBody>
                    <a:bodyPr/>
                    <a:lstStyle/>
                    <a:p>
                      <a:pPr marL="0" indent="0">
                        <a:buNone/>
                      </a:pPr>
                      <a:r>
                        <a:rPr lang="en-US" sz="1000" dirty="0">
                          <a:solidFill>
                            <a:srgbClr val="333333"/>
                          </a:solidFill>
                        </a:rPr>
                        <a:t>Index a subset of documents or ignore missing fields</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4" name="Text 1"/>
          <p:cNvSpPr/>
          <p:nvPr/>
        </p:nvSpPr>
        <p:spPr>
          <a:xfrm>
            <a:off x="5074920" y="662940"/>
            <a:ext cx="4023360" cy="1280160"/>
          </a:xfrm>
          <a:prstGeom prst="rect">
            <a:avLst/>
          </a:prstGeom>
          <a:noFill/>
          <a:ln/>
        </p:spPr>
        <p:txBody>
          <a:bodyPr wrap="square" rtlCol="0" anchor="ctr"/>
          <a:lstStyle/>
          <a:p>
            <a:pPr marL="0" indent="0">
              <a:buNone/>
            </a:pPr>
            <a:r>
              <a:rPr lang="en-US" sz="1400" b="1" dirty="0">
                <a:solidFill>
                  <a:srgbClr val="003366"/>
                </a:solidFill>
              </a:rPr>
              <a:t>Why Indexes Matter
</a:t>
            </a:r>
            <a:r>
              <a:rPr lang="en-US" sz="1100" dirty="0">
                <a:solidFill>
                  <a:srgbClr val="333333"/>
                </a:solidFill>
              </a:rPr>
              <a:t>Indexes support efficient query execution by allowing MongoDB to scan a subset of documents rather than the entire collection. They use a B‑tree structure and come with write overhead and disk usage costs. Define compound indexes in the order of equality, sort and range (ESR rule), and prefer covered queries where all fields are part of the index.</a:t>
            </a:r>
            <a:endParaRPr lang="en-US" sz="1400" dirty="0"/>
          </a:p>
        </p:txBody>
      </p:sp>
      <p:sp>
        <p:nvSpPr>
          <p:cNvPr id="3" name="Shape 2"/>
          <p:cNvSpPr/>
          <p:nvPr/>
        </p:nvSpPr>
        <p:spPr>
          <a:xfrm>
            <a:off x="5074920" y="2331720"/>
            <a:ext cx="4023360" cy="1463040"/>
          </a:xfrm>
          <a:prstGeom prst="roundRect">
            <a:avLst>
              <a:gd name="adj" fmla="val 3125"/>
            </a:avLst>
          </a:prstGeom>
          <a:solidFill>
            <a:srgbClr val="F5F8FB"/>
          </a:solidFill>
          <a:ln w="12700">
            <a:solidFill>
              <a:srgbClr val="D0D7E5"/>
            </a:solidFill>
            <a:prstDash val="solid"/>
          </a:ln>
        </p:spPr>
        <p:txBody>
          <a:bodyPr/>
          <a:lstStyle/>
          <a:p>
            <a:endParaRPr/>
          </a:p>
        </p:txBody>
      </p:sp>
      <p:sp>
        <p:nvSpPr>
          <p:cNvPr id="6" name="Text 3"/>
          <p:cNvSpPr/>
          <p:nvPr/>
        </p:nvSpPr>
        <p:spPr>
          <a:xfrm>
            <a:off x="5120640" y="2377440"/>
            <a:ext cx="3931920" cy="1371600"/>
          </a:xfrm>
          <a:prstGeom prst="rect">
            <a:avLst/>
          </a:prstGeom>
          <a:noFill/>
          <a:ln/>
        </p:spPr>
        <p:txBody>
          <a:bodyPr wrap="square" lIns="635" tIns="635" rIns="635" bIns="635" rtlCol="0" anchor="ctr"/>
          <a:lstStyle/>
          <a:p>
            <a:pPr marL="0" indent="0">
              <a:buNone/>
            </a:pPr>
            <a:r>
              <a:rPr lang="en-US" sz="1200" dirty="0">
                <a:solidFill>
                  <a:srgbClr val="6A9955"/>
                </a:solidFill>
                <a:latin typeface="Consolas" pitchFamily="34" charset="0"/>
                <a:ea typeface="Consolas" pitchFamily="34" charset="-122"/>
                <a:cs typeface="Consolas" pitchFamily="34" charset="-120"/>
              </a:rPr>
              <a:t>// Create a compound index on lastName and age</a:t>
            </a:r>
            <a:r>
              <a:rPr lang="en-US" sz="1200" dirty="0">
                <a:solidFill>
                  <a:srgbClr val="000000"/>
                </a:solidFill>
                <a:latin typeface="Consolas" pitchFamily="34" charset="0"/>
                <a:ea typeface="Consolas" pitchFamily="34" charset="-122"/>
                <a:cs typeface="Consolas" pitchFamily="34" charset="-120"/>
              </a:rPr>
              <a:t>
</a:t>
            </a:r>
            <a:r>
              <a:rPr lang="en-US" sz="1200" dirty="0">
                <a:solidFill>
                  <a:srgbClr val="007ACC"/>
                </a:solidFill>
                <a:latin typeface="Consolas" pitchFamily="34" charset="0"/>
                <a:ea typeface="Consolas" pitchFamily="34" charset="-122"/>
                <a:cs typeface="Consolas" pitchFamily="34" charset="-120"/>
              </a:rPr>
              <a:t>await</a:t>
            </a:r>
            <a:r>
              <a:rPr lang="en-US" sz="1200" dirty="0">
                <a:solidFill>
                  <a:srgbClr val="000000"/>
                </a:solidFill>
                <a:latin typeface="Consolas" pitchFamily="34" charset="0"/>
                <a:ea typeface="Consolas" pitchFamily="34" charset="-122"/>
                <a:cs typeface="Consolas" pitchFamily="34" charset="-120"/>
              </a:rPr>
              <a:t> users.</a:t>
            </a:r>
            <a:r>
              <a:rPr lang="en-US" sz="1200" dirty="0">
                <a:solidFill>
                  <a:srgbClr val="795E26"/>
                </a:solidFill>
                <a:latin typeface="Consolas" pitchFamily="34" charset="0"/>
                <a:ea typeface="Consolas" pitchFamily="34" charset="-122"/>
                <a:cs typeface="Consolas" pitchFamily="34" charset="-120"/>
              </a:rPr>
              <a:t>createIndex</a:t>
            </a:r>
            <a:r>
              <a:rPr lang="en-US" sz="1200" dirty="0">
                <a:solidFill>
                  <a:srgbClr val="000000"/>
                </a:solidFill>
                <a:latin typeface="Consolas" pitchFamily="34" charset="0"/>
                <a:ea typeface="Consolas" pitchFamily="34" charset="-122"/>
                <a:cs typeface="Consolas" pitchFamily="34" charset="-120"/>
              </a:rPr>
              <a:t>({ lastName: </a:t>
            </a:r>
            <a:r>
              <a:rPr lang="en-US" sz="1200" dirty="0">
                <a:solidFill>
                  <a:srgbClr val="098658"/>
                </a:solidFill>
                <a:latin typeface="Consolas" pitchFamily="34" charset="0"/>
                <a:ea typeface="Consolas" pitchFamily="34" charset="-122"/>
                <a:cs typeface="Consolas" pitchFamily="34" charset="-120"/>
              </a:rPr>
              <a:t>1</a:t>
            </a:r>
            <a:r>
              <a:rPr lang="en-US" sz="1200" dirty="0">
                <a:solidFill>
                  <a:srgbClr val="000000"/>
                </a:solidFill>
                <a:latin typeface="Consolas" pitchFamily="34" charset="0"/>
                <a:ea typeface="Consolas" pitchFamily="34" charset="-122"/>
                <a:cs typeface="Consolas" pitchFamily="34" charset="-120"/>
              </a:rPr>
              <a:t>, age: -</a:t>
            </a:r>
            <a:r>
              <a:rPr lang="en-US" sz="1200" dirty="0">
                <a:solidFill>
                  <a:srgbClr val="098658"/>
                </a:solidFill>
                <a:latin typeface="Consolas" pitchFamily="34" charset="0"/>
                <a:ea typeface="Consolas" pitchFamily="34" charset="-122"/>
                <a:cs typeface="Consolas" pitchFamily="34" charset="-120"/>
              </a:rPr>
              <a:t>1</a:t>
            </a:r>
            <a:r>
              <a:rPr lang="en-US" sz="1200" dirty="0">
                <a:solidFill>
                  <a:srgbClr val="000000"/>
                </a:solidFill>
                <a:latin typeface="Consolas" pitchFamily="34" charset="0"/>
                <a:ea typeface="Consolas" pitchFamily="34" charset="-122"/>
                <a:cs typeface="Consolas" pitchFamily="34" charset="-120"/>
              </a:rPr>
              <a:t> });
</a:t>
            </a:r>
            <a:r>
              <a:rPr lang="en-US" sz="1200" dirty="0">
                <a:solidFill>
                  <a:srgbClr val="6A9955"/>
                </a:solidFill>
                <a:latin typeface="Consolas" pitchFamily="34" charset="0"/>
                <a:ea typeface="Consolas" pitchFamily="34" charset="-122"/>
                <a:cs typeface="Consolas" pitchFamily="34" charset="-120"/>
              </a:rPr>
              <a:t>// Partial index for active users only</a:t>
            </a:r>
            <a:r>
              <a:rPr lang="en-US" sz="1200" dirty="0">
                <a:solidFill>
                  <a:srgbClr val="000000"/>
                </a:solidFill>
                <a:latin typeface="Consolas" pitchFamily="34" charset="0"/>
                <a:ea typeface="Consolas" pitchFamily="34" charset="-122"/>
                <a:cs typeface="Consolas" pitchFamily="34" charset="-120"/>
              </a:rPr>
              <a:t>
</a:t>
            </a:r>
            <a:r>
              <a:rPr lang="en-US" sz="1200" dirty="0">
                <a:solidFill>
                  <a:srgbClr val="007ACC"/>
                </a:solidFill>
                <a:latin typeface="Consolas" pitchFamily="34" charset="0"/>
                <a:ea typeface="Consolas" pitchFamily="34" charset="-122"/>
                <a:cs typeface="Consolas" pitchFamily="34" charset="-120"/>
              </a:rPr>
              <a:t>await</a:t>
            </a:r>
            <a:r>
              <a:rPr lang="en-US" sz="1200" dirty="0">
                <a:solidFill>
                  <a:srgbClr val="000000"/>
                </a:solidFill>
                <a:latin typeface="Consolas" pitchFamily="34" charset="0"/>
                <a:ea typeface="Consolas" pitchFamily="34" charset="-122"/>
                <a:cs typeface="Consolas" pitchFamily="34" charset="-120"/>
              </a:rPr>
              <a:t> users.</a:t>
            </a:r>
            <a:r>
              <a:rPr lang="en-US" sz="1200" dirty="0">
                <a:solidFill>
                  <a:srgbClr val="795E26"/>
                </a:solidFill>
                <a:latin typeface="Consolas" pitchFamily="34" charset="0"/>
                <a:ea typeface="Consolas" pitchFamily="34" charset="-122"/>
                <a:cs typeface="Consolas" pitchFamily="34" charset="-120"/>
              </a:rPr>
              <a:t>createIndex</a:t>
            </a:r>
            <a:r>
              <a:rPr lang="en-US" sz="1200" dirty="0">
                <a:solidFill>
                  <a:srgbClr val="000000"/>
                </a:solidFill>
                <a:latin typeface="Consolas" pitchFamily="34" charset="0"/>
                <a:ea typeface="Consolas" pitchFamily="34" charset="-122"/>
                <a:cs typeface="Consolas" pitchFamily="34" charset="-120"/>
              </a:rPr>
              <a:t>({ lastLogin: </a:t>
            </a:r>
            <a:r>
              <a:rPr lang="en-US" sz="1200" dirty="0">
                <a:solidFill>
                  <a:srgbClr val="098658"/>
                </a:solidFill>
                <a:latin typeface="Consolas" pitchFamily="34" charset="0"/>
                <a:ea typeface="Consolas" pitchFamily="34" charset="-122"/>
                <a:cs typeface="Consolas" pitchFamily="34" charset="-120"/>
              </a:rPr>
              <a:t>1</a:t>
            </a:r>
            <a:r>
              <a:rPr lang="en-US" sz="1200" dirty="0">
                <a:solidFill>
                  <a:srgbClr val="000000"/>
                </a:solidFill>
                <a:latin typeface="Consolas" pitchFamily="34" charset="0"/>
                <a:ea typeface="Consolas" pitchFamily="34" charset="-122"/>
                <a:cs typeface="Consolas" pitchFamily="34" charset="-120"/>
              </a:rPr>
              <a:t> }, { partialFilterExpression: { active: </a:t>
            </a:r>
            <a:r>
              <a:rPr lang="en-US" sz="1200" dirty="0">
                <a:solidFill>
                  <a:srgbClr val="0000FF"/>
                </a:solidFill>
                <a:latin typeface="Consolas" pitchFamily="34" charset="0"/>
                <a:ea typeface="Consolas" pitchFamily="34" charset="-122"/>
                <a:cs typeface="Consolas" pitchFamily="34" charset="-120"/>
              </a:rPr>
              <a:t>true</a:t>
            </a:r>
            <a:r>
              <a:rPr lang="en-US" sz="1200" dirty="0">
                <a:solidFill>
                  <a:srgbClr val="000000"/>
                </a:solidFill>
                <a:latin typeface="Consolas" pitchFamily="34" charset="0"/>
                <a:ea typeface="Consolas" pitchFamily="34" charset="-122"/>
                <a:cs typeface="Consolas" pitchFamily="34" charset="-120"/>
              </a:rPr>
              <a:t> } });
</a:t>
            </a:r>
            <a:r>
              <a:rPr lang="en-US" sz="1200" dirty="0">
                <a:solidFill>
                  <a:srgbClr val="6A9955"/>
                </a:solidFill>
                <a:latin typeface="Consolas" pitchFamily="34" charset="0"/>
                <a:ea typeface="Consolas" pitchFamily="34" charset="-122"/>
                <a:cs typeface="Consolas" pitchFamily="34" charset="-120"/>
              </a:rPr>
              <a:t>// TTL index to expire sessions after 30 minutes</a:t>
            </a:r>
            <a:r>
              <a:rPr lang="en-US" sz="1200" dirty="0">
                <a:solidFill>
                  <a:srgbClr val="000000"/>
                </a:solidFill>
                <a:latin typeface="Consolas" pitchFamily="34" charset="0"/>
                <a:ea typeface="Consolas" pitchFamily="34" charset="-122"/>
                <a:cs typeface="Consolas" pitchFamily="34" charset="-120"/>
              </a:rPr>
              <a:t>
</a:t>
            </a:r>
            <a:r>
              <a:rPr lang="en-US" sz="1200" dirty="0">
                <a:solidFill>
                  <a:srgbClr val="007ACC"/>
                </a:solidFill>
                <a:latin typeface="Consolas" pitchFamily="34" charset="0"/>
                <a:ea typeface="Consolas" pitchFamily="34" charset="-122"/>
                <a:cs typeface="Consolas" pitchFamily="34" charset="-120"/>
              </a:rPr>
              <a:t>await</a:t>
            </a:r>
            <a:r>
              <a:rPr lang="en-US" sz="1200" dirty="0">
                <a:solidFill>
                  <a:srgbClr val="000000"/>
                </a:solidFill>
                <a:latin typeface="Consolas" pitchFamily="34" charset="0"/>
                <a:ea typeface="Consolas" pitchFamily="34" charset="-122"/>
                <a:cs typeface="Consolas" pitchFamily="34" charset="-120"/>
              </a:rPr>
              <a:t> sessions.</a:t>
            </a:r>
            <a:r>
              <a:rPr lang="en-US" sz="1200" dirty="0">
                <a:solidFill>
                  <a:srgbClr val="795E26"/>
                </a:solidFill>
                <a:latin typeface="Consolas" pitchFamily="34" charset="0"/>
                <a:ea typeface="Consolas" pitchFamily="34" charset="-122"/>
                <a:cs typeface="Consolas" pitchFamily="34" charset="-120"/>
              </a:rPr>
              <a:t>createIndex</a:t>
            </a:r>
            <a:r>
              <a:rPr lang="en-US" sz="1200" dirty="0">
                <a:solidFill>
                  <a:srgbClr val="000000"/>
                </a:solidFill>
                <a:latin typeface="Consolas" pitchFamily="34" charset="0"/>
                <a:ea typeface="Consolas" pitchFamily="34" charset="-122"/>
                <a:cs typeface="Consolas" pitchFamily="34" charset="-120"/>
              </a:rPr>
              <a:t>({ expiresAt: </a:t>
            </a:r>
            <a:r>
              <a:rPr lang="en-US" sz="1200" dirty="0">
                <a:solidFill>
                  <a:srgbClr val="098658"/>
                </a:solidFill>
                <a:latin typeface="Consolas" pitchFamily="34" charset="0"/>
                <a:ea typeface="Consolas" pitchFamily="34" charset="-122"/>
                <a:cs typeface="Consolas" pitchFamily="34" charset="-120"/>
              </a:rPr>
              <a:t>1</a:t>
            </a:r>
            <a:r>
              <a:rPr lang="en-US" sz="1200" dirty="0">
                <a:solidFill>
                  <a:srgbClr val="000000"/>
                </a:solidFill>
                <a:latin typeface="Consolas" pitchFamily="34" charset="0"/>
                <a:ea typeface="Consolas" pitchFamily="34" charset="-122"/>
                <a:cs typeface="Consolas" pitchFamily="34" charset="-120"/>
              </a:rPr>
              <a:t> }, { expireAfterSeconds: </a:t>
            </a:r>
            <a:r>
              <a:rPr lang="en-US" sz="1200" dirty="0">
                <a:solidFill>
                  <a:srgbClr val="098658"/>
                </a:solidFill>
                <a:latin typeface="Consolas" pitchFamily="34" charset="0"/>
                <a:ea typeface="Consolas" pitchFamily="34" charset="-122"/>
                <a:cs typeface="Consolas" pitchFamily="34" charset="-120"/>
              </a:rPr>
              <a:t>1800</a:t>
            </a:r>
            <a:r>
              <a:rPr lang="en-US" sz="1200" dirty="0">
                <a:solidFill>
                  <a:srgbClr val="000000"/>
                </a:solidFill>
                <a:latin typeface="Consolas" pitchFamily="34" charset="0"/>
                <a:ea typeface="Consolas" pitchFamily="34" charset="-122"/>
                <a:cs typeface="Consolas" pitchFamily="34" charset="-120"/>
              </a:rPr>
              <a:t> });</a:t>
            </a:r>
            <a:endParaRPr lang="en-US" sz="1200" dirty="0"/>
          </a:p>
        </p:txBody>
      </p:sp>
      <p:sp>
        <p:nvSpPr>
          <p:cNvPr id="8" name="Text 4"/>
          <p:cNvSpPr/>
          <p:nvPr/>
        </p:nvSpPr>
        <p:spPr>
          <a:xfrm>
            <a:off x="457200" y="4754880"/>
            <a:ext cx="8229600" cy="274320"/>
          </a:xfrm>
          <a:prstGeom prst="rect">
            <a:avLst/>
          </a:prstGeom>
          <a:noFill/>
          <a:ln/>
        </p:spPr>
        <p:txBody>
          <a:bodyPr wrap="square" lIns="0" tIns="0" rIns="0" bIns="0" rtlCol="0" anchor="ctr"/>
          <a:lstStyle/>
          <a:p>
            <a:pPr marL="0" indent="0" algn="l">
              <a:buNone/>
            </a:pPr>
            <a:r>
              <a:rPr lang="en-US" sz="700" u="sng" dirty="0">
                <a:solidFill>
                  <a:srgbClr val="0070C0"/>
                </a:solidFill>
                <a:hlinkClick r:id="rId3"/>
              </a:rPr>
              <a:t>[7]</a:t>
            </a:r>
            <a:r>
              <a:rPr lang="en-US" sz="700" dirty="0">
                <a:solidFill>
                  <a:srgbClr val="000000"/>
                </a:solidFill>
              </a:rPr>
              <a:t>   </a:t>
            </a:r>
            <a:r>
              <a:rPr lang="en-US" sz="700" u="sng" dirty="0">
                <a:solidFill>
                  <a:srgbClr val="0070C0"/>
                </a:solidFill>
                <a:hlinkClick r:id="rId4"/>
              </a:rPr>
              <a:t>[8]</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003366"/>
                </a:solidFill>
              </a:rPr>
              <a:t>Schema Design &amp; Best Practices</a:t>
            </a:r>
            <a:endParaRPr lang="en-US" sz="2400" dirty="0"/>
          </a:p>
        </p:txBody>
      </p:sp>
      <p:sp>
        <p:nvSpPr>
          <p:cNvPr id="3" name="Text 1"/>
          <p:cNvSpPr/>
          <p:nvPr/>
        </p:nvSpPr>
        <p:spPr>
          <a:xfrm>
            <a:off x="457200" y="1005840"/>
            <a:ext cx="4480560" cy="3017520"/>
          </a:xfrm>
          <a:prstGeom prst="rect">
            <a:avLst/>
          </a:prstGeom>
          <a:noFill/>
          <a:ln/>
        </p:spPr>
        <p:txBody>
          <a:bodyPr wrap="square" lIns="1270" tIns="1270" rIns="1270" bIns="1270" rtlCol="0" anchor="ctr"/>
          <a:lstStyle/>
          <a:p>
            <a:pPr marL="0" indent="0">
              <a:buNone/>
            </a:pPr>
            <a:r>
              <a:rPr lang="en-US" sz="1200" b="1" dirty="0">
                <a:solidFill>
                  <a:srgbClr val="003366"/>
                </a:solidFill>
              </a:rPr>
              <a:t>• Design for your queries: </a:t>
            </a:r>
            <a:r>
              <a:rPr lang="en-US" sz="1200" dirty="0">
                <a:solidFill>
                  <a:srgbClr val="333333"/>
                </a:solidFill>
              </a:rPr>
              <a:t>Model your documents around the queries your application performs most often. Two applications with identical data may require different schemas.</a:t>
            </a:r>
            <a:endParaRPr lang="en-US" sz="1200" dirty="0"/>
          </a:p>
          <a:p>
            <a:pPr marL="0" indent="0">
              <a:buNone/>
            </a:pPr>
            <a:endParaRPr lang="en-US" sz="1200" dirty="0"/>
          </a:p>
          <a:p>
            <a:pPr marL="0" indent="0">
              <a:buNone/>
            </a:pPr>
            <a:r>
              <a:rPr lang="en-US" sz="1200" b="1" dirty="0">
                <a:solidFill>
                  <a:srgbClr val="003366"/>
                </a:solidFill>
              </a:rPr>
              <a:t>• Embed vs reference: </a:t>
            </a:r>
            <a:endParaRPr lang="en-US" sz="1200" dirty="0"/>
          </a:p>
          <a:p>
            <a:pPr marL="0" indent="0">
              <a:buNone/>
            </a:pPr>
            <a:r>
              <a:rPr lang="en-US" sz="1200" dirty="0">
                <a:solidFill>
                  <a:srgbClr val="333333"/>
                </a:solidFill>
              </a:rPr>
              <a:t>Embed related data if you always fetch it together; reference using document IDs when relationships are many‑to‑many or data is frequently updated.</a:t>
            </a:r>
            <a:endParaRPr lang="en-US" sz="1200" dirty="0"/>
          </a:p>
          <a:p>
            <a:pPr marL="0" indent="0">
              <a:buNone/>
            </a:pPr>
            <a:endParaRPr lang="en-US" sz="1200" dirty="0"/>
          </a:p>
          <a:p>
            <a:pPr marL="0" indent="0">
              <a:buNone/>
            </a:pPr>
            <a:r>
              <a:rPr lang="en-US" sz="1200" b="1" dirty="0">
                <a:solidFill>
                  <a:srgbClr val="003366"/>
                </a:solidFill>
              </a:rPr>
              <a:t>• Index thoughtfully: </a:t>
            </a:r>
            <a:endParaRPr lang="en-US" sz="1200" dirty="0"/>
          </a:p>
          <a:p>
            <a:pPr marL="0" indent="0">
              <a:buNone/>
            </a:pPr>
            <a:r>
              <a:rPr lang="en-US" sz="1200" dirty="0">
                <a:solidFill>
                  <a:srgbClr val="333333"/>
                </a:solidFill>
              </a:rPr>
              <a:t>Use compound indexes following ESR, avoid indexing low‑cardinality fields alone, and leverage partial, sparse, TTL and text indexes where appropriate.</a:t>
            </a:r>
            <a:endParaRPr lang="en-US" sz="1200" dirty="0"/>
          </a:p>
          <a:p>
            <a:pPr marL="0" indent="0">
              <a:buNone/>
            </a:pPr>
            <a:endParaRPr lang="en-US" sz="1200" dirty="0"/>
          </a:p>
          <a:p>
            <a:pPr marL="0" indent="0">
              <a:buNone/>
            </a:pPr>
            <a:r>
              <a:rPr lang="en-US" sz="1200" b="1" dirty="0">
                <a:solidFill>
                  <a:srgbClr val="003366"/>
                </a:solidFill>
              </a:rPr>
              <a:t>• Keep the working set in memory: </a:t>
            </a:r>
            <a:endParaRPr lang="en-US" sz="1200" dirty="0"/>
          </a:p>
          <a:p>
            <a:pPr marL="0" indent="0">
              <a:buNone/>
            </a:pPr>
            <a:r>
              <a:rPr lang="en-US" sz="1200" dirty="0">
                <a:solidFill>
                  <a:srgbClr val="333333"/>
                </a:solidFill>
              </a:rPr>
              <a:t>Ensure that your frequently accessed data fits into RAM to minimise disk I/O. Scale up RAM or use sharding to distribute the load.</a:t>
            </a:r>
            <a:endParaRPr lang="en-US" sz="1200" dirty="0"/>
          </a:p>
          <a:p>
            <a:pPr marL="0" indent="0">
              <a:buNone/>
            </a:pPr>
            <a:endParaRPr lang="en-US" sz="1200" dirty="0"/>
          </a:p>
          <a:p>
            <a:pPr marL="0" indent="0">
              <a:buNone/>
            </a:pPr>
            <a:r>
              <a:rPr lang="en-US" sz="1200" b="1" dirty="0">
                <a:solidFill>
                  <a:srgbClr val="003366"/>
                </a:solidFill>
              </a:rPr>
              <a:t>• Use replication &amp; sharding: </a:t>
            </a:r>
            <a:endParaRPr lang="en-US" sz="1200" dirty="0"/>
          </a:p>
          <a:p>
            <a:pPr marL="0" indent="0">
              <a:buNone/>
            </a:pPr>
            <a:r>
              <a:rPr lang="en-US" sz="1200" dirty="0">
                <a:solidFill>
                  <a:srgbClr val="333333"/>
                </a:solidFill>
              </a:rPr>
              <a:t>Replica sets provide redundancy and read scalability; sharding partitions data across clusters to handle write volume and storage growth.</a:t>
            </a:r>
            <a:endParaRPr lang="en-US" sz="1200" dirty="0"/>
          </a:p>
        </p:txBody>
      </p:sp>
      <p:sp>
        <p:nvSpPr>
          <p:cNvPr id="4" name="Shape 2"/>
          <p:cNvSpPr/>
          <p:nvPr/>
        </p:nvSpPr>
        <p:spPr>
          <a:xfrm>
            <a:off x="5029200" y="1005840"/>
            <a:ext cx="4023360" cy="2468880"/>
          </a:xfrm>
          <a:prstGeom prst="roundRect">
            <a:avLst>
              <a:gd name="adj" fmla="val 1852"/>
            </a:avLst>
          </a:prstGeom>
          <a:solidFill>
            <a:srgbClr val="F7F9FC"/>
          </a:solidFill>
          <a:ln w="12700">
            <a:solidFill>
              <a:srgbClr val="E1E8F1"/>
            </a:solidFill>
            <a:prstDash val="solid"/>
          </a:ln>
        </p:spPr>
        <p:txBody>
          <a:bodyPr/>
          <a:lstStyle/>
          <a:p>
            <a:endParaRPr/>
          </a:p>
        </p:txBody>
      </p:sp>
      <p:sp>
        <p:nvSpPr>
          <p:cNvPr id="5" name="Text 3"/>
          <p:cNvSpPr/>
          <p:nvPr/>
        </p:nvSpPr>
        <p:spPr>
          <a:xfrm>
            <a:off x="5120640" y="1051560"/>
            <a:ext cx="3840480" cy="2377440"/>
          </a:xfrm>
          <a:prstGeom prst="rect">
            <a:avLst/>
          </a:prstGeom>
          <a:noFill/>
          <a:ln/>
        </p:spPr>
        <p:txBody>
          <a:bodyPr wrap="square" rtlCol="0" anchor="ctr"/>
          <a:lstStyle/>
          <a:p>
            <a:pPr marL="0" indent="0">
              <a:buNone/>
            </a:pPr>
            <a:r>
              <a:rPr lang="en-US" sz="1400" b="1" dirty="0">
                <a:solidFill>
                  <a:srgbClr val="003366"/>
                </a:solidFill>
              </a:rPr>
              <a:t>Additional Tips
</a:t>
            </a:r>
            <a:r>
              <a:rPr lang="en-US" sz="1100" dirty="0">
                <a:solidFill>
                  <a:srgbClr val="333333"/>
                </a:solidFill>
              </a:rPr>
              <a:t>- Normalise or denormalise based on access patterns.
- Avoid unbounded arrays; split large arrays into separate collections.
- Precompute values and store them if queries require complex transformations.
- Use capped collections for log‑like data and TTL indexes for volatile data.</a:t>
            </a:r>
            <a:endParaRPr lang="en-US" sz="1400" dirty="0"/>
          </a:p>
        </p:txBody>
      </p:sp>
      <p:pic>
        <p:nvPicPr>
          <p:cNvPr id="6" name="Image 0" descr="preencoded.png"/>
          <p:cNvPicPr>
            <a:picLocks noChangeAspect="1"/>
          </p:cNvPicPr>
          <p:nvPr/>
        </p:nvPicPr>
        <p:blipFill>
          <a:blip r:embed="rId3"/>
          <a:stretch>
            <a:fillRect/>
          </a:stretch>
        </p:blipFill>
        <p:spPr>
          <a:xfrm>
            <a:off x="4892040" y="685800"/>
            <a:ext cx="365760" cy="365760"/>
          </a:xfrm>
          <a:prstGeom prst="rect">
            <a:avLst/>
          </a:prstGeom>
        </p:spPr>
      </p:pic>
      <p:sp>
        <p:nvSpPr>
          <p:cNvPr id="7" name="Text 4"/>
          <p:cNvSpPr/>
          <p:nvPr/>
        </p:nvSpPr>
        <p:spPr>
          <a:xfrm>
            <a:off x="457200" y="4754880"/>
            <a:ext cx="8229600" cy="274320"/>
          </a:xfrm>
          <a:prstGeom prst="rect">
            <a:avLst/>
          </a:prstGeom>
          <a:noFill/>
          <a:ln/>
        </p:spPr>
        <p:txBody>
          <a:bodyPr wrap="square" lIns="0" tIns="0" rIns="0" bIns="0" rtlCol="0" anchor="ctr"/>
          <a:lstStyle/>
          <a:p>
            <a:pPr marL="0" indent="0" algn="l">
              <a:buNone/>
            </a:pPr>
            <a:r>
              <a:rPr lang="en-US" sz="700" u="sng" dirty="0">
                <a:solidFill>
                  <a:srgbClr val="0070C0"/>
                </a:solidFill>
                <a:hlinkClick r:id="rId4"/>
              </a:rPr>
              <a:t>[9]</a:t>
            </a:r>
            <a:r>
              <a:rPr lang="en-US" sz="700" dirty="0">
                <a:solidFill>
                  <a:srgbClr val="000000"/>
                </a:solidFill>
              </a:rPr>
              <a:t>   </a:t>
            </a:r>
            <a:r>
              <a:rPr lang="en-US" sz="700" u="sng" dirty="0">
                <a:solidFill>
                  <a:srgbClr val="0070C0"/>
                </a:solidFill>
                <a:hlinkClick r:id="rId5"/>
              </a:rPr>
              <a:t>[10]</a:t>
            </a:r>
            <a:r>
              <a:rPr lang="en-US" sz="700" dirty="0">
                <a:solidFill>
                  <a:srgbClr val="000000"/>
                </a:solidFill>
              </a:rPr>
              <a:t>   </a:t>
            </a:r>
            <a:r>
              <a:rPr lang="en-US" sz="700" u="sng" dirty="0">
                <a:solidFill>
                  <a:srgbClr val="0070C0"/>
                </a:solidFill>
                <a:hlinkClick r:id="rId6"/>
              </a:rPr>
              <a:t>[11]</a:t>
            </a:r>
            <a:r>
              <a:rPr lang="en-US" sz="700" dirty="0">
                <a:solidFill>
                  <a:srgbClr val="000000"/>
                </a:solidFill>
              </a:rPr>
              <a:t>   </a:t>
            </a:r>
            <a:r>
              <a:rPr lang="en-US" sz="700" u="sng" dirty="0">
                <a:solidFill>
                  <a:srgbClr val="0070C0"/>
                </a:solidFill>
                <a:hlinkClick r:id="rId7"/>
              </a:rPr>
              <a:t>[12]</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8F8"/>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003366"/>
                </a:solidFill>
              </a:rPr>
              <a:t>Transactions &amp; ACID</a:t>
            </a:r>
            <a:endParaRPr lang="en-US" sz="2400" dirty="0"/>
          </a:p>
        </p:txBody>
      </p:sp>
      <p:sp>
        <p:nvSpPr>
          <p:cNvPr id="3" name="Text 1"/>
          <p:cNvSpPr/>
          <p:nvPr/>
        </p:nvSpPr>
        <p:spPr>
          <a:xfrm>
            <a:off x="457200" y="1005840"/>
            <a:ext cx="4389120" cy="3200400"/>
          </a:xfrm>
          <a:prstGeom prst="rect">
            <a:avLst/>
          </a:prstGeom>
          <a:noFill/>
          <a:ln/>
        </p:spPr>
        <p:txBody>
          <a:bodyPr wrap="square" rtlCol="0" anchor="ctr"/>
          <a:lstStyle/>
          <a:p>
            <a:pPr marL="0" indent="0">
              <a:buNone/>
            </a:pPr>
            <a:r>
              <a:rPr lang="en-US" sz="1400" b="1" dirty="0">
                <a:solidFill>
                  <a:srgbClr val="003366"/>
                </a:solidFill>
              </a:rPr>
              <a:t>ACID Properties
</a:t>
            </a:r>
            <a:r>
              <a:rPr lang="en-US" sz="1100" dirty="0">
                <a:solidFill>
                  <a:srgbClr val="333333"/>
                </a:solidFill>
              </a:rPr>
              <a:t>Atomicity: All or nothing – operations within a transaction either commit together or roll back.
Consistency: Data must transition from one valid state to another, enforced by schema and application logic.
Isolation: Concurrent transactions should not interfere; MongoDB provides snapshot isolation using document‑level locks.
Durability: Committed data persists through crashes via journaling and replication.
Multi‑document transactions were introduced in MongoDB 4.0 for replica sets and in 4.2 for sharded clusters. They enforce ACID across multiple operations and collections, using two‑phase commit underneath.</a:t>
            </a:r>
            <a:endParaRPr lang="en-US" sz="1400" dirty="0"/>
          </a:p>
        </p:txBody>
      </p:sp>
      <p:sp>
        <p:nvSpPr>
          <p:cNvPr id="4" name="Shape 2"/>
          <p:cNvSpPr/>
          <p:nvPr/>
        </p:nvSpPr>
        <p:spPr>
          <a:xfrm>
            <a:off x="4937760" y="1005840"/>
            <a:ext cx="3749040" cy="2194560"/>
          </a:xfrm>
          <a:prstGeom prst="roundRect">
            <a:avLst>
              <a:gd name="adj" fmla="val 2083"/>
            </a:avLst>
          </a:prstGeom>
          <a:solidFill>
            <a:srgbClr val="F7F9FC"/>
          </a:solidFill>
          <a:ln w="12700">
            <a:solidFill>
              <a:srgbClr val="D0D7E5"/>
            </a:solidFill>
            <a:prstDash val="solid"/>
          </a:ln>
        </p:spPr>
        <p:txBody>
          <a:bodyPr/>
          <a:lstStyle/>
          <a:p>
            <a:endParaRPr/>
          </a:p>
        </p:txBody>
      </p:sp>
      <p:sp>
        <p:nvSpPr>
          <p:cNvPr id="5" name="Text 3"/>
          <p:cNvSpPr/>
          <p:nvPr/>
        </p:nvSpPr>
        <p:spPr>
          <a:xfrm>
            <a:off x="4983480" y="1051560"/>
            <a:ext cx="3657600" cy="2103120"/>
          </a:xfrm>
          <a:prstGeom prst="rect">
            <a:avLst/>
          </a:prstGeom>
          <a:noFill/>
          <a:ln/>
        </p:spPr>
        <p:txBody>
          <a:bodyPr wrap="square" lIns="635" tIns="635" rIns="635" bIns="635" rtlCol="0" anchor="ctr"/>
          <a:lstStyle/>
          <a:p>
            <a:pPr marL="0" indent="0">
              <a:buNone/>
            </a:pPr>
            <a:r>
              <a:rPr lang="en-US" sz="1200" dirty="0">
                <a:solidFill>
                  <a:srgbClr val="007ACC"/>
                </a:solidFill>
                <a:latin typeface="Consolas" pitchFamily="34" charset="0"/>
                <a:ea typeface="Consolas" pitchFamily="34" charset="-122"/>
                <a:cs typeface="Consolas" pitchFamily="34" charset="-120"/>
              </a:rPr>
              <a:t>const</a:t>
            </a:r>
            <a:r>
              <a:rPr lang="en-US" sz="1200" dirty="0">
                <a:solidFill>
                  <a:srgbClr val="000000"/>
                </a:solidFill>
                <a:latin typeface="Consolas" pitchFamily="34" charset="0"/>
                <a:ea typeface="Consolas" pitchFamily="34" charset="-122"/>
                <a:cs typeface="Consolas" pitchFamily="34" charset="-120"/>
              </a:rPr>
              <a:t> session = client.</a:t>
            </a:r>
            <a:r>
              <a:rPr lang="en-US" sz="1200" dirty="0">
                <a:solidFill>
                  <a:srgbClr val="795E26"/>
                </a:solidFill>
                <a:latin typeface="Consolas" pitchFamily="34" charset="0"/>
                <a:ea typeface="Consolas" pitchFamily="34" charset="-122"/>
                <a:cs typeface="Consolas" pitchFamily="34" charset="-120"/>
              </a:rPr>
              <a:t>startSession</a:t>
            </a:r>
            <a:r>
              <a:rPr lang="en-US" sz="1200" dirty="0">
                <a:solidFill>
                  <a:srgbClr val="000000"/>
                </a:solidFill>
                <a:latin typeface="Consolas" pitchFamily="34" charset="0"/>
                <a:ea typeface="Consolas" pitchFamily="34" charset="-122"/>
                <a:cs typeface="Consolas" pitchFamily="34" charset="-120"/>
              </a:rPr>
              <a:t>();
</a:t>
            </a:r>
            <a:r>
              <a:rPr lang="en-US" sz="1200" dirty="0">
                <a:solidFill>
                  <a:srgbClr val="007ACC"/>
                </a:solidFill>
                <a:latin typeface="Consolas" pitchFamily="34" charset="0"/>
                <a:ea typeface="Consolas" pitchFamily="34" charset="-122"/>
                <a:cs typeface="Consolas" pitchFamily="34" charset="-120"/>
              </a:rPr>
              <a:t>try</a:t>
            </a:r>
            <a:r>
              <a:rPr lang="en-US" sz="1200" dirty="0">
                <a:solidFill>
                  <a:srgbClr val="000000"/>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000000"/>
                </a:solidFill>
                <a:latin typeface="Consolas" pitchFamily="34" charset="0"/>
                <a:ea typeface="Consolas" pitchFamily="34" charset="-122"/>
                <a:cs typeface="Consolas" pitchFamily="34" charset="-120"/>
              </a:rPr>
              <a:t>  session</a:t>
            </a:r>
            <a:endParaRPr lang="en-US" sz="1200" dirty="0"/>
          </a:p>
          <a:p>
            <a:pPr marL="0" indent="0">
              <a:buNone/>
            </a:pPr>
            <a:r>
              <a:rPr lang="en-US" sz="1200" dirty="0">
                <a:solidFill>
                  <a:srgbClr val="000000"/>
                </a:solidFill>
                <a:latin typeface="Consolas" pitchFamily="34" charset="0"/>
                <a:ea typeface="Consolas" pitchFamily="34" charset="-122"/>
                <a:cs typeface="Consolas" pitchFamily="34" charset="-120"/>
              </a:rPr>
              <a:t>.</a:t>
            </a:r>
            <a:r>
              <a:rPr lang="en-US" sz="1200" dirty="0">
                <a:solidFill>
                  <a:srgbClr val="795E26"/>
                </a:solidFill>
                <a:latin typeface="Consolas" pitchFamily="34" charset="0"/>
                <a:ea typeface="Consolas" pitchFamily="34" charset="-122"/>
                <a:cs typeface="Consolas" pitchFamily="34" charset="-120"/>
              </a:rPr>
              <a:t>startTransaction</a:t>
            </a:r>
            <a:r>
              <a:rPr lang="en-US" sz="1200" dirty="0">
                <a:solidFill>
                  <a:srgbClr val="000000"/>
                </a:solidFill>
                <a:latin typeface="Consolas" pitchFamily="34" charset="0"/>
                <a:ea typeface="Consolas" pitchFamily="34" charset="-122"/>
                <a:cs typeface="Consolas" pitchFamily="34" charset="-120"/>
              </a:rPr>
              <a:t>();</a:t>
            </a:r>
            <a:endParaRPr lang="en-US" sz="1200" dirty="0"/>
          </a:p>
          <a:p>
            <a:pPr marL="0" indent="0">
              <a:buNone/>
            </a:pPr>
            <a:r>
              <a:rPr lang="en-US" sz="1200" dirty="0">
                <a:solidFill>
                  <a:srgbClr val="000000"/>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007ACC"/>
                </a:solidFill>
                <a:latin typeface="Consolas" pitchFamily="34" charset="0"/>
                <a:ea typeface="Consolas" pitchFamily="34" charset="-122"/>
                <a:cs typeface="Consolas" pitchFamily="34" charset="-120"/>
              </a:rPr>
              <a:t>await</a:t>
            </a:r>
            <a:r>
              <a:rPr lang="en-US" sz="1200" dirty="0">
                <a:solidFill>
                  <a:srgbClr val="000000"/>
                </a:solidFill>
                <a:latin typeface="Consolas" pitchFamily="34" charset="0"/>
                <a:ea typeface="Consolas" pitchFamily="34" charset="-122"/>
                <a:cs typeface="Consolas" pitchFamily="34" charset="-120"/>
              </a:rPr>
              <a:t> orders.</a:t>
            </a:r>
            <a:r>
              <a:rPr lang="en-US" sz="1200" dirty="0">
                <a:solidFill>
                  <a:srgbClr val="795E26"/>
                </a:solidFill>
                <a:latin typeface="Consolas" pitchFamily="34" charset="0"/>
                <a:ea typeface="Consolas" pitchFamily="34" charset="-122"/>
                <a:cs typeface="Consolas" pitchFamily="34" charset="-120"/>
              </a:rPr>
              <a:t>updateOne</a:t>
            </a:r>
            <a:r>
              <a:rPr lang="en-US" sz="1200" dirty="0">
                <a:solidFill>
                  <a:srgbClr val="000000"/>
                </a:solidFill>
                <a:latin typeface="Consolas" pitchFamily="34" charset="0"/>
                <a:ea typeface="Consolas" pitchFamily="34" charset="-122"/>
                <a:cs typeface="Consolas" pitchFamily="34" charset="-120"/>
              </a:rPr>
              <a:t>({ _id: orderId }, { $set: { status: </a:t>
            </a:r>
            <a:r>
              <a:rPr lang="en-US" sz="1200" dirty="0">
                <a:solidFill>
                  <a:srgbClr val="A31515"/>
                </a:solidFill>
                <a:latin typeface="Consolas" pitchFamily="34" charset="0"/>
                <a:ea typeface="Consolas" pitchFamily="34" charset="-122"/>
                <a:cs typeface="Consolas" pitchFamily="34" charset="-120"/>
              </a:rPr>
              <a:t>'paid'</a:t>
            </a:r>
            <a:r>
              <a:rPr lang="en-US" sz="1200" dirty="0">
                <a:solidFill>
                  <a:srgbClr val="000000"/>
                </a:solidFill>
                <a:latin typeface="Consolas" pitchFamily="34" charset="0"/>
                <a:ea typeface="Consolas" pitchFamily="34" charset="-122"/>
                <a:cs typeface="Consolas" pitchFamily="34" charset="-120"/>
              </a:rPr>
              <a:t> } }, { session });</a:t>
            </a:r>
            <a:endParaRPr lang="en-US" sz="1200" dirty="0"/>
          </a:p>
          <a:p>
            <a:pPr marL="0" indent="0">
              <a:buNone/>
            </a:pPr>
            <a:r>
              <a:rPr lang="en-US" sz="1200" dirty="0">
                <a:solidFill>
                  <a:srgbClr val="000000"/>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007ACC"/>
                </a:solidFill>
                <a:latin typeface="Consolas" pitchFamily="34" charset="0"/>
                <a:ea typeface="Consolas" pitchFamily="34" charset="-122"/>
                <a:cs typeface="Consolas" pitchFamily="34" charset="-120"/>
              </a:rPr>
              <a:t>await</a:t>
            </a:r>
            <a:r>
              <a:rPr lang="en-US" sz="1200" dirty="0">
                <a:solidFill>
                  <a:srgbClr val="000000"/>
                </a:solidFill>
                <a:latin typeface="Consolas" pitchFamily="34" charset="0"/>
                <a:ea typeface="Consolas" pitchFamily="34" charset="-122"/>
                <a:cs typeface="Consolas" pitchFamily="34" charset="-120"/>
              </a:rPr>
              <a:t> inventory.</a:t>
            </a:r>
            <a:r>
              <a:rPr lang="en-US" sz="1200" dirty="0">
                <a:solidFill>
                  <a:srgbClr val="795E26"/>
                </a:solidFill>
                <a:latin typeface="Consolas" pitchFamily="34" charset="0"/>
                <a:ea typeface="Consolas" pitchFamily="34" charset="-122"/>
                <a:cs typeface="Consolas" pitchFamily="34" charset="-120"/>
              </a:rPr>
              <a:t>updateOne</a:t>
            </a:r>
            <a:r>
              <a:rPr lang="en-US" sz="1200" dirty="0">
                <a:solidFill>
                  <a:srgbClr val="000000"/>
                </a:solidFill>
                <a:latin typeface="Consolas" pitchFamily="34" charset="0"/>
                <a:ea typeface="Consolas" pitchFamily="34" charset="-122"/>
                <a:cs typeface="Consolas" pitchFamily="34" charset="-120"/>
              </a:rPr>
              <a:t>({ sku: sku }, { $inc: { qty: -</a:t>
            </a:r>
            <a:r>
              <a:rPr lang="en-US" sz="1200" dirty="0">
                <a:solidFill>
                  <a:srgbClr val="098658"/>
                </a:solidFill>
                <a:latin typeface="Consolas" pitchFamily="34" charset="0"/>
                <a:ea typeface="Consolas" pitchFamily="34" charset="-122"/>
                <a:cs typeface="Consolas" pitchFamily="34" charset="-120"/>
              </a:rPr>
              <a:t>1</a:t>
            </a:r>
            <a:r>
              <a:rPr lang="en-US" sz="1200" dirty="0">
                <a:solidFill>
                  <a:srgbClr val="000000"/>
                </a:solidFill>
                <a:latin typeface="Consolas" pitchFamily="34" charset="0"/>
                <a:ea typeface="Consolas" pitchFamily="34" charset="-122"/>
                <a:cs typeface="Consolas" pitchFamily="34" charset="-120"/>
              </a:rPr>
              <a:t> } }, { session });</a:t>
            </a:r>
            <a:endParaRPr lang="en-US" sz="1200" dirty="0"/>
          </a:p>
          <a:p>
            <a:pPr marL="0" indent="0">
              <a:buNone/>
            </a:pPr>
            <a:r>
              <a:rPr lang="en-US" sz="1200" dirty="0">
                <a:solidFill>
                  <a:srgbClr val="000000"/>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007ACC"/>
                </a:solidFill>
                <a:latin typeface="Consolas" pitchFamily="34" charset="0"/>
                <a:ea typeface="Consolas" pitchFamily="34" charset="-122"/>
                <a:cs typeface="Consolas" pitchFamily="34" charset="-120"/>
              </a:rPr>
              <a:t>await</a:t>
            </a:r>
            <a:r>
              <a:rPr lang="en-US" sz="1200" dirty="0">
                <a:solidFill>
                  <a:srgbClr val="000000"/>
                </a:solidFill>
                <a:latin typeface="Consolas" pitchFamily="34" charset="0"/>
                <a:ea typeface="Consolas" pitchFamily="34" charset="-122"/>
                <a:cs typeface="Consolas" pitchFamily="34" charset="-120"/>
              </a:rPr>
              <a:t> session.</a:t>
            </a:r>
            <a:r>
              <a:rPr lang="en-US" sz="1200" dirty="0">
                <a:solidFill>
                  <a:srgbClr val="795E26"/>
                </a:solidFill>
                <a:latin typeface="Consolas" pitchFamily="34" charset="0"/>
                <a:ea typeface="Consolas" pitchFamily="34" charset="-122"/>
                <a:cs typeface="Consolas" pitchFamily="34" charset="-120"/>
              </a:rPr>
              <a:t>commitTransaction</a:t>
            </a:r>
            <a:r>
              <a:rPr lang="en-US" sz="1200" dirty="0">
                <a:solidFill>
                  <a:srgbClr val="000000"/>
                </a:solidFill>
                <a:latin typeface="Consolas" pitchFamily="34" charset="0"/>
                <a:ea typeface="Consolas" pitchFamily="34" charset="-122"/>
                <a:cs typeface="Consolas" pitchFamily="34" charset="-120"/>
              </a:rPr>
              <a:t>();
} </a:t>
            </a:r>
            <a:r>
              <a:rPr lang="en-US" sz="1200" dirty="0">
                <a:solidFill>
                  <a:srgbClr val="007ACC"/>
                </a:solidFill>
                <a:latin typeface="Consolas" pitchFamily="34" charset="0"/>
                <a:ea typeface="Consolas" pitchFamily="34" charset="-122"/>
                <a:cs typeface="Consolas" pitchFamily="34" charset="-120"/>
              </a:rPr>
              <a:t>catch</a:t>
            </a:r>
            <a:r>
              <a:rPr lang="en-US" sz="1200" dirty="0">
                <a:solidFill>
                  <a:srgbClr val="000000"/>
                </a:solidFill>
                <a:latin typeface="Consolas" pitchFamily="34" charset="0"/>
                <a:ea typeface="Consolas" pitchFamily="34" charset="-122"/>
                <a:cs typeface="Consolas" pitchFamily="34" charset="-120"/>
              </a:rPr>
              <a:t> (err) {</a:t>
            </a:r>
            <a:endParaRPr lang="en-US" sz="1200" dirty="0"/>
          </a:p>
          <a:p>
            <a:pPr marL="0" indent="0">
              <a:buNone/>
            </a:pPr>
            <a:r>
              <a:rPr lang="en-US" sz="1200" dirty="0">
                <a:solidFill>
                  <a:srgbClr val="000000"/>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007ACC"/>
                </a:solidFill>
                <a:latin typeface="Consolas" pitchFamily="34" charset="0"/>
                <a:ea typeface="Consolas" pitchFamily="34" charset="-122"/>
                <a:cs typeface="Consolas" pitchFamily="34" charset="-120"/>
              </a:rPr>
              <a:t>await</a:t>
            </a:r>
            <a:r>
              <a:rPr lang="en-US" sz="1200" dirty="0">
                <a:solidFill>
                  <a:srgbClr val="000000"/>
                </a:solidFill>
                <a:latin typeface="Consolas" pitchFamily="34" charset="0"/>
                <a:ea typeface="Consolas" pitchFamily="34" charset="-122"/>
                <a:cs typeface="Consolas" pitchFamily="34" charset="-120"/>
              </a:rPr>
              <a:t> session.</a:t>
            </a:r>
            <a:r>
              <a:rPr lang="en-US" sz="1200" dirty="0">
                <a:solidFill>
                  <a:srgbClr val="795E26"/>
                </a:solidFill>
                <a:latin typeface="Consolas" pitchFamily="34" charset="0"/>
                <a:ea typeface="Consolas" pitchFamily="34" charset="-122"/>
                <a:cs typeface="Consolas" pitchFamily="34" charset="-120"/>
              </a:rPr>
              <a:t>abortTransaction</a:t>
            </a:r>
            <a:r>
              <a:rPr lang="en-US" sz="1200" dirty="0">
                <a:solidFill>
                  <a:srgbClr val="000000"/>
                </a:solidFill>
                <a:latin typeface="Consolas" pitchFamily="34" charset="0"/>
                <a:ea typeface="Consolas" pitchFamily="34" charset="-122"/>
                <a:cs typeface="Consolas" pitchFamily="34" charset="-120"/>
              </a:rPr>
              <a:t>();</a:t>
            </a:r>
            <a:endParaRPr lang="en-US" sz="1200" dirty="0"/>
          </a:p>
          <a:p>
            <a:pPr marL="0" indent="0">
              <a:buNone/>
            </a:pPr>
            <a:r>
              <a:rPr lang="en-US" sz="1200" dirty="0">
                <a:solidFill>
                  <a:srgbClr val="000000"/>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007ACC"/>
                </a:solidFill>
                <a:latin typeface="Consolas" pitchFamily="34" charset="0"/>
                <a:ea typeface="Consolas" pitchFamily="34" charset="-122"/>
                <a:cs typeface="Consolas" pitchFamily="34" charset="-120"/>
              </a:rPr>
              <a:t>throw</a:t>
            </a:r>
            <a:r>
              <a:rPr lang="en-US" sz="1200" dirty="0">
                <a:solidFill>
                  <a:srgbClr val="000000"/>
                </a:solidFill>
                <a:latin typeface="Consolas" pitchFamily="34" charset="0"/>
                <a:ea typeface="Consolas" pitchFamily="34" charset="-122"/>
                <a:cs typeface="Consolas" pitchFamily="34" charset="-120"/>
              </a:rPr>
              <a:t> err;
} </a:t>
            </a:r>
            <a:r>
              <a:rPr lang="en-US" sz="1200" dirty="0">
                <a:solidFill>
                  <a:srgbClr val="007ACC"/>
                </a:solidFill>
                <a:latin typeface="Consolas" pitchFamily="34" charset="0"/>
                <a:ea typeface="Consolas" pitchFamily="34" charset="-122"/>
                <a:cs typeface="Consolas" pitchFamily="34" charset="-120"/>
              </a:rPr>
              <a:t>finally</a:t>
            </a:r>
            <a:r>
              <a:rPr lang="en-US" sz="1200" dirty="0">
                <a:solidFill>
                  <a:srgbClr val="000000"/>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000000"/>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007ACC"/>
                </a:solidFill>
                <a:latin typeface="Consolas" pitchFamily="34" charset="0"/>
                <a:ea typeface="Consolas" pitchFamily="34" charset="-122"/>
                <a:cs typeface="Consolas" pitchFamily="34" charset="-120"/>
              </a:rPr>
              <a:t>await</a:t>
            </a:r>
            <a:r>
              <a:rPr lang="en-US" sz="1200" dirty="0">
                <a:solidFill>
                  <a:srgbClr val="000000"/>
                </a:solidFill>
                <a:latin typeface="Consolas" pitchFamily="34" charset="0"/>
                <a:ea typeface="Consolas" pitchFamily="34" charset="-122"/>
                <a:cs typeface="Consolas" pitchFamily="34" charset="-120"/>
              </a:rPr>
              <a:t> session.</a:t>
            </a:r>
            <a:r>
              <a:rPr lang="en-US" sz="1200" dirty="0">
                <a:solidFill>
                  <a:srgbClr val="795E26"/>
                </a:solidFill>
                <a:latin typeface="Consolas" pitchFamily="34" charset="0"/>
                <a:ea typeface="Consolas" pitchFamily="34" charset="-122"/>
                <a:cs typeface="Consolas" pitchFamily="34" charset="-120"/>
              </a:rPr>
              <a:t>endSession</a:t>
            </a:r>
            <a:r>
              <a:rPr lang="en-US" sz="1200" dirty="0">
                <a:solidFill>
                  <a:srgbClr val="000000"/>
                </a:solidFill>
                <a:latin typeface="Consolas" pitchFamily="34" charset="0"/>
                <a:ea typeface="Consolas" pitchFamily="34" charset="-122"/>
                <a:cs typeface="Consolas" pitchFamily="34" charset="-120"/>
              </a:rPr>
              <a:t>();
}</a:t>
            </a:r>
            <a:endParaRPr lang="en-US" sz="1200" dirty="0"/>
          </a:p>
        </p:txBody>
      </p:sp>
      <p:pic>
        <p:nvPicPr>
          <p:cNvPr id="6" name="Image 0" descr="preencoded.png"/>
          <p:cNvPicPr>
            <a:picLocks noChangeAspect="1"/>
          </p:cNvPicPr>
          <p:nvPr/>
        </p:nvPicPr>
        <p:blipFill>
          <a:blip r:embed="rId3"/>
          <a:stretch>
            <a:fillRect/>
          </a:stretch>
        </p:blipFill>
        <p:spPr>
          <a:xfrm>
            <a:off x="4892040" y="731520"/>
            <a:ext cx="365760" cy="365760"/>
          </a:xfrm>
          <a:prstGeom prst="rect">
            <a:avLst/>
          </a:prstGeom>
        </p:spPr>
      </p:pic>
      <p:sp>
        <p:nvSpPr>
          <p:cNvPr id="7" name="Text 4"/>
          <p:cNvSpPr/>
          <p:nvPr/>
        </p:nvSpPr>
        <p:spPr>
          <a:xfrm>
            <a:off x="457200" y="4754880"/>
            <a:ext cx="8229600" cy="274320"/>
          </a:xfrm>
          <a:prstGeom prst="rect">
            <a:avLst/>
          </a:prstGeom>
          <a:noFill/>
          <a:ln/>
        </p:spPr>
        <p:txBody>
          <a:bodyPr wrap="square" lIns="0" tIns="0" rIns="0" bIns="0" rtlCol="0" anchor="ctr"/>
          <a:lstStyle/>
          <a:p>
            <a:pPr marL="0" indent="0" algn="l">
              <a:buNone/>
            </a:pPr>
            <a:r>
              <a:rPr lang="en-US" sz="700" u="sng" dirty="0">
                <a:solidFill>
                  <a:srgbClr val="0070C0"/>
                </a:solidFill>
                <a:hlinkClick r:id="rId4"/>
              </a:rPr>
              <a:t>[13]</a:t>
            </a:r>
            <a:r>
              <a:rPr lang="en-US" sz="700" dirty="0">
                <a:solidFill>
                  <a:srgbClr val="000000"/>
                </a:solidFill>
              </a:rPr>
              <a:t>   </a:t>
            </a:r>
            <a:r>
              <a:rPr lang="en-US" sz="700" u="sng" dirty="0">
                <a:solidFill>
                  <a:srgbClr val="0070C0"/>
                </a:solidFill>
                <a:hlinkClick r:id="rId5"/>
              </a:rPr>
              <a:t>[14]</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7"/>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003366"/>
                </a:solidFill>
              </a:rPr>
              <a:t>Replication (High Availability)</a:t>
            </a:r>
            <a:endParaRPr lang="en-US" sz="2400" dirty="0"/>
          </a:p>
        </p:txBody>
      </p:sp>
      <p:sp>
        <p:nvSpPr>
          <p:cNvPr id="3" name="Shape 1"/>
          <p:cNvSpPr/>
          <p:nvPr/>
        </p:nvSpPr>
        <p:spPr>
          <a:xfrm>
            <a:off x="2194560" y="914400"/>
            <a:ext cx="1463040" cy="548640"/>
          </a:xfrm>
          <a:prstGeom prst="roundRect">
            <a:avLst>
              <a:gd name="adj" fmla="val 8333"/>
            </a:avLst>
          </a:prstGeom>
          <a:solidFill>
            <a:srgbClr val="FFF2CC"/>
          </a:solidFill>
          <a:ln w="12700">
            <a:solidFill>
              <a:srgbClr val="D6B656"/>
            </a:solidFill>
            <a:prstDash val="solid"/>
          </a:ln>
        </p:spPr>
        <p:txBody>
          <a:bodyPr/>
          <a:lstStyle/>
          <a:p>
            <a:endParaRPr/>
          </a:p>
        </p:txBody>
      </p:sp>
      <p:sp>
        <p:nvSpPr>
          <p:cNvPr id="4" name="Text 2"/>
          <p:cNvSpPr/>
          <p:nvPr/>
        </p:nvSpPr>
        <p:spPr>
          <a:xfrm>
            <a:off x="2194560" y="914400"/>
            <a:ext cx="1463040" cy="548640"/>
          </a:xfrm>
          <a:prstGeom prst="rect">
            <a:avLst/>
          </a:prstGeom>
          <a:noFill/>
          <a:ln/>
        </p:spPr>
        <p:txBody>
          <a:bodyPr wrap="square" rtlCol="0" anchor="ctr"/>
          <a:lstStyle/>
          <a:p>
            <a:pPr marL="0" indent="0" algn="ctr">
              <a:buNone/>
            </a:pPr>
            <a:r>
              <a:rPr lang="en-US" sz="1200" b="1" dirty="0">
                <a:solidFill>
                  <a:srgbClr val="7F6000"/>
                </a:solidFill>
              </a:rPr>
              <a:t>Primary</a:t>
            </a:r>
            <a:endParaRPr lang="en-US" sz="1200" dirty="0"/>
          </a:p>
        </p:txBody>
      </p:sp>
      <p:sp>
        <p:nvSpPr>
          <p:cNvPr id="5" name="Shape 3"/>
          <p:cNvSpPr/>
          <p:nvPr/>
        </p:nvSpPr>
        <p:spPr>
          <a:xfrm>
            <a:off x="731520" y="2011680"/>
            <a:ext cx="1463040" cy="548640"/>
          </a:xfrm>
          <a:prstGeom prst="roundRect">
            <a:avLst>
              <a:gd name="adj" fmla="val 8333"/>
            </a:avLst>
          </a:prstGeom>
          <a:solidFill>
            <a:srgbClr val="E7F0FA"/>
          </a:solidFill>
          <a:ln w="12700">
            <a:solidFill>
              <a:srgbClr val="A2C4C9"/>
            </a:solidFill>
            <a:prstDash val="solid"/>
          </a:ln>
        </p:spPr>
        <p:txBody>
          <a:bodyPr/>
          <a:lstStyle/>
          <a:p>
            <a:endParaRPr/>
          </a:p>
        </p:txBody>
      </p:sp>
      <p:sp>
        <p:nvSpPr>
          <p:cNvPr id="6" name="Text 4"/>
          <p:cNvSpPr/>
          <p:nvPr/>
        </p:nvSpPr>
        <p:spPr>
          <a:xfrm>
            <a:off x="731520" y="2011680"/>
            <a:ext cx="1463040" cy="548640"/>
          </a:xfrm>
          <a:prstGeom prst="rect">
            <a:avLst/>
          </a:prstGeom>
          <a:noFill/>
          <a:ln/>
        </p:spPr>
        <p:txBody>
          <a:bodyPr wrap="square" rtlCol="0" anchor="ctr"/>
          <a:lstStyle/>
          <a:p>
            <a:pPr marL="0" indent="0" algn="ctr">
              <a:buNone/>
            </a:pPr>
            <a:r>
              <a:rPr lang="en-US" sz="1200" dirty="0">
                <a:solidFill>
                  <a:srgbClr val="003366"/>
                </a:solidFill>
              </a:rPr>
              <a:t>Secondary 1</a:t>
            </a:r>
            <a:endParaRPr lang="en-US" sz="1200" dirty="0"/>
          </a:p>
        </p:txBody>
      </p:sp>
      <p:sp>
        <p:nvSpPr>
          <p:cNvPr id="7" name="Shape 5"/>
          <p:cNvSpPr/>
          <p:nvPr/>
        </p:nvSpPr>
        <p:spPr>
          <a:xfrm>
            <a:off x="1325880" y="1463040"/>
            <a:ext cx="274320" cy="548640"/>
          </a:xfrm>
          <a:prstGeom prst="downArrow">
            <a:avLst/>
          </a:prstGeom>
          <a:solidFill>
            <a:srgbClr val="A2C4C9"/>
          </a:solidFill>
          <a:ln w="12700">
            <a:solidFill>
              <a:srgbClr val="A2C4C9"/>
            </a:solidFill>
            <a:prstDash val="solid"/>
          </a:ln>
        </p:spPr>
        <p:txBody>
          <a:bodyPr/>
          <a:lstStyle/>
          <a:p>
            <a:endParaRPr/>
          </a:p>
        </p:txBody>
      </p:sp>
      <p:sp>
        <p:nvSpPr>
          <p:cNvPr id="8" name="Shape 6"/>
          <p:cNvSpPr/>
          <p:nvPr/>
        </p:nvSpPr>
        <p:spPr>
          <a:xfrm>
            <a:off x="3657600" y="2011680"/>
            <a:ext cx="1463040" cy="548640"/>
          </a:xfrm>
          <a:prstGeom prst="roundRect">
            <a:avLst>
              <a:gd name="adj" fmla="val 8333"/>
            </a:avLst>
          </a:prstGeom>
          <a:solidFill>
            <a:srgbClr val="E7F0FA"/>
          </a:solidFill>
          <a:ln w="12700">
            <a:solidFill>
              <a:srgbClr val="A2C4C9"/>
            </a:solidFill>
            <a:prstDash val="solid"/>
          </a:ln>
        </p:spPr>
        <p:txBody>
          <a:bodyPr/>
          <a:lstStyle/>
          <a:p>
            <a:endParaRPr/>
          </a:p>
        </p:txBody>
      </p:sp>
      <p:sp>
        <p:nvSpPr>
          <p:cNvPr id="9" name="Text 7"/>
          <p:cNvSpPr/>
          <p:nvPr/>
        </p:nvSpPr>
        <p:spPr>
          <a:xfrm>
            <a:off x="3657600" y="2011680"/>
            <a:ext cx="1463040" cy="548640"/>
          </a:xfrm>
          <a:prstGeom prst="rect">
            <a:avLst/>
          </a:prstGeom>
          <a:noFill/>
          <a:ln/>
        </p:spPr>
        <p:txBody>
          <a:bodyPr wrap="square" rtlCol="0" anchor="ctr"/>
          <a:lstStyle/>
          <a:p>
            <a:pPr marL="0" indent="0" algn="ctr">
              <a:buNone/>
            </a:pPr>
            <a:r>
              <a:rPr lang="en-US" sz="1200" dirty="0">
                <a:solidFill>
                  <a:srgbClr val="003366"/>
                </a:solidFill>
              </a:rPr>
              <a:t>Secondary 2</a:t>
            </a:r>
            <a:endParaRPr lang="en-US" sz="1200" dirty="0"/>
          </a:p>
        </p:txBody>
      </p:sp>
      <p:sp>
        <p:nvSpPr>
          <p:cNvPr id="10" name="Shape 8"/>
          <p:cNvSpPr/>
          <p:nvPr/>
        </p:nvSpPr>
        <p:spPr>
          <a:xfrm>
            <a:off x="2788920" y="1463040"/>
            <a:ext cx="274320" cy="548640"/>
          </a:xfrm>
          <a:prstGeom prst="downArrow">
            <a:avLst/>
          </a:prstGeom>
          <a:solidFill>
            <a:srgbClr val="A2C4C9"/>
          </a:solidFill>
          <a:ln w="12700">
            <a:solidFill>
              <a:srgbClr val="A2C4C9"/>
            </a:solidFill>
            <a:prstDash val="solid"/>
          </a:ln>
        </p:spPr>
        <p:txBody>
          <a:bodyPr/>
          <a:lstStyle/>
          <a:p>
            <a:endParaRPr/>
          </a:p>
        </p:txBody>
      </p:sp>
      <p:sp>
        <p:nvSpPr>
          <p:cNvPr id="11" name="Shape 9"/>
          <p:cNvSpPr/>
          <p:nvPr/>
        </p:nvSpPr>
        <p:spPr>
          <a:xfrm>
            <a:off x="5669280" y="2011680"/>
            <a:ext cx="1463040" cy="548640"/>
          </a:xfrm>
          <a:prstGeom prst="roundRect">
            <a:avLst>
              <a:gd name="adj" fmla="val 8333"/>
            </a:avLst>
          </a:prstGeom>
          <a:solidFill>
            <a:srgbClr val="E7F0FA"/>
          </a:solidFill>
          <a:ln w="12700">
            <a:solidFill>
              <a:srgbClr val="A2C4C9"/>
            </a:solidFill>
            <a:prstDash val="solid"/>
          </a:ln>
        </p:spPr>
        <p:txBody>
          <a:bodyPr/>
          <a:lstStyle/>
          <a:p>
            <a:endParaRPr/>
          </a:p>
        </p:txBody>
      </p:sp>
      <p:sp>
        <p:nvSpPr>
          <p:cNvPr id="12" name="Text 10"/>
          <p:cNvSpPr/>
          <p:nvPr/>
        </p:nvSpPr>
        <p:spPr>
          <a:xfrm>
            <a:off x="5669280" y="2011680"/>
            <a:ext cx="1463040" cy="548640"/>
          </a:xfrm>
          <a:prstGeom prst="rect">
            <a:avLst/>
          </a:prstGeom>
          <a:noFill/>
          <a:ln/>
        </p:spPr>
        <p:txBody>
          <a:bodyPr wrap="square" rtlCol="0" anchor="ctr"/>
          <a:lstStyle/>
          <a:p>
            <a:pPr marL="0" indent="0" algn="ctr">
              <a:buNone/>
            </a:pPr>
            <a:r>
              <a:rPr lang="en-US" sz="1200" dirty="0">
                <a:solidFill>
                  <a:srgbClr val="003366"/>
                </a:solidFill>
              </a:rPr>
              <a:t>Secondary 3</a:t>
            </a:r>
            <a:endParaRPr lang="en-US" sz="1200" dirty="0"/>
          </a:p>
        </p:txBody>
      </p:sp>
      <p:sp>
        <p:nvSpPr>
          <p:cNvPr id="13" name="Shape 11"/>
          <p:cNvSpPr/>
          <p:nvPr/>
        </p:nvSpPr>
        <p:spPr>
          <a:xfrm>
            <a:off x="4251960" y="1463040"/>
            <a:ext cx="274320" cy="548640"/>
          </a:xfrm>
          <a:prstGeom prst="downArrow">
            <a:avLst/>
          </a:prstGeom>
          <a:solidFill>
            <a:srgbClr val="A2C4C9"/>
          </a:solidFill>
          <a:ln w="12700">
            <a:solidFill>
              <a:srgbClr val="A2C4C9"/>
            </a:solidFill>
            <a:prstDash val="solid"/>
          </a:ln>
        </p:spPr>
        <p:txBody>
          <a:bodyPr/>
          <a:lstStyle/>
          <a:p>
            <a:endParaRPr/>
          </a:p>
        </p:txBody>
      </p:sp>
      <p:sp>
        <p:nvSpPr>
          <p:cNvPr id="14" name="Text 12"/>
          <p:cNvSpPr/>
          <p:nvPr/>
        </p:nvSpPr>
        <p:spPr>
          <a:xfrm>
            <a:off x="457200" y="3017520"/>
            <a:ext cx="4389120" cy="1828800"/>
          </a:xfrm>
          <a:prstGeom prst="rect">
            <a:avLst/>
          </a:prstGeom>
          <a:noFill/>
          <a:ln/>
        </p:spPr>
        <p:txBody>
          <a:bodyPr wrap="square" rtlCol="0" anchor="ctr"/>
          <a:lstStyle/>
          <a:p>
            <a:pPr marL="0" indent="0">
              <a:buNone/>
            </a:pPr>
            <a:r>
              <a:rPr lang="en-US" sz="1400" b="1" dirty="0">
                <a:solidFill>
                  <a:srgbClr val="003366"/>
                </a:solidFill>
              </a:rPr>
              <a:t>Replica Set Features
</a:t>
            </a:r>
            <a:r>
              <a:rPr lang="en-US" sz="1100" dirty="0">
                <a:solidFill>
                  <a:srgbClr val="333333"/>
                </a:solidFill>
              </a:rPr>
              <a:t>• One primary receives all writes; secondaries replicate the primary’s oplog asynchronously.
• Automatic failover: if the primary fails, an election selects a new primary.
• Replication provides redundancy and enables read scaling via read preferences.
• Heartbeats monitor node availability and detect failures.</a:t>
            </a:r>
            <a:endParaRPr lang="en-US" sz="1400" dirty="0"/>
          </a:p>
        </p:txBody>
      </p:sp>
      <p:pic>
        <p:nvPicPr>
          <p:cNvPr id="15" name="Image 0" descr="preencoded.png"/>
          <p:cNvPicPr>
            <a:picLocks noChangeAspect="1"/>
          </p:cNvPicPr>
          <p:nvPr/>
        </p:nvPicPr>
        <p:blipFill>
          <a:blip r:embed="rId3"/>
          <a:stretch>
            <a:fillRect/>
          </a:stretch>
        </p:blipFill>
        <p:spPr>
          <a:xfrm>
            <a:off x="4937760" y="3017520"/>
            <a:ext cx="457200" cy="457200"/>
          </a:xfrm>
          <a:prstGeom prst="rect">
            <a:avLst/>
          </a:prstGeom>
        </p:spPr>
      </p:pic>
      <p:sp>
        <p:nvSpPr>
          <p:cNvPr id="16" name="Text 13"/>
          <p:cNvSpPr/>
          <p:nvPr/>
        </p:nvSpPr>
        <p:spPr>
          <a:xfrm>
            <a:off x="5394960" y="3017520"/>
            <a:ext cx="3657600" cy="1828800"/>
          </a:xfrm>
          <a:prstGeom prst="rect">
            <a:avLst/>
          </a:prstGeom>
          <a:noFill/>
          <a:ln/>
        </p:spPr>
        <p:txBody>
          <a:bodyPr wrap="square" rtlCol="0" anchor="ctr"/>
          <a:lstStyle/>
          <a:p>
            <a:pPr marL="0" indent="0">
              <a:buNone/>
            </a:pPr>
            <a:r>
              <a:rPr lang="en-US" sz="1400" b="1" dirty="0">
                <a:solidFill>
                  <a:srgbClr val="003366"/>
                </a:solidFill>
              </a:rPr>
              <a:t>Replication Lag
</a:t>
            </a:r>
            <a:r>
              <a:rPr lang="en-US" sz="1100" dirty="0">
                <a:solidFill>
                  <a:srgbClr val="333333"/>
                </a:solidFill>
              </a:rPr>
              <a:t>Secondaries replicate the primary’s oplog asynchronously, which can create lag. Monitor replication lag via the replication metrics and tune network throughput and write concern accordingly. Read preferences can direct reads to secondaries for load balancing, but stale reads may occur.</a:t>
            </a:r>
            <a:endParaRPr lang="en-US" sz="1400" dirty="0"/>
          </a:p>
        </p:txBody>
      </p:sp>
      <p:sp>
        <p:nvSpPr>
          <p:cNvPr id="17" name="Text 14"/>
          <p:cNvSpPr/>
          <p:nvPr/>
        </p:nvSpPr>
        <p:spPr>
          <a:xfrm>
            <a:off x="457200" y="4754880"/>
            <a:ext cx="8229600" cy="274320"/>
          </a:xfrm>
          <a:prstGeom prst="rect">
            <a:avLst/>
          </a:prstGeom>
          <a:noFill/>
          <a:ln/>
        </p:spPr>
        <p:txBody>
          <a:bodyPr wrap="square" lIns="0" tIns="0" rIns="0" bIns="0" rtlCol="0" anchor="ctr"/>
          <a:lstStyle/>
          <a:p>
            <a:pPr marL="0" indent="0" algn="l">
              <a:buNone/>
            </a:pPr>
            <a:r>
              <a:rPr lang="en-US" sz="700" u="sng" dirty="0">
                <a:solidFill>
                  <a:srgbClr val="0070C0"/>
                </a:solidFill>
                <a:hlinkClick r:id="rId4"/>
              </a:rPr>
              <a:t>[15]</a:t>
            </a:r>
            <a:r>
              <a:rPr lang="en-US" sz="700" dirty="0">
                <a:solidFill>
                  <a:srgbClr val="000000"/>
                </a:solidFill>
              </a:rPr>
              <a:t>   </a:t>
            </a:r>
            <a:r>
              <a:rPr lang="en-US" sz="700" u="sng" dirty="0">
                <a:solidFill>
                  <a:srgbClr val="0070C0"/>
                </a:solidFill>
                <a:hlinkClick r:id="rId5"/>
              </a:rPr>
              <a:t>[16]</a:t>
            </a:r>
            <a:r>
              <a:rPr lang="en-US" sz="700" dirty="0">
                <a:solidFill>
                  <a:srgbClr val="000000"/>
                </a:solidFill>
              </a:rPr>
              <a:t>   </a:t>
            </a:r>
            <a:r>
              <a:rPr lang="en-US" sz="700" u="sng" dirty="0">
                <a:solidFill>
                  <a:srgbClr val="0070C0"/>
                </a:solidFill>
                <a:hlinkClick r:id="rId6"/>
              </a:rPr>
              <a:t>[17]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003366"/>
                </a:solidFill>
              </a:rPr>
              <a:t>Sharding (Horizontal Scalability)</a:t>
            </a:r>
            <a:endParaRPr lang="en-US" sz="2400" dirty="0"/>
          </a:p>
        </p:txBody>
      </p:sp>
      <p:sp>
        <p:nvSpPr>
          <p:cNvPr id="3" name="Shape 1"/>
          <p:cNvSpPr/>
          <p:nvPr/>
        </p:nvSpPr>
        <p:spPr>
          <a:xfrm>
            <a:off x="731520" y="914400"/>
            <a:ext cx="1463040" cy="548640"/>
          </a:xfrm>
          <a:prstGeom prst="roundRect">
            <a:avLst>
              <a:gd name="adj" fmla="val 8333"/>
            </a:avLst>
          </a:prstGeom>
          <a:solidFill>
            <a:srgbClr val="E2F0D9"/>
          </a:solidFill>
          <a:ln w="12700">
            <a:solidFill>
              <a:srgbClr val="9CC296"/>
            </a:solidFill>
            <a:prstDash val="solid"/>
          </a:ln>
        </p:spPr>
        <p:txBody>
          <a:bodyPr/>
          <a:lstStyle/>
          <a:p>
            <a:endParaRPr/>
          </a:p>
        </p:txBody>
      </p:sp>
      <p:sp>
        <p:nvSpPr>
          <p:cNvPr id="4" name="Text 2"/>
          <p:cNvSpPr/>
          <p:nvPr/>
        </p:nvSpPr>
        <p:spPr>
          <a:xfrm>
            <a:off x="731520" y="914400"/>
            <a:ext cx="1463040" cy="548640"/>
          </a:xfrm>
          <a:prstGeom prst="rect">
            <a:avLst/>
          </a:prstGeom>
          <a:noFill/>
          <a:ln/>
        </p:spPr>
        <p:txBody>
          <a:bodyPr wrap="square" rtlCol="0" anchor="ctr"/>
          <a:lstStyle/>
          <a:p>
            <a:pPr marL="0" indent="0" algn="ctr">
              <a:buNone/>
            </a:pPr>
            <a:r>
              <a:rPr lang="en-US" sz="1100" dirty="0">
                <a:solidFill>
                  <a:srgbClr val="365C32"/>
                </a:solidFill>
              </a:rPr>
              <a:t>Config</a:t>
            </a:r>
            <a:endParaRPr lang="en-US" sz="1100" dirty="0"/>
          </a:p>
          <a:p>
            <a:pPr marL="0" indent="0" algn="ctr">
              <a:buNone/>
            </a:pPr>
            <a:r>
              <a:rPr lang="en-US" sz="1100" dirty="0">
                <a:solidFill>
                  <a:srgbClr val="365C32"/>
                </a:solidFill>
              </a:rPr>
              <a:t>Servers</a:t>
            </a:r>
            <a:endParaRPr lang="en-US" sz="1100" dirty="0"/>
          </a:p>
        </p:txBody>
      </p:sp>
      <p:sp>
        <p:nvSpPr>
          <p:cNvPr id="5" name="Shape 3"/>
          <p:cNvSpPr/>
          <p:nvPr/>
        </p:nvSpPr>
        <p:spPr>
          <a:xfrm>
            <a:off x="3840480" y="914400"/>
            <a:ext cx="1463040" cy="548640"/>
          </a:xfrm>
          <a:prstGeom prst="roundRect">
            <a:avLst>
              <a:gd name="adj" fmla="val 8333"/>
            </a:avLst>
          </a:prstGeom>
          <a:solidFill>
            <a:srgbClr val="DDEBF7"/>
          </a:solidFill>
          <a:ln w="12700">
            <a:solidFill>
              <a:srgbClr val="A6C5DD"/>
            </a:solidFill>
            <a:prstDash val="solid"/>
          </a:ln>
        </p:spPr>
        <p:txBody>
          <a:bodyPr/>
          <a:lstStyle/>
          <a:p>
            <a:endParaRPr/>
          </a:p>
        </p:txBody>
      </p:sp>
      <p:sp>
        <p:nvSpPr>
          <p:cNvPr id="6" name="Text 4"/>
          <p:cNvSpPr/>
          <p:nvPr/>
        </p:nvSpPr>
        <p:spPr>
          <a:xfrm>
            <a:off x="3840480" y="914400"/>
            <a:ext cx="1463040" cy="548640"/>
          </a:xfrm>
          <a:prstGeom prst="rect">
            <a:avLst/>
          </a:prstGeom>
          <a:noFill/>
          <a:ln/>
        </p:spPr>
        <p:txBody>
          <a:bodyPr wrap="square" rtlCol="0" anchor="ctr"/>
          <a:lstStyle/>
          <a:p>
            <a:pPr marL="0" indent="0" algn="ctr">
              <a:buNone/>
            </a:pPr>
            <a:r>
              <a:rPr lang="en-US" sz="1100" dirty="0">
                <a:solidFill>
                  <a:srgbClr val="2F5496"/>
                </a:solidFill>
              </a:rPr>
              <a:t>mongos</a:t>
            </a:r>
            <a:endParaRPr lang="en-US" sz="1100" dirty="0"/>
          </a:p>
          <a:p>
            <a:pPr marL="0" indent="0" algn="ctr">
              <a:buNone/>
            </a:pPr>
            <a:r>
              <a:rPr lang="en-US" sz="1100" dirty="0">
                <a:solidFill>
                  <a:srgbClr val="2F5496"/>
                </a:solidFill>
              </a:rPr>
              <a:t>Routers</a:t>
            </a:r>
            <a:endParaRPr lang="en-US" sz="1100" dirty="0"/>
          </a:p>
        </p:txBody>
      </p:sp>
      <p:sp>
        <p:nvSpPr>
          <p:cNvPr id="7" name="Shape 5"/>
          <p:cNvSpPr/>
          <p:nvPr/>
        </p:nvSpPr>
        <p:spPr>
          <a:xfrm>
            <a:off x="731520" y="2194560"/>
            <a:ext cx="1463040" cy="548640"/>
          </a:xfrm>
          <a:prstGeom prst="roundRect">
            <a:avLst>
              <a:gd name="adj" fmla="val 8333"/>
            </a:avLst>
          </a:prstGeom>
          <a:solidFill>
            <a:srgbClr val="FCE4D6"/>
          </a:solidFill>
          <a:ln w="12700">
            <a:solidFill>
              <a:srgbClr val="E6B8A2"/>
            </a:solidFill>
            <a:prstDash val="solid"/>
          </a:ln>
        </p:spPr>
        <p:txBody>
          <a:bodyPr/>
          <a:lstStyle/>
          <a:p>
            <a:endParaRPr/>
          </a:p>
        </p:txBody>
      </p:sp>
      <p:sp>
        <p:nvSpPr>
          <p:cNvPr id="8" name="Text 6"/>
          <p:cNvSpPr/>
          <p:nvPr/>
        </p:nvSpPr>
        <p:spPr>
          <a:xfrm>
            <a:off x="731520" y="2194560"/>
            <a:ext cx="1463040" cy="548640"/>
          </a:xfrm>
          <a:prstGeom prst="rect">
            <a:avLst/>
          </a:prstGeom>
          <a:noFill/>
          <a:ln/>
        </p:spPr>
        <p:txBody>
          <a:bodyPr wrap="square" rtlCol="0" anchor="ctr"/>
          <a:lstStyle/>
          <a:p>
            <a:pPr marL="0" indent="0" algn="ctr">
              <a:buNone/>
            </a:pPr>
            <a:r>
              <a:rPr lang="en-US" sz="1100" dirty="0">
                <a:solidFill>
                  <a:srgbClr val="7F3F00"/>
                </a:solidFill>
              </a:rPr>
              <a:t>Shard 1</a:t>
            </a:r>
            <a:endParaRPr lang="en-US" sz="1100" dirty="0"/>
          </a:p>
          <a:p>
            <a:pPr marL="0" indent="0" algn="ctr">
              <a:buNone/>
            </a:pPr>
            <a:r>
              <a:rPr lang="en-US" sz="1100" dirty="0">
                <a:solidFill>
                  <a:srgbClr val="7F3F00"/>
                </a:solidFill>
              </a:rPr>
              <a:t>(Replica Set)</a:t>
            </a:r>
            <a:endParaRPr lang="en-US" sz="1100" dirty="0"/>
          </a:p>
        </p:txBody>
      </p:sp>
      <p:sp>
        <p:nvSpPr>
          <p:cNvPr id="9" name="Shape 7"/>
          <p:cNvSpPr/>
          <p:nvPr/>
        </p:nvSpPr>
        <p:spPr>
          <a:xfrm>
            <a:off x="4480560" y="1463040"/>
            <a:ext cx="274320" cy="548640"/>
          </a:xfrm>
          <a:prstGeom prst="downArrow">
            <a:avLst/>
          </a:prstGeom>
          <a:solidFill>
            <a:srgbClr val="A6C5DD"/>
          </a:solidFill>
          <a:ln w="12700">
            <a:solidFill>
              <a:srgbClr val="A6C5DD"/>
            </a:solidFill>
            <a:prstDash val="solid"/>
          </a:ln>
        </p:spPr>
        <p:txBody>
          <a:bodyPr/>
          <a:lstStyle/>
          <a:p>
            <a:endParaRPr/>
          </a:p>
        </p:txBody>
      </p:sp>
      <p:sp>
        <p:nvSpPr>
          <p:cNvPr id="10" name="Shape 8"/>
          <p:cNvSpPr/>
          <p:nvPr/>
        </p:nvSpPr>
        <p:spPr>
          <a:xfrm>
            <a:off x="3200400" y="2194560"/>
            <a:ext cx="1463040" cy="548640"/>
          </a:xfrm>
          <a:prstGeom prst="roundRect">
            <a:avLst>
              <a:gd name="adj" fmla="val 8333"/>
            </a:avLst>
          </a:prstGeom>
          <a:solidFill>
            <a:srgbClr val="FCE4D6"/>
          </a:solidFill>
          <a:ln w="12700">
            <a:solidFill>
              <a:srgbClr val="E6B8A2"/>
            </a:solidFill>
            <a:prstDash val="solid"/>
          </a:ln>
        </p:spPr>
        <p:txBody>
          <a:bodyPr/>
          <a:lstStyle/>
          <a:p>
            <a:endParaRPr/>
          </a:p>
        </p:txBody>
      </p:sp>
      <p:sp>
        <p:nvSpPr>
          <p:cNvPr id="11" name="Text 9"/>
          <p:cNvSpPr/>
          <p:nvPr/>
        </p:nvSpPr>
        <p:spPr>
          <a:xfrm>
            <a:off x="3200400" y="2194560"/>
            <a:ext cx="1463040" cy="548640"/>
          </a:xfrm>
          <a:prstGeom prst="rect">
            <a:avLst/>
          </a:prstGeom>
          <a:noFill/>
          <a:ln/>
        </p:spPr>
        <p:txBody>
          <a:bodyPr wrap="square" rtlCol="0" anchor="ctr"/>
          <a:lstStyle/>
          <a:p>
            <a:pPr marL="0" indent="0" algn="ctr">
              <a:buNone/>
            </a:pPr>
            <a:r>
              <a:rPr lang="en-US" sz="1100" dirty="0">
                <a:solidFill>
                  <a:srgbClr val="7F3F00"/>
                </a:solidFill>
              </a:rPr>
              <a:t>Shard 2</a:t>
            </a:r>
            <a:endParaRPr lang="en-US" sz="1100" dirty="0"/>
          </a:p>
          <a:p>
            <a:pPr marL="0" indent="0" algn="ctr">
              <a:buNone/>
            </a:pPr>
            <a:r>
              <a:rPr lang="en-US" sz="1100" dirty="0">
                <a:solidFill>
                  <a:srgbClr val="7F3F00"/>
                </a:solidFill>
              </a:rPr>
              <a:t>(Replica Set)</a:t>
            </a:r>
            <a:endParaRPr lang="en-US" sz="1100" dirty="0"/>
          </a:p>
        </p:txBody>
      </p:sp>
      <p:sp>
        <p:nvSpPr>
          <p:cNvPr id="12" name="Shape 10"/>
          <p:cNvSpPr/>
          <p:nvPr/>
        </p:nvSpPr>
        <p:spPr>
          <a:xfrm>
            <a:off x="4480560" y="1463040"/>
            <a:ext cx="274320" cy="548640"/>
          </a:xfrm>
          <a:prstGeom prst="downArrow">
            <a:avLst/>
          </a:prstGeom>
          <a:solidFill>
            <a:srgbClr val="A6C5DD"/>
          </a:solidFill>
          <a:ln w="12700">
            <a:solidFill>
              <a:srgbClr val="A6C5DD"/>
            </a:solidFill>
            <a:prstDash val="solid"/>
          </a:ln>
        </p:spPr>
        <p:txBody>
          <a:bodyPr/>
          <a:lstStyle/>
          <a:p>
            <a:endParaRPr/>
          </a:p>
        </p:txBody>
      </p:sp>
      <p:sp>
        <p:nvSpPr>
          <p:cNvPr id="13" name="Shape 11"/>
          <p:cNvSpPr/>
          <p:nvPr/>
        </p:nvSpPr>
        <p:spPr>
          <a:xfrm>
            <a:off x="5669280" y="2194560"/>
            <a:ext cx="1463040" cy="548640"/>
          </a:xfrm>
          <a:prstGeom prst="roundRect">
            <a:avLst>
              <a:gd name="adj" fmla="val 8333"/>
            </a:avLst>
          </a:prstGeom>
          <a:solidFill>
            <a:srgbClr val="FCE4D6"/>
          </a:solidFill>
          <a:ln w="12700">
            <a:solidFill>
              <a:srgbClr val="E6B8A2"/>
            </a:solidFill>
            <a:prstDash val="solid"/>
          </a:ln>
        </p:spPr>
        <p:txBody>
          <a:bodyPr/>
          <a:lstStyle/>
          <a:p>
            <a:endParaRPr/>
          </a:p>
        </p:txBody>
      </p:sp>
      <p:sp>
        <p:nvSpPr>
          <p:cNvPr id="14" name="Text 12"/>
          <p:cNvSpPr/>
          <p:nvPr/>
        </p:nvSpPr>
        <p:spPr>
          <a:xfrm>
            <a:off x="5669280" y="2194560"/>
            <a:ext cx="1463040" cy="548640"/>
          </a:xfrm>
          <a:prstGeom prst="rect">
            <a:avLst/>
          </a:prstGeom>
          <a:noFill/>
          <a:ln/>
        </p:spPr>
        <p:txBody>
          <a:bodyPr wrap="square" rtlCol="0" anchor="ctr"/>
          <a:lstStyle/>
          <a:p>
            <a:pPr marL="0" indent="0" algn="ctr">
              <a:buNone/>
            </a:pPr>
            <a:r>
              <a:rPr lang="en-US" sz="1100" dirty="0">
                <a:solidFill>
                  <a:srgbClr val="7F3F00"/>
                </a:solidFill>
              </a:rPr>
              <a:t>Shard 3</a:t>
            </a:r>
            <a:endParaRPr lang="en-US" sz="1100" dirty="0"/>
          </a:p>
          <a:p>
            <a:pPr marL="0" indent="0" algn="ctr">
              <a:buNone/>
            </a:pPr>
            <a:r>
              <a:rPr lang="en-US" sz="1100" dirty="0">
                <a:solidFill>
                  <a:srgbClr val="7F3F00"/>
                </a:solidFill>
              </a:rPr>
              <a:t>(Replica Set)</a:t>
            </a:r>
            <a:endParaRPr lang="en-US" sz="1100" dirty="0"/>
          </a:p>
        </p:txBody>
      </p:sp>
      <p:sp>
        <p:nvSpPr>
          <p:cNvPr id="15" name="Shape 13"/>
          <p:cNvSpPr/>
          <p:nvPr/>
        </p:nvSpPr>
        <p:spPr>
          <a:xfrm>
            <a:off x="4480560" y="1463040"/>
            <a:ext cx="274320" cy="548640"/>
          </a:xfrm>
          <a:prstGeom prst="downArrow">
            <a:avLst/>
          </a:prstGeom>
          <a:solidFill>
            <a:srgbClr val="A6C5DD"/>
          </a:solidFill>
          <a:ln w="12700">
            <a:solidFill>
              <a:srgbClr val="A6C5DD"/>
            </a:solidFill>
            <a:prstDash val="solid"/>
          </a:ln>
        </p:spPr>
        <p:txBody>
          <a:bodyPr/>
          <a:lstStyle/>
          <a:p>
            <a:endParaRPr/>
          </a:p>
        </p:txBody>
      </p:sp>
      <p:sp>
        <p:nvSpPr>
          <p:cNvPr id="16" name="Text 14"/>
          <p:cNvSpPr/>
          <p:nvPr/>
        </p:nvSpPr>
        <p:spPr>
          <a:xfrm>
            <a:off x="457200" y="3108960"/>
            <a:ext cx="4480560" cy="1828800"/>
          </a:xfrm>
          <a:prstGeom prst="rect">
            <a:avLst/>
          </a:prstGeom>
          <a:noFill/>
          <a:ln/>
        </p:spPr>
        <p:txBody>
          <a:bodyPr wrap="square" rtlCol="0" anchor="ctr"/>
          <a:lstStyle/>
          <a:p>
            <a:pPr marL="0" indent="0">
              <a:buNone/>
            </a:pPr>
            <a:r>
              <a:rPr lang="en-US" sz="1400" b="1" dirty="0">
                <a:solidFill>
                  <a:srgbClr val="003366"/>
                </a:solidFill>
              </a:rPr>
              <a:t>Why Shard?
</a:t>
            </a:r>
            <a:r>
              <a:rPr lang="en-US" sz="1100" dirty="0">
                <a:solidFill>
                  <a:srgbClr val="333333"/>
                </a:solidFill>
              </a:rPr>
              <a:t>Vertical scaling has practical limits; horizontal scaling divides data across servers. Sharding distributes collections into chunks based on a shard key and balances them across shards.</a:t>
            </a:r>
            <a:r>
              <a:rPr lang="en-US" sz="1400" b="1" dirty="0">
                <a:solidFill>
                  <a:srgbClr val="003366"/>
                </a:solidFill>
              </a:rPr>
              <a:t>
Components
</a:t>
            </a:r>
            <a:r>
              <a:rPr lang="en-US" sz="1100" dirty="0">
                <a:solidFill>
                  <a:srgbClr val="333333"/>
                </a:solidFill>
              </a:rPr>
              <a:t>• Shards: replica sets that store data.
• Config servers: store cluster metadata and the routing table.
• mongos routers: route client queries to appropriate shards.</a:t>
            </a:r>
            <a:endParaRPr lang="en-US" sz="1400" dirty="0"/>
          </a:p>
        </p:txBody>
      </p:sp>
      <p:pic>
        <p:nvPicPr>
          <p:cNvPr id="17" name="Image 0" descr="preencoded.png"/>
          <p:cNvPicPr>
            <a:picLocks noChangeAspect="1"/>
          </p:cNvPicPr>
          <p:nvPr/>
        </p:nvPicPr>
        <p:blipFill>
          <a:blip r:embed="rId3"/>
          <a:stretch>
            <a:fillRect/>
          </a:stretch>
        </p:blipFill>
        <p:spPr>
          <a:xfrm>
            <a:off x="4937760" y="3108960"/>
            <a:ext cx="457200" cy="457200"/>
          </a:xfrm>
          <a:prstGeom prst="rect">
            <a:avLst/>
          </a:prstGeom>
        </p:spPr>
      </p:pic>
      <p:sp>
        <p:nvSpPr>
          <p:cNvPr id="18" name="Text 15"/>
          <p:cNvSpPr/>
          <p:nvPr/>
        </p:nvSpPr>
        <p:spPr>
          <a:xfrm>
            <a:off x="5394960" y="3108960"/>
            <a:ext cx="3657600" cy="1828800"/>
          </a:xfrm>
          <a:prstGeom prst="rect">
            <a:avLst/>
          </a:prstGeom>
          <a:noFill/>
          <a:ln/>
        </p:spPr>
        <p:txBody>
          <a:bodyPr wrap="square" rtlCol="0" anchor="ctr"/>
          <a:lstStyle/>
          <a:p>
            <a:pPr marL="0" indent="0">
              <a:buNone/>
            </a:pPr>
            <a:r>
              <a:rPr lang="en-US" sz="1400" b="1" dirty="0">
                <a:solidFill>
                  <a:srgbClr val="003366"/>
                </a:solidFill>
              </a:rPr>
              <a:t>Shard Keys &amp; Balancing
</a:t>
            </a:r>
            <a:r>
              <a:rPr lang="en-US" sz="1100" dirty="0">
                <a:solidFill>
                  <a:srgbClr val="333333"/>
                </a:solidFill>
              </a:rPr>
              <a:t>Choose a shard key that distributes writes evenly. The balancer monitors chunk sizes and migrates chunks to keep shards balanced. Sharding increases capacity for write throughput and storage while maintaining high availability.</a:t>
            </a:r>
            <a:endParaRPr lang="en-US" sz="1400" dirty="0"/>
          </a:p>
        </p:txBody>
      </p:sp>
      <p:sp>
        <p:nvSpPr>
          <p:cNvPr id="19" name="Text 16"/>
          <p:cNvSpPr/>
          <p:nvPr/>
        </p:nvSpPr>
        <p:spPr>
          <a:xfrm>
            <a:off x="457200" y="4754880"/>
            <a:ext cx="8229600" cy="274320"/>
          </a:xfrm>
          <a:prstGeom prst="rect">
            <a:avLst/>
          </a:prstGeom>
          <a:noFill/>
          <a:ln/>
        </p:spPr>
        <p:txBody>
          <a:bodyPr wrap="square" lIns="0" tIns="0" rIns="0" bIns="0" rtlCol="0" anchor="ctr"/>
          <a:lstStyle/>
          <a:p>
            <a:pPr marL="0" indent="0" algn="l">
              <a:buNone/>
            </a:pPr>
            <a:r>
              <a:rPr lang="en-US" sz="700" u="sng" dirty="0">
                <a:solidFill>
                  <a:srgbClr val="0070C0"/>
                </a:solidFill>
                <a:hlinkClick r:id="rId4"/>
              </a:rPr>
              <a:t>[18]</a:t>
            </a:r>
            <a:r>
              <a:rPr lang="en-US" sz="700" dirty="0">
                <a:solidFill>
                  <a:srgbClr val="000000"/>
                </a:solidFill>
              </a:rPr>
              <a:t>   </a:t>
            </a:r>
            <a:r>
              <a:rPr lang="en-US" sz="700" u="sng" dirty="0">
                <a:solidFill>
                  <a:srgbClr val="0070C0"/>
                </a:solidFill>
                <a:hlinkClick r:id="rId5"/>
              </a:rPr>
              <a:t>[19]</a:t>
            </a:r>
            <a:r>
              <a:rPr lang="en-US" sz="700" dirty="0">
                <a:solidFill>
                  <a:srgbClr val="000000"/>
                </a:solidFill>
              </a:rPr>
              <a:t>   </a:t>
            </a:r>
            <a:r>
              <a:rPr lang="en-US" sz="700" u="sng" dirty="0">
                <a:solidFill>
                  <a:srgbClr val="0070C0"/>
                </a:solidFill>
                <a:hlinkClick r:id="rId6"/>
              </a:rPr>
              <a:t>[20]</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003366"/>
                </a:solidFill>
              </a:rPr>
              <a:t>Backup &amp; Restore</a:t>
            </a:r>
            <a:endParaRPr lang="en-US" sz="2400" dirty="0"/>
          </a:p>
        </p:txBody>
      </p:sp>
      <p:sp>
        <p:nvSpPr>
          <p:cNvPr id="3" name="Text 1"/>
          <p:cNvSpPr/>
          <p:nvPr/>
        </p:nvSpPr>
        <p:spPr>
          <a:xfrm>
            <a:off x="457200" y="914400"/>
            <a:ext cx="4480560" cy="2743200"/>
          </a:xfrm>
          <a:prstGeom prst="rect">
            <a:avLst/>
          </a:prstGeom>
          <a:noFill/>
          <a:ln/>
        </p:spPr>
        <p:txBody>
          <a:bodyPr wrap="square" rtlCol="0" anchor="ctr"/>
          <a:lstStyle/>
          <a:p>
            <a:pPr marL="0" indent="0">
              <a:buNone/>
            </a:pPr>
            <a:r>
              <a:rPr lang="en-US" sz="1400" b="1" dirty="0">
                <a:solidFill>
                  <a:srgbClr val="003366"/>
                </a:solidFill>
              </a:rPr>
              <a:t>Backup Strategies
</a:t>
            </a:r>
            <a:r>
              <a:rPr lang="en-US" sz="1100" dirty="0">
                <a:solidFill>
                  <a:srgbClr val="333333"/>
                </a:solidFill>
              </a:rPr>
              <a:t>• mongodump/mongorestore: Suitable for small to medium deployments; dumps BSON to files.
• Cloud Manager / Ops Manager: Provides continuous backup, incremental snapshots and point‑in‑time restores.
• Filesystem snapshots: Use LVM or storage‑layer snapshots to capture data directories (requires write lock or consistent snapshot).
• Cold backup: Stop writes and copy data files for small deployments.</a:t>
            </a:r>
            <a:endParaRPr lang="en-US" sz="1400" dirty="0"/>
          </a:p>
        </p:txBody>
      </p:sp>
      <p:sp>
        <p:nvSpPr>
          <p:cNvPr id="4" name="Shape 2"/>
          <p:cNvSpPr/>
          <p:nvPr/>
        </p:nvSpPr>
        <p:spPr>
          <a:xfrm>
            <a:off x="4937760" y="914400"/>
            <a:ext cx="3749040" cy="2743200"/>
          </a:xfrm>
          <a:prstGeom prst="roundRect">
            <a:avLst>
              <a:gd name="adj" fmla="val 1667"/>
            </a:avLst>
          </a:prstGeom>
          <a:solidFill>
            <a:srgbClr val="F7F9FC"/>
          </a:solidFill>
          <a:ln w="12700">
            <a:solidFill>
              <a:srgbClr val="D0D7E5"/>
            </a:solidFill>
            <a:prstDash val="solid"/>
          </a:ln>
        </p:spPr>
        <p:txBody>
          <a:bodyPr/>
          <a:lstStyle/>
          <a:p>
            <a:endParaRPr/>
          </a:p>
        </p:txBody>
      </p:sp>
      <p:sp>
        <p:nvSpPr>
          <p:cNvPr id="5" name="Text 3"/>
          <p:cNvSpPr/>
          <p:nvPr/>
        </p:nvSpPr>
        <p:spPr>
          <a:xfrm>
            <a:off x="4983480" y="960120"/>
            <a:ext cx="3657600" cy="2697480"/>
          </a:xfrm>
          <a:prstGeom prst="rect">
            <a:avLst/>
          </a:prstGeom>
          <a:noFill/>
          <a:ln/>
        </p:spPr>
        <p:txBody>
          <a:bodyPr wrap="square" lIns="635" tIns="635" rIns="635" bIns="635" rtlCol="0" anchor="ctr"/>
          <a:lstStyle/>
          <a:p>
            <a:pPr marL="0" indent="0">
              <a:buNone/>
            </a:pPr>
            <a:r>
              <a:rPr lang="en-US" sz="1200" dirty="0">
                <a:solidFill>
                  <a:srgbClr val="6A9955"/>
                </a:solidFill>
                <a:latin typeface="Consolas" pitchFamily="34" charset="0"/>
                <a:ea typeface="Consolas" pitchFamily="34" charset="-122"/>
                <a:cs typeface="Consolas" pitchFamily="34" charset="-120"/>
              </a:rPr>
              <a:t># Full backup of database</a:t>
            </a:r>
            <a:endParaRPr lang="en-US" sz="1200" dirty="0"/>
          </a:p>
          <a:p>
            <a:pPr marL="0" indent="0">
              <a:buNone/>
            </a:pPr>
            <a:r>
              <a:rPr lang="en-US" sz="1200" dirty="0">
                <a:solidFill>
                  <a:srgbClr val="000000"/>
                </a:solidFill>
                <a:latin typeface="Consolas" pitchFamily="34" charset="0"/>
                <a:ea typeface="Consolas" pitchFamily="34" charset="-122"/>
                <a:cs typeface="Consolas" pitchFamily="34" charset="-120"/>
              </a:rPr>
              <a:t>$ mongodump </a:t>
            </a:r>
            <a:endParaRPr lang="en-US" sz="1200" dirty="0"/>
          </a:p>
          <a:p>
            <a:pPr marL="0" indent="0">
              <a:buNone/>
            </a:pPr>
            <a:r>
              <a:rPr lang="en-US" sz="1200" dirty="0">
                <a:solidFill>
                  <a:srgbClr val="000000"/>
                </a:solidFill>
                <a:latin typeface="Consolas" pitchFamily="34" charset="0"/>
                <a:ea typeface="Consolas" pitchFamily="34" charset="-122"/>
                <a:cs typeface="Consolas" pitchFamily="34" charset="-120"/>
              </a:rPr>
              <a:t>--db mydb --out /backups/mydb
</a:t>
            </a:r>
            <a:r>
              <a:rPr lang="en-US" sz="1200" dirty="0">
                <a:solidFill>
                  <a:srgbClr val="6A9955"/>
                </a:solidFill>
                <a:latin typeface="Consolas" pitchFamily="34" charset="0"/>
                <a:ea typeface="Consolas" pitchFamily="34" charset="-122"/>
                <a:cs typeface="Consolas" pitchFamily="34" charset="-120"/>
              </a:rPr>
              <a:t># Restore entire database</a:t>
            </a:r>
            <a:endParaRPr lang="en-US" sz="1200" dirty="0"/>
          </a:p>
          <a:p>
            <a:pPr marL="0" indent="0">
              <a:buNone/>
            </a:pPr>
            <a:r>
              <a:rPr lang="en-US" sz="1200" dirty="0">
                <a:solidFill>
                  <a:srgbClr val="000000"/>
                </a:solidFill>
                <a:latin typeface="Consolas" pitchFamily="34" charset="0"/>
                <a:ea typeface="Consolas" pitchFamily="34" charset="-122"/>
                <a:cs typeface="Consolas" pitchFamily="34" charset="-120"/>
              </a:rPr>
              <a:t>$ mongorestore </a:t>
            </a:r>
            <a:endParaRPr lang="en-US" sz="1200" dirty="0"/>
          </a:p>
          <a:p>
            <a:pPr marL="0" indent="0">
              <a:buNone/>
            </a:pPr>
            <a:r>
              <a:rPr lang="en-US" sz="1200" dirty="0">
                <a:solidFill>
                  <a:srgbClr val="000000"/>
                </a:solidFill>
                <a:latin typeface="Consolas" pitchFamily="34" charset="0"/>
                <a:ea typeface="Consolas" pitchFamily="34" charset="-122"/>
                <a:cs typeface="Consolas" pitchFamily="34" charset="-120"/>
              </a:rPr>
              <a:t>--db mydb --dir /backups/mydb
</a:t>
            </a:r>
            <a:r>
              <a:rPr lang="en-US" sz="1200" dirty="0">
                <a:solidFill>
                  <a:srgbClr val="6A9955"/>
                </a:solidFill>
                <a:latin typeface="Consolas" pitchFamily="34" charset="0"/>
                <a:ea typeface="Consolas" pitchFamily="34" charset="-122"/>
                <a:cs typeface="Consolas" pitchFamily="34" charset="-120"/>
              </a:rPr>
              <a:t># Backup a single collection</a:t>
            </a:r>
            <a:endParaRPr lang="en-US" sz="1200" dirty="0"/>
          </a:p>
          <a:p>
            <a:pPr marL="0" indent="0">
              <a:buNone/>
            </a:pPr>
            <a:r>
              <a:rPr lang="en-US" sz="1200" dirty="0">
                <a:solidFill>
                  <a:srgbClr val="000000"/>
                </a:solidFill>
                <a:latin typeface="Consolas" pitchFamily="34" charset="0"/>
                <a:ea typeface="Consolas" pitchFamily="34" charset="-122"/>
                <a:cs typeface="Consolas" pitchFamily="34" charset="-120"/>
              </a:rPr>
              <a:t>$ mongodump </a:t>
            </a:r>
            <a:endParaRPr lang="en-US" sz="1200" dirty="0"/>
          </a:p>
          <a:p>
            <a:pPr marL="0" indent="0">
              <a:buNone/>
            </a:pPr>
            <a:r>
              <a:rPr lang="en-US" sz="1200" dirty="0">
                <a:solidFill>
                  <a:srgbClr val="000000"/>
                </a:solidFill>
                <a:latin typeface="Consolas" pitchFamily="34" charset="0"/>
                <a:ea typeface="Consolas" pitchFamily="34" charset="-122"/>
                <a:cs typeface="Consolas" pitchFamily="34" charset="-120"/>
              </a:rPr>
              <a:t>--db mydb --collection users --out /backups/users
</a:t>
            </a:r>
            <a:r>
              <a:rPr lang="en-US" sz="1200" dirty="0">
                <a:solidFill>
                  <a:srgbClr val="6A9955"/>
                </a:solidFill>
                <a:latin typeface="Consolas" pitchFamily="34" charset="0"/>
                <a:ea typeface="Consolas" pitchFamily="34" charset="-122"/>
                <a:cs typeface="Consolas" pitchFamily="34" charset="-120"/>
              </a:rPr>
              <a:t># Restore a single collection</a:t>
            </a:r>
            <a:endParaRPr lang="en-US" sz="1200" dirty="0"/>
          </a:p>
          <a:p>
            <a:pPr marL="0" indent="0">
              <a:buNone/>
            </a:pPr>
            <a:r>
              <a:rPr lang="en-US" sz="1200" dirty="0">
                <a:solidFill>
                  <a:srgbClr val="000000"/>
                </a:solidFill>
                <a:latin typeface="Consolas" pitchFamily="34" charset="0"/>
                <a:ea typeface="Consolas" pitchFamily="34" charset="-122"/>
                <a:cs typeface="Consolas" pitchFamily="34" charset="-120"/>
              </a:rPr>
              <a:t>$ mongorestore </a:t>
            </a:r>
            <a:endParaRPr lang="en-US" sz="1200" dirty="0"/>
          </a:p>
          <a:p>
            <a:pPr marL="0" indent="0">
              <a:buNone/>
            </a:pPr>
            <a:r>
              <a:rPr lang="en-US" sz="1200" dirty="0">
                <a:solidFill>
                  <a:srgbClr val="000000"/>
                </a:solidFill>
                <a:latin typeface="Consolas" pitchFamily="34" charset="0"/>
                <a:ea typeface="Consolas" pitchFamily="34" charset="-122"/>
                <a:cs typeface="Consolas" pitchFamily="34" charset="-120"/>
              </a:rPr>
              <a:t>--db mydb --collection users --dir /backups/users</a:t>
            </a:r>
            <a:endParaRPr lang="en-US" sz="1200" dirty="0"/>
          </a:p>
        </p:txBody>
      </p:sp>
      <p:pic>
        <p:nvPicPr>
          <p:cNvPr id="6" name="Image 0" descr="preencoded.png"/>
          <p:cNvPicPr>
            <a:picLocks noChangeAspect="1"/>
          </p:cNvPicPr>
          <p:nvPr/>
        </p:nvPicPr>
        <p:blipFill>
          <a:blip r:embed="rId3"/>
          <a:stretch>
            <a:fillRect/>
          </a:stretch>
        </p:blipFill>
        <p:spPr>
          <a:xfrm>
            <a:off x="4892040" y="731520"/>
            <a:ext cx="365760" cy="365760"/>
          </a:xfrm>
          <a:prstGeom prst="rect">
            <a:avLst/>
          </a:prstGeom>
        </p:spPr>
      </p:pic>
      <p:sp>
        <p:nvSpPr>
          <p:cNvPr id="7" name="Text 4"/>
          <p:cNvSpPr/>
          <p:nvPr/>
        </p:nvSpPr>
        <p:spPr>
          <a:xfrm>
            <a:off x="457200" y="4754880"/>
            <a:ext cx="8229600" cy="274320"/>
          </a:xfrm>
          <a:prstGeom prst="rect">
            <a:avLst/>
          </a:prstGeom>
          <a:noFill/>
          <a:ln/>
        </p:spPr>
        <p:txBody>
          <a:bodyPr wrap="square" lIns="0" tIns="0" rIns="0" bIns="0" rtlCol="0" anchor="ctr"/>
          <a:lstStyle/>
          <a:p>
            <a:pPr marL="0" indent="0" algn="l">
              <a:buNone/>
            </a:pPr>
            <a:r>
              <a:rPr lang="en-US" sz="700" u="sng" dirty="0">
                <a:solidFill>
                  <a:srgbClr val="0070C0"/>
                </a:solidFill>
                <a:hlinkClick r:id="rId4"/>
              </a:rPr>
              <a:t>[21]</a:t>
            </a:r>
            <a:r>
              <a:rPr lang="en-US" sz="700" dirty="0">
                <a:solidFill>
                  <a:srgbClr val="000000"/>
                </a:solidFill>
              </a:rPr>
              <a:t>   </a:t>
            </a:r>
            <a:r>
              <a:rPr lang="en-US" sz="700" u="sng" dirty="0">
                <a:solidFill>
                  <a:srgbClr val="0070C0"/>
                </a:solidFill>
                <a:hlinkClick r:id="rId5"/>
              </a:rPr>
              <a:t>[22]</a:t>
            </a:r>
            <a:r>
              <a:rPr lang="en-US" sz="700" dirty="0">
                <a:solidFill>
                  <a:srgbClr val="000000"/>
                </a:solidFill>
              </a:rPr>
              <a:t>   </a:t>
            </a:r>
            <a:r>
              <a:rPr lang="en-US" sz="700" u="sng" dirty="0">
                <a:solidFill>
                  <a:srgbClr val="0070C0"/>
                </a:solidFill>
                <a:hlinkClick r:id="rId6"/>
              </a:rPr>
              <a:t>[23]</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003366"/>
                </a:solidFill>
              </a:rPr>
              <a:t>Security &amp; Authentication</a:t>
            </a:r>
            <a:endParaRPr lang="en-US" sz="2400" dirty="0"/>
          </a:p>
        </p:txBody>
      </p:sp>
      <p:pic>
        <p:nvPicPr>
          <p:cNvPr id="3" name="Image 0" descr="preencoded.png"/>
          <p:cNvPicPr>
            <a:picLocks noChangeAspect="1"/>
          </p:cNvPicPr>
          <p:nvPr/>
        </p:nvPicPr>
        <p:blipFill>
          <a:blip r:embed="rId3"/>
          <a:stretch>
            <a:fillRect/>
          </a:stretch>
        </p:blipFill>
        <p:spPr>
          <a:xfrm>
            <a:off x="457200" y="914400"/>
            <a:ext cx="457200" cy="457200"/>
          </a:xfrm>
          <a:prstGeom prst="rect">
            <a:avLst/>
          </a:prstGeom>
        </p:spPr>
      </p:pic>
      <p:sp>
        <p:nvSpPr>
          <p:cNvPr id="4" name="Text 1"/>
          <p:cNvSpPr/>
          <p:nvPr/>
        </p:nvSpPr>
        <p:spPr>
          <a:xfrm>
            <a:off x="1097280" y="914400"/>
            <a:ext cx="7772400" cy="3200400"/>
          </a:xfrm>
          <a:prstGeom prst="rect">
            <a:avLst/>
          </a:prstGeom>
          <a:noFill/>
          <a:ln/>
        </p:spPr>
        <p:txBody>
          <a:bodyPr wrap="square" rtlCol="0" anchor="ctr"/>
          <a:lstStyle/>
          <a:p>
            <a:pPr marL="0" indent="0">
              <a:buNone/>
            </a:pPr>
            <a:r>
              <a:rPr lang="en-US" sz="1400" b="1" dirty="0">
                <a:solidFill>
                  <a:srgbClr val="003366"/>
                </a:solidFill>
              </a:rPr>
              <a:t>Authentication
</a:t>
            </a:r>
            <a:r>
              <a:rPr lang="en-US" sz="1100" dirty="0">
                <a:solidFill>
                  <a:srgbClr val="333333"/>
                </a:solidFill>
              </a:rPr>
              <a:t>• SCRAM: Password‑based challenge–response mechanism.
• x.509 certificates: Mutual TLS authentication.
• LDAP / Kerberos: Integrate with enterprise directories.
</a:t>
            </a:r>
            <a:r>
              <a:rPr lang="en-US" sz="1400" b="1" dirty="0">
                <a:solidFill>
                  <a:srgbClr val="003366"/>
                </a:solidFill>
              </a:rPr>
              <a:t>Authorization
</a:t>
            </a:r>
            <a:r>
              <a:rPr lang="en-US" sz="1100" dirty="0">
                <a:solidFill>
                  <a:srgbClr val="333333"/>
                </a:solidFill>
              </a:rPr>
              <a:t>• Role‑based access control: Users assigned roles granting specific privileges.
</a:t>
            </a:r>
            <a:r>
              <a:rPr lang="en-US" sz="1400" b="1" dirty="0">
                <a:solidFill>
                  <a:srgbClr val="003366"/>
                </a:solidFill>
              </a:rPr>
              <a:t>Encryption
</a:t>
            </a:r>
            <a:r>
              <a:rPr lang="en-US" sz="1100" dirty="0">
                <a:solidFill>
                  <a:srgbClr val="333333"/>
                </a:solidFill>
              </a:rPr>
              <a:t>• TLS/SSL encrypts data in transit.
• Encrypted storage engine encrypts data at rest.
• Client‑side field level encryption protects sensitive fields.
</a:t>
            </a:r>
            <a:r>
              <a:rPr lang="en-US" sz="1400" b="1" dirty="0">
                <a:solidFill>
                  <a:srgbClr val="003366"/>
                </a:solidFill>
              </a:rPr>
              <a:t>Auditing
</a:t>
            </a:r>
            <a:r>
              <a:rPr lang="en-US" sz="1100" dirty="0">
                <a:solidFill>
                  <a:srgbClr val="333333"/>
                </a:solidFill>
              </a:rPr>
              <a:t>• Audit logs capture security‑relevant events including logins and database operations.</a:t>
            </a:r>
            <a:endParaRPr lang="en-US" sz="1400" dirty="0"/>
          </a:p>
        </p:txBody>
      </p:sp>
      <p:sp>
        <p:nvSpPr>
          <p:cNvPr id="5" name="Text 2"/>
          <p:cNvSpPr/>
          <p:nvPr/>
        </p:nvSpPr>
        <p:spPr>
          <a:xfrm>
            <a:off x="457200" y="4754880"/>
            <a:ext cx="8229600" cy="274320"/>
          </a:xfrm>
          <a:prstGeom prst="rect">
            <a:avLst/>
          </a:prstGeom>
          <a:noFill/>
          <a:ln/>
        </p:spPr>
        <p:txBody>
          <a:bodyPr wrap="square" lIns="0" tIns="0" rIns="0" bIns="0" rtlCol="0" anchor="ctr"/>
          <a:lstStyle/>
          <a:p>
            <a:pPr marL="0" indent="0" algn="l">
              <a:buNone/>
            </a:pPr>
            <a:r>
              <a:rPr lang="en-US" sz="700" u="sng" dirty="0">
                <a:solidFill>
                  <a:srgbClr val="0070C0"/>
                </a:solidFill>
                <a:hlinkClick r:id="rId4"/>
              </a:rPr>
              <a:t>[24]</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9F7F4"/>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003366"/>
                </a:solidFill>
              </a:rPr>
              <a:t>Performance Tuning &amp; Optimization</a:t>
            </a:r>
            <a:endParaRPr lang="en-US" sz="2400" dirty="0"/>
          </a:p>
        </p:txBody>
      </p:sp>
      <p:sp>
        <p:nvSpPr>
          <p:cNvPr id="3" name="Text 1"/>
          <p:cNvSpPr/>
          <p:nvPr/>
        </p:nvSpPr>
        <p:spPr>
          <a:xfrm>
            <a:off x="457200" y="914400"/>
            <a:ext cx="4480560" cy="3657600"/>
          </a:xfrm>
          <a:prstGeom prst="rect">
            <a:avLst/>
          </a:prstGeom>
          <a:noFill/>
          <a:ln/>
        </p:spPr>
        <p:txBody>
          <a:bodyPr wrap="square" rtlCol="0" anchor="ctr"/>
          <a:lstStyle/>
          <a:p>
            <a:pPr marL="0" indent="0">
              <a:buNone/>
            </a:pPr>
            <a:r>
              <a:rPr lang="en-US" sz="1400" b="1" dirty="0">
                <a:solidFill>
                  <a:srgbClr val="003366"/>
                </a:solidFill>
              </a:rPr>
              <a:t>Index Strategy
</a:t>
            </a:r>
            <a:r>
              <a:rPr lang="en-US" sz="1100" dirty="0">
                <a:solidFill>
                  <a:srgbClr val="333333"/>
                </a:solidFill>
              </a:rPr>
              <a:t>• Use compound indexes to support your queries; follow the ESR rule (Equality, Sort, Range).
• Avoid over‑indexing and unused indexes.
</a:t>
            </a:r>
            <a:r>
              <a:rPr lang="en-US" sz="1400" b="1" dirty="0">
                <a:solidFill>
                  <a:srgbClr val="003366"/>
                </a:solidFill>
              </a:rPr>
              <a:t>Query Optimization
</a:t>
            </a:r>
            <a:r>
              <a:rPr lang="en-US" sz="1100" dirty="0">
                <a:solidFill>
                  <a:srgbClr val="333333"/>
                </a:solidFill>
              </a:rPr>
              <a:t>• Use explain() to analyse query plans and ensure indexes are being used.
• Avoid unbounded sorting and skip operations on large collections.
</a:t>
            </a:r>
            <a:r>
              <a:rPr lang="en-US" sz="1400" b="1" dirty="0">
                <a:solidFill>
                  <a:srgbClr val="003366"/>
                </a:solidFill>
              </a:rPr>
              <a:t>Data &amp; Storage
</a:t>
            </a:r>
            <a:r>
              <a:rPr lang="en-US" sz="1100" dirty="0">
                <a:solidFill>
                  <a:srgbClr val="333333"/>
                </a:solidFill>
              </a:rPr>
              <a:t>• Keep documents small (less than 16 MB).
• Use compression and allocate enough RAM for your working set.
• Place journal and data files on separate disks to reduce contention.
</a:t>
            </a:r>
            <a:r>
              <a:rPr lang="en-US" sz="1400" b="1" dirty="0">
                <a:solidFill>
                  <a:srgbClr val="003366"/>
                </a:solidFill>
              </a:rPr>
              <a:t>Scaling &amp; Monitoring
</a:t>
            </a:r>
            <a:r>
              <a:rPr lang="en-US" sz="1100" dirty="0">
                <a:solidFill>
                  <a:srgbClr val="333333"/>
                </a:solidFill>
              </a:rPr>
              <a:t>• Use replication to distribute reads and sharding to scale writes.
• Monitor metrics (CPU, memory, I/O, connections) via Atlas or open‑source tools.
• Periodically review slow queries and update indexes accordingly.</a:t>
            </a:r>
            <a:endParaRPr lang="en-US" sz="1400" dirty="0"/>
          </a:p>
        </p:txBody>
      </p:sp>
      <p:sp>
        <p:nvSpPr>
          <p:cNvPr id="4" name="Shape 2"/>
          <p:cNvSpPr/>
          <p:nvPr/>
        </p:nvSpPr>
        <p:spPr>
          <a:xfrm>
            <a:off x="5029200" y="914400"/>
            <a:ext cx="3931920" cy="914400"/>
          </a:xfrm>
          <a:prstGeom prst="roundRect">
            <a:avLst>
              <a:gd name="adj" fmla="val 5000"/>
            </a:avLst>
          </a:prstGeom>
          <a:solidFill>
            <a:srgbClr val="F7F9FC"/>
          </a:solidFill>
          <a:ln w="12700">
            <a:solidFill>
              <a:srgbClr val="D0D7E5"/>
            </a:solidFill>
            <a:prstDash val="solid"/>
          </a:ln>
        </p:spPr>
        <p:txBody>
          <a:bodyPr/>
          <a:lstStyle/>
          <a:p>
            <a:endParaRPr/>
          </a:p>
        </p:txBody>
      </p:sp>
      <p:sp>
        <p:nvSpPr>
          <p:cNvPr id="5" name="Text 3"/>
          <p:cNvSpPr/>
          <p:nvPr/>
        </p:nvSpPr>
        <p:spPr>
          <a:xfrm>
            <a:off x="5074920" y="960120"/>
            <a:ext cx="3840480" cy="868680"/>
          </a:xfrm>
          <a:prstGeom prst="rect">
            <a:avLst/>
          </a:prstGeom>
          <a:noFill/>
          <a:ln/>
        </p:spPr>
        <p:txBody>
          <a:bodyPr wrap="square" lIns="635" tIns="635" rIns="635" bIns="635" rtlCol="0" anchor="ctr"/>
          <a:lstStyle/>
          <a:p>
            <a:pPr marL="0" indent="0">
              <a:buNone/>
            </a:pPr>
            <a:r>
              <a:rPr lang="en-US" sz="1200" dirty="0">
                <a:solidFill>
                  <a:srgbClr val="6A9955"/>
                </a:solidFill>
                <a:latin typeface="Consolas" pitchFamily="34" charset="0"/>
                <a:ea typeface="Consolas" pitchFamily="34" charset="-122"/>
                <a:cs typeface="Consolas" pitchFamily="34" charset="-120"/>
              </a:rPr>
              <a:t>// Analyse a query</a:t>
            </a:r>
            <a:endParaRPr lang="en-US" sz="1200" dirty="0"/>
          </a:p>
          <a:p>
            <a:pPr marL="0" indent="0">
              <a:buNone/>
            </a:pPr>
            <a:r>
              <a:rPr lang="en-US" sz="1200" dirty="0">
                <a:solidFill>
                  <a:srgbClr val="000000"/>
                </a:solidFill>
                <a:latin typeface="Consolas" pitchFamily="34" charset="0"/>
                <a:ea typeface="Consolas" pitchFamily="34" charset="-122"/>
                <a:cs typeface="Consolas" pitchFamily="34" charset="-120"/>
              </a:rPr>
              <a:t>db</a:t>
            </a:r>
            <a:endParaRPr lang="en-US" sz="1200" dirty="0"/>
          </a:p>
          <a:p>
            <a:pPr marL="0" indent="0">
              <a:buNone/>
            </a:pPr>
            <a:r>
              <a:rPr lang="en-US" sz="1200" dirty="0">
                <a:solidFill>
                  <a:srgbClr val="000000"/>
                </a:solidFill>
                <a:latin typeface="Consolas" pitchFamily="34" charset="0"/>
                <a:ea typeface="Consolas" pitchFamily="34" charset="-122"/>
                <a:cs typeface="Consolas" pitchFamily="34" charset="-120"/>
              </a:rPr>
              <a:t>.orders.</a:t>
            </a:r>
            <a:r>
              <a:rPr lang="en-US" sz="1200" dirty="0">
                <a:solidFill>
                  <a:srgbClr val="795E26"/>
                </a:solidFill>
                <a:latin typeface="Consolas" pitchFamily="34" charset="0"/>
                <a:ea typeface="Consolas" pitchFamily="34" charset="-122"/>
                <a:cs typeface="Consolas" pitchFamily="34" charset="-120"/>
              </a:rPr>
              <a:t>find</a:t>
            </a:r>
            <a:r>
              <a:rPr lang="en-US" sz="1200" dirty="0">
                <a:solidFill>
                  <a:srgbClr val="000000"/>
                </a:solidFill>
                <a:latin typeface="Consolas" pitchFamily="34" charset="0"/>
                <a:ea typeface="Consolas" pitchFamily="34" charset="-122"/>
                <a:cs typeface="Consolas" pitchFamily="34" charset="-120"/>
              </a:rPr>
              <a:t>({ status: </a:t>
            </a:r>
            <a:r>
              <a:rPr lang="en-US" sz="1200" dirty="0">
                <a:solidFill>
                  <a:srgbClr val="A31515"/>
                </a:solidFill>
                <a:latin typeface="Consolas" pitchFamily="34" charset="0"/>
                <a:ea typeface="Consolas" pitchFamily="34" charset="-122"/>
                <a:cs typeface="Consolas" pitchFamily="34" charset="-120"/>
              </a:rPr>
              <a:t>'shipped'</a:t>
            </a:r>
            <a:r>
              <a:rPr lang="en-US" sz="1200" dirty="0">
                <a:solidFill>
                  <a:srgbClr val="000000"/>
                </a:solidFill>
                <a:latin typeface="Consolas" pitchFamily="34" charset="0"/>
                <a:ea typeface="Consolas" pitchFamily="34" charset="-122"/>
                <a:cs typeface="Consolas" pitchFamily="34" charset="-120"/>
              </a:rPr>
              <a:t>, total: { $gt: </a:t>
            </a:r>
            <a:r>
              <a:rPr lang="en-US" sz="1200" dirty="0">
                <a:solidFill>
                  <a:srgbClr val="098658"/>
                </a:solidFill>
                <a:latin typeface="Consolas" pitchFamily="34" charset="0"/>
                <a:ea typeface="Consolas" pitchFamily="34" charset="-122"/>
                <a:cs typeface="Consolas" pitchFamily="34" charset="-120"/>
              </a:rPr>
              <a:t>100</a:t>
            </a:r>
            <a:r>
              <a:rPr lang="en-US" sz="1200" dirty="0">
                <a:solidFill>
                  <a:srgbClr val="000000"/>
                </a:solidFill>
                <a:latin typeface="Consolas" pitchFamily="34" charset="0"/>
                <a:ea typeface="Consolas" pitchFamily="34" charset="-122"/>
                <a:cs typeface="Consolas" pitchFamily="34" charset="-120"/>
              </a:rPr>
              <a:t> } }).</a:t>
            </a:r>
            <a:r>
              <a:rPr lang="en-US" sz="1200" dirty="0">
                <a:solidFill>
                  <a:srgbClr val="795E26"/>
                </a:solidFill>
                <a:latin typeface="Consolas" pitchFamily="34" charset="0"/>
                <a:ea typeface="Consolas" pitchFamily="34" charset="-122"/>
                <a:cs typeface="Consolas" pitchFamily="34" charset="-120"/>
              </a:rPr>
              <a:t>sort</a:t>
            </a:r>
            <a:r>
              <a:rPr lang="en-US" sz="1200" dirty="0">
                <a:solidFill>
                  <a:srgbClr val="000000"/>
                </a:solidFill>
                <a:latin typeface="Consolas" pitchFamily="34" charset="0"/>
                <a:ea typeface="Consolas" pitchFamily="34" charset="-122"/>
                <a:cs typeface="Consolas" pitchFamily="34" charset="-120"/>
              </a:rPr>
              <a:t>({ total: -</a:t>
            </a:r>
            <a:r>
              <a:rPr lang="en-US" sz="1200" dirty="0">
                <a:solidFill>
                  <a:srgbClr val="098658"/>
                </a:solidFill>
                <a:latin typeface="Consolas" pitchFamily="34" charset="0"/>
                <a:ea typeface="Consolas" pitchFamily="34" charset="-122"/>
                <a:cs typeface="Consolas" pitchFamily="34" charset="-120"/>
              </a:rPr>
              <a:t>1</a:t>
            </a:r>
            <a:r>
              <a:rPr lang="en-US" sz="1200" dirty="0">
                <a:solidFill>
                  <a:srgbClr val="000000"/>
                </a:solidFill>
                <a:latin typeface="Consolas" pitchFamily="34" charset="0"/>
                <a:ea typeface="Consolas" pitchFamily="34" charset="-122"/>
                <a:cs typeface="Consolas" pitchFamily="34" charset="-120"/>
              </a:rPr>
              <a:t> }).</a:t>
            </a:r>
            <a:r>
              <a:rPr lang="en-US" sz="1200" dirty="0">
                <a:solidFill>
                  <a:srgbClr val="795E26"/>
                </a:solidFill>
                <a:latin typeface="Consolas" pitchFamily="34" charset="0"/>
                <a:ea typeface="Consolas" pitchFamily="34" charset="-122"/>
                <a:cs typeface="Consolas" pitchFamily="34" charset="-120"/>
              </a:rPr>
              <a:t>explain</a:t>
            </a:r>
            <a:r>
              <a:rPr lang="en-US" sz="1200" dirty="0">
                <a:solidFill>
                  <a:srgbClr val="000000"/>
                </a:solidFill>
                <a:latin typeface="Consolas" pitchFamily="34" charset="0"/>
                <a:ea typeface="Consolas" pitchFamily="34" charset="-122"/>
                <a:cs typeface="Consolas" pitchFamily="34" charset="-120"/>
              </a:rPr>
              <a:t>(</a:t>
            </a:r>
            <a:r>
              <a:rPr lang="en-US" sz="1200" dirty="0">
                <a:solidFill>
                  <a:srgbClr val="A31515"/>
                </a:solidFill>
                <a:latin typeface="Consolas" pitchFamily="34" charset="0"/>
                <a:ea typeface="Consolas" pitchFamily="34" charset="-122"/>
                <a:cs typeface="Consolas" pitchFamily="34" charset="-120"/>
              </a:rPr>
              <a:t>'executionStats'</a:t>
            </a:r>
            <a:r>
              <a:rPr lang="en-US" sz="1200" dirty="0">
                <a:solidFill>
                  <a:srgbClr val="000000"/>
                </a:solidFill>
                <a:latin typeface="Consolas" pitchFamily="34" charset="0"/>
                <a:ea typeface="Consolas" pitchFamily="34" charset="-122"/>
                <a:cs typeface="Consolas" pitchFamily="34" charset="-120"/>
              </a:rPr>
              <a:t>);</a:t>
            </a:r>
            <a:endParaRPr lang="en-US" sz="1200" dirty="0"/>
          </a:p>
        </p:txBody>
      </p:sp>
      <p:pic>
        <p:nvPicPr>
          <p:cNvPr id="6" name="Image 0" descr="preencoded.png"/>
          <p:cNvPicPr>
            <a:picLocks noChangeAspect="1"/>
          </p:cNvPicPr>
          <p:nvPr/>
        </p:nvPicPr>
        <p:blipFill>
          <a:blip r:embed="rId3"/>
          <a:stretch>
            <a:fillRect/>
          </a:stretch>
        </p:blipFill>
        <p:spPr>
          <a:xfrm>
            <a:off x="4892040" y="731520"/>
            <a:ext cx="365760" cy="365760"/>
          </a:xfrm>
          <a:prstGeom prst="rect">
            <a:avLst/>
          </a:prstGeom>
        </p:spPr>
      </p:pic>
      <p:sp>
        <p:nvSpPr>
          <p:cNvPr id="7" name="Text 4"/>
          <p:cNvSpPr/>
          <p:nvPr/>
        </p:nvSpPr>
        <p:spPr>
          <a:xfrm>
            <a:off x="5029200" y="2103120"/>
            <a:ext cx="3931920" cy="1828800"/>
          </a:xfrm>
          <a:prstGeom prst="rect">
            <a:avLst/>
          </a:prstGeom>
          <a:noFill/>
          <a:ln/>
        </p:spPr>
        <p:txBody>
          <a:bodyPr wrap="square" rtlCol="0" anchor="ctr"/>
          <a:lstStyle/>
          <a:p>
            <a:pPr marL="0" indent="0">
              <a:buNone/>
            </a:pPr>
            <a:r>
              <a:rPr lang="en-US" sz="1400" b="1" dirty="0">
                <a:solidFill>
                  <a:srgbClr val="003366"/>
                </a:solidFill>
              </a:rPr>
              <a:t>Working Set &amp; Memory
</a:t>
            </a:r>
            <a:r>
              <a:rPr lang="en-US" sz="1100" dirty="0">
                <a:solidFill>
                  <a:srgbClr val="333333"/>
                </a:solidFill>
              </a:rPr>
              <a:t>Ensure your most frequently accessed documents and indexes fit in RAM. If the working set exceeds memory, use sharding or add more RAM. WiredTiger uses document‑level locks and compression to maximise concurrency and efficiency.</a:t>
            </a:r>
            <a:endParaRPr lang="en-US" sz="1400" dirty="0"/>
          </a:p>
        </p:txBody>
      </p:sp>
      <p:sp>
        <p:nvSpPr>
          <p:cNvPr id="8" name="Text 5"/>
          <p:cNvSpPr/>
          <p:nvPr/>
        </p:nvSpPr>
        <p:spPr>
          <a:xfrm>
            <a:off x="457200" y="4754880"/>
            <a:ext cx="8229600" cy="274320"/>
          </a:xfrm>
          <a:prstGeom prst="rect">
            <a:avLst/>
          </a:prstGeom>
          <a:noFill/>
          <a:ln/>
        </p:spPr>
        <p:txBody>
          <a:bodyPr wrap="square" lIns="0" tIns="0" rIns="0" bIns="0" rtlCol="0" anchor="ctr"/>
          <a:lstStyle/>
          <a:p>
            <a:pPr marL="0" indent="0" algn="l">
              <a:buNone/>
            </a:pPr>
            <a:r>
              <a:rPr lang="en-US" sz="700" u="sng" dirty="0">
                <a:solidFill>
                  <a:srgbClr val="0070C0"/>
                </a:solidFill>
                <a:hlinkClick r:id="rId4"/>
              </a:rPr>
              <a:t>[25]</a:t>
            </a:r>
            <a:r>
              <a:rPr lang="en-US" sz="700" dirty="0">
                <a:solidFill>
                  <a:srgbClr val="000000"/>
                </a:solidFill>
              </a:rPr>
              <a:t>   </a:t>
            </a:r>
            <a:r>
              <a:rPr lang="en-US" sz="700" u="sng" dirty="0">
                <a:solidFill>
                  <a:srgbClr val="0070C0"/>
                </a:solidFill>
                <a:hlinkClick r:id="rId5"/>
              </a:rPr>
              <a:t>[26]</a:t>
            </a:r>
            <a:r>
              <a:rPr lang="en-US" sz="700" dirty="0">
                <a:solidFill>
                  <a:srgbClr val="000000"/>
                </a:solidFill>
              </a:rPr>
              <a:t>   </a:t>
            </a:r>
            <a:r>
              <a:rPr lang="en-US" sz="700" u="sng" dirty="0">
                <a:solidFill>
                  <a:srgbClr val="0070C0"/>
                </a:solidFill>
                <a:hlinkClick r:id="rId6"/>
              </a:rPr>
              <a:t>[27]</a:t>
            </a:r>
            <a:r>
              <a:rPr lang="en-US" sz="700" dirty="0">
                <a:solidFill>
                  <a:srgbClr val="000000"/>
                </a:solidFill>
              </a:rPr>
              <a:t>   </a:t>
            </a:r>
            <a:r>
              <a:rPr lang="en-US" sz="700" u="sng" dirty="0">
                <a:solidFill>
                  <a:srgbClr val="0070C0"/>
                </a:solidFill>
                <a:hlinkClick r:id="rId7"/>
              </a:rPr>
              <a:t>[28]</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4B0082"/>
                </a:solidFill>
              </a:rPr>
              <a:t>MongoDB 8.0 &amp; AI Enhancements</a:t>
            </a:r>
            <a:endParaRPr lang="en-US" sz="2400" dirty="0"/>
          </a:p>
        </p:txBody>
      </p:sp>
      <p:pic>
        <p:nvPicPr>
          <p:cNvPr id="3" name="Image 0" descr="preencoded.png"/>
          <p:cNvPicPr>
            <a:picLocks noChangeAspect="1"/>
          </p:cNvPicPr>
          <p:nvPr/>
        </p:nvPicPr>
        <p:blipFill>
          <a:blip r:embed="rId3"/>
          <a:stretch>
            <a:fillRect/>
          </a:stretch>
        </p:blipFill>
        <p:spPr>
          <a:xfrm>
            <a:off x="457200" y="914400"/>
            <a:ext cx="457200" cy="457200"/>
          </a:xfrm>
          <a:prstGeom prst="rect">
            <a:avLst/>
          </a:prstGeom>
        </p:spPr>
      </p:pic>
      <p:sp>
        <p:nvSpPr>
          <p:cNvPr id="4" name="Text 1"/>
          <p:cNvSpPr/>
          <p:nvPr/>
        </p:nvSpPr>
        <p:spPr>
          <a:xfrm>
            <a:off x="1005840" y="914400"/>
            <a:ext cx="8138160" cy="3200400"/>
          </a:xfrm>
          <a:prstGeom prst="rect">
            <a:avLst/>
          </a:prstGeom>
          <a:noFill/>
          <a:ln/>
        </p:spPr>
        <p:txBody>
          <a:bodyPr wrap="square" rtlCol="0" anchor="ctr"/>
          <a:lstStyle/>
          <a:p>
            <a:pPr marL="0" indent="0">
              <a:buNone/>
            </a:pPr>
            <a:r>
              <a:rPr lang="en-US" sz="1400" b="1" dirty="0">
                <a:solidFill>
                  <a:srgbClr val="4B0082"/>
                </a:solidFill>
              </a:rPr>
              <a:t>Performance Improvements
</a:t>
            </a:r>
            <a:r>
              <a:rPr lang="en-US" sz="1100" dirty="0">
                <a:solidFill>
                  <a:srgbClr val="333333"/>
                </a:solidFill>
              </a:rPr>
              <a:t>• Up to 36% faster reads and 59% higher update throughput for typical workloads.
• Sharding enhancements deliver up to 60% faster queries and 67% reduced CPU consumption.
</a:t>
            </a:r>
            <a:r>
              <a:rPr lang="en-US" sz="1400" b="1" dirty="0">
                <a:solidFill>
                  <a:srgbClr val="4B0082"/>
                </a:solidFill>
              </a:rPr>
              <a:t>Queryable Encryption &amp; Security
</a:t>
            </a:r>
            <a:r>
              <a:rPr lang="en-US" sz="1100" dirty="0">
                <a:solidFill>
                  <a:srgbClr val="333333"/>
                </a:solidFill>
              </a:rPr>
              <a:t>• Queryable Encryption supports range and prefix queries on encrypted data, enabling confidential search.
• Improved efficiency lowers compute requirements for encrypted workloads.
</a:t>
            </a:r>
            <a:r>
              <a:rPr lang="en-US" sz="1400" b="1" dirty="0">
                <a:solidFill>
                  <a:srgbClr val="4B0082"/>
                </a:solidFill>
              </a:rPr>
              <a:t>Generative AI &amp; Vector Search
</a:t>
            </a:r>
            <a:r>
              <a:rPr lang="en-US" sz="1100" dirty="0">
                <a:solidFill>
                  <a:srgbClr val="333333"/>
                </a:solidFill>
              </a:rPr>
              <a:t>• Integrated vector search supports semantic similarity queries, powering AI features like recommendations and search.
• Dedicated search nodes deliver 40–60% faster search queries and reduce primary compute workloads.</a:t>
            </a:r>
            <a:endParaRPr lang="en-US" sz="1400" dirty="0"/>
          </a:p>
        </p:txBody>
      </p:sp>
      <p:sp>
        <p:nvSpPr>
          <p:cNvPr id="5" name="Text 2"/>
          <p:cNvSpPr/>
          <p:nvPr/>
        </p:nvSpPr>
        <p:spPr>
          <a:xfrm>
            <a:off x="457200" y="4754880"/>
            <a:ext cx="8229600" cy="274320"/>
          </a:xfrm>
          <a:prstGeom prst="rect">
            <a:avLst/>
          </a:prstGeom>
          <a:noFill/>
          <a:ln/>
        </p:spPr>
        <p:txBody>
          <a:bodyPr wrap="square" lIns="0" tIns="0" rIns="0" bIns="0" rtlCol="0" anchor="ctr"/>
          <a:lstStyle/>
          <a:p>
            <a:pPr marL="0" indent="0" algn="l">
              <a:buNone/>
            </a:pPr>
            <a:r>
              <a:rPr lang="en-US" sz="700" u="sng" dirty="0">
                <a:solidFill>
                  <a:srgbClr val="0070C0"/>
                </a:solidFill>
                <a:hlinkClick r:id="rId4"/>
              </a:rPr>
              <a:t>[29]</a:t>
            </a:r>
            <a:r>
              <a:rPr lang="en-US" sz="700" dirty="0">
                <a:solidFill>
                  <a:srgbClr val="000000"/>
                </a:solidFill>
              </a:rPr>
              <a:t>   </a:t>
            </a:r>
            <a:r>
              <a:rPr lang="en-US" sz="700" u="sng" dirty="0">
                <a:solidFill>
                  <a:srgbClr val="0070C0"/>
                </a:solidFill>
                <a:hlinkClick r:id="rId5"/>
              </a:rPr>
              <a:t>[30]</a:t>
            </a:r>
            <a:r>
              <a:rPr lang="en-US" sz="700" dirty="0">
                <a:solidFill>
                  <a:srgbClr val="000000"/>
                </a:solidFill>
              </a:rPr>
              <a:t>   </a:t>
            </a:r>
            <a:r>
              <a:rPr lang="en-US" sz="700" u="sng" dirty="0">
                <a:solidFill>
                  <a:srgbClr val="0070C0"/>
                </a:solidFill>
                <a:hlinkClick r:id="rId6"/>
              </a:rPr>
              <a:t>[31]</a:t>
            </a:r>
            <a:r>
              <a:rPr lang="en-US" sz="700" dirty="0">
                <a:solidFill>
                  <a:srgbClr val="000000"/>
                </a:solidFill>
              </a:rPr>
              <a:t>   </a:t>
            </a:r>
            <a:r>
              <a:rPr lang="en-US" sz="700" u="sng" dirty="0">
                <a:solidFill>
                  <a:srgbClr val="0070C0"/>
                </a:solidFill>
                <a:hlinkClick r:id="rId7"/>
              </a:rPr>
              <a:t>[32]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003366"/>
                </a:solidFill>
              </a:rPr>
              <a:t>Ecosystem &amp; Tools</a:t>
            </a:r>
            <a:endParaRPr lang="en-US" sz="2400" dirty="0"/>
          </a:p>
        </p:txBody>
      </p:sp>
      <p:pic>
        <p:nvPicPr>
          <p:cNvPr id="3" name="Image 0" descr="preencoded.png"/>
          <p:cNvPicPr>
            <a:picLocks noChangeAspect="1"/>
          </p:cNvPicPr>
          <p:nvPr/>
        </p:nvPicPr>
        <p:blipFill>
          <a:blip r:embed="rId3"/>
          <a:stretch>
            <a:fillRect/>
          </a:stretch>
        </p:blipFill>
        <p:spPr>
          <a:xfrm>
            <a:off x="457200" y="914400"/>
            <a:ext cx="457200" cy="457200"/>
          </a:xfrm>
          <a:prstGeom prst="rect">
            <a:avLst/>
          </a:prstGeom>
        </p:spPr>
      </p:pic>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686800" cy="2194560"/>
        </p:xfrm>
        <a:graphic>
          <a:graphicData uri="http://schemas.openxmlformats.org/drawingml/2006/table">
            <a:tbl>
              <a:tblPr/>
              <a:tblGrid>
                <a:gridCol w="43434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tblGrid>
              <a:tr h="274320">
                <a:tc>
                  <a:txBody>
                    <a:bodyPr/>
                    <a:lstStyle/>
                    <a:p>
                      <a:pPr marL="0" indent="0">
                        <a:buNone/>
                      </a:pPr>
                      <a:r>
                        <a:rPr lang="en-US" sz="1000" b="1" dirty="0">
                          <a:solidFill>
                            <a:srgbClr val="003366"/>
                          </a:solidFill>
                        </a:rPr>
                        <a:t>Tool</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solidFill>
                      <a:srgbClr val="E3EDF7"/>
                    </a:solidFill>
                  </a:tcPr>
                </a:tc>
                <a:tc>
                  <a:txBody>
                    <a:bodyPr/>
                    <a:lstStyle/>
                    <a:p>
                      <a:pPr marL="0" indent="0">
                        <a:buNone/>
                      </a:pPr>
                      <a:r>
                        <a:rPr lang="en-US" sz="1000" b="1" dirty="0">
                          <a:solidFill>
                            <a:srgbClr val="003366"/>
                          </a:solidFill>
                        </a:rPr>
                        <a:t>Purpose</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solidFill>
                      <a:srgbClr val="E3EDF7"/>
                    </a:solidFill>
                  </a:tcPr>
                </a:tc>
                <a:extLst>
                  <a:ext uri="{0D108BD9-81ED-4DB2-BD59-A6C34878D82A}">
                    <a16:rowId xmlns:a16="http://schemas.microsoft.com/office/drawing/2014/main" val="10000"/>
                  </a:ext>
                </a:extLst>
              </a:tr>
              <a:tr h="274320">
                <a:tc>
                  <a:txBody>
                    <a:bodyPr/>
                    <a:lstStyle/>
                    <a:p>
                      <a:pPr marL="0" indent="0">
                        <a:buNone/>
                      </a:pPr>
                      <a:r>
                        <a:rPr lang="en-US" sz="1000" dirty="0">
                          <a:solidFill>
                            <a:srgbClr val="003366"/>
                          </a:solidFill>
                        </a:rPr>
                        <a:t>mongod / mongos</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tc>
                  <a:txBody>
                    <a:bodyPr/>
                    <a:lstStyle/>
                    <a:p>
                      <a:pPr marL="0" indent="0">
                        <a:buNone/>
                      </a:pPr>
                      <a:r>
                        <a:rPr lang="en-US" sz="1000" dirty="0">
                          <a:solidFill>
                            <a:srgbClr val="333333"/>
                          </a:solidFill>
                        </a:rPr>
                        <a:t>Server daemon and query router processes</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buNone/>
                      </a:pPr>
                      <a:r>
                        <a:rPr lang="en-US" sz="1000" dirty="0">
                          <a:solidFill>
                            <a:srgbClr val="003366"/>
                          </a:solidFill>
                        </a:rPr>
                        <a:t>mongosh</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tc>
                  <a:txBody>
                    <a:bodyPr/>
                    <a:lstStyle/>
                    <a:p>
                      <a:pPr marL="0" indent="0">
                        <a:buNone/>
                      </a:pPr>
                      <a:r>
                        <a:rPr lang="en-US" sz="1000" dirty="0">
                          <a:solidFill>
                            <a:srgbClr val="333333"/>
                          </a:solidFill>
                        </a:rPr>
                        <a:t>Interactive shell for administration and scripting</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buNone/>
                      </a:pPr>
                      <a:r>
                        <a:rPr lang="en-US" sz="1000" dirty="0">
                          <a:solidFill>
                            <a:srgbClr val="003366"/>
                          </a:solidFill>
                        </a:rPr>
                        <a:t>Compass</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tc>
                  <a:txBody>
                    <a:bodyPr/>
                    <a:lstStyle/>
                    <a:p>
                      <a:pPr marL="0" indent="0">
                        <a:buNone/>
                      </a:pPr>
                      <a:r>
                        <a:rPr lang="en-US" sz="1000" dirty="0">
                          <a:solidFill>
                            <a:srgbClr val="333333"/>
                          </a:solidFill>
                        </a:rPr>
                        <a:t>GUI for visualising collections and building queries</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buNone/>
                      </a:pPr>
                      <a:r>
                        <a:rPr lang="en-US" sz="1000" dirty="0">
                          <a:solidFill>
                            <a:srgbClr val="003366"/>
                          </a:solidFill>
                        </a:rPr>
                        <a:t>MongoDB Atlas</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tc>
                  <a:txBody>
                    <a:bodyPr/>
                    <a:lstStyle/>
                    <a:p>
                      <a:pPr marL="0" indent="0">
                        <a:buNone/>
                      </a:pPr>
                      <a:r>
                        <a:rPr lang="en-US" sz="1000" dirty="0">
                          <a:solidFill>
                            <a:srgbClr val="333333"/>
                          </a:solidFill>
                        </a:rPr>
                        <a:t>Managed database service with monitoring &amp; backup</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indent="0">
                        <a:buNone/>
                      </a:pPr>
                      <a:r>
                        <a:rPr lang="en-US" sz="1000" dirty="0">
                          <a:solidFill>
                            <a:srgbClr val="003366"/>
                          </a:solidFill>
                        </a:rPr>
                        <a:t>Cloud Manager / Ops Manager</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tc>
                  <a:txBody>
                    <a:bodyPr/>
                    <a:lstStyle/>
                    <a:p>
                      <a:pPr marL="0" indent="0">
                        <a:buNone/>
                      </a:pPr>
                      <a:r>
                        <a:rPr lang="en-US" sz="1000" dirty="0">
                          <a:solidFill>
                            <a:srgbClr val="333333"/>
                          </a:solidFill>
                        </a:rPr>
                        <a:t>On‑premises management, automation and backup</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extLst>
                  <a:ext uri="{0D108BD9-81ED-4DB2-BD59-A6C34878D82A}">
                    <a16:rowId xmlns:a16="http://schemas.microsoft.com/office/drawing/2014/main" val="10005"/>
                  </a:ext>
                </a:extLst>
              </a:tr>
              <a:tr h="274320">
                <a:tc>
                  <a:txBody>
                    <a:bodyPr/>
                    <a:lstStyle/>
                    <a:p>
                      <a:pPr marL="0" indent="0">
                        <a:buNone/>
                      </a:pPr>
                      <a:r>
                        <a:rPr lang="en-US" sz="1000" dirty="0">
                          <a:solidFill>
                            <a:srgbClr val="003366"/>
                          </a:solidFill>
                        </a:rPr>
                        <a:t>Data API / Realm</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tc>
                  <a:txBody>
                    <a:bodyPr/>
                    <a:lstStyle/>
                    <a:p>
                      <a:pPr marL="0" indent="0">
                        <a:buNone/>
                      </a:pPr>
                      <a:r>
                        <a:rPr lang="en-US" sz="1000" dirty="0">
                          <a:solidFill>
                            <a:srgbClr val="333333"/>
                          </a:solidFill>
                        </a:rPr>
                        <a:t>Serverless API &amp; mobile synchronisation platform</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extLst>
                  <a:ext uri="{0D108BD9-81ED-4DB2-BD59-A6C34878D82A}">
                    <a16:rowId xmlns:a16="http://schemas.microsoft.com/office/drawing/2014/main" val="10006"/>
                  </a:ext>
                </a:extLst>
              </a:tr>
              <a:tr h="274320">
                <a:tc>
                  <a:txBody>
                    <a:bodyPr/>
                    <a:lstStyle/>
                    <a:p>
                      <a:pPr marL="0" indent="0">
                        <a:buNone/>
                      </a:pPr>
                      <a:r>
                        <a:rPr lang="en-US" sz="1000" dirty="0">
                          <a:solidFill>
                            <a:srgbClr val="003366"/>
                          </a:solidFill>
                        </a:rPr>
                        <a:t>Drivers (Node, Python, Java, etc.)</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tc>
                  <a:txBody>
                    <a:bodyPr/>
                    <a:lstStyle/>
                    <a:p>
                      <a:pPr marL="0" indent="0">
                        <a:buNone/>
                      </a:pPr>
                      <a:r>
                        <a:rPr lang="en-US" sz="1000" dirty="0">
                          <a:solidFill>
                            <a:srgbClr val="333333"/>
                          </a:solidFill>
                        </a:rPr>
                        <a:t>Language‑specific libraries to access MongoDB</a:t>
                      </a:r>
                      <a:endParaRPr lang="en-US" sz="1000" dirty="0"/>
                    </a:p>
                  </a:txBody>
                  <a:tcPr>
                    <a:lnL w="3175" cap="flat" cmpd="sng" algn="ctr">
                      <a:solidFill>
                        <a:srgbClr val="D0D7E5"/>
                      </a:solidFill>
                      <a:prstDash val="solid"/>
                      <a:round/>
                      <a:headEnd type="none" w="med" len="med"/>
                      <a:tailEnd type="none" w="med" len="med"/>
                    </a:lnL>
                    <a:lnR w="3175" cap="flat" cmpd="sng" algn="ctr">
                      <a:solidFill>
                        <a:srgbClr val="D0D7E5"/>
                      </a:solidFill>
                      <a:prstDash val="solid"/>
                      <a:round/>
                      <a:headEnd type="none" w="med" len="med"/>
                      <a:tailEnd type="none" w="med" len="med"/>
                    </a:lnR>
                    <a:lnT w="3175" cap="flat" cmpd="sng" algn="ctr">
                      <a:solidFill>
                        <a:srgbClr val="D0D7E5"/>
                      </a:solidFill>
                      <a:prstDash val="solid"/>
                      <a:round/>
                      <a:headEnd type="none" w="med" len="med"/>
                      <a:tailEnd type="none" w="med" len="med"/>
                    </a:lnT>
                    <a:lnB w="3175" cap="flat" cmpd="sng" algn="ctr">
                      <a:solidFill>
                        <a:srgbClr val="D0D7E5"/>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1"/>
          <p:cNvSpPr/>
          <p:nvPr/>
        </p:nvSpPr>
        <p:spPr>
          <a:xfrm>
            <a:off x="457200" y="3749040"/>
            <a:ext cx="8686800" cy="1280160"/>
          </a:xfrm>
          <a:prstGeom prst="rect">
            <a:avLst/>
          </a:prstGeom>
          <a:noFill/>
          <a:ln/>
        </p:spPr>
        <p:txBody>
          <a:bodyPr wrap="square" rtlCol="0" anchor="ctr"/>
          <a:lstStyle/>
          <a:p>
            <a:pPr marL="0" indent="0">
              <a:buNone/>
            </a:pPr>
            <a:r>
              <a:rPr lang="en-US" sz="1400" b="1" dirty="0">
                <a:solidFill>
                  <a:srgbClr val="003366"/>
                </a:solidFill>
              </a:rPr>
              <a:t>Integration &amp; Automation
</a:t>
            </a:r>
            <a:r>
              <a:rPr lang="en-US" sz="1100" dirty="0">
                <a:solidFill>
                  <a:srgbClr val="333333"/>
                </a:solidFill>
              </a:rPr>
              <a:t>• Integrate MongoDB with CI/CD pipelines via Realm triggers and serverless functions.
• Use change streams to react to database events in real time.
• Export and import data via mongoexport/mongoimport; transform data with Aggregation Pipeline.
• Third‑party tools (Studio 3T, Robo 3T) provide additional GUI features.</a:t>
            </a:r>
            <a:endParaRPr lang="en-US" sz="1400" dirty="0"/>
          </a:p>
        </p:txBody>
      </p:sp>
      <p:sp>
        <p:nvSpPr>
          <p:cNvPr id="6" name="Text 2"/>
          <p:cNvSpPr/>
          <p:nvPr/>
        </p:nvSpPr>
        <p:spPr>
          <a:xfrm>
            <a:off x="457200" y="4754880"/>
            <a:ext cx="8229600" cy="274320"/>
          </a:xfrm>
          <a:prstGeom prst="rect">
            <a:avLst/>
          </a:prstGeom>
          <a:noFill/>
          <a:ln/>
        </p:spPr>
        <p:txBody>
          <a:bodyPr wrap="square" lIns="0" tIns="0" rIns="0" bIns="0" rtlCol="0" anchor="ctr"/>
          <a:lstStyle/>
          <a:p>
            <a:pPr marL="0" indent="0" algn="l">
              <a:buNone/>
            </a:pPr>
            <a:r>
              <a:rPr lang="en-US" sz="700" u="sng" dirty="0">
                <a:solidFill>
                  <a:srgbClr val="0070C0"/>
                </a:solidFill>
                <a:hlinkClick r:id="rId4"/>
              </a:rPr>
              <a:t>[33]</a:t>
            </a:r>
            <a:r>
              <a:rPr lang="en-US" sz="700" dirty="0">
                <a:solidFill>
                  <a:srgbClr val="000000"/>
                </a:solidFill>
              </a:rPr>
              <a:t>   </a:t>
            </a:r>
            <a:r>
              <a:rPr lang="en-US" sz="700" u="sng" dirty="0">
                <a:solidFill>
                  <a:srgbClr val="0070C0"/>
                </a:solidFill>
                <a:hlinkClick r:id="rId5"/>
              </a:rPr>
              <a:t>[34]</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6F9"/>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003366"/>
                </a:solidFill>
              </a:rPr>
              <a:t>Conclusion &amp; Next Steps</a:t>
            </a:r>
            <a:endParaRPr lang="en-US" sz="2400" dirty="0"/>
          </a:p>
        </p:txBody>
      </p:sp>
      <p:sp>
        <p:nvSpPr>
          <p:cNvPr id="3" name="Text 1"/>
          <p:cNvSpPr/>
          <p:nvPr/>
        </p:nvSpPr>
        <p:spPr>
          <a:xfrm>
            <a:off x="457200" y="914400"/>
            <a:ext cx="8686800" cy="3931920"/>
          </a:xfrm>
          <a:prstGeom prst="rect">
            <a:avLst/>
          </a:prstGeom>
          <a:noFill/>
          <a:ln/>
        </p:spPr>
        <p:txBody>
          <a:bodyPr wrap="square" rtlCol="0" anchor="ctr"/>
          <a:lstStyle/>
          <a:p>
            <a:pPr marL="0" indent="0">
              <a:buNone/>
            </a:pPr>
            <a:r>
              <a:rPr lang="en-US" sz="1400" b="1" dirty="0">
                <a:solidFill>
                  <a:srgbClr val="003366"/>
                </a:solidFill>
              </a:rPr>
              <a:t>Key Takeaways
</a:t>
            </a:r>
            <a:r>
              <a:rPr lang="en-US" sz="1100" dirty="0">
                <a:solidFill>
                  <a:srgbClr val="333333"/>
                </a:solidFill>
              </a:rPr>
              <a:t>• MongoDB’s document model provides flexibility to model complex data without rigid schemas.
• Robust features like indexing, replication, sharding and transactions enable high performance, availability and scalability.
• Good schema design and index strategy are critical for performance and maintainability.
• Security, backup and monitoring are essential for production deployments.
• MongoDB continues to innovate with queryable encryption, vector search and AI‑ready features.</a:t>
            </a:r>
            <a:r>
              <a:rPr lang="en-US" sz="1400" b="1" dirty="0">
                <a:solidFill>
                  <a:srgbClr val="003366"/>
                </a:solidFill>
              </a:rPr>
              <a:t>
Next Steps
</a:t>
            </a:r>
            <a:r>
              <a:rPr lang="en-US" sz="1100" dirty="0">
                <a:solidFill>
                  <a:srgbClr val="333333"/>
                </a:solidFill>
              </a:rPr>
              <a:t>• Experiment with MongoDB using free Atlas clusters or local docker images.
• Design a schema for your application based on query patterns and refine indexes as you profile queries.
• Implement backups, configure authentication and encryption, and monitor your cluster regularly.
• Explore new features like queryable encryption and vector search to build secure, intelligent applications.</a:t>
            </a:r>
            <a:endParaRPr lang="en-US" sz="1400" dirty="0"/>
          </a:p>
        </p:txBody>
      </p:sp>
      <p:sp>
        <p:nvSpPr>
          <p:cNvPr id="4" name="Text 2"/>
          <p:cNvSpPr/>
          <p:nvPr/>
        </p:nvSpPr>
        <p:spPr>
          <a:xfrm>
            <a:off x="457200" y="4754880"/>
            <a:ext cx="8229600" cy="274320"/>
          </a:xfrm>
          <a:prstGeom prst="rect">
            <a:avLst/>
          </a:prstGeom>
          <a:noFill/>
          <a:ln/>
        </p:spPr>
        <p:txBody>
          <a:bodyPr wrap="square" lIns="0" tIns="0" rIns="0" bIns="0" rtlCol="0" anchor="ctr"/>
          <a:lstStyle/>
          <a:p>
            <a:pPr marL="0" indent="0" algn="l">
              <a:buNone/>
            </a:pPr>
            <a:r>
              <a:rPr lang="en-US" sz="700" u="sng" dirty="0">
                <a:solidFill>
                  <a:srgbClr val="0070C0"/>
                </a:solidFill>
                <a:hlinkClick r:id="rId3"/>
              </a:rPr>
              <a:t>[1]</a:t>
            </a:r>
            <a:r>
              <a:rPr lang="en-US" sz="700" dirty="0">
                <a:solidFill>
                  <a:srgbClr val="000000"/>
                </a:solidFill>
              </a:rPr>
              <a:t>   </a:t>
            </a:r>
            <a:r>
              <a:rPr lang="en-US" sz="700" u="sng" dirty="0">
                <a:solidFill>
                  <a:srgbClr val="0070C0"/>
                </a:solidFill>
                <a:hlinkClick r:id="rId4"/>
              </a:rPr>
              <a:t>[29]</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5050</Words>
  <Application>Microsoft Macintosh PowerPoint</Application>
  <PresentationFormat>On-screen Show (16:9)</PresentationFormat>
  <Paragraphs>191</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Atilio Barreda</cp:lastModifiedBy>
  <cp:revision>2</cp:revision>
  <dcterms:created xsi:type="dcterms:W3CDTF">2025-11-11T22:10:04Z</dcterms:created>
  <dcterms:modified xsi:type="dcterms:W3CDTF">2025-11-11T22:16:30Z</dcterms:modified>
</cp:coreProperties>
</file>