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am going to do a fast review of everything we have covered through week 7 before we open the Jeopardy game. Nothing on this deck is new. The goal is to reconnect the main terms, the main workflows, and the main reasons behind them.</a:t>
            </a:r>
          </a:p>
          <a:p/>
          <a:p>
            <a:r>
              <a:t>As we go, listen for the same words that appear in the game: database, schema, view, RLS, COMMIT, deadlock, MVCC, autovacuum, wraparound, and correctness. If a term feels familiar but fuzzy, that is okay. The point of this review is to make it sharp again before we compete.</a:t>
            </a:r>
          </a:p>
          <a:p/>
          <a:p>
            <a:r>
              <a:t>I want you to notice one pattern through the whole deck. We keep returning to the same question: how do we keep data correct, available, and manageable while real users and real changes keep happening?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review. Week 1 gave us the DBA role, DBMS basics, the relational model, and normalization. Week 2 took PostgreSQL from local tools to Supabase. Week 3 shifted into administration and DevOps habits in a managed Postgres environment. Week 4 focused on schema management: views, materialized views, identity, constraints, and introspection. Week 5 moved into transactions, isolation, locking, and diagnostics. Weeks 6 and 7 pushed deeper into MVCC, vacuum, autovacuum, and the Sentry wraparound case.</a:t>
            </a:r>
          </a:p>
          <a:p/>
          <a:p>
            <a:r>
              <a:t>So the big story is simple. We started with structure. Then we added tools. Then we added operational discipline. Then we added concurrency and maintenance. By the time we reach week 7, the course is not just asking what a table is. It is asking how a real PostgreSQL system stays correct under load, change, and failure.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first big idea. A DBMS exists because file-based systems are hard to keep consistent, secure, and recoverable. A database management system gives us centralized control over data, better concurrency control, recovery after failures, and stronger security.</a:t>
            </a:r>
          </a:p>
          <a:p/>
          <a:p>
            <a:r>
              <a:t>The DBA's job is not just to write queries. The DBA plans the system, builds structures, tunes performance, troubleshoots problems, secures access, and monitors for risk. When I say database administrator in this class, I want you to hear both design responsibility and operational responsibility.</a:t>
            </a:r>
          </a:p>
          <a:p/>
          <a:p>
            <a:r>
              <a:t>Another key distinction is database versus schema. A database is the container you connect to. A schema is the namespace inside that database. If you mix those up, the rest of PostgreSQL gets confusing fast. Also remember the three-tier picture: client on one side, application logic in the middle, and the database server behind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hear relational model, think tables with rules. A relation is a table. A tuple is a row. An attribute is a column. A domain is the legal set of values that a column is allowed to hold. Those terms matter because they give us precise language for talking about design.</a:t>
            </a:r>
          </a:p>
          <a:p/>
          <a:p>
            <a:r>
              <a:t>Keys are just as important. A primary key uniquely identifies a row. A foreign key connects a child table to a parent table and helps enforce referential integrity. That is how the database knows that relationships are valid, not just the application.</a:t>
            </a:r>
          </a:p>
          <a:p/>
          <a:p>
            <a:r>
              <a:t>On the SQL side, the core language we kept returning to was SELECT, WHERE, JOIN, and GROUP BY. We practiced that thinking with the Club Database, especially the members, facilities, and bookings tables. Also keep normalization in mind: the reason we normalize is to reduce redundancy and avoid update problems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was about portability. Docker let us run the same PostgreSQL setup on different machines with fewer environment surprises. The key Docker words were image, container, volume, and network. The one students most often forget is volume, and that matters because the volume is what keeps data alive when containers come and go.</a:t>
            </a:r>
          </a:p>
          <a:p/>
          <a:p>
            <a:r>
              <a:t>We also connected to Postgres in two ways: psql in the terminal and pgAdmin in a GUI. That mattered because good DBAs should be comfortable in both styles.</a:t>
            </a:r>
          </a:p>
          <a:p/>
          <a:p>
            <a:r>
              <a:t>This week also reinforced the database versus schema distinction. And then we moved to Supabase. The big lesson there is that local does not mean one database and cloud means another database product. Supabase is still PostgreSQL. The engine is the same. What changes is the platform layer, the tooling, and who manages which responsibilities.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3 changed the mindset from student user to database operator. The central message was simple: managed Postgres means fewer server chores, not less accountability. Supabase may handle infrastructure layers, but you still own schema quality, query quality, index quality, migration safety, privileges, RLS logic, and recovery verification.</a:t>
            </a:r>
          </a:p>
          <a:p/>
          <a:p>
            <a:r>
              <a:t>That is why the course kept returning to the same workflow: plan the change, apply the change through a migration, verify the change with SQL and evidence, observe for regressions, and recover if needed. This is migration-first and verification-first discipline.</a:t>
            </a:r>
          </a:p>
          <a:p/>
          <a:p>
            <a:r>
              <a:t>We also talked about least privilege and RLS. Least privilege means give only the permissions needed, not broad access by default. RLS means row access should be filtered intentionally. One specific warning from class is that the service role bypasses RLS, so it must not be treated casually. These are not optional extras. They are part of safe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4 treated structure as policy. A view is not just a convenience. It is a saved query that can give consumers a stable interface. A materialized view is different because it stores results physically and has to be refreshed. The tradeoff is freshness versus speed.</a:t>
            </a:r>
          </a:p>
          <a:p/>
          <a:p>
            <a:r>
              <a:t>For key generation, we emphasized that IDENTITY is the modern, SQL-standard choice for new Postgres tables. The reason is not fashion. It is clarity and better alignment with modern schema practice.</a:t>
            </a:r>
          </a:p>
          <a:p/>
          <a:p>
            <a:r>
              <a:t>Constraints were one of the biggest ideas of the week. A CHECK constraint, a UNIQUE constraint, a primary key, and a foreign key are all ways the database enforces business truth at write time. They turn silent bad data into explicit errors.</a:t>
            </a:r>
          </a:p>
          <a:p/>
          <a:p>
            <a:r>
              <a:t>Finally, introspection matters because assumptions are not enough. information_schema is the standards-oriented place to inspect metadata, while pg_catalog gives PostgreSQL-specific detail when you need deeper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5 added time to the picture. Up to this point, a lot of design thinking can feel static. Transactions force us to ask what happens when multiple valid actions overlap.</a:t>
            </a:r>
          </a:p>
          <a:p/>
          <a:p>
            <a:r>
              <a:t>The first idea is transaction boundary. Autocommit means each statement is its own transaction. Explicit transactions let us say these several steps either all happen together or none of them count. COMMIT makes the work permanent. ROLLBACK throws away the uncommitted work.</a:t>
            </a:r>
          </a:p>
          <a:p/>
          <a:p>
            <a:r>
              <a:t>The second idea is isolation. PostgreSQL defaults to READ COMMITTED, which means each statement sees the latest committed state at the start of that statement. That is fine for many workloads, but not all. If a workflow has stronger correctness needs, we may need a stronger pattern or a stronger isolation level.</a:t>
            </a:r>
          </a:p>
          <a:p/>
          <a:p>
            <a:r>
              <a:t>The course kept saying the same thing here: a transaction is not just SQL grouping. It is a correctness boundary. And short transactions are safer than long 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Locks are normal. Blocking is also normal in the sense that it can happen whenever two transactions want incompatible access to the same data. The problem is not that locks exist. The problem is long lock hold times, bad ordering, or transactions staying open longer than they should.</a:t>
            </a:r>
          </a:p>
          <a:p/>
          <a:p>
            <a:r>
              <a:t>In lab, we used two sessions to create blocking on purpose and then inspected it with pg_stat_activity. That view shows active sessions, state, wait information, and the running query text. It is one of the first places to look when users say a query is hanging.</a:t>
            </a:r>
          </a:p>
          <a:p/>
          <a:p>
            <a:r>
              <a:t>A deadlock is more specific. It is a cycle where transaction A waits on transaction B while transaction B waits on transaction A. PostgreSQL resolves that by aborting one transaction. Operationally, that means mitigation and root cause are different. Mitigation gets service moving again. Root cause changes the design so the same pattern stops repeating.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MVCC stands for Multi-Version Concurrency Control. The simple mental model is that PostgreSQL keeps row versions so that readers usually do not block writers and writers do not usually block readers the way students first imagine.</a:t>
            </a:r>
          </a:p>
          <a:p/>
          <a:p>
            <a:r>
              <a:t>When a row is updated, PostgreSQL creates a new version rather than simply erasing the old one in place. The old version can become a dead tuple after it is no longer needed for visibility. That is where vacuum comes in. Vacuum reclaims reusable space and helps keep tables healthy. Analyze updates the statistics the planner uses to estimate row counts and choose plans.</a:t>
            </a:r>
          </a:p>
          <a:p/>
          <a:p>
            <a:r>
              <a:t>Autovacuum is the background process that automates much of this work. The class kept stressing that vacuum is not only a performance detail. It is part of correctness and long-term health. Also remember the risk of long transactions. They can delay cleanup because older snapshots may still need older row versions to remain visible.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Week 7 activity is a hybrid. Students first run safe inspection queries to look at current transaction ID, xid age, dead tuples, and autovacuum signals. Then they connect those observations to the Sentry incident.</a:t>
            </a:r>
          </a:p>
          <a:p/>
          <a:p>
            <a:r>
              <a:t>The Sentry reading matters because it shows why PostgreSQL maintenance is not just housekeeping. Transaction IDs are finite. If old rows are not cleaned up properly and the system approaches wraparound danger, PostgreSQL may stop accepting writes. It does that to protect correctness.</a:t>
            </a:r>
          </a:p>
          <a:p/>
          <a:p>
            <a:r>
              <a:t>The exact article URL for this activity is https://blog.sentry.io/transaction-id-wraparound-in-postgres/</a:t>
            </a:r>
          </a:p>
          <a:p/>
          <a:p>
            <a:r>
              <a:t>That is the key phrase: protect correctness. This is not only about the database running slowly. This is about preserving valid visibility rules so the database does not lie about what rows should be seen.</a:t>
            </a:r>
          </a:p>
          <a:p/>
          <a:p>
            <a:r>
              <a:t>In the Sentry incident, the team chose to truncate one large noncritical table so the service could recover faster. That was a tradeoff between availability and preserving every piece of data in that one table. The lesson is not that truncation is always right. The lesson is that operational decisions under pressure are about priorities, evidence, and understanding what the database is protecting.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open the game, do not overcomplicate the clues. Many of them are direct recall. If you hear saved query that looks like a table, think view. If you hear row access in Supabase, think RLS. If you hear active sessions and waiting queries, think pg_stat_activity. If you hear automatic cleanup, think autovacuum.</a:t>
            </a:r>
          </a:p>
          <a:p/>
          <a:p>
            <a:r>
              <a:t>Also remember the repeated examples from class. The members, facilities, and bookings tables showed up again and again because they gave us a concrete relational schema for joins, views, summaries, transactions, and incident drills.</a:t>
            </a:r>
          </a:p>
          <a:p/>
          <a:p>
            <a:r>
              <a:t>Most importantly, if you get stuck on a clue, ask what problem the feature solves. Does it solve data modeling, access control, concurrency, maintenance, or recovery? That question usually points you to the answer. The bigger theme behind the whole board is correctness under change, access, and concurrency.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566928"/>
            <a:ext cx="1737360" cy="402336"/>
          </a:xfrm>
          <a:prstGeom prst="roundRect">
            <a:avLst/>
          </a:prstGeom>
          <a:solidFill>
            <a:srgbClr val="0D2242"/>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BE0D6"/>
                </a:solidFill>
                <a:latin typeface="Aptos"/>
              </a:defRPr>
            </a:pPr>
            <a:r>
              <a:t>Weeks 1-7 Review</a:t>
            </a:r>
          </a:p>
        </p:txBody>
      </p:sp>
      <p:sp>
        <p:nvSpPr>
          <p:cNvPr id="5" name="TextBox 4"/>
          <p:cNvSpPr txBox="1"/>
          <p:nvPr/>
        </p:nvSpPr>
        <p:spPr>
          <a:xfrm>
            <a:off x="685800" y="1234440"/>
            <a:ext cx="9966960" cy="1371600"/>
          </a:xfrm>
          <a:prstGeom prst="rect">
            <a:avLst/>
          </a:prstGeom>
          <a:noFill/>
        </p:spPr>
        <p:txBody>
          <a:bodyPr wrap="square">
            <a:spAutoFit/>
          </a:bodyPr>
          <a:lstStyle/>
          <a:p>
            <a:pPr>
              <a:defRPr sz="3000" b="1">
                <a:solidFill>
                  <a:srgbClr val="F5F7FA"/>
                </a:solidFill>
                <a:latin typeface="Aptos Display"/>
              </a:defRPr>
            </a:pPr>
            <a:r>
              <a:t>CST4714 Review Through Week 7</a:t>
            </a:r>
          </a:p>
        </p:txBody>
      </p:sp>
      <p:sp>
        <p:nvSpPr>
          <p:cNvPr id="6" name="TextBox 5"/>
          <p:cNvSpPr txBox="1"/>
          <p:nvPr/>
        </p:nvSpPr>
        <p:spPr>
          <a:xfrm>
            <a:off x="731520" y="2487168"/>
            <a:ext cx="8869680" cy="1280160"/>
          </a:xfrm>
          <a:prstGeom prst="rect">
            <a:avLst/>
          </a:prstGeom>
          <a:noFill/>
        </p:spPr>
        <p:txBody>
          <a:bodyPr wrap="square">
            <a:spAutoFit/>
          </a:bodyPr>
          <a:lstStyle/>
          <a:p>
            <a:pPr>
              <a:defRPr sz="2000">
                <a:solidFill>
                  <a:srgbClr val="C4D0E6"/>
                </a:solidFill>
                <a:latin typeface="Aptos"/>
              </a:defRPr>
            </a:pPr>
            <a:r>
              <a:t>Relational databases, PostgreSQL, SQL, Supabase, transactions, MVCC, and wraparound.</a:t>
            </a:r>
          </a:p>
        </p:txBody>
      </p:sp>
      <p:sp>
        <p:nvSpPr>
          <p:cNvPr id="7" name="Rounded Rectangle 6"/>
          <p:cNvSpPr/>
          <p:nvPr/>
        </p:nvSpPr>
        <p:spPr>
          <a:xfrm>
            <a:off x="8458200" y="3566160"/>
            <a:ext cx="2880360" cy="146304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Review focus</a:t>
            </a:r>
          </a:p>
          <a:p>
            <a:pPr>
              <a:defRPr sz="1500">
                <a:solidFill>
                  <a:srgbClr val="F5F7FA"/>
                </a:solidFill>
                <a:latin typeface="Aptos"/>
              </a:defRPr>
            </a:pPr>
            <a:r>
              <a:t>Structure, operations, concurrency, and correctness</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Built from the local week folders, labs, PDFs, and textbook topics in this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Roadmap</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What We Have Covered So Far</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Week 1: DBA role, DBMS purpose, relational basics, normalization</a:t>
            </a:r>
          </a:p>
          <a:p>
            <a:pPr>
              <a:spcAft>
                <a:spcPts val="1000"/>
              </a:spcAft>
              <a:defRPr sz="2000">
                <a:solidFill>
                  <a:srgbClr val="F5F7FA"/>
                </a:solidFill>
                <a:latin typeface="Aptos"/>
              </a:defRPr>
            </a:pPr>
            <a:r>
              <a:t>- Week 2: Docker, local Postgres, pgAdmin, and Supabase</a:t>
            </a:r>
          </a:p>
          <a:p>
            <a:pPr>
              <a:spcAft>
                <a:spcPts val="1000"/>
              </a:spcAft>
              <a:defRPr sz="2000">
                <a:solidFill>
                  <a:srgbClr val="F5F7FA"/>
                </a:solidFill>
                <a:latin typeface="Aptos"/>
              </a:defRPr>
            </a:pPr>
            <a:r>
              <a:t>- Week 3: admin workflows, backups, roles, least privilege, and RLS</a:t>
            </a:r>
          </a:p>
          <a:p>
            <a:pPr>
              <a:spcAft>
                <a:spcPts val="1000"/>
              </a:spcAft>
              <a:defRPr sz="2000">
                <a:solidFill>
                  <a:srgbClr val="F5F7FA"/>
                </a:solidFill>
                <a:latin typeface="Aptos"/>
              </a:defRPr>
            </a:pPr>
            <a:r>
              <a:t>- Week 4: views, materialized views, identity, constraints, introspection</a:t>
            </a:r>
          </a:p>
          <a:p>
            <a:pPr>
              <a:spcAft>
                <a:spcPts val="1000"/>
              </a:spcAft>
              <a:defRPr sz="2000">
                <a:solidFill>
                  <a:srgbClr val="F5F7FA"/>
                </a:solidFill>
                <a:latin typeface="Aptos"/>
              </a:defRPr>
            </a:pPr>
            <a:r>
              <a:t>- Week 5: transactions, isolation, blocking, deadlocks, diagnostics</a:t>
            </a:r>
          </a:p>
          <a:p>
            <a:pPr>
              <a:spcAft>
                <a:spcPts val="1000"/>
              </a:spcAft>
              <a:defRPr sz="2000">
                <a:solidFill>
                  <a:srgbClr val="F5F7FA"/>
                </a:solidFill>
                <a:latin typeface="Aptos"/>
              </a:defRPr>
            </a:pPr>
            <a:r>
              <a:t>- Weeks 6-7: MVCC, vacuum, autovacuum, wraparound, inspection lab, Sentry case study</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database</a:t>
            </a:r>
          </a:p>
          <a:p>
            <a:pPr>
              <a:spcAft>
                <a:spcPts val="600"/>
              </a:spcAft>
              <a:defRPr sz="1800">
                <a:solidFill>
                  <a:srgbClr val="F5F7FA"/>
                </a:solidFill>
                <a:latin typeface="Aptos"/>
              </a:defRPr>
            </a:pPr>
            <a:r>
              <a:t>schema</a:t>
            </a:r>
          </a:p>
          <a:p>
            <a:pPr>
              <a:spcAft>
                <a:spcPts val="600"/>
              </a:spcAft>
              <a:defRPr sz="1800">
                <a:solidFill>
                  <a:srgbClr val="F5F7FA"/>
                </a:solidFill>
                <a:latin typeface="Aptos"/>
              </a:defRPr>
            </a:pPr>
            <a:r>
              <a:t>migration</a:t>
            </a:r>
          </a:p>
          <a:p>
            <a:pPr>
              <a:spcAft>
                <a:spcPts val="600"/>
              </a:spcAft>
              <a:defRPr sz="1800">
                <a:solidFill>
                  <a:srgbClr val="F5F7FA"/>
                </a:solidFill>
                <a:latin typeface="Aptos"/>
              </a:defRPr>
            </a:pPr>
            <a:r>
              <a:t>blocking</a:t>
            </a:r>
          </a:p>
          <a:p>
            <a:pPr>
              <a:spcAft>
                <a:spcPts val="600"/>
              </a:spcAft>
              <a:defRPr sz="1800">
                <a:solidFill>
                  <a:srgbClr val="F5F7FA"/>
                </a:solidFill>
                <a:latin typeface="Aptos"/>
              </a:defRPr>
            </a:pPr>
            <a:r>
              <a:t>vacuum</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The local week folders are the source of truth for this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1</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DBMS and DBA Foundations</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A DBMS helps with consistency, concurrency, recovery, and security</a:t>
            </a:r>
          </a:p>
          <a:p>
            <a:pPr>
              <a:spcAft>
                <a:spcPts val="1000"/>
              </a:spcAft>
              <a:defRPr sz="2000">
                <a:solidFill>
                  <a:srgbClr val="F5F7FA"/>
                </a:solidFill>
                <a:latin typeface="Aptos"/>
              </a:defRPr>
            </a:pPr>
            <a:r>
              <a:t>- The DBA plans, builds, tunes, troubleshoots, secures, and monitors</a:t>
            </a:r>
          </a:p>
          <a:p>
            <a:pPr>
              <a:spcAft>
                <a:spcPts val="1000"/>
              </a:spcAft>
              <a:defRPr sz="2000">
                <a:solidFill>
                  <a:srgbClr val="F5F7FA"/>
                </a:solidFill>
                <a:latin typeface="Aptos"/>
              </a:defRPr>
            </a:pPr>
            <a:r>
              <a:t>- A database is the container you connect to</a:t>
            </a:r>
          </a:p>
          <a:p>
            <a:pPr>
              <a:spcAft>
                <a:spcPts val="1000"/>
              </a:spcAft>
              <a:defRPr sz="2000">
                <a:solidFill>
                  <a:srgbClr val="F5F7FA"/>
                </a:solidFill>
                <a:latin typeface="Aptos"/>
              </a:defRPr>
            </a:pPr>
            <a:r>
              <a:t>- A schema is the namespace inside that database</a:t>
            </a:r>
          </a:p>
          <a:p>
            <a:pPr>
              <a:spcAft>
                <a:spcPts val="1000"/>
              </a:spcAft>
              <a:defRPr sz="2000">
                <a:solidFill>
                  <a:srgbClr val="F5F7FA"/>
                </a:solidFill>
                <a:latin typeface="Aptos"/>
              </a:defRPr>
            </a:pPr>
            <a:r>
              <a:t>- In a three-tier system: client, app server, database server</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DBMS</a:t>
            </a:r>
          </a:p>
          <a:p>
            <a:pPr>
              <a:spcAft>
                <a:spcPts val="600"/>
              </a:spcAft>
              <a:defRPr sz="1800">
                <a:solidFill>
                  <a:srgbClr val="F5F7FA"/>
                </a:solidFill>
                <a:latin typeface="Aptos"/>
              </a:defRPr>
            </a:pPr>
            <a:r>
              <a:t>DBA</a:t>
            </a:r>
          </a:p>
          <a:p>
            <a:pPr>
              <a:spcAft>
                <a:spcPts val="600"/>
              </a:spcAft>
              <a:defRPr sz="1800">
                <a:solidFill>
                  <a:srgbClr val="F5F7FA"/>
                </a:solidFill>
                <a:latin typeface="Aptos"/>
              </a:defRPr>
            </a:pPr>
            <a:r>
              <a:t>database</a:t>
            </a:r>
          </a:p>
          <a:p>
            <a:pPr>
              <a:spcAft>
                <a:spcPts val="600"/>
              </a:spcAft>
              <a:defRPr sz="1800">
                <a:solidFill>
                  <a:srgbClr val="F5F7FA"/>
                </a:solidFill>
                <a:latin typeface="Aptos"/>
              </a:defRPr>
            </a:pPr>
            <a:r>
              <a:t>schema</a:t>
            </a:r>
          </a:p>
          <a:p>
            <a:pPr>
              <a:spcAft>
                <a:spcPts val="600"/>
              </a:spcAft>
              <a:defRPr sz="1800">
                <a:solidFill>
                  <a:srgbClr val="F5F7FA"/>
                </a:solidFill>
                <a:latin typeface="Aptos"/>
              </a:defRPr>
            </a:pPr>
            <a:r>
              <a:t>app server</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Weeks 1 and 3 both stress responsibility, not just syntax.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Weeks 1-2</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Relational Model and SQL Basics</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Relation means table, tuple means row, attribute means column</a:t>
            </a:r>
          </a:p>
          <a:p>
            <a:pPr>
              <a:spcAft>
                <a:spcPts val="1000"/>
              </a:spcAft>
              <a:defRPr sz="2000">
                <a:solidFill>
                  <a:srgbClr val="F5F7FA"/>
                </a:solidFill>
                <a:latin typeface="Aptos"/>
              </a:defRPr>
            </a:pPr>
            <a:r>
              <a:t>- Domains define what values are allowed in a column</a:t>
            </a:r>
          </a:p>
          <a:p>
            <a:pPr>
              <a:spcAft>
                <a:spcPts val="1000"/>
              </a:spcAft>
              <a:defRPr sz="2000">
                <a:solidFill>
                  <a:srgbClr val="F5F7FA"/>
                </a:solidFill>
                <a:latin typeface="Aptos"/>
              </a:defRPr>
            </a:pPr>
            <a:r>
              <a:t>- Primary keys identify rows; foreign keys connect tables</a:t>
            </a:r>
          </a:p>
          <a:p>
            <a:pPr>
              <a:spcAft>
                <a:spcPts val="1000"/>
              </a:spcAft>
              <a:defRPr sz="2000">
                <a:solidFill>
                  <a:srgbClr val="F5F7FA"/>
                </a:solidFill>
                <a:latin typeface="Aptos"/>
              </a:defRPr>
            </a:pPr>
            <a:r>
              <a:t>- Core SQL verbs and clauses: SELECT, WHERE, JOIN, GROUP BY</a:t>
            </a:r>
          </a:p>
          <a:p>
            <a:pPr>
              <a:spcAft>
                <a:spcPts val="1000"/>
              </a:spcAft>
              <a:defRPr sz="2000">
                <a:solidFill>
                  <a:srgbClr val="F5F7FA"/>
                </a:solidFill>
                <a:latin typeface="Aptos"/>
              </a:defRPr>
            </a:pPr>
            <a:r>
              <a:t>- The class practice dataset uses members, facilities, and bookings</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relation</a:t>
            </a:r>
          </a:p>
          <a:p>
            <a:pPr>
              <a:spcAft>
                <a:spcPts val="600"/>
              </a:spcAft>
              <a:defRPr sz="1800">
                <a:solidFill>
                  <a:srgbClr val="F5F7FA"/>
                </a:solidFill>
                <a:latin typeface="Aptos"/>
              </a:defRPr>
            </a:pPr>
            <a:r>
              <a:t>primary key</a:t>
            </a:r>
          </a:p>
          <a:p>
            <a:pPr>
              <a:spcAft>
                <a:spcPts val="600"/>
              </a:spcAft>
              <a:defRPr sz="1800">
                <a:solidFill>
                  <a:srgbClr val="F5F7FA"/>
                </a:solidFill>
                <a:latin typeface="Aptos"/>
              </a:defRPr>
            </a:pPr>
            <a:r>
              <a:t>foreign key</a:t>
            </a:r>
          </a:p>
          <a:p>
            <a:pPr>
              <a:spcAft>
                <a:spcPts val="600"/>
              </a:spcAft>
              <a:defRPr sz="1800">
                <a:solidFill>
                  <a:srgbClr val="F5F7FA"/>
                </a:solidFill>
                <a:latin typeface="Aptos"/>
              </a:defRPr>
            </a:pPr>
            <a:r>
              <a:t>JOIN</a:t>
            </a:r>
          </a:p>
          <a:p>
            <a:pPr>
              <a:spcAft>
                <a:spcPts val="600"/>
              </a:spcAft>
              <a:defRPr sz="1800">
                <a:solidFill>
                  <a:srgbClr val="F5F7FA"/>
                </a:solidFill>
                <a:latin typeface="Aptos"/>
              </a:defRPr>
            </a:pPr>
            <a:r>
              <a:t>GROUP BY</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The pgExercises dataset gave us repeated examples for joins and summaries.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2</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From Local Postgres to Supabase</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Docker gave us repeatable local Postgres environments</a:t>
            </a:r>
          </a:p>
          <a:p>
            <a:pPr>
              <a:spcAft>
                <a:spcPts val="1000"/>
              </a:spcAft>
              <a:defRPr sz="2000">
                <a:solidFill>
                  <a:srgbClr val="F5F7FA"/>
                </a:solidFill>
                <a:latin typeface="Aptos"/>
              </a:defRPr>
            </a:pPr>
            <a:r>
              <a:t>- Image, container, volume, and network are the key Docker words</a:t>
            </a:r>
          </a:p>
          <a:p>
            <a:pPr>
              <a:spcAft>
                <a:spcPts val="1000"/>
              </a:spcAft>
              <a:defRPr sz="2000">
                <a:solidFill>
                  <a:srgbClr val="F5F7FA"/>
                </a:solidFill>
                <a:latin typeface="Aptos"/>
              </a:defRPr>
            </a:pPr>
            <a:r>
              <a:t>- We connected with both psql and pgAdmin</a:t>
            </a:r>
          </a:p>
          <a:p>
            <a:pPr>
              <a:spcAft>
                <a:spcPts val="1000"/>
              </a:spcAft>
              <a:defRPr sz="2000">
                <a:solidFill>
                  <a:srgbClr val="F5F7FA"/>
                </a:solidFill>
                <a:latin typeface="Aptos"/>
              </a:defRPr>
            </a:pPr>
            <a:r>
              <a:t>- Database and schema are not the same thing</a:t>
            </a:r>
          </a:p>
          <a:p>
            <a:pPr>
              <a:spcAft>
                <a:spcPts val="1000"/>
              </a:spcAft>
              <a:defRPr sz="2000">
                <a:solidFill>
                  <a:srgbClr val="F5F7FA"/>
                </a:solidFill>
                <a:latin typeface="Aptos"/>
              </a:defRPr>
            </a:pPr>
            <a:r>
              <a:t>- Supabase is still PostgreSQL, but with managed infrastructure</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Docker</a:t>
            </a:r>
          </a:p>
          <a:p>
            <a:pPr>
              <a:spcAft>
                <a:spcPts val="600"/>
              </a:spcAft>
              <a:defRPr sz="1800">
                <a:solidFill>
                  <a:srgbClr val="F5F7FA"/>
                </a:solidFill>
                <a:latin typeface="Aptos"/>
              </a:defRPr>
            </a:pPr>
            <a:r>
              <a:t>container</a:t>
            </a:r>
          </a:p>
          <a:p>
            <a:pPr>
              <a:spcAft>
                <a:spcPts val="600"/>
              </a:spcAft>
              <a:defRPr sz="1800">
                <a:solidFill>
                  <a:srgbClr val="F5F7FA"/>
                </a:solidFill>
                <a:latin typeface="Aptos"/>
              </a:defRPr>
            </a:pPr>
            <a:r>
              <a:t>volume</a:t>
            </a:r>
          </a:p>
          <a:p>
            <a:pPr>
              <a:spcAft>
                <a:spcPts val="600"/>
              </a:spcAft>
              <a:defRPr sz="1800">
                <a:solidFill>
                  <a:srgbClr val="F5F7FA"/>
                </a:solidFill>
                <a:latin typeface="Aptos"/>
              </a:defRPr>
            </a:pPr>
            <a:r>
              <a:t>pgAdmin</a:t>
            </a:r>
          </a:p>
          <a:p>
            <a:pPr>
              <a:spcAft>
                <a:spcPts val="600"/>
              </a:spcAft>
              <a:defRPr sz="1800">
                <a:solidFill>
                  <a:srgbClr val="F5F7FA"/>
                </a:solidFill>
                <a:latin typeface="Aptos"/>
              </a:defRPr>
            </a:pPr>
            <a:r>
              <a:t>Supabase</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Local tools changed, but PostgreSQL language and logic stayed the same.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3</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Supabase Operations and Shared Responsibility</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Managed Postgres does not remove responsibility for correctness</a:t>
            </a:r>
          </a:p>
          <a:p>
            <a:pPr>
              <a:spcAft>
                <a:spcPts val="1000"/>
              </a:spcAft>
              <a:defRPr sz="2000">
                <a:solidFill>
                  <a:srgbClr val="F5F7FA"/>
                </a:solidFill>
                <a:latin typeface="Aptos"/>
              </a:defRPr>
            </a:pPr>
            <a:r>
              <a:t>- Use logs, reports, backups, settings, Auth, and RLS intentionally</a:t>
            </a:r>
          </a:p>
          <a:p>
            <a:pPr>
              <a:spcAft>
                <a:spcPts val="1000"/>
              </a:spcAft>
              <a:defRPr sz="2000">
                <a:solidFill>
                  <a:srgbClr val="F5F7FA"/>
                </a:solidFill>
                <a:latin typeface="Aptos"/>
              </a:defRPr>
            </a:pPr>
            <a:r>
              <a:t>- Plan, migrate, verify, observe, and recover for every change</a:t>
            </a:r>
          </a:p>
          <a:p>
            <a:pPr>
              <a:spcAft>
                <a:spcPts val="1000"/>
              </a:spcAft>
              <a:defRPr sz="2000">
                <a:solidFill>
                  <a:srgbClr val="F5F7FA"/>
                </a:solidFill>
                <a:latin typeface="Aptos"/>
              </a:defRPr>
            </a:pPr>
            <a:r>
              <a:t>- Think restore-first, not just backup-first</a:t>
            </a:r>
          </a:p>
          <a:p>
            <a:pPr>
              <a:spcAft>
                <a:spcPts val="1000"/>
              </a:spcAft>
              <a:defRPr sz="2000">
                <a:solidFill>
                  <a:srgbClr val="F5F7FA"/>
                </a:solidFill>
                <a:latin typeface="Aptos"/>
              </a:defRPr>
            </a:pPr>
            <a:r>
              <a:t>- Use least privilege for roles, grants, and exposed access paths</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shared responsibility</a:t>
            </a:r>
          </a:p>
          <a:p>
            <a:pPr>
              <a:spcAft>
                <a:spcPts val="600"/>
              </a:spcAft>
              <a:defRPr sz="1800">
                <a:solidFill>
                  <a:srgbClr val="F5F7FA"/>
                </a:solidFill>
                <a:latin typeface="Aptos"/>
              </a:defRPr>
            </a:pPr>
            <a:r>
              <a:t>migration-first</a:t>
            </a:r>
          </a:p>
          <a:p>
            <a:pPr>
              <a:spcAft>
                <a:spcPts val="600"/>
              </a:spcAft>
              <a:defRPr sz="1800">
                <a:solidFill>
                  <a:srgbClr val="F5F7FA"/>
                </a:solidFill>
                <a:latin typeface="Aptos"/>
              </a:defRPr>
            </a:pPr>
            <a:r>
              <a:t>PITR</a:t>
            </a:r>
          </a:p>
          <a:p>
            <a:pPr>
              <a:spcAft>
                <a:spcPts val="600"/>
              </a:spcAft>
              <a:defRPr sz="1800">
                <a:solidFill>
                  <a:srgbClr val="F5F7FA"/>
                </a:solidFill>
                <a:latin typeface="Aptos"/>
              </a:defRPr>
            </a:pPr>
            <a:r>
              <a:t>least privilege</a:t>
            </a:r>
          </a:p>
          <a:p>
            <a:pPr>
              <a:spcAft>
                <a:spcPts val="600"/>
              </a:spcAft>
              <a:defRPr sz="1800">
                <a:solidFill>
                  <a:srgbClr val="F5F7FA"/>
                </a:solidFill>
                <a:latin typeface="Aptos"/>
              </a:defRPr>
            </a:pPr>
            <a:r>
              <a:t>RLS</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Week 3 moved us from user mindset to operator mindset.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4</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Schema Management as Policy</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A view is a saved query that acts like a virtual table</a:t>
            </a:r>
          </a:p>
          <a:p>
            <a:pPr>
              <a:spcAft>
                <a:spcPts val="1000"/>
              </a:spcAft>
              <a:defRPr sz="2000">
                <a:solidFill>
                  <a:srgbClr val="F5F7FA"/>
                </a:solidFill>
                <a:latin typeface="Aptos"/>
              </a:defRPr>
            </a:pPr>
            <a:r>
              <a:t>- A materialized view stores results and must be refreshed</a:t>
            </a:r>
          </a:p>
          <a:p>
            <a:pPr>
              <a:spcAft>
                <a:spcPts val="1000"/>
              </a:spcAft>
              <a:defRPr sz="2000">
                <a:solidFill>
                  <a:srgbClr val="F5F7FA"/>
                </a:solidFill>
                <a:latin typeface="Aptos"/>
              </a:defRPr>
            </a:pPr>
            <a:r>
              <a:t>- IDENTITY is the modern auto-generated ID pattern</a:t>
            </a:r>
          </a:p>
          <a:p>
            <a:pPr>
              <a:spcAft>
                <a:spcPts val="1000"/>
              </a:spcAft>
              <a:defRPr sz="2000">
                <a:solidFill>
                  <a:srgbClr val="F5F7FA"/>
                </a:solidFill>
                <a:latin typeface="Aptos"/>
              </a:defRPr>
            </a:pPr>
            <a:r>
              <a:t>- Constraints are data integrity contracts, not decorations</a:t>
            </a:r>
          </a:p>
          <a:p>
            <a:pPr>
              <a:spcAft>
                <a:spcPts val="1000"/>
              </a:spcAft>
              <a:defRPr sz="2000">
                <a:solidFill>
                  <a:srgbClr val="F5F7FA"/>
                </a:solidFill>
                <a:latin typeface="Aptos"/>
              </a:defRPr>
            </a:pPr>
            <a:r>
              <a:t>- Use information_schema and pg_catalog to inspect live reality</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view</a:t>
            </a:r>
          </a:p>
          <a:p>
            <a:pPr>
              <a:spcAft>
                <a:spcPts val="600"/>
              </a:spcAft>
              <a:defRPr sz="1800">
                <a:solidFill>
                  <a:srgbClr val="F5F7FA"/>
                </a:solidFill>
                <a:latin typeface="Aptos"/>
              </a:defRPr>
            </a:pPr>
            <a:r>
              <a:t>materialized view</a:t>
            </a:r>
          </a:p>
          <a:p>
            <a:pPr>
              <a:spcAft>
                <a:spcPts val="600"/>
              </a:spcAft>
              <a:defRPr sz="1800">
                <a:solidFill>
                  <a:srgbClr val="F5F7FA"/>
                </a:solidFill>
                <a:latin typeface="Aptos"/>
              </a:defRPr>
            </a:pPr>
            <a:r>
              <a:t>IDENTITY</a:t>
            </a:r>
          </a:p>
          <a:p>
            <a:pPr>
              <a:spcAft>
                <a:spcPts val="600"/>
              </a:spcAft>
              <a:defRPr sz="1800">
                <a:solidFill>
                  <a:srgbClr val="F5F7FA"/>
                </a:solidFill>
                <a:latin typeface="Aptos"/>
              </a:defRPr>
            </a:pPr>
            <a:r>
              <a:t>CHECK</a:t>
            </a:r>
          </a:p>
          <a:p>
            <a:pPr>
              <a:spcAft>
                <a:spcPts val="600"/>
              </a:spcAft>
              <a:defRPr sz="1800">
                <a:solidFill>
                  <a:srgbClr val="F5F7FA"/>
                </a:solidFill>
                <a:latin typeface="Aptos"/>
              </a:defRPr>
            </a:pPr>
            <a:r>
              <a:t>information_schema</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Week 4 treated structure as something the database actively enforces.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5</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Transactions and Isolation</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Autocommit treats each statement as its own transaction</a:t>
            </a:r>
          </a:p>
          <a:p>
            <a:pPr>
              <a:spcAft>
                <a:spcPts val="1000"/>
              </a:spcAft>
              <a:defRPr sz="2000">
                <a:solidFill>
                  <a:srgbClr val="F5F7FA"/>
                </a:solidFill>
                <a:latin typeface="Aptos"/>
              </a:defRPr>
            </a:pPr>
            <a:r>
              <a:t>- Explicit transactions group multiple steps into one correctness unit</a:t>
            </a:r>
          </a:p>
          <a:p>
            <a:pPr>
              <a:spcAft>
                <a:spcPts val="1000"/>
              </a:spcAft>
              <a:defRPr sz="2000">
                <a:solidFill>
                  <a:srgbClr val="F5F7FA"/>
                </a:solidFill>
                <a:latin typeface="Aptos"/>
              </a:defRPr>
            </a:pPr>
            <a:r>
              <a:t>- COMMIT saves work; ROLLBACK undoes uncommitted work</a:t>
            </a:r>
          </a:p>
          <a:p>
            <a:pPr>
              <a:spcAft>
                <a:spcPts val="1000"/>
              </a:spcAft>
              <a:defRPr sz="2000">
                <a:solidFill>
                  <a:srgbClr val="F5F7FA"/>
                </a:solidFill>
                <a:latin typeface="Aptos"/>
              </a:defRPr>
            </a:pPr>
            <a:r>
              <a:t>- READ COMMITTED is the default isolation level in PostgreSQL</a:t>
            </a:r>
          </a:p>
          <a:p>
            <a:pPr>
              <a:spcAft>
                <a:spcPts val="1000"/>
              </a:spcAft>
              <a:defRPr sz="2000">
                <a:solidFill>
                  <a:srgbClr val="F5F7FA"/>
                </a:solidFill>
                <a:latin typeface="Aptos"/>
              </a:defRPr>
            </a:pPr>
            <a:r>
              <a:t>- Keep transactions short, especially in pooled environments</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BEGIN</a:t>
            </a:r>
          </a:p>
          <a:p>
            <a:pPr>
              <a:spcAft>
                <a:spcPts val="600"/>
              </a:spcAft>
              <a:defRPr sz="1800">
                <a:solidFill>
                  <a:srgbClr val="F5F7FA"/>
                </a:solidFill>
                <a:latin typeface="Aptos"/>
              </a:defRPr>
            </a:pPr>
            <a:r>
              <a:t>COMMIT</a:t>
            </a:r>
          </a:p>
          <a:p>
            <a:pPr>
              <a:spcAft>
                <a:spcPts val="600"/>
              </a:spcAft>
              <a:defRPr sz="1800">
                <a:solidFill>
                  <a:srgbClr val="F5F7FA"/>
                </a:solidFill>
                <a:latin typeface="Aptos"/>
              </a:defRPr>
            </a:pPr>
            <a:r>
              <a:t>ROLLBACK</a:t>
            </a:r>
          </a:p>
          <a:p>
            <a:pPr>
              <a:spcAft>
                <a:spcPts val="600"/>
              </a:spcAft>
              <a:defRPr sz="1800">
                <a:solidFill>
                  <a:srgbClr val="F5F7FA"/>
                </a:solidFill>
                <a:latin typeface="Aptos"/>
              </a:defRPr>
            </a:pPr>
            <a:r>
              <a:t>READ COMMITTED</a:t>
            </a:r>
          </a:p>
          <a:p>
            <a:pPr>
              <a:spcAft>
                <a:spcPts val="600"/>
              </a:spcAft>
              <a:defRPr sz="1800">
                <a:solidFill>
                  <a:srgbClr val="F5F7FA"/>
                </a:solidFill>
                <a:latin typeface="Aptos"/>
              </a:defRPr>
            </a:pPr>
            <a:r>
              <a:t>SERIALIZABLE</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Week 5 added time and overlapping work to the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5</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Blocking, Deadlocks, and Diagnostics</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Locks are normal when conflicting writes touch the same rows</a:t>
            </a:r>
          </a:p>
          <a:p>
            <a:pPr>
              <a:spcAft>
                <a:spcPts val="1000"/>
              </a:spcAft>
              <a:defRPr sz="2000">
                <a:solidFill>
                  <a:srgbClr val="F5F7FA"/>
                </a:solidFill>
                <a:latin typeface="Aptos"/>
              </a:defRPr>
            </a:pPr>
            <a:r>
              <a:t>- Blocking means one transaction is waiting on another</a:t>
            </a:r>
          </a:p>
          <a:p>
            <a:pPr>
              <a:spcAft>
                <a:spcPts val="1000"/>
              </a:spcAft>
              <a:defRPr sz="2000">
                <a:solidFill>
                  <a:srgbClr val="F5F7FA"/>
                </a:solidFill>
                <a:latin typeface="Aptos"/>
              </a:defRPr>
            </a:pPr>
            <a:r>
              <a:t>- A deadlock is a cycle of waiting transactions</a:t>
            </a:r>
          </a:p>
          <a:p>
            <a:pPr>
              <a:spcAft>
                <a:spcPts val="1000"/>
              </a:spcAft>
              <a:defRPr sz="2000">
                <a:solidFill>
                  <a:srgbClr val="F5F7FA"/>
                </a:solidFill>
                <a:latin typeface="Aptos"/>
              </a:defRPr>
            </a:pPr>
            <a:r>
              <a:t>- Use pg_stat_activity and wait information to inspect the problem</a:t>
            </a:r>
          </a:p>
          <a:p>
            <a:pPr>
              <a:spcAft>
                <a:spcPts val="1000"/>
              </a:spcAft>
              <a:defRPr sz="2000">
                <a:solidFill>
                  <a:srgbClr val="F5F7FA"/>
                </a:solidFill>
                <a:latin typeface="Aptos"/>
              </a:defRPr>
            </a:pPr>
            <a:r>
              <a:t>- Mitigation restores service; prevention fixes the underlying pattern</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blocking</a:t>
            </a:r>
          </a:p>
          <a:p>
            <a:pPr>
              <a:spcAft>
                <a:spcPts val="600"/>
              </a:spcAft>
              <a:defRPr sz="1800">
                <a:solidFill>
                  <a:srgbClr val="F5F7FA"/>
                </a:solidFill>
                <a:latin typeface="Aptos"/>
              </a:defRPr>
            </a:pPr>
            <a:r>
              <a:t>deadlock</a:t>
            </a:r>
          </a:p>
          <a:p>
            <a:pPr>
              <a:spcAft>
                <a:spcPts val="600"/>
              </a:spcAft>
              <a:defRPr sz="1800">
                <a:solidFill>
                  <a:srgbClr val="F5F7FA"/>
                </a:solidFill>
                <a:latin typeface="Aptos"/>
              </a:defRPr>
            </a:pPr>
            <a:r>
              <a:t>pg_stat_activity</a:t>
            </a:r>
          </a:p>
          <a:p>
            <a:pPr>
              <a:spcAft>
                <a:spcPts val="600"/>
              </a:spcAft>
              <a:defRPr sz="1800">
                <a:solidFill>
                  <a:srgbClr val="F5F7FA"/>
                </a:solidFill>
                <a:latin typeface="Aptos"/>
              </a:defRPr>
            </a:pPr>
            <a:r>
              <a:t>wait_event</a:t>
            </a:r>
          </a:p>
          <a:p>
            <a:pPr>
              <a:spcAft>
                <a:spcPts val="600"/>
              </a:spcAft>
              <a:defRPr sz="1800">
                <a:solidFill>
                  <a:srgbClr val="F5F7FA"/>
                </a:solidFill>
                <a:latin typeface="Aptos"/>
              </a:defRPr>
            </a:pPr>
            <a:r>
              <a:t>incident response</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The lab focused on evidence, not guessing.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6</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MVCC, Vacuum, and Autovacuum</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MVCC lets readers and writers overlap more safely</a:t>
            </a:r>
          </a:p>
          <a:p>
            <a:pPr>
              <a:spcAft>
                <a:spcPts val="1000"/>
              </a:spcAft>
              <a:defRPr sz="2000">
                <a:solidFill>
                  <a:srgbClr val="F5F7FA"/>
                </a:solidFill>
                <a:latin typeface="Aptos"/>
              </a:defRPr>
            </a:pPr>
            <a:r>
              <a:t>- Updates create new row versions instead of overwriting in place</a:t>
            </a:r>
          </a:p>
          <a:p>
            <a:pPr>
              <a:spcAft>
                <a:spcPts val="1000"/>
              </a:spcAft>
              <a:defRPr sz="2000">
                <a:solidFill>
                  <a:srgbClr val="F5F7FA"/>
                </a:solidFill>
                <a:latin typeface="Aptos"/>
              </a:defRPr>
            </a:pPr>
            <a:r>
              <a:t>- Old row versions become dead tuples</a:t>
            </a:r>
          </a:p>
          <a:p>
            <a:pPr>
              <a:spcAft>
                <a:spcPts val="1000"/>
              </a:spcAft>
              <a:defRPr sz="2000">
                <a:solidFill>
                  <a:srgbClr val="F5F7FA"/>
                </a:solidFill>
                <a:latin typeface="Aptos"/>
              </a:defRPr>
            </a:pPr>
            <a:r>
              <a:t>- VACUUM reclaims reusable space; ANALYZE refreshes planner stats</a:t>
            </a:r>
          </a:p>
          <a:p>
            <a:pPr>
              <a:spcAft>
                <a:spcPts val="1000"/>
              </a:spcAft>
              <a:defRPr sz="2000">
                <a:solidFill>
                  <a:srgbClr val="F5F7FA"/>
                </a:solidFill>
                <a:latin typeface="Aptos"/>
              </a:defRPr>
            </a:pPr>
            <a:r>
              <a:t>- Long transactions and neglected cleanup create operational risk</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MVCC</a:t>
            </a:r>
          </a:p>
          <a:p>
            <a:pPr>
              <a:spcAft>
                <a:spcPts val="600"/>
              </a:spcAft>
              <a:defRPr sz="1800">
                <a:solidFill>
                  <a:srgbClr val="F5F7FA"/>
                </a:solidFill>
                <a:latin typeface="Aptos"/>
              </a:defRPr>
            </a:pPr>
            <a:r>
              <a:t>dead tuples</a:t>
            </a:r>
          </a:p>
          <a:p>
            <a:pPr>
              <a:spcAft>
                <a:spcPts val="600"/>
              </a:spcAft>
              <a:defRPr sz="1800">
                <a:solidFill>
                  <a:srgbClr val="F5F7FA"/>
                </a:solidFill>
                <a:latin typeface="Aptos"/>
              </a:defRPr>
            </a:pPr>
            <a:r>
              <a:t>vacuum</a:t>
            </a:r>
          </a:p>
          <a:p>
            <a:pPr>
              <a:spcAft>
                <a:spcPts val="600"/>
              </a:spcAft>
              <a:defRPr sz="1800">
                <a:solidFill>
                  <a:srgbClr val="F5F7FA"/>
                </a:solidFill>
                <a:latin typeface="Aptos"/>
              </a:defRPr>
            </a:pPr>
            <a:r>
              <a:t>autovacuum</a:t>
            </a:r>
          </a:p>
          <a:p>
            <a:pPr>
              <a:spcAft>
                <a:spcPts val="600"/>
              </a:spcAft>
              <a:defRPr sz="1800">
                <a:solidFill>
                  <a:srgbClr val="F5F7FA"/>
                </a:solidFill>
                <a:latin typeface="Aptos"/>
              </a:defRPr>
            </a:pPr>
            <a:r>
              <a:t>analyze</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Maintenance affects both performance and long-term safety.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Week 7</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Wraparound and the Sentry Incident</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Transaction IDs are finite, so PostgreSQL must prevent dangerous wraparound</a:t>
            </a:r>
          </a:p>
          <a:p>
            <a:pPr>
              <a:spcAft>
                <a:spcPts val="1000"/>
              </a:spcAft>
              <a:defRPr sz="2000">
                <a:solidFill>
                  <a:srgbClr val="F5F7FA"/>
                </a:solidFill>
                <a:latin typeface="Aptos"/>
              </a:defRPr>
            </a:pPr>
            <a:r>
              <a:t>- If wraparound risk gets too high, PostgreSQL may stop writes</a:t>
            </a:r>
          </a:p>
          <a:p>
            <a:pPr>
              <a:spcAft>
                <a:spcPts val="1000"/>
              </a:spcAft>
              <a:defRPr sz="2000">
                <a:solidFill>
                  <a:srgbClr val="F5F7FA"/>
                </a:solidFill>
                <a:latin typeface="Aptos"/>
              </a:defRPr>
            </a:pPr>
            <a:r>
              <a:t>- Mini lab: inspect xid age, dead tuples, and autovacuum metadata safely</a:t>
            </a:r>
          </a:p>
          <a:p>
            <a:pPr>
              <a:spcAft>
                <a:spcPts val="1000"/>
              </a:spcAft>
              <a:defRPr sz="2000">
                <a:solidFill>
                  <a:srgbClr val="F5F7FA"/>
                </a:solidFill>
                <a:latin typeface="Aptos"/>
              </a:defRPr>
            </a:pPr>
            <a:r>
              <a:t>- That is a correctness protection, not just a performance slowdown</a:t>
            </a:r>
          </a:p>
          <a:p>
            <a:pPr>
              <a:spcAft>
                <a:spcPts val="1000"/>
              </a:spcAft>
              <a:defRPr sz="2000">
                <a:solidFill>
                  <a:srgbClr val="F5F7FA"/>
                </a:solidFill>
                <a:latin typeface="Aptos"/>
              </a:defRPr>
            </a:pPr>
            <a:r>
              <a:t>- Sentry traded some data in one noncritical table for faster recovery</a:t>
            </a:r>
          </a:p>
          <a:p>
            <a:pPr>
              <a:spcAft>
                <a:spcPts val="1000"/>
              </a:spcAft>
              <a:defRPr sz="2000">
                <a:solidFill>
                  <a:srgbClr val="F5F7FA"/>
                </a:solidFill>
                <a:latin typeface="Aptos"/>
              </a:defRPr>
            </a:pPr>
            <a:r>
              <a:t>- Reading URL: blog.sentry.io/transaction-id-wraparound-in-postgres/</a:t>
            </a:r>
          </a:p>
          <a:p>
            <a:pPr>
              <a:spcAft>
                <a:spcPts val="1000"/>
              </a:spcAft>
              <a:defRPr sz="2000">
                <a:solidFill>
                  <a:srgbClr val="F5F7FA"/>
                </a:solidFill>
                <a:latin typeface="Aptos"/>
              </a:defRPr>
            </a:pPr>
            <a:r>
              <a:t>- Prevention means monitoring, vacuum discipline, and operational readiness</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XID</a:t>
            </a:r>
          </a:p>
          <a:p>
            <a:pPr>
              <a:spcAft>
                <a:spcPts val="600"/>
              </a:spcAft>
              <a:defRPr sz="1800">
                <a:solidFill>
                  <a:srgbClr val="F5F7FA"/>
                </a:solidFill>
                <a:latin typeface="Aptos"/>
              </a:defRPr>
            </a:pPr>
            <a:r>
              <a:t>wraparound</a:t>
            </a:r>
          </a:p>
          <a:p>
            <a:pPr>
              <a:spcAft>
                <a:spcPts val="600"/>
              </a:spcAft>
              <a:defRPr sz="1800">
                <a:solidFill>
                  <a:srgbClr val="F5F7FA"/>
                </a:solidFill>
                <a:latin typeface="Aptos"/>
              </a:defRPr>
            </a:pPr>
            <a:r>
              <a:t>correctness</a:t>
            </a:r>
          </a:p>
          <a:p>
            <a:pPr>
              <a:spcAft>
                <a:spcPts val="600"/>
              </a:spcAft>
              <a:defRPr sz="1800">
                <a:solidFill>
                  <a:srgbClr val="F5F7FA"/>
                </a:solidFill>
                <a:latin typeface="Aptos"/>
              </a:defRPr>
            </a:pPr>
            <a:r>
              <a:t>availability</a:t>
            </a:r>
          </a:p>
          <a:p>
            <a:pPr>
              <a:spcAft>
                <a:spcPts val="600"/>
              </a:spcAft>
              <a:defRPr sz="1800">
                <a:solidFill>
                  <a:srgbClr val="F5F7FA"/>
                </a:solidFill>
                <a:latin typeface="Aptos"/>
              </a:defRPr>
            </a:pPr>
            <a:r>
              <a:t>TRUNCATE</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Week 7 turned maintenance into a real production 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03920" y="411480"/>
            <a:ext cx="3017520" cy="384048"/>
          </a:xfrm>
          <a:prstGeom prst="roundRect">
            <a:avLst/>
          </a:prstGeom>
          <a:solidFill>
            <a:srgbClr val="0D2242"/>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0D2242"/>
          </a:solidFill>
          <a:ln>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Game Prep</a:t>
            </a:r>
          </a:p>
        </p:txBody>
      </p:sp>
      <p:sp>
        <p:nvSpPr>
          <p:cNvPr id="5" name="TextBox 4"/>
          <p:cNvSpPr txBox="1"/>
          <p:nvPr/>
        </p:nvSpPr>
        <p:spPr>
          <a:xfrm>
            <a:off x="685800" y="841248"/>
            <a:ext cx="7589520" cy="685800"/>
          </a:xfrm>
          <a:prstGeom prst="rect">
            <a:avLst/>
          </a:prstGeom>
          <a:noFill/>
        </p:spPr>
        <p:txBody>
          <a:bodyPr wrap="square">
            <a:spAutoFit/>
          </a:bodyPr>
          <a:lstStyle/>
          <a:p>
            <a:pPr>
              <a:defRPr sz="2600" b="1">
                <a:solidFill>
                  <a:srgbClr val="F5F7FA"/>
                </a:solidFill>
                <a:latin typeface="Aptos Display"/>
              </a:defRPr>
            </a:pPr>
            <a:r>
              <a:t>What To Listen For In Jeopardy</a:t>
            </a:r>
          </a:p>
        </p:txBody>
      </p:sp>
      <p:sp>
        <p:nvSpPr>
          <p:cNvPr id="6" name="TextBox 5"/>
          <p:cNvSpPr txBox="1"/>
          <p:nvPr/>
        </p:nvSpPr>
        <p:spPr>
          <a:xfrm>
            <a:off x="777240" y="1645920"/>
            <a:ext cx="6720840" cy="4526280"/>
          </a:xfrm>
          <a:prstGeom prst="rect">
            <a:avLst/>
          </a:prstGeom>
          <a:noFill/>
        </p:spPr>
        <p:txBody>
          <a:bodyPr wrap="square">
            <a:spAutoFit/>
          </a:bodyPr>
          <a:lstStyle/>
          <a:p>
            <a:pPr>
              <a:spcAft>
                <a:spcPts val="1000"/>
              </a:spcAft>
              <a:defRPr sz="2000">
                <a:solidFill>
                  <a:srgbClr val="F5F7FA"/>
                </a:solidFill>
                <a:latin typeface="Aptos"/>
              </a:defRPr>
            </a:pPr>
            <a:r>
              <a:t>- Direct pairs: view to saved query, RLS to row access, pg_stat_activity to active sessions</a:t>
            </a:r>
          </a:p>
          <a:p>
            <a:pPr>
              <a:spcAft>
                <a:spcPts val="1000"/>
              </a:spcAft>
              <a:defRPr sz="2000">
                <a:solidFill>
                  <a:srgbClr val="F5F7FA"/>
                </a:solidFill>
                <a:latin typeface="Aptos"/>
              </a:defRPr>
            </a:pPr>
            <a:r>
              <a:t>- Remember the repeated examples: members, facilities, bookings</a:t>
            </a:r>
          </a:p>
          <a:p>
            <a:pPr>
              <a:spcAft>
                <a:spcPts val="1000"/>
              </a:spcAft>
              <a:defRPr sz="2000">
                <a:solidFill>
                  <a:srgbClr val="F5F7FA"/>
                </a:solidFill>
                <a:latin typeface="Aptos"/>
              </a:defRPr>
            </a:pPr>
            <a:r>
              <a:t>- If a clue sounds operational, ask what risk or responsibility it points to</a:t>
            </a:r>
          </a:p>
          <a:p>
            <a:pPr>
              <a:spcAft>
                <a:spcPts val="1000"/>
              </a:spcAft>
              <a:defRPr sz="2000">
                <a:solidFill>
                  <a:srgbClr val="F5F7FA"/>
                </a:solidFill>
                <a:latin typeface="Aptos"/>
              </a:defRPr>
            </a:pPr>
            <a:r>
              <a:t>- If a clue sounds about concurrency, ask what protects correctness under overlap</a:t>
            </a:r>
          </a:p>
          <a:p>
            <a:pPr>
              <a:spcAft>
                <a:spcPts val="1000"/>
              </a:spcAft>
              <a:defRPr sz="2000">
                <a:solidFill>
                  <a:srgbClr val="F5F7FA"/>
                </a:solidFill>
                <a:latin typeface="Aptos"/>
              </a:defRPr>
            </a:pPr>
            <a:r>
              <a:t>- After this review, open cst4714_weeks1_7_jeopardy.html</a:t>
            </a:r>
          </a:p>
        </p:txBody>
      </p:sp>
      <p:sp>
        <p:nvSpPr>
          <p:cNvPr id="7" name="Rounded Rectangle 6"/>
          <p:cNvSpPr/>
          <p:nvPr/>
        </p:nvSpPr>
        <p:spPr>
          <a:xfrm>
            <a:off x="8001000" y="1417320"/>
            <a:ext cx="3383280" cy="4526280"/>
          </a:xfrm>
          <a:prstGeom prst="roundRect">
            <a:avLst/>
          </a:prstGeom>
          <a:solidFill>
            <a:srgbClr val="0D2242"/>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600"/>
              </a:spcAft>
              <a:defRPr sz="1800">
                <a:solidFill>
                  <a:srgbClr val="F5F7FA"/>
                </a:solidFill>
                <a:latin typeface="Aptos"/>
              </a:defRPr>
            </a:pPr>
            <a:r>
              <a:t>DBA Foundations</a:t>
            </a:r>
          </a:p>
          <a:p>
            <a:pPr>
              <a:spcAft>
                <a:spcPts val="600"/>
              </a:spcAft>
              <a:defRPr sz="1800">
                <a:solidFill>
                  <a:srgbClr val="F5F7FA"/>
                </a:solidFill>
                <a:latin typeface="Aptos"/>
              </a:defRPr>
            </a:pPr>
            <a:r>
              <a:t>SQL + Relational</a:t>
            </a:r>
          </a:p>
          <a:p>
            <a:pPr>
              <a:spcAft>
                <a:spcPts val="600"/>
              </a:spcAft>
              <a:defRPr sz="1800">
                <a:solidFill>
                  <a:srgbClr val="F5F7FA"/>
                </a:solidFill>
                <a:latin typeface="Aptos"/>
              </a:defRPr>
            </a:pPr>
            <a:r>
              <a:t>Supabase + Ops</a:t>
            </a:r>
          </a:p>
          <a:p>
            <a:pPr>
              <a:spcAft>
                <a:spcPts val="600"/>
              </a:spcAft>
              <a:defRPr sz="1800">
                <a:solidFill>
                  <a:srgbClr val="F5F7FA"/>
                </a:solidFill>
                <a:latin typeface="Aptos"/>
              </a:defRPr>
            </a:pPr>
            <a:r>
              <a:t>Schema Management</a:t>
            </a:r>
          </a:p>
          <a:p>
            <a:pPr>
              <a:spcAft>
                <a:spcPts val="600"/>
              </a:spcAft>
              <a:defRPr sz="1800">
                <a:solidFill>
                  <a:srgbClr val="F5F7FA"/>
                </a:solidFill>
                <a:latin typeface="Aptos"/>
              </a:defRPr>
            </a:pPr>
            <a:r>
              <a:t>Transactions + Locking</a:t>
            </a:r>
          </a:p>
          <a:p>
            <a:pPr>
              <a:spcAft>
                <a:spcPts val="600"/>
              </a:spcAft>
              <a:defRPr sz="1800">
                <a:solidFill>
                  <a:srgbClr val="F5F7FA"/>
                </a:solidFill>
                <a:latin typeface="Aptos"/>
              </a:defRPr>
            </a:pPr>
            <a:r>
              <a:t>MVCC + Vacuum</a:t>
            </a:r>
          </a:p>
        </p:txBody>
      </p:sp>
      <p:sp>
        <p:nvSpPr>
          <p:cNvPr id="8" name="TextBox 7"/>
          <p:cNvSpPr txBox="1"/>
          <p:nvPr/>
        </p:nvSpPr>
        <p:spPr>
          <a:xfrm>
            <a:off x="685800" y="6419088"/>
            <a:ext cx="10789920" cy="228600"/>
          </a:xfrm>
          <a:prstGeom prst="rect">
            <a:avLst/>
          </a:prstGeom>
          <a:noFill/>
        </p:spPr>
        <p:txBody>
          <a:bodyPr wrap="square">
            <a:spAutoFit/>
          </a:bodyPr>
          <a:lstStyle/>
          <a:p>
            <a:pPr>
              <a:defRPr sz="1000">
                <a:solidFill>
                  <a:srgbClr val="C4D0E6"/>
                </a:solidFill>
                <a:latin typeface="Aptos"/>
              </a:defRPr>
            </a:pPr>
            <a:r>
              <a:t>Big theme for the whole board: correctness under change, access, and concurrency.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