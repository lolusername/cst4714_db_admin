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closing bridge after the PostgreSQL wrap-up, not as a full MongoDB lecture. The goal is to widen the students' mental model before Week 8, not to start a new syntax-heavy unit too early.</a:t>
            </a:r>
          </a:p>
          <a:p/>
          <a:p>
            <a:r>
              <a:t>Keep the contrast clean: Weeks 1 through 7 taught relational design, PostgreSQL operations, concurrency, and maintenance. The bridge asks a new question: what happens when the workload does not fit the default relational shape as neatly?</a:t>
            </a:r>
          </a:p>
          <a:p/>
          <a:p>
            <a:r>
              <a:t>Students should leave Week 7 with a map of why NoSQL became important and what the major families are. Week 8 will then spend its time on MongoDB-specific modeling and query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can misread this transition if it is rushed. Say plainly that PostgreSQL remains important and that the course is not declaring relational databases outdated.</a:t>
            </a:r>
          </a:p>
          <a:p/>
          <a:p>
            <a:r>
              <a:t>What changes is the scope of the DBA mindset. A strong administrator should be able to explain when a document model, graph model, or key-value model better fits the problem at hand. That is what makes this bridge useful.</a:t>
            </a:r>
          </a:p>
          <a:p/>
          <a:p>
            <a:r>
              <a:t>If you want a one-line summary for students, use this: 'We are not leaving databases behind; we are learning that databases come in multiple shapes for multiple workloads.'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over-teach the timeline here. The purpose is to correct the simplified story that everything was relational until one vendor invented something modern.</a:t>
            </a:r>
          </a:p>
          <a:p/>
          <a:p>
            <a:r>
              <a:t>The better story is that relational systems solved major problems elegantly, but later internet-scale workloads reopened older questions under new conditions such as distribution, replication, and flexible application-shaped records.</a:t>
            </a:r>
          </a:p>
          <a:p/>
          <a:p>
            <a:r>
              <a:t>You only need enough history for students to understand cause and effect. The detailed MongoDB content belongs in Week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give students a compact territory map. Keep one workload image attached to each family so the terms do not stay abstract.</a:t>
            </a:r>
          </a:p>
          <a:p/>
          <a:p>
            <a:r>
              <a:t>Key-value is 'return by key fast.' Document is 'store an application-shaped record.' Column-family is 'high-volume wide or time-windowed data.' Graph is 'follow relationships efficiently.'</a:t>
            </a:r>
          </a:p>
          <a:p/>
          <a:p>
            <a:r>
              <a:t>At this point, tell students that Week 8 will focus on the document family because MongoDB is a practical and teachable next step from the course's existing database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at teaser level. The point is to give students one concrete image of a document so Week 8 does not begin from zero.</a:t>
            </a:r>
          </a:p>
          <a:p/>
          <a:p>
            <a:r>
              <a:t>Say clearly that a document database is not an excuse to stop modeling. The reason MongoDB is useful is that some workloads naturally read and write a whole aggregate together. That is the modeling question Week 8 will answer in more detail.</a:t>
            </a:r>
          </a:p>
          <a:p/>
          <a:p>
            <a:r>
              <a:t>Connect back to the DBA role. Even in a flexible document system, you still have to think about validation, indexing, recovery, and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the bridge by making students anticipate the next class. If they can already name a relational-shaped workload and a document-shaped workload, they are ready for Week 8.</a:t>
            </a:r>
          </a:p>
          <a:p/>
          <a:p>
            <a:r>
              <a:t>You do not need to resolve every modeling question here. The goal is to create curiosity and enough vocabulary that the next lecture can move faster without feeling abrupt.</a:t>
            </a:r>
          </a:p>
          <a:p/>
          <a:p>
            <a:r>
              <a:t>If you assign the review packet after Week 7, tell students they only need to attempt the history and classification pieces before Week 8. The MongoDB-specific sections can wait until after the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66928"/>
            <a:ext cx="2011680" cy="402336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BE0D6"/>
                </a:solidFill>
                <a:latin typeface="Aptos"/>
              </a:defRPr>
            </a:pPr>
            <a:r>
              <a:t>Week 7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9875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From PostgreSQL to NoSQL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8961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7D2E5"/>
                </a:solidFill>
                <a:latin typeface="Aptos"/>
              </a:defRPr>
            </a:pPr>
            <a:r>
              <a:t>Use the last part of Week 7 to explain why NoSQL re-emerged, what the main NoSQL families are, and why Week 8 will narrow to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3493008"/>
            <a:ext cx="3063240" cy="1792224"/>
          </a:xfrm>
          <a:prstGeom prst="roundRect">
            <a:avLst/>
          </a:prstGeom>
          <a:solidFill>
            <a:srgbClr val="15375F"/>
          </a:solidFill>
          <a:ln w="1778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Bridge goals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Explain the historical shift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Classify the major NoSQL families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Set up MongoDB as next week's document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This short deck is the transition from the relational unit into the MongoDB unit.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Transition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Why End Week 7 With a NoSQL Bridge?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We just finished a strong relational and PostgreSQL foundation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Modern DBAs rarely work with only one data model in production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Some workloads stress joins, rigid schemas, or single-node scaling assumptions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The point is not to replace SQL, but to understand where another model fits better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Week 8 will take the document-database branch of this story through MongoDB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relational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polyglot persistence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workload fit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document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DBA mindset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This is a bridge slide: the course is expanding scope, not abandoning PostgreSQL.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Frame the transition as broader database literacy rather than a product switch.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How NoSQL Re-Emerged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Early databases included hierarchical and network models before relational systems dominated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The relational model won because SQL and declarative querying made data easier to reason about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Large web applications later stressed object-table mismatch, scaling limits, and rapid schema change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Systems like Bigtable and Dynamo made distributed storage patterns central again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The NoSQL movement gathered tools focused on scale, fault tolerance, and flexible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hierarchical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relational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Dynamo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Bigtable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NoSQL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NoSQL is not brand new. It is an old set of ideas made urgent by newer workloads.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History helps students see NoSQL as a response to workload pressure rather than hype.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The Main NoSQL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Key-value: best when you already know the key and need extremely fast retrieval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Document: best when the application works with nested object-like records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Column-family: best for very large sparse or time-windowed write-heavy workloads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Graph: best when relationships and traversals are the query itself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Choose by query shape, consistency needs, and operational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key-value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document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column-family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graph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query shape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Ask 'What does the workload ask for?' before asking 'Which product should I use?'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By the end of this slide, students should be able to classify a workload into a family.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46304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Where MongoDB Fits in That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1605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MongoDB is the document-database example in this unit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It stores BSON documents that can nest arrays and subdocuments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It is useful when related data is usually read together as one aggregate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- It still needs indexes, validation, backup/restore planning, and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572768"/>
            <a:ext cx="6126480" cy="4480560"/>
          </a:xfrm>
          <a:prstGeom prst="roundRect">
            <a:avLst/>
          </a:prstGeom>
          <a:solidFill>
            <a:srgbClr val="15375F"/>
          </a:solidFill>
          <a:ln w="1524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7BE0D6"/>
                </a:solidFill>
                <a:latin typeface="Aptos"/>
              </a:defRPr>
            </a:pPr>
            <a:r>
              <a:t>Teaser document</a:t>
            </a:r>
          </a:p>
          <a:p>
            <a:pPr>
              <a:defRPr sz="1300">
                <a:solidFill>
                  <a:srgbClr val="F5F7FA"/>
                </a:solidFill>
                <a:latin typeface="Courier New"/>
              </a:defRPr>
            </a:pPr>
            <a:r>
              <a:t>{</a:t>
            </a:r>
            <a:br/>
            <a:r>
              <a:t>  customerId: 42,</a:t>
            </a:r>
            <a:br/>
            <a:r>
              <a:t>  status: "shipped",</a:t>
            </a:r>
            <a:br/>
            <a:r>
              <a:t>  shippingCity: "Tampa",</a:t>
            </a:r>
            <a:br/>
            <a:r>
              <a:t>  lineItems: [</a:t>
            </a:r>
            <a:br/>
            <a:r>
              <a:t>    { sku: "SSD-1TB", qty: 1, price: 89.99 },</a:t>
            </a:r>
            <a:br/>
            <a:r>
              <a:t>    { sku: "USB-C-HUB", qty: 2, price: 24.50 }</a:t>
            </a:r>
            <a:br/>
            <a:r>
              <a:t>  ]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Week 8 will start from this document shape and compare it against a relational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B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384048"/>
            <a:ext cx="3154680" cy="420624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1480"/>
            <a:ext cx="1600200" cy="347472"/>
          </a:xfrm>
          <a:prstGeom prst="roundRect">
            <a:avLst/>
          </a:prstGeom>
          <a:solidFill>
            <a:srgbClr val="112D4E"/>
          </a:solidFill>
          <a:ln w="12700">
            <a:solidFill>
              <a:srgbClr val="7B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E0D6"/>
                </a:solidFill>
                <a:latin typeface="Aptos"/>
              </a:defRPr>
            </a:pPr>
            <a:r>
              <a:t>Next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4124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Aptos Display"/>
              </a:defRPr>
            </a:pPr>
            <a:r>
              <a:t>What Week 8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6720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Relational thinking versus document thinking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Embed versus reference decisions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MongoDB CRUD and aggregation basics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MongoDB trade-offs, anti-patterns, and DBA responsibilities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- A short review packet that spans the bridge and the MongoDB lecture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444752"/>
            <a:ext cx="3310128" cy="4480560"/>
          </a:xfrm>
          <a:prstGeom prst="roundRect">
            <a:avLst/>
          </a:prstGeom>
          <a:solidFill>
            <a:srgbClr val="15375F"/>
          </a:solidFill>
          <a:ln w="16510">
            <a:solidFill>
              <a:srgbClr val="F7B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7BF56"/>
                </a:solidFill>
                <a:latin typeface="Aptos"/>
              </a:defRPr>
            </a:pPr>
            <a:r>
              <a:t>Key terms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modeling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embed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reference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aggregation</a:t>
            </a:r>
          </a:p>
          <a:p>
            <a:pPr>
              <a:spcAft>
                <a:spcPts val="5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5742432"/>
            <a:ext cx="10533888" cy="420624"/>
          </a:xfrm>
          <a:prstGeom prst="roundRect">
            <a:avLst/>
          </a:prstGeom>
          <a:solidFill>
            <a:srgbClr val="112D4E"/>
          </a:solidFill>
          <a:ln w="15240">
            <a:solidFill>
              <a:srgbClr val="FFCC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Exit prompt: name one workload that feels more relational and one that feels more document-shaped.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35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7D2E5"/>
                </a:solidFill>
                <a:latin typeface="Aptos"/>
              </a:defRPr>
            </a:pPr>
            <a:r>
              <a:t>Use the final minute to make students predict fit, not just copy definitions.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