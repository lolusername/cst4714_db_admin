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66760" y="384048"/>
            <a:ext cx="3154680" cy="420624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66928"/>
            <a:ext cx="2011680" cy="402336"/>
          </a:xfrm>
          <a:prstGeom prst="roundRect">
            <a:avLst/>
          </a:prstGeom>
          <a:solidFill>
            <a:srgbClr val="112D4E"/>
          </a:solidFill>
          <a:ln w="1524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7BE0D6"/>
                </a:solidFill>
                <a:latin typeface="Aptos"/>
              </a:defRPr>
            </a:pPr>
            <a:r>
              <a:t>Week 7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70432"/>
            <a:ext cx="9875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ptos Display"/>
              </a:defRPr>
            </a:pPr>
            <a:r>
              <a:t>From PostgreSQL to NoSQL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89611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7D2E5"/>
                </a:solidFill>
                <a:latin typeface="Aptos"/>
              </a:defRPr>
            </a:pPr>
            <a:r>
              <a:t>Use the last part of Week 7 to explain why NoSQL re-emerged, what the main NoSQL families are, and why Week 8 will narrow to MongoDB.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493008"/>
            <a:ext cx="3063240" cy="1792224"/>
          </a:xfrm>
          <a:prstGeom prst="roundRect">
            <a:avLst/>
          </a:prstGeom>
          <a:solidFill>
            <a:srgbClr val="15375F"/>
          </a:solidFill>
          <a:ln w="17780">
            <a:solidFill>
              <a:srgbClr val="F7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F56"/>
                </a:solidFill>
                <a:latin typeface="Aptos"/>
              </a:defRPr>
            </a:pPr>
            <a:r>
              <a:t>Bridge goals</a:t>
            </a:r>
          </a:p>
          <a:p>
            <a:pPr>
              <a:spcAft>
                <a:spcPts val="4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Explain the historical shift</a:t>
            </a:r>
          </a:p>
          <a:p>
            <a:pPr>
              <a:spcAft>
                <a:spcPts val="4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Classify the major NoSQL families</a:t>
            </a:r>
          </a:p>
          <a:p>
            <a:pPr>
              <a:spcAft>
                <a:spcPts val="400"/>
              </a:spcAft>
              <a:defRPr sz="1500">
                <a:solidFill>
                  <a:srgbClr val="F5F7FA"/>
                </a:solidFill>
                <a:latin typeface="Aptos"/>
              </a:defRPr>
            </a:pPr>
            <a:r>
              <a:t>Set up MongoDB as next week's document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35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7D2E5"/>
                </a:solidFill>
                <a:latin typeface="Aptos"/>
              </a:defRPr>
            </a:pPr>
            <a:r>
              <a:t>This short deck is the transition from the relational unit into the MongoDB unit.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66760" y="384048"/>
            <a:ext cx="3154680" cy="420624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1600200" cy="347472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7BE0D6"/>
                </a:solidFill>
                <a:latin typeface="Aptos"/>
              </a:defRPr>
            </a:pPr>
            <a:r>
              <a:t>Transition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7FA"/>
                </a:solidFill>
                <a:latin typeface="Aptos Display"/>
              </a:defRPr>
            </a:pPr>
            <a:r>
              <a:t>Why End Week 7 With a NoSQL Bridge?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6720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We just finished a strong relational and PostgreSQL foundation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Modern DBAs rarely work with only one data model in production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Some workloads stress joins, rigid schemas, or single-node scaling assumptions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The point is not to replace SQL, but to understand where another model fits better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Week 8 will take the document-database branch of this story through MongoDB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444752"/>
            <a:ext cx="3310128" cy="4480560"/>
          </a:xfrm>
          <a:prstGeom prst="roundRect">
            <a:avLst/>
          </a:prstGeom>
          <a:solidFill>
            <a:srgbClr val="15375F"/>
          </a:solidFill>
          <a:ln w="16510">
            <a:solidFill>
              <a:srgbClr val="F7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F56"/>
                </a:solidFill>
                <a:latin typeface="Aptos"/>
              </a:defRPr>
            </a:pPr>
            <a:r>
              <a:t>Key terms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relational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polyglot persistence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workload fit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document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DBA mindset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5742432"/>
            <a:ext cx="10533888" cy="420624"/>
          </a:xfrm>
          <a:prstGeom prst="roundRect">
            <a:avLst/>
          </a:prstGeom>
          <a:solidFill>
            <a:srgbClr val="112D4E"/>
          </a:solidFill>
          <a:ln w="15240">
            <a:solidFill>
              <a:srgbClr val="FF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7FA"/>
                </a:solidFill>
                <a:latin typeface="Aptos"/>
              </a:defRPr>
            </a:pPr>
            <a:r>
              <a:t>This is a bridge slide: the course is expanding scope, not abandoning PostgreSQL.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35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7D2E5"/>
                </a:solidFill>
                <a:latin typeface="Aptos"/>
              </a:defRPr>
            </a:pPr>
            <a:r>
              <a:t>Frame the transition as broader database literacy rather than a product switch.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66760" y="384048"/>
            <a:ext cx="3154680" cy="420624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1600200" cy="347472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7BE0D6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7FA"/>
                </a:solidFill>
                <a:latin typeface="Aptos Display"/>
              </a:defRPr>
            </a:pPr>
            <a:r>
              <a:t>How NoSQL Re-Emerged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6720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Early databases included hierarchical and network models before relational systems dominated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The relational model won because SQL and declarative querying made data easier to reason about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Large web applications later stressed object-table mismatch, scaling limits, and rapid schema change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Systems like Bigtable and Dynamo made distributed storage patterns central again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The NoSQL movement gathered tools focused on scale, fault tolerance, and flexible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444752"/>
            <a:ext cx="3310128" cy="4480560"/>
          </a:xfrm>
          <a:prstGeom prst="roundRect">
            <a:avLst/>
          </a:prstGeom>
          <a:solidFill>
            <a:srgbClr val="15375F"/>
          </a:solidFill>
          <a:ln w="16510">
            <a:solidFill>
              <a:srgbClr val="F7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F56"/>
                </a:solidFill>
                <a:latin typeface="Aptos"/>
              </a:defRPr>
            </a:pPr>
            <a:r>
              <a:t>Key terms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hierarchical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relational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Dynamo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Bigtable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NoSQL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5742432"/>
            <a:ext cx="10533888" cy="420624"/>
          </a:xfrm>
          <a:prstGeom prst="roundRect">
            <a:avLst/>
          </a:prstGeom>
          <a:solidFill>
            <a:srgbClr val="112D4E"/>
          </a:solidFill>
          <a:ln w="15240">
            <a:solidFill>
              <a:srgbClr val="FF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7FA"/>
                </a:solidFill>
                <a:latin typeface="Aptos"/>
              </a:defRPr>
            </a:pPr>
            <a:r>
              <a:t>NoSQL is not brand new. It is an old set of ideas made urgent by newer workloads.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35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7D2E5"/>
                </a:solidFill>
                <a:latin typeface="Aptos"/>
              </a:defRPr>
            </a:pPr>
            <a:r>
              <a:t>History helps students see NoSQL as a response to workload pressure rather than hype.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66760" y="384048"/>
            <a:ext cx="3154680" cy="420624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1600200" cy="347472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7BE0D6"/>
                </a:solidFill>
                <a:latin typeface="Aptos"/>
              </a:defRPr>
            </a:pPr>
            <a:r>
              <a:t>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7FA"/>
                </a:solidFill>
                <a:latin typeface="Aptos Display"/>
              </a:defRPr>
            </a:pPr>
            <a:r>
              <a:t>The Main NoSQL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6720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Key-value: best when you already know the key and need extremely fast retrieval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Document: best when the application works with nested object-like records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Column-family: best for very large sparse or time-windowed write-heavy workloads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Graph: best when relationships and traversals are the query itself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Choose by query shape, consistency needs, and operational constraints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444752"/>
            <a:ext cx="3310128" cy="4480560"/>
          </a:xfrm>
          <a:prstGeom prst="roundRect">
            <a:avLst/>
          </a:prstGeom>
          <a:solidFill>
            <a:srgbClr val="15375F"/>
          </a:solidFill>
          <a:ln w="16510">
            <a:solidFill>
              <a:srgbClr val="F7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F56"/>
                </a:solidFill>
                <a:latin typeface="Aptos"/>
              </a:defRPr>
            </a:pPr>
            <a:r>
              <a:t>Key terms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key-value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document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column-family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graph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query shape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5742432"/>
            <a:ext cx="10533888" cy="420624"/>
          </a:xfrm>
          <a:prstGeom prst="roundRect">
            <a:avLst/>
          </a:prstGeom>
          <a:solidFill>
            <a:srgbClr val="112D4E"/>
          </a:solidFill>
          <a:ln w="15240">
            <a:solidFill>
              <a:srgbClr val="FF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7FA"/>
                </a:solidFill>
                <a:latin typeface="Aptos"/>
              </a:defRPr>
            </a:pPr>
            <a:r>
              <a:t>Ask 'What does the workload ask for?' before asking 'Which product should I use?'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35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7D2E5"/>
                </a:solidFill>
                <a:latin typeface="Aptos"/>
              </a:defRPr>
            </a:pPr>
            <a:r>
              <a:t>By the end of this slide, students should be able to classify a workload into a family.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66760" y="384048"/>
            <a:ext cx="3154680" cy="420624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1463040" cy="347472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7BE0D6"/>
                </a:solidFill>
                <a:latin typeface="Aptos"/>
              </a:defRPr>
            </a:pPr>
            <a:r>
              <a:t>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7FA"/>
                </a:solidFill>
                <a:latin typeface="Aptos Display"/>
              </a:defRPr>
            </a:pPr>
            <a:r>
              <a:t>Where MongoDB Fits in That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160520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- MongoDB is the document-database example in this unit</a:t>
            </a:r>
          </a:p>
          <a:p>
            <a:pPr>
              <a:spcAft>
                <a:spcPts val="8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- It stores BSON documents that can nest arrays and subdocuments</a:t>
            </a:r>
          </a:p>
          <a:p>
            <a:pPr>
              <a:spcAft>
                <a:spcPts val="8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- It is useful when related data is usually read together as one aggregate</a:t>
            </a:r>
          </a:p>
          <a:p>
            <a:pPr>
              <a:spcAft>
                <a:spcPts val="8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- It still needs indexes, validation, backup/restore planning, and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8928" y="1572768"/>
            <a:ext cx="6126480" cy="4480560"/>
          </a:xfrm>
          <a:prstGeom prst="roundRect">
            <a:avLst/>
          </a:prstGeom>
          <a:solidFill>
            <a:srgbClr val="15375F"/>
          </a:solidFill>
          <a:ln w="1524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7BE0D6"/>
                </a:solidFill>
                <a:latin typeface="Aptos"/>
              </a:defRPr>
            </a:pPr>
            <a:r>
              <a:t>Teaser document</a:t>
            </a:r>
          </a:p>
          <a:p>
            <a:pPr>
              <a:defRPr sz="1300">
                <a:solidFill>
                  <a:srgbClr val="F5F7FA"/>
                </a:solidFill>
                <a:latin typeface="Courier New"/>
              </a:defRPr>
            </a:pPr>
            <a:r>
              <a:t>{</a:t>
            </a:r>
            <a:br/>
            <a:r>
              <a:t>  customerId: 42,</a:t>
            </a:r>
            <a:br/>
            <a:r>
              <a:t>  status: "shipped",</a:t>
            </a:r>
            <a:br/>
            <a:r>
              <a:t>  shippingCity: "Tampa",</a:t>
            </a:r>
            <a:br/>
            <a:r>
              <a:t>  lineItems: [</a:t>
            </a:r>
            <a:br/>
            <a:r>
              <a:t>    { sku: "SSD-1TB", qty: 1, price: 89.99 },</a:t>
            </a:r>
            <a:br/>
            <a:r>
              <a:t>    { sku: "USB-C-HUB", qty: 2, price: 24.50 }</a:t>
            </a:r>
            <a:br/>
            <a:r>
              <a:t>  ]</a:t>
            </a:r>
            <a:br/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35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7D2E5"/>
                </a:solidFill>
                <a:latin typeface="Aptos"/>
              </a:defRPr>
            </a:pPr>
            <a:r>
              <a:t>Week 8 will start from this document shape and compare it against a relational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66760" y="384048"/>
            <a:ext cx="3154680" cy="420624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11480"/>
            <a:ext cx="1600200" cy="347472"/>
          </a:xfrm>
          <a:prstGeom prst="roundRect">
            <a:avLst/>
          </a:prstGeom>
          <a:solidFill>
            <a:srgbClr val="112D4E"/>
          </a:solidFill>
          <a:ln w="12700">
            <a:solidFill>
              <a:srgbClr val="7B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7BE0D6"/>
                </a:solidFill>
                <a:latin typeface="Aptos"/>
              </a:defRPr>
            </a:pPr>
            <a:r>
              <a:t>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7FA"/>
                </a:solidFill>
                <a:latin typeface="Aptos Display"/>
              </a:defRPr>
            </a:pPr>
            <a:r>
              <a:t>What Week 8 Will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6720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Relational thinking versus document thinking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Embed versus reference decisions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MongoDB CRUD and aggregation basics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MongoDB trade-offs, anti-patterns, and DBA responsibilities</a:t>
            </a:r>
          </a:p>
          <a:p>
            <a:pPr>
              <a:spcAft>
                <a:spcPts val="8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- A short review packet that spans the bridge and the MongoDB lecture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444752"/>
            <a:ext cx="3310128" cy="4480560"/>
          </a:xfrm>
          <a:prstGeom prst="roundRect">
            <a:avLst/>
          </a:prstGeom>
          <a:solidFill>
            <a:srgbClr val="15375F"/>
          </a:solidFill>
          <a:ln w="16510">
            <a:solidFill>
              <a:srgbClr val="F7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F56"/>
                </a:solidFill>
                <a:latin typeface="Aptos"/>
              </a:defRPr>
            </a:pPr>
            <a:r>
              <a:t>Key terms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modeling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embed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reference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aggregation</a:t>
            </a:r>
          </a:p>
          <a:p>
            <a:pPr>
              <a:spcAft>
                <a:spcPts val="500"/>
              </a:spcAft>
              <a:defRPr sz="1800">
                <a:solidFill>
                  <a:srgbClr val="F5F7FA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5742432"/>
            <a:ext cx="10533888" cy="420624"/>
          </a:xfrm>
          <a:prstGeom prst="roundRect">
            <a:avLst/>
          </a:prstGeom>
          <a:solidFill>
            <a:srgbClr val="112D4E"/>
          </a:solidFill>
          <a:ln w="15240">
            <a:solidFill>
              <a:srgbClr val="FF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7FA"/>
                </a:solidFill>
                <a:latin typeface="Aptos"/>
              </a:defRPr>
            </a:pPr>
            <a:r>
              <a:t>Exit prompt: name one workload that feels more relational and one that feels more document-shaped.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35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7D2E5"/>
                </a:solidFill>
                <a:latin typeface="Aptos"/>
              </a:defRPr>
            </a:pPr>
            <a:r>
              <a:t>Use the final minute to make students predict fit, not just copy definitions.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