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6d21805236a4d8e" Type="http://schemas.openxmlformats.org/package/2006/relationships/metadata/core-properties" Target="docProps/core.xml"/><Relationship Id="R1e3c3a33391e496c" Type="http://schemas.openxmlformats.org/officeDocument/2006/relationships/officeDocument" Target="ppt/presentation.xml"/><Relationship Id="R5cc61b7d7e44411d"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af52bdb417754a08"/>
  </p:sldMasterIdLst>
  <p:notesMasterIdLst>
    <p:notesMasterId xmlns:r="http://schemas.openxmlformats.org/officeDocument/2006/relationships" r:id="R197cd5e590a14753"/>
  </p:notesMasterIdLst>
  <p:sldIdLst>
    <p:sldId xmlns:r="http://schemas.openxmlformats.org/officeDocument/2006/relationships" id="256" r:id="R986edfde9bb24786"/>
    <p:sldId xmlns:r="http://schemas.openxmlformats.org/officeDocument/2006/relationships" id="276" r:id="R21fbf81860bc4bd2"/>
    <p:sldId xmlns:r="http://schemas.openxmlformats.org/officeDocument/2006/relationships" id="277" r:id="R4672597ccf074963"/>
    <p:sldId xmlns:r="http://schemas.openxmlformats.org/officeDocument/2006/relationships" id="278" r:id="Ra2ffb5de1f5a410b"/>
    <p:sldId xmlns:r="http://schemas.openxmlformats.org/officeDocument/2006/relationships" id="279" r:id="R5b11ffd16006434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97cd5e590a14753" Type="http://schemas.openxmlformats.org/officeDocument/2006/relationships/notesMaster" Target="notesMasters/notesMaster1.xml"/><Relationship Id="R21fbf81860bc4bd2" Type="http://schemas.openxmlformats.org/officeDocument/2006/relationships/slide" Target="slides/slide2.xml"/><Relationship Id="R4672597ccf074963" Type="http://schemas.openxmlformats.org/officeDocument/2006/relationships/slide" Target="slides/slide3.xml"/><Relationship Id="R5b11ffd16006434c" Type="http://schemas.openxmlformats.org/officeDocument/2006/relationships/slide" Target="slides/slide5.xml"/><Relationship Id="R97551a67fc7a44c0" Type="http://schemas.openxmlformats.org/officeDocument/2006/relationships/theme" Target="theme/theme1.xml"/><Relationship Id="R986edfde9bb24786" Type="http://schemas.openxmlformats.org/officeDocument/2006/relationships/slide" Target="slides/slide1.xml"/><Relationship Id="Ra2ffb5de1f5a410b" Type="http://schemas.openxmlformats.org/officeDocument/2006/relationships/slide" Target="slides/slide4.xml"/><Relationship Id="Raf52bdb417754a08" Type="http://schemas.openxmlformats.org/officeDocument/2006/relationships/slideMaster" Target="slideMasters/slideMaster1.xml"/><Relationship Id="Rb61da2037346490f" Type="http://schemas.openxmlformats.org/officeDocument/2006/relationships/presProps" Target="presProps.xml"/><Relationship Id="Rb639e56767c1437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3eb7cbe82b03432e"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c0ed00bbbf11444c" Type="http://schemas.openxmlformats.org/officeDocument/2006/relationships/notesMaster" Target="../notesMasters/notesMaster1.xml"/><Relationship Id="Rea313517f6134bc7"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5f24a73804a040b1" Type="http://schemas.openxmlformats.org/officeDocument/2006/relationships/notesMaster" Target="../notesMasters/notesMaster1.xml"/><Relationship Id="Rec719c436a274b20"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6c0eae96b8d64427" Type="http://schemas.openxmlformats.org/officeDocument/2006/relationships/notesMaster" Target="../notesMasters/notesMaster1.xml"/><Relationship Id="R71fa300d01774496"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088d9d0685e74819" Type="http://schemas.openxmlformats.org/officeDocument/2006/relationships/notesMaster" Target="../notesMasters/notesMaster1.xml"/><Relationship Id="R9d1906d032474b4d"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84141b357ae74ade" Type="http://schemas.openxmlformats.org/officeDocument/2006/relationships/notesMaster" Target="../notesMasters/notesMaster1.xml"/><Relationship Id="Ra2da1d783a764910" Type="http://schemas.openxmlformats.org/officeDocument/2006/relationships/slide" Target="../slides/slide5.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Today is the midterm explanation and preliminary research lab. Spend 45 minutes walking through the actual project handout, SQL starter, README template, and rubric. Then give students 50 minutes for the research notebook and five minutes to download and submit it. The larger index demonstration is optional reference for another time.</ns0:t>
            </ns0:r>
          </ns0:p>
          <ns1:p xmlns:ns1="http://schemas.openxmlformats.org/drawingml/2006/main">
            <ns1:r>
              <ns1:t/>
            </ns1:r>
          </ns1:p>
          <ns2:p xmlns:ns2="http://schemas.openxmlformats.org/drawingml/2006/main">
            <ns2:r>
              <ns2:t>The notebook uses supplied CSV data and Python. It does not require Supabase or execute PostgreSQL transactions or query plans. Its writing prepares students to run and explain their midterm work later.</ns2:t>
            </ns2:r>
          </ns2: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Walk through all five project parts while the assignment is open. The existing rubric gives 25 points for schema and integrity, 25 for transactions and blocking, 20 for one improvement, 15 for recovery, and 15 for documentation. The midterm is individual and worth 30 percent of the course grade.</ns0:t>
            </ns0:r>
          </ns0:p>
          <ns1:p xmlns:ns1="http://schemas.openxmlformats.org/drawingml/2006/main">
            <ns1:r>
              <ns1:t/>
            </ns1:r>
          </ns1:p>
          <ns2:p xmlns:ns2="http://schemas.openxmlformats.org/drawingml/2006/main">
            <ns2:r>
              <ns2:t>Students may use the supplied setup and their own Week 5 observations. They add their requester join and commit example, record actual results, and explain one improvement. Recovery is taught in Week 8. An additional executed midterm restore is optional. Use the full assignment for requirements and Brightspace for the deadline.</ns2:t>
            </ns2:r>
          </ns2: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Open the actual starter. Its three tables contain eight users, twelve tickets, and twenty-one events. It resets midterm_metro and dependent objects, so it belongs in a personal practice database. Today's notebook does not run that reset; it embeds the starter CSVs for inspection.</ns0:t>
            </ns0:r>
          </ns0:p>
          <ns1:p xmlns:ns1="http://schemas.openxmlformats.org/drawingml/2006/main">
            <ns1:r>
              <ns1:t/>
            </ns1:r>
          </ns1:p>
          <ns2:p xmlns:ns2="http://schemas.openxmlformats.org/drawingml/2006/main">
            <ns2:r>
              <ns2:t>Show the provided rollback on ticket 1004, the commit TODO, and the index comparison. Show where each result will go in the final README. Explain that the index may not change the plan on twelve rows. Students must report what their PostgreSQL test actually does.</ns2:t>
            </ns2:r>
          </ns2:p>
          <ns3:p xmlns:ns3="http://schemas.openxmlformats.org/drawingml/2006/main">
            <ns3:r>
              <ns3:t/>
            </ns3:r>
          </ns3:p>
          <ns4:p xmlns:ns4="http://schemas.openxmlformats.org/drawingml/2006/main">
            <ns4:r>
              <ns4:t>Spend time on questions and examples of acceptable evidence. You do not need to perform the whole midterm live.</ns4:t>
            </ns4:r>
          </ns4: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Today's lab has one submission: Lastname_Week07_Research.ipynb with code outputs, the observation table, and 180 to 250 words across three response cells. Students inspect data, read two short official documentation excerpts, and propose one PostgreSQL test. They can reuse the writing in their final README after testing their predictions.</ns0:t>
            </ns0:r>
          </ns0:p>
          <ns1:p xmlns:ns1="http://schemas.openxmlformats.org/drawingml/2006/main">
            <ns1:r>
              <ns1:t/>
            </ns1:r>
          </ns1:p>
          <ns2:p xmlns:ns2="http://schemas.openxmlformats.org/drawingml/2006/main">
            <ns2:r>
              <ns2:t>The final midterm remains midterm.sql and README.md in one ZIP. Today's notebook is classwork and does not replace those files. Students download their notebook with File &gt; Download &gt; Download .ipynb. There is no separate writing document or Colab sharing-link submission.</ns2:t>
            </ns2:r>
          </ns2: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Use 0 to 10 minutes for the case and files, 10 to 30 for the five project parts, 30 to 40 for the rubric and evidence examples, and 40 to 45 for questions and opening Colab. The lab then gives ten minutes to data, ten to reading, twenty-five to writing, and five to review. Save and submit in the last five minutes.</ns0:t>
            </ns0:r>
          </ns0:p>
          <ns1:p xmlns:ns1="http://schemas.openxmlformats.org/drawingml/2006/main">
            <ns1:r>
              <ns1:t/>
            </ns1:r>
          </ns1:p>
          <ns2:p xmlns:ns2="http://schemas.openxmlformats.org/drawingml/2006/main">
            <ns2:r>
              <ns2:t>The notebook includes the data and ready-to-run code. Students change the status from open to new and record the ordered IDs. Their writing connects two data observations with the sources and a planned test. A prediction must be labeled as such. PostgreSQL testing and the recovery plan follow in the project.</ns2:t>
            </ns2:r>
          </ns2:p>
          <ns3:p xmlns:ns3="http://schemas.openxmlformats.org/drawingml/2006/main">
            <ns3:r>
              <ns3:t/>
            </ns3:r>
          </ns3:p>
          <ns4:p xmlns:ns4="http://schemas.openxmlformats.org/drawingml/2006/main">
            <ns4:r>
              <ns4:t>Sources for the lab: https://www.postgresql.org/docs/15/indexes-intro.html and https://www.postgresql.org/docs/15/indexes-ordering.html. Original instructional content by Atilio Barreda, CC BY-NC-SA 4.0; original code MIT; synthetic data CC0.</ns4:t>
            </ns4:r>
          </ns4: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3a857311e8b146fe"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5aeb1c548614452d" Type="http://schemas.openxmlformats.org/officeDocument/2006/relationships/theme" Target="theme/theme2.xml"/><Relationship Id="Rc5868ca63d674c9f"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5868ca63d674c9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7c957244d2f40b3" Type="http://schemas.openxmlformats.org/officeDocument/2006/relationships/slideLayout" Target="../slideLayouts/slideLayout1.xml"/><Relationship Id="R2c741e9332f54c0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52b414c9dea24fde" Type="http://schemas.openxmlformats.org/officeDocument/2006/relationships/notesSlide" Target="../notesSlides/notesSlide2.xml"/><Relationship Id="Rc515150b1b8d453c"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2d0e523b638540da" Type="http://schemas.openxmlformats.org/officeDocument/2006/relationships/notesSlide" Target="../notesSlides/notesSlide3.xml"/><Relationship Id="Rb20dd4c18231457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94b3ad7a87394ad9" Type="http://schemas.openxmlformats.org/officeDocument/2006/relationships/slideLayout" Target="../slideLayouts/slideLayout1.xml"/><Relationship Id="Ra54cffefb3084a4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71bc84bb914f4d8c" Type="http://schemas.openxmlformats.org/officeDocument/2006/relationships/slideLayout" Target="../slideLayouts/slideLayout1.xml"/><Relationship Id="R85912887b87f4498" Type="http://schemas.openxmlformats.org/officeDocument/2006/relationships/notesSlide" Target="../notesSlides/notesSlide5.xml"/></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19F69C0-3F7E-47E7-8497-DCA0BFB1385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07  /  CST4714</a:t>
            </a:r>
          </a:p>
        </p:txBody>
      </p:sp>
      <p:sp>
        <p:nvSpPr>
          <p:cNvPr id="2" name="slide-title">
            <a:extLst xmlns:a="http://schemas.openxmlformats.org/drawingml/2006/main">
              <a:ext uri="{FF2B5EF4-FFF2-40B4-BE49-F238E27FC236}">
                <a16:creationId xmlns:a16="http://schemas.microsoft.com/office/drawing/2014/main" id="{8FDE1085-A669-4D05-8044-9C8E99223AD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ns0:defRPr sz="2775" b="1">
                <ns0:solidFill>
                  <ns0:srgbClr val="111827"/>
                </ns0:solidFill>
                <ns0:latin typeface="Helvetica Neue"/>
                <ns0:ea typeface="Helvetica Neue"/>
                <ns0:cs typeface="Helvetica Neue"/>
              </ns0:defRPr>
            </ns0:pPr>
            <ns0:r>
              <ns0:rPr sz="2775" b="1">
                <ns0:solidFill>
                  <ns0:srgbClr val="111827"/>
                </ns0:solidFill>
                <ns0:latin typeface="Helvetica Neue"/>
                <ns0:ea typeface="Helvetica Neue"/>
                <ns0:cs typeface="Helvetica Neue"/>
              </ns0:rPr>
              <ns0:t>The Midterm and Preliminary Research</ns0:t>
            </ns0:r>
          </ns0:p>
        </p:txBody>
      </p:sp>
      <p:sp>
        <p:nvSpPr>
          <p:cNvPr id="3" name="">
            <a:extLst xmlns:a="http://schemas.openxmlformats.org/drawingml/2006/main">
              <a:ext uri="{FF2B5EF4-FFF2-40B4-BE49-F238E27FC236}">
                <a16:creationId xmlns:a16="http://schemas.microsoft.com/office/drawing/2014/main" id="{C53F58CF-B459-4945-85CE-BD1C4F48BA3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CA314A7-CBAB-4FCC-B017-A6EAE2EE8C5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opening">
            <a:extLst xmlns:a="http://schemas.openxmlformats.org/drawingml/2006/main">
              <a:ext uri="{FF2B5EF4-FFF2-40B4-BE49-F238E27FC236}">
                <a16:creationId xmlns:a16="http://schemas.microsoft.com/office/drawing/2014/main" id="{811459E4-B024-4577-AB38-86B43B98500D}"/>
              </a:ext>
            </a:extLst>
          </p:cNvPr>
          <p:cNvSpPr>
            <a:spLocks xmlns:a="http://schemas.openxmlformats.org/drawingml/2006/main" noGrp="1"/>
          </p:cNvSpPr>
          <p:nvPr/>
        </p:nvSpPr>
        <p:spPr>
          <a:xfrm xmlns:a="http://schemas.openxmlformats.org/drawingml/2006/main">
            <a:off x="723900" y="2105025"/>
            <a:ext cx="106680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ns1:defRPr sz="3225" b="0">
                <ns1:solidFill>
                  <ns1:srgbClr val="111827"/>
                </ns1:solidFill>
                <ns1:latin typeface="Georgia"/>
                <ns1:ea typeface="Georgia"/>
                <ns1:cs typeface="Georgia"/>
              </ns1:defRPr>
            </ns1:pPr>
            <ns1:r>
              <ns1:rPr sz="3225" b="0">
                <ns1:solidFill>
                  <ns1:srgbClr val="111827"/>
                </ns1:solidFill>
                <ns1:latin typeface="Georgia"/>
                <ns1:ea typeface="Georgia"/>
                <ns1:cs typeface="Georgia"/>
              </ns1:rPr>
              <ns1:t>Understand the project.</ns1:t>
            </ns1:r>
          </ns1:p>
          <ns2:p xmlns:ns2="http://schemas.openxmlformats.org/drawingml/2006/main">
            <ns2:pPr>
              <ns2:defRPr sz="3225" b="0">
                <ns2:solidFill>
                  <ns2:srgbClr val="111827"/>
                </ns2:solidFill>
                <ns2:latin typeface="Georgia"/>
                <ns2:ea typeface="Georgia"/>
                <ns2:cs typeface="Georgia"/>
              </ns2:defRPr>
            </ns2:pPr>
            <ns2:r>
              <ns2:rPr sz="3225" b="0">
                <ns2:solidFill>
                  <ns2:srgbClr val="111827"/>
                </ns2:solidFill>
                <ns2:latin typeface="Georgia"/>
                <ns2:ea typeface="Georgia"/>
                <ns2:cs typeface="Georgia"/>
              </ns2:rPr>
              <ns2:t>Explore its data and plan your test.</ns2:t>
            </ns2:r>
          </ns2:p>
        </p:txBody>
      </p:sp>
      <p:sp>
        <p:nvSpPr>
          <p:cNvPr id="6" name="week-arc">
            <a:extLst xmlns:a="http://schemas.openxmlformats.org/drawingml/2006/main">
              <a:ext uri="{FF2B5EF4-FFF2-40B4-BE49-F238E27FC236}">
                <a16:creationId xmlns:a16="http://schemas.microsoft.com/office/drawing/2014/main" id="{A0E59C25-98CD-4595-A98B-95D14BB0EFC3}"/>
              </a:ext>
            </a:extLst>
          </p:cNvPr>
          <p:cNvSpPr>
            <a:spLocks xmlns:a="http://schemas.openxmlformats.org/drawingml/2006/main" noGrp="1"/>
          </p:cNvSpPr>
          <p:nvPr/>
        </p:nvSpPr>
        <p:spPr>
          <a:xfrm xmlns:a="http://schemas.openxmlformats.org/drawingml/2006/main">
            <a:off x="723900" y="483870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3:p xmlns:ns3="http://schemas.openxmlformats.org/drawingml/2006/main">
            <ns3:pPr>
              <ns3:defRPr sz="2325" b="0">
                <ns3:solidFill>
                  <ns3:srgbClr val="475569"/>
                </ns3:solidFill>
                <ns3:latin typeface="Helvetica Neue"/>
                <ns3:ea typeface="Helvetica Neue"/>
                <ns3:cs typeface="Helvetica Neue"/>
              </ns3:defRPr>
            </ns3:pPr>
            <ns3:r>
              <ns3:rPr sz="2325" b="0">
                <ns3:solidFill>
                  <ns3:srgbClr val="475569"/>
                </ns3:solidFill>
                <ns3:latin typeface="Helvetica Neue"/>
                <ns3:ea typeface="Helvetica Neue"/>
                <ns3:cs typeface="Helvetica Neue"/>
              </ns3:rPr>
              <ns3:t>45 minutes: project explanation and questions.</ns3:t>
            </ns3:r>
          </ns3:p>
          <ns4:p xmlns:ns4="http://schemas.openxmlformats.org/drawingml/2006/main">
            <ns4:pPr>
              <ns4:defRPr sz="2325" b="0">
                <ns4:solidFill>
                  <ns4:srgbClr val="475569"/>
                </ns4:solidFill>
                <ns4:latin typeface="Helvetica Neue"/>
                <ns4:ea typeface="Helvetica Neue"/>
                <ns4:cs typeface="Helvetica Neue"/>
              </ns4:defRPr>
            </ns4:pPr>
            <ns4:r>
              <ns4:rPr sz="2325" b="0">
                <ns4:solidFill>
                  <ns4:srgbClr val="475569"/>
                </ns4:solidFill>
                <ns4:latin typeface="Helvetica Neue"/>
                <ns4:ea typeface="Helvetica Neue"/>
                <ns4:cs typeface="Helvetica Neue"/>
              </ns4:rPr>
              <ns4:t>50 minutes: Colab research and writing.</ns4:t>
            </ns4:r>
          </ns4:p>
          <ns5:p xmlns:ns5="http://schemas.openxmlformats.org/drawingml/2006/main">
            <ns5:pPr>
              <ns5:defRPr sz="2325" b="0">
                <ns5:solidFill>
                  <ns5:srgbClr val="475569"/>
                </ns5:solidFill>
                <ns5:latin typeface="Helvetica Neue"/>
                <ns5:ea typeface="Helvetica Neue"/>
                <ns5:cs typeface="Helvetica Neue"/>
              </ns5:defRPr>
            </ns5:pPr>
            <ns5:r>
              <ns5:rPr sz="2325" b="0">
                <ns5:solidFill>
                  <ns5:srgbClr val="475569"/>
                </ns5:solidFill>
                <ns5:latin typeface="Helvetica Neue"/>
                <ns5:ea typeface="Helvetica Neue"/>
                <ns5:cs typeface="Helvetica Neue"/>
              </ns5:rPr>
              <ns5:t>5 minutes: save and submit.</ns5:t>
            </ns5:r>
          </ns5:p>
        </p:txBody>
      </p:sp>
    </p:spTree>
    <p:extLst>
      <p:ext uri="{BB962C8B-B14F-4D97-AF65-F5344CB8AC3E}">
        <p14:creationId xmlns:p14="http://schemas.microsoft.com/office/powerpoint/2010/main" val="87310585"/>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3D54E1B2-861F-4468-BD2E-39A03E2400B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07  /  CST4714</a:t>
            </a:r>
          </a:p>
        </p:txBody>
      </p:sp>
      <p:sp>
        <p:nvSpPr>
          <p:cNvPr id="2" name="slide-title">
            <a:extLst xmlns:a="http://schemas.openxmlformats.org/drawingml/2006/main">
              <a:ext uri="{FF2B5EF4-FFF2-40B4-BE49-F238E27FC236}">
                <a16:creationId xmlns:a16="http://schemas.microsoft.com/office/drawing/2014/main" id="{71A5D43F-EECA-47BA-AF59-D42CB73257D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ns0:defRPr sz="2775" b="1">
                <ns0:solidFill>
                  <ns0:srgbClr val="111827"/>
                </ns0:solidFill>
                <ns0:latin typeface="Helvetica Neue"/>
                <ns0:ea typeface="Helvetica Neue"/>
                <ns0:cs typeface="Helvetica Neue"/>
              </ns0:defRPr>
            </ns0:pPr>
            <ns0:r>
              <ns0:rPr sz="2775" b="1">
                <ns0:solidFill>
                  <ns0:srgbClr val="111827"/>
                </ns0:solidFill>
                <ns0:latin typeface="Helvetica Neue"/>
                <ns0:ea typeface="Helvetica Neue"/>
                <ns0:cs typeface="Helvetica Neue"/>
              </ns0:rPr>
              <ns0:t>The midterm project</ns0:t>
            </ns0:r>
          </ns0:p>
        </p:txBody>
      </p:sp>
      <p:sp>
        <p:nvSpPr>
          <p:cNvPr id="3" name="">
            <a:extLst xmlns:a="http://schemas.openxmlformats.org/drawingml/2006/main">
              <a:ext uri="{FF2B5EF4-FFF2-40B4-BE49-F238E27FC236}">
                <a16:creationId xmlns:a16="http://schemas.microsoft.com/office/drawing/2014/main" id="{C6681D9F-2030-4F0E-BFF6-ACB2DA6B8FA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E853028-AC90-4A32-A3B2-691CAC12A83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ns0:defRPr sz="900" b="0">
                <ns0:solidFill>
                  <ns0:srgbClr val="64748B"/>
                </ns0:solidFill>
                <ns0:latin typeface="Helvetica Neue"/>
                <ns0:ea typeface="Helvetica Neue"/>
                <ns0:cs typeface="Helvetica Neue"/>
              </ns0:defRPr>
            </ns0:pPr>
            <ns0:r>
              <ns0:rPr sz="900" b="0">
                <ns0:solidFill>
                  <ns0:srgbClr val="64748B"/>
                </ns0:solidFill>
                <ns0:latin typeface="Helvetica Neue"/>
                <ns0:ea typeface="Helvetica Neue"/>
                <ns0:cs typeface="Helvetica Neue"/>
              </ns0:rPr>
              <ns0:t>02</ns0:t>
            </ns0:r>
          </ns0:p>
        </p:txBody>
      </p:sp>
      <p:sp>
        <p:nvSpPr>
          <p:cNvPr id="5" name="controls">
            <a:extLst xmlns:a="http://schemas.openxmlformats.org/drawingml/2006/main">
              <a:ext uri="{FF2B5EF4-FFF2-40B4-BE49-F238E27FC236}">
                <a16:creationId xmlns:a16="http://schemas.microsoft.com/office/drawing/2014/main" id="{7962F72B-FC8B-4160-87BD-8EED4D945274}"/>
              </a:ext>
            </a:extLst>
          </p:cNvPr>
          <p:cNvSpPr>
            <a:spLocks xmlns:a="http://schemas.openxmlformats.org/drawingml/2006/main" noGrp="1"/>
          </p:cNvSpPr>
          <p:nvPr/>
        </p:nvSpPr>
        <p:spPr>
          <a:xfrm xmlns:a="http://schemas.openxmlformats.org/drawingml/2006/main">
            <a:off x="723900" y="2019300"/>
            <a:ext cx="10668000" cy="2609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ns1:defRPr sz="2325" b="0">
                <ns1:solidFill>
                  <ns1:srgbClr val="111827"/>
                </ns1:solidFill>
                <ns1:latin typeface="Helvetica Neue"/>
                <ns1:ea typeface="Helvetica Neue"/>
                <ns1:cs typeface="Helvetica Neue"/>
              </ns1:defRPr>
            </ns1:pPr>
            <ns1:r>
              <ns1:rPr sz="2325" b="0">
                <ns1:solidFill>
                  <ns1:srgbClr val="111827"/>
                </ns1:solidFill>
                <ns1:latin typeface="Helvetica Neue"/>
                <ns1:ea typeface="Helvetica Neue"/>
                <ns1:cs typeface="Helvetica Neue"/>
              </ns1:rPr>
              <ns1:t>Check the supplied database.</ns1:t>
            </ns1:r>
          </ns1:p>
          <ns2:p xmlns:ns2="http://schemas.openxmlformats.org/drawingml/2006/main">
            <ns2:pPr>
              <ns2:defRPr sz="2325" b="0">
                <ns2:solidFill>
                  <ns2:srgbClr val="111827"/>
                </ns2:solidFill>
                <ns2:latin typeface="Helvetica Neue"/>
                <ns2:ea typeface="Helvetica Neue"/>
                <ns2:cs typeface="Helvetica Neue"/>
              </ns2:defRPr>
            </ns2:pPr>
            <ns2:r>
              <ns2:rPr sz="2325" b="0">
                <ns2:solidFill>
                  <ns2:srgbClr val="111827"/>
                </ns2:solidFill>
                <ns2:latin typeface="Helvetica Neue"/>
                <ns2:ea typeface="Helvetica Neue"/>
                <ns2:cs typeface="Helvetica Neue"/>
              </ns2:rPr>
              <ns2:t>Show a rollback and a commit.</ns2:t>
            </ns2:r>
          </ns2:p>
          <ns3:p xmlns:ns3="http://schemas.openxmlformats.org/drawingml/2006/main">
            <ns3:pPr>
              <ns3:defRPr sz="2325" b="0">
                <ns3:solidFill>
                  <ns3:srgbClr val="111827"/>
                </ns3:solidFill>
                <ns3:latin typeface="Helvetica Neue"/>
                <ns3:ea typeface="Helvetica Neue"/>
                <ns3:cs typeface="Helvetica Neue"/>
              </ns3:defRPr>
            </ns3:pPr>
            <ns3:r>
              <ns3:rPr sz="2325" b="0">
                <ns3:solidFill>
                  <ns3:srgbClr val="111827"/>
                </ns3:solidFill>
                <ns3:latin typeface="Helvetica Neue"/>
                <ns3:ea typeface="Helvetica Neue"/>
                <ns3:cs typeface="Helvetica Neue"/>
              </ns3:rPr>
              <ns3:t>Explain the Week 5 blocking example.</ns3:t>
            </ns3:r>
          </ns3:p>
          <ns4:p xmlns:ns4="http://schemas.openxmlformats.org/drawingml/2006/main">
            <ns4:pPr>
              <ns4:defRPr sz="2325" b="0">
                <ns4:solidFill>
                  <ns4:srgbClr val="111827"/>
                </ns4:solidFill>
                <ns4:latin typeface="Helvetica Neue"/>
                <ns4:ea typeface="Helvetica Neue"/>
                <ns4:cs typeface="Helvetica Neue"/>
              </ns4:defRPr>
            </ns4:pPr>
            <ns4:r>
              <ns4:rPr sz="2325" b="0">
                <ns4:solidFill>
                  <ns4:srgbClr val="111827"/>
                </ns4:solidFill>
                <ns4:latin typeface="Helvetica Neue"/>
                <ns4:ea typeface="Helvetica Neue"/>
                <ns4:cs typeface="Helvetica Neue"/>
              </ns4:rPr>
              <ns4:t>Test one improvement.</ns4:t>
            </ns4:r>
          </ns4:p>
          <ns5:p xmlns:ns5="http://schemas.openxmlformats.org/drawingml/2006/main">
            <ns5:pPr>
              <ns5:defRPr sz="2325" b="0">
                <ns5:solidFill>
                  <ns5:srgbClr val="111827"/>
                </ns5:solidFill>
                <ns5:latin typeface="Helvetica Neue"/>
                <ns5:ea typeface="Helvetica Neue"/>
                <ns5:cs typeface="Helvetica Neue"/>
              </ns5:defRPr>
            </ns5:pPr>
            <ns5:r>
              <ns5:rPr sz="2325" b="0">
                <ns5:solidFill>
                  <ns5:srgbClr val="111827"/>
                </ns5:solidFill>
                <ns5:latin typeface="Helvetica Neue"/>
                <ns5:ea typeface="Helvetica Neue"/>
                <ns5:cs typeface="Helvetica Neue"/>
              </ns5:rPr>
              <ns5:t>Plan recovery after Week 8.</ns5:t>
            </ns5:r>
          </ns5:p>
        </p:txBody>
      </p:sp>
      <p:sp>
        <p:nvSpPr>
          <p:cNvPr id="6" name="limit-estimate">
            <a:extLst xmlns:a="http://schemas.openxmlformats.org/drawingml/2006/main">
              <a:ext uri="{FF2B5EF4-FFF2-40B4-BE49-F238E27FC236}">
                <a16:creationId xmlns:a16="http://schemas.microsoft.com/office/drawing/2014/main" id="{4C52D2E1-AD99-4B7F-8EDB-50CBF54DACE6}"/>
              </a:ext>
            </a:extLst>
          </p:cNvPr>
          <p:cNvSpPr>
            <a:spLocks xmlns:a="http://schemas.openxmlformats.org/drawingml/2006/main" noGrp="1"/>
          </p:cNvSpPr>
          <p:nvPr/>
        </p:nvSpPr>
        <p:spPr>
          <a:xfrm xmlns:a="http://schemas.openxmlformats.org/drawingml/2006/main">
            <a:off x="723900" y="52197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6:p xmlns:ns6="http://schemas.openxmlformats.org/drawingml/2006/main">
            <ns6:pPr>
              <ns6:defRPr sz="2175" b="0">
                <ns6:solidFill>
                  <ns6:srgbClr val="111827"/>
                </ns6:solidFill>
                <ns6:latin typeface="Helvetica Neue"/>
                <ns6:ea typeface="Helvetica Neue"/>
                <ns6:cs typeface="Helvetica Neue"/>
              </ns6:defRPr>
            </ns6:pPr>
            <ns6:r>
              <ns6:rPr sz="2175" b="0">
                <ns6:solidFill>
                  <ns6:srgbClr val="111827"/>
                </ns6:solidFill>
                <ns6:latin typeface="Helvetica Neue"/>
                <ns6:ea typeface="Helvetica Neue"/>
                <ns6:cs typeface="Helvetica Neue"/>
              </ns6:rPr>
              <ns6:t>Individual project. 30% of the course grade. The assignment contains the 100-point rubric.</ns6:t>
            </ns6:r>
          </ns6:p>
        </p:txBody>
      </p:sp>
    </p:spTree>
    <p:extLst>
      <p:ext uri="{BB962C8B-B14F-4D97-AF65-F5344CB8AC3E}">
        <p14:creationId xmlns:p14="http://schemas.microsoft.com/office/powerpoint/2010/main" val="136491783"/>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4E8D168-059F-459E-BE24-43A14A8B231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07  /  CST4714</a:t>
            </a:r>
          </a:p>
        </p:txBody>
      </p:sp>
      <p:sp>
        <p:nvSpPr>
          <p:cNvPr id="2" name="slide-title">
            <a:extLst xmlns:a="http://schemas.openxmlformats.org/drawingml/2006/main">
              <a:ext uri="{FF2B5EF4-FFF2-40B4-BE49-F238E27FC236}">
                <a16:creationId xmlns:a16="http://schemas.microsoft.com/office/drawing/2014/main" id="{F8D877F7-3F6B-4ADD-B5BA-8847FE46EB8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ns0:defRPr sz="2775" b="1">
                <ns0:solidFill>
                  <ns0:srgbClr val="111827"/>
                </ns0:solidFill>
                <ns0:latin typeface="Helvetica Neue"/>
                <ns0:ea typeface="Helvetica Neue"/>
                <ns0:cs typeface="Helvetica Neue"/>
              </ns0:defRPr>
            </ns0:pPr>
            <ns0:r>
              <ns0:rPr sz="2775" b="1">
                <ns0:solidFill>
                  <ns0:srgbClr val="111827"/>
                </ns0:solidFill>
                <ns0:latin typeface="Helvetica Neue"/>
                <ns0:ea typeface="Helvetica Neue"/>
                <ns0:cs typeface="Helvetica Neue"/>
              </ns0:rPr>
              <ns0:t>The supplied starter</ns0:t>
            </ns0:r>
          </ns0:p>
        </p:txBody>
      </p:sp>
      <p:sp>
        <p:nvSpPr>
          <p:cNvPr id="3" name="">
            <a:extLst xmlns:a="http://schemas.openxmlformats.org/drawingml/2006/main">
              <a:ext uri="{FF2B5EF4-FFF2-40B4-BE49-F238E27FC236}">
                <a16:creationId xmlns:a16="http://schemas.microsoft.com/office/drawing/2014/main" id="{0C779CC6-DDDF-48C1-8F28-75BCDF6D78A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A7FD2CF-32FC-4FBE-839A-D558BD32EF1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03</ns1:t>
            </ns1:r>
          </ns1:p>
        </p:txBody>
      </p:sp>
      <p:sp>
        <p:nvSpPr>
          <p:cNvPr id="5" name="example-recommendation">
            <a:extLst xmlns:a="http://schemas.openxmlformats.org/drawingml/2006/main">
              <a:ext uri="{FF2B5EF4-FFF2-40B4-BE49-F238E27FC236}">
                <a16:creationId xmlns:a16="http://schemas.microsoft.com/office/drawing/2014/main" id="{0066BDE2-C7FA-45E1-BE92-4953D0F99547}"/>
              </a:ext>
            </a:extLst>
          </p:cNvPr>
          <p:cNvSpPr>
            <a:spLocks xmlns:a="http://schemas.openxmlformats.org/drawingml/2006/main" noGrp="1"/>
          </p:cNvSpPr>
          <p:nvPr/>
        </p:nvSpPr>
        <p:spPr>
          <a:xfrm xmlns:a="http://schemas.openxmlformats.org/drawingml/2006/main">
            <a:off x="723900" y="2057400"/>
            <a:ext cx="10668000" cy="2657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ns1:defRPr sz="2550" b="0">
                <ns1:solidFill>
                  <ns1:srgbClr val="111827"/>
                </ns1:solidFill>
                <ns1:latin typeface="Georgia"/>
                <ns1:ea typeface="Georgia"/>
                <ns1:cs typeface="Georgia"/>
              </ns1:defRPr>
            </ns1:pPr>
            <ns1:r>
              <ns1:rPr sz="2550" b="0">
                <ns1:solidFill>
                  <ns1:srgbClr val="111827"/>
                </ns1:solidFill>
                <ns1:latin typeface="Georgia"/>
                <ns1:ea typeface="Georgia"/>
                <ns1:cs typeface="Georgia"/>
              </ns1:rPr>
              <ns1:t>Use the three-table Metro Support setup. Check 8 users, 12 tickets, and 21 events. Add the requester join and your commit example. Run one index comparison and record what you observe.</ns1:t>
            </ns1:r>
          </ns1:p>
        </p:txBody>
      </p:sp>
      <p:sp>
        <p:nvSpPr>
          <p:cNvPr id="6" name="writing-context">
            <a:extLst xmlns:a="http://schemas.openxmlformats.org/drawingml/2006/main">
              <a:ext uri="{FF2B5EF4-FFF2-40B4-BE49-F238E27FC236}">
                <a16:creationId xmlns:a16="http://schemas.microsoft.com/office/drawing/2014/main" id="{3121024D-897F-4E73-9856-EEC1D727E25F}"/>
              </a:ext>
            </a:extLst>
          </p:cNvPr>
          <p:cNvSpPr>
            <a:spLocks xmlns:a="http://schemas.openxmlformats.org/drawingml/2006/main" noGrp="1"/>
          </p:cNvSpPr>
          <p:nvPr/>
        </p:nvSpPr>
        <p:spPr>
          <a:xfrm xmlns:a="http://schemas.openxmlformats.org/drawingml/2006/main">
            <a:off x="723900" y="559117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ns0:defRPr sz="2100" b="0">
                <ns0:solidFill>
                  <ns0:srgbClr val="111827"/>
                </ns0:solidFill>
                <ns0:latin typeface="Helvetica Neue"/>
                <ns0:ea typeface="Helvetica Neue"/>
                <ns0:cs typeface="Helvetica Neue"/>
              </ns0:defRPr>
            </ns0:pPr>
            <ns0:r>
              <ns0:rPr sz="2100" b="0">
                <ns0:solidFill>
                  <ns0:srgbClr val="111827"/>
                </ns0:solidFill>
                <ns0:latin typeface="Helvetica Neue"/>
                <ns0:ea typeface="Helvetica Neue"/>
                <ns0:cs typeface="Helvetica Neue"/>
              </ns0:rPr>
              <ns0:t>The SQL starter is for your practice database. Today’s Colab uses embedded CSV data.</ns0:t>
            </ns0:r>
          </ns0:p>
        </p:txBody>
      </p:sp>
    </p:spTree>
    <p:extLst>
      <p:ext uri="{BB962C8B-B14F-4D97-AF65-F5344CB8AC3E}">
        <p14:creationId xmlns:p14="http://schemas.microsoft.com/office/powerpoint/2010/main" val="136491783"/>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587528F1-B8CB-4074-A55A-5A05F37598A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07  /  CST4714</a:t>
            </a:r>
          </a:p>
        </p:txBody>
      </p:sp>
      <p:sp>
        <p:nvSpPr>
          <p:cNvPr id="2" name="slide-title">
            <a:extLst xmlns:a="http://schemas.openxmlformats.org/drawingml/2006/main">
              <a:ext uri="{FF2B5EF4-FFF2-40B4-BE49-F238E27FC236}">
                <a16:creationId xmlns:a16="http://schemas.microsoft.com/office/drawing/2014/main" id="{0A524851-601E-4DA3-AADE-5D39FB7A872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ns0:defRPr sz="2775" b="1">
                <ns0:solidFill>
                  <ns0:srgbClr val="111827"/>
                </ns0:solidFill>
                <ns0:latin typeface="Helvetica Neue"/>
                <ns0:ea typeface="Helvetica Neue"/>
                <ns0:cs typeface="Helvetica Neue"/>
              </ns0:defRPr>
            </ns0:pPr>
            <ns0:r>
              <ns0:rPr sz="2775" b="1">
                <ns0:solidFill>
                  <ns0:srgbClr val="111827"/>
                </ns0:solidFill>
                <ns0:latin typeface="Helvetica Neue"/>
                <ns0:ea typeface="Helvetica Neue"/>
                <ns0:cs typeface="Helvetica Neue"/>
              </ns0:rPr>
              <ns0:t>Today’s notebook and the midterm</ns0:t>
            </ns0:r>
          </ns0:p>
        </p:txBody>
      </p:sp>
      <p:sp>
        <p:nvSpPr>
          <p:cNvPr id="3" name="">
            <a:extLst xmlns:a="http://schemas.openxmlformats.org/drawingml/2006/main">
              <a:ext uri="{FF2B5EF4-FFF2-40B4-BE49-F238E27FC236}">
                <a16:creationId xmlns:a16="http://schemas.microsoft.com/office/drawing/2014/main" id="{D798814F-A386-4482-9800-5915B27347C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70E3BDD-0802-4365-8D49-676BD4B7435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8:p xmlns:ns8="http://schemas.openxmlformats.org/drawingml/2006/main">
            <ns8:pPr>
              <ns8:defRPr sz="900" b="0">
                <ns8:solidFill>
                  <ns8:srgbClr val="64748B"/>
                </ns8:solidFill>
                <ns8:latin typeface="Helvetica Neue"/>
                <ns8:ea typeface="Helvetica Neue"/>
                <ns8:cs typeface="Helvetica Neue"/>
              </ns8:defRPr>
            </ns8:pPr>
            <ns8:r>
              <ns8:rPr sz="900" b="0">
                <ns8:solidFill>
                  <ns8:srgbClr val="64748B"/>
                </ns8:solidFill>
                <ns8:latin typeface="Helvetica Neue"/>
                <ns8:ea typeface="Helvetica Neue"/>
                <ns8:cs typeface="Helvetica Neue"/>
              </ns8:rPr>
              <ns8:t>04</ns8:t>
            </ns8:r>
          </ns8:p>
        </p:txBody>
      </p:sp>
      <p:sp>
        <p:nvSpPr>
          <p:cNvPr id="5" name="lab2">
            <a:extLst xmlns:a="http://schemas.openxmlformats.org/drawingml/2006/main">
              <a:ext uri="{FF2B5EF4-FFF2-40B4-BE49-F238E27FC236}">
                <a16:creationId xmlns:a16="http://schemas.microsoft.com/office/drawing/2014/main" id="{FF743558-1D65-465F-A0BE-EEBABD58B1E3}"/>
              </a:ext>
            </a:extLst>
          </p:cNvPr>
          <p:cNvSpPr>
            <a:spLocks xmlns:a="http://schemas.openxmlformats.org/drawingml/2006/main" noGrp="1"/>
          </p:cNvSpPr>
          <p:nvPr/>
        </p:nvSpPr>
        <p:spPr>
          <a:xfrm xmlns:a="http://schemas.openxmlformats.org/drawingml/2006/main">
            <a:off x="723900" y="1952625"/>
            <a:ext cx="106680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ns1:defRPr sz="2325" b="0">
                <ns1:solidFill>
                  <ns1:srgbClr val="111827"/>
                </ns1:solidFill>
                <ns1:latin typeface="Helvetica Neue"/>
                <ns1:ea typeface="Helvetica Neue"/>
                <ns1:cs typeface="Helvetica Neue"/>
              </ns1:defRPr>
            </ns1:pPr>
            <ns1:r>
              <ns1:rPr sz="2325" b="0">
                <ns1:solidFill>
                  <ns1:srgbClr val="111827"/>
                </ns1:solidFill>
                <ns1:latin typeface="Helvetica Neue"/>
                <ns1:ea typeface="Helvetica Neue"/>
                <ns1:cs typeface="Helvetica Neue"/>
              </ns1:rPr>
              <ns1:t>Today: Lastname_Week07_Research.ipynb</ns1:t>
            </ns1:r>
          </ns1:p>
          <ns2:p xmlns:ns2="http://schemas.openxmlformats.org/drawingml/2006/main">
            <ns2:pPr>
              <ns2:defRPr sz="2325" b="0">
                <ns2:solidFill>
                  <ns2:srgbClr val="111827"/>
                </ns2:solidFill>
                <ns2:latin typeface="Helvetica Neue"/>
                <ns2:ea typeface="Helvetica Neue"/>
                <ns2:cs typeface="Helvetica Neue"/>
              </ns2:defRPr>
            </ns2:pPr>
            <ns2:r>
              <ns2:rPr sz="2325" b="0">
                <ns2:solidFill>
                  <ns2:srgbClr val="111827"/>
                </ns2:solidFill>
                <ns2:latin typeface="Helvetica Neue"/>
                <ns2:ea typeface="Helvetica Neue"/>
                <ns2:cs typeface="Helvetica Neue"/>
              </ns2:rPr>
              <ns2:t>Data observations and 180–250 words of research.</ns2:t>
            </ns2:r>
          </ns2:p>
          <ns3:p xmlns:ns3="http://schemas.openxmlformats.org/drawingml/2006/main">
            <ns3:pPr>
              <ns3:defRPr sz="2325" b="0">
                <ns3:solidFill>
                  <ns3:srgbClr val="111827"/>
                </ns3:solidFill>
                <ns3:latin typeface="Helvetica Neue"/>
                <ns3:ea typeface="Helvetica Neue"/>
                <ns3:cs typeface="Helvetica Neue"/>
              </ns3:defRPr>
            </ns3:pPr>
            <ns3:r>
              <ns3:rPr sz="2325" b="0">
                <ns3:solidFill>
                  <ns3:srgbClr val="111827"/>
                </ns3:solidFill>
                <ns3:latin typeface="Helvetica Neue"/>
                <ns3:ea typeface="Helvetica Neue"/>
                <ns3:cs typeface="Helvetica Neue"/>
              </ns3:rPr>
              <ns3:t/>
            </ns3:r>
          </ns3:p>
          <ns4:p xmlns:ns4="http://schemas.openxmlformats.org/drawingml/2006/main">
            <ns4:pPr>
              <ns4:defRPr sz="2325" b="0">
                <ns4:solidFill>
                  <ns4:srgbClr val="111827"/>
                </ns4:solidFill>
                <ns4:latin typeface="Helvetica Neue"/>
                <ns4:ea typeface="Helvetica Neue"/>
                <ns4:cs typeface="Helvetica Neue"/>
              </ns4:defRPr>
            </ns4:pPr>
            <ns4:r>
              <ns4:rPr sz="2325" b="0">
                <ns4:solidFill>
                  <ns4:srgbClr val="111827"/>
                </ns4:solidFill>
                <ns4:latin typeface="Helvetica Neue"/>
                <ns4:ea typeface="Helvetica Neue"/>
                <ns4:cs typeface="Helvetica Neue"/>
              </ns4:rPr>
              <ns4:t>Final midterm: midterm.sql and README.md</ns4:t>
            </ns4:r>
          </ns4:p>
          <ns5:p xmlns:ns5="http://schemas.openxmlformats.org/drawingml/2006/main">
            <ns5:pPr>
              <ns5:defRPr sz="2325" b="0">
                <ns5:solidFill>
                  <ns5:srgbClr val="111827"/>
                </ns5:solidFill>
                <ns5:latin typeface="Helvetica Neue"/>
                <ns5:ea typeface="Helvetica Neue"/>
                <ns5:cs typeface="Helvetica Neue"/>
              </ns5:defRPr>
            </ns5:pPr>
            <ns5:r>
              <ns5:rPr sz="2325" b="0">
                <ns5:solidFill>
                  <ns5:srgbClr val="111827"/>
                </ns5:solidFill>
                <ns5:latin typeface="Helvetica Neue"/>
                <ns5:ea typeface="Helvetica Neue"/>
                <ns5:cs typeface="Helvetica Neue"/>
              </ns5:rPr>
              <ns5:t>Completed PostgreSQL work and explanations.</ns5:t>
            </ns5:r>
          </ns5:p>
        </p:txBody>
      </p:sp>
      <p:sp>
        <p:nvSpPr>
          <p:cNvPr id="6" name="lab2-writing">
            <a:extLst xmlns:a="http://schemas.openxmlformats.org/drawingml/2006/main">
              <a:ext uri="{FF2B5EF4-FFF2-40B4-BE49-F238E27FC236}">
                <a16:creationId xmlns:a16="http://schemas.microsoft.com/office/drawing/2014/main" id="{E0112B33-ED7E-4FD1-97C0-1070209F78F6}"/>
              </a:ext>
            </a:extLst>
          </p:cNvPr>
          <p:cNvSpPr>
            <a:spLocks xmlns:a="http://schemas.openxmlformats.org/drawingml/2006/main" noGrp="1"/>
          </p:cNvSpPr>
          <p:nvPr/>
        </p:nvSpPr>
        <p:spPr>
          <a:xfrm xmlns:a="http://schemas.openxmlformats.org/drawingml/2006/main">
            <a:off x="723900" y="5095875"/>
            <a:ext cx="106680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6:p xmlns:ns6="http://schemas.openxmlformats.org/drawingml/2006/main">
            <ns6:pPr>
              <ns6:defRPr sz="2100" b="0">
                <ns6:solidFill>
                  <ns6:srgbClr val="111827"/>
                </ns6:solidFill>
                <ns6:latin typeface="Helvetica Neue"/>
                <ns6:ea typeface="Helvetica Neue"/>
                <ns6:cs typeface="Helvetica Neue"/>
              </ns6:defRPr>
            </ns6:pPr>
            <ns6:r>
              <ns6:rPr sz="2100" b="0">
                <ns6:solidFill>
                  <ns6:srgbClr val="111827"/>
                </ns6:solidFill>
                <ns6:latin typeface="Helvetica Neue"/>
                <ns6:ea typeface="Helvetica Neue"/>
                <ns6:cs typeface="Helvetica Neue"/>
              </ns6:rPr>
              <ns6:t>Reuse today’s writing in the README after testing your predictions.</ns6:t>
            </ns6:r>
          </ns6:p>
        </p:txBody>
      </p:sp>
      <p:sp>
        <p:nvSpPr>
          <p:cNvPr id="7" name="lab2-submit">
            <a:extLst xmlns:a="http://schemas.openxmlformats.org/drawingml/2006/main">
              <a:ext uri="{FF2B5EF4-FFF2-40B4-BE49-F238E27FC236}">
                <a16:creationId xmlns:a16="http://schemas.microsoft.com/office/drawing/2014/main" id="{D23883CC-4963-41E9-B98E-54D0F47D1522}"/>
              </a:ext>
            </a:extLst>
          </p:cNvPr>
          <p:cNvSpPr>
            <a:spLocks xmlns:a="http://schemas.openxmlformats.org/drawingml/2006/main" noGrp="1"/>
          </p:cNvSpPr>
          <p:nvPr/>
        </p:nvSpPr>
        <p:spPr>
          <a:xfrm xmlns:a="http://schemas.openxmlformats.org/drawingml/2006/main">
            <a:off x="723900" y="6210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7:p xmlns:ns7="http://schemas.openxmlformats.org/drawingml/2006/main">
            <ns7:pPr>
              <ns7:defRPr sz="1650" b="0">
                <ns7:solidFill>
                  <ns7:srgbClr val="111827"/>
                </ns7:solidFill>
                <ns7:latin typeface="Helvetica Neue"/>
                <ns7:ea typeface="Helvetica Neue"/>
                <ns7:cs typeface="Helvetica Neue"/>
              </ns7:defRPr>
            </ns7:pPr>
            <ns7:r>
              <ns7:rPr sz="1650" b="0">
                <ns7:solidFill>
                  <ns7:srgbClr val="111827"/>
                </ns7:solidFill>
                <ns7:latin typeface="Helvetica Neue"/>
                <ns7:ea typeface="Helvetica Neue"/>
                <ns7:cs typeface="Helvetica Neue"/>
              </ns7:rPr>
              <ns7:t>Today: download the completed .ipynb. No separate report or sharing link.</ns7:t>
            </ns7:r>
          </ns7:p>
        </p:txBody>
      </p:sp>
    </p:spTree>
    <p:extLst>
      <p:ext uri="{BB962C8B-B14F-4D97-AF65-F5344CB8AC3E}">
        <p14:creationId xmlns:p14="http://schemas.microsoft.com/office/powerpoint/2010/main" val="136491783"/>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3D326D29-2073-4F55-AB88-AA7082D2735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07  /  CST4714</a:t>
            </a:r>
          </a:p>
        </p:txBody>
      </p:sp>
      <p:sp>
        <p:nvSpPr>
          <p:cNvPr id="2" name="slide-title">
            <a:extLst xmlns:a="http://schemas.openxmlformats.org/drawingml/2006/main">
              <a:ext uri="{FF2B5EF4-FFF2-40B4-BE49-F238E27FC236}">
                <a16:creationId xmlns:a16="http://schemas.microsoft.com/office/drawing/2014/main" id="{14C1F158-0A01-4903-8419-9E55D288A7A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ns0:defRPr sz="2775" b="1">
                <ns0:solidFill>
                  <ns0:srgbClr val="111827"/>
                </ns0:solidFill>
                <ns0:latin typeface="Helvetica Neue"/>
                <ns0:ea typeface="Helvetica Neue"/>
                <ns0:cs typeface="Helvetica Neue"/>
              </ns0:defRPr>
            </ns0:pPr>
            <ns0:r>
              <ns0:rPr sz="2775" b="1">
                <ns0:solidFill>
                  <ns0:srgbClr val="111827"/>
                </ns0:solidFill>
                <ns0:latin typeface="Helvetica Neue"/>
                <ns0:ea typeface="Helvetica Neue"/>
                <ns0:cs typeface="Helvetica Neue"/>
              </ns0:rPr>
              <ns0:t>The preliminary research lab</ns0:t>
            </ns0:r>
          </ns0:p>
        </p:txBody>
      </p:sp>
      <p:sp>
        <p:nvSpPr>
          <p:cNvPr id="3" name="">
            <a:extLst xmlns:a="http://schemas.openxmlformats.org/drawingml/2006/main">
              <a:ext uri="{FF2B5EF4-FFF2-40B4-BE49-F238E27FC236}">
                <a16:creationId xmlns:a16="http://schemas.microsoft.com/office/drawing/2014/main" id="{961E01F0-C541-4969-842E-95333C679E4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EDC41CB-FFEC-4426-ACA4-574EC47454D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5:p xmlns:ns5="http://schemas.openxmlformats.org/drawingml/2006/main">
            <ns5:pPr>
              <ns5:defRPr sz="900" b="0">
                <ns5:solidFill>
                  <ns5:srgbClr val="64748B"/>
                </ns5:solidFill>
                <ns5:latin typeface="Helvetica Neue"/>
                <ns5:ea typeface="Helvetica Neue"/>
                <ns5:cs typeface="Helvetica Neue"/>
              </ns5:defRPr>
            </ns5:pPr>
            <ns5:r>
              <ns5:rPr sz="900" b="0">
                <ns5:solidFill>
                  <ns5:srgbClr val="64748B"/>
                </ns5:solidFill>
                <ns5:latin typeface="Helvetica Neue"/>
                <ns5:ea typeface="Helvetica Neue"/>
                <ns5:cs typeface="Helvetica Neue"/>
              </ns5:rPr>
              <ns5:t>05</ns5:t>
            </ns5:r>
          </ns5:p>
        </p:txBody>
      </p:sp>
      <p:sp>
        <p:nvSpPr>
          <p:cNvPr id="5" name="closing">
            <a:extLst xmlns:a="http://schemas.openxmlformats.org/drawingml/2006/main">
              <a:ext uri="{FF2B5EF4-FFF2-40B4-BE49-F238E27FC236}">
                <a16:creationId xmlns:a16="http://schemas.microsoft.com/office/drawing/2014/main" id="{714BD088-11A1-4406-9188-782BBD457C5E}"/>
              </a:ext>
            </a:extLst>
          </p:cNvPr>
          <p:cNvSpPr>
            <a:spLocks xmlns:a="http://schemas.openxmlformats.org/drawingml/2006/main" noGrp="1"/>
          </p:cNvSpPr>
          <p:nvPr/>
        </p:nvSpPr>
        <p:spPr>
          <a:xfrm xmlns:a="http://schemas.openxmlformats.org/drawingml/2006/main">
            <a:off x="723900" y="2057400"/>
            <a:ext cx="10668000" cy="2171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ns1:defRPr sz="2925" b="0">
                <ns1:solidFill>
                  <ns1:srgbClr val="111827"/>
                </ns1:solidFill>
                <ns1:latin typeface="Georgia"/>
                <ns1:ea typeface="Georgia"/>
                <ns1:cs typeface="Georgia"/>
              </ns1:defRPr>
            </ns1:pPr>
            <ns1:r>
              <ns1:rPr sz="2925" b="0">
                <ns1:solidFill>
                  <ns1:srgbClr val="111827"/>
                </ns1:solidFill>
                <ns1:latin typeface="Georgia"/>
                <ns1:ea typeface="Georgia"/>
                <ns1:cs typeface="Georgia"/>
              </ns1:rPr>
              <ns1:t>Inspect the data in Colab.</ns1:t>
            </ns1:r>
          </ns1:p>
          <ns2:p xmlns:ns2="http://schemas.openxmlformats.org/drawingml/2006/main">
            <ns2:pPr>
              <ns2:defRPr sz="2925" b="0">
                <ns2:solidFill>
                  <ns2:srgbClr val="111827"/>
                </ns2:solidFill>
                <ns2:latin typeface="Georgia"/>
                <ns2:ea typeface="Georgia"/>
                <ns2:cs typeface="Georgia"/>
              </ns2:defRPr>
            </ns2:pPr>
            <ns2:r>
              <ns2:rPr sz="2925" b="0">
                <ns2:solidFill>
                  <ns2:srgbClr val="111827"/>
                </ns2:solidFill>
                <ns2:latin typeface="Georgia"/>
                <ns2:ea typeface="Georgia"/>
                <ns2:cs typeface="Georgia"/>
              </ns2:rPr>
              <ns2:t>Read two short documentation sections.</ns2:t>
            </ns2:r>
          </ns2:p>
          <ns3:p xmlns:ns3="http://schemas.openxmlformats.org/drawingml/2006/main">
            <ns3:pPr>
              <ns3:defRPr sz="2925" b="0">
                <ns3:solidFill>
                  <ns3:srgbClr val="111827"/>
                </ns3:solidFill>
                <ns3:latin typeface="Georgia"/>
                <ns3:ea typeface="Georgia"/>
                <ns3:cs typeface="Georgia"/>
              </ns3:defRPr>
            </ns3:pPr>
            <ns3:r>
              <ns3:rPr sz="2925" b="0">
                <ns3:solidFill>
                  <ns3:srgbClr val="111827"/>
                </ns3:solidFill>
                <ns3:latin typeface="Georgia"/>
                <ns3:ea typeface="Georgia"/>
                <ns3:cs typeface="Georgia"/>
              </ns3:rPr>
              <ns3:t>Explain one test you plan to run.</ns3:t>
            </ns3:r>
          </ns3:p>
        </p:txBody>
      </p:sp>
      <p:sp>
        <p:nvSpPr>
          <p:cNvPr id="6" name="closing-next">
            <a:extLst xmlns:a="http://schemas.openxmlformats.org/drawingml/2006/main">
              <a:ext uri="{FF2B5EF4-FFF2-40B4-BE49-F238E27FC236}">
                <a16:creationId xmlns:a16="http://schemas.microsoft.com/office/drawing/2014/main" id="{9ECF1141-77BB-4DB9-8537-D8C51CE2CE0C}"/>
              </a:ext>
            </a:extLst>
          </p:cNvPr>
          <p:cNvSpPr>
            <a:spLocks xmlns:a="http://schemas.openxmlformats.org/drawingml/2006/main" noGrp="1"/>
          </p:cNvSpPr>
          <p:nvPr/>
        </p:nvSpPr>
        <p:spPr>
          <a:xfrm xmlns:a="http://schemas.openxmlformats.org/drawingml/2006/main">
            <a:off x="723900" y="5219700"/>
            <a:ext cx="10668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4:p xmlns:ns4="http://schemas.openxmlformats.org/drawingml/2006/main">
            <ns4:pPr>
              <ns4:defRPr sz="2400" b="0">
                <ns4:solidFill>
                  <ns4:srgbClr val="111827"/>
                </ns4:solidFill>
                <ns4:latin typeface="Helvetica Neue"/>
                <ns4:ea typeface="Helvetica Neue"/>
                <ns4:cs typeface="Helvetica Neue"/>
              </ns4:defRPr>
            </ns4:pPr>
            <ns4:r>
              <ns4:rPr sz="2400" b="0">
                <ns4:solidFill>
                  <ns4:srgbClr val="111827"/>
                </ns4:solidFill>
                <ns4:latin typeface="Helvetica Neue"/>
                <ns4:ea typeface="Helvetica Neue"/>
                <ns4:cs typeface="Helvetica Neue"/>
              </ns4:rPr>
              <ns4:t>Connect your observations to the sources. Label your expected result as a prediction.</ns4:t>
            </ns4:r>
          </ns4:p>
        </p:txBody>
      </p:sp>
    </p:spTree>
    <p:extLst>
      <p:ext uri="{BB962C8B-B14F-4D97-AF65-F5344CB8AC3E}">
        <p14:creationId xmlns:p14="http://schemas.microsoft.com/office/powerpoint/2010/main" val="13649178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5</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Atilio Barreda</dc:creator>
  <cp:lastModifiedBy>Atilio Barreda</cp:lastModifiedBy>
  <dc:title>Week 7: Query Plans and Index Design</dc:title>
  <dcterms:created xsi:type="dcterms:W3CDTF">2026-09-07T18:54:55.3720000Z</dcterms:created>
  <dcterms:modified xsi:type="dcterms:W3CDTF">2026-09-07T18:54:55.3720000Z</dcterms:modified>
  <dc:language>en-US</dc:language>
  <cp:contentStatus>Draft</cp:contentStatus>
  <dc:description>CST4714 course teaching draft. AI-assisted preparation is documented in the private fellowship quality record.</dc:description>
</cp:coreProperties>
</file>