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6d21805236a4d8e" Type="http://schemas.openxmlformats.org/package/2006/relationships/metadata/core-properties" Target="docProps/core.xml"/><Relationship Id="R1e3c3a33391e496c" Type="http://schemas.openxmlformats.org/officeDocument/2006/relationships/officeDocument" Target="ppt/presentation.xml"/><Relationship Id="R5cc61b7d7e44411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f52bdb417754a08"/>
  </p:sldMasterIdLst>
  <p:notesMasterIdLst>
    <p:notesMasterId xmlns:r="http://schemas.openxmlformats.org/officeDocument/2006/relationships" r:id="R197cd5e590a14753"/>
  </p:notesMasterIdLst>
  <p:sldIdLst>
    <p:sldId xmlns:r="http://schemas.openxmlformats.org/officeDocument/2006/relationships" id="256" r:id="R986edfde9bb24786"/>
    <p:sldId xmlns:r="http://schemas.openxmlformats.org/officeDocument/2006/relationships" id="276" r:id="R21fbf81860bc4bd2"/>
    <p:sldId xmlns:r="http://schemas.openxmlformats.org/officeDocument/2006/relationships" id="277" r:id="R4672597ccf074963"/>
    <p:sldId xmlns:r="http://schemas.openxmlformats.org/officeDocument/2006/relationships" id="278" r:id="Ra2ffb5de1f5a410b"/>
    <p:sldId xmlns:r="http://schemas.openxmlformats.org/officeDocument/2006/relationships" id="279" r:id="R5b11ffd16006434c"/>
    <p:sldId xmlns:ns0="http://schemas.openxmlformats.org/officeDocument/2006/relationships" id="280" ns0:id="rId11"/>
    <p:sldId xmlns:ns0="http://schemas.openxmlformats.org/officeDocument/2006/relationships" id="281" ns0:id="rId12"/>
    <p:sldId xmlns:ns0="http://schemas.openxmlformats.org/officeDocument/2006/relationships" id="282" ns0:id="rId13"/>
    <p:sldId xmlns:ns0="http://schemas.openxmlformats.org/officeDocument/2006/relationships" id="283" ns0:id="rId14"/>
    <p:sldId xmlns:ns0="http://schemas.openxmlformats.org/officeDocument/2006/relationships" id="284" ns0:id="rId15"/>
    <p:sldId xmlns:ns0="http://schemas.openxmlformats.org/officeDocument/2006/relationships" id="285" ns0:id="rId16"/>
    <p:sldId xmlns:ns0="http://schemas.openxmlformats.org/officeDocument/2006/relationships" id="286" ns0:id="rId17"/>
    <p:sldId xmlns:ns0="http://schemas.openxmlformats.org/officeDocument/2006/relationships" id="287" ns0:id="rId18"/>
    <p:sldId xmlns:ns0="http://schemas.openxmlformats.org/officeDocument/2006/relationships" id="288" ns0:id="rId19"/>
    <p:sldId xmlns:ns0="http://schemas.openxmlformats.org/officeDocument/2006/relationships" id="289" ns0:id="rId20"/>
    <p:sldId xmlns:ns0="http://schemas.openxmlformats.org/officeDocument/2006/relationships" id="290" ns0:id="rId21"/>
    <p:sldId xmlns:ns0="http://schemas.openxmlformats.org/officeDocument/2006/relationships" id="291" ns0:id="rId22"/>
    <p:sldId xmlns:ns0="http://schemas.openxmlformats.org/officeDocument/2006/relationships" id="292" ns0:id="rId23"/>
    <p:sldId xmlns:ns0="http://schemas.openxmlformats.org/officeDocument/2006/relationships" id="293" ns0:id="rId24"/>
    <p:sldId xmlns:ns0="http://schemas.openxmlformats.org/officeDocument/2006/relationships" id="294" ns0:id="rId25"/>
    <p:sldId xmlns:ns0="http://schemas.openxmlformats.org/officeDocument/2006/relationships" id="295" ns0:id="rId26"/>
    <p:sldId xmlns:ns0="http://schemas.openxmlformats.org/officeDocument/2006/relationships" id="296" ns0:id="rId27"/>
    <p:sldId xmlns:ns0="http://schemas.openxmlformats.org/officeDocument/2006/relationships" id="297" ns0:id="rId28"/>
    <p:sldId xmlns:ns0="http://schemas.openxmlformats.org/officeDocument/2006/relationships" id="298" ns0:id="rId2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97cd5e590a14753" Type="http://schemas.openxmlformats.org/officeDocument/2006/relationships/notesMaster" Target="notesMasters/notesMaster1.xml"/><Relationship Id="R21fbf81860bc4bd2" Type="http://schemas.openxmlformats.org/officeDocument/2006/relationships/slide" Target="slides/slide2.xml"/><Relationship Id="R4672597ccf074963" Type="http://schemas.openxmlformats.org/officeDocument/2006/relationships/slide" Target="slides/slide3.xml"/><Relationship Id="R5b11ffd16006434c" Type="http://schemas.openxmlformats.org/officeDocument/2006/relationships/slide" Target="slides/slide5.xml"/><Relationship Id="R97551a67fc7a44c0" Type="http://schemas.openxmlformats.org/officeDocument/2006/relationships/theme" Target="theme/theme1.xml"/><Relationship Id="R986edfde9bb24786" Type="http://schemas.openxmlformats.org/officeDocument/2006/relationships/slide" Target="slides/slide1.xml"/><Relationship Id="Ra2ffb5de1f5a410b" Type="http://schemas.openxmlformats.org/officeDocument/2006/relationships/slide" Target="slides/slide4.xml"/><Relationship Id="Raf52bdb417754a08" Type="http://schemas.openxmlformats.org/officeDocument/2006/relationships/slideMaster" Target="slideMasters/slideMaster1.xml"/><Relationship Id="Rb61da2037346490f" Type="http://schemas.openxmlformats.org/officeDocument/2006/relationships/presProps" Target="presProps.xml"/><Relationship Id="Rb639e56767c14377"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3eb7cbe82b03432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xfrm xmlns:a="http://schemas.openxmlformats.org/drawingml/2006/main">
            <a:off x="0"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xfrm xmlns:a="http://schemas.openxmlformats.org/drawingml/2006/main">
            <a:off x="3884613"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xfrm xmlns:a="http://schemas.openxmlformats.org/drawingml/2006/main">
            <a:off x="1371600" y="457200"/>
            <a:ext cx="4114800" cy="231457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xfrm xmlns:a="http://schemas.openxmlformats.org/drawingml/2006/main">
            <a:off x="457200" y="2971800"/>
            <a:ext cx="5943600" cy="539496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xfrm xmlns:a="http://schemas.openxmlformats.org/drawingml/2006/main">
            <a:off x="0"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xfrm xmlns:a="http://schemas.openxmlformats.org/drawingml/2006/main">
            <a:off x="3884613"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0ed00bbbf11444c" Type="http://schemas.openxmlformats.org/officeDocument/2006/relationships/notesMaster" Target="../notesMasters/notesMaster1.xml"/><Relationship Id="Rea313517f6134bc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f24a73804a040b1" Type="http://schemas.openxmlformats.org/officeDocument/2006/relationships/notesMaster" Target="../notesMasters/notesMaster1.xml"/><Relationship Id="Rec719c436a274b2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c0eae96b8d64427" Type="http://schemas.openxmlformats.org/officeDocument/2006/relationships/notesMaster" Target="../notesMasters/notesMaster1.xml"/><Relationship Id="R71fa300d0177449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88d9d0685e74819" Type="http://schemas.openxmlformats.org/officeDocument/2006/relationships/notesMaster" Target="../notesMasters/notesMaster1.xml"/><Relationship Id="R9d1906d032474b4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84141b357ae74ade" Type="http://schemas.openxmlformats.org/officeDocument/2006/relationships/notesMaster" Target="../notesMasters/notesMaster1.xml"/><Relationship Id="Ra2da1d783a764910"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Welcome, everyone. This is our only meeting this week, and it has two halves. For the first forty-five minutes, I am going to take you through the midterm project one part at a time. For each part, you will see what the starter file already does for you, the small piece you add, the result you should expect, and where that result goes in your README. Then you will have about fifty minutes to work in a Colab notebook that prepares you for the index part of the midterm. In the last five minutes, you will save that notebook, share it with me, and submit its link in Brightspace.</a:t>
            </a:r>
          </a:p>
          <a:p xmlns:a="http://schemas.openxmlformats.org/drawingml/2006/main"/>
          <a:p xmlns:a="http://schemas.openxmlformats.org/drawingml/2006/main">
            <a:r>
              <a:rPr sz="1200"/>
              <a:t>If you have a laptop open, open the Week 7 README on GitHub. It links the midterm instructions, which put the whole midterm on one page: every part, step by step, with the results you should expect. It also links the SQL starter and the README template. If anything I say today sounds different from the written assignment, the written assignment is the rule, and I want you to ask me about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Here is the whole midterm in one sentence. You will run a small PostgreSQL database safely, prove what happened with real query results, and explain those results in your own words.</a:t>
            </a:r>
          </a:p>
          <a:p xmlns:a="http://schemas.openxmlformats.org/drawingml/2006/main"/>
          <a:p xmlns:a="http://schemas.openxmlformats.org/drawingml/2006/main">
            <a:r>
              <a:rPr sz="1200"/>
              <a:t>The database is Metro Support, the ticket system we have used all semester, with users, tickets, and ticket events. You do not build an application, find a new dataset, or give a presentation.</a:t>
            </a:r>
          </a:p>
          <a:p xmlns:a="http://schemas.openxmlformats.org/drawingml/2006/main"/>
          <a:p xmlns:a="http://schemas.openxmlformats.org/drawingml/2006/main">
            <a:r>
              <a:rPr sz="1200"/>
              <a:t>The project has five parts. In Part 1, you check that the data loaded correctly, and you explain three rules that protect it. In Part 2, you change one ticket inside a transaction and roll that change back, and then you make a different change and commit it. In Part 3, you explain a blocking incident from our Week 5 lab. In Part 4, you test one improvement, and the recommended improvement is an index. In Part 5, after next week's lesson on backups, you write a plan for recovering this database.</a:t>
            </a:r>
          </a:p>
          <a:p xmlns:a="http://schemas.openxmlformats.org/drawingml/2006/main"/>
          <a:p xmlns:a="http://schemas.openxmlformats.org/drawingml/2006/main">
            <a:r>
              <a:rPr sz="1200"/>
              <a:t>This is an individual project worth thirty percent of your course grade. You submit two files, midterm.sql and README.md, together in one ZIP file, by the deadline posted in Brightspace.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This slide explains the workload, so it is worth reading carefully. The starter file does a lot of the work for you, on purpose.</a:t>
            </a:r>
          </a:p>
          <a:p xmlns:a="http://schemas.openxmlformats.org/drawingml/2006/main"/>
          <a:p xmlns:a="http://schemas.openxmlformats.org/drawingml/2006/main">
            <a:r>
              <a:rPr sz="1200"/>
              <a:t>Read down the middle column. The starter already creates all three tables, loads all of the data, and counts the rows. It already contains the complete rollback example for Part 2 and the complete index experiment for Part 4. The Week 5 notebook already contains the blocking example for Part 3.</a:t>
            </a:r>
          </a:p>
          <a:p xmlns:a="http://schemas.openxmlformats.org/drawingml/2006/main"/>
          <a:p xmlns:a="http://schemas.openxmlformats.org/drawingml/2006/main">
            <a:r>
              <a:rPr sz="1200"/>
              <a:t>Now read down the right column. In SQL, you write two small things. The first is a join that shows each ticket with the name of the person who requested it. The second is a commit example that looks almost exactly like the supplied rollback example. On the recommended route, that is all the new SQL you write.</a:t>
            </a:r>
          </a:p>
          <a:p xmlns:a="http://schemas.openxmlformats.org/drawingml/2006/main"/>
          <a:p xmlns:a="http://schemas.openxmlformats.org/drawingml/2006/main">
            <a:r>
              <a:rPr sz="1200"/>
              <a:t>Everything else you add goes into your README. You record the results you actually saw, and you explain them. You explain three integrity rules, the blocking incident, and what the index did or did not change. After Week 8, you add the recovery plan.</a:t>
            </a:r>
          </a:p>
          <a:p xmlns:a="http://schemas.openxmlformats.org/drawingml/2006/main"/>
          <a:p xmlns:a="http://schemas.openxmlformats.org/drawingml/2006/main">
            <a:r>
              <a:rPr sz="1200"/>
              <a:t>So most of your grade comes from careful observation and clear explanation, not from writing a lot of code. A small project with accurate results and clear writing can earn full credit.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You submit exactly two files, and each one has a different job.</a:t>
            </a:r>
          </a:p>
          <a:p xmlns:a="http://schemas.openxmlformats.org/drawingml/2006/main"/>
          <a:p xmlns:a="http://schemas.openxmlformats.org/drawingml/2006/main">
            <a:r>
              <a:rPr sz="1200"/>
              <a:t>The file midterm.sql is the record of what you ran. Start by saving the starter as midterm.sql. By the end, it holds the supplied setup and count query, your requester join, the rollback example, your commit example, and the index experiment. Tests that are supposed to fail are optional. If you write one, such as inserting a duplicate email, keep it commented out, so the whole file can still run from top to bottom.</a:t>
            </a:r>
          </a:p>
          <a:p xmlns:a="http://schemas.openxmlformats.org/drawingml/2006/main"/>
          <a:p xmlns:a="http://schemas.openxmlformats.org/drawingml/2006/main">
            <a:r>
              <a:rPr sz="1200"/>
              <a:t>The file README.md is the record of what happened and why. Start by saving the template as README.md. It already has a heading for every part, with a prompt in square brackets under each heading. Replace every prompt with your own results and explanations, and do not leave any square-bracket prompts behind.</a:t>
            </a:r>
          </a:p>
          <a:p xmlns:a="http://schemas.openxmlformats.org/drawingml/2006/main"/>
          <a:p xmlns:a="http://schemas.openxmlformats.org/drawingml/2006/main">
            <a:r>
              <a:rPr sz="1200"/>
              <a:t>When you finish, put both files into one ZIP and upload that ZIP in Brightspace. Do not put a password, a connection string, or an API key in either file. When the README asks about your environment, describe it in words, for example, my Supabase practice project, followed by the PostgreSQL version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Before you run anything, here are four rules that keep your work safe.</a:t>
            </a:r>
          </a:p>
          <a:p xmlns:a="http://schemas.openxmlformats.org/drawingml/2006/main"/>
          <a:p xmlns:a="http://schemas.openxmlformats.org/drawingml/2006/main">
            <a:r>
              <a:rPr sz="1200"/>
              <a:t>First, run the starter only in your personal practice database. Section 1 begins by dropping the midterm_metro schema with CASCADE. That deletes everything inside midterm_metro, plus anything elsewhere that depends on it, and then rebuilds the schema from scratch.</a:t>
            </a:r>
          </a:p>
          <a:p xmlns:a="http://schemas.openxmlformats.org/drawingml/2006/main"/>
          <a:p xmlns:a="http://schemas.openxmlformats.org/drawingml/2006/main">
            <a:r>
              <a:rPr sz="1200"/>
              <a:t>Second, run Section 1 once. After that, highlight one section and run only that section.</a:t>
            </a:r>
          </a:p>
          <a:p xmlns:a="http://schemas.openxmlformats.org/drawingml/2006/main"/>
          <a:p xmlns:a="http://schemas.openxmlformats.org/drawingml/2006/main">
            <a:r>
              <a:rPr sz="1200"/>
              <a:t>Third, do not rerun Section 1 partway through the project. If you do, ticket 1004 goes back to low, and the index you created disappears. If you ever need a clean start, rerun Section 1 and then repeat the later sections in order.</a:t>
            </a:r>
          </a:p>
          <a:p xmlns:a="http://schemas.openxmlformats.org/drawingml/2006/main"/>
          <a:p xmlns:a="http://schemas.openxmlformats.org/drawingml/2006/main">
            <a:r>
              <a:rPr sz="1200"/>
              <a:t>Fourth, keep each transaction together. Highlight everything from its first SELECT through its last SELECT and run it as one block.</a:t>
            </a:r>
          </a:p>
          <a:p xmlns:a="http://schemas.openxmlformats.org/drawingml/2006/main"/>
          <a:p xmlns:a="http://schemas.openxmlformats.org/drawingml/2006/main">
            <a:r>
              <a:rPr sz="1200"/>
              <a:t>Now look at the box on the right. The Supabase SQL Editor may show only the result of the last statement in a run. For a transaction block, that hides the value inside the transaction, and you need that value for your README. The fix is a short Colab helper called run_sql, which is printed at the end of the midterm instructions. It prints every result in order. A psql session does the same 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1 starts with Section 1 of the starter. When it finishes, its last result is a small table of counts. You should see eight users, twelve tickets, and twenty-one ticket events, exactly as on the left of this slide. If you see different numbers, rerun Section 1 before you go any further.</a:t>
            </a:r>
          </a:p>
          <a:p/>
          <a:p>
            <a:r>
              <a:rPr sz="1200"/>
              <a:t>Next, you write the requester join. In the starter, find the TODO comment that asks for a query joining tickets to their requesters, and replace that comment with your query. The code on the right shows the shape. You select the ticket ID from tickets and the display name from users. The only part left blank is the join condition. Every ticket has a requester_id column, and its value matches a user_id in the users table. Write that match on the ON line. Use the full table names, midterm_metro.tickets and midterm_metro.users, as the starter asks.</a:t>
            </a:r>
          </a:p>
          <a:p/>
          <a:p>
            <a:r>
              <a:rPr sz="1200"/>
              <a:t>When your join is correct, it returns exactly twelve rows, one for each ticket. The first row is ticket 1001 with Requester 101, and the last row is ticket 1012 with Requester 104. If you get any number other than twelve, look at your join condition again.</a:t>
            </a:r>
          </a:p>
          <a:p/>
          <a:p>
            <a:r>
              <a:rPr sz="1200"/>
              <a:t>Record both results in the Database checks section of your README: the three counts, and a short statement of what your join returned.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second half of Part 1 is explanation. In your README, you name three integrity controls that already exist in the starter, say which column each one protects, and explain what bad data each one prevents. You do not design new tables or invent new constraints.</a:t>
            </a:r>
          </a:p>
          <a:p/>
          <a:p>
            <a:r>
              <a:rPr sz="1200"/>
              <a:t>The word non-key matters here. A primary key and a foreign key are both keys, so they do not count toward your three. The table on this slide shows the three kinds of control the assignment points to, and the starter has all three. NOT NULL appears on many columns. UNIQUE appears on the email column of users. And the tickets table has a CHECK rule that compares two dates.</a:t>
            </a:r>
          </a:p>
          <a:p/>
          <a:p>
            <a:r>
              <a:rPr sz="1200"/>
              <a:t>The simplest approach is to explain one of each. The box at the bottom shows one complete answer. NOT NULL on tickets.subject rejects a ticket whose subject is missing, meaning NULL. Without it, a ticket could enter the queue with no recorded problem. Notice its three pieces: the control, the column, and the bad data it stops.</a:t>
            </a:r>
          </a:p>
          <a:p/>
          <a:p>
            <a:r>
              <a:rPr sz="1200"/>
              <a:t>Write the other two in your own words. For UNIQUE, ask yourself which duplicate it blocks and why that duplicate would cause trouble. For the CHECK rule, read the condition carefully and ask which impossible pair of dates it rejects.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2 uses ticket 1004, which starts with priority low.</a:t>
            </a:r>
          </a:p>
          <a:p/>
          <a:p>
            <a:r>
              <a:rPr sz="1200"/>
              <a:t>On the left is Section 2A, the supplied rollback example, and you run all six statements together. The first SELECT shows the value before the transaction. BEGIN starts the transaction, and the UPDATE changes the priority to high. The second SELECT shows the value inside the transaction. ROLLBACK cancels the change, and the last SELECT shows the value after. You should see low, then high, then low.</a:t>
            </a:r>
          </a:p>
          <a:p/>
          <a:p>
            <a:r>
              <a:rPr sz="1200"/>
              <a:t>Section 2B is yours to write, and it follows the same pattern. Copy the six statements, change high to medium, and change ROLLBACK to COMMIT. This time, you should see low, then medium, then medium.</a:t>
            </a:r>
          </a:p>
          <a:p/>
          <a:p>
            <a:r>
              <a:rPr sz="1200"/>
              <a:t>Those six values go into the Transactions table in your README, laid out exactly like the table on this slide. Then explain the difference in a few sentences. Inside a transaction, your own session can already see its change. ROLLBACK throws the change away, so the row returns to low. COMMIT makes the change permanent, so medium remains.</a:t>
            </a:r>
          </a:p>
          <a:p/>
          <a:p>
            <a:r>
              <a:rPr sz="1200"/>
              <a:t>Run 2A before 2B. If you run them in the other order, your values will be different, and that is fine as long as you record and explain what you actually saw. When you finish Part 2, leave medium in place, because your recovery checks expect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3 goes back to the Week 5 blocking lab. You do not add anything to midterm.sql for this part. Everything goes into the Blocking section of your README.</a:t>
            </a:r>
          </a:p>
          <a:p/>
          <a:p>
            <a:r>
              <a:rPr sz="1200"/>
              <a:t>First, choose your evidence source, and write it on the Evidence source line. If you run the Week 5 notebook again, write my live run. If you use the results you saved in Week 5, write my saved Week 5 run. If you cannot connect, the notebook has a supplied trace near the end, and you write supplied trace analysis. All three paths are graded with the same criteria, as long as your label is honest.</a:t>
            </a:r>
          </a:p>
          <a:p/>
          <a:p>
            <a:r>
              <a:rPr sz="1200"/>
              <a:t>Then record the six things listed on the left: the diagnostic SQL, which is the query on pg_stat_activity that calls pg_blocking_pids; the blocked session's PID; the blocking session's PID; the row involved; the action that released the block; and the final values of that row.</a:t>
            </a:r>
          </a:p>
          <a:p/>
          <a:p>
            <a:r>
              <a:rPr sz="1200"/>
              <a:t>The box on the right shows how to read the diagnostic output. The blocked session is the one waiting, so its wait_event_type is Lock. Its blocking_pids column lists the PID of the session it is waiting for, and that session is the blocker. Finish by explaining the final row: which change survived, which change did not, and why.</a:t>
            </a:r>
          </a:p>
          <a:p/>
          <a:p>
            <a:r>
              <a:rPr sz="1200"/>
              <a:t>One warning. The Week 5 notebook uses a table called lock_lab, and its ticket 1004 starts at medium and open, not low and new. Take your values from the notebook, not from the midterm database.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4 is the recommended improvement, and the starter already contains every statement you need. The query asks for the newest open tickets, newest first.</a:t>
            </a:r>
          </a:p>
          <a:p/>
          <a:p>
            <a:r>
              <a:rPr sz="1200"/>
              <a:t>In Section 4A, run the SELECT by itself and write down the ticket IDs in order. Then run the EXPLAIN statement by itself and save its output. Running them one at a time matters, because the editor may show only the last result.</a:t>
            </a:r>
          </a:p>
          <a:p/>
          <a:p>
            <a:r>
              <a:rPr sz="1200"/>
              <a:t>In Section 4B, create the index once. If PostgreSQL reports that the index already exists, it was created earlier, maybe before your baseline. Unless you are sure Section 4A ran first, run the DROP INDEX line from the starter's comments and repeat 4A, 4B, and 4C.</a:t>
            </a:r>
          </a:p>
          <a:p/>
          <a:p>
            <a:r>
              <a:rPr sz="1200"/>
              <a:t>In Section 4C, run the same SELECT and the same EXPLAIN again, and then run the size query.</a:t>
            </a:r>
          </a:p>
          <a:p/>
          <a:p>
            <a:r>
              <a:rPr sz="1200"/>
              <a:t>The table shows what I measured on PostgreSQL 16. The IDs are 1011, 1007, and 1001, both before and after. The plan says Seq Scan on tickets both times. The index is 16384 bytes, which is 16 kilobytes. Your timings and cost numbers will be different, and that is expected.</a:t>
            </a:r>
          </a:p>
          <a:p/>
          <a:p>
            <a:r>
              <a:rPr sz="1200"/>
              <a:t>One detail confuses many people. After you create the index, the cost numbers in the plan may drop, even though the plan still says Seq Scan. Building the index also updated PostgreSQL's estimate of how many rows the table holds. A different estimate is not a different plan. Compare the scan type, such as Seq Scan, Index Scan, or Bitmap Heap Scan.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Many of you will see the same plan before and after the index, and you may think you did something wrong. You did not. An unchanged plan is a correct result for this database, and an honest explanation of it can earn full credit.</a:t>
            </a:r>
          </a:p>
          <a:p/>
          <a:p>
            <a:r>
              <a:rPr sz="1200"/>
              <a:t>Here is why it happens. All twelve tickets fit on a single eight-kilobyte page. To use the index, PostgreSQL would read index pages and then still read the table page. Reading the one table page directly is cheaper, so the planner chooses a sequential scan. An index like this one is designed for a much larger table, where reading every row would be slow.</a:t>
            </a:r>
          </a:p>
          <a:p/>
          <a:p>
            <a:r>
              <a:rPr sz="1200"/>
              <a:t>The list on the right is what your One improvement section covers. First, the problem the index is meant to solve, which is finding the newest open tickets quickly as the table grows. Second, whether your plan changed, quoting the scan line from each plan. Third, whether the result stayed the same, comparing the ordered IDs. Fourth, one cost of keeping the index, such as the storage it uses or the extra work on every insert and on any update that changes an indexed column. Fifth, the short recommendation the starter asks for: keep the index or drop it, and why.</a:t>
            </a:r>
          </a:p>
          <a:p/>
          <a:p>
            <a:r>
              <a:rPr sz="1200"/>
              <a:t>Do not add fake rows or change planner settings to force an index scan. The assignment does not allow it.</a:t>
            </a:r>
          </a:p>
          <a:p/>
          <a:p>
            <a:r>
              <a:rPr sz="1200"/>
              <a:t>If you prefer a different improvement, you may choose one alternative from class instead: a least-privilege grant, a row-level security test, or a safe schema change. Complete one improvement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5 waits until after next week, when we cover backup and restore. I am showing it now so you can see the whole project.</a:t>
            </a:r>
          </a:p>
          <a:p/>
          <a:p>
            <a:r>
              <a:rPr sz="1200"/>
              <a:t>The recovery plan is one section of your README, about a page at most, and it covers the six items on the left. The source is your practice database and the midterm_metro schema. The backup is a logical export, like the pg_dump command we use in Week 8, limited to the midterm_metro schema and saved as a file such as midterm_metro.dump. The template calls that file the artifact, so name it. The destination is a separate, empty database, on a server with the same or a newer PostgreSQL version. Never restore over the source, because then you are not testing anything. The restore uses pg_restore into that separate database. The checks are at least three, each with an expected result. The table on the right lists four good ones: the counts of eight, twelve, and twenty-one; twelve tickets joined to requesters; ticket 1004 still at medium; and the index still present. The limits describe what the backup leaves out, such as roles, permissions, other schemas, and Supabase settings.</a:t>
            </a:r>
          </a:p>
          <a:p/>
          <a:p>
            <a:r>
              <a:rPr sz="1200"/>
              <a:t>On the Status line, write proposed plan unless you actually performed the restore. Running the restore is optional. What matters is being clear about which checks you planned and which results you actually observed.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table maps the README template to the five parts, so you always know where a result belongs.</a:t>
            </a:r>
          </a:p>
          <a:p/>
          <a:p>
            <a:r>
              <a:rPr sz="1200"/>
              <a:t>Run order comes first. Explain how someone else would run your midterm.sql from the beginning, in which order to run the sections, and what the reset in Section 1 deletes. Imagine a classmate following your instructions without being able to ask you anything.</a:t>
            </a:r>
          </a:p>
          <a:p/>
          <a:p>
            <a:r>
              <a:rPr sz="1200"/>
              <a:t>Database checks holds Part 1: your counts, your join result, and your three controls. Transactions holds Part 2: the table of six values, followed by your explanation. Blocking holds Part 3: your evidence label, the diagnostic SQL, the two PIDs, the row, what released the block, and the final values. One improvement holds Part 4: the ordered IDs, the plan lines, the index size, and your explanation. Recovery plan holds Part 5, which you add after Week 8.</a:t>
            </a:r>
          </a:p>
          <a:p/>
          <a:p>
            <a:r>
              <a:rPr sz="1200"/>
              <a:t>References and assistance comes last. Name the starter, the notebooks, any documentation you used, and any assistance you received. Then say what you changed and what you observed yourself.</a:t>
            </a:r>
          </a:p>
          <a:p/>
          <a:p>
            <a:r>
              <a:rPr sz="1200"/>
              <a:t>At the very top of the README, fill in your name, your section, and your environment. To find your PostgreSQL version, run SELECT version, and copy the version number. Describe the environment in words, without any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rubric rewards honesty about evidence, so this slide applies to every part of the project.</a:t>
            </a:r>
          </a:p>
          <a:p/>
          <a:p>
            <a:r>
              <a:rPr sz="1200"/>
              <a:t>An observed result is something you saw in your own output. Write it as a plain fact, with the values, like the example on the left: my rollback test showed low before, high inside the transaction, and low after ROLLBACK.</a:t>
            </a:r>
          </a:p>
          <a:p/>
          <a:p>
            <a:r>
              <a:rPr sz="1200"/>
              <a:t>A prediction, or a proposal, is something you expect but did not run. Label it clearly, like the example on the right: I predict that a restored copy will contain twelve tickets; I have not run this restore. That sentence is completely acceptable in a recovery plan marked proposed plan.</a:t>
            </a:r>
          </a:p>
          <a:p/>
          <a:p>
            <a:r>
              <a:rPr sz="1200"/>
              <a:t>Three situations come up often. First, if you used the supplied blocking trace, those PIDs came from the notebook, not from your run, so say so. Second, if a step failed, write what failed and what you tried. A clear account of a failure is worth far more than a result you did not actually see. Third, copy values directly from your own output, not from these slides or the instructions. Your timings and cost numbers will not match mine, and they should not.</a:t>
            </a:r>
          </a:p>
          <a:p/>
          <a:p>
            <a:r>
              <a:rPr sz="1200"/>
              <a:t>Today's Colab notebook asks for the same distinction, so you will practice it in the second half of class.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rubric, out of one hundred points, with the evidence that earns each area.</a:t>
            </a:r>
          </a:p>
          <a:p/>
          <a:p>
            <a:r>
              <a:rPr sz="1200"/>
              <a:t>Twenty-five points are for a reproducible schema and data integrity. The evidence is the setup running, the counts of eight, twelve, and twenty-one, the twelve-row join, and three controls explained.</a:t>
            </a:r>
          </a:p>
          <a:p/>
          <a:p>
            <a:r>
              <a:rPr sz="1200"/>
              <a:t>Twenty-five points are for transactions and blocking. The evidence is the six observed values with an explanation, and a blocking record that matches its evidence and is labeled honestly.</a:t>
            </a:r>
          </a:p>
          <a:p/>
          <a:p>
            <a:r>
              <a:rPr sz="1200"/>
              <a:t>Twenty points are for one improvement. The evidence is a reason for the change, relevant before and after checks, and one tradeoff. On the index route, that means the ordered IDs, the plan lines, the index size, and one cost. A faster time or an index scan is not required.</a:t>
            </a:r>
          </a:p>
          <a:p/>
          <a:p>
            <a:r>
              <a:rPr sz="1200"/>
              <a:t>Fifteen points are for recovery readiness. The evidence is a plan with a separate destination and at least three meaningful checks with expected results.</a:t>
            </a:r>
          </a:p>
          <a:p/>
          <a:p>
            <a:r>
              <a:rPr sz="1200"/>
              <a:t>The last fifteen points are for documentation and communication. Someone else should be able to follow your two files without asking you questions. Your results should be easy to find, every template prompt should be replaced, and there should be no secrets anywhere.</a:t>
            </a:r>
          </a:p>
          <a:p/>
          <a:p>
            <a:r>
              <a:rPr sz="1200"/>
              <a:t>As the assignment says, a small working project with clear explanations is enough.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are the mistakes I expect to see most often, so you can avoid them.</a:t>
            </a:r>
          </a:p>
          <a:p/>
          <a:p>
            <a:r>
              <a:rPr sz="1200"/>
              <a:t>Rerunning Section 1 partway through the project. It resets ticket 1004 and deletes the index. Run it once, then work section by section.</a:t>
            </a:r>
          </a:p>
          <a:p/>
          <a:p>
            <a:r>
              <a:rPr sz="1200"/>
              <a:t>Splitting a transaction across separate runs. Keep BEGIN and its COMMIT or ROLLBACK in the same run, along with the SELECT statements around them.</a:t>
            </a:r>
          </a:p>
          <a:p/>
          <a:p>
            <a:r>
              <a:rPr sz="1200"/>
              <a:t>Recording only the last result the editor showed. If you see only the final value, use the Colab helper from the instructions or psql to see the value inside the transaction.</a:t>
            </a:r>
          </a:p>
          <a:p/>
          <a:p>
            <a:r>
              <a:rPr sz="1200"/>
              <a:t>Copying the expected values instead of your own output. The expected values are there so you can check your work, not replace it.</a:t>
            </a:r>
          </a:p>
          <a:p/>
          <a:p>
            <a:r>
              <a:rPr sz="1200"/>
              <a:t>Calling the supplied trace a live run. Label it supplied trace analysis.</a:t>
            </a:r>
          </a:p>
          <a:p/>
          <a:p>
            <a:r>
              <a:rPr sz="1200"/>
              <a:t>Adding fake rows or changing planner settings to force an index scan. An honest sequential scan is a good answer.</a:t>
            </a:r>
          </a:p>
          <a:p/>
          <a:p>
            <a:r>
              <a:rPr sz="1200"/>
              <a:t>Pasting a password or a connection string into a file. Describe your environment in words instead.</a:t>
            </a:r>
          </a:p>
          <a:p/>
          <a:p>
            <a:r>
              <a:rPr sz="1200"/>
              <a:t>Leaving square-bracket prompts from the template in your README.</a:t>
            </a:r>
          </a:p>
          <a:p/>
          <a:p>
            <a:r>
              <a:rPr sz="1200"/>
              <a:t>And finally, submitting the Colab notebook instead of the midterm files. Today's notebook is classwork. The midterm is midterm.sql and README.md in one ZIP.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timeline. Today you learn the project and do the preliminary research in Colab. In the first meeting next week, we do the backup and restore lab, which gives you everything you need for Part 5. The second meeting next week is a midterm clinic. Bring one concrete question and one part of the project that already works, and we will use the rubric to find your most valuable next step. The deadline for the ZIP with midterm.sql and README.md is posted in Brightspace.</a:t>
            </a:r>
          </a:p>
          <a:p/>
          <a:p>
            <a:r>
              <a:rPr sz="1200"/>
              <a:t>A good order is to finish Parts 1 and 2 first, because they are short and they set up the data for everything else. Then do Part 3 from your Week 5 work and Part 4 with the index experiment. Write Part 5 after the backup lab.</a:t>
            </a:r>
          </a:p>
          <a:p/>
          <a:p>
            <a:r>
              <a:rPr sz="1200"/>
              <a:t>Now I will take your questions about any part of the midterm. When we finish, open the Week 7 README and click the Open in Colab button, so you are ready to start the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Now for the research lab, which takes the rest of class except the last five minutes.</a:t>
            </a:r>
          </a:p>
          <a:p/>
          <a:p>
            <a:r>
              <a:rPr sz="1200"/>
              <a:t>Open the Week 7 README and click Open in Colab. Then choose File, Save a copy in Drive, and rename your copy Lastname_Week07_Research, using your own last name. You need no Supabase login, no password, and no installation. The notebook runs Python on data that is already inside it. Near the top, it shows the query from Part 4 of the midterm, the one that lists the newest open tickets. Everything you do today is about that query.</a:t>
            </a:r>
          </a:p>
          <a:p/>
          <a:p>
            <a:r>
              <a:rPr sz="1200"/>
              <a:t>The lab has four steps, shown on these cards: inspect the data for about ten minutes, read two short sources for about ten minutes, write for about twenty-five minutes, and check your work for about five minutes. I will put each step on the screen when it is time, so you always know what to do next.</a:t>
            </a:r>
          </a:p>
          <a:p/>
          <a:p>
            <a:r>
              <a:rPr sz="1200"/>
              <a:t>This writing gives you a head start on Part 4 of your README. Keep in mind that Python results describe the data. They do not show how PostgreSQL will run the query.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one is inspecting the data, for about ten minutes. Run the code cells from the top. The first output gives you three counts, and they go in the first row of your observation table.</a:t>
            </a:r>
          </a:p>
          <a:p/>
          <a:p>
            <a:r>
              <a:rPr sz="1200"/>
              <a:t>The next cell lists tickets with one status, newest first. Run it with the status set to open, and write down the ticket IDs in order. Then change the status to new, run it again, and write down that list too. Record the first list before you change anything, because the second run replaces the output.</a:t>
            </a:r>
          </a:p>
          <a:p/>
          <a:p>
            <a:r>
              <a:rPr sz="1200"/>
              <a:t>Then inspect one ticket. Ticket 1004 is already filled in, and you may switch to another ID you saw. Record its status and its requester.</a:t>
            </a:r>
          </a:p>
          <a:p/>
          <a:p>
            <a:r>
              <a:rPr sz="1200"/>
              <a:t>Two details trip people up. A blank assignee means nobody has been assigned yet; every ticket still has a requester. And MAX_ROWS is a ceiling of twenty, not a promise that twenty tickets match.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two is reading, for about ten minutes. If your observation table is not finished, finish it first, then open the two PostgreSQL documentation pages linked in the notebook. Read only the parts shown on this slide.</a:t>
            </a:r>
          </a:p>
          <a:p/>
          <a:p>
            <a:r>
              <a:rPr sz="1200"/>
              <a:t>On the first page, Indexes Introduction, read the opening example through the paragraph that begins, Once an index is created. Then read the final paragraph, about keeping an index synchronized with its table. Skip the discussion of operator classes.</a:t>
            </a:r>
          </a:p>
          <a:p/>
          <a:p>
            <a:r>
              <a:rPr sz="1200"/>
              <a:t>On the second page, Indexes and ORDER BY, read the first three paragraphs, through the discussion of ORDER BY with LIMIT. The later examples are optional.</a:t>
            </a:r>
          </a:p>
          <a:p/>
          <a:p>
            <a:r>
              <a:rPr sz="1200"/>
              <a:t>As you read, look for the three things at the bottom of the slide: what an index might let PostgreSQL avoid, why PostgreSQL might still choose another plan, and what extra work an index adds. Keep both links, because your writing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three is writing, and it takes about twenty-five minutes. You write between one hundred eighty and two hundred fifty words in total, spread across the three response cells, A, B, and C. The table shows what each one needs.</a:t>
            </a:r>
          </a:p>
          <a:p/>
          <a:p>
            <a:r>
              <a:rPr sz="1200"/>
              <a:t>Cell A, about fifty to seventy words, says what the query at the top of the notebook must return. Use two specific observations from your notebook, and explain why LIMIT 20 can return fewer than twenty rows in this dataset.</a:t>
            </a:r>
          </a:p>
          <a:p/>
          <a:p>
            <a:r>
              <a:rPr sz="1200"/>
              <a:t>Cell B, about eighty to one hundred ten words, explains how an index could help the filter or the ordering, and names one cost. Use one idea from each source and keep both links. Then explain why finding an index definition online does not prove that this small database will run faster.</a:t>
            </a:r>
          </a:p>
          <a:p/>
          <a:p>
            <a:r>
              <a:rPr sz="1200"/>
              <a:t>Cell C, about fifty to seventy words, describes one before-and-after test you will run in PostgreSQL for the midterm: what stays the same, which results and plan evidence you will compare, and what would make you keep or reconsider the index. Label your expected outcome as a prediction, and finish with one question you still need answered.</a:t>
            </a:r>
          </a:p>
          <a:p/>
          <a:p>
            <a:r>
              <a:rPr sz="1200"/>
              <a:t>Write in your own words. To edit a response cell, double-click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four is checking your work, for about five minutes before you submit. Go down the checklist on the left.</a:t>
            </a:r>
          </a:p>
          <a:p/>
          <a:p>
            <a:r>
              <a:rPr sz="1200"/>
              <a:t>Every row of your observation table should come from your own outputs. Cells A, B, and C should hold your writing in place of the prompts, between one hundred eighty and two hundred fifty words in total. Both source links should still be there. Every observation you wrote should match an output above it, and your expected test result should be labeled as a prediction. If a cell failed to run, say so, and label any supplied example you used. Never invent an observation.</a:t>
            </a:r>
          </a:p>
          <a:p/>
          <a:p>
            <a:r>
              <a:rPr sz="1200"/>
              <a:t>The box on the right shows what I look for: accurate observations, a connection between the two sources and this dataset, a test that compares the same query and results, and a clear line between what you observed and what you predict.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 have five minutes left, so it is time to save and submit.</a:t>
            </a:r>
          </a:p>
          <a:p/>
          <a:p>
            <a:r>
              <a:rPr sz="1200"/>
              <a:t>First, run every cell one more time, and then choose File, Save, so your outputs and your writing are stored in your Drive copy. Second, click Share and give me viewer access. Third, copy the link. Fourth, paste that link into today's classwork assignment in Brightspace.</a:t>
            </a:r>
          </a:p>
          <a:p/>
          <a:p>
            <a:r>
              <a:rPr sz="1200"/>
              <a:t>Make sure you submit the link to your own saved copy, Lastname_Week07_Research. The link to the starter notebook on GitHub or in Colab does not contain your work. You do not need to upload a file or take screenshots.</a:t>
            </a:r>
          </a:p>
          <a:p/>
          <a:p>
            <a:r>
              <a:rPr sz="1200"/>
              <a:t>Before you go, keep the two submissions separate in your mind. Today's notebook is classwork, and you submit its link now. The midterm is midterm.sql and README.md in one ZIP, due on the date in Brightspace. Next week, we cover backup and restore, and then we hold the midterm clinic. Bring one question and one working part of your project. Thank you, everyone, and I will see you next week.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When does an index help? (1:44); Reading a query plan (0:55); Selectivity: why a Seq Scan can beat an index (1:07); How a B-tree index finds rows (0:58); Composite indexes: column order matters (1:08); Testing an index hypothesis (1:03). Each video is silent with on-screen captions and a subtitle file, and is linked from the Week 7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3a857311e8b146f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aeb1c548614452d" Type="http://schemas.openxmlformats.org/officeDocument/2006/relationships/theme" Target="theme/theme2.xml"/><Relationship Id="Rc5868ca63d674c9f"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868ca63d674c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7c957244d2f40b3" Type="http://schemas.openxmlformats.org/officeDocument/2006/relationships/slideLayout" Target="../slideLayouts/slideLayout1.xml"/><Relationship Id="R2c741e9332f54c0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2b414c9dea24fde" Type="http://schemas.openxmlformats.org/officeDocument/2006/relationships/notesSlide" Target="../notesSlides/notesSlide2.xml"/><Relationship Id="Rc515150b1b8d453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0e523b638540da" Type="http://schemas.openxmlformats.org/officeDocument/2006/relationships/notesSlide" Target="../notesSlides/notesSlide3.xml"/><Relationship Id="Rb20dd4c18231457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94b3ad7a87394ad9" Type="http://schemas.openxmlformats.org/officeDocument/2006/relationships/slideLayout" Target="../slideLayouts/slideLayout1.xml"/><Relationship Id="Ra54cffefb3084a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1bc84bb914f4d8c" Type="http://schemas.openxmlformats.org/officeDocument/2006/relationships/slideLayout" Target="../slideLayouts/slideLayout1.xml"/><Relationship Id="R85912887b87f449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7/videos/01_index_usefulness.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7/videos/02_reading_a_query_plan.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7/videos/03_selectivity.mp4" TargetMode="External"/><Relationship Id="rId8" Type="http://schemas.openxmlformats.org/officeDocument/2006/relationships/image" Target="../media/image4.png"/><Relationship Id="rId9" Type="http://schemas.openxmlformats.org/officeDocument/2006/relationships/hyperlink" Target="https://github.com/lolusername/CST4714_DB_admin/blob/main/week_07/videos/04_btree_index.mp4" TargetMode="External"/><Relationship Id="rId10" Type="http://schemas.openxmlformats.org/officeDocument/2006/relationships/image" Target="../media/image5.png"/><Relationship Id="rId11" Type="http://schemas.openxmlformats.org/officeDocument/2006/relationships/hyperlink" Target="https://github.com/lolusername/CST4714_DB_admin/blob/main/week_07/videos/05_composite_index.mp4" TargetMode="External"/><Relationship Id="rId12" Type="http://schemas.openxmlformats.org/officeDocument/2006/relationships/image" Target="../media/image6.png"/><Relationship Id="rId13" Type="http://schemas.openxmlformats.org/officeDocument/2006/relationships/hyperlink" Target="https://github.com/lolusername/CST4714_DB_admin/blob/main/week_07/videos/06_index_experiment.mp4" TargetMode="External"/><Relationship Id="rId14" Type="http://schemas.openxmlformats.org/officeDocument/2006/relationships/notesSlide" Target="../notesSlides/notesSlide24.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accent"/>
          <p:cNvSpPr/>
          <p:nvPr/>
        </p:nvSpPr>
        <p:spPr>
          <a:xfrm>
            <a:off x="609600" y="1625600"/>
            <a:ext cx="914400" cy="50800"/>
          </a:xfrm>
          <a:prstGeom prst="rect">
            <a:avLst/>
          </a:prstGeom>
          <a:solidFill>
            <a:srgbClr val="BF3E05"/>
          </a:solidFill>
          <a:ln>
            <a:noFill/>
          </a:ln>
        </p:spPr>
      </p:sp>
      <p:sp xmlns:a="http://schemas.openxmlformats.org/drawingml/2006/main">
        <p:nvSpPr>
          <p:cNvPr id="5" name="deck-title"/>
          <p:cNvSpPr/>
          <p:nvPr/>
        </p:nvSpPr>
        <p:spPr>
          <a:xfrm>
            <a:off x="609600" y="1854200"/>
            <a:ext cx="10972800" cy="685800"/>
          </a:xfrm>
          <a:prstGeom prst="rect">
            <a:avLst/>
          </a:prstGeom>
          <a:noFill/>
          <a:ln>
            <a:noFill/>
          </a:ln>
        </p:spPr>
        <p:txBody>
          <a:bodyPr wrap="square" lIns="0" tIns="0" rIns="0" bIns="0" anchor="t" rtlCol="0">
            <a:noAutofit/>
          </a:bodyPr>
          <a:lstStyle/>
          <a:p>
            <a:pPr algn="l">
              <a:buNone/>
            </a:pPr>
            <a:r>
              <a:rPr lang="en-US" sz="4000" b="1" i="0" dirty="0">
                <a:solidFill>
                  <a:srgbClr val="111827"/>
                </a:solidFill>
                <a:latin typeface="Helvetica Neue"/>
                <a:ea typeface="Helvetica Neue"/>
                <a:cs typeface="Helvetica Neue"/>
              </a:rPr>
              <a:t>The Midterm, Step by Step</a:t>
            </a:r>
            <a:endParaRPr lang="en-US" sz="4000" dirty="0"/>
          </a:p>
        </p:txBody>
      </p:sp>
      <p:sp xmlns:a="http://schemas.openxmlformats.org/drawingml/2006/main">
        <p:nvSpPr>
          <p:cNvPr id="6" name="subtitle"/>
          <p:cNvSpPr/>
          <p:nvPr/>
        </p:nvSpPr>
        <p:spPr>
          <a:xfrm>
            <a:off x="609600" y="2616200"/>
            <a:ext cx="10972800" cy="381000"/>
          </a:xfrm>
          <a:prstGeom prst="rect">
            <a:avLst/>
          </a:prstGeom>
          <a:noFill/>
          <a:ln>
            <a:noFill/>
          </a:ln>
        </p:spPr>
        <p:txBody>
          <a:bodyPr wrap="square" lIns="0" tIns="0" rIns="0" bIns="0" anchor="t" rtlCol="0">
            <a:noAutofit/>
          </a:bodyPr>
          <a:lstStyle/>
          <a:p>
            <a:pPr algn="l">
              <a:buNone/>
            </a:pPr>
            <a:r>
              <a:rPr lang="en-US" sz="2000" b="0" i="0" dirty="0">
                <a:solidFill>
                  <a:srgbClr val="64748B"/>
                </a:solidFill>
                <a:latin typeface="Helvetica Neue"/>
                <a:ea typeface="Helvetica Neue"/>
                <a:cs typeface="Helvetica Neue"/>
              </a:rPr>
              <a:t>Midterm explanation and preliminary research</a:t>
            </a:r>
            <a:endParaRPr lang="en-US" sz="2000" dirty="0"/>
          </a:p>
        </p:txBody>
      </p:sp>
      <p:sp xmlns:a="http://schemas.openxmlformats.org/drawingml/2006/main">
        <p:nvSpPr>
          <p:cNvPr id="7" name="today-label"/>
          <p:cNvSpPr/>
          <p:nvPr/>
        </p:nvSpPr>
        <p:spPr>
          <a:xfrm>
            <a:off x="609600" y="3403600"/>
            <a:ext cx="3810000" cy="228600"/>
          </a:xfrm>
          <a:prstGeom prst="rect">
            <a:avLst/>
          </a:prstGeom>
          <a:noFill/>
          <a:ln>
            <a:noFill/>
          </a:ln>
        </p:spPr>
        <p:txBody>
          <a:bodyPr wrap="square" lIns="0" tIns="0" rIns="0" bIns="0" anchor="t" rtlCol="0">
            <a:noAutofit/>
          </a:bodyPr>
          <a:lstStyle/>
          <a:p>
            <a:pPr algn="l">
              <a:buNone/>
            </a:pPr>
            <a:r>
              <a:rPr lang="en-US" sz="1100" b="1" i="0" dirty="0">
                <a:solidFill>
                  <a:srgbClr val="BF3E05"/>
                </a:solidFill>
                <a:latin typeface="Helvetica Neue"/>
                <a:ea typeface="Helvetica Neue"/>
                <a:cs typeface="Helvetica Neue"/>
              </a:rPr>
              <a:t>TODAY</a:t>
            </a:r>
            <a:endParaRPr lang="en-US" sz="1100" dirty="0"/>
          </a:p>
        </p:txBody>
      </p:sp>
      <p:sp xmlns:a="http://schemas.openxmlformats.org/drawingml/2006/main">
        <p:nvSpPr>
          <p:cNvPr id="8" name="today-rule-0"/>
          <p:cNvSpPr/>
          <p:nvPr/>
        </p:nvSpPr>
        <p:spPr>
          <a:xfrm>
            <a:off x="609600" y="3708400"/>
            <a:ext cx="10972800" cy="9525"/>
          </a:xfrm>
          <a:prstGeom prst="rect">
            <a:avLst/>
          </a:prstGeom>
          <a:solidFill>
            <a:srgbClr val="CBD5E1"/>
          </a:solidFill>
          <a:ln>
            <a:noFill/>
          </a:ln>
        </p:spPr>
      </p:sp>
      <p:sp xmlns:a="http://schemas.openxmlformats.org/drawingml/2006/main">
        <p:nvSpPr>
          <p:cNvPr id="9" name="today-time-0"/>
          <p:cNvSpPr/>
          <p:nvPr/>
        </p:nvSpPr>
        <p:spPr>
          <a:xfrm>
            <a:off x="609600" y="387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0–45 min</a:t>
            </a:r>
            <a:endParaRPr lang="en-US" sz="1800" dirty="0"/>
          </a:p>
        </p:txBody>
      </p:sp>
      <p:sp xmlns:a="http://schemas.openxmlformats.org/drawingml/2006/main">
        <p:nvSpPr>
          <p:cNvPr id="10" name="today-what-0"/>
          <p:cNvSpPr/>
          <p:nvPr/>
        </p:nvSpPr>
        <p:spPr>
          <a:xfrm>
            <a:off x="2717800" y="387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The midterm, part by part, and your questions</a:t>
            </a:r>
            <a:endParaRPr lang="en-US" sz="1800" dirty="0"/>
          </a:p>
        </p:txBody>
      </p:sp>
      <p:sp xmlns:a="http://schemas.openxmlformats.org/drawingml/2006/main">
        <p:nvSpPr>
          <p:cNvPr id="11" name="today-rule-1"/>
          <p:cNvSpPr/>
          <p:nvPr/>
        </p:nvSpPr>
        <p:spPr>
          <a:xfrm>
            <a:off x="609600" y="4343400"/>
            <a:ext cx="10972800" cy="9525"/>
          </a:xfrm>
          <a:prstGeom prst="rect">
            <a:avLst/>
          </a:prstGeom>
          <a:solidFill>
            <a:srgbClr val="CBD5E1"/>
          </a:solidFill>
          <a:ln>
            <a:noFill/>
          </a:ln>
        </p:spPr>
      </p:sp>
      <p:sp xmlns:a="http://schemas.openxmlformats.org/drawingml/2006/main">
        <p:nvSpPr>
          <p:cNvPr id="12" name="today-time-1"/>
          <p:cNvSpPr/>
          <p:nvPr/>
        </p:nvSpPr>
        <p:spPr>
          <a:xfrm>
            <a:off x="609600" y="4508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45–95 min</a:t>
            </a:r>
            <a:endParaRPr lang="en-US" sz="1800" dirty="0"/>
          </a:p>
        </p:txBody>
      </p:sp>
      <p:sp xmlns:a="http://schemas.openxmlformats.org/drawingml/2006/main">
        <p:nvSpPr>
          <p:cNvPr id="13" name="today-what-1"/>
          <p:cNvSpPr/>
          <p:nvPr/>
        </p:nvSpPr>
        <p:spPr>
          <a:xfrm>
            <a:off x="2717800" y="4508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Research lab in Colab</a:t>
            </a:r>
            <a:endParaRPr lang="en-US" sz="1800" dirty="0"/>
          </a:p>
        </p:txBody>
      </p:sp>
      <p:sp xmlns:a="http://schemas.openxmlformats.org/drawingml/2006/main">
        <p:nvSpPr>
          <p:cNvPr id="14" name="today-rule-2"/>
          <p:cNvSpPr/>
          <p:nvPr/>
        </p:nvSpPr>
        <p:spPr>
          <a:xfrm>
            <a:off x="609600" y="4978400"/>
            <a:ext cx="10972800" cy="9525"/>
          </a:xfrm>
          <a:prstGeom prst="rect">
            <a:avLst/>
          </a:prstGeom>
          <a:solidFill>
            <a:srgbClr val="CBD5E1"/>
          </a:solidFill>
          <a:ln>
            <a:noFill/>
          </a:ln>
        </p:spPr>
      </p:sp>
      <p:sp xmlns:a="http://schemas.openxmlformats.org/drawingml/2006/main">
        <p:nvSpPr>
          <p:cNvPr id="15" name="today-time-2"/>
          <p:cNvSpPr/>
          <p:nvPr/>
        </p:nvSpPr>
        <p:spPr>
          <a:xfrm>
            <a:off x="609600" y="514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95–100 min</a:t>
            </a:r>
            <a:endParaRPr lang="en-US" sz="1800" dirty="0"/>
          </a:p>
        </p:txBody>
      </p:sp>
      <p:sp xmlns:a="http://schemas.openxmlformats.org/drawingml/2006/main">
        <p:nvSpPr>
          <p:cNvPr id="16" name="today-what-2"/>
          <p:cNvSpPr/>
          <p:nvPr/>
        </p:nvSpPr>
        <p:spPr>
          <a:xfrm>
            <a:off x="2717800" y="514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Save, share, and submit your Colab link</a:t>
            </a:r>
            <a:endParaRPr lang="en-US" sz="1800" dirty="0"/>
          </a:p>
        </p:txBody>
      </p:sp>
      <p:sp xmlns:a="http://schemas.openxmlformats.org/drawingml/2006/main">
        <p:nvSpPr>
          <p:cNvPr id="17" name="today-rule-end"/>
          <p:cNvSpPr/>
          <p:nvPr/>
        </p:nvSpPr>
        <p:spPr>
          <a:xfrm>
            <a:off x="609600" y="5613400"/>
            <a:ext cx="10972800" cy="9525"/>
          </a:xfrm>
          <a:prstGeom prst="rect">
            <a:avLst/>
          </a:prstGeom>
          <a:solidFill>
            <a:srgbClr val="CBD5E1"/>
          </a:solidFill>
          <a:ln>
            <a:noFill/>
          </a:ln>
        </p:spPr>
      </p:sp>
      <p:sp xmlns:a="http://schemas.openxmlformats.org/drawingml/2006/main">
        <p:nvSpPr>
          <p:cNvPr id="18" name="byline"/>
          <p:cNvSpPr/>
          <p:nvPr/>
        </p:nvSpPr>
        <p:spPr>
          <a:xfrm>
            <a:off x="609600" y="6172200"/>
            <a:ext cx="8890000" cy="228600"/>
          </a:xfrm>
          <a:prstGeom prst="rect">
            <a:avLst/>
          </a:prstGeom>
          <a:noFill/>
          <a:ln>
            <a:noFill/>
          </a:ln>
        </p:spPr>
        <p:txBody>
          <a:bodyPr wrap="square" lIns="0" tIns="0" rIns="0" bIns="0" anchor="t" rtlCol="0">
            <a:noAutofit/>
          </a:bodyPr>
          <a:lstStyle/>
          <a:p>
            <a:pPr algn="l">
              <a:buNone/>
            </a:pPr>
            <a:r>
              <a:rPr lang="en-US" sz="1200" b="0" i="0" dirty="0">
                <a:solidFill>
                  <a:srgbClr val="64748B"/>
                </a:solidFill>
                <a:latin typeface="Helvetica Neue"/>
                <a:ea typeface="Helvetica Neue"/>
                <a:cs typeface="Helvetica Neue"/>
              </a:rPr>
              <a:t>CST4714 Database Administration · Fall 2026</a:t>
            </a:r>
            <a:endParaRPr lang="en-US" sz="1200" dirty="0"/>
          </a:p>
        </p:txBody>
      </p:sp>
      <p:sp xmlns:a="http://schemas.openxmlformats.org/drawingml/2006/main">
        <p:nvSpPr>
          <p:cNvPr id="19"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01</a:t>
            </a:r>
            <a:endParaRPr lang="en-US" sz="900" dirty="0"/>
          </a:p>
        </p:txBody>
      </p:sp>
    </p:spTree>
    <p:extLst>
      <p:ext uri="{BB962C8B-B14F-4D97-AF65-F5344CB8AC3E}">
        <p14:creationId xmlns:p14="http://schemas.microsoft.com/office/powerpoint/2010/main" val="8731058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midterm asks you to show</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02</a:t>
            </a:r>
            <a:endParaRPr lang="en-US" sz="900" dirty="0"/>
          </a:p>
        </p:txBody>
      </p:sp>
      <p:sp xmlns:a="http://schemas.openxmlformats.org/drawingml/2006/main">
        <p:nvSpPr>
          <p:cNvPr id="7" name="lead"/>
          <p:cNvSpPr/>
          <p:nvPr/>
        </p:nvSpPr>
        <p:spPr>
          <a:xfrm>
            <a:off x="609600" y="1524000"/>
            <a:ext cx="10972800" cy="711200"/>
          </a:xfrm>
          <a:prstGeom prst="rect">
            <a:avLst/>
          </a:prstGeom>
          <a:noFill/>
          <a:ln>
            <a:noFill/>
          </a:ln>
        </p:spPr>
        <p:txBody>
          <a:bodyPr wrap="square" lIns="0" tIns="0" rIns="0" bIns="0" anchor="t" rtlCol="0">
            <a:noAutofit/>
          </a:bodyPr>
          <a:lstStyle/>
          <a:p>
            <a:pPr algn="l">
              <a:buNone/>
            </a:pPr>
            <a:r>
              <a:rPr lang="en-US" sz="2000" b="0" i="0" dirty="0">
                <a:solidFill>
                  <a:srgbClr val="111827"/>
                </a:solidFill>
                <a:latin typeface="Helvetica Neue"/>
                <a:ea typeface="Helvetica Neue"/>
                <a:cs typeface="Helvetica Neue"/>
              </a:rPr>
              <a:t>Run a small PostgreSQL database safely, prove what happened,</a:t>
            </a:r>
            <a:endParaRPr lang="en-US" sz="2000" dirty="0"/>
          </a:p>
          <a:p>
            <a:pPr algn="l">
              <a:buNone/>
            </a:pPr>
            <a:r>
              <a:rPr lang="en-US" sz="2000" b="0" i="0" dirty="0">
                <a:solidFill>
                  <a:srgbClr val="111827"/>
                </a:solidFill>
                <a:latin typeface="Helvetica Neue"/>
                <a:ea typeface="Helvetica Neue"/>
                <a:cs typeface="Helvetica Neue"/>
              </a:rPr>
              <a:t>and explain it in your own words.</a:t>
            </a:r>
            <a:endParaRPr lang="en-US" sz="2000" dirty="0"/>
          </a:p>
        </p:txBody>
      </p:sp>
      <p:sp xmlns:a="http://schemas.openxmlformats.org/drawingml/2006/main">
        <p:nvSpPr>
          <p:cNvPr id="8" name="part-badge-1"/>
          <p:cNvSpPr/>
          <p:nvPr/>
        </p:nvSpPr>
        <p:spPr>
          <a:xfrm>
            <a:off x="609600" y="2489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9" name="part-1"/>
          <p:cNvSpPr/>
          <p:nvPr/>
        </p:nvSpPr>
        <p:spPr>
          <a:xfrm>
            <a:off x="1168400" y="2540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Check the data</a:t>
            </a:r>
            <a:r>
              <a:rPr lang="en-US" sz="1900" b="0" i="0" dirty="0">
                <a:solidFill>
                  <a:srgbClr val="111827"/>
                </a:solidFill>
                <a:latin typeface="Helvetica Neue"/>
                <a:ea typeface="Helvetica Neue"/>
                <a:cs typeface="Helvetica Neue"/>
              </a:rPr>
              <a:t> and explain three integrity controls</a:t>
            </a:r>
            <a:endParaRPr lang="en-US" sz="1900" dirty="0"/>
          </a:p>
        </p:txBody>
      </p:sp>
      <p:sp xmlns:a="http://schemas.openxmlformats.org/drawingml/2006/main">
        <p:nvSpPr>
          <p:cNvPr id="10" name="part-badge-2"/>
          <p:cNvSpPr/>
          <p:nvPr/>
        </p:nvSpPr>
        <p:spPr>
          <a:xfrm>
            <a:off x="609600" y="3060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1" name="part-2"/>
          <p:cNvSpPr/>
          <p:nvPr/>
        </p:nvSpPr>
        <p:spPr>
          <a:xfrm>
            <a:off x="1168400" y="3111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Roll back</a:t>
            </a:r>
            <a:r>
              <a:rPr lang="en-US" sz="1900" b="0" i="0" dirty="0">
                <a:solidFill>
                  <a:srgbClr val="111827"/>
                </a:solidFill>
                <a:latin typeface="Helvetica Neue"/>
                <a:ea typeface="Helvetica Neue"/>
                <a:cs typeface="Helvetica Neue"/>
              </a:rPr>
              <a:t> one change and </a:t>
            </a:r>
            <a:r>
              <a:rPr lang="en-US" sz="1900" b="1" i="0" dirty="0">
                <a:solidFill>
                  <a:srgbClr val="111827"/>
                </a:solidFill>
                <a:latin typeface="Helvetica Neue"/>
                <a:ea typeface="Helvetica Neue"/>
                <a:cs typeface="Helvetica Neue"/>
              </a:rPr>
              <a:t>commit</a:t>
            </a:r>
            <a:r>
              <a:rPr lang="en-US" sz="1900" b="0" i="0" dirty="0">
                <a:solidFill>
                  <a:srgbClr val="111827"/>
                </a:solidFill>
                <a:latin typeface="Helvetica Neue"/>
                <a:ea typeface="Helvetica Neue"/>
                <a:cs typeface="Helvetica Neue"/>
              </a:rPr>
              <a:t> another</a:t>
            </a:r>
            <a:endParaRPr lang="en-US" sz="1900" dirty="0"/>
          </a:p>
        </p:txBody>
      </p:sp>
      <p:sp xmlns:a="http://schemas.openxmlformats.org/drawingml/2006/main">
        <p:nvSpPr>
          <p:cNvPr id="12" name="part-badge-3"/>
          <p:cNvSpPr/>
          <p:nvPr/>
        </p:nvSpPr>
        <p:spPr>
          <a:xfrm>
            <a:off x="609600" y="3632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3" name="part-3"/>
          <p:cNvSpPr/>
          <p:nvPr/>
        </p:nvSpPr>
        <p:spPr>
          <a:xfrm>
            <a:off x="1168400" y="3683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Explain one blocking incident</a:t>
            </a:r>
            <a:r>
              <a:rPr lang="en-US" sz="1900" b="0" i="0" dirty="0">
                <a:solidFill>
                  <a:srgbClr val="111827"/>
                </a:solidFill>
                <a:latin typeface="Helvetica Neue"/>
                <a:ea typeface="Helvetica Neue"/>
                <a:cs typeface="Helvetica Neue"/>
              </a:rPr>
              <a:t> from the Week 5 lab</a:t>
            </a:r>
            <a:endParaRPr lang="en-US" sz="1900" dirty="0"/>
          </a:p>
        </p:txBody>
      </p:sp>
      <p:sp xmlns:a="http://schemas.openxmlformats.org/drawingml/2006/main">
        <p:nvSpPr>
          <p:cNvPr id="14" name="part-badge-4"/>
          <p:cNvSpPr/>
          <p:nvPr/>
        </p:nvSpPr>
        <p:spPr>
          <a:xfrm>
            <a:off x="609600" y="4203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5" name="part-4"/>
          <p:cNvSpPr/>
          <p:nvPr/>
        </p:nvSpPr>
        <p:spPr>
          <a:xfrm>
            <a:off x="1168400" y="4254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Test one improvement</a:t>
            </a:r>
            <a:r>
              <a:rPr lang="en-US" sz="1900" b="0" i="0" dirty="0">
                <a:solidFill>
                  <a:srgbClr val="111827"/>
                </a:solidFill>
                <a:latin typeface="Helvetica Neue"/>
                <a:ea typeface="Helvetica Neue"/>
                <a:cs typeface="Helvetica Neue"/>
              </a:rPr>
              <a:t>; the recommended one is an index</a:t>
            </a:r>
            <a:endParaRPr lang="en-US" sz="1900" dirty="0"/>
          </a:p>
        </p:txBody>
      </p:sp>
      <p:sp xmlns:a="http://schemas.openxmlformats.org/drawingml/2006/main">
        <p:nvSpPr>
          <p:cNvPr id="16" name="part-badge-5"/>
          <p:cNvSpPr/>
          <p:nvPr/>
        </p:nvSpPr>
        <p:spPr>
          <a:xfrm>
            <a:off x="609600" y="4775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5</a:t>
            </a:r>
            <a:endParaRPr lang="en-US" sz="1500" dirty="0"/>
          </a:p>
        </p:txBody>
      </p:sp>
      <p:sp xmlns:a="http://schemas.openxmlformats.org/drawingml/2006/main">
        <p:nvSpPr>
          <p:cNvPr id="17" name="part-5"/>
          <p:cNvSpPr/>
          <p:nvPr/>
        </p:nvSpPr>
        <p:spPr>
          <a:xfrm>
            <a:off x="1168400" y="4826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Plan a recovery</a:t>
            </a:r>
            <a:r>
              <a:rPr lang="en-US" sz="1900" b="0" i="0" dirty="0">
                <a:solidFill>
                  <a:srgbClr val="111827"/>
                </a:solidFill>
                <a:latin typeface="Helvetica Neue"/>
                <a:ea typeface="Helvetica Neue"/>
                <a:cs typeface="Helvetica Neue"/>
              </a:rPr>
              <a:t> after the Week 8 lesson</a:t>
            </a:r>
            <a:endParaRPr lang="en-US" sz="1900" dirty="0"/>
          </a:p>
        </p:txBody>
      </p:sp>
      <p:sp xmlns:a="http://schemas.openxmlformats.org/drawingml/2006/main">
        <p:nvSpPr>
          <p:cNvPr id="18" name="facts-box"/>
          <p:cNvSpPr/>
          <p:nvPr/>
        </p:nvSpPr>
        <p:spPr>
          <a:xfrm>
            <a:off x="609600" y="5486400"/>
            <a:ext cx="10972800" cy="660400"/>
          </a:xfrm>
          <a:prstGeom prst="rect">
            <a:avLst/>
          </a:prstGeom>
          <a:solidFill>
            <a:srgbClr val="F1F5F9"/>
          </a:solidFill>
          <a:ln>
            <a:noFill/>
          </a:ln>
        </p:spPr>
      </p:sp>
      <p:sp xmlns:a="http://schemas.openxmlformats.org/drawingml/2006/main">
        <p:nvSpPr>
          <p:cNvPr id="19" name="facts"/>
          <p:cNvSpPr/>
          <p:nvPr/>
        </p:nvSpPr>
        <p:spPr>
          <a:xfrm>
            <a:off x="609600" y="5486400"/>
            <a:ext cx="10972800" cy="660400"/>
          </a:xfrm>
          <a:prstGeom prst="rect">
            <a:avLst/>
          </a:prstGeom>
          <a:noFill/>
          <a:ln>
            <a:no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Individual   ·   30% of the course grade   ·   midterm.sql + README.md in one ZIP   ·   Deadline in Brightspace</a:t>
            </a:r>
            <a:endParaRPr lang="en-US" sz="1500" dirty="0"/>
          </a:p>
        </p:txBody>
      </p:sp>
    </p:spTree>
    <p:extLst>
      <p:ext uri="{BB962C8B-B14F-4D97-AF65-F5344CB8AC3E}">
        <p14:creationId xmlns:p14="http://schemas.microsoft.com/office/powerpoint/2010/main" val="136491783"/>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starter gives you and what you add</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03</a:t>
            </a:r>
            <a:endParaRPr lang="en-US" sz="900" dirty="0"/>
          </a:p>
        </p:txBody>
      </p:sp>
      <p:graphicFrame xmlns:a="http://schemas.openxmlformats.org/drawingml/2006/main">
        <p:nvGraphicFramePr>
          <p:cNvPr id="7" name="supplied-table"/>
          <p:cNvGraphicFramePr>
            <a:graphicFrameLocks noGrp="1"/>
          </p:cNvGraphicFramePr>
          <p:nvPr/>
        </p:nvGraphicFramePr>
        <p:xfrm>
          <a:off x="609600" y="1524000"/>
          <a:ext cx="10972800" cy="3027680"/>
        </p:xfrm>
        <a:graphic>
          <a:graphicData uri="http://schemas.openxmlformats.org/drawingml/2006/table">
            <a:tbl>
              <a:tblPr firstRow="1" bandRow="1"/>
              <a:tblGrid>
                <a:gridCol w="1905000"/>
                <a:gridCol w="4191000"/>
                <a:gridCol w="4876800"/>
              </a:tblGrid>
              <a:tr h="406400">
                <a:tc>
                  <a:txBody>
                    <a:bodyPr/>
                    <a:lstStyle/>
                    <a:p>
                      <a:pPr algn="l">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Already supplied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you add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Setup</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Three tables, all seed data, the count query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Run SECTION 1 once and record the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1  Data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Constraints you can explain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1" i="0" dirty="0">
                          <a:solidFill>
                            <a:srgbClr val="111827"/>
                          </a:solidFill>
                          <a:latin typeface="Helvetica Neue"/>
                          <a:ea typeface="Helvetica Neue"/>
                          <a:cs typeface="Helvetica Neue"/>
                        </a:rPr>
                        <a:t>The requester join</a:t>
                      </a:r>
                      <a:r>
                        <a:rPr lang="en-US" sz="1400" b="0" i="0" dirty="0">
                          <a:solidFill>
                            <a:srgbClr val="111827"/>
                          </a:solidFill>
                          <a:latin typeface="Helvetica Neue"/>
                          <a:ea typeface="Helvetica Neue"/>
                          <a:cs typeface="Helvetica Neue"/>
                        </a:rPr>
                        <a:t>, then three controls explained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2  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complete rollback example, 2A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1" i="0" dirty="0">
                          <a:solidFill>
                            <a:srgbClr val="111827"/>
                          </a:solidFill>
                          <a:latin typeface="Helvetica Neue"/>
                          <a:ea typeface="Helvetica Neue"/>
                          <a:cs typeface="Helvetica Neue"/>
                        </a:rPr>
                        <a:t>The commit example, 2B</a:t>
                      </a:r>
                      <a:r>
                        <a:rPr lang="en-US" sz="1400" b="0" i="0" dirty="0">
                          <a:solidFill>
                            <a:srgbClr val="111827"/>
                          </a:solidFill>
                          <a:latin typeface="Helvetica Neue"/>
                          <a:ea typeface="Helvetica Neue"/>
                          <a:cs typeface="Helvetica Neue"/>
                        </a:rPr>
                        <a:t>, then six observed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3  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5 notebook and its supplied trace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written explanation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4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whole index experiment, 4A to 4C</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Your IDs, plan lines, index size, and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5  Recovery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8 lesson and its commands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short recovery plan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xmlns:a="http://schemas.openxmlformats.org/drawingml/2006/main">
        <p:nvSpPr>
          <p:cNvPr id="8" name="workload-box"/>
          <p:cNvSpPr/>
          <p:nvPr/>
        </p:nvSpPr>
        <p:spPr>
          <a:xfrm>
            <a:off x="609600" y="4826000"/>
            <a:ext cx="10972800" cy="1066800"/>
          </a:xfrm>
          <a:prstGeom prst="rect">
            <a:avLst/>
          </a:prstGeom>
          <a:solidFill>
            <a:srgbClr val="FFF4EC"/>
          </a:solidFill>
          <a:ln>
            <a:noFill/>
          </a:ln>
        </p:spPr>
      </p:sp>
      <p:sp xmlns:a="http://schemas.openxmlformats.org/drawingml/2006/main">
        <p:nvSpPr>
          <p:cNvPr id="9" name="workload-bar"/>
          <p:cNvSpPr/>
          <p:nvPr/>
        </p:nvSpPr>
        <p:spPr>
          <a:xfrm>
            <a:off x="609600" y="4826000"/>
            <a:ext cx="63500" cy="1066800"/>
          </a:xfrm>
          <a:prstGeom prst="rect">
            <a:avLst/>
          </a:prstGeom>
          <a:solidFill>
            <a:srgbClr val="BF3E05"/>
          </a:solidFill>
          <a:ln>
            <a:noFill/>
          </a:ln>
        </p:spPr>
      </p:sp>
      <p:sp xmlns:a="http://schemas.openxmlformats.org/drawingml/2006/main">
        <p:nvSpPr>
          <p:cNvPr id="10" name="workload"/>
          <p:cNvSpPr/>
          <p:nvPr/>
        </p:nvSpPr>
        <p:spPr>
          <a:xfrm>
            <a:off x="889000" y="4978400"/>
            <a:ext cx="10515600" cy="762000"/>
          </a:xfrm>
          <a:prstGeom prst="rect">
            <a:avLst/>
          </a:prstGeom>
          <a:noFill/>
          <a:ln>
            <a:noFill/>
          </a:ln>
        </p:spPr>
        <p:txBody>
          <a:bodyPr wrap="square" lIns="0" tIns="0" rIns="0" bIns="0" anchor="ctr" rtlCol="0">
            <a:noAutofit/>
          </a:bodyPr>
          <a:lstStyle/>
          <a:p>
            <a:pPr algn="l">
              <a:lnSpc>
                <a:spcPct val="105000"/>
              </a:lnSpc>
              <a:buNone/>
            </a:pPr>
            <a:r>
              <a:rPr lang="en-US" sz="1700" b="0" i="0" dirty="0">
                <a:solidFill>
                  <a:srgbClr val="111827"/>
                </a:solidFill>
                <a:latin typeface="Helvetica Neue"/>
                <a:ea typeface="Helvetica Neue"/>
                <a:cs typeface="Helvetica Neue"/>
              </a:rPr>
              <a:t>You write </a:t>
            </a:r>
            <a:r>
              <a:rPr lang="en-US" sz="1700" b="1" i="0" dirty="0">
                <a:solidFill>
                  <a:srgbClr val="111827"/>
                </a:solidFill>
                <a:latin typeface="Helvetica Neue"/>
                <a:ea typeface="Helvetica Neue"/>
                <a:cs typeface="Helvetica Neue"/>
              </a:rPr>
              <a:t>two small pieces of SQL</a:t>
            </a:r>
            <a:r>
              <a:rPr lang="en-US" sz="1700" b="0" i="0" dirty="0">
                <a:solidFill>
                  <a:srgbClr val="111827"/>
                </a:solidFill>
                <a:latin typeface="Helvetica Neue"/>
                <a:ea typeface="Helvetica Neue"/>
                <a:cs typeface="Helvetica Neue"/>
              </a:rPr>
              <a:t>: the requester join and the commit example. Most of your grade comes from </a:t>
            </a:r>
            <a:r>
              <a:rPr lang="en-US" sz="1700" b="1" i="0" dirty="0">
                <a:solidFill>
                  <a:srgbClr val="111827"/>
                </a:solidFill>
                <a:latin typeface="Helvetica Neue"/>
                <a:ea typeface="Helvetica Neue"/>
                <a:cs typeface="Helvetica Neue"/>
              </a:rPr>
              <a:t>recording real results and explaining them</a:t>
            </a:r>
            <a:r>
              <a:rPr lang="en-US" sz="1700" b="0" i="0" dirty="0">
                <a:solidFill>
                  <a:srgbClr val="111827"/>
                </a:solidFill>
                <a:latin typeface="Helvetica Neue"/>
                <a:ea typeface="Helvetica Neue"/>
                <a:cs typeface="Helvetica Neue"/>
              </a:rPr>
              <a:t>.</a:t>
            </a:r>
            <a:endParaRPr lang="en-US" sz="1700" dirty="0"/>
          </a:p>
        </p:txBody>
      </p:sp>
    </p:spTree>
    <p:extLst>
      <p:ext uri="{BB962C8B-B14F-4D97-AF65-F5344CB8AC3E}">
        <p14:creationId xmlns:p14="http://schemas.microsoft.com/office/powerpoint/2010/main" val="13649178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Two files: what goes where</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04</a:t>
            </a:r>
            <a:endParaRPr lang="en-US" sz="900" dirty="0"/>
          </a:p>
        </p:txBody>
      </p:sp>
      <p:sp xmlns:a="http://schemas.openxmlformats.org/drawingml/2006/main">
        <p:nvSpPr>
          <p:cNvPr id="7" name="sql-panel-head"/>
          <p:cNvSpPr/>
          <p:nvPr/>
        </p:nvSpPr>
        <p:spPr>
          <a:xfrm>
            <a:off x="6096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midterm.sql  ·  what you ran</a:t>
            </a:r>
            <a:endParaRPr lang="en-US" sz="1600" dirty="0"/>
          </a:p>
        </p:txBody>
      </p:sp>
      <p:sp xmlns:a="http://schemas.openxmlformats.org/drawingml/2006/main">
        <p:nvSpPr>
          <p:cNvPr id="8" name="sql-panel-body"/>
          <p:cNvSpPr/>
          <p:nvPr/>
        </p:nvSpPr>
        <p:spPr>
          <a:xfrm>
            <a:off x="609600" y="2032000"/>
            <a:ext cx="5334000" cy="3276600"/>
          </a:xfrm>
          <a:prstGeom prst="rect">
            <a:avLst/>
          </a:prstGeom>
          <a:solidFill>
            <a:srgbClr val="FFFFFF"/>
          </a:solidFill>
          <a:ln w="9525">
            <a:solidFill>
              <a:srgbClr val="CBD5E1"/>
            </a:solidFill>
          </a:ln>
        </p:spPr>
      </p:sp>
      <p:sp xmlns:a="http://schemas.openxmlformats.org/drawingml/2006/main">
        <p:nvSpPr>
          <p:cNvPr id="9" name="sql-panel"/>
          <p:cNvSpPr/>
          <p:nvPr/>
        </p:nvSpPr>
        <p:spPr>
          <a:xfrm>
            <a:off x="8128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supplied setup and count query</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Your requester join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Rollback 2A and your commit 2B</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index experiment, 4A to 4C</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Optional expected-error tests, commented out</a:t>
            </a:r>
            <a:endParaRPr lang="en-US" sz="1700" dirty="0"/>
          </a:p>
        </p:txBody>
      </p:sp>
      <p:sp xmlns:a="http://schemas.openxmlformats.org/drawingml/2006/main">
        <p:nvSpPr>
          <p:cNvPr id="10" name="readme-panel-head"/>
          <p:cNvSpPr/>
          <p:nvPr/>
        </p:nvSpPr>
        <p:spPr>
          <a:xfrm>
            <a:off x="62484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README.md  ·  what happened and why</a:t>
            </a:r>
            <a:endParaRPr lang="en-US" sz="1600" dirty="0"/>
          </a:p>
        </p:txBody>
      </p:sp>
      <p:sp xmlns:a="http://schemas.openxmlformats.org/drawingml/2006/main">
        <p:nvSpPr>
          <p:cNvPr id="11" name="readme-panel-body"/>
          <p:cNvSpPr/>
          <p:nvPr/>
        </p:nvSpPr>
        <p:spPr>
          <a:xfrm>
            <a:off x="6248400" y="2032000"/>
            <a:ext cx="5334000" cy="3276600"/>
          </a:xfrm>
          <a:prstGeom prst="rect">
            <a:avLst/>
          </a:prstGeom>
          <a:solidFill>
            <a:srgbClr val="FFFFFF"/>
          </a:solidFill>
          <a:ln w="9525">
            <a:solidFill>
              <a:srgbClr val="CBD5E1"/>
            </a:solidFill>
          </a:ln>
        </p:spPr>
      </p:sp>
      <p:sp xmlns:a="http://schemas.openxmlformats.org/drawingml/2006/main">
        <p:nvSpPr>
          <p:cNvPr id="12" name="readme-panel"/>
          <p:cNvSpPr/>
          <p:nvPr/>
        </p:nvSpPr>
        <p:spPr>
          <a:xfrm>
            <a:off x="64516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Run order and environment</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Counts, join result, and three controls</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Six transaction values and an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blocking record and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Index results, one cost, and a recommendation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recovery plan, after Week 8</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References and assistance</a:t>
            </a:r>
            <a:endParaRPr lang="en-US" sz="1700" dirty="0"/>
          </a:p>
        </p:txBody>
      </p:sp>
      <p:sp xmlns:a="http://schemas.openxmlformats.org/drawingml/2006/main">
        <p:nvSpPr>
          <p:cNvPr id="13" name="zip-box"/>
          <p:cNvSpPr/>
          <p:nvPr/>
        </p:nvSpPr>
        <p:spPr>
          <a:xfrm>
            <a:off x="609600" y="5588000"/>
            <a:ext cx="10972800" cy="635000"/>
          </a:xfrm>
          <a:prstGeom prst="rect">
            <a:avLst/>
          </a:prstGeom>
          <a:solidFill>
            <a:srgbClr val="FFF4EC"/>
          </a:solidFill>
          <a:ln>
            <a:noFill/>
          </a:ln>
        </p:spPr>
      </p:sp>
      <p:sp xmlns:a="http://schemas.openxmlformats.org/drawingml/2006/main">
        <p:nvSpPr>
          <p:cNvPr id="14" name="zip-bar"/>
          <p:cNvSpPr/>
          <p:nvPr/>
        </p:nvSpPr>
        <p:spPr>
          <a:xfrm>
            <a:off x="609600" y="5588000"/>
            <a:ext cx="63500" cy="635000"/>
          </a:xfrm>
          <a:prstGeom prst="rect">
            <a:avLst/>
          </a:prstGeom>
          <a:solidFill>
            <a:srgbClr val="BF3E05"/>
          </a:solidFill>
          <a:ln>
            <a:noFill/>
          </a:ln>
        </p:spPr>
      </p:sp>
      <p:sp xmlns:a="http://schemas.openxmlformats.org/drawingml/2006/main">
        <p:nvSpPr>
          <p:cNvPr id="15" name="zip"/>
          <p:cNvSpPr/>
          <p:nvPr/>
        </p:nvSpPr>
        <p:spPr>
          <a:xfrm>
            <a:off x="889000" y="57404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Submit </a:t>
            </a:r>
            <a:r>
              <a:rPr lang="en-US" sz="1600" b="1" i="0" dirty="0">
                <a:solidFill>
                  <a:srgbClr val="111827"/>
                </a:solidFill>
                <a:latin typeface="Helvetica Neue"/>
                <a:ea typeface="Helvetica Neue"/>
                <a:cs typeface="Helvetica Neue"/>
              </a:rPr>
              <a:t>one ZIP</a:t>
            </a:r>
            <a:r>
              <a:rPr lang="en-US" sz="1600" b="0" i="0" dirty="0">
                <a:solidFill>
                  <a:srgbClr val="111827"/>
                </a:solidFill>
                <a:latin typeface="Helvetica Neue"/>
                <a:ea typeface="Helvetica Neue"/>
                <a:cs typeface="Helvetica Neue"/>
              </a:rPr>
              <a:t> with both files. No passwords, connection strings, or API keys anywhere.</a:t>
            </a:r>
            <a:endParaRPr lang="en-US" sz="1600" dirty="0"/>
          </a:p>
        </p:txBody>
      </p:sp>
    </p:spTree>
    <p:extLst>
      <p:ext uri="{BB962C8B-B14F-4D97-AF65-F5344CB8AC3E}">
        <p14:creationId xmlns:p14="http://schemas.microsoft.com/office/powerpoint/2010/main" val="13649178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Run the starter safely and see every result</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05</a:t>
            </a:r>
            <a:endParaRPr lang="en-US" sz="900" dirty="0"/>
          </a:p>
        </p:txBody>
      </p:sp>
      <p:sp xmlns:a="http://schemas.openxmlformats.org/drawingml/2006/main">
        <p:nvSpPr>
          <p:cNvPr id="7" name="rule-badge-1"/>
          <p:cNvSpPr/>
          <p:nvPr/>
        </p:nvSpPr>
        <p:spPr>
          <a:xfrm>
            <a:off x="609600" y="1600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8" name="rule-1"/>
          <p:cNvSpPr/>
          <p:nvPr/>
        </p:nvSpPr>
        <p:spPr>
          <a:xfrm>
            <a:off x="1168400" y="16383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Practice database only.</a:t>
            </a:r>
            <a:r>
              <a:rPr lang="en-US" sz="1600" b="0" i="0" dirty="0">
                <a:solidFill>
                  <a:srgbClr val="111827"/>
                </a:solidFill>
                <a:latin typeface="Helvetica Neue"/>
                <a:ea typeface="Helvetica Neue"/>
                <a:cs typeface="Helvetica Neue"/>
              </a:rPr>
              <a:t> SECTION 1 drops and rebuilds the midterm_metro schema.</a:t>
            </a:r>
            <a:endParaRPr lang="en-US" sz="1600" dirty="0"/>
          </a:p>
        </p:txBody>
      </p:sp>
      <p:sp xmlns:a="http://schemas.openxmlformats.org/drawingml/2006/main">
        <p:nvSpPr>
          <p:cNvPr id="9" name="rule-badge-2"/>
          <p:cNvSpPr/>
          <p:nvPr/>
        </p:nvSpPr>
        <p:spPr>
          <a:xfrm>
            <a:off x="609600" y="24384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0" name="rule-2"/>
          <p:cNvSpPr/>
          <p:nvPr/>
        </p:nvSpPr>
        <p:spPr>
          <a:xfrm>
            <a:off x="1168400" y="24765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Run SECTION 1 once.</a:t>
            </a:r>
            <a:r>
              <a:rPr lang="en-US" sz="1600" b="0" i="0" dirty="0">
                <a:solidFill>
                  <a:srgbClr val="111827"/>
                </a:solidFill>
                <a:latin typeface="Helvetica Neue"/>
                <a:ea typeface="Helvetica Neue"/>
                <a:cs typeface="Helvetica Neue"/>
              </a:rPr>
              <a:t> Then highlight one section and run only that section.</a:t>
            </a:r>
            <a:endParaRPr lang="en-US" sz="1600" dirty="0"/>
          </a:p>
        </p:txBody>
      </p:sp>
      <p:sp xmlns:a="http://schemas.openxmlformats.org/drawingml/2006/main">
        <p:nvSpPr>
          <p:cNvPr id="11" name="rule-badge-3"/>
          <p:cNvSpPr/>
          <p:nvPr/>
        </p:nvSpPr>
        <p:spPr>
          <a:xfrm>
            <a:off x="609600" y="3276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2" name="rule-3"/>
          <p:cNvSpPr/>
          <p:nvPr/>
        </p:nvSpPr>
        <p:spPr>
          <a:xfrm>
            <a:off x="1168400" y="33147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Do not rerun SECTION 1 midway.</a:t>
            </a:r>
            <a:r>
              <a:rPr lang="en-US" sz="1600" b="0" i="0" dirty="0">
                <a:solidFill>
                  <a:srgbClr val="111827"/>
                </a:solidFill>
                <a:latin typeface="Helvetica Neue"/>
                <a:ea typeface="Helvetica Neue"/>
                <a:cs typeface="Helvetica Neue"/>
              </a:rPr>
              <a:t> It resets ticket 1004 to low and removes the index.</a:t>
            </a:r>
            <a:endParaRPr lang="en-US" sz="1600" dirty="0"/>
          </a:p>
        </p:txBody>
      </p:sp>
      <p:sp xmlns:a="http://schemas.openxmlformats.org/drawingml/2006/main">
        <p:nvSpPr>
          <p:cNvPr id="13" name="rule-badge-4"/>
          <p:cNvSpPr/>
          <p:nvPr/>
        </p:nvSpPr>
        <p:spPr>
          <a:xfrm>
            <a:off x="609600" y="4114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4" name="rule-4"/>
          <p:cNvSpPr/>
          <p:nvPr/>
        </p:nvSpPr>
        <p:spPr>
          <a:xfrm>
            <a:off x="1168400" y="41529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Keep each transaction together.</a:t>
            </a:r>
            <a:r>
              <a:rPr lang="en-US" sz="1600" b="0" i="0" dirty="0">
                <a:solidFill>
                  <a:srgbClr val="111827"/>
                </a:solidFill>
                <a:latin typeface="Helvetica Neue"/>
                <a:ea typeface="Helvetica Neue"/>
                <a:cs typeface="Helvetica Neue"/>
              </a:rPr>
              <a:t> Run it from its first SELECT to its last as one block.</a:t>
            </a:r>
            <a:endParaRPr lang="en-US" sz="1600" dirty="0"/>
          </a:p>
        </p:txBody>
      </p:sp>
      <p:sp xmlns:a="http://schemas.openxmlformats.org/drawingml/2006/main">
        <p:nvSpPr>
          <p:cNvPr id="15" name="every-result-box"/>
          <p:cNvSpPr/>
          <p:nvPr/>
        </p:nvSpPr>
        <p:spPr>
          <a:xfrm>
            <a:off x="7264400" y="1549400"/>
            <a:ext cx="4318000" cy="3352800"/>
          </a:xfrm>
          <a:prstGeom prst="rect">
            <a:avLst/>
          </a:prstGeom>
          <a:solidFill>
            <a:srgbClr val="FFF4EC"/>
          </a:solidFill>
          <a:ln>
            <a:noFill/>
          </a:ln>
        </p:spPr>
      </p:sp>
      <p:sp xmlns:a="http://schemas.openxmlformats.org/drawingml/2006/main">
        <p:nvSpPr>
          <p:cNvPr id="16" name="every-result-bar"/>
          <p:cNvSpPr/>
          <p:nvPr/>
        </p:nvSpPr>
        <p:spPr>
          <a:xfrm>
            <a:off x="7264400" y="1549400"/>
            <a:ext cx="63500" cy="3352800"/>
          </a:xfrm>
          <a:prstGeom prst="rect">
            <a:avLst/>
          </a:prstGeom>
          <a:solidFill>
            <a:srgbClr val="BF3E05"/>
          </a:solidFill>
          <a:ln>
            <a:noFill/>
          </a:ln>
        </p:spPr>
      </p:sp>
      <p:sp xmlns:a="http://schemas.openxmlformats.org/drawingml/2006/main">
        <p:nvSpPr>
          <p:cNvPr id="17" name="every-result"/>
          <p:cNvSpPr/>
          <p:nvPr/>
        </p:nvSpPr>
        <p:spPr>
          <a:xfrm>
            <a:off x="7543800" y="1701800"/>
            <a:ext cx="3860800" cy="3048000"/>
          </a:xfrm>
          <a:prstGeom prst="rect">
            <a:avLst/>
          </a:prstGeom>
          <a:noFill/>
          <a:ln>
            <a:noFill/>
          </a:ln>
        </p:spPr>
        <p:txBody>
          <a:bodyPr wrap="square" lIns="0" tIns="0" rIns="0" bIns="0" anchor="t" rtlCol="0">
            <a:noAutofit/>
          </a:bodyPr>
          <a:lstStyle/>
          <a:p>
            <a:pPr algn="l">
              <a:spcAft>
                <a:spcPts val="1000"/>
              </a:spcAft>
              <a:buNone/>
            </a:pPr>
            <a:r>
              <a:rPr lang="en-US" sz="1800" b="1" i="0" dirty="0">
                <a:solidFill>
                  <a:srgbClr val="BF3E05"/>
                </a:solidFill>
                <a:latin typeface="Helvetica Neue"/>
                <a:ea typeface="Helvetica Neue"/>
                <a:cs typeface="Helvetica Neue"/>
              </a:rPr>
              <a:t>Seeing every result</a:t>
            </a:r>
            <a:endParaRPr lang="en-US" sz="1800" dirty="0"/>
          </a:p>
          <a:p>
            <a:pPr algn="l">
              <a:spcAft>
                <a:spcPts val="1000"/>
              </a:spcAft>
              <a:buNone/>
            </a:pPr>
            <a:r>
              <a:rPr lang="en-US" sz="1550" b="0" i="0" dirty="0">
                <a:solidFill>
                  <a:srgbClr val="111827"/>
                </a:solidFill>
                <a:latin typeface="Helvetica Neue"/>
                <a:ea typeface="Helvetica Neue"/>
                <a:cs typeface="Helvetica Neue"/>
              </a:rPr>
              <a:t>The Supabase SQL Editor may show only the </a:t>
            </a:r>
            <a:r>
              <a:rPr lang="en-US" sz="1550" b="1" i="0" dirty="0">
                <a:solidFill>
                  <a:srgbClr val="111827"/>
                </a:solidFill>
                <a:latin typeface="Helvetica Neue"/>
                <a:ea typeface="Helvetica Neue"/>
                <a:cs typeface="Helvetica Neue"/>
              </a:rPr>
              <a:t>last result</a:t>
            </a:r>
            <a:r>
              <a:rPr lang="en-US" sz="1550" b="0" i="0" dirty="0">
                <a:solidFill>
                  <a:srgbClr val="111827"/>
                </a:solidFill>
                <a:latin typeface="Helvetica Neue"/>
                <a:ea typeface="Helvetica Neue"/>
                <a:cs typeface="Helvetica Neue"/>
              </a:rPr>
              <a:t> of a run. That hides the value inside a transaction.</a:t>
            </a:r>
            <a:endParaRPr lang="en-US" sz="1550" dirty="0"/>
          </a:p>
          <a:p>
            <a:pPr algn="l">
              <a:buNone/>
            </a:pPr>
            <a:r>
              <a:rPr lang="en-US" sz="1550" b="0" i="0" dirty="0">
                <a:solidFill>
                  <a:srgbClr val="111827"/>
                </a:solidFill>
                <a:latin typeface="Helvetica Neue"/>
                <a:ea typeface="Helvetica Neue"/>
                <a:cs typeface="Helvetica Neue"/>
              </a:rPr>
              <a:t>For Part 2, use the </a:t>
            </a:r>
            <a:r>
              <a:rPr lang="en-US" sz="1400" b="0" i="0" dirty="0">
                <a:solidFill>
                  <a:srgbClr val="111827"/>
                </a:solidFill>
                <a:latin typeface="Menlo"/>
                <a:ea typeface="Menlo"/>
                <a:cs typeface="Menlo"/>
              </a:rPr>
              <a:t>run_sql</a:t>
            </a:r>
            <a:r>
              <a:rPr lang="en-US" sz="1550" b="0" i="0" dirty="0">
                <a:solidFill>
                  <a:srgbClr val="111827"/>
                </a:solidFill>
                <a:latin typeface="Helvetica Neue"/>
                <a:ea typeface="Helvetica Neue"/>
                <a:cs typeface="Helvetica Neue"/>
              </a:rPr>
              <a:t> Colab helper in the midterm instructions, or a </a:t>
            </a:r>
            <a:r>
              <a:rPr lang="en-US" sz="1400" b="0" i="0" dirty="0">
                <a:solidFill>
                  <a:srgbClr val="111827"/>
                </a:solidFill>
                <a:latin typeface="Menlo"/>
                <a:ea typeface="Menlo"/>
                <a:cs typeface="Menlo"/>
              </a:rPr>
              <a:t>psql</a:t>
            </a:r>
            <a:r>
              <a:rPr lang="en-US" sz="1550" b="0" i="0" dirty="0">
                <a:solidFill>
                  <a:srgbClr val="111827"/>
                </a:solidFill>
                <a:latin typeface="Helvetica Neue"/>
                <a:ea typeface="Helvetica Neue"/>
                <a:cs typeface="Helvetica Neue"/>
              </a:rPr>
              <a:t> session. Both print every result in order.</a:t>
            </a:r>
            <a:endParaRPr lang="en-US" sz="1550" dirty="0"/>
          </a:p>
        </p:txBody>
      </p:sp>
      <p:sp xmlns:a="http://schemas.openxmlformats.org/drawingml/2006/main">
        <p:nvSpPr>
          <p:cNvPr id="18" name="reset-note"/>
          <p:cNvSpPr/>
          <p:nvPr/>
        </p:nvSpPr>
        <p:spPr>
          <a:xfrm>
            <a:off x="609600" y="5207000"/>
            <a:ext cx="10972800" cy="762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Need a clean start? Rerun SECTION 1, then repeat Parts 2 and 4 in order.</a:t>
            </a:r>
            <a:endParaRPr lang="en-US" sz="1500" dirty="0"/>
          </a:p>
        </p:txBody>
      </p:sp>
    </p:spTree>
    <p:extLst>
      <p:ext uri="{BB962C8B-B14F-4D97-AF65-F5344CB8AC3E}">
        <p14:creationId xmlns:p14="http://schemas.microsoft.com/office/powerpoint/2010/main" val="136491783"/>
      </p:ext>
    </p:extLst>
  </p:cSld>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Load and check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06</a:t>
            </a:r>
            <a:endParaRPr lang="en-US" sz="900" dirty="0"/>
          </a:p>
        </p:txBody>
      </p:sp>
      <p:sp>
        <p:nvSpPr>
          <p:cNvPr id="7" name="step1"/>
          <p:cNvSpPr/>
          <p:nvPr/>
        </p:nvSpPr>
        <p:spPr>
          <a:xfrm>
            <a:off x="609600" y="1549400"/>
            <a:ext cx="4191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1 · RUN SECTION 1</a:t>
            </a:r>
            <a:endParaRPr lang="en-US" sz="1300" dirty="0"/>
          </a:p>
        </p:txBody>
      </p:sp>
      <p:graphicFrame>
        <p:nvGraphicFramePr>
          <p:cNvPr id="8" name="counts"/>
          <p:cNvGraphicFramePr>
            <a:graphicFrameLocks noGrp="1"/>
          </p:cNvGraphicFramePr>
          <p:nvPr/>
        </p:nvGraphicFramePr>
        <p:xfrm>
          <a:off x="609600" y="1905000"/>
          <a:ext cx="4191000" cy="1625600"/>
        </p:xfrm>
        <a:graphic>
          <a:graphicData uri="http://schemas.openxmlformats.org/drawingml/2006/table">
            <a:tbl>
              <a:tblPr firstRow="1" bandRow="1"/>
              <a:tblGrid>
                <a:gridCol w="2667000"/>
                <a:gridCol w="1524000"/>
              </a:tblGrid>
              <a:tr h="406400">
                <a:tc>
                  <a:txBody>
                    <a:bodyPr/>
                    <a:lstStyle/>
                    <a:p>
                      <a:pPr algn="l">
                        <a:buNone/>
                      </a:pPr>
                      <a:r>
                        <a:rPr lang="en-US" sz="1600" b="1" i="0" dirty="0">
                          <a:solidFill>
                            <a:srgbClr val="FFFFFF"/>
                          </a:solidFill>
                          <a:latin typeface="Helvetica Neue"/>
                          <a:ea typeface="Helvetica Neue"/>
                          <a:cs typeface="Helvetica Neue"/>
                        </a:rPr>
                        <a:t>table_name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r">
                        <a:buNone/>
                      </a:pPr>
                      <a:r>
                        <a:rPr lang="en-US" sz="1600" b="1" i="0" dirty="0">
                          <a:solidFill>
                            <a:srgbClr val="FFFFFF"/>
                          </a:solidFill>
                          <a:latin typeface="Helvetica Neue"/>
                          <a:ea typeface="Helvetica Neue"/>
                          <a:cs typeface="Helvetica Neue"/>
                        </a:rPr>
                        <a:t>row_count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600" b="0" i="0" dirty="0">
                          <a:solidFill>
                            <a:srgbClr val="111827"/>
                          </a:solidFill>
                          <a:latin typeface="Helvetica Neue"/>
                          <a:ea typeface="Helvetica Neue"/>
                          <a:cs typeface="Helvetica Neue"/>
                        </a:rPr>
                        <a:t>users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8</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600" b="0" i="0" dirty="0">
                          <a:solidFill>
                            <a:srgbClr val="111827"/>
                          </a:solidFill>
                          <a:latin typeface="Helvetica Neue"/>
                          <a:ea typeface="Helvetica Neue"/>
                          <a:cs typeface="Helvetica Neue"/>
                        </a:rPr>
                        <a:t>tickets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r">
                        <a:buNone/>
                      </a:pPr>
                      <a:r>
                        <a:rPr lang="en-US" sz="1600" b="0" i="0" dirty="0">
                          <a:solidFill>
                            <a:srgbClr val="111827"/>
                          </a:solidFill>
                          <a:latin typeface="Helvetica Neue"/>
                          <a:ea typeface="Helvetica Neue"/>
                          <a:cs typeface="Helvetica Neue"/>
                        </a:rPr>
                        <a:t>12</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600" b="0" i="0" dirty="0">
                          <a:solidFill>
                            <a:srgbClr val="111827"/>
                          </a:solidFill>
                          <a:latin typeface="Helvetica Neue"/>
                          <a:ea typeface="Helvetica Neue"/>
                          <a:cs typeface="Helvetica Neue"/>
                        </a:rPr>
                        <a:t>ticket_events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21</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counts-note"/>
          <p:cNvSpPr/>
          <p:nvPr/>
        </p:nvSpPr>
        <p:spPr>
          <a:xfrm>
            <a:off x="609600" y="3708400"/>
            <a:ext cx="4191000" cy="558800"/>
          </a:xfrm>
          <a:prstGeom prst="rect">
            <a:avLst/>
          </a:prstGeom>
          <a:noFill/>
          <a:ln>
            <a:noFill/>
          </a:ln>
        </p:spPr>
        <p:txBody>
          <a:bodyPr wrap="square" lIns="0" tIns="0" rIns="0" bIns="0" anchor="t" rtlCol="0">
            <a:noAutofit/>
          </a:bodyPr>
          <a:lstStyle/>
          <a:p>
            <a:pPr algn="l">
              <a:buNone/>
            </a:pPr>
            <a:r>
              <a:rPr lang="en-US" sz="1400" b="0" i="0" dirty="0">
                <a:solidFill>
                  <a:srgbClr val="64748B"/>
                </a:solidFill>
                <a:latin typeface="Helvetica Neue"/>
                <a:ea typeface="Helvetica Neue"/>
                <a:cs typeface="Helvetica Neue"/>
              </a:rPr>
              <a:t>If your counts differ, rerun SECTION 1 before going further.</a:t>
            </a:r>
            <a:endParaRPr lang="en-US" sz="1400" dirty="0"/>
          </a:p>
        </p:txBody>
      </p:sp>
      <p:sp>
        <p:nvSpPr>
          <p:cNvPr id="10" name="step2"/>
          <p:cNvSpPr/>
          <p:nvPr/>
        </p:nvSpPr>
        <p:spPr>
          <a:xfrm>
            <a:off x="5105400" y="1549400"/>
            <a:ext cx="6477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2 · WRITE THE REQUESTER JOIN</a:t>
            </a:r>
            <a:endParaRPr lang="en-US" sz="1300" dirty="0"/>
          </a:p>
        </p:txBody>
      </p:sp>
      <p:sp>
        <p:nvSpPr>
          <p:cNvPr id="11" name="join-code-bg"/>
          <p:cNvSpPr/>
          <p:nvPr/>
        </p:nvSpPr>
        <p:spPr>
          <a:xfrm>
            <a:off x="5105400" y="1905000"/>
            <a:ext cx="6477000" cy="1371600"/>
          </a:xfrm>
          <a:prstGeom prst="rect">
            <a:avLst/>
          </a:prstGeom>
          <a:solidFill>
            <a:srgbClr val="101728"/>
          </a:solidFill>
          <a:ln>
            <a:noFill/>
          </a:ln>
        </p:spPr>
      </p:sp>
      <p:sp>
        <p:nvSpPr>
          <p:cNvPr id="12" name="join-code"/>
          <p:cNvSpPr/>
          <p:nvPr/>
        </p:nvSpPr>
        <p:spPr>
          <a:xfrm>
            <a:off x="5308600" y="2057400"/>
            <a:ext cx="6070600" cy="1066800"/>
          </a:xfrm>
          <a:prstGeom prst="rect">
            <a:avLst/>
          </a:prstGeom>
          <a:noFill/>
          <a:ln>
            <a:noFill/>
          </a:ln>
        </p:spPr>
        <p:txBody>
          <a:bodyPr wrap="square" lIns="0" tIns="0" rIns="0" bIns="0" anchor="t" rtlCol="0">
            <a:noAutofit/>
          </a:bodyPr>
          <a:lstStyle/>
          <a:p>
            <a:pPr algn="l">
              <a:lnSpc>
                <a:spcPct val="114999"/>
              </a:lnSpc>
              <a:buNone/>
            </a:pPr>
            <a:r>
              <a:rPr lang="en-US" sz="1300" b="0" i="0" dirty="0">
                <a:solidFill>
                  <a:srgbClr val="E2E8F0"/>
                </a:solidFill>
                <a:latin typeface="Menlo"/>
                <a:ea typeface="Menlo"/>
                <a:cs typeface="Menlo"/>
              </a:rPr>
              <a:t>SELECT t.ticket_id, u.display_name AS requester</a:t>
            </a:r>
            <a:endParaRPr lang="en-US" sz="1300" dirty="0"/>
          </a:p>
          <a:p>
            <a:pPr algn="l">
              <a:lnSpc>
                <a:spcPct val="114999"/>
              </a:lnSpc>
              <a:buNone/>
            </a:pPr>
            <a:r>
              <a:rPr lang="en-US" sz="1300" b="0" i="0" dirty="0">
                <a:solidFill>
                  <a:srgbClr val="E2E8F0"/>
                </a:solidFill>
                <a:latin typeface="Menlo"/>
                <a:ea typeface="Menlo"/>
                <a:cs typeface="Menlo"/>
              </a:rPr>
              <a:t>FROM midterm_metro.tickets AS t</a:t>
            </a:r>
            <a:endParaRPr lang="en-US" sz="1300" dirty="0"/>
          </a:p>
          <a:p>
            <a:pPr algn="l">
              <a:lnSpc>
                <a:spcPct val="114999"/>
              </a:lnSpc>
              <a:buNone/>
            </a:pPr>
            <a:r>
              <a:rPr lang="en-US" sz="1300" b="0" i="0" dirty="0">
                <a:solidFill>
                  <a:srgbClr val="E2E8F0"/>
                </a:solidFill>
                <a:latin typeface="Menlo"/>
                <a:ea typeface="Menlo"/>
                <a:cs typeface="Menlo"/>
              </a:rPr>
              <a:t>JOIN midterm_metro.users AS u ON ______ = ______</a:t>
            </a:r>
            <a:endParaRPr lang="en-US" sz="1300" dirty="0"/>
          </a:p>
          <a:p>
            <a:pPr algn="l">
              <a:lnSpc>
                <a:spcPct val="114999"/>
              </a:lnSpc>
              <a:buNone/>
            </a:pPr>
            <a:r>
              <a:rPr lang="en-US" sz="1300" b="0" i="0" dirty="0">
                <a:solidFill>
                  <a:srgbClr val="E2E8F0"/>
                </a:solidFill>
                <a:latin typeface="Menlo"/>
                <a:ea typeface="Menlo"/>
                <a:cs typeface="Menlo"/>
              </a:rPr>
              <a:t>ORDER BY t.ticket_id;</a:t>
            </a:r>
            <a:endParaRPr lang="en-US" sz="1300" dirty="0"/>
          </a:p>
        </p:txBody>
      </p:sp>
      <p:sp>
        <p:nvSpPr>
          <p:cNvPr id="13" name="join-hint"/>
          <p:cNvSpPr/>
          <p:nvPr/>
        </p:nvSpPr>
        <p:spPr>
          <a:xfrm>
            <a:off x="5105400" y="3429000"/>
            <a:ext cx="6477000" cy="5588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Each ticket's </a:t>
            </a:r>
            <a:r>
              <a:rPr lang="en-US" sz="1350" b="0" i="0" dirty="0">
                <a:solidFill>
                  <a:srgbClr val="111827"/>
                </a:solidFill>
                <a:latin typeface="Menlo"/>
                <a:ea typeface="Menlo"/>
                <a:cs typeface="Menlo"/>
              </a:rPr>
              <a:t>requester_id</a:t>
            </a:r>
            <a:r>
              <a:rPr lang="en-US" sz="1500" b="0" i="0" dirty="0">
                <a:solidFill>
                  <a:srgbClr val="111827"/>
                </a:solidFill>
                <a:latin typeface="Helvetica Neue"/>
                <a:ea typeface="Helvetica Neue"/>
                <a:cs typeface="Helvetica Neue"/>
              </a:rPr>
              <a:t> matches a </a:t>
            </a:r>
            <a:r>
              <a:rPr lang="en-US" sz="1350" b="0" i="0" dirty="0">
                <a:solidFill>
                  <a:srgbClr val="111827"/>
                </a:solidFill>
                <a:latin typeface="Menlo"/>
                <a:ea typeface="Menlo"/>
                <a:cs typeface="Menlo"/>
              </a:rPr>
              <a:t>user_id</a:t>
            </a:r>
            <a:r>
              <a:rPr lang="en-US" sz="1500" b="0" i="0" dirty="0">
                <a:solidFill>
                  <a:srgbClr val="111827"/>
                </a:solidFill>
                <a:latin typeface="Helvetica Neue"/>
                <a:ea typeface="Helvetica Neue"/>
                <a:cs typeface="Helvetica Neue"/>
              </a:rPr>
              <a:t> in users.</a:t>
            </a:r>
            <a:endParaRPr lang="en-US" sz="1500" dirty="0"/>
          </a:p>
        </p:txBody>
      </p:sp>
      <p:sp>
        <p:nvSpPr>
          <p:cNvPr id="14" name="join-expected"/>
          <p:cNvSpPr/>
          <p:nvPr/>
        </p:nvSpPr>
        <p:spPr>
          <a:xfrm>
            <a:off x="5105400" y="3962400"/>
            <a:ext cx="6477000" cy="889000"/>
          </a:xfrm>
          <a:prstGeom prst="rect">
            <a:avLst/>
          </a:prstGeom>
          <a:noFill/>
          <a:ln>
            <a:noFill/>
          </a:ln>
        </p:spPr>
        <p:txBody>
          <a:bodyPr wrap="square" lIns="0" tIns="0" rIns="0" bIns="0" anchor="t" rtlCol="0">
            <a:noAutofit/>
          </a:bodyPr>
          <a:lstStyle/>
          <a:p>
            <a:pPr algn="l">
              <a:spcAft>
                <a:spcPts val="400"/>
              </a:spcAft>
              <a:buNone/>
            </a:pPr>
            <a:r>
              <a:rPr lang="en-US" sz="1600" b="0" i="0" dirty="0">
                <a:solidFill>
                  <a:srgbClr val="111827"/>
                </a:solidFill>
                <a:latin typeface="Helvetica Neue"/>
                <a:ea typeface="Helvetica Neue"/>
                <a:cs typeface="Helvetica Neue"/>
              </a:rPr>
              <a:t>Expected: </a:t>
            </a:r>
            <a:r>
              <a:rPr lang="en-US" sz="1600" b="1" i="0" dirty="0">
                <a:solidFill>
                  <a:srgbClr val="111827"/>
                </a:solidFill>
                <a:latin typeface="Helvetica Neue"/>
                <a:ea typeface="Helvetica Neue"/>
                <a:cs typeface="Helvetica Neue"/>
              </a:rPr>
              <a:t>12 rows</a:t>
            </a:r>
            <a:r>
              <a:rPr lang="en-US" sz="1600" b="0" i="0" dirty="0">
                <a:solidFill>
                  <a:srgbClr val="111827"/>
                </a:solidFill>
                <a:latin typeface="Helvetica Neue"/>
                <a:ea typeface="Helvetica Neue"/>
                <a:cs typeface="Helvetica Neue"/>
              </a:rPr>
              <a:t>, one per ticket</a:t>
            </a:r>
            <a:endParaRPr lang="en-US" sz="1600" dirty="0"/>
          </a:p>
          <a:p>
            <a:pPr algn="l">
              <a:buNone/>
            </a:pPr>
            <a:r>
              <a:rPr lang="en-US" sz="1500" b="0" i="0" dirty="0">
                <a:solidFill>
                  <a:srgbClr val="64748B"/>
                </a:solidFill>
                <a:latin typeface="Helvetica Neue"/>
                <a:ea typeface="Helvetica Neue"/>
                <a:cs typeface="Helvetica Neue"/>
              </a:rPr>
              <a:t>First: 1001 · Requester 101      Last: 1012 · Requester 104</a:t>
            </a:r>
            <a:endParaRPr lang="en-US" sz="1500" dirty="0"/>
          </a:p>
        </p:txBody>
      </p:sp>
      <p:sp>
        <p:nvSpPr>
          <p:cNvPr id="15" name="readme-db-box"/>
          <p:cNvSpPr/>
          <p:nvPr/>
        </p:nvSpPr>
        <p:spPr>
          <a:xfrm>
            <a:off x="609600" y="5486400"/>
            <a:ext cx="10972800" cy="660400"/>
          </a:xfrm>
          <a:prstGeom prst="rect">
            <a:avLst/>
          </a:prstGeom>
          <a:solidFill>
            <a:srgbClr val="FFF4EC"/>
          </a:solidFill>
          <a:ln>
            <a:noFill/>
          </a:ln>
        </p:spPr>
      </p:sp>
      <p:sp>
        <p:nvSpPr>
          <p:cNvPr id="16" name="readme-db-bar"/>
          <p:cNvSpPr/>
          <p:nvPr/>
        </p:nvSpPr>
        <p:spPr>
          <a:xfrm>
            <a:off x="609600" y="5486400"/>
            <a:ext cx="63500" cy="660400"/>
          </a:xfrm>
          <a:prstGeom prst="rect">
            <a:avLst/>
          </a:prstGeom>
          <a:solidFill>
            <a:srgbClr val="BF3E05"/>
          </a:solidFill>
          <a:ln>
            <a:noFill/>
          </a:ln>
        </p:spPr>
      </p:sp>
      <p:sp>
        <p:nvSpPr>
          <p:cNvPr id="17" name="readme-db"/>
          <p:cNvSpPr/>
          <p:nvPr/>
        </p:nvSpPr>
        <p:spPr>
          <a:xfrm>
            <a:off x="889000" y="56388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README </a:t>
            </a:r>
            <a:r>
              <a:rPr lang="en-US" sz="1600" b="1" i="0" dirty="0">
                <a:solidFill>
                  <a:srgbClr val="111827"/>
                </a:solidFill>
                <a:latin typeface="Helvetica Neue"/>
                <a:ea typeface="Helvetica Neue"/>
                <a:cs typeface="Helvetica Neue"/>
              </a:rPr>
              <a:t>Database checks</a:t>
            </a:r>
            <a:r>
              <a:rPr lang="en-US" sz="1600" b="0" i="0" dirty="0">
                <a:solidFill>
                  <a:srgbClr val="111827"/>
                </a:solidFill>
                <a:latin typeface="Helvetica Neue"/>
                <a:ea typeface="Helvetica Neue"/>
                <a:cs typeface="Helvetica Neue"/>
              </a:rPr>
              <a:t>: record the three counts and what your join returned.</a:t>
            </a:r>
            <a:endParaRPr lang="en-US" sz="1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Explain three integrity controls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07</a:t>
            </a:r>
            <a:endParaRPr lang="en-US" sz="900" dirty="0"/>
          </a:p>
        </p:txBody>
      </p:sp>
      <p:sp>
        <p:nvSpPr>
          <p:cNvPr id="7" name="controls-lead"/>
          <p:cNvSpPr/>
          <p:nvPr/>
        </p:nvSpPr>
        <p:spPr>
          <a:xfrm>
            <a:off x="609600" y="1524000"/>
            <a:ext cx="10972800" cy="609600"/>
          </a:xfrm>
          <a:prstGeom prst="rect">
            <a:avLst/>
          </a:prstGeom>
          <a:noFill/>
          <a:ln>
            <a:noFill/>
          </a:ln>
        </p:spPr>
        <p:txBody>
          <a:bodyPr wrap="square" lIns="0" tIns="0" rIns="0" bIns="0" anchor="t" rtlCol="0">
            <a:noAutofit/>
          </a:bodyPr>
          <a:lstStyle/>
          <a:p>
            <a:pPr algn="l">
              <a:lnSpc>
                <a:spcPct val="105000"/>
              </a:lnSpc>
              <a:buNone/>
            </a:pPr>
            <a:r>
              <a:rPr lang="en-US" sz="1700" b="0" i="0" dirty="0">
                <a:solidFill>
                  <a:srgbClr val="111827"/>
                </a:solidFill>
                <a:latin typeface="Helvetica Neue"/>
                <a:ea typeface="Helvetica Neue"/>
                <a:cs typeface="Helvetica Neue"/>
              </a:rPr>
              <a:t>Choose three </a:t>
            </a:r>
            <a:r>
              <a:rPr lang="en-US" sz="1700" b="1" i="0" dirty="0">
                <a:solidFill>
                  <a:srgbClr val="111827"/>
                </a:solidFill>
                <a:latin typeface="Helvetica Neue"/>
                <a:ea typeface="Helvetica Neue"/>
                <a:cs typeface="Helvetica Neue"/>
              </a:rPr>
              <a:t>non-key</a:t>
            </a:r>
            <a:r>
              <a:rPr lang="en-US" sz="1700" b="0" i="0" dirty="0">
                <a:solidFill>
                  <a:srgbClr val="111827"/>
                </a:solidFill>
                <a:latin typeface="Helvetica Neue"/>
                <a:ea typeface="Helvetica Neue"/>
                <a:cs typeface="Helvetica Neue"/>
              </a:rPr>
              <a:t> controls from the starter. PRIMARY KEY and REFERENCES do not count.</a:t>
            </a:r>
            <a:endParaRPr lang="en-US" sz="1700" dirty="0"/>
          </a:p>
        </p:txBody>
      </p:sp>
      <p:graphicFrame>
        <p:nvGraphicFramePr>
          <p:cNvPr id="8" name="controls"/>
          <p:cNvGraphicFramePr>
            <a:graphicFrameLocks noGrp="1"/>
          </p:cNvGraphicFramePr>
          <p:nvPr/>
        </p:nvGraphicFramePr>
        <p:xfrm>
          <a:off x="609600" y="2235200"/>
          <a:ext cx="10972800" cy="1879600"/>
        </p:xfrm>
        <a:graphic>
          <a:graphicData uri="http://schemas.openxmlformats.org/drawingml/2006/table">
            <a:tbl>
              <a:tblPr firstRow="1" bandRow="1"/>
              <a:tblGrid>
                <a:gridCol w="1778000"/>
                <a:gridCol w="5130800"/>
                <a:gridCol w="4064000"/>
              </a:tblGrid>
              <a:tr h="406400">
                <a:tc>
                  <a:txBody>
                    <a:bodyPr/>
                    <a:lstStyle/>
                    <a:p>
                      <a:pPr algn="l">
                        <a:buNone/>
                      </a:pPr>
                      <a:r>
                        <a:rPr lang="en-US" sz="1500" b="1" i="0" dirty="0">
                          <a:solidFill>
                            <a:srgbClr val="FFFFFF"/>
                          </a:solidFill>
                          <a:latin typeface="Helvetica Neue"/>
                          <a:ea typeface="Helvetica Neue"/>
                          <a:cs typeface="Helvetica Neue"/>
                        </a:rPr>
                        <a:t>Control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Where it is in the starter</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Your explanation answers</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500" b="1" i="0" dirty="0">
                          <a:solidFill>
                            <a:srgbClr val="111827"/>
                          </a:solidFill>
                          <a:latin typeface="Helvetica Neue"/>
                          <a:ea typeface="Helvetica Neue"/>
                          <a:cs typeface="Helvetica Neue"/>
                        </a:rPr>
                        <a:t>NOT NULL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Many columns, for example </a:t>
                      </a:r>
                      <a:r>
                        <a:rPr lang="en-US" sz="1350" b="0" i="0" dirty="0">
                          <a:solidFill>
                            <a:srgbClr val="111827"/>
                          </a:solidFill>
                          <a:latin typeface="Menlo"/>
                          <a:ea typeface="Menlo"/>
                          <a:cs typeface="Menlo"/>
                        </a:rPr>
                        <a:t>tickets.subject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missing value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500" b="1" i="0" dirty="0">
                          <a:solidFill>
                            <a:srgbClr val="111827"/>
                          </a:solidFill>
                          <a:latin typeface="Helvetica Neue"/>
                          <a:ea typeface="Helvetica Neue"/>
                          <a:cs typeface="Helvetica Neue"/>
                        </a:rPr>
                        <a:t>UNIQUE</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Menlo"/>
                          <a:ea typeface="Menlo"/>
                          <a:cs typeface="Menlo"/>
                        </a:rPr>
                        <a:t>users.email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00" b="0" i="0" dirty="0">
                          <a:solidFill>
                            <a:srgbClr val="111827"/>
                          </a:solidFill>
                          <a:latin typeface="Helvetica Neue"/>
                          <a:ea typeface="Helvetica Neue"/>
                          <a:cs typeface="Helvetica Neue"/>
                        </a:rPr>
                        <a:t>Which duplicate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609600">
                <a:tc>
                  <a:txBody>
                    <a:bodyPr/>
                    <a:lstStyle/>
                    <a:p>
                      <a:pPr algn="l">
                        <a:buNone/>
                      </a:pPr>
                      <a:r>
                        <a:rPr lang="en-US" sz="1500" b="1" i="0" dirty="0">
                          <a:solidFill>
                            <a:srgbClr val="111827"/>
                          </a:solidFill>
                          <a:latin typeface="Helvetica Neue"/>
                          <a:ea typeface="Helvetica Neue"/>
                          <a:cs typeface="Helvetica Neue"/>
                        </a:rPr>
                        <a:t>CHECK</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tickets: </a:t>
                      </a:r>
                      <a:r>
                        <a:rPr lang="en-US" sz="1350" b="0" i="0" dirty="0">
                          <a:solidFill>
                            <a:srgbClr val="111827"/>
                          </a:solidFill>
                          <a:latin typeface="Menlo"/>
                          <a:ea typeface="Menlo"/>
                          <a:cs typeface="Menlo"/>
                        </a:rPr>
                        <a:t>closed_at IS NULL OR closed_at &gt;= opened_at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impossible pair of dates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example-box"/>
          <p:cNvSpPr/>
          <p:nvPr/>
        </p:nvSpPr>
        <p:spPr>
          <a:xfrm>
            <a:off x="609600" y="4394200"/>
            <a:ext cx="10972800" cy="1422400"/>
          </a:xfrm>
          <a:prstGeom prst="rect">
            <a:avLst/>
          </a:prstGeom>
          <a:solidFill>
            <a:srgbClr val="FFF4EC"/>
          </a:solidFill>
          <a:ln>
            <a:noFill/>
          </a:ln>
        </p:spPr>
      </p:sp>
      <p:sp>
        <p:nvSpPr>
          <p:cNvPr id="10" name="example-bar"/>
          <p:cNvSpPr/>
          <p:nvPr/>
        </p:nvSpPr>
        <p:spPr>
          <a:xfrm>
            <a:off x="609600" y="4394200"/>
            <a:ext cx="63500" cy="1422400"/>
          </a:xfrm>
          <a:prstGeom prst="rect">
            <a:avLst/>
          </a:prstGeom>
          <a:solidFill>
            <a:srgbClr val="BF3E05"/>
          </a:solidFill>
          <a:ln>
            <a:noFill/>
          </a:ln>
        </p:spPr>
      </p:sp>
      <p:sp>
        <p:nvSpPr>
          <p:cNvPr id="11" name="example"/>
          <p:cNvSpPr/>
          <p:nvPr/>
        </p:nvSpPr>
        <p:spPr>
          <a:xfrm>
            <a:off x="889000" y="4546600"/>
            <a:ext cx="10515600" cy="1117600"/>
          </a:xfrm>
          <a:prstGeom prst="rect">
            <a:avLst/>
          </a:prstGeom>
          <a:noFill/>
          <a:ln>
            <a:noFill/>
          </a:ln>
        </p:spPr>
        <p:txBody>
          <a:bodyPr wrap="square" lIns="0" tIns="0" rIns="0" bIns="0" anchor="t" rtlCol="0">
            <a:noAutofit/>
          </a:bodyPr>
          <a:lstStyle/>
          <a:p>
            <a:pPr algn="l">
              <a:spcAft>
                <a:spcPts val="600"/>
              </a:spcAft>
              <a:buNone/>
            </a:pPr>
            <a:r>
              <a:rPr lang="en-US" sz="1200" b="1" i="0" dirty="0">
                <a:solidFill>
                  <a:srgbClr val="BF3E05"/>
                </a:solidFill>
                <a:latin typeface="Helvetica Neue"/>
                <a:ea typeface="Helvetica Neue"/>
                <a:cs typeface="Helvetica Neue"/>
              </a:rPr>
              <a:t>ONE COMPLETE ANSWER</a:t>
            </a:r>
            <a:endParaRPr lang="en-US" sz="1200" dirty="0"/>
          </a:p>
          <a:p>
            <a:pPr algn="l">
              <a:spcAft>
                <a:spcPts val="600"/>
              </a:spcAft>
              <a:buNone/>
            </a:pPr>
            <a:r>
              <a:rPr lang="en-US" sz="1700" b="0" i="1" dirty="0">
                <a:solidFill>
                  <a:srgbClr val="111827"/>
                </a:solidFill>
                <a:latin typeface="Helvetica Neue"/>
                <a:ea typeface="Helvetica Neue"/>
                <a:cs typeface="Helvetica Neue"/>
              </a:rPr>
              <a:t>NOT NULL on tickets.subject rejects a ticket whose subject is missing (NULL). Without it, a ticket could enter the queue with no recorded problem.</a:t>
            </a:r>
            <a:endParaRPr lang="en-US" sz="1700" dirty="0"/>
          </a:p>
          <a:p>
            <a:pPr algn="l">
              <a:buNone/>
            </a:pPr>
            <a:r>
              <a:rPr lang="en-US" sz="1400" b="0" i="0" dirty="0">
                <a:solidFill>
                  <a:srgbClr val="64748B"/>
                </a:solidFill>
                <a:latin typeface="Helvetica Neue"/>
                <a:ea typeface="Helvetica Neue"/>
                <a:cs typeface="Helvetica Neue"/>
              </a:rPr>
              <a:t>Control · column · the bad data it stops. Write your three in your own words.</a:t>
            </a:r>
            <a:endParaRPr lang="en-US" sz="1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2: Roll back, then commit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08</a:t>
            </a:r>
            <a:endParaRPr lang="en-US" sz="900" dirty="0"/>
          </a:p>
        </p:txBody>
      </p:sp>
      <p:sp>
        <p:nvSpPr>
          <p:cNvPr id="7" name="rollback-code-bg"/>
          <p:cNvSpPr/>
          <p:nvPr/>
        </p:nvSpPr>
        <p:spPr>
          <a:xfrm>
            <a:off x="609600" y="1524000"/>
            <a:ext cx="5638800" cy="2159000"/>
          </a:xfrm>
          <a:prstGeom prst="rect">
            <a:avLst/>
          </a:prstGeom>
          <a:solidFill>
            <a:srgbClr val="101728"/>
          </a:solidFill>
          <a:ln>
            <a:noFill/>
          </a:ln>
        </p:spPr>
      </p:sp>
      <p:sp>
        <p:nvSpPr>
          <p:cNvPr id="8" name="rollback-code"/>
          <p:cNvSpPr/>
          <p:nvPr/>
        </p:nvSpPr>
        <p:spPr>
          <a:xfrm>
            <a:off x="812800" y="1676400"/>
            <a:ext cx="5232400" cy="1854200"/>
          </a:xfrm>
          <a:prstGeom prst="rect">
            <a:avLst/>
          </a:prstGeom>
          <a:noFill/>
          <a:ln>
            <a:noFill/>
          </a:ln>
        </p:spPr>
        <p:txBody>
          <a:bodyPr wrap="square" lIns="0" tIns="0" rIns="0" bIns="0" anchor="t" rtlCol="0">
            <a:noAutofit/>
          </a:bodyPr>
          <a:lstStyle/>
          <a:p>
            <a:pPr algn="l">
              <a:lnSpc>
                <a:spcPct val="115000"/>
              </a:lnSpc>
              <a:buNone/>
            </a:pPr>
            <a:r>
              <a:rPr lang="en-US" sz="1250" b="0" i="0" dirty="0">
                <a:solidFill>
                  <a:srgbClr val="FDBA74"/>
                </a:solidFill>
                <a:latin typeface="Menlo"/>
                <a:ea typeface="Menlo"/>
                <a:cs typeface="Menlo"/>
              </a:rPr>
              <a:t>-- 2A is supplied. Run all six together.</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before</a:t>
            </a:r>
            <a:endParaRPr lang="en-US" sz="1250" dirty="0"/>
          </a:p>
          <a:p>
            <a:pPr algn="l">
              <a:lnSpc>
                <a:spcPct val="114999"/>
              </a:lnSpc>
              <a:buNone/>
            </a:pPr>
            <a:r>
              <a:rPr lang="en-US" sz="1250" b="0" i="0" dirty="0">
                <a:solidFill>
                  <a:srgbClr val="E2E8F0"/>
                </a:solidFill>
                <a:latin typeface="Menlo"/>
                <a:ea typeface="Menlo"/>
                <a:cs typeface="Menlo"/>
              </a:rPr>
              <a:t>BEGIN;</a:t>
            </a:r>
            <a:endParaRPr lang="en-US" sz="1250" dirty="0"/>
          </a:p>
          <a:p>
            <a:pPr algn="l">
              <a:lnSpc>
                <a:spcPct val="114999"/>
              </a:lnSpc>
              <a:buNone/>
            </a:pPr>
            <a:r>
              <a:rPr lang="en-US" sz="1250" b="0" i="0" dirty="0">
                <a:solidFill>
                  <a:srgbClr val="E2E8F0"/>
                </a:solidFill>
                <a:latin typeface="Menlo"/>
                <a:ea typeface="Menlo"/>
                <a:cs typeface="Menlo"/>
              </a:rPr>
              <a:t>UPDATE ... SET priority = 'high' ... ;</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inside</a:t>
            </a:r>
            <a:endParaRPr lang="en-US" sz="1250" dirty="0"/>
          </a:p>
          <a:p>
            <a:pPr algn="l">
              <a:lnSpc>
                <a:spcPct val="114999"/>
              </a:lnSpc>
              <a:buNone/>
            </a:pPr>
            <a:r>
              <a:rPr lang="en-US" sz="1250" b="0" i="0" dirty="0">
                <a:solidFill>
                  <a:srgbClr val="E2E8F0"/>
                </a:solidFill>
                <a:latin typeface="Menlo"/>
                <a:ea typeface="Menlo"/>
                <a:cs typeface="Menlo"/>
              </a:rPr>
              <a:t>ROLLBACK;</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after</a:t>
            </a:r>
            <a:endParaRPr lang="en-US" sz="1250" dirty="0"/>
          </a:p>
        </p:txBody>
      </p:sp>
      <p:sp>
        <p:nvSpPr>
          <p:cNvPr id="9" name="commit-panel-head"/>
          <p:cNvSpPr/>
          <p:nvPr/>
        </p:nvSpPr>
        <p:spPr>
          <a:xfrm>
            <a:off x="6502400" y="1524000"/>
            <a:ext cx="5080000" cy="482600"/>
          </a:xfrm>
          <a:prstGeom prst="rect">
            <a:avLst/>
          </a:prstGeom>
          <a:solidFill>
            <a:srgbClr val="BF3E05"/>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2B is yours to write</a:t>
            </a:r>
            <a:endParaRPr lang="en-US" sz="1600" dirty="0"/>
          </a:p>
        </p:txBody>
      </p:sp>
      <p:sp>
        <p:nvSpPr>
          <p:cNvPr id="10" name="commit-panel-body"/>
          <p:cNvSpPr/>
          <p:nvPr/>
        </p:nvSpPr>
        <p:spPr>
          <a:xfrm>
            <a:off x="6502400" y="2006600"/>
            <a:ext cx="5080000" cy="1676400"/>
          </a:xfrm>
          <a:prstGeom prst="rect">
            <a:avLst/>
          </a:prstGeom>
          <a:solidFill>
            <a:srgbClr val="FFFFFF"/>
          </a:solidFill>
          <a:ln w="9525">
            <a:solidFill>
              <a:srgbClr val="CBD5E1"/>
            </a:solidFill>
          </a:ln>
        </p:spPr>
      </p:sp>
      <p:sp>
        <p:nvSpPr>
          <p:cNvPr id="11" name="commit-panel"/>
          <p:cNvSpPr/>
          <p:nvPr/>
        </p:nvSpPr>
        <p:spPr>
          <a:xfrm>
            <a:off x="6705600" y="2184400"/>
            <a:ext cx="4673600" cy="1371600"/>
          </a:xfrm>
          <a:prstGeom prst="rect">
            <a:avLst/>
          </a:prstGeom>
          <a:noFill/>
          <a:ln>
            <a:noFill/>
          </a:ln>
        </p:spPr>
        <p:txBody>
          <a:bodyPr wrap="square" lIns="0" tIns="0" rIns="0" bIns="0" anchor="t" rtlCol="0">
            <a:noAutofit/>
          </a:bodyPr>
          <a:lstStyle/>
          <a:p>
            <a:pPr algn="l">
              <a:spcAft>
                <a:spcPts val="700"/>
              </a:spcAft>
              <a:buNone/>
            </a:pPr>
            <a:r>
              <a:rPr lang="en-US" sz="1550" b="1" i="0" dirty="0">
                <a:solidFill>
                  <a:srgbClr val="BF3E05"/>
                </a:solidFill>
                <a:latin typeface="Helvetica Neue"/>
                <a:ea typeface="Helvetica Neue"/>
                <a:cs typeface="Helvetica Neue"/>
              </a:rPr>
              <a:t>1</a:t>
            </a:r>
            <a:r>
              <a:rPr lang="en-US" sz="1550" b="0" i="0" dirty="0">
                <a:solidFill>
                  <a:srgbClr val="111827"/>
                </a:solidFill>
                <a:latin typeface="Helvetica Neue"/>
                <a:ea typeface="Helvetica Neue"/>
                <a:cs typeface="Helvetica Neue"/>
              </a:rPr>
              <a:t>   Copy the six statements.</a:t>
            </a:r>
            <a:endParaRPr lang="en-US" sz="1550" dirty="0"/>
          </a:p>
          <a:p>
            <a:pPr algn="l">
              <a:spcAft>
                <a:spcPts val="700"/>
              </a:spcAft>
              <a:buNone/>
            </a:pPr>
            <a:r>
              <a:rPr lang="en-US" sz="1550" b="1" i="0" dirty="0">
                <a:solidFill>
                  <a:srgbClr val="BF3E05"/>
                </a:solidFill>
                <a:latin typeface="Helvetica Neue"/>
                <a:ea typeface="Helvetica Neue"/>
                <a:cs typeface="Helvetica Neue"/>
              </a:rPr>
              <a:t>2</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'high'</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'medium'</a:t>
            </a:r>
            <a:r>
              <a:rPr lang="en-US" sz="1550" b="0" i="0" dirty="0">
                <a:solidFill>
                  <a:srgbClr val="111827"/>
                </a:solidFill>
                <a:latin typeface="Helvetica Neue"/>
                <a:ea typeface="Helvetica Neue"/>
                <a:cs typeface="Helvetica Neue"/>
              </a:rPr>
              <a:t>.</a:t>
            </a:r>
            <a:endParaRPr lang="en-US" sz="1550" dirty="0"/>
          </a:p>
          <a:p>
            <a:pPr algn="l">
              <a:spcAft>
                <a:spcPts val="700"/>
              </a:spcAft>
              <a:buNone/>
            </a:pPr>
            <a:r>
              <a:rPr lang="en-US" sz="1550" b="1" i="0" dirty="0">
                <a:solidFill>
                  <a:srgbClr val="BF3E05"/>
                </a:solidFill>
                <a:latin typeface="Helvetica Neue"/>
                <a:ea typeface="Helvetica Neue"/>
                <a:cs typeface="Helvetica Neue"/>
              </a:rPr>
              <a:t>3</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ROLLBACK</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COMMIT</a:t>
            </a:r>
            <a:r>
              <a:rPr lang="en-US" sz="1550" b="0" i="0" dirty="0">
                <a:solidFill>
                  <a:srgbClr val="111827"/>
                </a:solidFill>
                <a:latin typeface="Helvetica Neue"/>
                <a:ea typeface="Helvetica Neue"/>
                <a:cs typeface="Helvetica Neue"/>
              </a:rPr>
              <a:t>.</a:t>
            </a:r>
            <a:endParaRPr lang="en-US" sz="1550" dirty="0"/>
          </a:p>
          <a:p>
            <a:pPr algn="l">
              <a:buNone/>
            </a:pPr>
            <a:r>
              <a:rPr lang="en-US" sz="1550" b="1" i="0" dirty="0">
                <a:solidFill>
                  <a:srgbClr val="BF3E05"/>
                </a:solidFill>
                <a:latin typeface="Helvetica Neue"/>
                <a:ea typeface="Helvetica Neue"/>
                <a:cs typeface="Helvetica Neue"/>
              </a:rPr>
              <a:t>4</a:t>
            </a:r>
            <a:r>
              <a:rPr lang="en-US" sz="1550" b="0" i="0" dirty="0">
                <a:solidFill>
                  <a:srgbClr val="111827"/>
                </a:solidFill>
                <a:latin typeface="Helvetica Neue"/>
                <a:ea typeface="Helvetica Neue"/>
                <a:cs typeface="Helvetica Neue"/>
              </a:rPr>
              <a:t>   Run it as one block.</a:t>
            </a:r>
            <a:endParaRPr lang="en-US" sz="1550" dirty="0"/>
          </a:p>
        </p:txBody>
      </p:sp>
      <p:graphicFrame>
        <p:nvGraphicFramePr>
          <p:cNvPr id="12" name="transaction-values"/>
          <p:cNvGraphicFramePr>
            <a:graphicFrameLocks noGrp="1"/>
          </p:cNvGraphicFramePr>
          <p:nvPr/>
        </p:nvGraphicFramePr>
        <p:xfrm>
          <a:off x="609600" y="3911600"/>
          <a:ext cx="10972800" cy="1270000"/>
        </p:xfrm>
        <a:graphic>
          <a:graphicData uri="http://schemas.openxmlformats.org/drawingml/2006/table">
            <a:tbl>
              <a:tblPr firstRow="1" bandRow="1"/>
              <a:tblGrid>
                <a:gridCol w="2133600"/>
                <a:gridCol w="2133600"/>
                <a:gridCol w="3352800"/>
                <a:gridCol w="3352800"/>
              </a:tblGrid>
              <a:tr h="406400">
                <a:tc>
                  <a:txBody>
                    <a:bodyPr/>
                    <a:lstStyle/>
                    <a:p>
                      <a:pPr algn="l">
                        <a:buNone/>
                      </a:pPr>
                      <a:r>
                        <a:rPr lang="en-US" sz="1600" b="1" i="0" dirty="0">
                          <a:solidFill>
                            <a:srgbClr val="FFFFFF"/>
                          </a:solidFill>
                          <a:latin typeface="Helvetica Neue"/>
                          <a:ea typeface="Helvetica Neue"/>
                          <a:cs typeface="Helvetica Neue"/>
                        </a:rPr>
                        <a:t>Test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Before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Inside the transaction</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After rollback or 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600" b="1" i="0" dirty="0">
                          <a:solidFill>
                            <a:srgbClr val="111827"/>
                          </a:solidFill>
                          <a:latin typeface="Helvetica Neue"/>
                          <a:ea typeface="Helvetica Neue"/>
                          <a:cs typeface="Helvetica Neue"/>
                        </a:rPr>
                        <a:t>Rollback</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high</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600" b="1" i="0" dirty="0">
                          <a:solidFill>
                            <a:srgbClr val="111827"/>
                          </a:solidFill>
                          <a:latin typeface="Helvetica Neue"/>
                          <a:ea typeface="Helvetica Neue"/>
                          <a:cs typeface="Helvetica Neue"/>
                        </a:rPr>
                        <a:t>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3" name="leave-medium-box"/>
          <p:cNvSpPr/>
          <p:nvPr/>
        </p:nvSpPr>
        <p:spPr>
          <a:xfrm>
            <a:off x="609600" y="5435600"/>
            <a:ext cx="10972800" cy="660400"/>
          </a:xfrm>
          <a:prstGeom prst="rect">
            <a:avLst/>
          </a:prstGeom>
          <a:solidFill>
            <a:srgbClr val="FFF4EC"/>
          </a:solidFill>
          <a:ln>
            <a:noFill/>
          </a:ln>
        </p:spPr>
      </p:sp>
      <p:sp>
        <p:nvSpPr>
          <p:cNvPr id="14" name="leave-medium-bar"/>
          <p:cNvSpPr/>
          <p:nvPr/>
        </p:nvSpPr>
        <p:spPr>
          <a:xfrm>
            <a:off x="609600" y="5435600"/>
            <a:ext cx="63500" cy="660400"/>
          </a:xfrm>
          <a:prstGeom prst="rect">
            <a:avLst/>
          </a:prstGeom>
          <a:solidFill>
            <a:srgbClr val="BF3E05"/>
          </a:solidFill>
          <a:ln>
            <a:noFill/>
          </a:ln>
        </p:spPr>
      </p:sp>
      <p:sp>
        <p:nvSpPr>
          <p:cNvPr id="15" name="leave-medium"/>
          <p:cNvSpPr/>
          <p:nvPr/>
        </p:nvSpPr>
        <p:spPr>
          <a:xfrm>
            <a:off x="889000" y="55880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Run 2A before 2B. Leave </a:t>
            </a:r>
            <a:r>
              <a:rPr lang="en-US" sz="1600" b="1" i="0" dirty="0">
                <a:solidFill>
                  <a:srgbClr val="111827"/>
                </a:solidFill>
                <a:latin typeface="Helvetica Neue"/>
                <a:ea typeface="Helvetica Neue"/>
                <a:cs typeface="Helvetica Neue"/>
              </a:rPr>
              <a:t>medium</a:t>
            </a:r>
            <a:r>
              <a:rPr lang="en-US" sz="1600" b="0" i="0" dirty="0">
                <a:solidFill>
                  <a:srgbClr val="111827"/>
                </a:solidFill>
                <a:latin typeface="Helvetica Neue"/>
                <a:ea typeface="Helvetica Neue"/>
                <a:cs typeface="Helvetica Neue"/>
              </a:rPr>
              <a:t> in place: your recovery checks expect it.</a:t>
            </a:r>
            <a:endParaRPr lang="en-US" sz="1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3: Explain one blocking incident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09</a:t>
            </a:r>
            <a:endParaRPr lang="en-US" sz="900" dirty="0"/>
          </a:p>
        </p:txBody>
      </p:sp>
      <p:sp>
        <p:nvSpPr>
          <p:cNvPr id="7" name="source-label"/>
          <p:cNvSpPr/>
          <p:nvPr/>
        </p:nvSpPr>
        <p:spPr>
          <a:xfrm>
            <a:off x="609600" y="1498600"/>
            <a:ext cx="10972800" cy="2540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EVIDENCE SOURCE · CHOOSE ONE AND LABEL IT</a:t>
            </a:r>
            <a:endParaRPr lang="en-US" sz="1200" dirty="0"/>
          </a:p>
        </p:txBody>
      </p:sp>
      <p:sp>
        <p:nvSpPr>
          <p:cNvPr id="8" name="source-0"/>
          <p:cNvSpPr/>
          <p:nvPr/>
        </p:nvSpPr>
        <p:spPr>
          <a:xfrm>
            <a:off x="609600" y="1803400"/>
            <a:ext cx="20320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live run</a:t>
            </a:r>
            <a:endParaRPr lang="en-US" sz="1500" dirty="0"/>
          </a:p>
        </p:txBody>
      </p:sp>
      <p:sp>
        <p:nvSpPr>
          <p:cNvPr id="9" name="source-1"/>
          <p:cNvSpPr/>
          <p:nvPr/>
        </p:nvSpPr>
        <p:spPr>
          <a:xfrm>
            <a:off x="2819400" y="1803400"/>
            <a:ext cx="2997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saved Week 5 run</a:t>
            </a:r>
            <a:endParaRPr lang="en-US" sz="1500" dirty="0"/>
          </a:p>
        </p:txBody>
      </p:sp>
      <p:sp>
        <p:nvSpPr>
          <p:cNvPr id="10" name="source-2"/>
          <p:cNvSpPr/>
          <p:nvPr/>
        </p:nvSpPr>
        <p:spPr>
          <a:xfrm>
            <a:off x="5994400" y="1803400"/>
            <a:ext cx="3251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supplied trace analysis</a:t>
            </a:r>
            <a:endParaRPr lang="en-US" sz="1500" dirty="0"/>
          </a:p>
        </p:txBody>
      </p:sp>
      <p:sp>
        <p:nvSpPr>
          <p:cNvPr id="11" name="record-head"/>
          <p:cNvSpPr/>
          <p:nvPr/>
        </p:nvSpPr>
        <p:spPr>
          <a:xfrm>
            <a:off x="609600" y="24892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Record six things</a:t>
            </a:r>
            <a:endParaRPr lang="en-US" sz="1600" dirty="0"/>
          </a:p>
        </p:txBody>
      </p:sp>
      <p:sp>
        <p:nvSpPr>
          <p:cNvPr id="12" name="record-list"/>
          <p:cNvSpPr/>
          <p:nvPr/>
        </p:nvSpPr>
        <p:spPr>
          <a:xfrm>
            <a:off x="609600" y="2844800"/>
            <a:ext cx="5334000" cy="2540000"/>
          </a:xfrm>
          <a:prstGeom prst="rect">
            <a:avLst/>
          </a:prstGeom>
          <a:noFill/>
          <a:ln>
            <a:noFill/>
          </a:ln>
        </p:spPr>
        <p:txBody>
          <a:bodyPr wrap="square" lIns="0" tIns="0" rIns="0" bIns="0" anchor="t" rtlCol="0">
            <a:noAutofit/>
          </a:bodyPr>
          <a:lstStyle/>
          <a:p>
            <a:pPr algn="l">
              <a:spcAft>
                <a:spcPts val="600"/>
              </a:spcAft>
              <a:buNone/>
            </a:pPr>
            <a:r>
              <a:rPr lang="en-US" sz="1500" b="1" i="0" dirty="0">
                <a:solidFill>
                  <a:srgbClr val="BF3E05"/>
                </a:solidFill>
                <a:latin typeface="Helvetica Neue"/>
                <a:ea typeface="Helvetica Neue"/>
                <a:cs typeface="Helvetica Neue"/>
              </a:rPr>
              <a:t>1</a:t>
            </a:r>
            <a:r>
              <a:rPr lang="en-US" sz="1500" b="0" i="0" dirty="0">
                <a:solidFill>
                  <a:srgbClr val="111827"/>
                </a:solidFill>
                <a:latin typeface="Helvetica Neue"/>
                <a:ea typeface="Helvetica Neue"/>
                <a:cs typeface="Helvetica Neue"/>
              </a:rPr>
              <a:t>   The diagnostic SQL, the </a:t>
            </a:r>
            <a:r>
              <a:rPr lang="en-US" sz="1350" b="0" i="0" dirty="0">
                <a:solidFill>
                  <a:srgbClr val="111827"/>
                </a:solidFill>
                <a:latin typeface="Menlo"/>
                <a:ea typeface="Menlo"/>
                <a:cs typeface="Menlo"/>
              </a:rPr>
              <a:t>pg_stat_activity</a:t>
            </a:r>
            <a:r>
              <a:rPr lang="en-US" sz="1500" b="0" i="0" dirty="0">
                <a:solidFill>
                  <a:srgbClr val="111827"/>
                </a:solidFill>
                <a:latin typeface="Helvetica Neue"/>
                <a:ea typeface="Helvetica Neue"/>
                <a:cs typeface="Helvetica Neue"/>
              </a:rPr>
              <a:t> query</a:t>
            </a:r>
            <a:endParaRPr lang="en-US" sz="1500" dirty="0"/>
          </a:p>
          <a:p>
            <a:pPr algn="l">
              <a:spcAft>
                <a:spcPts val="600"/>
              </a:spcAft>
              <a:buNone/>
            </a:pPr>
            <a:r>
              <a:rPr lang="en-US" sz="1500" b="1" i="0" dirty="0">
                <a:solidFill>
                  <a:srgbClr val="BF3E05"/>
                </a:solidFill>
                <a:latin typeface="Helvetica Neue"/>
                <a:ea typeface="Helvetica Neue"/>
                <a:cs typeface="Helvetica Neue"/>
              </a:rPr>
              <a:t>2</a:t>
            </a:r>
            <a:r>
              <a:rPr lang="en-US" sz="1500" b="0" i="0" dirty="0">
                <a:solidFill>
                  <a:srgbClr val="111827"/>
                </a:solidFill>
                <a:latin typeface="Helvetica Neue"/>
                <a:ea typeface="Helvetica Neue"/>
                <a:cs typeface="Helvetica Neue"/>
              </a:rPr>
              <a:t>   The blocked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3</a:t>
            </a:r>
            <a:r>
              <a:rPr lang="en-US" sz="1500" b="0" i="0" dirty="0">
                <a:solidFill>
                  <a:srgbClr val="111827"/>
                </a:solidFill>
                <a:latin typeface="Helvetica Neue"/>
                <a:ea typeface="Helvetica Neue"/>
                <a:cs typeface="Helvetica Neue"/>
              </a:rPr>
              <a:t>   The blocking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4</a:t>
            </a:r>
            <a:r>
              <a:rPr lang="en-US" sz="1500" b="0" i="0" dirty="0">
                <a:solidFill>
                  <a:srgbClr val="111827"/>
                </a:solidFill>
                <a:latin typeface="Helvetica Neue"/>
                <a:ea typeface="Helvetica Neue"/>
                <a:cs typeface="Helvetica Neue"/>
              </a:rPr>
              <a:t>   The row involved</a:t>
            </a:r>
            <a:endParaRPr lang="en-US" sz="1500" dirty="0"/>
          </a:p>
          <a:p>
            <a:pPr algn="l">
              <a:spcAft>
                <a:spcPts val="600"/>
              </a:spcAft>
              <a:buNone/>
            </a:pPr>
            <a:r>
              <a:rPr lang="en-US" sz="1500" b="1" i="0" dirty="0">
                <a:solidFill>
                  <a:srgbClr val="BF3E05"/>
                </a:solidFill>
                <a:latin typeface="Helvetica Neue"/>
                <a:ea typeface="Helvetica Neue"/>
                <a:cs typeface="Helvetica Neue"/>
              </a:rPr>
              <a:t>5</a:t>
            </a:r>
            <a:r>
              <a:rPr lang="en-US" sz="1500" b="0" i="0" dirty="0">
                <a:solidFill>
                  <a:srgbClr val="111827"/>
                </a:solidFill>
                <a:latin typeface="Helvetica Neue"/>
                <a:ea typeface="Helvetica Neue"/>
                <a:cs typeface="Helvetica Neue"/>
              </a:rPr>
              <a:t>   The action that released the block</a:t>
            </a:r>
            <a:endParaRPr lang="en-US" sz="1500" dirty="0"/>
          </a:p>
          <a:p>
            <a:pPr algn="l">
              <a:spcAft>
                <a:spcPts val="600"/>
              </a:spcAft>
              <a:buNone/>
            </a:pPr>
            <a:r>
              <a:rPr lang="en-US" sz="1500" b="1" i="0" dirty="0">
                <a:solidFill>
                  <a:srgbClr val="BF3E05"/>
                </a:solidFill>
                <a:latin typeface="Helvetica Neue"/>
                <a:ea typeface="Helvetica Neue"/>
                <a:cs typeface="Helvetica Neue"/>
              </a:rPr>
              <a:t>6</a:t>
            </a:r>
            <a:r>
              <a:rPr lang="en-US" sz="1500" b="0" i="0" dirty="0">
                <a:solidFill>
                  <a:srgbClr val="111827"/>
                </a:solidFill>
                <a:latin typeface="Helvetica Neue"/>
                <a:ea typeface="Helvetica Neue"/>
                <a:cs typeface="Helvetica Neue"/>
              </a:rPr>
              <a:t>   The final row values</a:t>
            </a:r>
            <a:endParaRPr lang="en-US" sz="1500" dirty="0"/>
          </a:p>
        </p:txBody>
      </p:sp>
      <p:sp>
        <p:nvSpPr>
          <p:cNvPr id="13" name="read-row-box"/>
          <p:cNvSpPr/>
          <p:nvPr/>
        </p:nvSpPr>
        <p:spPr>
          <a:xfrm>
            <a:off x="6248400" y="2489200"/>
            <a:ext cx="5334000" cy="2717800"/>
          </a:xfrm>
          <a:prstGeom prst="rect">
            <a:avLst/>
          </a:prstGeom>
          <a:solidFill>
            <a:srgbClr val="FFF4EC"/>
          </a:solidFill>
          <a:ln>
            <a:noFill/>
          </a:ln>
        </p:spPr>
      </p:sp>
      <p:sp>
        <p:nvSpPr>
          <p:cNvPr id="14" name="read-row-bar"/>
          <p:cNvSpPr/>
          <p:nvPr/>
        </p:nvSpPr>
        <p:spPr>
          <a:xfrm>
            <a:off x="6248400" y="2489200"/>
            <a:ext cx="63500" cy="2717800"/>
          </a:xfrm>
          <a:prstGeom prst="rect">
            <a:avLst/>
          </a:prstGeom>
          <a:solidFill>
            <a:srgbClr val="BF3E05"/>
          </a:solidFill>
          <a:ln>
            <a:noFill/>
          </a:ln>
        </p:spPr>
      </p:sp>
      <p:sp>
        <p:nvSpPr>
          <p:cNvPr id="15" name="read-row"/>
          <p:cNvSpPr/>
          <p:nvPr/>
        </p:nvSpPr>
        <p:spPr>
          <a:xfrm>
            <a:off x="6527800" y="2641600"/>
            <a:ext cx="4876800" cy="2413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How to read the diagnostic row</a:t>
            </a:r>
            <a:endParaRPr lang="en-US" sz="1600" dirty="0"/>
          </a:p>
          <a:p>
            <a:pPr algn="l">
              <a:spcAft>
                <a:spcPts val="800"/>
              </a:spcAft>
              <a:buNone/>
            </a:pPr>
            <a:r>
              <a:rPr lang="en-US" sz="1500" b="0" i="0" dirty="0">
                <a:solidFill>
                  <a:srgbClr val="111827"/>
                </a:solidFill>
                <a:latin typeface="Helvetica Neue"/>
                <a:ea typeface="Helvetica Neue"/>
                <a:cs typeface="Helvetica Neue"/>
              </a:rPr>
              <a:t>The blocked session is waiting: its </a:t>
            </a:r>
            <a:r>
              <a:rPr lang="en-US" sz="1350" b="0" i="0" dirty="0">
                <a:solidFill>
                  <a:srgbClr val="111827"/>
                </a:solidFill>
                <a:latin typeface="Menlo"/>
                <a:ea typeface="Menlo"/>
                <a:cs typeface="Menlo"/>
              </a:rPr>
              <a:t>wait_event_type</a:t>
            </a:r>
            <a:r>
              <a:rPr lang="en-US" sz="1500" b="0" i="0" dirty="0">
                <a:solidFill>
                  <a:srgbClr val="111827"/>
                </a:solidFill>
                <a:latin typeface="Helvetica Neue"/>
                <a:ea typeface="Helvetica Neue"/>
                <a:cs typeface="Helvetica Neue"/>
              </a:rPr>
              <a:t> is </a:t>
            </a:r>
            <a:r>
              <a:rPr lang="en-US" sz="1350" b="0" i="0" dirty="0">
                <a:solidFill>
                  <a:srgbClr val="111827"/>
                </a:solidFill>
                <a:latin typeface="Menlo"/>
                <a:ea typeface="Menlo"/>
                <a:cs typeface="Menlo"/>
              </a:rPr>
              <a:t>Lock</a:t>
            </a:r>
            <a:r>
              <a:rPr lang="en-US" sz="1500" b="0" i="0" dirty="0">
                <a:solidFill>
                  <a:srgbClr val="111827"/>
                </a:solidFill>
                <a:latin typeface="Helvetica Neue"/>
                <a:ea typeface="Helvetica Neue"/>
                <a:cs typeface="Helvetica Neue"/>
              </a:rPr>
              <a:t>.</a:t>
            </a:r>
            <a:endParaRPr lang="en-US" sz="1500" dirty="0"/>
          </a:p>
          <a:p>
            <a:pPr algn="l">
              <a:spcAft>
                <a:spcPts val="800"/>
              </a:spcAft>
              <a:buNone/>
            </a:pPr>
            <a:r>
              <a:rPr lang="en-US" sz="1500" b="0" i="0" dirty="0">
                <a:solidFill>
                  <a:srgbClr val="111827"/>
                </a:solidFill>
                <a:latin typeface="Helvetica Neue"/>
                <a:ea typeface="Helvetica Neue"/>
                <a:cs typeface="Helvetica Neue"/>
              </a:rPr>
              <a:t>Its </a:t>
            </a:r>
            <a:r>
              <a:rPr lang="en-US" sz="1350" b="0" i="0" dirty="0">
                <a:solidFill>
                  <a:srgbClr val="111827"/>
                </a:solidFill>
                <a:latin typeface="Menlo"/>
                <a:ea typeface="Menlo"/>
                <a:cs typeface="Menlo"/>
              </a:rPr>
              <a:t>blocking_pids</a:t>
            </a:r>
            <a:r>
              <a:rPr lang="en-US" sz="1500" b="0" i="0" dirty="0">
                <a:solidFill>
                  <a:srgbClr val="111827"/>
                </a:solidFill>
                <a:latin typeface="Helvetica Neue"/>
                <a:ea typeface="Helvetica Neue"/>
                <a:cs typeface="Helvetica Neue"/>
              </a:rPr>
              <a:t> lists the session it waits for. That session is the blocker.</a:t>
            </a:r>
            <a:endParaRPr lang="en-US" sz="1500" dirty="0"/>
          </a:p>
          <a:p>
            <a:pPr algn="l">
              <a:buNone/>
            </a:pPr>
            <a:r>
              <a:rPr lang="en-US" sz="1500" b="0" i="0" dirty="0">
                <a:solidFill>
                  <a:srgbClr val="111827"/>
                </a:solidFill>
                <a:latin typeface="Helvetica Neue"/>
                <a:ea typeface="Helvetica Neue"/>
                <a:cs typeface="Helvetica Neue"/>
              </a:rPr>
              <a:t>Notebook example: </a:t>
            </a:r>
            <a:r>
              <a:rPr lang="en-US" sz="1350" b="0" i="0" dirty="0">
                <a:solidFill>
                  <a:srgbClr val="111827"/>
                </a:solidFill>
                <a:latin typeface="Menlo"/>
                <a:ea typeface="Menlo"/>
                <a:cs typeface="Menlo"/>
              </a:rPr>
              <a:t>pg_blocking_pids(7332)</a:t>
            </a:r>
            <a:r>
              <a:rPr lang="en-US" sz="1500" b="0" i="0" dirty="0">
                <a:solidFill>
                  <a:srgbClr val="111827"/>
                </a:solidFill>
                <a:latin typeface="Helvetica Neue"/>
                <a:ea typeface="Helvetica Neue"/>
                <a:cs typeface="Helvetica Neue"/>
              </a:rPr>
              <a:t> returns </a:t>
            </a:r>
            <a:r>
              <a:rPr lang="en-US" sz="1350" b="0" i="0" dirty="0">
                <a:solidFill>
                  <a:srgbClr val="111827"/>
                </a:solidFill>
                <a:latin typeface="Menlo"/>
                <a:ea typeface="Menlo"/>
                <a:cs typeface="Menlo"/>
              </a:rPr>
              <a:t>{7310}</a:t>
            </a:r>
            <a:r>
              <a:rPr lang="en-US" sz="1500" b="0" i="0" dirty="0">
                <a:solidFill>
                  <a:srgbClr val="111827"/>
                </a:solidFill>
                <a:latin typeface="Helvetica Neue"/>
                <a:ea typeface="Helvetica Neue"/>
                <a:cs typeface="Helvetica Neue"/>
              </a:rPr>
              <a:t>, so 7332 waits for 7310.</a:t>
            </a:r>
            <a:endParaRPr lang="en-US" sz="1500" dirty="0"/>
          </a:p>
        </p:txBody>
      </p:sp>
      <p:sp>
        <p:nvSpPr>
          <p:cNvPr id="16" name="lock-lab-box"/>
          <p:cNvSpPr/>
          <p:nvPr/>
        </p:nvSpPr>
        <p:spPr>
          <a:xfrm>
            <a:off x="609600" y="5461000"/>
            <a:ext cx="10972800" cy="711200"/>
          </a:xfrm>
          <a:prstGeom prst="rect">
            <a:avLst/>
          </a:prstGeom>
          <a:solidFill>
            <a:srgbClr val="FFF4EC"/>
          </a:solidFill>
          <a:ln>
            <a:noFill/>
          </a:ln>
        </p:spPr>
      </p:sp>
      <p:sp>
        <p:nvSpPr>
          <p:cNvPr id="17" name="lock-lab-bar"/>
          <p:cNvSpPr/>
          <p:nvPr/>
        </p:nvSpPr>
        <p:spPr>
          <a:xfrm>
            <a:off x="609600" y="5461000"/>
            <a:ext cx="63500" cy="711200"/>
          </a:xfrm>
          <a:prstGeom prst="rect">
            <a:avLst/>
          </a:prstGeom>
          <a:solidFill>
            <a:srgbClr val="BF3E05"/>
          </a:solidFill>
          <a:ln>
            <a:noFill/>
          </a:ln>
        </p:spPr>
      </p:sp>
      <p:sp>
        <p:nvSpPr>
          <p:cNvPr id="18" name="lock-lab"/>
          <p:cNvSpPr/>
          <p:nvPr/>
        </p:nvSpPr>
        <p:spPr>
          <a:xfrm>
            <a:off x="889000" y="561340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Different starting values:</a:t>
            </a:r>
            <a:r>
              <a:rPr lang="en-US" sz="1500" b="0" i="0" dirty="0">
                <a:solidFill>
                  <a:srgbClr val="111827"/>
                </a:solidFill>
                <a:latin typeface="Helvetica Neue"/>
                <a:ea typeface="Helvetica Neue"/>
                <a:cs typeface="Helvetica Neue"/>
              </a:rPr>
              <a:t> the Week 5 </a:t>
            </a:r>
            <a:r>
              <a:rPr lang="en-US" sz="1350" b="0" i="0" dirty="0">
                <a:solidFill>
                  <a:srgbClr val="111827"/>
                </a:solidFill>
                <a:latin typeface="Menlo"/>
                <a:ea typeface="Menlo"/>
                <a:cs typeface="Menlo"/>
              </a:rPr>
              <a:t>lock_lab</a:t>
            </a:r>
            <a:r>
              <a:rPr lang="en-US" sz="1500" b="0" i="0" dirty="0">
                <a:solidFill>
                  <a:srgbClr val="111827"/>
                </a:solidFill>
                <a:latin typeface="Helvetica Neue"/>
                <a:ea typeface="Helvetica Neue"/>
                <a:cs typeface="Helvetica Neue"/>
              </a:rPr>
              <a:t> ticket 1004 starts at medium and open, not low and new. Use the notebook's values.</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Run the index experiment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10</a:t>
            </a:r>
            <a:endParaRPr lang="en-US" sz="900" dirty="0"/>
          </a:p>
        </p:txBody>
      </p:sp>
      <p:sp>
        <p:nvSpPr>
          <p:cNvPr id="7" name="step-card-0"/>
          <p:cNvSpPr/>
          <p:nvPr/>
        </p:nvSpPr>
        <p:spPr>
          <a:xfrm>
            <a:off x="609600" y="1524000"/>
            <a:ext cx="3454400" cy="1498600"/>
          </a:xfrm>
          <a:prstGeom prst="rect">
            <a:avLst/>
          </a:prstGeom>
          <a:solidFill>
            <a:srgbClr val="FFFFFF"/>
          </a:solidFill>
          <a:ln w="9525">
            <a:solidFill>
              <a:srgbClr val="CBD5E1"/>
            </a:solidFill>
          </a:ln>
        </p:spPr>
      </p:sp>
      <p:sp>
        <p:nvSpPr>
          <p:cNvPr id="8" name="step-bar-0"/>
          <p:cNvSpPr/>
          <p:nvPr/>
        </p:nvSpPr>
        <p:spPr>
          <a:xfrm>
            <a:off x="609600" y="1524000"/>
            <a:ext cx="3454400" cy="50800"/>
          </a:xfrm>
          <a:prstGeom prst="rect">
            <a:avLst/>
          </a:prstGeom>
          <a:solidFill>
            <a:srgbClr val="BF3E05"/>
          </a:solidFill>
          <a:ln>
            <a:noFill/>
          </a:ln>
        </p:spPr>
      </p:sp>
      <p:sp>
        <p:nvSpPr>
          <p:cNvPr id="9" name="step-0"/>
          <p:cNvSpPr/>
          <p:nvPr/>
        </p:nvSpPr>
        <p:spPr>
          <a:xfrm>
            <a:off x="7874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4A · BEFORE</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SELECT alone and save the IDs. Run the EXPLAIN alone and save the plan.</a:t>
            </a:r>
            <a:endParaRPr lang="en-US" sz="1450" dirty="0"/>
          </a:p>
        </p:txBody>
      </p:sp>
      <p:sp>
        <p:nvSpPr>
          <p:cNvPr id="10" name="step-card-1"/>
          <p:cNvSpPr/>
          <p:nvPr/>
        </p:nvSpPr>
        <p:spPr>
          <a:xfrm>
            <a:off x="4368800" y="1524000"/>
            <a:ext cx="3454400" cy="1498600"/>
          </a:xfrm>
          <a:prstGeom prst="rect">
            <a:avLst/>
          </a:prstGeom>
          <a:solidFill>
            <a:srgbClr val="FFFFFF"/>
          </a:solidFill>
          <a:ln w="9525">
            <a:solidFill>
              <a:srgbClr val="CBD5E1"/>
            </a:solidFill>
          </a:ln>
        </p:spPr>
      </p:sp>
      <p:sp>
        <p:nvSpPr>
          <p:cNvPr id="11" name="step-bar-1"/>
          <p:cNvSpPr/>
          <p:nvPr/>
        </p:nvSpPr>
        <p:spPr>
          <a:xfrm>
            <a:off x="4368800" y="1524000"/>
            <a:ext cx="3454400" cy="50800"/>
          </a:xfrm>
          <a:prstGeom prst="rect">
            <a:avLst/>
          </a:prstGeom>
          <a:solidFill>
            <a:srgbClr val="BF3E05"/>
          </a:solidFill>
          <a:ln>
            <a:noFill/>
          </a:ln>
        </p:spPr>
      </p:sp>
      <p:sp>
        <p:nvSpPr>
          <p:cNvPr id="12" name="step-1"/>
          <p:cNvSpPr/>
          <p:nvPr/>
        </p:nvSpPr>
        <p:spPr>
          <a:xfrm>
            <a:off x="45466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4B · CREATE</a:t>
            </a:r>
            <a:endParaRPr lang="en-US" sz="1300" dirty="0"/>
          </a:p>
          <a:p>
            <a:pPr algn="l">
              <a:lnSpc>
                <a:spcPct val="102000"/>
              </a:lnSpc>
              <a:buNone/>
            </a:pPr>
            <a:r>
              <a:rPr lang="en-US" sz="1450" b="0" i="0" dirty="0">
                <a:solidFill>
                  <a:srgbClr val="111827"/>
                </a:solidFill>
                <a:latin typeface="Helvetica Neue"/>
                <a:ea typeface="Helvetica Neue"/>
                <a:cs typeface="Helvetica Neue"/>
              </a:rPr>
              <a:t>Create the index once. If it already exists, drop it with the starter's DROP INDEX line and repeat 4A to 4C.</a:t>
            </a:r>
            <a:endParaRPr lang="en-US" sz="1450" dirty="0"/>
          </a:p>
        </p:txBody>
      </p:sp>
      <p:sp>
        <p:nvSpPr>
          <p:cNvPr id="13" name="step-card-2"/>
          <p:cNvSpPr/>
          <p:nvPr/>
        </p:nvSpPr>
        <p:spPr>
          <a:xfrm>
            <a:off x="8128000" y="1524000"/>
            <a:ext cx="3454400" cy="1498600"/>
          </a:xfrm>
          <a:prstGeom prst="rect">
            <a:avLst/>
          </a:prstGeom>
          <a:solidFill>
            <a:srgbClr val="FFFFFF"/>
          </a:solidFill>
          <a:ln w="9525">
            <a:solidFill>
              <a:srgbClr val="CBD5E1"/>
            </a:solidFill>
          </a:ln>
        </p:spPr>
      </p:sp>
      <p:sp>
        <p:nvSpPr>
          <p:cNvPr id="14" name="step-bar-2"/>
          <p:cNvSpPr/>
          <p:nvPr/>
        </p:nvSpPr>
        <p:spPr>
          <a:xfrm>
            <a:off x="8128000" y="1524000"/>
            <a:ext cx="3454400" cy="50800"/>
          </a:xfrm>
          <a:prstGeom prst="rect">
            <a:avLst/>
          </a:prstGeom>
          <a:solidFill>
            <a:srgbClr val="BF3E05"/>
          </a:solidFill>
          <a:ln>
            <a:noFill/>
          </a:ln>
        </p:spPr>
      </p:sp>
      <p:sp>
        <p:nvSpPr>
          <p:cNvPr id="15" name="step-2"/>
          <p:cNvSpPr/>
          <p:nvPr/>
        </p:nvSpPr>
        <p:spPr>
          <a:xfrm>
            <a:off x="83058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4C · AFTER</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same SELECT and EXPLAIN again, then the size query.</a:t>
            </a:r>
            <a:endParaRPr lang="en-US" sz="1450" dirty="0"/>
          </a:p>
        </p:txBody>
      </p:sp>
      <p:graphicFrame>
        <p:nvGraphicFramePr>
          <p:cNvPr id="16" name="index-results"/>
          <p:cNvGraphicFramePr>
            <a:graphicFrameLocks noGrp="1"/>
          </p:cNvGraphicFramePr>
          <p:nvPr/>
        </p:nvGraphicFramePr>
        <p:xfrm>
          <a:off x="609600" y="3276600"/>
          <a:ext cx="10972800" cy="1625600"/>
        </p:xfrm>
        <a:graphic>
          <a:graphicData uri="http://schemas.openxmlformats.org/drawingml/2006/table">
            <a:tbl>
              <a:tblPr firstRow="1" bandRow="1"/>
              <a:tblGrid>
                <a:gridCol w="2794000"/>
                <a:gridCol w="4089400"/>
                <a:gridCol w="4089400"/>
              </a:tblGrid>
              <a:tr h="406400">
                <a:tc>
                  <a:txBody>
                    <a:bodyPr/>
                    <a:lstStyle/>
                    <a:p>
                      <a:pPr algn="l">
                        <a:buNone/>
                      </a:pPr>
                      <a:r>
                        <a:rPr lang="en-US" sz="1550" b="1" i="0" dirty="0">
                          <a:solidFill>
                            <a:srgbClr val="FFFFFF"/>
                          </a:solidFill>
                          <a:latin typeface="Helvetica Neue"/>
                          <a:ea typeface="Helvetica Neue"/>
                          <a:cs typeface="Helvetica Neue"/>
                        </a:rPr>
                        <a:t>Evidence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Before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After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550" b="1" i="0" dirty="0">
                          <a:solidFill>
                            <a:srgbClr val="111827"/>
                          </a:solidFill>
                          <a:latin typeface="Helvetica Neue"/>
                          <a:ea typeface="Helvetica Neue"/>
                          <a:cs typeface="Helvetica Neue"/>
                        </a:rPr>
                        <a:t>Ordered IDs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550" b="1" i="0" dirty="0">
                          <a:solidFill>
                            <a:srgbClr val="111827"/>
                          </a:solidFill>
                          <a:latin typeface="Helvetica Neue"/>
                          <a:ea typeface="Helvetica Neue"/>
                          <a:cs typeface="Helvetica Neue"/>
                        </a:rPr>
                        <a:t>Scan line in the plan</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550" b="1" i="0" dirty="0">
                          <a:solidFill>
                            <a:srgbClr val="111827"/>
                          </a:solidFill>
                          <a:latin typeface="Helvetica Neue"/>
                          <a:ea typeface="Helvetica Neue"/>
                          <a:cs typeface="Helvetica Neue"/>
                        </a:rPr>
                        <a:t>index_bytes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not applicable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16384, which is 16 kB</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17" name="pg16-note-box"/>
          <p:cNvSpPr/>
          <p:nvPr/>
        </p:nvSpPr>
        <p:spPr>
          <a:xfrm>
            <a:off x="609600" y="5105400"/>
            <a:ext cx="10972800" cy="1041400"/>
          </a:xfrm>
          <a:prstGeom prst="rect">
            <a:avLst/>
          </a:prstGeom>
          <a:solidFill>
            <a:srgbClr val="FFF4EC"/>
          </a:solidFill>
          <a:ln>
            <a:noFill/>
          </a:ln>
        </p:spPr>
      </p:sp>
      <p:sp>
        <p:nvSpPr>
          <p:cNvPr id="18" name="pg16-note-bar"/>
          <p:cNvSpPr/>
          <p:nvPr/>
        </p:nvSpPr>
        <p:spPr>
          <a:xfrm>
            <a:off x="609600" y="5105400"/>
            <a:ext cx="63500" cy="1041400"/>
          </a:xfrm>
          <a:prstGeom prst="rect">
            <a:avLst/>
          </a:prstGeom>
          <a:solidFill>
            <a:srgbClr val="BF3E05"/>
          </a:solidFill>
          <a:ln>
            <a:noFill/>
          </a:ln>
        </p:spPr>
      </p:sp>
      <p:sp>
        <p:nvSpPr>
          <p:cNvPr id="19" name="pg16-note"/>
          <p:cNvSpPr/>
          <p:nvPr/>
        </p:nvSpPr>
        <p:spPr>
          <a:xfrm>
            <a:off x="889000" y="5257800"/>
            <a:ext cx="10515600" cy="736600"/>
          </a:xfrm>
          <a:prstGeom prst="rect">
            <a:avLst/>
          </a:prstGeom>
          <a:noFill/>
          <a:ln>
            <a:noFill/>
          </a:ln>
        </p:spPr>
        <p:txBody>
          <a:bodyPr wrap="square" lIns="0" tIns="0" rIns="0" bIns="0" anchor="t" rtlCol="0">
            <a:noAutofit/>
          </a:bodyPr>
          <a:lstStyle/>
          <a:p>
            <a:pPr algn="l">
              <a:spcAft>
                <a:spcPts val="400"/>
              </a:spcAft>
              <a:buNone/>
            </a:pPr>
            <a:r>
              <a:rPr lang="en-US" sz="1200" b="1" i="0" dirty="0">
                <a:solidFill>
                  <a:srgbClr val="BF3E05"/>
                </a:solidFill>
                <a:latin typeface="Helvetica Neue"/>
                <a:ea typeface="Helvetica Neue"/>
                <a:cs typeface="Helvetica Neue"/>
              </a:rPr>
              <a:t>MEASURED ON POSTGRESQL 16</a:t>
            </a:r>
            <a:endParaRPr lang="en-US" sz="1200" dirty="0"/>
          </a:p>
          <a:p>
            <a:pPr algn="l">
              <a:buNone/>
            </a:pPr>
            <a:r>
              <a:rPr lang="en-US" sz="1500" b="0" i="0" dirty="0">
                <a:solidFill>
                  <a:srgbClr val="111827"/>
                </a:solidFill>
                <a:latin typeface="Helvetica Neue"/>
                <a:ea typeface="Helvetica Neue"/>
                <a:cs typeface="Helvetica Neue"/>
              </a:rPr>
              <a:t>Your timings and cost numbers will differ. Cost can drop after CREATE INDEX even when the plan does not change, so compare the </a:t>
            </a:r>
            <a:r>
              <a:rPr lang="en-US" sz="1500" b="1" i="0" dirty="0">
                <a:solidFill>
                  <a:srgbClr val="111827"/>
                </a:solidFill>
                <a:latin typeface="Helvetica Neue"/>
                <a:ea typeface="Helvetica Neue"/>
                <a:cs typeface="Helvetica Neue"/>
              </a:rPr>
              <a:t>scan type</a:t>
            </a:r>
            <a:r>
              <a:rPr lang="en-US" sz="1500" b="0" i="0" dirty="0">
                <a:solidFill>
                  <a:srgbClr val="111827"/>
                </a:solidFill>
                <a:latin typeface="Helvetica Neue"/>
                <a:ea typeface="Helvetica Neue"/>
                <a:cs typeface="Helvetica Neue"/>
              </a:rPr>
              <a:t>.</a:t>
            </a:r>
            <a:endParaRPr lang="en-US" sz="15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An unchanged plan is a correct result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11</a:t>
            </a:r>
            <a:endParaRPr lang="en-US" sz="900" dirty="0"/>
          </a:p>
        </p:txBody>
      </p:sp>
      <p:sp>
        <p:nvSpPr>
          <p:cNvPr id="7" name="why-seq-box"/>
          <p:cNvSpPr/>
          <p:nvPr/>
        </p:nvSpPr>
        <p:spPr>
          <a:xfrm>
            <a:off x="609600" y="1524000"/>
            <a:ext cx="4368800" cy="2336800"/>
          </a:xfrm>
          <a:prstGeom prst="rect">
            <a:avLst/>
          </a:prstGeom>
          <a:solidFill>
            <a:srgbClr val="FFF4EC"/>
          </a:solidFill>
          <a:ln>
            <a:noFill/>
          </a:ln>
        </p:spPr>
      </p:sp>
      <p:sp>
        <p:nvSpPr>
          <p:cNvPr id="8" name="why-seq-bar"/>
          <p:cNvSpPr/>
          <p:nvPr/>
        </p:nvSpPr>
        <p:spPr>
          <a:xfrm>
            <a:off x="609600" y="1524000"/>
            <a:ext cx="63500" cy="2336800"/>
          </a:xfrm>
          <a:prstGeom prst="rect">
            <a:avLst/>
          </a:prstGeom>
          <a:solidFill>
            <a:srgbClr val="BF3E05"/>
          </a:solidFill>
          <a:ln>
            <a:noFill/>
          </a:ln>
        </p:spPr>
      </p:sp>
      <p:sp>
        <p:nvSpPr>
          <p:cNvPr id="9" name="why-seq"/>
          <p:cNvSpPr/>
          <p:nvPr/>
        </p:nvSpPr>
        <p:spPr>
          <a:xfrm>
            <a:off x="889000" y="1676400"/>
            <a:ext cx="3911600" cy="2032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Why a Seq Scan wins here</a:t>
            </a:r>
            <a:endParaRPr lang="en-US" sz="1600" dirty="0"/>
          </a:p>
          <a:p>
            <a:pPr algn="l">
              <a:spcAft>
                <a:spcPts val="800"/>
              </a:spcAft>
              <a:buNone/>
            </a:pPr>
            <a:r>
              <a:rPr lang="en-US" sz="1600" b="0" i="0" dirty="0">
                <a:solidFill>
                  <a:srgbClr val="111827"/>
                </a:solidFill>
                <a:latin typeface="Helvetica Neue"/>
                <a:ea typeface="Helvetica Neue"/>
                <a:cs typeface="Helvetica Neue"/>
              </a:rPr>
              <a:t>All 12 tickets fit on </a:t>
            </a:r>
            <a:r>
              <a:rPr lang="en-US" sz="1600" b="1" i="0" dirty="0">
                <a:solidFill>
                  <a:srgbClr val="111827"/>
                </a:solidFill>
                <a:latin typeface="Helvetica Neue"/>
                <a:ea typeface="Helvetica Neue"/>
                <a:cs typeface="Helvetica Neue"/>
              </a:rPr>
              <a:t>one 8 kB page</a:t>
            </a:r>
            <a:r>
              <a:rPr lang="en-US" sz="1600" b="0" i="0" dirty="0">
                <a:solidFill>
                  <a:srgbClr val="111827"/>
                </a:solidFill>
                <a:latin typeface="Helvetica Neue"/>
                <a:ea typeface="Helvetica Neue"/>
                <a:cs typeface="Helvetica Neue"/>
              </a:rPr>
              <a:t>. Reading that page is cheaper than reading the index and then the table.</a:t>
            </a:r>
            <a:endParaRPr lang="en-US" sz="1600" dirty="0"/>
          </a:p>
          <a:p>
            <a:pPr algn="l">
              <a:buNone/>
            </a:pPr>
            <a:r>
              <a:rPr lang="en-US" sz="1400" b="0" i="0" dirty="0">
                <a:solidFill>
                  <a:srgbClr val="64748B"/>
                </a:solidFill>
                <a:latin typeface="Helvetica Neue"/>
                <a:ea typeface="Helvetica Neue"/>
                <a:cs typeface="Helvetica Neue"/>
              </a:rPr>
              <a:t>An honest explanation of an unchanged plan can earn full credit.</a:t>
            </a:r>
            <a:endParaRPr lang="en-US" sz="1400" dirty="0"/>
          </a:p>
        </p:txBody>
      </p:sp>
      <p:sp>
        <p:nvSpPr>
          <p:cNvPr id="10" name="no-fakes-box"/>
          <p:cNvSpPr/>
          <p:nvPr/>
        </p:nvSpPr>
        <p:spPr>
          <a:xfrm>
            <a:off x="609600" y="4064000"/>
            <a:ext cx="4368800" cy="1168400"/>
          </a:xfrm>
          <a:prstGeom prst="rect">
            <a:avLst/>
          </a:prstGeom>
          <a:solidFill>
            <a:srgbClr val="FFF4EC"/>
          </a:solidFill>
          <a:ln>
            <a:noFill/>
          </a:ln>
        </p:spPr>
      </p:sp>
      <p:sp>
        <p:nvSpPr>
          <p:cNvPr id="11" name="no-fakes-bar"/>
          <p:cNvSpPr/>
          <p:nvPr/>
        </p:nvSpPr>
        <p:spPr>
          <a:xfrm>
            <a:off x="609600" y="4064000"/>
            <a:ext cx="63500" cy="1168400"/>
          </a:xfrm>
          <a:prstGeom prst="rect">
            <a:avLst/>
          </a:prstGeom>
          <a:solidFill>
            <a:srgbClr val="BF3E05"/>
          </a:solidFill>
          <a:ln>
            <a:noFill/>
          </a:ln>
        </p:spPr>
      </p:sp>
      <p:sp>
        <p:nvSpPr>
          <p:cNvPr id="12" name="no-fakes"/>
          <p:cNvSpPr/>
          <p:nvPr/>
        </p:nvSpPr>
        <p:spPr>
          <a:xfrm>
            <a:off x="889000" y="4216400"/>
            <a:ext cx="3911600" cy="863600"/>
          </a:xfrm>
          <a:prstGeom prst="rect">
            <a:avLst/>
          </a:prstGeom>
          <a:noFill/>
          <a:ln>
            <a:noFill/>
          </a:ln>
        </p:spPr>
        <p:txBody>
          <a:bodyPr wrap="square" lIns="0" tIns="0" rIns="0" bIns="0" anchor="ctr" rtlCol="0">
            <a:noAutofit/>
          </a:bodyPr>
          <a:lstStyle/>
          <a:p>
            <a:pPr algn="l">
              <a:buNone/>
            </a:pPr>
            <a:r>
              <a:rPr lang="en-US" sz="1550" b="1" i="0" dirty="0">
                <a:solidFill>
                  <a:srgbClr val="111827"/>
                </a:solidFill>
                <a:latin typeface="Helvetica Neue"/>
                <a:ea typeface="Helvetica Neue"/>
                <a:cs typeface="Helvetica Neue"/>
              </a:rPr>
              <a:t>Do not</a:t>
            </a:r>
            <a:r>
              <a:rPr lang="en-US" sz="1550" b="0" i="0" dirty="0">
                <a:solidFill>
                  <a:srgbClr val="111827"/>
                </a:solidFill>
                <a:latin typeface="Helvetica Neue"/>
                <a:ea typeface="Helvetica Neue"/>
                <a:cs typeface="Helvetica Neue"/>
              </a:rPr>
              <a:t> add fake rows or change planner settings to force a result.</a:t>
            </a:r>
            <a:endParaRPr lang="en-US" sz="1550" dirty="0"/>
          </a:p>
        </p:txBody>
      </p:sp>
      <p:sp>
        <p:nvSpPr>
          <p:cNvPr id="13" name="cover-head"/>
          <p:cNvSpPr/>
          <p:nvPr/>
        </p:nvSpPr>
        <p:spPr>
          <a:xfrm>
            <a:off x="5283200" y="1524000"/>
            <a:ext cx="6299200" cy="330200"/>
          </a:xfrm>
          <a:prstGeom prst="rect">
            <a:avLst/>
          </a:prstGeom>
          <a:noFill/>
          <a:ln>
            <a:noFill/>
          </a:ln>
        </p:spPr>
        <p:txBody>
          <a:bodyPr wrap="square" lIns="0" tIns="0" rIns="0" bIns="0" anchor="t" rtlCol="0">
            <a:noAutofit/>
          </a:bodyPr>
          <a:lstStyle/>
          <a:p>
            <a:pPr algn="l">
              <a:buNone/>
            </a:pPr>
            <a:r>
              <a:rPr lang="en-US" sz="1600" b="0" i="0" dirty="0">
                <a:solidFill>
                  <a:srgbClr val="111827"/>
                </a:solidFill>
                <a:latin typeface="Helvetica Neue"/>
                <a:ea typeface="Helvetica Neue"/>
                <a:cs typeface="Helvetica Neue"/>
              </a:rPr>
              <a:t>In README </a:t>
            </a:r>
            <a:r>
              <a:rPr lang="en-US" sz="1600" b="1" i="0" dirty="0">
                <a:solidFill>
                  <a:srgbClr val="111827"/>
                </a:solidFill>
                <a:latin typeface="Helvetica Neue"/>
                <a:ea typeface="Helvetica Neue"/>
                <a:cs typeface="Helvetica Neue"/>
              </a:rPr>
              <a:t>One improvement</a:t>
            </a:r>
            <a:r>
              <a:rPr lang="en-US" sz="1600" b="0" i="0" dirty="0">
                <a:solidFill>
                  <a:srgbClr val="111827"/>
                </a:solidFill>
                <a:latin typeface="Helvetica Neue"/>
                <a:ea typeface="Helvetica Neue"/>
                <a:cs typeface="Helvetica Neue"/>
              </a:rPr>
              <a:t>, cover:</a:t>
            </a:r>
            <a:endParaRPr lang="en-US" sz="1600" dirty="0"/>
          </a:p>
        </p:txBody>
      </p:sp>
      <p:sp>
        <p:nvSpPr>
          <p:cNvPr id="14" name="cover-badge-1"/>
          <p:cNvSpPr/>
          <p:nvPr/>
        </p:nvSpPr>
        <p:spPr>
          <a:xfrm>
            <a:off x="5283200" y="19558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1</a:t>
            </a:r>
            <a:endParaRPr lang="en-US" sz="1300" dirty="0"/>
          </a:p>
        </p:txBody>
      </p:sp>
      <p:sp>
        <p:nvSpPr>
          <p:cNvPr id="15" name="cover-1"/>
          <p:cNvSpPr/>
          <p:nvPr/>
        </p:nvSpPr>
        <p:spPr>
          <a:xfrm>
            <a:off x="5740400" y="19812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The problem:</a:t>
            </a:r>
            <a:r>
              <a:rPr lang="en-US" sz="1500" b="0" i="0" dirty="0">
                <a:solidFill>
                  <a:srgbClr val="111827"/>
                </a:solidFill>
                <a:latin typeface="Helvetica Neue"/>
                <a:ea typeface="Helvetica Neue"/>
                <a:cs typeface="Helvetica Neue"/>
              </a:rPr>
              <a:t> finding the newest open tickets as the table grows</a:t>
            </a:r>
            <a:endParaRPr lang="en-US" sz="1500" dirty="0"/>
          </a:p>
        </p:txBody>
      </p:sp>
      <p:sp>
        <p:nvSpPr>
          <p:cNvPr id="16" name="cover-badge-2"/>
          <p:cNvSpPr/>
          <p:nvPr/>
        </p:nvSpPr>
        <p:spPr>
          <a:xfrm>
            <a:off x="5283200" y="26162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2</a:t>
            </a:r>
            <a:endParaRPr lang="en-US" sz="1300" dirty="0"/>
          </a:p>
        </p:txBody>
      </p:sp>
      <p:sp>
        <p:nvSpPr>
          <p:cNvPr id="17" name="cover-2"/>
          <p:cNvSpPr/>
          <p:nvPr/>
        </p:nvSpPr>
        <p:spPr>
          <a:xfrm>
            <a:off x="5740400" y="26416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plan change?</a:t>
            </a:r>
            <a:r>
              <a:rPr lang="en-US" sz="1500" b="0" i="0" dirty="0">
                <a:solidFill>
                  <a:srgbClr val="111827"/>
                </a:solidFill>
                <a:latin typeface="Helvetica Neue"/>
                <a:ea typeface="Helvetica Neue"/>
                <a:cs typeface="Helvetica Neue"/>
              </a:rPr>
              <a:t> Quote the scan line from each plan</a:t>
            </a:r>
            <a:endParaRPr lang="en-US" sz="1500" dirty="0"/>
          </a:p>
        </p:txBody>
      </p:sp>
      <p:sp>
        <p:nvSpPr>
          <p:cNvPr id="18" name="cover-badge-3"/>
          <p:cNvSpPr/>
          <p:nvPr/>
        </p:nvSpPr>
        <p:spPr>
          <a:xfrm>
            <a:off x="5283200" y="32766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3</a:t>
            </a:r>
            <a:endParaRPr lang="en-US" sz="1300" dirty="0"/>
          </a:p>
        </p:txBody>
      </p:sp>
      <p:sp>
        <p:nvSpPr>
          <p:cNvPr id="19" name="cover-3"/>
          <p:cNvSpPr/>
          <p:nvPr/>
        </p:nvSpPr>
        <p:spPr>
          <a:xfrm>
            <a:off x="5740400" y="33020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result stay the same?</a:t>
            </a:r>
            <a:r>
              <a:rPr lang="en-US" sz="1500" b="0" i="0" dirty="0">
                <a:solidFill>
                  <a:srgbClr val="111827"/>
                </a:solidFill>
                <a:latin typeface="Helvetica Neue"/>
                <a:ea typeface="Helvetica Neue"/>
                <a:cs typeface="Helvetica Neue"/>
              </a:rPr>
              <a:t> Compare the ordered IDs</a:t>
            </a:r>
            <a:endParaRPr lang="en-US" sz="1500" dirty="0"/>
          </a:p>
        </p:txBody>
      </p:sp>
      <p:sp>
        <p:nvSpPr>
          <p:cNvPr id="20" name="cover-badge-4"/>
          <p:cNvSpPr/>
          <p:nvPr/>
        </p:nvSpPr>
        <p:spPr>
          <a:xfrm>
            <a:off x="5283200" y="39370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4</a:t>
            </a:r>
            <a:endParaRPr lang="en-US" sz="1300" dirty="0"/>
          </a:p>
        </p:txBody>
      </p:sp>
      <p:sp>
        <p:nvSpPr>
          <p:cNvPr id="21" name="cover-4"/>
          <p:cNvSpPr/>
          <p:nvPr/>
        </p:nvSpPr>
        <p:spPr>
          <a:xfrm>
            <a:off x="5740400" y="39624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One cost:</a:t>
            </a:r>
            <a:r>
              <a:rPr lang="en-US" sz="1500" b="0" i="0" dirty="0">
                <a:solidFill>
                  <a:srgbClr val="111827"/>
                </a:solidFill>
                <a:latin typeface="Helvetica Neue"/>
                <a:ea typeface="Helvetica Neue"/>
                <a:cs typeface="Helvetica Neue"/>
              </a:rPr>
              <a:t> storage, plus extra work on inserts and on updates to indexed columns</a:t>
            </a:r>
            <a:endParaRPr lang="en-US" sz="1500" dirty="0"/>
          </a:p>
        </p:txBody>
      </p:sp>
      <p:sp>
        <p:nvSpPr>
          <p:cNvPr id="22" name="cover-badge-5"/>
          <p:cNvSpPr/>
          <p:nvPr/>
        </p:nvSpPr>
        <p:spPr>
          <a:xfrm>
            <a:off x="5283200" y="45974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5</a:t>
            </a:r>
            <a:endParaRPr lang="en-US" sz="1300" dirty="0"/>
          </a:p>
        </p:txBody>
      </p:sp>
      <p:sp>
        <p:nvSpPr>
          <p:cNvPr id="23" name="cover-5"/>
          <p:cNvSpPr/>
          <p:nvPr/>
        </p:nvSpPr>
        <p:spPr>
          <a:xfrm>
            <a:off x="5740400" y="46228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Your recommendation:</a:t>
            </a:r>
            <a:r>
              <a:rPr lang="en-US" sz="1500" b="0" i="0" dirty="0">
                <a:solidFill>
                  <a:srgbClr val="111827"/>
                </a:solidFill>
                <a:latin typeface="Helvetica Neue"/>
                <a:ea typeface="Helvetica Neue"/>
                <a:cs typeface="Helvetica Neue"/>
              </a:rPr>
              <a:t> keep or drop the index, and why</a:t>
            </a:r>
            <a:endParaRPr lang="en-US" sz="1500" dirty="0"/>
          </a:p>
        </p:txBody>
      </p:sp>
      <p:sp>
        <p:nvSpPr>
          <p:cNvPr id="24" name="alt-box"/>
          <p:cNvSpPr/>
          <p:nvPr/>
        </p:nvSpPr>
        <p:spPr>
          <a:xfrm>
            <a:off x="609600" y="5486400"/>
            <a:ext cx="10972800" cy="685800"/>
          </a:xfrm>
          <a:prstGeom prst="rect">
            <a:avLst/>
          </a:prstGeom>
          <a:solidFill>
            <a:srgbClr val="F1F5F9"/>
          </a:solidFill>
          <a:ln>
            <a:noFill/>
          </a:ln>
        </p:spPr>
      </p:sp>
      <p:sp>
        <p:nvSpPr>
          <p:cNvPr id="25" name="alt"/>
          <p:cNvSpPr/>
          <p:nvPr/>
        </p:nvSpPr>
        <p:spPr>
          <a:xfrm>
            <a:off x="838200" y="5486400"/>
            <a:ext cx="10617200" cy="6858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Alternative routes, one improvement only:</a:t>
            </a:r>
            <a:r>
              <a:rPr lang="en-US" sz="1500" b="0" i="0" dirty="0">
                <a:solidFill>
                  <a:srgbClr val="111827"/>
                </a:solidFill>
                <a:latin typeface="Helvetica Neue"/>
                <a:ea typeface="Helvetica Neue"/>
                <a:cs typeface="Helvetica Neue"/>
              </a:rPr>
              <a:t> least-privilege grant  ·  RLS policy test  ·  safe schema change</a:t>
            </a:r>
            <a:endParaRPr lang="en-US" sz="15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5: Write a recovery plan after Week 8</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12</a:t>
            </a:r>
            <a:endParaRPr lang="en-US" sz="900" dirty="0"/>
          </a:p>
        </p:txBody>
      </p:sp>
      <p:sp>
        <p:nvSpPr>
          <p:cNvPr id="7" name="plan-rule-0"/>
          <p:cNvSpPr/>
          <p:nvPr/>
        </p:nvSpPr>
        <p:spPr>
          <a:xfrm>
            <a:off x="609600" y="1549400"/>
            <a:ext cx="5486400" cy="9525"/>
          </a:xfrm>
          <a:prstGeom prst="rect">
            <a:avLst/>
          </a:prstGeom>
          <a:solidFill>
            <a:srgbClr val="CBD5E1"/>
          </a:solidFill>
          <a:ln>
            <a:noFill/>
          </a:ln>
        </p:spPr>
      </p:sp>
      <p:sp>
        <p:nvSpPr>
          <p:cNvPr id="8" name="plan-label-0"/>
          <p:cNvSpPr/>
          <p:nvPr/>
        </p:nvSpPr>
        <p:spPr>
          <a:xfrm>
            <a:off x="609600" y="1676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Source</a:t>
            </a:r>
            <a:endParaRPr lang="en-US" sz="1500" dirty="0"/>
          </a:p>
        </p:txBody>
      </p:sp>
      <p:sp>
        <p:nvSpPr>
          <p:cNvPr id="9" name="plan-text-0"/>
          <p:cNvSpPr/>
          <p:nvPr/>
        </p:nvSpPr>
        <p:spPr>
          <a:xfrm>
            <a:off x="2159000" y="1676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practice database, schema </a:t>
            </a:r>
            <a:r>
              <a:rPr lang="en-US" sz="1350" b="0" i="0" dirty="0">
                <a:solidFill>
                  <a:srgbClr val="111827"/>
                </a:solidFill>
                <a:latin typeface="Menlo"/>
                <a:ea typeface="Menlo"/>
                <a:cs typeface="Menlo"/>
              </a:rPr>
              <a:t>midterm_metro</a:t>
            </a:r>
            <a:endParaRPr lang="en-US" sz="1500" dirty="0"/>
          </a:p>
        </p:txBody>
      </p:sp>
      <p:sp>
        <p:nvSpPr>
          <p:cNvPr id="10" name="plan-rule-1"/>
          <p:cNvSpPr/>
          <p:nvPr/>
        </p:nvSpPr>
        <p:spPr>
          <a:xfrm>
            <a:off x="609600" y="2159000"/>
            <a:ext cx="5486400" cy="9525"/>
          </a:xfrm>
          <a:prstGeom prst="rect">
            <a:avLst/>
          </a:prstGeom>
          <a:solidFill>
            <a:srgbClr val="CBD5E1"/>
          </a:solidFill>
          <a:ln>
            <a:noFill/>
          </a:ln>
        </p:spPr>
      </p:sp>
      <p:sp>
        <p:nvSpPr>
          <p:cNvPr id="11" name="plan-label-1"/>
          <p:cNvSpPr/>
          <p:nvPr/>
        </p:nvSpPr>
        <p:spPr>
          <a:xfrm>
            <a:off x="609600" y="22860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Backup</a:t>
            </a:r>
            <a:endParaRPr lang="en-US" sz="1500" dirty="0"/>
          </a:p>
        </p:txBody>
      </p:sp>
      <p:sp>
        <p:nvSpPr>
          <p:cNvPr id="12" name="plan-text-1"/>
          <p:cNvSpPr/>
          <p:nvPr/>
        </p:nvSpPr>
        <p:spPr>
          <a:xfrm>
            <a:off x="2159000" y="22860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logical </a:t>
            </a:r>
            <a:r>
              <a:rPr lang="en-US" sz="1350" b="0" i="0" dirty="0">
                <a:solidFill>
                  <a:srgbClr val="111827"/>
                </a:solidFill>
                <a:latin typeface="Menlo"/>
                <a:ea typeface="Menlo"/>
                <a:cs typeface="Menlo"/>
              </a:rPr>
              <a:t>pg_dump</a:t>
            </a:r>
            <a:r>
              <a:rPr lang="en-US" sz="1500" b="0" i="0" dirty="0">
                <a:solidFill>
                  <a:srgbClr val="111827"/>
                </a:solidFill>
                <a:latin typeface="Helvetica Neue"/>
                <a:ea typeface="Helvetica Neue"/>
                <a:cs typeface="Helvetica Neue"/>
              </a:rPr>
              <a:t>, saved as </a:t>
            </a:r>
            <a:r>
              <a:rPr lang="en-US" sz="1350" b="0" i="0" dirty="0">
                <a:solidFill>
                  <a:srgbClr val="111827"/>
                </a:solidFill>
                <a:latin typeface="Menlo"/>
                <a:ea typeface="Menlo"/>
                <a:cs typeface="Menlo"/>
              </a:rPr>
              <a:t>midterm_metro.dump</a:t>
            </a:r>
            <a:endParaRPr lang="en-US" sz="1500" dirty="0"/>
          </a:p>
        </p:txBody>
      </p:sp>
      <p:sp>
        <p:nvSpPr>
          <p:cNvPr id="13" name="plan-rule-2"/>
          <p:cNvSpPr/>
          <p:nvPr/>
        </p:nvSpPr>
        <p:spPr>
          <a:xfrm>
            <a:off x="609600" y="2768600"/>
            <a:ext cx="5486400" cy="9525"/>
          </a:xfrm>
          <a:prstGeom prst="rect">
            <a:avLst/>
          </a:prstGeom>
          <a:solidFill>
            <a:srgbClr val="CBD5E1"/>
          </a:solidFill>
          <a:ln>
            <a:noFill/>
          </a:ln>
        </p:spPr>
      </p:sp>
      <p:sp>
        <p:nvSpPr>
          <p:cNvPr id="14" name="plan-label-2"/>
          <p:cNvSpPr/>
          <p:nvPr/>
        </p:nvSpPr>
        <p:spPr>
          <a:xfrm>
            <a:off x="609600" y="28956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Destination</a:t>
            </a:r>
            <a:endParaRPr lang="en-US" sz="1500" dirty="0"/>
          </a:p>
        </p:txBody>
      </p:sp>
      <p:sp>
        <p:nvSpPr>
          <p:cNvPr id="15" name="plan-text-2"/>
          <p:cNvSpPr/>
          <p:nvPr/>
        </p:nvSpPr>
        <p:spPr>
          <a:xfrm>
            <a:off x="2159000" y="28956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separate, empty database, never the source</a:t>
            </a:r>
            <a:endParaRPr lang="en-US" sz="1500" dirty="0"/>
          </a:p>
        </p:txBody>
      </p:sp>
      <p:sp>
        <p:nvSpPr>
          <p:cNvPr id="16" name="plan-rule-3"/>
          <p:cNvSpPr/>
          <p:nvPr/>
        </p:nvSpPr>
        <p:spPr>
          <a:xfrm>
            <a:off x="609600" y="3378200"/>
            <a:ext cx="5486400" cy="9525"/>
          </a:xfrm>
          <a:prstGeom prst="rect">
            <a:avLst/>
          </a:prstGeom>
          <a:solidFill>
            <a:srgbClr val="CBD5E1"/>
          </a:solidFill>
          <a:ln>
            <a:noFill/>
          </a:ln>
        </p:spPr>
      </p:sp>
      <p:sp>
        <p:nvSpPr>
          <p:cNvPr id="17" name="plan-label-3"/>
          <p:cNvSpPr/>
          <p:nvPr/>
        </p:nvSpPr>
        <p:spPr>
          <a:xfrm>
            <a:off x="609600" y="35052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Restore</a:t>
            </a:r>
            <a:endParaRPr lang="en-US" sz="1500" dirty="0"/>
          </a:p>
        </p:txBody>
      </p:sp>
      <p:sp>
        <p:nvSpPr>
          <p:cNvPr id="18" name="plan-text-3"/>
          <p:cNvSpPr/>
          <p:nvPr/>
        </p:nvSpPr>
        <p:spPr>
          <a:xfrm>
            <a:off x="2159000" y="3505200"/>
            <a:ext cx="3937000" cy="508000"/>
          </a:xfrm>
          <a:prstGeom prst="rect">
            <a:avLst/>
          </a:prstGeom>
          <a:noFill/>
          <a:ln>
            <a:noFill/>
          </a:ln>
        </p:spPr>
        <p:txBody>
          <a:bodyPr wrap="square" lIns="0" tIns="0" rIns="0" bIns="0" anchor="t" rtlCol="0">
            <a:noAutofit/>
          </a:bodyPr>
          <a:lstStyle/>
          <a:p>
            <a:pPr algn="l">
              <a:buNone/>
            </a:pPr>
            <a:r>
              <a:rPr lang="en-US" sz="1350" b="0" i="0" dirty="0">
                <a:solidFill>
                  <a:srgbClr val="111827"/>
                </a:solidFill>
                <a:latin typeface="Menlo"/>
                <a:ea typeface="Menlo"/>
                <a:cs typeface="Menlo"/>
              </a:rPr>
              <a:t>pg_restore</a:t>
            </a:r>
            <a:r>
              <a:rPr lang="en-US" sz="1500" b="0" i="0" dirty="0">
                <a:solidFill>
                  <a:srgbClr val="111827"/>
                </a:solidFill>
                <a:latin typeface="Helvetica Neue"/>
                <a:ea typeface="Helvetica Neue"/>
                <a:cs typeface="Helvetica Neue"/>
              </a:rPr>
              <a:t> into that destination</a:t>
            </a:r>
            <a:endParaRPr lang="en-US" sz="1500" dirty="0"/>
          </a:p>
        </p:txBody>
      </p:sp>
      <p:sp>
        <p:nvSpPr>
          <p:cNvPr id="19" name="plan-rule-4"/>
          <p:cNvSpPr/>
          <p:nvPr/>
        </p:nvSpPr>
        <p:spPr>
          <a:xfrm>
            <a:off x="609600" y="3987800"/>
            <a:ext cx="5486400" cy="9525"/>
          </a:xfrm>
          <a:prstGeom prst="rect">
            <a:avLst/>
          </a:prstGeom>
          <a:solidFill>
            <a:srgbClr val="CBD5E1"/>
          </a:solidFill>
          <a:ln>
            <a:noFill/>
          </a:ln>
        </p:spPr>
      </p:sp>
      <p:sp>
        <p:nvSpPr>
          <p:cNvPr id="20" name="plan-label-4"/>
          <p:cNvSpPr/>
          <p:nvPr/>
        </p:nvSpPr>
        <p:spPr>
          <a:xfrm>
            <a:off x="609600" y="41148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Checks</a:t>
            </a:r>
            <a:endParaRPr lang="en-US" sz="1500" dirty="0"/>
          </a:p>
        </p:txBody>
      </p:sp>
      <p:sp>
        <p:nvSpPr>
          <p:cNvPr id="21" name="plan-text-4"/>
          <p:cNvSpPr/>
          <p:nvPr/>
        </p:nvSpPr>
        <p:spPr>
          <a:xfrm>
            <a:off x="2159000" y="41148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at least three, each with an expected result</a:t>
            </a:r>
            <a:endParaRPr lang="en-US" sz="1500" dirty="0"/>
          </a:p>
        </p:txBody>
      </p:sp>
      <p:sp>
        <p:nvSpPr>
          <p:cNvPr id="22" name="plan-rule-5"/>
          <p:cNvSpPr/>
          <p:nvPr/>
        </p:nvSpPr>
        <p:spPr>
          <a:xfrm>
            <a:off x="609600" y="4597400"/>
            <a:ext cx="5486400" cy="9525"/>
          </a:xfrm>
          <a:prstGeom prst="rect">
            <a:avLst/>
          </a:prstGeom>
          <a:solidFill>
            <a:srgbClr val="CBD5E1"/>
          </a:solidFill>
          <a:ln>
            <a:noFill/>
          </a:ln>
        </p:spPr>
      </p:sp>
      <p:sp>
        <p:nvSpPr>
          <p:cNvPr id="23" name="plan-label-5"/>
          <p:cNvSpPr/>
          <p:nvPr/>
        </p:nvSpPr>
        <p:spPr>
          <a:xfrm>
            <a:off x="609600" y="4724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Limits</a:t>
            </a:r>
            <a:endParaRPr lang="en-US" sz="1500" dirty="0"/>
          </a:p>
        </p:txBody>
      </p:sp>
      <p:sp>
        <p:nvSpPr>
          <p:cNvPr id="24" name="plan-text-5"/>
          <p:cNvSpPr/>
          <p:nvPr/>
        </p:nvSpPr>
        <p:spPr>
          <a:xfrm>
            <a:off x="2159000" y="4724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roles, grants, other schemas, Supabase settings</a:t>
            </a:r>
            <a:endParaRPr lang="en-US" sz="1500" dirty="0"/>
          </a:p>
        </p:txBody>
      </p:sp>
      <p:sp>
        <p:nvSpPr>
          <p:cNvPr id="25" name="plan-rule-end"/>
          <p:cNvSpPr/>
          <p:nvPr/>
        </p:nvSpPr>
        <p:spPr>
          <a:xfrm>
            <a:off x="609600" y="5207000"/>
            <a:ext cx="5486400" cy="9525"/>
          </a:xfrm>
          <a:prstGeom prst="rect">
            <a:avLst/>
          </a:prstGeom>
          <a:solidFill>
            <a:srgbClr val="CBD5E1"/>
          </a:solidFill>
          <a:ln>
            <a:noFill/>
          </a:ln>
        </p:spPr>
      </p:sp>
      <p:sp>
        <p:nvSpPr>
          <p:cNvPr id="26" name="dump-code-bg"/>
          <p:cNvSpPr/>
          <p:nvPr/>
        </p:nvSpPr>
        <p:spPr>
          <a:xfrm>
            <a:off x="6400800" y="1524000"/>
            <a:ext cx="5181600" cy="1066800"/>
          </a:xfrm>
          <a:prstGeom prst="rect">
            <a:avLst/>
          </a:prstGeom>
          <a:solidFill>
            <a:srgbClr val="101728"/>
          </a:solidFill>
          <a:ln>
            <a:noFill/>
          </a:ln>
        </p:spPr>
      </p:sp>
      <p:sp>
        <p:nvSpPr>
          <p:cNvPr id="27" name="dump-code"/>
          <p:cNvSpPr/>
          <p:nvPr/>
        </p:nvSpPr>
        <p:spPr>
          <a:xfrm>
            <a:off x="6604000" y="1676400"/>
            <a:ext cx="4775200" cy="762000"/>
          </a:xfrm>
          <a:prstGeom prst="rect">
            <a:avLst/>
          </a:prstGeom>
          <a:noFill/>
          <a:ln>
            <a:noFill/>
          </a:ln>
        </p:spPr>
        <p:txBody>
          <a:bodyPr wrap="square" lIns="0" tIns="0" rIns="0" bIns="0" anchor="t" rtlCol="0">
            <a:noAutofit/>
          </a:bodyPr>
          <a:lstStyle/>
          <a:p>
            <a:pPr algn="l">
              <a:lnSpc>
                <a:spcPct val="115000"/>
              </a:lnSpc>
              <a:buNone/>
            </a:pPr>
            <a:r>
              <a:rPr lang="en-US" sz="1150" b="0" i="0" dirty="0">
                <a:solidFill>
                  <a:srgbClr val="E2E8F0"/>
                </a:solidFill>
                <a:latin typeface="Menlo"/>
                <a:ea typeface="Menlo"/>
                <a:cs typeface="Menlo"/>
              </a:rPr>
              <a:t>pg_dump </a:t>
            </a:r>
            <a:r>
              <a:rPr lang="en-US" sz="1150" b="0" i="0" dirty="0">
                <a:solidFill>
                  <a:srgbClr val="FDBA74"/>
                </a:solidFill>
                <a:latin typeface="Menlo"/>
                <a:ea typeface="Menlo"/>
                <a:cs typeface="Menlo"/>
              </a:rPr>
              <a:t>--format=custom \</a:t>
            </a:r>
            <a:endParaRPr lang="en-US" sz="1150" dirty="0"/>
          </a:p>
          <a:p>
            <a:pPr algn="l">
              <a:lnSpc>
                <a:spcPct val="115000"/>
              </a:lnSpc>
              <a:buNone/>
            </a:pPr>
            <a:r>
              <a:rPr lang="en-US" sz="1150" b="0" i="0" dirty="0">
                <a:solidFill>
                  <a:srgbClr val="E2E8F0"/>
                </a:solidFill>
                <a:latin typeface="Menlo"/>
                <a:ea typeface="Menlo"/>
                <a:cs typeface="Menlo"/>
              </a:rPr>
              <a:t>  </a:t>
            </a:r>
            <a:r>
              <a:rPr lang="en-US" sz="1150" b="0" i="0" dirty="0">
                <a:solidFill>
                  <a:srgbClr val="FDBA74"/>
                </a:solidFill>
                <a:latin typeface="Menlo"/>
                <a:ea typeface="Menlo"/>
                <a:cs typeface="Menlo"/>
              </a:rPr>
              <a:t>--schema=midterm_metro --no-privileges \</a:t>
            </a:r>
            <a:endParaRPr lang="en-US" sz="1150" dirty="0"/>
          </a:p>
          <a:p>
            <a:pPr algn="l">
              <a:lnSpc>
                <a:spcPct val="115000"/>
              </a:lnSpc>
              <a:buNone/>
            </a:pPr>
            <a:r>
              <a:rPr lang="en-US" sz="1150" b="0" i="0" dirty="0">
                <a:solidFill>
                  <a:srgbClr val="E2E8F0"/>
                </a:solidFill>
                <a:latin typeface="Menlo"/>
                <a:ea typeface="Menlo"/>
                <a:cs typeface="Menlo"/>
              </a:rPr>
              <a:t>  ... </a:t>
            </a:r>
            <a:r>
              <a:rPr lang="en-US" sz="1150" b="0" i="0" dirty="0">
                <a:solidFill>
                  <a:srgbClr val="FDBA74"/>
                </a:solidFill>
                <a:latin typeface="Menlo"/>
                <a:ea typeface="Menlo"/>
                <a:cs typeface="Menlo"/>
              </a:rPr>
              <a:t>--file=midterm_metro.dump</a:t>
            </a:r>
            <a:endParaRPr lang="en-US" sz="1150" dirty="0"/>
          </a:p>
        </p:txBody>
      </p:sp>
      <p:graphicFrame>
        <p:nvGraphicFramePr>
          <p:cNvPr id="28" name="restore-checks"/>
          <p:cNvGraphicFramePr>
            <a:graphicFrameLocks noGrp="1"/>
          </p:cNvGraphicFramePr>
          <p:nvPr/>
        </p:nvGraphicFramePr>
        <p:xfrm>
          <a:off x="6400800" y="2768600"/>
          <a:ext cx="5181600" cy="1930400"/>
        </p:xfrm>
        <a:graphic>
          <a:graphicData uri="http://schemas.openxmlformats.org/drawingml/2006/table">
            <a:tbl>
              <a:tblPr firstRow="1" bandRow="1"/>
              <a:tblGrid>
                <a:gridCol w="2133600"/>
                <a:gridCol w="3048000"/>
              </a:tblGrid>
              <a:tr h="406400">
                <a:tc>
                  <a:txBody>
                    <a:bodyPr/>
                    <a:lstStyle/>
                    <a:p>
                      <a:pPr algn="l">
                        <a:buNone/>
                      </a:pPr>
                      <a:r>
                        <a:rPr lang="en-US" sz="1400" b="1" i="0" dirty="0">
                          <a:solidFill>
                            <a:srgbClr val="FFFFFF"/>
                          </a:solidFill>
                          <a:latin typeface="Helvetica Neue"/>
                          <a:ea typeface="Helvetica Neue"/>
                          <a:cs typeface="Helvetica Neue"/>
                        </a:rPr>
                        <a:t>Check</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Expected result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381000">
                <a:tc>
                  <a:txBody>
                    <a:bodyPr/>
                    <a:lstStyle/>
                    <a:p>
                      <a:pPr algn="l">
                        <a:buNone/>
                      </a:pPr>
                      <a:r>
                        <a:rPr lang="en-US" sz="1400" b="1" i="0" dirty="0">
                          <a:solidFill>
                            <a:srgbClr val="111827"/>
                          </a:solidFill>
                          <a:latin typeface="Helvetica Neue"/>
                          <a:ea typeface="Helvetica Neue"/>
                          <a:cs typeface="Helvetica Neue"/>
                        </a:rPr>
                        <a:t>Row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8 / 12 / 21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Requester join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12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Ticket 1004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priority medium</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Index</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still present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29" name="status-box"/>
          <p:cNvSpPr/>
          <p:nvPr/>
        </p:nvSpPr>
        <p:spPr>
          <a:xfrm>
            <a:off x="609600" y="5537200"/>
            <a:ext cx="10972800" cy="635000"/>
          </a:xfrm>
          <a:prstGeom prst="rect">
            <a:avLst/>
          </a:prstGeom>
          <a:solidFill>
            <a:srgbClr val="FFF4EC"/>
          </a:solidFill>
          <a:ln>
            <a:noFill/>
          </a:ln>
        </p:spPr>
      </p:sp>
      <p:sp>
        <p:nvSpPr>
          <p:cNvPr id="30" name="status-bar"/>
          <p:cNvSpPr/>
          <p:nvPr/>
        </p:nvSpPr>
        <p:spPr>
          <a:xfrm>
            <a:off x="609600" y="5537200"/>
            <a:ext cx="63500" cy="635000"/>
          </a:xfrm>
          <a:prstGeom prst="rect">
            <a:avLst/>
          </a:prstGeom>
          <a:solidFill>
            <a:srgbClr val="BF3E05"/>
          </a:solidFill>
          <a:ln>
            <a:noFill/>
          </a:ln>
        </p:spPr>
      </p:sp>
      <p:sp>
        <p:nvSpPr>
          <p:cNvPr id="31" name="status"/>
          <p:cNvSpPr/>
          <p:nvPr/>
        </p:nvSpPr>
        <p:spPr>
          <a:xfrm>
            <a:off x="889000" y="56896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Status line: write </a:t>
            </a:r>
            <a:r>
              <a:rPr lang="en-US" sz="1600" b="1" i="0" dirty="0">
                <a:solidFill>
                  <a:srgbClr val="111827"/>
                </a:solidFill>
                <a:latin typeface="Helvetica Neue"/>
                <a:ea typeface="Helvetica Neue"/>
                <a:cs typeface="Helvetica Neue"/>
              </a:rPr>
              <a:t>proposed plan</a:t>
            </a:r>
            <a:r>
              <a:rPr lang="en-US" sz="1600" b="0" i="0" dirty="0">
                <a:solidFill>
                  <a:srgbClr val="111827"/>
                </a:solidFill>
                <a:latin typeface="Helvetica Neue"/>
                <a:ea typeface="Helvetica Neue"/>
                <a:cs typeface="Helvetica Neue"/>
              </a:rPr>
              <a:t> unless you ran it. Running the restore is </a:t>
            </a:r>
            <a:r>
              <a:rPr lang="en-US" sz="1600" b="1" i="0" dirty="0">
                <a:solidFill>
                  <a:srgbClr val="111827"/>
                </a:solidFill>
                <a:latin typeface="Helvetica Neue"/>
                <a:ea typeface="Helvetica Neue"/>
                <a:cs typeface="Helvetica Neue"/>
              </a:rPr>
              <a:t>optional</a:t>
            </a:r>
            <a:r>
              <a:rPr lang="en-US" sz="1600" b="0" i="0" dirty="0">
                <a:solidFill>
                  <a:srgbClr val="111827"/>
                </a:solidFill>
                <a:latin typeface="Helvetica Neue"/>
                <a:ea typeface="Helvetica Neue"/>
                <a:cs typeface="Helvetica Neue"/>
              </a:rPr>
              <a:t>.</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Your README, section by section</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13</a:t>
            </a:r>
            <a:endParaRPr lang="en-US" sz="900" dirty="0"/>
          </a:p>
        </p:txBody>
      </p:sp>
      <p:graphicFrame>
        <p:nvGraphicFramePr>
          <p:cNvPr id="7" name="readme-map"/>
          <p:cNvGraphicFramePr>
            <a:graphicFrameLocks noGrp="1"/>
          </p:cNvGraphicFramePr>
          <p:nvPr/>
        </p:nvGraphicFramePr>
        <p:xfrm>
          <a:off x="609600" y="1498600"/>
          <a:ext cx="10972800" cy="3667760"/>
        </p:xfrm>
        <a:graphic>
          <a:graphicData uri="http://schemas.openxmlformats.org/drawingml/2006/table">
            <a:tbl>
              <a:tblPr firstRow="1" bandRow="1"/>
              <a:tblGrid>
                <a:gridCol w="2540000"/>
                <a:gridCol w="812800"/>
                <a:gridCol w="7620000"/>
              </a:tblGrid>
              <a:tr h="406400">
                <a:tc>
                  <a:txBody>
                    <a:bodyPr/>
                    <a:lstStyle/>
                    <a:p>
                      <a:pPr algn="l">
                        <a:buNone/>
                      </a:pPr>
                      <a:r>
                        <a:rPr lang="en-US" sz="1400" b="1" i="0" dirty="0">
                          <a:solidFill>
                            <a:srgbClr val="FFFFFF"/>
                          </a:solidFill>
                          <a:latin typeface="Helvetica Neue"/>
                          <a:ea typeface="Helvetica Neue"/>
                          <a:cs typeface="Helvetica Neue"/>
                        </a:rPr>
                        <a:t>README section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goes there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Run order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How to run midterm.sql from the top, in what order, and what the SECTION 1 reset deletes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Database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Counts, the join result, and three controls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six observed values and your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3</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Evidence label, diagnostic SQL, both PIDs, the row, the release, and the final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One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Ordered IDs, plan lines, index size, the explanation, and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Recovery plan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Status line, source, backup, destination, restore, checks, and limits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References and assistance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starter, notebooks, documentation, and any assistance you used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readme-top-box"/>
          <p:cNvSpPr/>
          <p:nvPr/>
        </p:nvSpPr>
        <p:spPr>
          <a:xfrm>
            <a:off x="609600" y="5369560"/>
            <a:ext cx="10972800" cy="711200"/>
          </a:xfrm>
          <a:prstGeom prst="rect">
            <a:avLst/>
          </a:prstGeom>
          <a:solidFill>
            <a:srgbClr val="FFF4EC"/>
          </a:solidFill>
          <a:ln>
            <a:noFill/>
          </a:ln>
        </p:spPr>
      </p:sp>
      <p:sp>
        <p:nvSpPr>
          <p:cNvPr id="9" name="readme-top-bar"/>
          <p:cNvSpPr/>
          <p:nvPr/>
        </p:nvSpPr>
        <p:spPr>
          <a:xfrm>
            <a:off x="609600" y="5369560"/>
            <a:ext cx="63500" cy="711200"/>
          </a:xfrm>
          <a:prstGeom prst="rect">
            <a:avLst/>
          </a:prstGeom>
          <a:solidFill>
            <a:srgbClr val="BF3E05"/>
          </a:solidFill>
          <a:ln>
            <a:noFill/>
          </a:ln>
        </p:spPr>
      </p:sp>
      <p:sp>
        <p:nvSpPr>
          <p:cNvPr id="10" name="readme-top"/>
          <p:cNvSpPr/>
          <p:nvPr/>
        </p:nvSpPr>
        <p:spPr>
          <a:xfrm>
            <a:off x="889000" y="552196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At the top:</a:t>
            </a:r>
            <a:r>
              <a:rPr lang="en-US" sz="1500" b="0" i="0" dirty="0">
                <a:solidFill>
                  <a:srgbClr val="111827"/>
                </a:solidFill>
                <a:latin typeface="Helvetica Neue"/>
                <a:ea typeface="Helvetica Neue"/>
                <a:cs typeface="Helvetica Neue"/>
              </a:rPr>
              <a:t> your name, section, and environment. </a:t>
            </a:r>
            <a:r>
              <a:rPr lang="en-US" sz="1350" b="0" i="0" dirty="0">
                <a:solidFill>
                  <a:srgbClr val="111827"/>
                </a:solidFill>
                <a:latin typeface="Menlo"/>
                <a:ea typeface="Menlo"/>
                <a:cs typeface="Menlo"/>
              </a:rPr>
              <a:t>SELECT version();</a:t>
            </a:r>
            <a:r>
              <a:rPr lang="en-US" sz="1500" b="0" i="0" dirty="0">
                <a:solidFill>
                  <a:srgbClr val="111827"/>
                </a:solidFill>
                <a:latin typeface="Helvetica Neue"/>
                <a:ea typeface="Helvetica Neue"/>
                <a:cs typeface="Helvetica Neue"/>
              </a:rPr>
              <a:t> prints your PostgreSQL version. No credentials.</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Observed results versus predictions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14</a:t>
            </a:r>
            <a:endParaRPr lang="en-US" sz="900" dirty="0"/>
          </a:p>
        </p:txBody>
      </p:sp>
      <p:sp>
        <p:nvSpPr>
          <p:cNvPr id="7" name="card-0"/>
          <p:cNvSpPr/>
          <p:nvPr/>
        </p:nvSpPr>
        <p:spPr>
          <a:xfrm>
            <a:off x="609600" y="1524000"/>
            <a:ext cx="5334000" cy="1930400"/>
          </a:xfrm>
          <a:prstGeom prst="rect">
            <a:avLst/>
          </a:prstGeom>
          <a:solidFill>
            <a:srgbClr val="FFFFFF"/>
          </a:solidFill>
          <a:ln w="9525">
            <a:solidFill>
              <a:srgbClr val="CBD5E1"/>
            </a:solidFill>
          </a:ln>
        </p:spPr>
      </p:sp>
      <p:sp>
        <p:nvSpPr>
          <p:cNvPr id="8" name="card-bar-0"/>
          <p:cNvSpPr/>
          <p:nvPr/>
        </p:nvSpPr>
        <p:spPr>
          <a:xfrm>
            <a:off x="609600" y="1524000"/>
            <a:ext cx="5334000" cy="63500"/>
          </a:xfrm>
          <a:prstGeom prst="rect">
            <a:avLst/>
          </a:prstGeom>
          <a:solidFill>
            <a:srgbClr val="111827"/>
          </a:solidFill>
          <a:ln>
            <a:noFill/>
          </a:ln>
        </p:spPr>
      </p:sp>
      <p:sp>
        <p:nvSpPr>
          <p:cNvPr id="9" name="card-text-0"/>
          <p:cNvSpPr/>
          <p:nvPr/>
        </p:nvSpPr>
        <p:spPr>
          <a:xfrm>
            <a:off x="8382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111827"/>
                </a:solidFill>
                <a:latin typeface="Helvetica Neue"/>
                <a:ea typeface="Helvetica Neue"/>
                <a:cs typeface="Helvetica Neue"/>
              </a:rPr>
              <a:t>OBSERVED</a:t>
            </a:r>
            <a:endParaRPr lang="en-US" sz="1200" dirty="0"/>
          </a:p>
          <a:p>
            <a:pPr algn="l">
              <a:lnSpc>
                <a:spcPct val="105000"/>
              </a:lnSpc>
              <a:buNone/>
            </a:pPr>
            <a:r>
              <a:rPr lang="en-US" sz="1700" b="0" i="1" dirty="0">
                <a:solidFill>
                  <a:srgbClr val="111827"/>
                </a:solidFill>
                <a:latin typeface="Helvetica Neue"/>
                <a:ea typeface="Helvetica Neue"/>
                <a:cs typeface="Helvetica Neue"/>
              </a:rPr>
              <a:t>“My rollback test showed low before, high inside the transaction, and low after ROLLBACK.”</a:t>
            </a:r>
            <a:endParaRPr lang="en-US" sz="1700" dirty="0"/>
          </a:p>
        </p:txBody>
      </p:sp>
      <p:sp>
        <p:nvSpPr>
          <p:cNvPr id="10" name="card-1"/>
          <p:cNvSpPr/>
          <p:nvPr/>
        </p:nvSpPr>
        <p:spPr>
          <a:xfrm>
            <a:off x="6248400" y="1524000"/>
            <a:ext cx="5334000" cy="1930400"/>
          </a:xfrm>
          <a:prstGeom prst="rect">
            <a:avLst/>
          </a:prstGeom>
          <a:solidFill>
            <a:srgbClr val="FFFFFF"/>
          </a:solidFill>
          <a:ln w="9525">
            <a:solidFill>
              <a:srgbClr val="CBD5E1"/>
            </a:solidFill>
          </a:ln>
        </p:spPr>
      </p:sp>
      <p:sp>
        <p:nvSpPr>
          <p:cNvPr id="11" name="card-bar-1"/>
          <p:cNvSpPr/>
          <p:nvPr/>
        </p:nvSpPr>
        <p:spPr>
          <a:xfrm>
            <a:off x="6248400" y="1524000"/>
            <a:ext cx="5334000" cy="63500"/>
          </a:xfrm>
          <a:prstGeom prst="rect">
            <a:avLst/>
          </a:prstGeom>
          <a:solidFill>
            <a:srgbClr val="BF3E05"/>
          </a:solidFill>
          <a:ln>
            <a:noFill/>
          </a:ln>
        </p:spPr>
      </p:sp>
      <p:sp>
        <p:nvSpPr>
          <p:cNvPr id="12" name="card-text-1"/>
          <p:cNvSpPr/>
          <p:nvPr/>
        </p:nvSpPr>
        <p:spPr>
          <a:xfrm>
            <a:off x="64770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BF3E05"/>
                </a:solidFill>
                <a:latin typeface="Helvetica Neue"/>
                <a:ea typeface="Helvetica Neue"/>
                <a:cs typeface="Helvetica Neue"/>
              </a:rPr>
              <a:t>PREDICTION OR PROPOSAL</a:t>
            </a:r>
            <a:endParaRPr lang="en-US" sz="1200" dirty="0"/>
          </a:p>
          <a:p>
            <a:pPr algn="l">
              <a:lnSpc>
                <a:spcPct val="105000"/>
              </a:lnSpc>
              <a:buNone/>
            </a:pPr>
            <a:r>
              <a:rPr lang="en-US" sz="1700" b="0" i="1" dirty="0">
                <a:solidFill>
                  <a:srgbClr val="111827"/>
                </a:solidFill>
                <a:latin typeface="Helvetica Neue"/>
                <a:ea typeface="Helvetica Neue"/>
                <a:cs typeface="Helvetica Neue"/>
              </a:rPr>
              <a:t>“I predict that a restored copy will contain 12 tickets. I have not run this restore.”</a:t>
            </a:r>
            <a:endParaRPr lang="en-US" sz="1700" dirty="0"/>
          </a:p>
        </p:txBody>
      </p:sp>
      <p:sp>
        <p:nvSpPr>
          <p:cNvPr id="13" name="evidence-rules"/>
          <p:cNvSpPr/>
          <p:nvPr/>
        </p:nvSpPr>
        <p:spPr>
          <a:xfrm>
            <a:off x="609600" y="3810000"/>
            <a:ext cx="10972800" cy="2413000"/>
          </a:xfrm>
          <a:prstGeom prst="rect">
            <a:avLst/>
          </a:prstGeom>
          <a:noFill/>
          <a:ln>
            <a:noFill/>
          </a:ln>
        </p:spPr>
        <p:txBody>
          <a:bodyPr wrap="square" lIns="0" tIns="0" rIns="0" bIns="0" anchor="t" rtlCol="0">
            <a:noAutofit/>
          </a:bodyPr>
          <a:lstStyle/>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Copy values from </a:t>
            </a:r>
            <a:r>
              <a:rPr lang="en-US" sz="1850" b="1" i="0" dirty="0">
                <a:solidFill>
                  <a:srgbClr val="111827"/>
                </a:solidFill>
                <a:latin typeface="Helvetica Neue"/>
                <a:ea typeface="Helvetica Neue"/>
                <a:cs typeface="Helvetica Neue"/>
              </a:rPr>
              <a:t>your own output</a:t>
            </a:r>
            <a:r>
              <a:rPr lang="en-US" sz="1850" b="0" i="0" dirty="0">
                <a:solidFill>
                  <a:srgbClr val="111827"/>
                </a:solidFill>
                <a:latin typeface="Helvetica Neue"/>
                <a:ea typeface="Helvetica Neue"/>
                <a:cs typeface="Helvetica Neue"/>
              </a:rPr>
              <a:t>, not from the slides or the instructions.</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anything you did not run as a </a:t>
            </a:r>
            <a:r>
              <a:rPr lang="en-US" sz="1850" b="1" i="0" dirty="0">
                <a:solidFill>
                  <a:srgbClr val="111827"/>
                </a:solidFill>
                <a:latin typeface="Helvetica Neue"/>
                <a:ea typeface="Helvetica Neue"/>
                <a:cs typeface="Helvetica Neue"/>
              </a:rPr>
              <a:t>prediction</a:t>
            </a:r>
            <a:r>
              <a:rPr lang="en-US" sz="1850" b="0" i="0" dirty="0">
                <a:solidFill>
                  <a:srgbClr val="111827"/>
                </a:solidFill>
                <a:latin typeface="Helvetica Neue"/>
                <a:ea typeface="Helvetica Neue"/>
                <a:cs typeface="Helvetica Neue"/>
              </a:rPr>
              <a:t> or </a:t>
            </a:r>
            <a:r>
              <a:rPr lang="en-US" sz="1850" b="1" i="0" dirty="0">
                <a:solidFill>
                  <a:srgbClr val="111827"/>
                </a:solidFill>
                <a:latin typeface="Helvetica Neue"/>
                <a:ea typeface="Helvetica Neue"/>
                <a:cs typeface="Helvetica Neue"/>
              </a:rPr>
              <a:t>proposal</a:t>
            </a:r>
            <a:r>
              <a:rPr lang="en-US" sz="1850" b="0" i="0" dirty="0">
                <a:solidFill>
                  <a:srgbClr val="111827"/>
                </a:solidFill>
                <a:latin typeface="Helvetica Neue"/>
                <a:ea typeface="Helvetica Neue"/>
                <a:cs typeface="Helvetica Neue"/>
              </a:rPr>
              <a:t>.</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supplied trace values as </a:t>
            </a:r>
            <a:r>
              <a:rPr lang="en-US" sz="1850" b="1" i="0" dirty="0">
                <a:solidFill>
                  <a:srgbClr val="111827"/>
                </a:solidFill>
                <a:latin typeface="Helvetica Neue"/>
                <a:ea typeface="Helvetica Neue"/>
                <a:cs typeface="Helvetica Neue"/>
              </a:rPr>
              <a:t>supplied</a:t>
            </a:r>
            <a:r>
              <a:rPr lang="en-US" sz="1850" b="0" i="0" dirty="0">
                <a:solidFill>
                  <a:srgbClr val="111827"/>
                </a:solidFill>
                <a:latin typeface="Helvetica Neue"/>
                <a:ea typeface="Helvetica Neue"/>
                <a:cs typeface="Helvetica Neue"/>
              </a:rPr>
              <a:t>, not as your run.</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If a step failed, </a:t>
            </a:r>
            <a:r>
              <a:rPr lang="en-US" sz="1850" b="1" i="0" dirty="0">
                <a:solidFill>
                  <a:srgbClr val="111827"/>
                </a:solidFill>
                <a:latin typeface="Helvetica Neue"/>
                <a:ea typeface="Helvetica Neue"/>
                <a:cs typeface="Helvetica Neue"/>
              </a:rPr>
              <a:t>say what failed</a:t>
            </a:r>
            <a:r>
              <a:rPr lang="en-US" sz="1850" b="0" i="0" dirty="0">
                <a:solidFill>
                  <a:srgbClr val="111827"/>
                </a:solidFill>
                <a:latin typeface="Helvetica Neue"/>
                <a:ea typeface="Helvetica Neue"/>
                <a:cs typeface="Helvetica Neue"/>
              </a:rPr>
              <a:t>. Never invent a result.</a:t>
            </a:r>
            <a:endParaRPr lang="en-US" sz="1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How the rubric reads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15</a:t>
            </a:r>
            <a:endParaRPr lang="en-US" sz="900" dirty="0"/>
          </a:p>
        </p:txBody>
      </p:sp>
      <p:graphicFrame>
        <p:nvGraphicFramePr>
          <p:cNvPr id="7" name="rubric"/>
          <p:cNvGraphicFramePr>
            <a:graphicFrameLocks noGrp="1"/>
          </p:cNvGraphicFramePr>
          <p:nvPr/>
        </p:nvGraphicFramePr>
        <p:xfrm>
          <a:off x="609600" y="1498600"/>
          <a:ext cx="10972800" cy="3129280"/>
        </p:xfrm>
        <a:graphic>
          <a:graphicData uri="http://schemas.openxmlformats.org/drawingml/2006/table">
            <a:tbl>
              <a:tblPr firstRow="1" bandRow="1"/>
              <a:tblGrid>
                <a:gridCol w="3200400"/>
                <a:gridCol w="889000"/>
                <a:gridCol w="6883400"/>
              </a:tblGrid>
              <a:tr h="406400">
                <a:tc>
                  <a:txBody>
                    <a:bodyPr/>
                    <a:lstStyle/>
                    <a:p>
                      <a:pPr algn="l">
                        <a:buNone/>
                      </a:pPr>
                      <a:r>
                        <a:rPr lang="en-US" sz="1400" b="1" i="0" dirty="0">
                          <a:solidFill>
                            <a:srgbClr val="FFFFFF"/>
                          </a:solidFill>
                          <a:latin typeface="Helvetica Neue"/>
                          <a:ea typeface="Helvetica Neue"/>
                          <a:cs typeface="Helvetica Neue"/>
                        </a:rPr>
                        <a:t>Rubric area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Points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Evidence that earns it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Reproducible schema and data integrity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Setup runs; the 8 / 12 / 21 counts and the 12-row join are recorded; three controls are explained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Transactions and blocking diagnosis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Six observed values are explained; the blocking record matches its evidence and label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Workload-based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 reason, relevant before and after checks, and one tradeoff (index route: IDs, plan lines, index size,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400" b="1" i="0" dirty="0">
                          <a:solidFill>
                            <a:srgbClr val="111827"/>
                          </a:solidFill>
                          <a:latin typeface="Helvetica Neue"/>
                          <a:ea typeface="Helvetica Neue"/>
                          <a:cs typeface="Helvetica Neue"/>
                        </a:rPr>
                        <a:t>Recovery readiness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separate destination and at least three checks with expected results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Documentation and communication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Another person can follow both files; every prompt is replaced; no secrets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enough-box"/>
          <p:cNvSpPr/>
          <p:nvPr/>
        </p:nvSpPr>
        <p:spPr>
          <a:xfrm>
            <a:off x="609600" y="5130800"/>
            <a:ext cx="10972800" cy="889000"/>
          </a:xfrm>
          <a:prstGeom prst="rect">
            <a:avLst/>
          </a:prstGeom>
          <a:solidFill>
            <a:srgbClr val="FFF4EC"/>
          </a:solidFill>
          <a:ln>
            <a:noFill/>
          </a:ln>
        </p:spPr>
      </p:sp>
      <p:sp>
        <p:nvSpPr>
          <p:cNvPr id="9" name="enough-bar"/>
          <p:cNvSpPr/>
          <p:nvPr/>
        </p:nvSpPr>
        <p:spPr>
          <a:xfrm>
            <a:off x="609600" y="5130800"/>
            <a:ext cx="63500" cy="889000"/>
          </a:xfrm>
          <a:prstGeom prst="rect">
            <a:avLst/>
          </a:prstGeom>
          <a:solidFill>
            <a:srgbClr val="BF3E05"/>
          </a:solidFill>
          <a:ln>
            <a:noFill/>
          </a:ln>
        </p:spPr>
      </p:sp>
      <p:sp>
        <p:nvSpPr>
          <p:cNvPr id="10" name="enough"/>
          <p:cNvSpPr/>
          <p:nvPr/>
        </p:nvSpPr>
        <p:spPr>
          <a:xfrm>
            <a:off x="889000" y="5283200"/>
            <a:ext cx="10515600" cy="5842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A faster time or an Index Scan is </a:t>
            </a:r>
            <a:r>
              <a:rPr lang="en-US" sz="1650" b="1" i="0" dirty="0">
                <a:solidFill>
                  <a:srgbClr val="111827"/>
                </a:solidFill>
                <a:latin typeface="Helvetica Neue"/>
                <a:ea typeface="Helvetica Neue"/>
                <a:cs typeface="Helvetica Neue"/>
              </a:rPr>
              <a:t>not required</a:t>
            </a:r>
            <a:r>
              <a:rPr lang="en-US" sz="1650" b="0" i="0" dirty="0">
                <a:solidFill>
                  <a:srgbClr val="111827"/>
                </a:solidFill>
                <a:latin typeface="Helvetica Neue"/>
                <a:ea typeface="Helvetica Neue"/>
                <a:cs typeface="Helvetica Neue"/>
              </a:rPr>
              <a:t>. A small working project with clear explanations is enough.</a:t>
            </a:r>
            <a:endParaRPr lang="en-US" sz="16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Common mistakes to avoid</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16</a:t>
            </a:r>
            <a:endParaRPr lang="en-US" sz="900" dirty="0"/>
          </a:p>
        </p:txBody>
      </p:sp>
      <p:sp>
        <p:nvSpPr>
          <p:cNvPr id="7" name="mistakes-left"/>
          <p:cNvSpPr/>
          <p:nvPr/>
        </p:nvSpPr>
        <p:spPr>
          <a:xfrm>
            <a:off x="6096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Rerunning SECTION 1</a:t>
            </a:r>
            <a:r>
              <a:rPr lang="en-US" sz="1750" b="0" i="0" dirty="0">
                <a:solidFill>
                  <a:srgbClr val="111827"/>
                </a:solidFill>
                <a:latin typeface="Helvetica Neue"/>
                <a:ea typeface="Helvetica Neue"/>
                <a:cs typeface="Helvetica Neue"/>
              </a:rPr>
              <a:t> partway through the project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Splitting a transaction</a:t>
            </a:r>
            <a:r>
              <a:rPr lang="en-US" sz="1750" b="0" i="0" dirty="0">
                <a:solidFill>
                  <a:srgbClr val="111827"/>
                </a:solidFill>
                <a:latin typeface="Helvetica Neue"/>
                <a:ea typeface="Helvetica Neue"/>
                <a:cs typeface="Helvetica Neue"/>
              </a:rPr>
              <a:t> across separate runs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Recording only the last result</a:t>
            </a:r>
            <a:r>
              <a:rPr lang="en-US" sz="1750" b="0" i="0" dirty="0">
                <a:solidFill>
                  <a:srgbClr val="111827"/>
                </a:solidFill>
                <a:latin typeface="Helvetica Neue"/>
                <a:ea typeface="Helvetica Neue"/>
                <a:cs typeface="Helvetica Neue"/>
              </a:rPr>
              <a:t> the editor showed</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Copying the expected values</a:t>
            </a:r>
            <a:r>
              <a:rPr lang="en-US" sz="1750" b="0" i="0" dirty="0">
                <a:solidFill>
                  <a:srgbClr val="111827"/>
                </a:solidFill>
                <a:latin typeface="Helvetica Neue"/>
                <a:ea typeface="Helvetica Neue"/>
                <a:cs typeface="Helvetica Neue"/>
              </a:rPr>
              <a:t> instead of your own output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Calling the supplied trace</a:t>
            </a:r>
            <a:r>
              <a:rPr lang="en-US" sz="1750" b="0" i="0" dirty="0">
                <a:solidFill>
                  <a:srgbClr val="111827"/>
                </a:solidFill>
                <a:latin typeface="Helvetica Neue"/>
                <a:ea typeface="Helvetica Neue"/>
                <a:cs typeface="Helvetica Neue"/>
              </a:rPr>
              <a:t> a live run</a:t>
            </a:r>
            <a:endParaRPr lang="en-US" sz="1750" dirty="0"/>
          </a:p>
        </p:txBody>
      </p:sp>
      <p:sp>
        <p:nvSpPr>
          <p:cNvPr id="8" name="mistakes-right"/>
          <p:cNvSpPr/>
          <p:nvPr/>
        </p:nvSpPr>
        <p:spPr>
          <a:xfrm>
            <a:off x="62484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Adding fake rows</a:t>
            </a:r>
            <a:r>
              <a:rPr lang="en-US" sz="1750" b="0" i="0" dirty="0">
                <a:solidFill>
                  <a:srgbClr val="111827"/>
                </a:solidFill>
                <a:latin typeface="Helvetica Neue"/>
                <a:ea typeface="Helvetica Neue"/>
                <a:cs typeface="Helvetica Neue"/>
              </a:rPr>
              <a:t> or changing planner settings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Pasting a password</a:t>
            </a:r>
            <a:r>
              <a:rPr lang="en-US" sz="1750" b="0" i="0" dirty="0">
                <a:solidFill>
                  <a:srgbClr val="111827"/>
                </a:solidFill>
                <a:latin typeface="Helvetica Neue"/>
                <a:ea typeface="Helvetica Neue"/>
                <a:cs typeface="Helvetica Neue"/>
              </a:rPr>
              <a:t> or connection string into a file</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Leaving template prompts</a:t>
            </a:r>
            <a:r>
              <a:rPr lang="en-US" sz="1750" b="0" i="0" dirty="0">
                <a:solidFill>
                  <a:srgbClr val="111827"/>
                </a:solidFill>
                <a:latin typeface="Helvetica Neue"/>
                <a:ea typeface="Helvetica Neue"/>
                <a:cs typeface="Helvetica Neue"/>
              </a:rPr>
              <a:t> in square brackets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Submitting the Colab notebook</a:t>
            </a:r>
            <a:r>
              <a:rPr lang="en-US" sz="1750" b="0" i="0" dirty="0">
                <a:solidFill>
                  <a:srgbClr val="111827"/>
                </a:solidFill>
                <a:latin typeface="Helvetica Neue"/>
                <a:ea typeface="Helvetica Neue"/>
                <a:cs typeface="Helvetica Neue"/>
              </a:rPr>
              <a:t> instead of the two files</a:t>
            </a:r>
            <a:endParaRPr lang="en-US" sz="1750" dirty="0"/>
          </a:p>
        </p:txBody>
      </p:sp>
      <p:sp>
        <p:nvSpPr>
          <p:cNvPr id="9" name="glance-box"/>
          <p:cNvSpPr/>
          <p:nvPr/>
        </p:nvSpPr>
        <p:spPr>
          <a:xfrm>
            <a:off x="609600" y="4927600"/>
            <a:ext cx="10972800" cy="685800"/>
          </a:xfrm>
          <a:prstGeom prst="rect">
            <a:avLst/>
          </a:prstGeom>
          <a:solidFill>
            <a:srgbClr val="FFF4EC"/>
          </a:solidFill>
          <a:ln>
            <a:noFill/>
          </a:ln>
        </p:spPr>
      </p:sp>
      <p:sp>
        <p:nvSpPr>
          <p:cNvPr id="10" name="glance-bar"/>
          <p:cNvSpPr/>
          <p:nvPr/>
        </p:nvSpPr>
        <p:spPr>
          <a:xfrm>
            <a:off x="609600" y="4927600"/>
            <a:ext cx="63500" cy="685800"/>
          </a:xfrm>
          <a:prstGeom prst="rect">
            <a:avLst/>
          </a:prstGeom>
          <a:solidFill>
            <a:srgbClr val="BF3E05"/>
          </a:solidFill>
          <a:ln>
            <a:noFill/>
          </a:ln>
        </p:spPr>
      </p:sp>
      <p:sp>
        <p:nvSpPr>
          <p:cNvPr id="11" name="glance"/>
          <p:cNvSpPr/>
          <p:nvPr/>
        </p:nvSpPr>
        <p:spPr>
          <a:xfrm>
            <a:off x="889000" y="5080000"/>
            <a:ext cx="10515600" cy="381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Check your work against the </a:t>
            </a:r>
            <a:r>
              <a:rPr lang="en-US" sz="1550" b="1" i="0" dirty="0">
                <a:solidFill>
                  <a:srgbClr val="111827"/>
                </a:solidFill>
                <a:latin typeface="Helvetica Neue"/>
                <a:ea typeface="Helvetica Neue"/>
                <a:cs typeface="Helvetica Neue"/>
              </a:rPr>
              <a:t>You should see</a:t>
            </a:r>
            <a:r>
              <a:rPr lang="en-US" sz="1550" b="0" i="0" dirty="0">
                <a:solidFill>
                  <a:srgbClr val="111827"/>
                </a:solidFill>
                <a:latin typeface="Helvetica Neue"/>
                <a:ea typeface="Helvetica Neue"/>
                <a:cs typeface="Helvetica Neue"/>
              </a:rPr>
              <a:t> results in the midterm instructions, then report your own values.</a:t>
            </a:r>
            <a:endParaRPr lang="en-US" sz="15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Timeline and questions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17</a:t>
            </a:r>
            <a:endParaRPr lang="en-US" sz="900" dirty="0"/>
          </a:p>
        </p:txBody>
      </p:sp>
      <p:sp>
        <p:nvSpPr>
          <p:cNvPr id="7" name="time-rule-0"/>
          <p:cNvSpPr/>
          <p:nvPr/>
        </p:nvSpPr>
        <p:spPr>
          <a:xfrm>
            <a:off x="609600" y="1549400"/>
            <a:ext cx="10972800" cy="9525"/>
          </a:xfrm>
          <a:prstGeom prst="rect">
            <a:avLst/>
          </a:prstGeom>
          <a:solidFill>
            <a:srgbClr val="CBD5E1"/>
          </a:solidFill>
          <a:ln>
            <a:noFill/>
          </a:ln>
        </p:spPr>
      </p:sp>
      <p:sp>
        <p:nvSpPr>
          <p:cNvPr id="8" name="time-when-0"/>
          <p:cNvSpPr/>
          <p:nvPr/>
        </p:nvSpPr>
        <p:spPr>
          <a:xfrm>
            <a:off x="609600" y="17526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Today · Week 7</a:t>
            </a:r>
            <a:endParaRPr lang="en-US" sz="1600" dirty="0"/>
          </a:p>
        </p:txBody>
      </p:sp>
      <p:sp>
        <p:nvSpPr>
          <p:cNvPr id="9" name="time-what-0"/>
          <p:cNvSpPr/>
          <p:nvPr/>
        </p:nvSpPr>
        <p:spPr>
          <a:xfrm>
            <a:off x="3429000" y="17399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The midterm explained, then research in Colab. Submit your Colab link.</a:t>
            </a:r>
            <a:endParaRPr lang="en-US" sz="1700" dirty="0"/>
          </a:p>
        </p:txBody>
      </p:sp>
      <p:sp>
        <p:nvSpPr>
          <p:cNvPr id="10" name="time-rule-1"/>
          <p:cNvSpPr/>
          <p:nvPr/>
        </p:nvSpPr>
        <p:spPr>
          <a:xfrm>
            <a:off x="609600" y="2336800"/>
            <a:ext cx="10972800" cy="9525"/>
          </a:xfrm>
          <a:prstGeom prst="rect">
            <a:avLst/>
          </a:prstGeom>
          <a:solidFill>
            <a:srgbClr val="CBD5E1"/>
          </a:solidFill>
          <a:ln>
            <a:noFill/>
          </a:ln>
        </p:spPr>
      </p:sp>
      <p:sp>
        <p:nvSpPr>
          <p:cNvPr id="11" name="time-when-1"/>
          <p:cNvSpPr/>
          <p:nvPr/>
        </p:nvSpPr>
        <p:spPr>
          <a:xfrm>
            <a:off x="609600" y="25400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first meeting</a:t>
            </a:r>
            <a:endParaRPr lang="en-US" sz="1600" dirty="0"/>
          </a:p>
        </p:txBody>
      </p:sp>
      <p:sp>
        <p:nvSpPr>
          <p:cNvPr id="12" name="time-what-1"/>
          <p:cNvSpPr/>
          <p:nvPr/>
        </p:nvSpPr>
        <p:spPr>
          <a:xfrm>
            <a:off x="3429000" y="25273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Backup and restore lab: the basis for Part 5.</a:t>
            </a:r>
            <a:endParaRPr lang="en-US" sz="1700" dirty="0"/>
          </a:p>
        </p:txBody>
      </p:sp>
      <p:sp>
        <p:nvSpPr>
          <p:cNvPr id="13" name="time-rule-2"/>
          <p:cNvSpPr/>
          <p:nvPr/>
        </p:nvSpPr>
        <p:spPr>
          <a:xfrm>
            <a:off x="609600" y="3124200"/>
            <a:ext cx="10972800" cy="9525"/>
          </a:xfrm>
          <a:prstGeom prst="rect">
            <a:avLst/>
          </a:prstGeom>
          <a:solidFill>
            <a:srgbClr val="CBD5E1"/>
          </a:solidFill>
          <a:ln>
            <a:noFill/>
          </a:ln>
        </p:spPr>
      </p:sp>
      <p:sp>
        <p:nvSpPr>
          <p:cNvPr id="14" name="time-when-2"/>
          <p:cNvSpPr/>
          <p:nvPr/>
        </p:nvSpPr>
        <p:spPr>
          <a:xfrm>
            <a:off x="609600" y="33274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second meeting</a:t>
            </a:r>
            <a:endParaRPr lang="en-US" sz="1600" dirty="0"/>
          </a:p>
        </p:txBody>
      </p:sp>
      <p:sp>
        <p:nvSpPr>
          <p:cNvPr id="15" name="time-what-2"/>
          <p:cNvSpPr/>
          <p:nvPr/>
        </p:nvSpPr>
        <p:spPr>
          <a:xfrm>
            <a:off x="3429000" y="33147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 clinic. Bring one question and one working part.</a:t>
            </a:r>
            <a:endParaRPr lang="en-US" sz="1700" dirty="0"/>
          </a:p>
        </p:txBody>
      </p:sp>
      <p:sp>
        <p:nvSpPr>
          <p:cNvPr id="16" name="time-rule-3"/>
          <p:cNvSpPr/>
          <p:nvPr/>
        </p:nvSpPr>
        <p:spPr>
          <a:xfrm>
            <a:off x="609600" y="3911600"/>
            <a:ext cx="10972800" cy="9525"/>
          </a:xfrm>
          <a:prstGeom prst="rect">
            <a:avLst/>
          </a:prstGeom>
          <a:solidFill>
            <a:srgbClr val="CBD5E1"/>
          </a:solidFill>
          <a:ln>
            <a:noFill/>
          </a:ln>
        </p:spPr>
      </p:sp>
      <p:sp>
        <p:nvSpPr>
          <p:cNvPr id="17" name="time-when-3"/>
          <p:cNvSpPr/>
          <p:nvPr/>
        </p:nvSpPr>
        <p:spPr>
          <a:xfrm>
            <a:off x="609600" y="41148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Deadline</a:t>
            </a:r>
            <a:endParaRPr lang="en-US" sz="1600" dirty="0"/>
          </a:p>
        </p:txBody>
      </p:sp>
      <p:sp>
        <p:nvSpPr>
          <p:cNvPr id="18" name="time-what-3"/>
          <p:cNvSpPr/>
          <p:nvPr/>
        </p:nvSpPr>
        <p:spPr>
          <a:xfrm>
            <a:off x="3429000" y="41021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midterm.sql and README.md in one ZIP, by the date in Brightspace.</a:t>
            </a:r>
            <a:endParaRPr lang="en-US" sz="1700" dirty="0"/>
          </a:p>
        </p:txBody>
      </p:sp>
      <p:sp>
        <p:nvSpPr>
          <p:cNvPr id="19" name="time-rule-end"/>
          <p:cNvSpPr/>
          <p:nvPr/>
        </p:nvSpPr>
        <p:spPr>
          <a:xfrm>
            <a:off x="609600" y="4699000"/>
            <a:ext cx="10972800" cy="9525"/>
          </a:xfrm>
          <a:prstGeom prst="rect">
            <a:avLst/>
          </a:prstGeom>
          <a:solidFill>
            <a:srgbClr val="CBD5E1"/>
          </a:solidFill>
          <a:ln>
            <a:noFill/>
          </a:ln>
        </p:spPr>
      </p:sp>
      <p:sp>
        <p:nvSpPr>
          <p:cNvPr id="20" name="questions-box"/>
          <p:cNvSpPr/>
          <p:nvPr/>
        </p:nvSpPr>
        <p:spPr>
          <a:xfrm>
            <a:off x="609600" y="5029200"/>
            <a:ext cx="10972800" cy="1117600"/>
          </a:xfrm>
          <a:prstGeom prst="rect">
            <a:avLst/>
          </a:prstGeom>
          <a:solidFill>
            <a:srgbClr val="FFF4EC"/>
          </a:solidFill>
          <a:ln>
            <a:noFill/>
          </a:ln>
        </p:spPr>
      </p:sp>
      <p:sp>
        <p:nvSpPr>
          <p:cNvPr id="21" name="questions-bar"/>
          <p:cNvSpPr/>
          <p:nvPr/>
        </p:nvSpPr>
        <p:spPr>
          <a:xfrm>
            <a:off x="609600" y="5029200"/>
            <a:ext cx="63500" cy="1117600"/>
          </a:xfrm>
          <a:prstGeom prst="rect">
            <a:avLst/>
          </a:prstGeom>
          <a:solidFill>
            <a:srgbClr val="BF3E05"/>
          </a:solidFill>
          <a:ln>
            <a:noFill/>
          </a:ln>
        </p:spPr>
      </p:sp>
      <p:sp>
        <p:nvSpPr>
          <p:cNvPr id="22" name="questions"/>
          <p:cNvSpPr/>
          <p:nvPr/>
        </p:nvSpPr>
        <p:spPr>
          <a:xfrm>
            <a:off x="889000" y="5181600"/>
            <a:ext cx="10515600" cy="812800"/>
          </a:xfrm>
          <a:prstGeom prst="rect">
            <a:avLst/>
          </a:prstGeom>
          <a:noFill/>
          <a:ln>
            <a:noFill/>
          </a:ln>
        </p:spPr>
        <p:txBody>
          <a:bodyPr wrap="square" lIns="0" tIns="0" rIns="0" bIns="0" anchor="ctr" rtlCol="0">
            <a:noAutofit/>
          </a:bodyPr>
          <a:lstStyle/>
          <a:p>
            <a:pPr algn="l">
              <a:spcAft>
                <a:spcPts val="800"/>
              </a:spcAft>
              <a:buNone/>
            </a:pPr>
            <a:r>
              <a:rPr lang="en-US" sz="1600" b="1" i="0" dirty="0">
                <a:solidFill>
                  <a:srgbClr val="111827"/>
                </a:solidFill>
                <a:latin typeface="Helvetica Neue"/>
                <a:ea typeface="Helvetica Neue"/>
                <a:cs typeface="Helvetica Neue"/>
              </a:rPr>
              <a:t>Suggested order:</a:t>
            </a:r>
            <a:r>
              <a:rPr lang="en-US" sz="1600" b="0" i="0" dirty="0">
                <a:solidFill>
                  <a:srgbClr val="111827"/>
                </a:solidFill>
                <a:latin typeface="Helvetica Neue"/>
                <a:ea typeface="Helvetica Neue"/>
                <a:cs typeface="Helvetica Neue"/>
              </a:rPr>
              <a:t> Parts 1 and 2 first, then 3 and 4, then 5 after the backup lab.</a:t>
            </a:r>
            <a:endParaRPr lang="en-US" sz="1600" dirty="0"/>
          </a:p>
          <a:p>
            <a:pPr algn="l">
              <a:buNone/>
            </a:pPr>
            <a:r>
              <a:rPr lang="en-US" sz="1600" b="1" i="0" dirty="0">
                <a:solidFill>
                  <a:srgbClr val="BF3E05"/>
                </a:solidFill>
                <a:latin typeface="Helvetica Neue"/>
                <a:ea typeface="Helvetica Neue"/>
                <a:cs typeface="Helvetica Neue"/>
              </a:rPr>
              <a:t>Questions now, then open the Colab notebook.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Today's research lab</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18</a:t>
            </a:r>
            <a:endParaRPr lang="en-US" sz="900" dirty="0"/>
          </a:p>
        </p:txBody>
      </p:sp>
      <p:sp>
        <p:nvSpPr>
          <p:cNvPr id="7" name="open-colab"/>
          <p:cNvSpPr/>
          <p:nvPr/>
        </p:nvSpPr>
        <p:spPr>
          <a:xfrm>
            <a:off x="609600" y="1498600"/>
            <a:ext cx="10972800" cy="6096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Open in Colab</a:t>
            </a:r>
            <a:r>
              <a:rPr lang="en-US" sz="1600" b="0" i="0" dirty="0">
                <a:solidFill>
                  <a:srgbClr val="111827"/>
                </a:solidFill>
                <a:latin typeface="Helvetica Neue"/>
                <a:ea typeface="Helvetica Neue"/>
                <a:cs typeface="Helvetica Neue"/>
              </a:rPr>
              <a:t> from the Week 7 README  ·  </a:t>
            </a:r>
            <a:r>
              <a:rPr lang="en-US" sz="1600" b="1" i="0" dirty="0">
                <a:solidFill>
                  <a:srgbClr val="111827"/>
                </a:solidFill>
                <a:latin typeface="Helvetica Neue"/>
                <a:ea typeface="Helvetica Neue"/>
                <a:cs typeface="Helvetica Neue"/>
              </a:rPr>
              <a:t>File &gt; Save a copy in Drive</a:t>
            </a:r>
            <a:r>
              <a:rPr lang="en-US" sz="1600" b="0" i="0" dirty="0">
                <a:solidFill>
                  <a:srgbClr val="111827"/>
                </a:solidFill>
                <a:latin typeface="Helvetica Neue"/>
                <a:ea typeface="Helvetica Neue"/>
                <a:cs typeface="Helvetica Neue"/>
              </a:rPr>
              <a:t>  ·  rename it </a:t>
            </a:r>
            <a:r>
              <a:rPr lang="en-US" sz="1600" b="1" i="0" dirty="0">
                <a:solidFill>
                  <a:srgbClr val="111827"/>
                </a:solidFill>
                <a:latin typeface="Helvetica Neue"/>
                <a:ea typeface="Helvetica Neue"/>
                <a:cs typeface="Helvetica Neue"/>
              </a:rPr>
              <a:t>Lastname_Week07_Research</a:t>
            </a:r>
            <a:endParaRPr lang="en-US" sz="1600" dirty="0"/>
          </a:p>
        </p:txBody>
      </p:sp>
      <p:sp>
        <p:nvSpPr>
          <p:cNvPr id="8" name="lab-card-1"/>
          <p:cNvSpPr/>
          <p:nvPr/>
        </p:nvSpPr>
        <p:spPr>
          <a:xfrm>
            <a:off x="609600" y="2286000"/>
            <a:ext cx="2514600" cy="2590800"/>
          </a:xfrm>
          <a:prstGeom prst="rect">
            <a:avLst/>
          </a:prstGeom>
          <a:solidFill>
            <a:srgbClr val="FFFFFF"/>
          </a:solidFill>
          <a:ln w="9525">
            <a:solidFill>
              <a:srgbClr val="CBD5E1"/>
            </a:solidFill>
          </a:ln>
        </p:spPr>
      </p:sp>
      <p:sp>
        <p:nvSpPr>
          <p:cNvPr id="9" name="lab-badge-1"/>
          <p:cNvSpPr/>
          <p:nvPr/>
        </p:nvSpPr>
        <p:spPr>
          <a:xfrm>
            <a:off x="7874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10" name="lab-name-1"/>
          <p:cNvSpPr/>
          <p:nvPr/>
        </p:nvSpPr>
        <p:spPr>
          <a:xfrm>
            <a:off x="12700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Inspect</a:t>
            </a:r>
            <a:endParaRPr lang="en-US" sz="1800" dirty="0"/>
          </a:p>
        </p:txBody>
      </p:sp>
      <p:sp>
        <p:nvSpPr>
          <p:cNvPr id="11" name="lab-when-1"/>
          <p:cNvSpPr/>
          <p:nvPr/>
        </p:nvSpPr>
        <p:spPr>
          <a:xfrm>
            <a:off x="7874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2" name="lab-body-1"/>
          <p:cNvSpPr/>
          <p:nvPr/>
        </p:nvSpPr>
        <p:spPr>
          <a:xfrm>
            <a:off x="7874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Run the cells. Fill in the observation table. Record the open list before switching to new.</a:t>
            </a:r>
            <a:endParaRPr lang="en-US" sz="1450" dirty="0"/>
          </a:p>
        </p:txBody>
      </p:sp>
      <p:sp>
        <p:nvSpPr>
          <p:cNvPr id="13" name="lab-card-2"/>
          <p:cNvSpPr/>
          <p:nvPr/>
        </p:nvSpPr>
        <p:spPr>
          <a:xfrm>
            <a:off x="3429000" y="2286000"/>
            <a:ext cx="2514600" cy="2590800"/>
          </a:xfrm>
          <a:prstGeom prst="rect">
            <a:avLst/>
          </a:prstGeom>
          <a:solidFill>
            <a:srgbClr val="FFFFFF"/>
          </a:solidFill>
          <a:ln w="9525">
            <a:solidFill>
              <a:srgbClr val="CBD5E1"/>
            </a:solidFill>
          </a:ln>
        </p:spPr>
      </p:sp>
      <p:sp>
        <p:nvSpPr>
          <p:cNvPr id="14" name="lab-badge-2"/>
          <p:cNvSpPr/>
          <p:nvPr/>
        </p:nvSpPr>
        <p:spPr>
          <a:xfrm>
            <a:off x="36068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5" name="lab-name-2"/>
          <p:cNvSpPr/>
          <p:nvPr/>
        </p:nvSpPr>
        <p:spPr>
          <a:xfrm>
            <a:off x="40894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Read</a:t>
            </a:r>
            <a:endParaRPr lang="en-US" sz="1800" dirty="0"/>
          </a:p>
        </p:txBody>
      </p:sp>
      <p:sp>
        <p:nvSpPr>
          <p:cNvPr id="16" name="lab-when-2"/>
          <p:cNvSpPr/>
          <p:nvPr/>
        </p:nvSpPr>
        <p:spPr>
          <a:xfrm>
            <a:off x="36068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7" name="lab-body-2"/>
          <p:cNvSpPr/>
          <p:nvPr/>
        </p:nvSpPr>
        <p:spPr>
          <a:xfrm>
            <a:off x="36068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The two PostgreSQL pages linked in the notebook, only the paragraphs it names.</a:t>
            </a:r>
            <a:endParaRPr lang="en-US" sz="1450" dirty="0"/>
          </a:p>
        </p:txBody>
      </p:sp>
      <p:sp>
        <p:nvSpPr>
          <p:cNvPr id="18" name="lab-card-3"/>
          <p:cNvSpPr/>
          <p:nvPr/>
        </p:nvSpPr>
        <p:spPr>
          <a:xfrm>
            <a:off x="6248400" y="2286000"/>
            <a:ext cx="2514600" cy="2590800"/>
          </a:xfrm>
          <a:prstGeom prst="rect">
            <a:avLst/>
          </a:prstGeom>
          <a:solidFill>
            <a:srgbClr val="FFFFFF"/>
          </a:solidFill>
          <a:ln w="9525">
            <a:solidFill>
              <a:srgbClr val="CBD5E1"/>
            </a:solidFill>
          </a:ln>
        </p:spPr>
      </p:sp>
      <p:sp>
        <p:nvSpPr>
          <p:cNvPr id="19" name="lab-badge-3"/>
          <p:cNvSpPr/>
          <p:nvPr/>
        </p:nvSpPr>
        <p:spPr>
          <a:xfrm>
            <a:off x="64262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20" name="lab-name-3"/>
          <p:cNvSpPr/>
          <p:nvPr/>
        </p:nvSpPr>
        <p:spPr>
          <a:xfrm>
            <a:off x="69088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Write</a:t>
            </a:r>
            <a:endParaRPr lang="en-US" sz="1800" dirty="0"/>
          </a:p>
        </p:txBody>
      </p:sp>
      <p:sp>
        <p:nvSpPr>
          <p:cNvPr id="21" name="lab-when-3"/>
          <p:cNvSpPr/>
          <p:nvPr/>
        </p:nvSpPr>
        <p:spPr>
          <a:xfrm>
            <a:off x="64262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a:t>
            </a:r>
            <a:endParaRPr lang="en-US" sz="1200" dirty="0"/>
          </a:p>
        </p:txBody>
      </p:sp>
      <p:sp>
        <p:nvSpPr>
          <p:cNvPr id="22" name="lab-body-3"/>
          <p:cNvSpPr/>
          <p:nvPr/>
        </p:nvSpPr>
        <p:spPr>
          <a:xfrm>
            <a:off x="64262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180–250 words across three cells. Label your prediction.</a:t>
            </a:r>
            <a:endParaRPr lang="en-US" sz="1450" dirty="0"/>
          </a:p>
        </p:txBody>
      </p:sp>
      <p:sp>
        <p:nvSpPr>
          <p:cNvPr id="23" name="lab-card-4"/>
          <p:cNvSpPr/>
          <p:nvPr/>
        </p:nvSpPr>
        <p:spPr>
          <a:xfrm>
            <a:off x="9067800" y="2286000"/>
            <a:ext cx="2514600" cy="2590800"/>
          </a:xfrm>
          <a:prstGeom prst="rect">
            <a:avLst/>
          </a:prstGeom>
          <a:solidFill>
            <a:srgbClr val="FFFFFF"/>
          </a:solidFill>
          <a:ln w="9525">
            <a:solidFill>
              <a:srgbClr val="CBD5E1"/>
            </a:solidFill>
          </a:ln>
        </p:spPr>
      </p:sp>
      <p:sp>
        <p:nvSpPr>
          <p:cNvPr id="24" name="lab-badge-4"/>
          <p:cNvSpPr/>
          <p:nvPr/>
        </p:nvSpPr>
        <p:spPr>
          <a:xfrm>
            <a:off x="92456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25" name="lab-name-4"/>
          <p:cNvSpPr/>
          <p:nvPr/>
        </p:nvSpPr>
        <p:spPr>
          <a:xfrm>
            <a:off x="97282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Check</a:t>
            </a:r>
            <a:endParaRPr lang="en-US" sz="1800" dirty="0"/>
          </a:p>
        </p:txBody>
      </p:sp>
      <p:sp>
        <p:nvSpPr>
          <p:cNvPr id="26" name="lab-when-4"/>
          <p:cNvSpPr/>
          <p:nvPr/>
        </p:nvSpPr>
        <p:spPr>
          <a:xfrm>
            <a:off x="92456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a:t>
            </a:r>
            <a:endParaRPr lang="en-US" sz="1200" dirty="0"/>
          </a:p>
        </p:txBody>
      </p:sp>
      <p:sp>
        <p:nvSpPr>
          <p:cNvPr id="27" name="lab-body-4"/>
          <p:cNvSpPr/>
          <p:nvPr/>
        </p:nvSpPr>
        <p:spPr>
          <a:xfrm>
            <a:off x="92456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Match every claim to an output above it.</a:t>
            </a:r>
            <a:endParaRPr lang="en-US" sz="1450" dirty="0"/>
          </a:p>
        </p:txBody>
      </p:sp>
      <p:sp>
        <p:nvSpPr>
          <p:cNvPr id="28" name="python-note-box"/>
          <p:cNvSpPr/>
          <p:nvPr/>
        </p:nvSpPr>
        <p:spPr>
          <a:xfrm>
            <a:off x="609600" y="5105400"/>
            <a:ext cx="10972800" cy="990600"/>
          </a:xfrm>
          <a:prstGeom prst="rect">
            <a:avLst/>
          </a:prstGeom>
          <a:solidFill>
            <a:srgbClr val="FFF4EC"/>
          </a:solidFill>
          <a:ln>
            <a:noFill/>
          </a:ln>
        </p:spPr>
      </p:sp>
      <p:sp>
        <p:nvSpPr>
          <p:cNvPr id="29" name="python-note-bar"/>
          <p:cNvSpPr/>
          <p:nvPr/>
        </p:nvSpPr>
        <p:spPr>
          <a:xfrm>
            <a:off x="609600" y="5105400"/>
            <a:ext cx="63500" cy="990600"/>
          </a:xfrm>
          <a:prstGeom prst="rect">
            <a:avLst/>
          </a:prstGeom>
          <a:solidFill>
            <a:srgbClr val="BF3E05"/>
          </a:solidFill>
          <a:ln>
            <a:noFill/>
          </a:ln>
        </p:spPr>
      </p:sp>
      <p:sp>
        <p:nvSpPr>
          <p:cNvPr id="30" name="python-note"/>
          <p:cNvSpPr/>
          <p:nvPr/>
        </p:nvSpPr>
        <p:spPr>
          <a:xfrm>
            <a:off x="889000" y="5257800"/>
            <a:ext cx="10515600" cy="685800"/>
          </a:xfrm>
          <a:prstGeom prst="rect">
            <a:avLst/>
          </a:prstGeom>
          <a:noFill/>
          <a:ln>
            <a:noFill/>
          </a:ln>
        </p:spPr>
        <p:txBody>
          <a:bodyPr wrap="square" lIns="0" tIns="0" rIns="0" bIns="0" anchor="ctr" rtlCol="0">
            <a:noAutofit/>
          </a:bodyPr>
          <a:lstStyle/>
          <a:p>
            <a:pPr algn="l">
              <a:buNone/>
            </a:pPr>
            <a:r>
              <a:rPr lang="en-US" sz="1500" b="0" i="0" dirty="0">
                <a:solidFill>
                  <a:srgbClr val="111827"/>
                </a:solidFill>
                <a:latin typeface="Helvetica Neue"/>
                <a:ea typeface="Helvetica Neue"/>
                <a:cs typeface="Helvetica Neue"/>
              </a:rPr>
              <a:t>No Supabase login or password: the notebook runs Python on data already inside it. Python results describe the data. They do not show how PostgreSQL runs the query.</a:t>
            </a:r>
            <a:endParaRPr lang="en-US" sz="15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1: Inspect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19</a:t>
            </a:r>
            <a:endParaRPr lang="en-US" sz="900" dirty="0"/>
          </a:p>
        </p:txBody>
      </p:sp>
      <p:sp>
        <p:nvSpPr>
          <p:cNvPr id="7" name="step1-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MINUTES  ·  MINUTES 45 TO 55</a:t>
            </a:r>
            <a:endParaRPr lang="en-US" sz="1200" dirty="0"/>
          </a:p>
        </p:txBody>
      </p:sp>
      <p:sp>
        <p:nvSpPr>
          <p:cNvPr id="8" name="inspect-badge-1"/>
          <p:cNvSpPr/>
          <p:nvPr/>
        </p:nvSpPr>
        <p:spPr>
          <a:xfrm>
            <a:off x="609600" y="1854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9" name="inspect-1"/>
          <p:cNvSpPr/>
          <p:nvPr/>
        </p:nvSpPr>
        <p:spPr>
          <a:xfrm>
            <a:off x="1168400" y="18923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Run the code cells from the top. Record the </a:t>
            </a:r>
            <a:r>
              <a:rPr lang="en-US" sz="1600" b="1" i="0" dirty="0">
                <a:solidFill>
                  <a:srgbClr val="111827"/>
                </a:solidFill>
                <a:latin typeface="Helvetica Neue"/>
                <a:ea typeface="Helvetica Neue"/>
                <a:cs typeface="Helvetica Neue"/>
              </a:rPr>
              <a:t>three counts</a:t>
            </a:r>
            <a:r>
              <a:rPr lang="en-US" sz="1600" b="0" i="0" dirty="0">
                <a:solidFill>
                  <a:srgbClr val="111827"/>
                </a:solidFill>
                <a:latin typeface="Helvetica Neue"/>
                <a:ea typeface="Helvetica Neue"/>
                <a:cs typeface="Helvetica Neue"/>
              </a:rPr>
              <a:t>.</a:t>
            </a:r>
            <a:endParaRPr lang="en-US" sz="1600" dirty="0"/>
          </a:p>
        </p:txBody>
      </p:sp>
      <p:sp>
        <p:nvSpPr>
          <p:cNvPr id="10" name="inspect-badge-2"/>
          <p:cNvSpPr/>
          <p:nvPr/>
        </p:nvSpPr>
        <p:spPr>
          <a:xfrm>
            <a:off x="609600" y="26670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1" name="inspect-2"/>
          <p:cNvSpPr/>
          <p:nvPr/>
        </p:nvSpPr>
        <p:spPr>
          <a:xfrm>
            <a:off x="1168400" y="27051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Run the filter with STATUS = "open". Record the </a:t>
            </a:r>
            <a:r>
              <a:rPr lang="en-US" sz="1600" b="1" i="0" dirty="0">
                <a:solidFill>
                  <a:srgbClr val="111827"/>
                </a:solidFill>
                <a:latin typeface="Helvetica Neue"/>
                <a:ea typeface="Helvetica Neue"/>
                <a:cs typeface="Helvetica Neue"/>
              </a:rPr>
              <a:t>ordered IDs</a:t>
            </a:r>
            <a:r>
              <a:rPr lang="en-US" sz="1600" b="0" i="0" dirty="0">
                <a:solidFill>
                  <a:srgbClr val="111827"/>
                </a:solidFill>
                <a:latin typeface="Helvetica Neue"/>
                <a:ea typeface="Helvetica Neue"/>
                <a:cs typeface="Helvetica Neue"/>
              </a:rPr>
              <a:t>.</a:t>
            </a:r>
            <a:endParaRPr lang="en-US" sz="1600" dirty="0"/>
          </a:p>
        </p:txBody>
      </p:sp>
      <p:sp>
        <p:nvSpPr>
          <p:cNvPr id="12" name="inspect-badge-3"/>
          <p:cNvSpPr/>
          <p:nvPr/>
        </p:nvSpPr>
        <p:spPr>
          <a:xfrm>
            <a:off x="609600" y="3479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13" name="inspect-3"/>
          <p:cNvSpPr/>
          <p:nvPr/>
        </p:nvSpPr>
        <p:spPr>
          <a:xfrm>
            <a:off x="1168400" y="35179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Change STATUS to "new", run it again, and record </a:t>
            </a:r>
            <a:r>
              <a:rPr lang="en-US" sz="1600" b="1" i="0" dirty="0">
                <a:solidFill>
                  <a:srgbClr val="111827"/>
                </a:solidFill>
                <a:latin typeface="Helvetica Neue"/>
                <a:ea typeface="Helvetica Neue"/>
                <a:cs typeface="Helvetica Neue"/>
              </a:rPr>
              <a:t>that list</a:t>
            </a:r>
            <a:r>
              <a:rPr lang="en-US" sz="1600" b="0" i="0" dirty="0">
                <a:solidFill>
                  <a:srgbClr val="111827"/>
                </a:solidFill>
                <a:latin typeface="Helvetica Neue"/>
                <a:ea typeface="Helvetica Neue"/>
                <a:cs typeface="Helvetica Neue"/>
              </a:rPr>
              <a:t> too.</a:t>
            </a:r>
            <a:endParaRPr lang="en-US" sz="1600" dirty="0"/>
          </a:p>
        </p:txBody>
      </p:sp>
      <p:sp>
        <p:nvSpPr>
          <p:cNvPr id="14" name="inspect-badge-4"/>
          <p:cNvSpPr/>
          <p:nvPr/>
        </p:nvSpPr>
        <p:spPr>
          <a:xfrm>
            <a:off x="609600" y="4292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15" name="inspect-4"/>
          <p:cNvSpPr/>
          <p:nvPr/>
        </p:nvSpPr>
        <p:spPr>
          <a:xfrm>
            <a:off x="1168400" y="43307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Inspect ticket 1004 or another ID. Record its </a:t>
            </a:r>
            <a:r>
              <a:rPr lang="en-US" sz="1600" b="1" i="0" dirty="0">
                <a:solidFill>
                  <a:srgbClr val="111827"/>
                </a:solidFill>
                <a:latin typeface="Helvetica Neue"/>
                <a:ea typeface="Helvetica Neue"/>
                <a:cs typeface="Helvetica Neue"/>
              </a:rPr>
              <a:t>status and requester</a:t>
            </a:r>
            <a:r>
              <a:rPr lang="en-US" sz="1600" b="0" i="0" dirty="0">
                <a:solidFill>
                  <a:srgbClr val="111827"/>
                </a:solidFill>
                <a:latin typeface="Helvetica Neue"/>
                <a:ea typeface="Helvetica Neue"/>
                <a:cs typeface="Helvetica Neue"/>
              </a:rPr>
              <a:t>.</a:t>
            </a:r>
            <a:endParaRPr lang="en-US" sz="1600" dirty="0"/>
          </a:p>
        </p:txBody>
      </p:sp>
      <p:sp>
        <p:nvSpPr>
          <p:cNvPr id="16" name="table-head"/>
          <p:cNvSpPr/>
          <p:nvPr/>
        </p:nvSpPr>
        <p:spPr>
          <a:xfrm>
            <a:off x="6248400" y="18288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Your observation table</a:t>
            </a:r>
            <a:endParaRPr lang="en-US" sz="1600" dirty="0"/>
          </a:p>
        </p:txBody>
      </p:sp>
      <p:graphicFrame>
        <p:nvGraphicFramePr>
          <p:cNvPr id="17" name="observation-table"/>
          <p:cNvGraphicFramePr>
            <a:graphicFrameLocks noGrp="1"/>
          </p:cNvGraphicFramePr>
          <p:nvPr/>
        </p:nvGraphicFramePr>
        <p:xfrm>
          <a:off x="6248400" y="2184400"/>
          <a:ext cx="5334000" cy="2265680"/>
        </p:xfrm>
        <a:graphic>
          <a:graphicData uri="http://schemas.openxmlformats.org/drawingml/2006/table">
            <a:tbl>
              <a:tblPr firstRow="1" bandRow="1"/>
              <a:tblGrid>
                <a:gridCol w="2946400"/>
                <a:gridCol w="2387600"/>
              </a:tblGrid>
              <a:tr h="406400">
                <a:tc>
                  <a:txBody>
                    <a:bodyPr/>
                    <a:lstStyle/>
                    <a:p>
                      <a:pPr algn="l">
                        <a:buNone/>
                      </a:pPr>
                      <a:r>
                        <a:rPr lang="en-US" sz="1350" b="1" i="0" dirty="0">
                          <a:solidFill>
                            <a:srgbClr val="FFFFFF"/>
                          </a:solidFill>
                          <a:latin typeface="Helvetica Neue"/>
                          <a:ea typeface="Helvetica Neue"/>
                          <a:cs typeface="Helvetica Neue"/>
                        </a:rPr>
                        <a:t>Observation</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Your result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350" b="1" i="0" dirty="0">
                          <a:solidFill>
                            <a:srgbClr val="111827"/>
                          </a:solidFill>
                          <a:latin typeface="Helvetica Neue"/>
                          <a:ea typeface="Helvetica Neue"/>
                          <a:cs typeface="Helvetica Neue"/>
                        </a:rPr>
                        <a:t>Users / tickets / events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from your output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350" b="1" i="0" dirty="0">
                          <a:solidFill>
                            <a:srgbClr val="111827"/>
                          </a:solidFill>
                          <a:latin typeface="Helvetica Neue"/>
                          <a:ea typeface="Helvetica Neue"/>
                          <a:cs typeface="Helvetica Neue"/>
                        </a:rPr>
                        <a:t>Ordered open-ticket IDs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before changing STATUS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31800">
                <a:tc>
                  <a:txBody>
                    <a:bodyPr/>
                    <a:lstStyle/>
                    <a:p>
                      <a:pPr algn="l">
                        <a:buNone/>
                      </a:pPr>
                      <a:r>
                        <a:rPr lang="en-US" sz="1350" b="1" i="0" dirty="0">
                          <a:solidFill>
                            <a:srgbClr val="111827"/>
                          </a:solidFill>
                          <a:latin typeface="Helvetica Neue"/>
                          <a:ea typeface="Helvetica Neue"/>
                          <a:cs typeface="Helvetica Neue"/>
                        </a:rPr>
                        <a:t>Ordered new-ticket IDs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after changing STATUS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63880">
                <a:tc>
                  <a:txBody>
                    <a:bodyPr/>
                    <a:lstStyle/>
                    <a:p>
                      <a:pPr algn="l">
                        <a:buNone/>
                      </a:pPr>
                      <a:r>
                        <a:rPr lang="en-US" sz="1350" b="1" i="0" dirty="0">
                          <a:solidFill>
                            <a:srgbClr val="111827"/>
                          </a:solidFill>
                          <a:latin typeface="Helvetica Neue"/>
                          <a:ea typeface="Helvetica Neue"/>
                          <a:cs typeface="Helvetica Neue"/>
                        </a:rPr>
                        <a:t>One ticket's ID, status, and requester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the ticket you inspected</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8" name="inspect-note-box"/>
          <p:cNvSpPr/>
          <p:nvPr/>
        </p:nvSpPr>
        <p:spPr>
          <a:xfrm>
            <a:off x="609600" y="5308600"/>
            <a:ext cx="10972800" cy="838200"/>
          </a:xfrm>
          <a:prstGeom prst="rect">
            <a:avLst/>
          </a:prstGeom>
          <a:solidFill>
            <a:srgbClr val="FFF4EC"/>
          </a:solidFill>
          <a:ln>
            <a:noFill/>
          </a:ln>
        </p:spPr>
      </p:sp>
      <p:sp>
        <p:nvSpPr>
          <p:cNvPr id="19" name="inspect-note-bar"/>
          <p:cNvSpPr/>
          <p:nvPr/>
        </p:nvSpPr>
        <p:spPr>
          <a:xfrm>
            <a:off x="609600" y="5308600"/>
            <a:ext cx="63500" cy="838200"/>
          </a:xfrm>
          <a:prstGeom prst="rect">
            <a:avLst/>
          </a:prstGeom>
          <a:solidFill>
            <a:srgbClr val="BF3E05"/>
          </a:solidFill>
          <a:ln>
            <a:noFill/>
          </a:ln>
        </p:spPr>
      </p:sp>
      <p:sp>
        <p:nvSpPr>
          <p:cNvPr id="20" name="inspect-note"/>
          <p:cNvSpPr/>
          <p:nvPr/>
        </p:nvSpPr>
        <p:spPr>
          <a:xfrm>
            <a:off x="889000" y="5461000"/>
            <a:ext cx="10515600" cy="5334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A blank assignee means </a:t>
            </a:r>
            <a:r>
              <a:rPr lang="en-US" sz="1550" b="1" i="0" dirty="0">
                <a:solidFill>
                  <a:srgbClr val="111827"/>
                </a:solidFill>
                <a:latin typeface="Helvetica Neue"/>
                <a:ea typeface="Helvetica Neue"/>
                <a:cs typeface="Helvetica Neue"/>
              </a:rPr>
              <a:t>unassigned</a:t>
            </a:r>
            <a:r>
              <a:rPr lang="en-US" sz="1550" b="0" i="0" dirty="0">
                <a:solidFill>
                  <a:srgbClr val="111827"/>
                </a:solidFill>
                <a:latin typeface="Helvetica Neue"/>
                <a:ea typeface="Helvetica Neue"/>
                <a:cs typeface="Helvetica Neue"/>
              </a:rPr>
              <a:t>; every ticket still has a requester. MAX_ROWS = 20 is a </a:t>
            </a:r>
            <a:r>
              <a:rPr lang="en-US" sz="1550" b="1" i="0" dirty="0">
                <a:solidFill>
                  <a:srgbClr val="111827"/>
                </a:solidFill>
                <a:latin typeface="Helvetica Neue"/>
                <a:ea typeface="Helvetica Neue"/>
                <a:cs typeface="Helvetica Neue"/>
              </a:rPr>
              <a:t>ceiling</a:t>
            </a:r>
            <a:r>
              <a:rPr lang="en-US" sz="1550" b="0" i="0" dirty="0">
                <a:solidFill>
                  <a:srgbClr val="111827"/>
                </a:solidFill>
                <a:latin typeface="Helvetica Neue"/>
                <a:ea typeface="Helvetica Neue"/>
                <a:cs typeface="Helvetica Neue"/>
              </a:rPr>
              <a:t>, not a promise that twenty tickets match.</a:t>
            </a:r>
            <a:endParaRPr lang="en-US" sz="15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2: Read two short sources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20</a:t>
            </a:r>
            <a:endParaRPr lang="en-US" sz="900" dirty="0"/>
          </a:p>
        </p:txBody>
      </p:sp>
      <p:sp>
        <p:nvSpPr>
          <p:cNvPr id="7" name="step2-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MINUTES  ·  MINUTES 55 TO 65</a:t>
            </a:r>
            <a:endParaRPr lang="en-US" sz="1200" dirty="0"/>
          </a:p>
        </p:txBody>
      </p:sp>
      <p:sp>
        <p:nvSpPr>
          <p:cNvPr id="8" name="source-0-head"/>
          <p:cNvSpPr/>
          <p:nvPr/>
        </p:nvSpPr>
        <p:spPr>
          <a:xfrm>
            <a:off x="609600" y="18288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PostgreSQL: Indexes Introduction</a:t>
            </a:r>
            <a:endParaRPr lang="en-US" sz="1600" dirty="0"/>
          </a:p>
        </p:txBody>
      </p:sp>
      <p:sp>
        <p:nvSpPr>
          <p:cNvPr id="9" name="source-0-body"/>
          <p:cNvSpPr/>
          <p:nvPr/>
        </p:nvSpPr>
        <p:spPr>
          <a:xfrm>
            <a:off x="609600" y="2311400"/>
            <a:ext cx="5334000" cy="1651000"/>
          </a:xfrm>
          <a:prstGeom prst="rect">
            <a:avLst/>
          </a:prstGeom>
          <a:solidFill>
            <a:srgbClr val="FFFFFF"/>
          </a:solidFill>
          <a:ln w="9525">
            <a:solidFill>
              <a:srgbClr val="CBD5E1"/>
            </a:solidFill>
          </a:ln>
        </p:spPr>
      </p:sp>
      <p:sp>
        <p:nvSpPr>
          <p:cNvPr id="10" name="source-0"/>
          <p:cNvSpPr/>
          <p:nvPr/>
        </p:nvSpPr>
        <p:spPr>
          <a:xfrm>
            <a:off x="812800" y="2489200"/>
            <a:ext cx="4927600" cy="1346200"/>
          </a:xfrm>
          <a:prstGeom prst="rect">
            <a:avLst/>
          </a:prstGeom>
          <a:noFill/>
          <a:ln>
            <a:noFill/>
          </a:ln>
        </p:spPr>
        <p:txBody>
          <a:bodyPr wrap="square" lIns="0" tIns="0" rIns="0" bIns="0" anchor="t" rtlCol="0">
            <a:noAutofit/>
          </a:bodyPr>
          <a:lstStyle/>
          <a:p>
            <a:pPr algn="l">
              <a:lnSpc>
                <a:spcPct val="104000"/>
              </a:lnSpc>
              <a:buNone/>
            </a:pPr>
            <a:r>
              <a:rPr lang="en-US" sz="1500" b="0" i="0" dirty="0">
                <a:solidFill>
                  <a:srgbClr val="111827"/>
                </a:solidFill>
                <a:latin typeface="Helvetica Neue"/>
                <a:ea typeface="Helvetica Neue"/>
                <a:cs typeface="Helvetica Neue"/>
              </a:rPr>
              <a:t>Read the opening example through the paragraph that begins “Once an index is created,” then the final paragraph about keeping an index synchronized with its table. Skip the operator classes.</a:t>
            </a:r>
            <a:endParaRPr lang="en-US" sz="1500" dirty="0"/>
          </a:p>
        </p:txBody>
      </p:sp>
      <p:sp>
        <p:nvSpPr>
          <p:cNvPr id="11" name="source-1-head"/>
          <p:cNvSpPr/>
          <p:nvPr/>
        </p:nvSpPr>
        <p:spPr>
          <a:xfrm>
            <a:off x="6248400" y="18288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PostgreSQL: Indexes and ORDER BY</a:t>
            </a:r>
            <a:endParaRPr lang="en-US" sz="1600" dirty="0"/>
          </a:p>
        </p:txBody>
      </p:sp>
      <p:sp>
        <p:nvSpPr>
          <p:cNvPr id="12" name="source-1-body"/>
          <p:cNvSpPr/>
          <p:nvPr/>
        </p:nvSpPr>
        <p:spPr>
          <a:xfrm>
            <a:off x="6248400" y="2311400"/>
            <a:ext cx="5334000" cy="1651000"/>
          </a:xfrm>
          <a:prstGeom prst="rect">
            <a:avLst/>
          </a:prstGeom>
          <a:solidFill>
            <a:srgbClr val="FFFFFF"/>
          </a:solidFill>
          <a:ln w="9525">
            <a:solidFill>
              <a:srgbClr val="CBD5E1"/>
            </a:solidFill>
          </a:ln>
        </p:spPr>
      </p:sp>
      <p:sp>
        <p:nvSpPr>
          <p:cNvPr id="13" name="source-1"/>
          <p:cNvSpPr/>
          <p:nvPr/>
        </p:nvSpPr>
        <p:spPr>
          <a:xfrm>
            <a:off x="6451600" y="2489200"/>
            <a:ext cx="4927600" cy="1346200"/>
          </a:xfrm>
          <a:prstGeom prst="rect">
            <a:avLst/>
          </a:prstGeom>
          <a:noFill/>
          <a:ln>
            <a:noFill/>
          </a:ln>
        </p:spPr>
        <p:txBody>
          <a:bodyPr wrap="square" lIns="0" tIns="0" rIns="0" bIns="0" anchor="t" rtlCol="0">
            <a:noAutofit/>
          </a:bodyPr>
          <a:lstStyle/>
          <a:p>
            <a:pPr algn="l">
              <a:lnSpc>
                <a:spcPct val="104000"/>
              </a:lnSpc>
              <a:buNone/>
            </a:pPr>
            <a:r>
              <a:rPr lang="en-US" sz="1500" b="0" i="0" dirty="0">
                <a:solidFill>
                  <a:srgbClr val="111827"/>
                </a:solidFill>
                <a:latin typeface="Helvetica Neue"/>
                <a:ea typeface="Helvetica Neue"/>
                <a:cs typeface="Helvetica Neue"/>
              </a:rPr>
              <a:t>Read the first three paragraphs, through the discussion of ORDER BY with LIMIT. The later mixed-direction examples are optional.</a:t>
            </a:r>
            <a:endParaRPr lang="en-US" sz="1500" dirty="0"/>
          </a:p>
        </p:txBody>
      </p:sp>
      <p:sp>
        <p:nvSpPr>
          <p:cNvPr id="14" name="look-head"/>
          <p:cNvSpPr/>
          <p:nvPr/>
        </p:nvSpPr>
        <p:spPr>
          <a:xfrm>
            <a:off x="609600" y="4191000"/>
            <a:ext cx="109728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Look for three things</a:t>
            </a:r>
            <a:endParaRPr lang="en-US" sz="1600" dirty="0"/>
          </a:p>
        </p:txBody>
      </p:sp>
      <p:sp>
        <p:nvSpPr>
          <p:cNvPr id="15" name="look-1"/>
          <p:cNvSpPr/>
          <p:nvPr/>
        </p:nvSpPr>
        <p:spPr>
          <a:xfrm>
            <a:off x="6096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What an index might let PostgreSQL </a:t>
            </a:r>
            <a:r>
              <a:rPr lang="en-US" sz="1500" b="1" i="0" dirty="0">
                <a:solidFill>
                  <a:srgbClr val="111827"/>
                </a:solidFill>
                <a:latin typeface="Helvetica Neue"/>
                <a:ea typeface="Helvetica Neue"/>
                <a:cs typeface="Helvetica Neue"/>
              </a:rPr>
              <a:t>avoid</a:t>
            </a:r>
            <a:endParaRPr lang="en-US" sz="1500" dirty="0"/>
          </a:p>
        </p:txBody>
      </p:sp>
      <p:sp>
        <p:nvSpPr>
          <p:cNvPr id="16" name="look-2"/>
          <p:cNvSpPr/>
          <p:nvPr/>
        </p:nvSpPr>
        <p:spPr>
          <a:xfrm>
            <a:off x="43434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Why PostgreSQL might </a:t>
            </a:r>
            <a:r>
              <a:rPr lang="en-US" sz="1500" b="1" i="0" dirty="0">
                <a:solidFill>
                  <a:srgbClr val="111827"/>
                </a:solidFill>
                <a:latin typeface="Helvetica Neue"/>
                <a:ea typeface="Helvetica Neue"/>
                <a:cs typeface="Helvetica Neue"/>
              </a:rPr>
              <a:t>choose another plan</a:t>
            </a:r>
            <a:endParaRPr lang="en-US" sz="1500" dirty="0"/>
          </a:p>
        </p:txBody>
      </p:sp>
      <p:sp>
        <p:nvSpPr>
          <p:cNvPr id="17" name="look-3"/>
          <p:cNvSpPr/>
          <p:nvPr/>
        </p:nvSpPr>
        <p:spPr>
          <a:xfrm>
            <a:off x="80772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What </a:t>
            </a:r>
            <a:r>
              <a:rPr lang="en-US" sz="1500" b="1" i="0" dirty="0">
                <a:solidFill>
                  <a:srgbClr val="111827"/>
                </a:solidFill>
                <a:latin typeface="Helvetica Neue"/>
                <a:ea typeface="Helvetica Neue"/>
                <a:cs typeface="Helvetica Neue"/>
              </a:rPr>
              <a:t>extra work</a:t>
            </a:r>
            <a:r>
              <a:rPr lang="en-US" sz="1500" b="0" i="0" dirty="0">
                <a:solidFill>
                  <a:srgbClr val="111827"/>
                </a:solidFill>
                <a:latin typeface="Helvetica Neue"/>
                <a:ea typeface="Helvetica Neue"/>
                <a:cs typeface="Helvetica Neue"/>
              </a:rPr>
              <a:t> an index adds</a:t>
            </a:r>
            <a:endParaRPr lang="en-US" sz="1500" dirty="0"/>
          </a:p>
        </p:txBody>
      </p:sp>
      <p:sp>
        <p:nvSpPr>
          <p:cNvPr id="18" name="read-note"/>
          <p:cNvSpPr/>
          <p:nvPr/>
        </p:nvSpPr>
        <p:spPr>
          <a:xfrm>
            <a:off x="609600" y="5537200"/>
            <a:ext cx="10972800" cy="508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Both links are in the notebook. Paraphrase the ideas you use and keep both links for your writing.</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3: Write 180–250 words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21</a:t>
            </a:r>
            <a:endParaRPr lang="en-US" sz="900" dirty="0"/>
          </a:p>
        </p:txBody>
      </p:sp>
      <p:sp>
        <p:nvSpPr>
          <p:cNvPr id="7" name="step3-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MINUTES  ·  MINUTES 65 TO 90</a:t>
            </a:r>
            <a:endParaRPr lang="en-US" sz="1200" dirty="0"/>
          </a:p>
        </p:txBody>
      </p:sp>
      <p:graphicFrame>
        <p:nvGraphicFramePr>
          <p:cNvPr id="8" name="writing-cells"/>
          <p:cNvGraphicFramePr>
            <a:graphicFrameLocks noGrp="1"/>
          </p:cNvGraphicFramePr>
          <p:nvPr/>
        </p:nvGraphicFramePr>
        <p:xfrm>
          <a:off x="609600" y="1803400"/>
          <a:ext cx="10972800" cy="2570480"/>
        </p:xfrm>
        <a:graphic>
          <a:graphicData uri="http://schemas.openxmlformats.org/drawingml/2006/table">
            <a:tbl>
              <a:tblPr firstRow="1" bandRow="1"/>
              <a:tblGrid>
                <a:gridCol w="2489200"/>
                <a:gridCol w="1016000"/>
                <a:gridCol w="7467600"/>
              </a:tblGrid>
              <a:tr h="406400">
                <a:tc>
                  <a:txBody>
                    <a:bodyPr/>
                    <a:lstStyle/>
                    <a:p>
                      <a:pPr algn="l">
                        <a:buNone/>
                      </a:pPr>
                      <a:r>
                        <a:rPr lang="en-US" sz="1400" b="1" i="0" dirty="0">
                          <a:solidFill>
                            <a:srgbClr val="FFFFFF"/>
                          </a:solidFill>
                          <a:latin typeface="Helvetica Neue"/>
                          <a:ea typeface="Helvetica Neue"/>
                          <a:cs typeface="Helvetica Neue"/>
                        </a:rPr>
                        <a:t>Response cell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Words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it includes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A  The question and data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50–70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What the query at the top of the notebook must return; two observations from your notebook; why LIMIT 20 can return fewer than twenty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792480">
                <a:tc>
                  <a:txBody>
                    <a:bodyPr/>
                    <a:lstStyle/>
                    <a:p>
                      <a:pPr algn="l">
                        <a:buNone/>
                      </a:pPr>
                      <a:r>
                        <a:rPr lang="en-US" sz="1400" b="1" i="0" dirty="0">
                          <a:solidFill>
                            <a:srgbClr val="111827"/>
                          </a:solidFill>
                          <a:latin typeface="Helvetica Neue"/>
                          <a:ea typeface="Helvetica Neue"/>
                          <a:cs typeface="Helvetica Neue"/>
                        </a:rPr>
                        <a:t>B  What the sources suggest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80–110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How an index could help the filter or the ordering; one cost; one idea from each source, linked; why an index definition online does not prove this database will run faster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792480">
                <a:tc>
                  <a:txBody>
                    <a:bodyPr/>
                    <a:lstStyle/>
                    <a:p>
                      <a:pPr algn="l">
                        <a:buNone/>
                      </a:pPr>
                      <a:r>
                        <a:rPr lang="en-US" sz="1400" b="1" i="0" dirty="0">
                          <a:solidFill>
                            <a:srgbClr val="111827"/>
                          </a:solidFill>
                          <a:latin typeface="Helvetica Neue"/>
                          <a:ea typeface="Helvetica Neue"/>
                          <a:cs typeface="Helvetica Neue"/>
                        </a:rPr>
                        <a:t>C  Your planned test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50–70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One before-and-after PostgreSQL test: what stays the same, which results and plan evidence you compare, what would make you keep or reconsider the index; a labeled prediction; one remaining question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write-note-box"/>
          <p:cNvSpPr/>
          <p:nvPr/>
        </p:nvSpPr>
        <p:spPr>
          <a:xfrm>
            <a:off x="609600" y="5207000"/>
            <a:ext cx="10972800" cy="939800"/>
          </a:xfrm>
          <a:prstGeom prst="rect">
            <a:avLst/>
          </a:prstGeom>
          <a:solidFill>
            <a:srgbClr val="FFF4EC"/>
          </a:solidFill>
          <a:ln>
            <a:noFill/>
          </a:ln>
        </p:spPr>
      </p:sp>
      <p:sp>
        <p:nvSpPr>
          <p:cNvPr id="10" name="write-note-bar"/>
          <p:cNvSpPr/>
          <p:nvPr/>
        </p:nvSpPr>
        <p:spPr>
          <a:xfrm>
            <a:off x="609600" y="5207000"/>
            <a:ext cx="63500" cy="939800"/>
          </a:xfrm>
          <a:prstGeom prst="rect">
            <a:avLst/>
          </a:prstGeom>
          <a:solidFill>
            <a:srgbClr val="BF3E05"/>
          </a:solidFill>
          <a:ln>
            <a:noFill/>
          </a:ln>
        </p:spPr>
      </p:sp>
      <p:sp>
        <p:nvSpPr>
          <p:cNvPr id="11" name="write-note"/>
          <p:cNvSpPr/>
          <p:nvPr/>
        </p:nvSpPr>
        <p:spPr>
          <a:xfrm>
            <a:off x="889000" y="5359400"/>
            <a:ext cx="10515600" cy="635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Use your own words and </a:t>
            </a:r>
            <a:r>
              <a:rPr lang="en-US" sz="1550" b="1" i="0" dirty="0">
                <a:solidFill>
                  <a:srgbClr val="111827"/>
                </a:solidFill>
                <a:latin typeface="Helvetica Neue"/>
                <a:ea typeface="Helvetica Neue"/>
                <a:cs typeface="Helvetica Neue"/>
              </a:rPr>
              <a:t>label your prediction</a:t>
            </a:r>
            <a:r>
              <a:rPr lang="en-US" sz="1550" b="0" i="0" dirty="0">
                <a:solidFill>
                  <a:srgbClr val="111827"/>
                </a:solidFill>
                <a:latin typeface="Helvetica Neue"/>
                <a:ea typeface="Helvetica Neue"/>
                <a:cs typeface="Helvetica Neue"/>
              </a:rPr>
              <a:t>. Double-click a text cell to edit it. This writing becomes the start of </a:t>
            </a:r>
            <a:r>
              <a:rPr lang="en-US" sz="1550" b="1" i="0" dirty="0">
                <a:solidFill>
                  <a:srgbClr val="111827"/>
                </a:solidFill>
                <a:latin typeface="Helvetica Neue"/>
                <a:ea typeface="Helvetica Neue"/>
                <a:cs typeface="Helvetica Neue"/>
              </a:rPr>
              <a:t>Part 4</a:t>
            </a:r>
            <a:r>
              <a:rPr lang="en-US" sz="1550" b="0" i="0" dirty="0">
                <a:solidFill>
                  <a:srgbClr val="111827"/>
                </a:solidFill>
                <a:latin typeface="Helvetica Neue"/>
                <a:ea typeface="Helvetica Neue"/>
                <a:cs typeface="Helvetica Neue"/>
              </a:rPr>
              <a:t> in your midterm README.</a:t>
            </a:r>
            <a:endParaRPr lang="en-US" sz="15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4: Check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22</a:t>
            </a:r>
            <a:endParaRPr lang="en-US" sz="900" dirty="0"/>
          </a:p>
        </p:txBody>
      </p:sp>
      <p:sp>
        <p:nvSpPr>
          <p:cNvPr id="7" name="step4-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MINUTES  ·  MINUTES 90 TO 95</a:t>
            </a:r>
            <a:endParaRPr lang="en-US" sz="1200" dirty="0"/>
          </a:p>
        </p:txBody>
      </p:sp>
      <p:sp>
        <p:nvSpPr>
          <p:cNvPr id="8" name="checklist"/>
          <p:cNvSpPr/>
          <p:nvPr/>
        </p:nvSpPr>
        <p:spPr>
          <a:xfrm>
            <a:off x="609600" y="1854200"/>
            <a:ext cx="5588000" cy="3810000"/>
          </a:xfrm>
          <a:prstGeom prst="rect">
            <a:avLst/>
          </a:prstGeom>
          <a:noFill/>
          <a:ln>
            <a:noFill/>
          </a:ln>
        </p:spPr>
        <p:txBody>
          <a:bodyPr wrap="square" lIns="0" tIns="0" rIns="0" bIns="0" anchor="t" rtlCol="0">
            <a:noAutofit/>
          </a:bodyPr>
          <a:lstStyle/>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Every row of the observation table comes from </a:t>
            </a:r>
            <a:r>
              <a:rPr lang="en-US" sz="1600" b="1" i="0" dirty="0">
                <a:solidFill>
                  <a:srgbClr val="111827"/>
                </a:solidFill>
                <a:latin typeface="Helvetica Neue"/>
                <a:ea typeface="Helvetica Neue"/>
                <a:cs typeface="Helvetica Neue"/>
              </a:rPr>
              <a:t>your own outputs</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Cells A, B, and C replace the prompts: </a:t>
            </a:r>
            <a:r>
              <a:rPr lang="en-US" sz="1600" b="1" i="0" dirty="0">
                <a:solidFill>
                  <a:srgbClr val="111827"/>
                </a:solidFill>
                <a:latin typeface="Helvetica Neue"/>
                <a:ea typeface="Helvetica Neue"/>
                <a:cs typeface="Helvetica Neue"/>
              </a:rPr>
              <a:t>180–250 words</a:t>
            </a:r>
            <a:r>
              <a:rPr lang="en-US" sz="1600" b="0" i="0" dirty="0">
                <a:solidFill>
                  <a:srgbClr val="111827"/>
                </a:solidFill>
                <a:latin typeface="Helvetica Neue"/>
                <a:ea typeface="Helvetica Neue"/>
                <a:cs typeface="Helvetica Neue"/>
              </a:rPr>
              <a:t> in total</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Both </a:t>
            </a:r>
            <a:r>
              <a:rPr lang="en-US" sz="1600" b="1" i="0" dirty="0">
                <a:solidFill>
                  <a:srgbClr val="111827"/>
                </a:solidFill>
                <a:latin typeface="Helvetica Neue"/>
                <a:ea typeface="Helvetica Neue"/>
                <a:cs typeface="Helvetica Neue"/>
              </a:rPr>
              <a:t>source links</a:t>
            </a:r>
            <a:r>
              <a:rPr lang="en-US" sz="1600" b="0" i="0" dirty="0">
                <a:solidFill>
                  <a:srgbClr val="111827"/>
                </a:solidFill>
                <a:latin typeface="Helvetica Neue"/>
                <a:ea typeface="Helvetica Neue"/>
                <a:cs typeface="Helvetica Neue"/>
              </a:rPr>
              <a:t> are still there</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Every observation matches an </a:t>
            </a:r>
            <a:r>
              <a:rPr lang="en-US" sz="1600" b="1" i="0" dirty="0">
                <a:solidFill>
                  <a:srgbClr val="111827"/>
                </a:solidFill>
                <a:latin typeface="Helvetica Neue"/>
                <a:ea typeface="Helvetica Neue"/>
                <a:cs typeface="Helvetica Neue"/>
              </a:rPr>
              <a:t>output above it</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Your expected test result is labeled a </a:t>
            </a:r>
            <a:r>
              <a:rPr lang="en-US" sz="1600" b="1" i="0" dirty="0">
                <a:solidFill>
                  <a:srgbClr val="111827"/>
                </a:solidFill>
                <a:latin typeface="Helvetica Neue"/>
                <a:ea typeface="Helvetica Neue"/>
                <a:cs typeface="Helvetica Neue"/>
              </a:rPr>
              <a:t>prediction</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If a cell failed, </a:t>
            </a:r>
            <a:r>
              <a:rPr lang="en-US" sz="1600" b="1" i="0" dirty="0">
                <a:solidFill>
                  <a:srgbClr val="111827"/>
                </a:solidFill>
                <a:latin typeface="Helvetica Neue"/>
                <a:ea typeface="Helvetica Neue"/>
                <a:cs typeface="Helvetica Neue"/>
              </a:rPr>
              <a:t>say so</a:t>
            </a:r>
            <a:r>
              <a:rPr lang="en-US" sz="1600" b="0" i="0" dirty="0">
                <a:solidFill>
                  <a:srgbClr val="111827"/>
                </a:solidFill>
                <a:latin typeface="Helvetica Neue"/>
                <a:ea typeface="Helvetica Neue"/>
                <a:cs typeface="Helvetica Neue"/>
              </a:rPr>
              <a:t>. Never invent an observation.</a:t>
            </a:r>
            <a:endParaRPr lang="en-US" sz="1600" dirty="0"/>
          </a:p>
        </p:txBody>
      </p:sp>
      <p:sp>
        <p:nvSpPr>
          <p:cNvPr id="9" name="look-for-box"/>
          <p:cNvSpPr/>
          <p:nvPr/>
        </p:nvSpPr>
        <p:spPr>
          <a:xfrm>
            <a:off x="6502400" y="1828800"/>
            <a:ext cx="5080000" cy="3048000"/>
          </a:xfrm>
          <a:prstGeom prst="rect">
            <a:avLst/>
          </a:prstGeom>
          <a:solidFill>
            <a:srgbClr val="FFF4EC"/>
          </a:solidFill>
          <a:ln>
            <a:noFill/>
          </a:ln>
        </p:spPr>
      </p:sp>
      <p:sp>
        <p:nvSpPr>
          <p:cNvPr id="10" name="look-for-bar"/>
          <p:cNvSpPr/>
          <p:nvPr/>
        </p:nvSpPr>
        <p:spPr>
          <a:xfrm>
            <a:off x="6502400" y="1828800"/>
            <a:ext cx="63500" cy="3048000"/>
          </a:xfrm>
          <a:prstGeom prst="rect">
            <a:avLst/>
          </a:prstGeom>
          <a:solidFill>
            <a:srgbClr val="BF3E05"/>
          </a:solidFill>
          <a:ln>
            <a:noFill/>
          </a:ln>
        </p:spPr>
      </p:sp>
      <p:sp>
        <p:nvSpPr>
          <p:cNvPr id="11" name="look-for"/>
          <p:cNvSpPr/>
          <p:nvPr/>
        </p:nvSpPr>
        <p:spPr>
          <a:xfrm>
            <a:off x="6781800" y="1981200"/>
            <a:ext cx="4622800" cy="2743200"/>
          </a:xfrm>
          <a:prstGeom prst="rect">
            <a:avLst/>
          </a:prstGeom>
          <a:noFill/>
          <a:ln>
            <a:noFill/>
          </a:ln>
        </p:spPr>
        <p:txBody>
          <a:bodyPr wrap="square" lIns="0" tIns="0" rIns="0" bIns="0" anchor="t" rtlCol="0">
            <a:noAutofit/>
          </a:bodyPr>
          <a:lstStyle/>
          <a:p>
            <a:pPr algn="l">
              <a:spcAft>
                <a:spcPts val="1000"/>
              </a:spcAft>
              <a:buNone/>
            </a:pPr>
            <a:r>
              <a:rPr lang="en-US" sz="1700" b="1" i="0" dirty="0">
                <a:solidFill>
                  <a:srgbClr val="BF3E05"/>
                </a:solidFill>
                <a:latin typeface="Helvetica Neue"/>
                <a:ea typeface="Helvetica Neue"/>
                <a:cs typeface="Helvetica Neue"/>
              </a:rPr>
              <a:t>What I look for</a:t>
            </a:r>
            <a:endParaRPr lang="en-US" sz="170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Accurate observations</a:t>
            </a:r>
            <a:endParaRPr lang="en-US" sz="155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 connection between the two sources and this dataset</a:t>
            </a:r>
            <a:endParaRPr lang="en-US" sz="155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 test that compares the same query and results</a:t>
            </a:r>
            <a:endParaRPr lang="en-US" sz="1550" dirty="0"/>
          </a:p>
          <a:p>
            <a:pPr algn="l" marL="228600" indent="-228600">
              <a:buClr>
                <a:srgbClr val="BF3E05"/>
              </a:buClr>
              <a:buFont typeface="Arial"/>
              <a:buChar char="•"/>
            </a:pPr>
            <a:r>
              <a:rPr lang="en-US" sz="1550" b="0" i="0" dirty="0">
                <a:solidFill>
                  <a:srgbClr val="111827"/>
                </a:solidFill>
                <a:latin typeface="Helvetica Neue"/>
                <a:ea typeface="Helvetica Neue"/>
                <a:cs typeface="Helvetica Neue"/>
              </a:rPr>
              <a:t>A clear line between what you observed and what you predict</a:t>
            </a:r>
            <a:endParaRPr lang="en-US" sz="15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Save, share, and submit your link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23</a:t>
            </a:r>
            <a:endParaRPr lang="en-US" sz="900" dirty="0"/>
          </a:p>
        </p:txBody>
      </p:sp>
      <p:sp>
        <p:nvSpPr>
          <p:cNvPr id="7" name="submit-badge-1"/>
          <p:cNvSpPr/>
          <p:nvPr/>
        </p:nvSpPr>
        <p:spPr>
          <a:xfrm>
            <a:off x="609600" y="16002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1</a:t>
            </a:r>
            <a:endParaRPr lang="en-US" sz="1600" dirty="0"/>
          </a:p>
        </p:txBody>
      </p:sp>
      <p:sp>
        <p:nvSpPr>
          <p:cNvPr id="8" name="submit-1"/>
          <p:cNvSpPr/>
          <p:nvPr/>
        </p:nvSpPr>
        <p:spPr>
          <a:xfrm>
            <a:off x="1244600" y="16510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Run every cell, then </a:t>
            </a:r>
            <a:r>
              <a:rPr lang="en-US" sz="1900" b="1" i="0" dirty="0">
                <a:solidFill>
                  <a:srgbClr val="111827"/>
                </a:solidFill>
                <a:latin typeface="Helvetica Neue"/>
                <a:ea typeface="Helvetica Neue"/>
                <a:cs typeface="Helvetica Neue"/>
              </a:rPr>
              <a:t>File &gt; Save</a:t>
            </a:r>
            <a:r>
              <a:rPr lang="en-US" sz="1900" b="0" i="0" dirty="0">
                <a:solidFill>
                  <a:srgbClr val="111827"/>
                </a:solidFill>
                <a:latin typeface="Helvetica Neue"/>
                <a:ea typeface="Helvetica Neue"/>
                <a:cs typeface="Helvetica Neue"/>
              </a:rPr>
              <a:t>.</a:t>
            </a:r>
            <a:endParaRPr lang="en-US" sz="1900" dirty="0"/>
          </a:p>
        </p:txBody>
      </p:sp>
      <p:sp>
        <p:nvSpPr>
          <p:cNvPr id="9" name="submit-badge-2"/>
          <p:cNvSpPr/>
          <p:nvPr/>
        </p:nvSpPr>
        <p:spPr>
          <a:xfrm>
            <a:off x="609600" y="23114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2</a:t>
            </a:r>
            <a:endParaRPr lang="en-US" sz="1600" dirty="0"/>
          </a:p>
        </p:txBody>
      </p:sp>
      <p:sp>
        <p:nvSpPr>
          <p:cNvPr id="10" name="submit-2"/>
          <p:cNvSpPr/>
          <p:nvPr/>
        </p:nvSpPr>
        <p:spPr>
          <a:xfrm>
            <a:off x="1244600" y="23622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Share</a:t>
            </a:r>
            <a:r>
              <a:rPr lang="en-US" sz="1900" b="0" i="0" dirty="0">
                <a:solidFill>
                  <a:srgbClr val="111827"/>
                </a:solidFill>
                <a:latin typeface="Helvetica Neue"/>
                <a:ea typeface="Helvetica Neue"/>
                <a:cs typeface="Helvetica Neue"/>
              </a:rPr>
              <a:t>: give the instructor viewer access.</a:t>
            </a:r>
            <a:endParaRPr lang="en-US" sz="1900" dirty="0"/>
          </a:p>
        </p:txBody>
      </p:sp>
      <p:sp>
        <p:nvSpPr>
          <p:cNvPr id="11" name="submit-badge-3"/>
          <p:cNvSpPr/>
          <p:nvPr/>
        </p:nvSpPr>
        <p:spPr>
          <a:xfrm>
            <a:off x="609600" y="30226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3</a:t>
            </a:r>
            <a:endParaRPr lang="en-US" sz="1600" dirty="0"/>
          </a:p>
        </p:txBody>
      </p:sp>
      <p:sp>
        <p:nvSpPr>
          <p:cNvPr id="12" name="submit-3"/>
          <p:cNvSpPr/>
          <p:nvPr/>
        </p:nvSpPr>
        <p:spPr>
          <a:xfrm>
            <a:off x="1244600" y="30734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Copy the link.</a:t>
            </a:r>
            <a:endParaRPr lang="en-US" sz="1900" dirty="0"/>
          </a:p>
        </p:txBody>
      </p:sp>
      <p:sp>
        <p:nvSpPr>
          <p:cNvPr id="13" name="submit-badge-4"/>
          <p:cNvSpPr/>
          <p:nvPr/>
        </p:nvSpPr>
        <p:spPr>
          <a:xfrm>
            <a:off x="609600" y="37338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4</a:t>
            </a:r>
            <a:endParaRPr lang="en-US" sz="1600" dirty="0"/>
          </a:p>
        </p:txBody>
      </p:sp>
      <p:sp>
        <p:nvSpPr>
          <p:cNvPr id="14" name="submit-4"/>
          <p:cNvSpPr/>
          <p:nvPr/>
        </p:nvSpPr>
        <p:spPr>
          <a:xfrm>
            <a:off x="1244600" y="37846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Paste it into </a:t>
            </a:r>
            <a:r>
              <a:rPr lang="en-US" sz="1900" b="1" i="0" dirty="0">
                <a:solidFill>
                  <a:srgbClr val="111827"/>
                </a:solidFill>
                <a:latin typeface="Helvetica Neue"/>
                <a:ea typeface="Helvetica Neue"/>
                <a:cs typeface="Helvetica Neue"/>
              </a:rPr>
              <a:t>today's classwork assignment</a:t>
            </a:r>
            <a:r>
              <a:rPr lang="en-US" sz="1900" b="0" i="0" dirty="0">
                <a:solidFill>
                  <a:srgbClr val="111827"/>
                </a:solidFill>
                <a:latin typeface="Helvetica Neue"/>
                <a:ea typeface="Helvetica Neue"/>
                <a:cs typeface="Helvetica Neue"/>
              </a:rPr>
              <a:t> in Brightspace.</a:t>
            </a:r>
            <a:endParaRPr lang="en-US" sz="1900" dirty="0"/>
          </a:p>
        </p:txBody>
      </p:sp>
      <p:sp>
        <p:nvSpPr>
          <p:cNvPr id="15" name="saved-copy-box"/>
          <p:cNvSpPr/>
          <p:nvPr/>
        </p:nvSpPr>
        <p:spPr>
          <a:xfrm>
            <a:off x="609600" y="4648200"/>
            <a:ext cx="10972800" cy="812800"/>
          </a:xfrm>
          <a:prstGeom prst="rect">
            <a:avLst/>
          </a:prstGeom>
          <a:solidFill>
            <a:srgbClr val="FFF4EC"/>
          </a:solidFill>
          <a:ln>
            <a:noFill/>
          </a:ln>
        </p:spPr>
      </p:sp>
      <p:sp>
        <p:nvSpPr>
          <p:cNvPr id="16" name="saved-copy-bar"/>
          <p:cNvSpPr/>
          <p:nvPr/>
        </p:nvSpPr>
        <p:spPr>
          <a:xfrm>
            <a:off x="609600" y="4648200"/>
            <a:ext cx="63500" cy="812800"/>
          </a:xfrm>
          <a:prstGeom prst="rect">
            <a:avLst/>
          </a:prstGeom>
          <a:solidFill>
            <a:srgbClr val="BF3E05"/>
          </a:solidFill>
          <a:ln>
            <a:noFill/>
          </a:ln>
        </p:spPr>
      </p:sp>
      <p:sp>
        <p:nvSpPr>
          <p:cNvPr id="17" name="saved-copy"/>
          <p:cNvSpPr/>
          <p:nvPr/>
        </p:nvSpPr>
        <p:spPr>
          <a:xfrm>
            <a:off x="889000" y="4800600"/>
            <a:ext cx="10515600" cy="5080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Submit </a:t>
            </a:r>
            <a:r>
              <a:rPr lang="en-US" sz="1650" b="1" i="0" dirty="0">
                <a:solidFill>
                  <a:srgbClr val="111827"/>
                </a:solidFill>
                <a:latin typeface="Helvetica Neue"/>
                <a:ea typeface="Helvetica Neue"/>
                <a:cs typeface="Helvetica Neue"/>
              </a:rPr>
              <a:t>your saved copy's link</a:t>
            </a:r>
            <a:r>
              <a:rPr lang="en-US" sz="1650" b="0" i="0" dirty="0">
                <a:solidFill>
                  <a:srgbClr val="111827"/>
                </a:solidFill>
                <a:latin typeface="Helvetica Neue"/>
                <a:ea typeface="Helvetica Neue"/>
                <a:cs typeface="Helvetica Neue"/>
              </a:rPr>
              <a:t>, not the starter's GitHub or Colab link. No file upload or screenshots.</a:t>
            </a:r>
            <a:endParaRPr lang="en-US" sz="1650" dirty="0"/>
          </a:p>
        </p:txBody>
      </p:sp>
      <p:sp>
        <p:nvSpPr>
          <p:cNvPr id="18" name="next-week"/>
          <p:cNvSpPr/>
          <p:nvPr/>
        </p:nvSpPr>
        <p:spPr>
          <a:xfrm>
            <a:off x="609600" y="5740400"/>
            <a:ext cx="10972800" cy="304800"/>
          </a:xfrm>
          <a:prstGeom prst="rect">
            <a:avLst/>
          </a:prstGeom>
          <a:noFill/>
          <a:ln>
            <a:noFill/>
          </a:ln>
        </p:spPr>
        <p:txBody>
          <a:bodyPr wrap="square" lIns="0" tIns="0" rIns="0" bIns="0" anchor="t" rtlCol="0">
            <a:noAutofit/>
          </a:bodyPr>
          <a:lstStyle/>
          <a:p>
            <a:pPr algn="l">
              <a:buNone/>
            </a:pPr>
            <a:r>
              <a:rPr lang="en-US" sz="1600" b="0" i="0" dirty="0">
                <a:solidFill>
                  <a:srgbClr val="64748B"/>
                </a:solidFill>
                <a:latin typeface="Helvetica Neue"/>
                <a:ea typeface="Helvetica Neue"/>
                <a:cs typeface="Helvetica Neue"/>
              </a:rPr>
              <a:t>Next week: backup and restore, then the midterm clinic.</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07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24</a:t>
            </a:r>
          </a:p>
        </p:txBody>
      </p:sp>
      <p:pic>
        <p:nvPicPr>
          <p:cNvPr id="7" name="video-thumb-1" descr="01_index_usefulness.png">
            <a:hlinkClick r:id="rId3"/>
          </p:cNvPr>
          <p:cNvPicPr>
            <a:picLocks noChangeAspect="1"/>
          </p:cNvPicPr>
          <p:nvPr/>
        </p:nvPicPr>
        <p:blipFill>
          <a:blip r:embed="rId2"/>
          <a:stretch>
            <a:fillRect/>
          </a:stretch>
        </p:blipFill>
        <p:spPr>
          <a:xfrm>
            <a:off x="1441200" y="1480000"/>
            <a:ext cx="2900000" cy="1631250"/>
          </a:xfrm>
          <a:prstGeom prst="rect">
            <a:avLst/>
          </a:prstGeom>
          <a:ln>
            <a:solidFill>
              <a:srgbClr val="CBD5E1"/>
            </a:solidFill>
          </a:ln>
        </p:spPr>
      </p:pic>
      <p:sp>
        <p:nvSpPr>
          <p:cNvPr id="8" name="video-title-1"/>
          <p:cNvSpPr txBox="1"/>
          <p:nvPr/>
        </p:nvSpPr>
        <p:spPr>
          <a:xfrm>
            <a:off x="1441200" y="319125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3"/>
              </a:rPr>
              <a:t>▶ When does an index help?  (1:44)</a:t>
            </a:r>
          </a:p>
        </p:txBody>
      </p:sp>
      <p:pic>
        <p:nvPicPr>
          <p:cNvPr id="9" name="video-thumb-2" descr="02_reading_a_query_plan.png">
            <a:hlinkClick r:id="rId5"/>
          </p:cNvPr>
          <p:cNvPicPr>
            <a:picLocks noChangeAspect="1"/>
          </p:cNvPicPr>
          <p:nvPr/>
        </p:nvPicPr>
        <p:blipFill>
          <a:blip r:embed="rId4"/>
          <a:stretch>
            <a:fillRect/>
          </a:stretch>
        </p:blipFill>
        <p:spPr>
          <a:xfrm>
            <a:off x="4646000" y="1480000"/>
            <a:ext cx="2900000" cy="1631250"/>
          </a:xfrm>
          <a:prstGeom prst="rect">
            <a:avLst/>
          </a:prstGeom>
          <a:ln>
            <a:solidFill>
              <a:srgbClr val="CBD5E1"/>
            </a:solidFill>
          </a:ln>
        </p:spPr>
      </p:pic>
      <p:sp>
        <p:nvSpPr>
          <p:cNvPr id="10" name="video-title-2"/>
          <p:cNvSpPr txBox="1"/>
          <p:nvPr/>
        </p:nvSpPr>
        <p:spPr>
          <a:xfrm>
            <a:off x="4646000" y="319125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5"/>
              </a:rPr>
              <a:t>▶ Reading a query plan  (0:55)</a:t>
            </a:r>
          </a:p>
        </p:txBody>
      </p:sp>
      <p:pic>
        <p:nvPicPr>
          <p:cNvPr id="11" name="video-thumb-3" descr="03_selectivity.png">
            <a:hlinkClick r:id="rId7"/>
          </p:cNvPr>
          <p:cNvPicPr>
            <a:picLocks noChangeAspect="1"/>
          </p:cNvPicPr>
          <p:nvPr/>
        </p:nvPicPr>
        <p:blipFill>
          <a:blip r:embed="rId6"/>
          <a:stretch>
            <a:fillRect/>
          </a:stretch>
        </p:blipFill>
        <p:spPr>
          <a:xfrm>
            <a:off x="7850800" y="1480000"/>
            <a:ext cx="2900000" cy="1631250"/>
          </a:xfrm>
          <a:prstGeom prst="rect">
            <a:avLst/>
          </a:prstGeom>
          <a:ln>
            <a:solidFill>
              <a:srgbClr val="CBD5E1"/>
            </a:solidFill>
          </a:ln>
        </p:spPr>
      </p:pic>
      <p:sp>
        <p:nvSpPr>
          <p:cNvPr id="12" name="video-title-3"/>
          <p:cNvSpPr txBox="1"/>
          <p:nvPr/>
        </p:nvSpPr>
        <p:spPr>
          <a:xfrm>
            <a:off x="7850800" y="319125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7"/>
              </a:rPr>
              <a:t>▶ Selectivity: why a Seq Scan can beat an index  (1:07)</a:t>
            </a:r>
          </a:p>
        </p:txBody>
      </p:sp>
      <p:pic>
        <p:nvPicPr>
          <p:cNvPr id="13" name="video-thumb-4" descr="04_btree_index.png">
            <a:hlinkClick r:id="rId9"/>
          </p:cNvPr>
          <p:cNvPicPr>
            <a:picLocks noChangeAspect="1"/>
          </p:cNvPicPr>
          <p:nvPr/>
        </p:nvPicPr>
        <p:blipFill>
          <a:blip r:embed="rId8"/>
          <a:stretch>
            <a:fillRect/>
          </a:stretch>
        </p:blipFill>
        <p:spPr>
          <a:xfrm>
            <a:off x="1441200" y="3751250"/>
            <a:ext cx="2900000" cy="1631250"/>
          </a:xfrm>
          <a:prstGeom prst="rect">
            <a:avLst/>
          </a:prstGeom>
          <a:ln>
            <a:solidFill>
              <a:srgbClr val="CBD5E1"/>
            </a:solidFill>
          </a:ln>
        </p:spPr>
      </p:pic>
      <p:sp>
        <p:nvSpPr>
          <p:cNvPr id="14" name="video-title-4"/>
          <p:cNvSpPr txBox="1"/>
          <p:nvPr/>
        </p:nvSpPr>
        <p:spPr>
          <a:xfrm>
            <a:off x="1441200" y="546250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9"/>
              </a:rPr>
              <a:t>▶ How a B-tree index finds rows  (0:58)</a:t>
            </a:r>
          </a:p>
        </p:txBody>
      </p:sp>
      <p:pic>
        <p:nvPicPr>
          <p:cNvPr id="15" name="video-thumb-5" descr="05_composite_index.png">
            <a:hlinkClick r:id="rId11"/>
          </p:cNvPr>
          <p:cNvPicPr>
            <a:picLocks noChangeAspect="1"/>
          </p:cNvPicPr>
          <p:nvPr/>
        </p:nvPicPr>
        <p:blipFill>
          <a:blip r:embed="rId10"/>
          <a:stretch>
            <a:fillRect/>
          </a:stretch>
        </p:blipFill>
        <p:spPr>
          <a:xfrm>
            <a:off x="4646000" y="3751250"/>
            <a:ext cx="2900000" cy="1631250"/>
          </a:xfrm>
          <a:prstGeom prst="rect">
            <a:avLst/>
          </a:prstGeom>
          <a:ln>
            <a:solidFill>
              <a:srgbClr val="CBD5E1"/>
            </a:solidFill>
          </a:ln>
        </p:spPr>
      </p:pic>
      <p:sp>
        <p:nvSpPr>
          <p:cNvPr id="16" name="video-title-5"/>
          <p:cNvSpPr txBox="1"/>
          <p:nvPr/>
        </p:nvSpPr>
        <p:spPr>
          <a:xfrm>
            <a:off x="4646000" y="546250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11"/>
              </a:rPr>
              <a:t>▶ Composite indexes: column order matters  (1:08)</a:t>
            </a:r>
          </a:p>
        </p:txBody>
      </p:sp>
      <p:pic>
        <p:nvPicPr>
          <p:cNvPr id="17" name="video-thumb-6" descr="06_index_experiment.png">
            <a:hlinkClick r:id="rId13"/>
          </p:cNvPr>
          <p:cNvPicPr>
            <a:picLocks noChangeAspect="1"/>
          </p:cNvPicPr>
          <p:nvPr/>
        </p:nvPicPr>
        <p:blipFill>
          <a:blip r:embed="rId12"/>
          <a:stretch>
            <a:fillRect/>
          </a:stretch>
        </p:blipFill>
        <p:spPr>
          <a:xfrm>
            <a:off x="7850800" y="3751250"/>
            <a:ext cx="2900000" cy="1631250"/>
          </a:xfrm>
          <a:prstGeom prst="rect">
            <a:avLst/>
          </a:prstGeom>
          <a:ln>
            <a:solidFill>
              <a:srgbClr val="CBD5E1"/>
            </a:solidFill>
          </a:ln>
        </p:spPr>
      </p:pic>
      <p:sp>
        <p:nvSpPr>
          <p:cNvPr id="18" name="video-title-6"/>
          <p:cNvSpPr txBox="1"/>
          <p:nvPr/>
        </p:nvSpPr>
        <p:spPr>
          <a:xfrm>
            <a:off x="7850800" y="546250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13"/>
              </a:rPr>
              <a:t>▶ Testing an index hypothesis  (1:03)</a:t>
            </a:r>
          </a:p>
        </p:txBody>
      </p:sp>
      <p:sp>
        <p:nvSpPr>
          <p:cNvPr id="19" name="videos-note"/>
          <p:cNvSpPr txBox="1"/>
          <p:nvPr/>
        </p:nvSpPr>
        <p:spPr>
          <a:xfrm>
            <a:off x="609600" y="60225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5</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7: Midterm Explanation and Preliminary Research</dc:title>
  <dcterms:created xsi:type="dcterms:W3CDTF">2026-09-07T18:54:55.3720000Z</dcterms:created>
  <dcterms:modified xsi:type="dcterms:W3CDTF">2026-10-16T01:34:11Z</dcterms:modified>
  <dc:language>en-US</dc:language>
  <cp:contentStatus>Draft</cp:contentStatus>
  <dc:description>CST4714 course teaching draft. AI-assisted preparation is documented in the private fellowship quality record.</dc:description>
</cp:coreProperties>
</file>