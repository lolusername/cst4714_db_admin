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Week 5. Today we focus on transactional correctness and concurrency behavior.</a:t>
            </a:r>
          </a:p>
          <a:p>
            <a:r>
              <a:t>This is where database systems stop feeling like simple tables and start feeling like real multi-user systems.</a:t>
            </a:r>
          </a:p>
          <a:p>
            <a:r>
              <a:t>Our objective is not abstract theory alone. Our objective is practical control over correctness under concurrent activity.</a:t>
            </a:r>
          </a:p>
          <a:p>
            <a:r>
              <a:t>We will cover transaction boundaries, isolation levels, locking symptoms, and how to diagnose and respond in Supabase.</a:t>
            </a:r>
          </a:p>
          <a:p>
            <a:r>
              <a:t>By the end of class, everyone can explain why a query can be correct alone but unsafe under concurrency.</a:t>
            </a:r>
          </a:p>
          <a:p>
            <a:r>
              <a:t>This is one of the most important professional concepts in database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5 matters because concurrency failures are costly and often misunderstood.</a:t>
            </a:r>
          </a:p>
          <a:p>
            <a:r>
              <a:t>An application can pass unit tests and still fail in production under simultaneous writes.</a:t>
            </a:r>
          </a:p>
          <a:p>
            <a:r>
              <a:t>Transactions and isolation rules are the tools that keep business invariants intact.</a:t>
            </a:r>
          </a:p>
          <a:p>
            <a:r>
              <a:t>When we understand locking behavior, we stop guessing during incidents.</a:t>
            </a:r>
          </a:p>
          <a:p>
            <a:r>
              <a:t>This week gives a practical framework you can apply immediately in Supabase and in any Postgres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outcomes define success today.</a:t>
            </a:r>
          </a:p>
          <a:p>
            <a:r>
              <a:t>You will explain what a transaction guarantees and what it does not guarantee.</a:t>
            </a:r>
          </a:p>
          <a:p>
            <a:r>
              <a:t>You will choose isolation with intent, not default habit.</a:t>
            </a:r>
          </a:p>
          <a:p>
            <a:r>
              <a:t>You will inspect lock symptoms with metadata and act with minimal risk.</a:t>
            </a:r>
          </a:p>
          <a:p>
            <a:r>
              <a:t>You will complete a practical lab that demonstrates both failure mode and correction.</a:t>
            </a:r>
          </a:p>
          <a:p>
            <a:r>
              <a:t>This combination of theory and execution is exactly what real operations work demands.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class runs for one hour and forty minutes with controlled pacing.</a:t>
            </a:r>
          </a:p>
          <a:p>
            <a:r>
              <a:t>We start with core concepts, then move quickly into practical diagnosis and response.</a:t>
            </a:r>
          </a:p>
          <a:p>
            <a:r>
              <a:t>The middle section focuses on isolation behavior because that is where confusion usually starts.</a:t>
            </a:r>
          </a:p>
          <a:p>
            <a:r>
              <a:t>The later section maps these concepts to Supabase operations, logs, and workflow.</a:t>
            </a:r>
          </a:p>
          <a:p>
            <a:r>
              <a:t>We end with a guided lab start and a short reading response so learning is immediately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week we focused on structure.</a:t>
            </a:r>
          </a:p>
          <a:p>
            <a:r>
              <a:t>This week we focus on behavior over time with simultaneous activity.</a:t>
            </a:r>
          </a:p>
          <a:p>
            <a:r>
              <a:t>A schema can be perfect and still produce bad outcomes if concurrent writes are unmanaged.</a:t>
            </a:r>
          </a:p>
          <a:p>
            <a:r>
              <a:t>So today we extend the same discipline: plan, execute, verify, and observe.</a:t>
            </a:r>
          </a:p>
          <a:p>
            <a:r>
              <a:t>The difference is that we now reason about interleavings, locks, and isolation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mental model for every concurrency question.</a:t>
            </a:r>
          </a:p>
          <a:p>
            <a:r>
              <a:t>A transaction is not just a command group; it is a correctness boundary.</a:t>
            </a:r>
          </a:p>
          <a:p>
            <a:r>
              <a:t>In production, many boundaries overlap.</a:t>
            </a:r>
          </a:p>
          <a:p>
            <a:r>
              <a:t>Isolation level and locking rules determine whether overlap is safe.</a:t>
            </a:r>
          </a:p>
          <a:p>
            <a:r>
              <a:t>Our job is to make sure overlap preserves business invariants, not just SQL validity.</a:t>
            </a:r>
          </a:p>
          <a:p>
            <a:r>
              <a:t>This framing keeps decisions clear when incidents occur.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section we make transaction behavior concrete.</a:t>
            </a:r>
          </a:p>
          <a:p>
            <a:r>
              <a:t>We will cover begin, commit, rollback, savepoints, and common operator mistakes.</a:t>
            </a:r>
          </a:p>
          <a:p>
            <a:r>
              <a:t>The focus is practical reliability, not memorizing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ACID is not vocabulary trivia. It is operational design language.</a:t>
            </a:r>
          </a:p>
          <a:p>
            <a:r>
              <a:t>Atomicity prevents partial business actions.</a:t>
            </a:r>
          </a:p>
          <a:p>
            <a:r>
              <a:t>Consistency keeps invariant rules intact.</a:t>
            </a:r>
          </a:p>
          <a:p>
            <a:r>
              <a:t>Isolation prevents unsafe overlap effects.</a:t>
            </a:r>
          </a:p>
          <a:p>
            <a:r>
              <a:t>Durability ensures committed work survives failures.</a:t>
            </a:r>
          </a:p>
          <a:p>
            <a:r>
              <a:t>When discussing incidents, identify which ACID property failed or was misapplied.</a:t>
            </a:r>
          </a:p>
          <a:p>
            <a:r>
              <a:t>That improves root-cause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Autocommit is fine for single independent updates.</a:t>
            </a:r>
          </a:p>
          <a:p>
            <a:r>
              <a:t>Multi-step business operations should usually run in explicit transaction blocks.</a:t>
            </a:r>
          </a:p>
          <a:p>
            <a:r>
              <a:t>If you update balance, ledger, and status together, those changes belong in one atomic unit.</a:t>
            </a:r>
          </a:p>
          <a:p>
            <a:r>
              <a:t>At the same time, long transaction scope increases lock and contention risk.</a:t>
            </a:r>
          </a:p>
          <a:p>
            <a:r>
              <a:t>So the rule is: use explicit transactions when needed, and keep them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command pattern.</a:t>
            </a:r>
          </a:p>
          <a:p>
            <a:r>
              <a:t>Begin starts the unit, commit finalizes it, rollback cancels it.</a:t>
            </a:r>
          </a:p>
          <a:p>
            <a:r>
              <a:t>During failure handling, do not assume implicit cleanup in every tool context.</a:t>
            </a:r>
          </a:p>
          <a:p>
            <a:r>
              <a:t>Issue explicit rollback when a transaction becomes invalid.</a:t>
            </a:r>
          </a:p>
          <a:p>
            <a:r>
              <a:t>After transaction end, run verification queries.</a:t>
            </a:r>
          </a:p>
          <a:p>
            <a:r>
              <a:t>Reliable operations always confirm final state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Savepoints are useful when a long logical unit has recoverable parts.</a:t>
            </a:r>
          </a:p>
          <a:p>
            <a:r>
              <a:t>You can rollback a failing subsection while preserving earlier valid steps.</a:t>
            </a:r>
          </a:p>
          <a:p>
            <a:r>
              <a:t>This pattern helps in data cleanup and batch correction workflows.</a:t>
            </a:r>
          </a:p>
          <a:p>
            <a:r>
              <a:t>It is not a replacement for good transaction design, but it is a powerful tool.</a:t>
            </a:r>
          </a:p>
          <a:p>
            <a:r>
              <a:t>Use savepoints deliberately and keep code readable around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anti-patterns create avoidable incidents.</a:t>
            </a:r>
          </a:p>
          <a:p>
            <a:r>
              <a:t>Long or idle transactions cause blocking chains.</a:t>
            </a:r>
          </a:p>
          <a:p>
            <a:r>
              <a:t>Waiting for user input inside an open transaction is especially dangerous.</a:t>
            </a:r>
          </a:p>
          <a:p>
            <a:r>
              <a:t>Large mixed units increase lock footprint and failure scope.</a:t>
            </a:r>
          </a:p>
          <a:p>
            <a:r>
              <a:t>Where retryable conflicts exist, missing retry logic causes brittle behavior.</a:t>
            </a:r>
          </a:p>
          <a:p>
            <a:r>
              <a:t>And without verification, teams can miss partial business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money transfer as the canonical transaction example.</a:t>
            </a:r>
          </a:p>
          <a:p>
            <a:r>
              <a:t>A debit without matching credit is unacceptable.</a:t>
            </a:r>
          </a:p>
          <a:p>
            <a:r>
              <a:t>A transfer without ledger evidence is also unacceptable.</a:t>
            </a:r>
          </a:p>
          <a:p>
            <a:r>
              <a:t>One transaction boundary enforces all-or-nothing behavior for this business invariant.</a:t>
            </a:r>
          </a:p>
          <a:p>
            <a:r>
              <a:t>This is exactly why transaction design belongs to database administration, not just app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section we explain how concurrent transactions can observe and affect each other.</a:t>
            </a:r>
          </a:p>
          <a:p>
            <a:r>
              <a:t>We stay practical and beginner-intermediate, with direct examples and clear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Isolation exists because multi-user systems interleave work.</a:t>
            </a:r>
          </a:p>
          <a:p>
            <a:r>
              <a:t>Without controls, overlapping transactions can produce invalid outcomes.</a:t>
            </a:r>
          </a:p>
          <a:p>
            <a:r>
              <a:t>Isolation defines what each transaction may see while others are active.</a:t>
            </a:r>
          </a:p>
          <a:p>
            <a:r>
              <a:t>Higher isolation usually improves correctness guarantees and can increase contention or retries.</a:t>
            </a:r>
          </a:p>
          <a:p>
            <a:r>
              <a:t>So isolation choice is a risk decision tied to business invariants.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anomaly names matter because they map symptoms to root causes.</a:t>
            </a:r>
          </a:p>
          <a:p>
            <a:r>
              <a:t>Dirty read means uncommitted visibility.</a:t>
            </a:r>
          </a:p>
          <a:p>
            <a:r>
              <a:t>Non-repeatable and phantom behavior mean unstable snapshots under concurrency.</a:t>
            </a:r>
          </a:p>
          <a:p>
            <a:r>
              <a:t>Lost update means write coordination failed.</a:t>
            </a:r>
          </a:p>
          <a:p>
            <a:r>
              <a:t>When students can name anomaly patterns correctly, troubleshooting gets much faster and less emotional.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Postgres practice, these are the levels you discuss most.</a:t>
            </a:r>
          </a:p>
          <a:p>
            <a:r>
              <a:t>Read Committed is common default and good for many workloads.</a:t>
            </a:r>
          </a:p>
          <a:p>
            <a:r>
              <a:t>Repeatable Read gives snapshot stability across the transaction.</a:t>
            </a:r>
          </a:p>
          <a:p>
            <a:r>
              <a:t>Serializable provides strongest correctness semantics and may require retry handling.</a:t>
            </a:r>
          </a:p>
          <a:p>
            <a:r>
              <a:t>Do not pick by tradition. Pick by invariant risk and expected contention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Committed gives practical concurrency and good throughput.</a:t>
            </a:r>
          </a:p>
          <a:p>
            <a:r>
              <a:t>But snapshot can change across statements in one transaction.</a:t>
            </a:r>
          </a:p>
          <a:p>
            <a:r>
              <a:t>So repeated checks can differ if other transactions commit between those checks.</a:t>
            </a:r>
          </a:p>
          <a:p>
            <a:r>
              <a:t>For simple operations this is fine.</a:t>
            </a:r>
          </a:p>
          <a:p>
            <a:r>
              <a:t>For invariant-sensitive workflows, add locking patterns or stronger isolation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Repeatable Read is useful when the transaction must reason over a stable data view.</a:t>
            </a:r>
          </a:p>
          <a:p>
            <a:r>
              <a:t>It avoids shifting results across repeated reads in the same transaction.</a:t>
            </a:r>
          </a:p>
          <a:p>
            <a:r>
              <a:t>However, conflicting writes may still fail at commit boundaries.</a:t>
            </a:r>
          </a:p>
          <a:p>
            <a:r>
              <a:t>So you get stronger read consistency with possible conflict tradeoffs.</a:t>
            </a:r>
          </a:p>
          <a:p>
            <a:r>
              <a:t>Use it when snapshot stability is truly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Serializable is the strongest practical isolation level.</a:t>
            </a:r>
          </a:p>
          <a:p>
            <a:r>
              <a:t>It protects against anomaly patterns by enforcing serializable execution semantics.</a:t>
            </a:r>
          </a:p>
          <a:p>
            <a:r>
              <a:t>Under contention, the system may abort one transaction to preserve correctness.</a:t>
            </a:r>
          </a:p>
          <a:p>
            <a:r>
              <a:t>That is expected behavior, not a bug.</a:t>
            </a:r>
          </a:p>
          <a:p>
            <a:r>
              <a:t>Reliable systems using serializable workflows include deterministic retry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practical heuristic keeps teams aligned.</a:t>
            </a:r>
          </a:p>
          <a:p>
            <a:r>
              <a:t>Use Read Committed as baseline for ordinary low-risk paths.</a:t>
            </a:r>
          </a:p>
          <a:p>
            <a:r>
              <a:t>Escalate isolation when business invariants are expensive to violate.</a:t>
            </a:r>
          </a:p>
          <a:p>
            <a:r>
              <a:t>Then test concurrency in staging and document the decision.</a:t>
            </a:r>
          </a:p>
          <a:p>
            <a:r>
              <a:t>Undocumented isolation choices become tribal knowledge and cause future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Supabase does not change core PostgreSQL isolation theory.</a:t>
            </a:r>
          </a:p>
          <a:p>
            <a:r>
              <a:t>It changes how we execute and observe in a managed environment.</a:t>
            </a:r>
          </a:p>
          <a:p>
            <a:r>
              <a:t>In pooled workloads, avoid long transaction assumptions tied to sticky sessions.</a:t>
            </a:r>
          </a:p>
          <a:p>
            <a:r>
              <a:t>Use short explicit transactions and clear verification queries.</a:t>
            </a:r>
          </a:p>
          <a:p>
            <a:r>
              <a:t>Treat Supabase as managed Postgres with the same correctness foundations.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from isolation theory to operational symptoms.</a:t>
            </a:r>
          </a:p>
          <a:p>
            <a:r>
              <a:t>We will map what users feel to what the database is doing internally.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Locks are normal and necessary in concurrent systems.</a:t>
            </a:r>
          </a:p>
          <a:p>
            <a:r>
              <a:t>The problem is rarely lock existence. The problem is lock duration and contention patterns.</a:t>
            </a:r>
          </a:p>
          <a:p>
            <a:r>
              <a:t>Write conflicts on the same rows require coordination.</a:t>
            </a:r>
          </a:p>
          <a:p>
            <a:r>
              <a:t>Certain schema operations require stronger lock modes.</a:t>
            </a:r>
          </a:p>
          <a:p>
            <a:r>
              <a:t>As operators, we observe wait chains and reduce contention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symptoms point to waiting, not necessarily compute exhaustion.</a:t>
            </a:r>
          </a:p>
          <a:p>
            <a:r>
              <a:t>When latency rises while CPU stays moderate, look for lock waits.</a:t>
            </a:r>
          </a:p>
          <a:p>
            <a:r>
              <a:t>Check if a long-running transaction or schema change started near symptom onset.</a:t>
            </a:r>
          </a:p>
          <a:p>
            <a:r>
              <a:t>Build a timeline with query activity and deployment events.</a:t>
            </a:r>
          </a:p>
          <a:p>
            <a:r>
              <a:t>That timeline usually reveals the blocking source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Deadlocks are not mysterious. They are wait cycles.</a:t>
            </a:r>
          </a:p>
          <a:p>
            <a:r>
              <a:t>If transaction A waits for B and B waits for A, progress stops.</a:t>
            </a:r>
          </a:p>
          <a:p>
            <a:r>
              <a:t>Postgres detects this and aborts one participant.</a:t>
            </a:r>
          </a:p>
          <a:p>
            <a:r>
              <a:t>The correct response is controlled retry and ordering improvements.</a:t>
            </a:r>
          </a:p>
          <a:p>
            <a:r>
              <a:t>A consistent object access order across code paths is a strong prevention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Diagnostics should be deterministic.</a:t>
            </a:r>
          </a:p>
          <a:p>
            <a:r>
              <a:t>First identify waiting sessions and blocker session.</a:t>
            </a:r>
          </a:p>
          <a:p>
            <a:r>
              <a:t>Then inspect query text, transaction age, and wait events.</a:t>
            </a:r>
          </a:p>
          <a:p>
            <a:r>
              <a:t>Capture evidence before intervention so post-incident analysis is possible.</a:t>
            </a:r>
          </a:p>
          <a:p>
            <a:r>
              <a:t>Only then choose mitigation with minimal blast radius.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 small SQL triage pack ready.</a:t>
            </a:r>
          </a:p>
          <a:p>
            <a:r>
              <a:t>In incidents, speed matters and memory is unreliable under pressure.</a:t>
            </a:r>
          </a:p>
          <a:p>
            <a:r>
              <a:t>Run active session checks, then blocking relationships, then transaction age.</a:t>
            </a:r>
          </a:p>
          <a:p>
            <a:r>
              <a:t>If intervention is needed, act on the true blocker, not random sessions.</a:t>
            </a:r>
          </a:p>
          <a:p>
            <a:r>
              <a:t>Document every action in the incident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Mitigation and root-cause correction are different steps.</a:t>
            </a:r>
          </a:p>
          <a:p>
            <a:r>
              <a:t>Cancelling a blocker can restore service now.</a:t>
            </a:r>
          </a:p>
          <a:p>
            <a:r>
              <a:t>But without design correction, the same pattern repeats.</a:t>
            </a:r>
          </a:p>
          <a:p>
            <a:r>
              <a:t>After stabilization, adjust transaction scope, query ordering, or write path strategy.</a:t>
            </a:r>
          </a:p>
          <a:p>
            <a:r>
              <a:t>Operational maturity is measured by how often repeated incidents are prevented.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prevention rules are simple and high-value.</a:t>
            </a:r>
          </a:p>
          <a:p>
            <a:r>
              <a:t>Short transactions reduce lock hold time.</a:t>
            </a:r>
          </a:p>
          <a:p>
            <a:r>
              <a:t>Consistent ordering reduces deadlocks.</a:t>
            </a:r>
          </a:p>
          <a:p>
            <a:r>
              <a:t>No user interaction inside transactions eliminates unnecessary blocking windows.</a:t>
            </a:r>
          </a:p>
          <a:p>
            <a:r>
              <a:t>Concurrency tests in staging catch many issues before production.</a:t>
            </a:r>
          </a:p>
          <a:p>
            <a:r>
              <a:t>These are practical habits that scale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section maps theory to managed operational practice.</a:t>
            </a:r>
          </a:p>
          <a:p>
            <a:r>
              <a:t>We focus on what to do in Supabase when concurrency symptoms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SQL Editor is a practical operations surface.</a:t>
            </a:r>
          </a:p>
          <a:p>
            <a:r>
              <a:t>Use it for diagnostics, controlled demos, and quick verification.</a:t>
            </a:r>
          </a:p>
          <a:p>
            <a:r>
              <a:t>Saved query packs reduce error under pressure.</a:t>
            </a:r>
          </a:p>
          <a:p>
            <a:r>
              <a:t>For any risky statement, define rollback and verification before execution.</a:t>
            </a:r>
          </a:p>
          <a:p>
            <a:r>
              <a:t>Evidence capture matters for grading and for real incident review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Connection pooling improves scalability and resource usage.</a:t>
            </a:r>
          </a:p>
          <a:p>
            <a:r>
              <a:t>It also makes long transaction patterns more dangerous.</a:t>
            </a:r>
          </a:p>
          <a:p>
            <a:r>
              <a:t>Session-specific assumptions are fragile in pooled environments.</a:t>
            </a:r>
          </a:p>
          <a:p>
            <a:r>
              <a:t>So keep transaction windows short and deterministic.</a:t>
            </a:r>
          </a:p>
          <a:p>
            <a:r>
              <a:t>That design aligns with both performance and correctness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Timeout controls are safety rails, not substitutes for good design.</a:t>
            </a:r>
          </a:p>
          <a:p>
            <a:r>
              <a:t>They prevent extreme waits and improve failure detectability.</a:t>
            </a:r>
          </a:p>
          <a:p>
            <a:r>
              <a:t>Set values based on workload behavior, then revisit as system evolves.</a:t>
            </a:r>
          </a:p>
          <a:p>
            <a:r>
              <a:t>When timeouts occur, treat them as signals for tuning or design correction.</a:t>
            </a:r>
          </a:p>
          <a:p>
            <a:r>
              <a:t>Ignoring timeout signals creates recurring instability.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migrations can create lock pressure if unmanaged.</a:t>
            </a:r>
          </a:p>
          <a:p>
            <a:r>
              <a:t>Plan timing and pre-check dependencies before applying structural changes.</a:t>
            </a:r>
          </a:p>
          <a:p>
            <a:r>
              <a:t>Use safe rollout patterns to reduce disruption risk.</a:t>
            </a:r>
          </a:p>
          <a:p>
            <a:r>
              <a:t>Always prepare rollback and verification scripts in advance.</a:t>
            </a:r>
          </a:p>
          <a:p>
            <a:r>
              <a:t>Treat migration as an operational event, not a casual command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response flow keeps teams calm and consistent.</a:t>
            </a:r>
          </a:p>
          <a:p>
            <a:r>
              <a:t>First stop additional change noise.</a:t>
            </a:r>
          </a:p>
          <a:p>
            <a:r>
              <a:t>Then gather evidence and mitigate precisely.</a:t>
            </a:r>
          </a:p>
          <a:p>
            <a:r>
              <a:t>After service recovery, verify business-critical paths.</a:t>
            </a:r>
          </a:p>
          <a:p>
            <a:r>
              <a:t>Finally, document design improvements so the same incident pattern does not repeat.</a:t>
            </a:r>
          </a:p>
          <a:p>
            <a:r>
              <a:t>This is professional operations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from lecture to execution.</a:t>
            </a:r>
          </a:p>
          <a:p>
            <a:r>
              <a:t>This applied section is intentionally guided and not too hard, while still exceeding one hour of meaningful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Week 5 lab is practical and guided.</a:t>
            </a:r>
          </a:p>
          <a:p>
            <a:r>
              <a:t>It uses existing dataset tables so setup overhead stays low.</a:t>
            </a:r>
          </a:p>
          <a:p>
            <a:r>
              <a:t>Students will execute transaction and isolation demos safely.</a:t>
            </a:r>
          </a:p>
          <a:p>
            <a:r>
              <a:t>They will also observe blocking behavior and capture diagnostics.</a:t>
            </a:r>
          </a:p>
          <a:p>
            <a:r>
              <a:t>The deliverables remain lightweight and evidence-focused.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by confirming baseline state and opening two SQL sessions.</a:t>
            </a:r>
          </a:p>
          <a:p>
            <a:r>
              <a:t>Using two sessions is essential for real concurrency behavior.</a:t>
            </a:r>
          </a:p>
          <a:p>
            <a:r>
              <a:t>Keep test scope small and controlled.</a:t>
            </a:r>
          </a:p>
          <a:p>
            <a:r>
              <a:t>Baseline screenshot proves starting state and makes later comparisons clear.</a:t>
            </a:r>
          </a:p>
          <a:p>
            <a:r>
              <a:t>This step prevents most lab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step teaches transaction boundary outcomes directly.</a:t>
            </a:r>
          </a:p>
          <a:p>
            <a:r>
              <a:t>Rollback demonstrates discarded uncommitted changes.</a:t>
            </a:r>
          </a:p>
          <a:p>
            <a:r>
              <a:t>Commit demonstrates durable persisted changes.</a:t>
            </a:r>
          </a:p>
          <a:p>
            <a:r>
              <a:t>Students should capture both outcomes with screenshots and SQL outputs.</a:t>
            </a:r>
          </a:p>
          <a:p>
            <a:r>
              <a:t>This is foundational before moving to concurrent overlap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step makes locking behavior visible.</a:t>
            </a:r>
          </a:p>
          <a:p>
            <a:r>
              <a:t>By holding an uncommitted write in one session, a conflicting write in another session must wait.</a:t>
            </a:r>
          </a:p>
          <a:p>
            <a:r>
              <a:t>Students observe real blocking and then see it release after commit.</a:t>
            </a:r>
          </a:p>
          <a:p>
            <a:r>
              <a:t>This turns abstract lock theory into direct experience.</a:t>
            </a:r>
          </a:p>
          <a:p>
            <a:r>
              <a:t>Capture timing and output evidence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blocking is active, run diagnostics queries.</a:t>
            </a:r>
          </a:p>
          <a:p>
            <a:r>
              <a:t>Identify blocker and blocked sessions explicitly.</a:t>
            </a:r>
          </a:p>
          <a:p>
            <a:r>
              <a:t>Record wait events and active SQL text.</a:t>
            </a:r>
          </a:p>
          <a:p>
            <a:r>
              <a:t>This is the operational skill that turns symptoms into actionable diagnosis.</a:t>
            </a:r>
          </a:p>
          <a:p>
            <a:r>
              <a:t>Without this step, students only see delay and cannot explain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submission is intentionally concise.</a:t>
            </a:r>
          </a:p>
          <a:p>
            <a:r>
              <a:t>The write-up documents understanding and one issue solved.</a:t>
            </a:r>
          </a:p>
          <a:p>
            <a:r>
              <a:t>The SQL file proves reproducibility.</a:t>
            </a:r>
          </a:p>
          <a:p>
            <a:r>
              <a:t>Screenshots prove observed behavior.</a:t>
            </a:r>
          </a:p>
          <a:p>
            <a:r>
              <a:t>This is enough for strong assessment without excessive paperwork.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reading response is short and focused.</a:t>
            </a:r>
          </a:p>
          <a:p>
            <a:r>
              <a:t>Two prompts are enough to check conceptual clarity.</a:t>
            </a:r>
          </a:p>
          <a:p>
            <a:r>
              <a:t>Each answer includes a citation and practical explanation.</a:t>
            </a:r>
          </a:p>
          <a:p>
            <a:r>
              <a:t>The emphasis is understanding and communication quality.</a:t>
            </a:r>
          </a:p>
          <a:p>
            <a:r>
              <a:t>This activity reinforces documentation fluency without overloading class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Deliverables are simple by design.</a:t>
            </a:r>
          </a:p>
          <a:p>
            <a:r>
              <a:t>The write-up demonstrates reasoning.</a:t>
            </a:r>
          </a:p>
          <a:p>
            <a:r>
              <a:t>The SQL file demonstrates reproducibility.</a:t>
            </a:r>
          </a:p>
          <a:p>
            <a:r>
              <a:t>Screenshots demonstrate observed behavior.</a:t>
            </a:r>
          </a:p>
          <a:p>
            <a:r>
              <a:t>This balance keeps workload manageable while preserving rigorous evidence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common failure points.</a:t>
            </a:r>
          </a:p>
          <a:p>
            <a:r>
              <a:t>If blocking does not appear, confirm both sessions target same row and transaction remains open.</a:t>
            </a:r>
          </a:p>
          <a:p>
            <a:r>
              <a:t>If rollback appears ineffective, confirm begin/rollback boundaries were actually used.</a:t>
            </a:r>
          </a:p>
          <a:p>
            <a:r>
              <a:t>Capture diagnostics while wait is active.</a:t>
            </a:r>
          </a:p>
          <a:p>
            <a:r>
              <a:t>Always verify environment identity before running demos.</a:t>
            </a:r>
          </a:p>
          <a:p>
            <a:r>
              <a:t>These checks resolve most issues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close, Week 5 adds time and concurrency to your database model.</a:t>
            </a:r>
          </a:p>
          <a:p>
            <a:r>
              <a:t>You can now explain why transaction boundaries and isolation choices matter.</a:t>
            </a:r>
          </a:p>
          <a:p>
            <a:r>
              <a:t>You can also diagnose lock symptoms with confidence.</a:t>
            </a:r>
          </a:p>
          <a:p>
            <a:r>
              <a:t>This is major progress toward professional database reliability skills.</a:t>
            </a:r>
          </a:p>
          <a:p>
            <a:r>
              <a:t>Next week we deepen security and access control foundations on top of this concurrency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primary docs as ground truth.</a:t>
            </a:r>
          </a:p>
          <a:p>
            <a:r>
              <a:t>For transaction behavior and isolation details, use official PostgreSQL documentation first.</a:t>
            </a:r>
          </a:p>
          <a:p>
            <a:r>
              <a:t>For managed workflow context, use official Supabase guides.</a:t>
            </a:r>
          </a:p>
          <a:p>
            <a:r>
              <a:t>When answering student questions, tie explanations back to docs and observed behavior.</a:t>
            </a:r>
          </a:p>
          <a:p>
            <a:r>
              <a:t>This keeps instruction rigorous and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checklist to keep the live demo smooth.</a:t>
            </a:r>
          </a:p>
          <a:p>
            <a:r>
              <a:t>Prepare environment before class starts.</a:t>
            </a:r>
          </a:p>
          <a:p>
            <a:r>
              <a:t>Run rollback and commit demonstration first, then blocking demonstration second.</a:t>
            </a:r>
          </a:p>
          <a:p>
            <a:r>
              <a:t>Show diagnostics while blocking is active.</a:t>
            </a:r>
          </a:p>
          <a:p>
            <a:r>
              <a:t>Capture screenshots to model good evidence practice.</a:t>
            </a:r>
          </a:p>
          <a:p>
            <a:r>
              <a:t>Close by connecting demo behavior to invariants and operational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five lines in tough Q and A moments.</a:t>
            </a:r>
          </a:p>
          <a:p>
            <a:r>
              <a:t>They answer the most common misunderstandings quickly and accurately.</a:t>
            </a:r>
          </a:p>
          <a:p>
            <a:r>
              <a:t>Each line is grounded in PostgreSQL behavior and practical operations.</a:t>
            </a:r>
          </a:p>
          <a:p>
            <a:r>
              <a:t>When needed, follow with a short demo or metadata query to reinforce evidence.</a:t>
            </a:r>
          </a:p>
          <a:p>
            <a:r>
              <a:t>Clarity plus evidence is the teaching standard for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5: Transactions, Isolation, and Locking in PostgreSQL + Supabase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Beginner-intermediate practical operations for reliable data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Week 5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Most production data bugs are concurrency bugs, not syntax bugs.</a:t>
            </a:r>
          </a:p>
          <a:p>
            <a:pPr>
              <a:defRPr sz="2100"/>
            </a:pPr>
            <a:r>
              <a:t>Transactions protect integrity when multiple users write at once.</a:t>
            </a:r>
          </a:p>
          <a:p>
            <a:pPr>
              <a:defRPr sz="2100"/>
            </a:pPr>
            <a:r>
              <a:t>Isolation level choices affect correctness and throughput.</a:t>
            </a:r>
          </a:p>
          <a:p>
            <a:pPr>
              <a:defRPr sz="2100"/>
            </a:pPr>
            <a:r>
              <a:t>Locking symptoms are predictable if we read signals correctly.</a:t>
            </a:r>
          </a:p>
          <a:p>
            <a:pPr>
              <a:defRPr sz="2100"/>
            </a:pPr>
            <a:r>
              <a:t>This week is core preparation for midterm reliability expectations.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Explain transaction boundaries and commit/rollback behavior.</a:t>
            </a:r>
          </a:p>
          <a:p>
            <a:pPr>
              <a:defRPr sz="2100"/>
            </a:pPr>
            <a:r>
              <a:t>Choose basic isolation levels with clear rationale.</a:t>
            </a:r>
          </a:p>
          <a:p>
            <a:pPr>
              <a:defRPr sz="2100"/>
            </a:pPr>
            <a:r>
              <a:t>Recognize and diagnose blocking and deadlock symptoms.</a:t>
            </a:r>
          </a:p>
          <a:p>
            <a:pPr>
              <a:defRPr sz="2100"/>
            </a:pPr>
            <a:r>
              <a:t>Use SQL introspection to inspect active sessions and waits.</a:t>
            </a:r>
          </a:p>
          <a:p>
            <a:pPr>
              <a:defRPr sz="2100"/>
            </a:pPr>
            <a:r>
              <a:t>Apply safe operational response patterns in Supabase workflows.</a:t>
            </a:r>
          </a:p>
          <a:p>
            <a:pPr>
              <a:defRPr sz="2100"/>
            </a:pPr>
            <a:r>
              <a:t>Complete a guided concurrency lab with evidence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(100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0-10: Week 4 recap and concurrency mental model.</a:t>
            </a:r>
          </a:p>
          <a:p>
            <a:pPr>
              <a:defRPr sz="2100"/>
            </a:pPr>
            <a:r>
              <a:t>10-30: Transaction mechanics and ACID in practice.</a:t>
            </a:r>
          </a:p>
          <a:p>
            <a:pPr>
              <a:defRPr sz="2100"/>
            </a:pPr>
            <a:r>
              <a:t>30-55: Isolation levels and anomaly intuition.</a:t>
            </a:r>
          </a:p>
          <a:p>
            <a:pPr>
              <a:defRPr sz="2100"/>
            </a:pPr>
            <a:r>
              <a:t>55-75: Locking symptoms, blocking, and deadlocks.</a:t>
            </a:r>
          </a:p>
          <a:p>
            <a:pPr>
              <a:defRPr sz="2100"/>
            </a:pPr>
            <a:r>
              <a:t>75-90: Supabase-specific operational workflows.</a:t>
            </a:r>
          </a:p>
          <a:p>
            <a:pPr>
              <a:defRPr sz="2100"/>
            </a:pPr>
            <a:r>
              <a:t>90-100: Guided lab launch + short reading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to Week 5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Week 4 built schema quality and metadata verification habits.</a:t>
            </a:r>
          </a:p>
          <a:p>
            <a:pPr>
              <a:defRPr sz="2100"/>
            </a:pPr>
            <a:r>
              <a:t>Week 5 adds time and concurrency to the model.</a:t>
            </a:r>
          </a:p>
          <a:p>
            <a:pPr>
              <a:defRPr sz="2100"/>
            </a:pPr>
            <a:r>
              <a:t>Now we ask: what happens when two valid operations overlap?</a:t>
            </a:r>
          </a:p>
          <a:p>
            <a:pPr>
              <a:defRPr sz="2100"/>
            </a:pPr>
            <a:r>
              <a:t>The target is invariant preservation under concurrent writes.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Concurrency 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One transaction is a sequence of reads/writes with atomic end state.</a:t>
            </a:r>
          </a:p>
          <a:p>
            <a:pPr>
              <a:defRPr sz="2100"/>
            </a:pPr>
            <a:r>
              <a:t>Many transactions interleave in real systems.</a:t>
            </a:r>
          </a:p>
          <a:p>
            <a:pPr>
              <a:defRPr sz="2100"/>
            </a:pPr>
            <a:r>
              <a:t>Isolation controls which interleavings are allowed.</a:t>
            </a:r>
          </a:p>
          <a:p>
            <a:pPr>
              <a:defRPr sz="2100"/>
            </a:pPr>
            <a:r>
              <a:t>Locks and MVCC cooperate to enforce these rules.</a:t>
            </a:r>
          </a:p>
          <a:p>
            <a:pPr>
              <a:defRPr sz="2100"/>
            </a:pPr>
            <a:r>
              <a:t>Correctness means business invariants remain true in final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Transaction mechanics and ACID in practical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ACID in 60 Seconds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Atomicity: all-or-nothing outcome for a transaction.</a:t>
            </a:r>
          </a:p>
          <a:p>
            <a:pPr>
              <a:defRPr sz="2100"/>
            </a:pPr>
            <a:r>
              <a:t>Consistency: constraints/invariants hold before and after commit.</a:t>
            </a:r>
          </a:p>
          <a:p>
            <a:pPr>
              <a:defRPr sz="2100"/>
            </a:pPr>
            <a:r>
              <a:t>Isolation: concurrent transactions do not produce invalid interleavings.</a:t>
            </a:r>
          </a:p>
          <a:p>
            <a:pPr>
              <a:defRPr sz="2100"/>
            </a:pPr>
            <a:r>
              <a:t>Durability: committed effects survive crash recovery.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Autocommit vs Explicit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Autocommit treats each statement as its own transaction.</a:t>
            </a:r>
          </a:p>
          <a:p>
            <a:pPr>
              <a:defRPr sz="2100"/>
            </a:pPr>
            <a:r>
              <a:t>Explicit transactions group multiple statements atomically.</a:t>
            </a:r>
          </a:p>
          <a:p>
            <a:pPr>
              <a:defRPr sz="2100"/>
            </a:pPr>
            <a:r>
              <a:t>Use explicit transactions for multi-step business updates.</a:t>
            </a:r>
          </a:p>
          <a:p>
            <a:pPr>
              <a:defRPr sz="2100"/>
            </a:pPr>
            <a:r>
              <a:t>Keep transaction scope as small as possible.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BEGIN, COMMIT, ROLLBACK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BEGIN starts transaction context.</a:t>
            </a:r>
          </a:p>
          <a:p>
            <a:pPr>
              <a:defRPr sz="2100"/>
            </a:pPr>
            <a:r>
              <a:t>COMMIT persists all transaction effects.</a:t>
            </a:r>
          </a:p>
          <a:p>
            <a:pPr>
              <a:defRPr sz="2100"/>
            </a:pPr>
            <a:r>
              <a:t>ROLLBACK discards uncommitted effects.</a:t>
            </a:r>
          </a:p>
          <a:p>
            <a:pPr>
              <a:defRPr sz="2100"/>
            </a:pPr>
            <a:r>
              <a:t>Errors inside transaction often require explicit rollback.</a:t>
            </a:r>
          </a:p>
          <a:p>
            <a:pPr>
              <a:defRPr sz="2100"/>
            </a:pPr>
            <a:r>
              <a:t>Always verify state after commit or rollback.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SAVEPOINT for Partial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SAVEPOINT marks an internal checkpoint in a transaction.</a:t>
            </a:r>
          </a:p>
          <a:p>
            <a:pPr>
              <a:defRPr sz="2100"/>
            </a:pPr>
            <a:r>
              <a:t>ROLLBACK TO SAVEPOINT undoes later steps only.</a:t>
            </a:r>
          </a:p>
          <a:p>
            <a:pPr>
              <a:defRPr sz="2100"/>
            </a:pPr>
            <a:r>
              <a:t>Useful in batch operations with recoverable sub-steps.</a:t>
            </a:r>
          </a:p>
          <a:p>
            <a:pPr>
              <a:defRPr sz="2100"/>
            </a:pPr>
            <a:r>
              <a:t>Keeps transaction logic controlled without full abort.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Anti-Patterns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Long idle transactions holding locks unnecessarily.</a:t>
            </a:r>
          </a:p>
          <a:p>
            <a:pPr>
              <a:defRPr sz="2100"/>
            </a:pPr>
            <a:r>
              <a:t>User interaction inside open transaction windows.</a:t>
            </a:r>
          </a:p>
          <a:p>
            <a:pPr>
              <a:defRPr sz="2100"/>
            </a:pPr>
            <a:r>
              <a:t>Large mixed read/write units without need.</a:t>
            </a:r>
          </a:p>
          <a:p>
            <a:pPr>
              <a:defRPr sz="2100"/>
            </a:pPr>
            <a:r>
              <a:t>No retry handling where serialization conflicts can occur.</a:t>
            </a:r>
          </a:p>
          <a:p>
            <a:pPr>
              <a:defRPr sz="2100"/>
            </a:pPr>
            <a:r>
              <a:t>No post-commit verification query.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Transfer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Debit account A, credit account B, append ledger row.</a:t>
            </a:r>
          </a:p>
          <a:p>
            <a:pPr>
              <a:defRPr sz="2100"/>
            </a:pPr>
            <a:r>
              <a:t>All three writes must succeed or all must fail.</a:t>
            </a:r>
          </a:p>
          <a:p>
            <a:pPr>
              <a:defRPr sz="2100"/>
            </a:pPr>
            <a:r>
              <a:t>Transaction boundary enforces this atomicity requirement.</a:t>
            </a:r>
          </a:p>
          <a:p>
            <a:pPr>
              <a:defRPr sz="2100"/>
            </a:pPr>
            <a:r>
              <a:t>Constraint checks provide additional safety guarantees.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Isolation levels and anomaly intuition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Isolation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Concurrent reads/writes can produce incorrect business outcomes.</a:t>
            </a:r>
          </a:p>
          <a:p>
            <a:pPr>
              <a:defRPr sz="2100"/>
            </a:pPr>
            <a:r>
              <a:t>Isolation defines safe visibility and ordering rules.</a:t>
            </a:r>
          </a:p>
          <a:p>
            <a:pPr>
              <a:defRPr sz="2100"/>
            </a:pPr>
            <a:r>
              <a:t>Higher isolation increases safety but can reduce throughput.</a:t>
            </a:r>
          </a:p>
          <a:p>
            <a:pPr>
              <a:defRPr sz="2100"/>
            </a:pPr>
            <a:r>
              <a:t>Choose isolation based on invariant risk, not habit.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Anomalies You Must Recognize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Dirty read: seeing uncommitted data from another transaction.</a:t>
            </a:r>
          </a:p>
          <a:p>
            <a:pPr>
              <a:defRPr sz="2100"/>
            </a:pPr>
            <a:r>
              <a:t>Non-repeatable read: same query returns different committed value.</a:t>
            </a:r>
          </a:p>
          <a:p>
            <a:pPr>
              <a:defRPr sz="2100"/>
            </a:pPr>
            <a:r>
              <a:t>Phantom read: set-membership changes between repeated range queries.</a:t>
            </a:r>
          </a:p>
          <a:p>
            <a:pPr>
              <a:defRPr sz="2100"/>
            </a:pPr>
            <a:r>
              <a:t>Lost update: concurrent writes overwrite without safe coordination.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PostgreSQL Isolation Levels (Practical)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Read Committed: statement-level fresh view of committed data.</a:t>
            </a:r>
          </a:p>
          <a:p>
            <a:pPr>
              <a:defRPr sz="2100"/>
            </a:pPr>
            <a:r>
              <a:t>Repeatable Read: stable snapshot for whole transaction.</a:t>
            </a:r>
          </a:p>
          <a:p>
            <a:pPr>
              <a:defRPr sz="2100"/>
            </a:pPr>
            <a:r>
              <a:t>Serializable: strongest model, may abort and require retry.</a:t>
            </a:r>
          </a:p>
          <a:p>
            <a:pPr>
              <a:defRPr sz="2100"/>
            </a:pPr>
            <a:r>
              <a:t>Use lowest level that safely preserves required invariants.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 Committed: What to Expect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Each statement sees latest committed state at statement start.</a:t>
            </a:r>
          </a:p>
          <a:p>
            <a:pPr>
              <a:defRPr sz="2100"/>
            </a:pPr>
            <a:r>
              <a:t>Repeated select in same transaction may return different results.</a:t>
            </a:r>
          </a:p>
          <a:p>
            <a:pPr>
              <a:defRPr sz="2100"/>
            </a:pPr>
            <a:r>
              <a:t>Good default for many app workloads.</a:t>
            </a:r>
          </a:p>
          <a:p>
            <a:pPr>
              <a:defRPr sz="2100"/>
            </a:pPr>
            <a:r>
              <a:t>Unsafe for some cross-row invariant workflows without extra care.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Repeatable Read: Stable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Transaction reads a consistent snapshot over its lifetime.</a:t>
            </a:r>
          </a:p>
          <a:p>
            <a:pPr>
              <a:defRPr sz="2100"/>
            </a:pPr>
            <a:r>
              <a:t>Prevents non-repeatable read behavior.</a:t>
            </a:r>
          </a:p>
          <a:p>
            <a:pPr>
              <a:defRPr sz="2100"/>
            </a:pPr>
            <a:r>
              <a:t>Can still produce write conflicts at commit time.</a:t>
            </a:r>
          </a:p>
          <a:p>
            <a:pPr>
              <a:defRPr sz="2100"/>
            </a:pPr>
            <a:r>
              <a:t>Useful for multi-step analytical or consistency-sensitive units.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Serializable: Correctness with Retries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Models execution as if transactions ran in some serial order.</a:t>
            </a:r>
          </a:p>
          <a:p>
            <a:pPr>
              <a:defRPr sz="2100"/>
            </a:pPr>
            <a:r>
              <a:t>Strongest protection against anomaly classes.</a:t>
            </a:r>
          </a:p>
          <a:p>
            <a:pPr>
              <a:defRPr sz="2100"/>
            </a:pPr>
            <a:r>
              <a:t>May raise serialization failures under contention.</a:t>
            </a:r>
          </a:p>
          <a:p>
            <a:pPr>
              <a:defRPr sz="2100"/>
            </a:pPr>
            <a:r>
              <a:t>Application or operator workflow must retry safely.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Isolation Selection Heuristic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Start at Read Committed for ordinary CRUD paths.</a:t>
            </a:r>
          </a:p>
          <a:p>
            <a:pPr>
              <a:defRPr sz="2100"/>
            </a:pPr>
            <a:r>
              <a:t>Use stronger patterns where invariant risk is high.</a:t>
            </a:r>
          </a:p>
          <a:p>
            <a:pPr>
              <a:defRPr sz="2100"/>
            </a:pPr>
            <a:r>
              <a:t>Test concurrency explicitly before production decisions.</a:t>
            </a:r>
          </a:p>
          <a:p>
            <a:pPr>
              <a:defRPr sz="2100"/>
            </a:pPr>
            <a:r>
              <a:t>Document why a given workflow uses chosen level.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Relevance for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Supabase is still PostgreSQL, so isolation semantics are PostgreSQL semantics.</a:t>
            </a:r>
          </a:p>
          <a:p>
            <a:pPr>
              <a:defRPr sz="2100"/>
            </a:pPr>
            <a:r>
              <a:t>Use SQL Editor or client sessions to demonstrate concurrent behavior.</a:t>
            </a:r>
          </a:p>
          <a:p>
            <a:pPr>
              <a:defRPr sz="2100"/>
            </a:pPr>
            <a:r>
              <a:t>Connection-pooling context can influence session assumptions.</a:t>
            </a:r>
          </a:p>
          <a:p>
            <a:pPr>
              <a:defRPr sz="2100"/>
            </a:pPr>
            <a:r>
              <a:t>Keep transactions short in pooled workloads.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Locking symptoms, blocking chains, and deadlocks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Locking Basics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Row-level locks coordinate conflicting writes to same rows.</a:t>
            </a:r>
          </a:p>
          <a:p>
            <a:pPr>
              <a:defRPr sz="2100"/>
            </a:pPr>
            <a:r>
              <a:t>Table-level locks appear for certain DDL/maintenance operations.</a:t>
            </a:r>
          </a:p>
          <a:p>
            <a:pPr>
              <a:defRPr sz="2100"/>
            </a:pPr>
            <a:r>
              <a:t>Locks are normal; unmanaged lock duration causes incidents.</a:t>
            </a:r>
          </a:p>
          <a:p>
            <a:pPr>
              <a:defRPr sz="2100"/>
            </a:pPr>
            <a:r>
              <a:t>Blocking means one transaction is waiting on another.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Blocking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User sees hanging query or timeout on write path.</a:t>
            </a:r>
          </a:p>
          <a:p>
            <a:pPr>
              <a:defRPr sz="2100"/>
            </a:pPr>
            <a:r>
              <a:t>API latency spikes without proportional CPU increase.</a:t>
            </a:r>
          </a:p>
          <a:p>
            <a:pPr>
              <a:defRPr sz="2100"/>
            </a:pPr>
            <a:r>
              <a:t>Queueing behavior increases during specific operations.</a:t>
            </a:r>
          </a:p>
          <a:p>
            <a:pPr>
              <a:defRPr sz="2100"/>
            </a:pPr>
            <a:r>
              <a:t>Incident often follows long transaction or migration overlap.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Deadlock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Deadlock occurs when transactions wait cyclically on each other.</a:t>
            </a:r>
          </a:p>
          <a:p>
            <a:pPr>
              <a:defRPr sz="2100"/>
            </a:pPr>
            <a:r>
              <a:t>PostgreSQL detects deadlocks and aborts one transaction.</a:t>
            </a:r>
          </a:p>
          <a:p>
            <a:pPr>
              <a:defRPr sz="2100"/>
            </a:pPr>
            <a:r>
              <a:t>Aborted transaction must be retried or safely handled.</a:t>
            </a:r>
          </a:p>
          <a:p>
            <a:pPr>
              <a:defRPr sz="2100"/>
            </a:pPr>
            <a:r>
              <a:t>Consistent lock ordering reduces deadlock risk.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Blocking and Lock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Inspect pg_stat_activity for active, waiting, and query state.</a:t>
            </a:r>
          </a:p>
          <a:p>
            <a:pPr>
              <a:defRPr sz="2100"/>
            </a:pPr>
            <a:r>
              <a:t>Inspect lock relations to identify blocker and blocked sessions.</a:t>
            </a:r>
          </a:p>
          <a:p>
            <a:pPr>
              <a:defRPr sz="2100"/>
            </a:pPr>
            <a:r>
              <a:t>Record wait_event and transaction age for context.</a:t>
            </a:r>
          </a:p>
          <a:p>
            <a:pPr>
              <a:defRPr sz="2100"/>
            </a:pPr>
            <a:r>
              <a:t>Capture evidence before terminating sessions.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 SQL Pack for Lock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Active sessions query (state, wait_event, query).</a:t>
            </a:r>
          </a:p>
          <a:p>
            <a:pPr>
              <a:defRPr sz="2100"/>
            </a:pPr>
            <a:r>
              <a:t>Blocking tree query (who waits on whom).</a:t>
            </a:r>
          </a:p>
          <a:p>
            <a:pPr>
              <a:defRPr sz="2100"/>
            </a:pPr>
            <a:r>
              <a:t>Long transaction age query.</a:t>
            </a:r>
          </a:p>
          <a:p>
            <a:pPr>
              <a:defRPr sz="2100"/>
            </a:pPr>
            <a:r>
              <a:t>Targeted terminate/cancel only when justified.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vs 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Mitigation restores service quickly (cancel/terminate/retry).</a:t>
            </a:r>
          </a:p>
          <a:p>
            <a:pPr>
              <a:defRPr sz="2100"/>
            </a:pPr>
            <a:r>
              <a:t>Root-cause fix changes design pattern causing contention.</a:t>
            </a:r>
          </a:p>
          <a:p>
            <a:pPr>
              <a:defRPr sz="2100"/>
            </a:pPr>
            <a:r>
              <a:t>Both are required for operational maturity.</a:t>
            </a:r>
          </a:p>
          <a:p>
            <a:pPr>
              <a:defRPr sz="2100"/>
            </a:pPr>
            <a:r>
              <a:t>Capture post-incident prevention actions explicitly.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Patterns (Beginner-Intermediate)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Keep transactions short and scoped to essential writes.</a:t>
            </a:r>
          </a:p>
          <a:p>
            <a:pPr>
              <a:defRPr sz="2100"/>
            </a:pPr>
            <a:r>
              <a:t>Acquire resources in consistent order across code paths.</a:t>
            </a:r>
          </a:p>
          <a:p>
            <a:pPr>
              <a:defRPr sz="2100"/>
            </a:pPr>
            <a:r>
              <a:t>Avoid user-think time inside transactions.</a:t>
            </a:r>
          </a:p>
          <a:p>
            <a:pPr>
              <a:defRPr sz="2100"/>
            </a:pPr>
            <a:r>
              <a:t>Batch writes carefully, with checkpointed progress.</a:t>
            </a:r>
          </a:p>
          <a:p>
            <a:pPr>
              <a:defRPr sz="2100"/>
            </a:pPr>
            <a:r>
              <a:t>Test concurrent behavior before production rollout.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Supabase operations for transactions and locking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SQL Editor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Use SQL Editor for controlled diagnostics and demonstrations.</a:t>
            </a:r>
          </a:p>
          <a:p>
            <a:pPr>
              <a:defRPr sz="2100"/>
            </a:pPr>
            <a:r>
              <a:t>Label and save key triage queries for reuse.</a:t>
            </a:r>
          </a:p>
          <a:p>
            <a:pPr>
              <a:defRPr sz="2100"/>
            </a:pPr>
            <a:r>
              <a:t>Capture output screenshots for incident and lab evidence.</a:t>
            </a:r>
          </a:p>
          <a:p>
            <a:pPr>
              <a:defRPr sz="2100"/>
            </a:pPr>
            <a:r>
              <a:t>Avoid ad hoc destructive commands without rollback path.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Pooling Practical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Pooled connections favor short transaction patterns.</a:t>
            </a:r>
          </a:p>
          <a:p>
            <a:pPr>
              <a:defRPr sz="2100"/>
            </a:pPr>
            <a:r>
              <a:t>Long transactions increase contention and resource pressure.</a:t>
            </a:r>
          </a:p>
          <a:p>
            <a:pPr>
              <a:defRPr sz="2100"/>
            </a:pPr>
            <a:r>
              <a:t>Session assumptions can break in pooled request workflows.</a:t>
            </a:r>
          </a:p>
          <a:p>
            <a:pPr>
              <a:defRPr sz="2100"/>
            </a:pPr>
            <a:r>
              <a:t>Design application paths for quick begin-work-commit cycles.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Timeout and Safety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Statement timeout limits runaway query duration.</a:t>
            </a:r>
          </a:p>
          <a:p>
            <a:pPr>
              <a:defRPr sz="2100"/>
            </a:pPr>
            <a:r>
              <a:t>Lock timeout prevents indefinite waits in some workflows.</a:t>
            </a:r>
          </a:p>
          <a:p>
            <a:pPr>
              <a:defRPr sz="2100"/>
            </a:pPr>
            <a:r>
              <a:t>Use conservative defaults and tune by workload evidence.</a:t>
            </a:r>
          </a:p>
          <a:p>
            <a:pPr>
              <a:defRPr sz="2100"/>
            </a:pPr>
            <a:r>
              <a:t>Always log timeout events for follow-up analysis.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Safety for Lock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Schedule high-impact DDL in lower-traffic windows.</a:t>
            </a:r>
          </a:p>
          <a:p>
            <a:pPr>
              <a:defRPr sz="2100"/>
            </a:pPr>
            <a:r>
              <a:t>Prefer safe rollout patterns where available.</a:t>
            </a:r>
          </a:p>
          <a:p>
            <a:pPr>
              <a:defRPr sz="2100"/>
            </a:pPr>
            <a:r>
              <a:t>Run pre-migration dependency and lock-risk checks.</a:t>
            </a:r>
          </a:p>
          <a:p>
            <a:pPr>
              <a:defRPr sz="2100"/>
            </a:pPr>
            <a:r>
              <a:t>Keep rollback and verification scripts ready.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Incident Response Flow (DB Concurrency)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Declare incident and freeze nonessential changes.</a:t>
            </a:r>
          </a:p>
          <a:p>
            <a:pPr>
              <a:defRPr sz="2100"/>
            </a:pPr>
            <a:r>
              <a:t>Collect blocking/lock evidence quickly.</a:t>
            </a:r>
          </a:p>
          <a:p>
            <a:pPr>
              <a:defRPr sz="2100"/>
            </a:pPr>
            <a:r>
              <a:t>Apply minimal mitigation to restore service.</a:t>
            </a:r>
          </a:p>
          <a:p>
            <a:pPr>
              <a:defRPr sz="2100"/>
            </a:pPr>
            <a:r>
              <a:t>Verify recovery with key user-path queries.</a:t>
            </a:r>
          </a:p>
          <a:p>
            <a:pPr>
              <a:defRPr sz="2100"/>
            </a:pPr>
            <a:r>
              <a:t>Write post-incident actions to prevent recurrence.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Week 5 applied work: lab and reading response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5 Lab Overview (Simplified, 65-75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Use existing Supabase class tables only (no new schema build).</a:t>
            </a:r>
          </a:p>
          <a:p>
            <a:pPr>
              <a:defRPr sz="2100"/>
            </a:pPr>
            <a:r>
              <a:t>Practice explicit transaction blocks with commit and rollback.</a:t>
            </a:r>
          </a:p>
          <a:p>
            <a:pPr>
              <a:defRPr sz="2100"/>
            </a:pPr>
            <a:r>
              <a:t>Run a two-session isolation and blocking demonstration.</a:t>
            </a:r>
          </a:p>
          <a:p>
            <a:pPr>
              <a:defRPr sz="2100"/>
            </a:pPr>
            <a:r>
              <a:t>Capture lock diagnostics with provided query pack.</a:t>
            </a:r>
          </a:p>
          <a:p>
            <a:pPr>
              <a:defRPr sz="2100"/>
            </a:pPr>
            <a:r>
              <a:t>Submit lightweight evidence package.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 1: Baseline and Safety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Confirm members, facilities, bookings exist with row counts.</a:t>
            </a:r>
          </a:p>
          <a:p>
            <a:pPr>
              <a:defRPr sz="2100"/>
            </a:pPr>
            <a:r>
              <a:t>Open two SQL sessions for concurrency demo.</a:t>
            </a:r>
          </a:p>
          <a:p>
            <a:pPr>
              <a:defRPr sz="2100"/>
            </a:pPr>
            <a:r>
              <a:t>Prepare a small target subset to avoid large data impact.</a:t>
            </a:r>
          </a:p>
          <a:p>
            <a:pPr>
              <a:defRPr sz="2100"/>
            </a:pPr>
            <a:r>
              <a:t>Capture baseline screenshot.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 2: Commit vs Rollback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Session A: BEGIN, update test row, inspect intermediate state.</a:t>
            </a:r>
          </a:p>
          <a:p>
            <a:pPr>
              <a:defRPr sz="2100"/>
            </a:pPr>
            <a:r>
              <a:t>Session A: ROLLBACK and verify state reverts.</a:t>
            </a:r>
          </a:p>
          <a:p>
            <a:pPr>
              <a:defRPr sz="2100"/>
            </a:pPr>
            <a:r>
              <a:t>Session A: BEGIN, update test row again, COMMIT.</a:t>
            </a:r>
          </a:p>
          <a:p>
            <a:pPr>
              <a:defRPr sz="2100"/>
            </a:pPr>
            <a:r>
              <a:t>Verify persisted state after commit.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 3: Isolation/Blocking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Session A: BEGIN and update a chosen row without commit.</a:t>
            </a:r>
          </a:p>
          <a:p>
            <a:pPr>
              <a:defRPr sz="2100"/>
            </a:pPr>
            <a:r>
              <a:t>Session B: attempt conflicting update on same row.</a:t>
            </a:r>
          </a:p>
          <a:p>
            <a:pPr>
              <a:defRPr sz="2100"/>
            </a:pPr>
            <a:r>
              <a:t>Observe waiting/blocking symptom in Session B.</a:t>
            </a:r>
          </a:p>
          <a:p>
            <a:pPr>
              <a:defRPr sz="2100"/>
            </a:pPr>
            <a:r>
              <a:t>Commit Session A, observe Session B continue.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 4: Lock Diagnostics Query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Run active-session query during wait state.</a:t>
            </a:r>
          </a:p>
          <a:p>
            <a:pPr>
              <a:defRPr sz="2100"/>
            </a:pPr>
            <a:r>
              <a:t>Run blocking relation query to identify blocker.</a:t>
            </a:r>
          </a:p>
          <a:p>
            <a:pPr>
              <a:defRPr sz="2100"/>
            </a:pPr>
            <a:r>
              <a:t>Capture wait_event and query text evidence.</a:t>
            </a:r>
          </a:p>
          <a:p>
            <a:pPr>
              <a:defRPr sz="2100"/>
            </a:pPr>
            <a:r>
              <a:t>Save diagnostic SQL in final SQL file.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 5: Submit Lightweight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Brief write-up: what happened, what changed, what was learned.</a:t>
            </a:r>
          </a:p>
          <a:p>
            <a:pPr>
              <a:defRPr sz="2100"/>
            </a:pPr>
            <a:r>
              <a:t>One SQL file with all commands/queries used.</a:t>
            </a:r>
          </a:p>
          <a:p>
            <a:pPr>
              <a:defRPr sz="2100"/>
            </a:pPr>
            <a:r>
              <a:t>Screenshots: baseline, rollback/commit, blocking, diagnostics.</a:t>
            </a:r>
          </a:p>
          <a:p>
            <a:pPr>
              <a:defRPr sz="2100"/>
            </a:pPr>
            <a:r>
              <a:t>No long formal report required.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In-Class Reading Response (15 min, 2 prompts)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Prompt 1: explain commit vs rollback with one practical example.</a:t>
            </a:r>
          </a:p>
          <a:p>
            <a:pPr>
              <a:defRPr sz="2100"/>
            </a:pPr>
            <a:r>
              <a:t>Prompt 2: explain one locking symptom and one safe response.</a:t>
            </a:r>
          </a:p>
          <a:p>
            <a:pPr>
              <a:defRPr sz="2100"/>
            </a:pPr>
            <a:r>
              <a:t>Use one short citation per prompt from official docs.</a:t>
            </a:r>
          </a:p>
          <a:p>
            <a:pPr>
              <a:defRPr sz="2100"/>
            </a:pPr>
            <a:r>
              <a:t>Target: clear practical language, not copied text.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5 Deliverables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Brief write-up (200-350 words).</a:t>
            </a:r>
          </a:p>
          <a:p>
            <a:pPr>
              <a:defRPr sz="2100"/>
            </a:pPr>
            <a:r>
              <a:t>SQL file with queries/commands used.</a:t>
            </a:r>
          </a:p>
          <a:p>
            <a:pPr>
              <a:defRPr sz="2100"/>
            </a:pPr>
            <a:r>
              <a:t>Screenshot folder with 6-8 key outputs.</a:t>
            </a:r>
          </a:p>
          <a:p>
            <a:pPr>
              <a:defRPr sz="2100"/>
            </a:pPr>
            <a:r>
              <a:t>Optional extra credit: one improvement suggestion with rationale.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Week 5 (Most Common)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Second session not blocking: wrong row or missing open transaction.</a:t>
            </a:r>
          </a:p>
          <a:p>
            <a:pPr>
              <a:defRPr sz="2100"/>
            </a:pPr>
            <a:r>
              <a:t>No rollback effect: command auto-committed outside transaction.</a:t>
            </a:r>
          </a:p>
          <a:p>
            <a:pPr>
              <a:defRPr sz="2100"/>
            </a:pPr>
            <a:r>
              <a:t>Diagnostics query empty: wait state ended before capture.</a:t>
            </a:r>
          </a:p>
          <a:p>
            <a:pPr>
              <a:defRPr sz="2100"/>
            </a:pPr>
            <a:r>
              <a:t>Unexpected timeout: statement/lock timeout configuration involved.</a:t>
            </a:r>
          </a:p>
          <a:p>
            <a:pPr>
              <a:defRPr sz="2100"/>
            </a:pPr>
            <a:r>
              <a:t>Wrong project: evidence from incorrect Supabase environment.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and Week 6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Week 5 result: you can reason about correctness under concurrency.</a:t>
            </a:r>
          </a:p>
          <a:p>
            <a:pPr>
              <a:defRPr sz="2100"/>
            </a:pPr>
            <a:r>
              <a:t>You can recognize and diagnose blocking with evidence.</a:t>
            </a:r>
          </a:p>
          <a:p>
            <a:pPr>
              <a:defRPr sz="2100"/>
            </a:pPr>
            <a:r>
              <a:t>You can execute safer transaction patterns in Supabase.</a:t>
            </a:r>
          </a:p>
          <a:p>
            <a:pPr>
              <a:defRPr sz="2100"/>
            </a:pPr>
            <a:r>
              <a:t>Week 6 will extend into security and access control depth.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PostgreSQL transactions tutorial and SQL transaction commands.</a:t>
            </a:r>
          </a:p>
          <a:p>
            <a:pPr>
              <a:defRPr sz="2100"/>
            </a:pPr>
            <a:r>
              <a:t>PostgreSQL transaction isolation docs.</a:t>
            </a:r>
          </a:p>
          <a:p>
            <a:pPr>
              <a:defRPr sz="2100"/>
            </a:pPr>
            <a:r>
              <a:t>PostgreSQL explicit locking docs.</a:t>
            </a:r>
          </a:p>
          <a:p>
            <a:pPr>
              <a:defRPr sz="2100"/>
            </a:pPr>
            <a:r>
              <a:t>Supabase database migrations and operations docs.</a:t>
            </a:r>
          </a:p>
          <a:p>
            <a:pPr>
              <a:defRPr sz="2100"/>
            </a:pPr>
            <a:r>
              <a:t>Supabase troubleshooting and logs guidance.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Live Demo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Before class: confirm dataset row counts and two SQL sessions ready.</a:t>
            </a:r>
          </a:p>
          <a:p>
            <a:pPr>
              <a:defRPr sz="2100"/>
            </a:pPr>
            <a:r>
              <a:t>Demo 1: rollback then commit on same target row.</a:t>
            </a:r>
          </a:p>
          <a:p>
            <a:pPr>
              <a:defRPr sz="2100"/>
            </a:pPr>
            <a:r>
              <a:t>Demo 2: blocking scenario with two sessions and lock diagnostics.</a:t>
            </a:r>
          </a:p>
          <a:p>
            <a:pPr>
              <a:defRPr sz="2100"/>
            </a:pPr>
            <a:r>
              <a:t>Capture one screenshot per demo stage.</a:t>
            </a:r>
          </a:p>
          <a:p>
            <a:pPr>
              <a:defRPr sz="2100"/>
            </a:pPr>
            <a:r>
              <a:t>End with brief summary of invariants preserved.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One-Slide Q and A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IDs with gaps are normal: sequence uniqueness, not contiguity.</a:t>
            </a:r>
          </a:p>
          <a:p>
            <a:pPr>
              <a:defRPr sz="2100"/>
            </a:pPr>
            <a:r>
              <a:t>Blocking is expected under write conflicts, not always an outage.</a:t>
            </a:r>
          </a:p>
          <a:p>
            <a:pPr>
              <a:defRPr sz="2100"/>
            </a:pPr>
            <a:r>
              <a:t>Serializable may abort transactions by design; retries are normal.</a:t>
            </a:r>
          </a:p>
          <a:p>
            <a:pPr>
              <a:defRPr sz="2100"/>
            </a:pPr>
            <a:r>
              <a:t>Mitigation and root-cause prevention are separate responsibilities.</a:t>
            </a:r>
          </a:p>
          <a:p>
            <a:pPr>
              <a:defRPr sz="2100"/>
            </a:pPr>
            <a:r>
              <a:t>Proof beats assumptions: use metadata and query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