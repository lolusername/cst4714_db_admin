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8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4647"/>
  </p:normalViewPr>
  <p:slideViewPr>
    <p:cSldViewPr snapToGrid="0" snapToObjects="1">
      <p:cViewPr varScale="1">
        <p:scale>
          <a:sx n="199" d="100"/>
          <a:sy n="199" d="100"/>
        </p:scale>
        <p:origin x="176" y="208"/>
      </p:cViewPr>
      <p:guideLst>
        <p:guide orient="horz" pos="2160"/>
        <p:guide pos="2880"/>
      </p:guideLst>
    </p:cSldViewPr>
  </p:slideViewPr>
  <p:notesTextViewPr>
    <p:cViewPr>
      <p:scale>
        <a:sx n="100" d="100"/>
        <a:sy n="100" d="100"/>
      </p:scale>
      <p:origin x="0" y="-139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483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rPr dirty="0"/>
              <a:t>Welcome to CST4714 – Database Administration. In this introductory lecture we will explore the course scope and highlight what you can expect over the next 15 weeks. Database administration is the process of planning, building, tuning, troubleshooting, securing and monitoring databases. Your role as an administrator goes far beyond writing queries; you will be responsible for ensuring that the database supports your organization's information needs in a reliable, secure and efficient way. According to the course objectives, by the end of this course you should understand the problems and appropriate solutions involved in the role of database management and administration【90015303169094†L15-L21】, be able to install, create, configure and maintain an operational database【90015303169094†L21-L25】, manage physical and logical database structures including users, objects and data【90015303169094†L21-L24】, monitor performance and identify performance improvements【90015303169094†L25-L26】, plan and implement backup and recovery strategies【90015303169094†L26-L27】, and manage database security【90015303169094†L26-L28】. We will be working with Oracle for many of our labs, but the principles you learn will apply to any relational database system. The syllabus also notes that you must have completed CST3604 with a grade of C or higher【90015303169094†L29-L31】 and that you will need a USB storage device for class projects【90015303169094†L41-L42】. We will follow the attendance policy strictly: you may be absent without penalty for 10% of scheduled class meetings【90015303169094†L48-L58】, and you are expected to adhere to the college's academic integrity policy【90015303169094†L60-L79】. Make sure to obtain the required textbook, Sam Alapati's 'Expert Oracle Database 11g Administration'【90015303169094†L33-L39】.</a:t>
            </a:r>
          </a:p>
          <a:p>
            <a:endParaRPr dirty="0"/>
          </a:p>
          <a:p>
            <a:r>
              <a:rPr dirty="0"/>
              <a:t>The significance of database administration cannot be overstated. Databases underpin virtually all information systems: from e‑commerce applications to scientific research, government record keeping and social media platforms. As administrators, you will be the custodians of data integrity, availability and security. Many of the high profile data breaches you read about in the news can be traced back to poor administration practices. This course will help you understand how to prevent such incidents and how to detect and recover from failures. In addition to lectures, you will spend lab hours </a:t>
            </a:r>
            <a:r>
              <a:rPr dirty="0" err="1"/>
              <a:t>practising</a:t>
            </a:r>
            <a:r>
              <a:rPr dirty="0"/>
              <a:t> installation, configuration, backups, recovery and tuning. We will build on your knowledge of database design and modeling from CST3604 to ensure you can design a robust schema, implement it and maintain it over the long term. Along the way, you will learn not only how to use specific tools such as Oracle Enterprise Manager, SQL*Plus and Data Pump, but also why particular techniques (like normalization, transaction management and indexing) are important. The two‑hour lecture today is the foundation for everything to come.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In this slide we outline the major topics that will be covered in this class. In Week 1 we start with the big picture: what does a database administrator do, and how does the role fit into the broader context of system development. We will review database design and modeling to ensure everyone is comfortable with the underlying relational theory【90015303169094†L142-L145】. In Week 2 the focus moves to Oracle database architecture: understanding the database structures, processes, memory structure, transactions, the commit and rollback mechanisms, backup and recovery architecture, the data dictionary, utilities, scheduling and resource management【90015303169094†L148-L159】. In Week 3 we explore tablespaces: how to create and maintain them, how they are used for storage, controlling user access and security, and how they play a role in backup and data transfer【90015303169094†L163-L170】. Week 4 is devoted to schema management: types of SQL statements, schemas, managing tables (including temporary, index‑organised, external and partitioned tables), exploring data dictionary views, clusters, indexes, views, sequences, triggers and constraints【90015303169094†L174-L187】. Week 5 covers managing data and concurrency: locking, concurrency control and the management of undo data【90015303169094†L190-L194】.</a:t>
            </a:r>
          </a:p>
          <a:p>
            <a:endParaRPr/>
          </a:p>
          <a:p>
            <a:r>
              <a:t>Week 6 examines the practical aspects of installing, uninstalling and upgrading the database management system. After a midterm review and exam in Week 7【90015303169094†L200-L203】, Week 8 turns to creating a database from scratch: creating parameter files, starting and stopping the database, and examining log and trace files【90015303169094†L204-L208】. User management and database security is the subject of Week 9【90015303169094†L209-L216】: you'll learn about managing users, resource management, controlling access, auditing usage and authenticating users. Week 10 introduces loading and transforming data with external tables and transforming data in existing tables【90015303169094†L222-L225】. In Week 11 we look at improving database and query performance, including query optimization techniques【90015303169094†L228-L230】. Week 12 focuses on tuning: optimizing memory usage and measuring I/O performance【90015303169094†L232-L239】. In Week 13 we examine backup and recovery strategies at a deeper level【90015303169094†L239-L247】, and Week 14 introduces advanced topics such as distributed databases and data warehouses【90015303169094†L250-L255】. The last week is reserved for the final exam【90015303169094†L255-L258】.</a:t>
            </a:r>
          </a:p>
          <a:p>
            <a:endParaRPr/>
          </a:p>
          <a:p>
            <a:r>
              <a:t>Each week builds on the previous one, so staying engaged and keeping up with readings and labs is essential. These topics align with the course objectives, ensuring that you acquire practical experience with database creation and administration, performance tuning and recovery techniques. In addition to scheduled topics, we will discuss case studies and current trends such as NoSQL systems, cloud‑managed databases and data privacy regulations as time permits.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Before you can administer databases effectively, you must understand why database management systems were invented and what problems they solve. In traditional file‑based systems, data is stored in separate files and accessing data requires writing specialized programs. This approach has several drawbacks: data redundancy and inconsistency, difficulty in accessing data, and the risk that multiple programs updating the same data can interfere with one another. Because data is scattered among numerous files, changes must be made consistently in every file, and the lack of a centralized catalog of the data's meaning leads to data integrity problems【372831803046963†L70-L98】. A database management system (DBMS) addresses these issues by providing centralized storage and management of data and by offering high‑level languages to define, query and manipulate data【372831803046963†L106-L121】. The DBMS enforces constraints, controls concurrent access, recovers from crashes and ensures security. For example, concurrency control ensures that multiple users updating the same data do not corrupt the database【372831803046963†L401-L407】. The DBMS's recovery manager restores the database to a consistent state after failures【372831803046963†L107-L121】. Security features restrict access based on user privileges【372831803046963†L107-L121】.</a:t>
            </a:r>
          </a:p>
          <a:p>
            <a:endParaRPr/>
          </a:p>
          <a:p>
            <a:r>
              <a:t>In this course, you will learn about the duties of a database administrator, which include planning, building, tuning, troubleshooting, securing and monitoring databases. Planning involves analyzing requirements and choosing appropriate technology. Building means installing the DBMS and creating the database structures. Tuning refers to optimising performance through indexing, caching and partitioning. Troubleshooting involves diagnosing problems such as slow queries, locks and capacity issues. Securing the database means configuring authentication, authorization, auditing and encryption. Monitoring involves observing system metrics, tracking resource usage and proactively identifying potential bottlenecks. As we examine DBMS internals, pay attention to modules such as the storage manager, buffer manager, query processor, concurrency control and recovery manager. You will see that these modules are responsible for storage of data on disk, caching pages in memory, parsing and optimizing queries, ensuring serializable execution of transactions and recovering from failures. This understanding will help you make informed decisions when configuring and tuning a system. Throughout this slide we illustrate the hierarchy by drawing a simple diagram showing how applications interact with the DBMS, which in turn manages data files on disk.</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A fundamental concept in database systems is the separation of data into three levels of abstraction. At the highest level, the external or view level, each user sees a tailored version of the data that presents only the information relevant to them. At the middle, the logical or conceptual level defines the structure of the entire database in terms of the data model – for example, as a set of relations with attributes, domains and constraints. At the lowest level, the physical or internal level describes how the data is stored on disk, including file structures, indexes and compression. Separating these levels provides data independence: changes in the physical storage (such as adding an index) can be made without affecting the logical schema, and changes to the logical schema (such as splitting a table) can be made without altering users' views【372831803046963†L106-L121】.</a:t>
            </a:r>
          </a:p>
          <a:p>
            <a:endParaRPr/>
          </a:p>
          <a:p>
            <a:r>
              <a:t>Database architecture refers to how database systems are deployed and connected. Historically, early systems were centralized on mainframes. Today, most enterprise systems follow a client–server or n‑tier architecture, where user programs connect to an application server, which in turn communicates with the database server. The DBMS itself may be implemented as a collection of processes running on one or more hosts, utilizing memory structures, background processes and storage structures【90015303169094†L148-L159】. In the three‑tier model, the presentation logic resides on the client, the business logic resides on a middle‑tier server, and the database server handles data storage and retrieval. Distributed database architectures extend this model by allowing data to be located at multiple sites; parallel databases divide tasks among processors to improve throughput and availability【372831803046963†L419-L432】. As an administrator, you must understand these architectures to configure your system properly, plan for capacity and availability, and troubleshoot performance issues. In our labs we will deploy Oracle in a client–server mode and examine the structure of memory areas such as the System Global Area (SGA), background processes, datafiles, control files and redo logs【90015303169094†L148-L159】. The architecture slide includes a simple diagram to visualize these tiers and highlight the flow of requests from client to server. When you think about architecture, consider not only hardware and software, but also process: backup and recovery routines, monitoring frameworks, and the interplay between the database and the operating system.</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rPr dirty="0"/>
              <a:t>The relational data model, proposed by E.F. Codd in 1970, is the foundation of most modern database systems. In the relational model, data is organized in tables called relations. Each relation consists of rows, called tuples, and columns, called attributes. The domain of an attribute is the set of permissible values it can take. For example, in a STUDENT relation with attributes (id, name, major), id might have the domain of positive integers, name might be a string of up to fifty characters, and major might be one of the allowed academic programs. A relation has a schema – the list of attribute names and domains – and an instance – the actual set of tuples at a given time【372831803046963†L106-L121】. Each relation is assigned at least one key, a set of attributes whose values uniquely identify a tuple; a candidate key is a minimal such set, and one candidate key is chosen as the primary key. Relationships between relations are represented through foreign keys: an attribute in one relation that references the primary key of another, enforcing referential integrity. The relational model treats the ordering of rows and columns as immaterial – a table is a set of tuples – and it allows powerful high‑level operations such as selection, projection and join.</a:t>
            </a:r>
          </a:p>
          <a:p>
            <a:endParaRPr dirty="0"/>
          </a:p>
          <a:p>
            <a:r>
              <a:rPr dirty="0"/>
              <a:t>In a few slides you will learn how these concepts manifest in SQL statements, but for now pay attention to the abstraction: by modeling data as relations and operations as set operations, the relational model provides a sound theoretical foundation that enables the DBMS to optimize queries and enforce constraints. As an administrator you must know not only how to design a good schema using the relational model but also how to recognize potential design flaws. Poor design leads to anomalies (redundant data, update anomalies, deletion anomalies) that can compromise data integrity and performance. Later we will discuss normalization, a technique for restructuring relations to avoid these problems. In class we will practice by creating sample schemas, identifying keys, and establishing foreign keys. Understanding the relational model will also help you understand more advanced topics such as views, materialized views, partitioning and indexing. In the slide, we present a simple example of a STUDENT relation and highlight the primary key and the relational schema.</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Structured Query Language (SQL) is the standard language for creating, querying and modifying relational databases. SQL combines two major components: a data definition language (DDL) used to define and modify schemas and a data manipulation language (DML) used to retrieve and update data. When you create a new table in Oracle, you write a CREATE TABLE statement specifying the table name, column names, data types and constraints. You can alter a table’s structure with ALTER TABLE and remove a table entirely with DROP TABLE. To retrieve data, you use SELECT, specifying the columns you want and the rows that satisfy certain conditions. To insert new rows, you use INSERT INTO; to modify existing rows, you use UPDATE; to delete rows, you use DELETE. SQL is declarative: you specify what you want, not how to compute it. The DBMS parses your query, produces an execution plan and executes it efficiently using indexes and join algorithms. Because of this separation, SQL queries are portable across systems and can be optimized by the DBMS.</a:t>
            </a:r>
          </a:p>
          <a:p>
            <a:endParaRPr/>
          </a:p>
          <a:p>
            <a:r>
              <a:t>In this course you will write many SQL statements. You will learn how to join multiple tables, group and aggregate data, filter with WHERE, sort with ORDER BY and combine results with UNION. You will also study more advanced features such as views (virtual tables defined by queries), sequences for generating unique identifiers, triggers for enforcing business rules, and stored procedures and functions for encapsulating logic. As administrators, you will be concerned not only with writing correct SQL but also with controlling the privileges users have to execute SQL statements. Oracle uses Data Control Language (GRANT and REVOKE) to assign privileges. In addition, you will learn how to monitor and tune SQL queries, using the optimizer’s explain plan and statistics to find efficient execution strategies. The slide includes a simple example query and lists the basic SQL statement types, while the notes provide commentary on how SQL fits into the broader context of database administration.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Designing a database begins with modeling the real world. The Entity–Relationship (ER) model is a conceptual tool for describing the data and its relationships at a high level. In the ER model, objects in the real world are represented as entities; their properties are attributes; and associations among entities are relationships. For example, in a university database, STUDENT and COURSE might be entities; each STUDENT has attributes such as studentId, name and major; each COURSE has attributes such as courseId, title and credits. The fact that a student is enrolled in a course is a relationship, which we might call ENROLLS. Relationships have cardinalities that express how many instances of one entity can be associated with instances of another: a student can enroll in many courses, and each course can have many students, so ENROLLS is a many‑to‑many relationship. In the ER diagram, entities are drawn as rectangles, relationships as diamonds and attributes as ovals attached to their entity or relationship. Weak entities, specialization and generalization, multivalued attributes and relationship attributes are extensions to the basic model.</a:t>
            </a:r>
          </a:p>
          <a:p>
            <a:endParaRPr/>
          </a:p>
          <a:p>
            <a:r>
              <a:t>The ER model helps the designer communicate with stakeholders, ensures that important entities and relationships are not overlooked, and provides a blueprint for the logical schema. Once the ER design is complete, it is mapped to the relational model: each entity becomes a table, each simple attribute becomes a column, and many‑to‑many relationships become new tables with foreign keys referencing the related entities. Keeping the design normalized at this stage helps avoid anomalies later. During the course you will practice constructing ER diagrams and mapping them to relational schemas. We will critique designs for correctness, completeness and clarity, and we will show how poorly designed schemas can hinder performance or violate business rules. The slide shows a simple ER diagram connecting STUDENT and COURSE through the ENROLLS relationship; the notes describe how to read the diagram and highlight the key ideas behind conceptual modeling. ER modeling remains an indispensable skill even in the era of NoSQL databases because it forces you to understand the data semantics before choosing a storage technology.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Normalization is a process for structuring relational schemas to reduce redundancy and eliminate update anomalies. Redundancy occurs when the same data appears in multiple places; update anomalies occur when an update is applied to some copies but not all, leading to inconsistency. The three classical normal forms—first normal form (1NF), second normal form (2NF) and third normal form (3NF)—provide increasingly strict criteria for how attributes are grouped into relations. A relation is in 1NF if all its attributes contain only atomic (indivisible) values and each tuple is unique. It is in 2NF if it is in 1NF and every non‑key attribute is fully functionally dependent on the primary key. It is in 3NF if it is in 2NF and no non‑key attribute is transitively dependent on the primary key. Boyce–Codd Normal Form (BCNF) is a stronger version of 3NF that handles certain anomalies not covered by 3NF. Normalization is typically performed after conceptual modeling: the designer identifies functional dependencies, decomposes relations accordingly and verifies that the decomposition is lossless and dependency preserving. While normalization reduces redundancy and improves integrity, it can sometimes hurt performance because more tables must be joined. As a database administrator you must balance these considerations: adopt a normalized design for correctness, then selectively denormalize for performance when justified.</a:t>
            </a:r>
          </a:p>
          <a:p>
            <a:endParaRPr/>
          </a:p>
          <a:p>
            <a:r>
              <a:t>Designing a database also involves choosing appropriate data types, deciding when to use indexes, selecting partitioning strategies and determining how to handle historical data. Good design considers expected workloads: are queries predominantly transactional (OLTP) or analytical (OLAP)? Are there compliance requirements that dictate how long data must be retained? As we progress through the course, you will learn techniques for physical design such as clustering tables and indexes, using tablespaces to segregate data and logs, and employing materialized views and summary tables to improve query performance. The slide summarizes the normal forms in a compact table and reminds you that normalization is a tool, not an end in itself. The accompanying notes expand on the rationale for normalization and the practical trade‑offs you will encounter.</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This slide summarizes the administrative aspects of the course. The syllabus lists the grading procedure: the midterm exam accounts for 20% of your final grade, the final exam for 30%, quizzes for 20%, the case assignment or project for 25%, and homework for 5%. Letter grades correspond to numerical ranges; for example, an A is 93–100, an A− is 90–92.9, a B+ is 87–89.9 and so on【90015303169094†L107-L136】. You must complete all assessments to pass the course. Weekly quizzes will test your understanding of lecture and lab material. The midterm exam will cover the first half of the course, including database architecture, tablespaces, schema management, concurrency and installation. The case assignment requires you to apply what you have learned to design and implement a database solution. The final exam is comprehensive and will test your ability to integrate concepts from the entire semester.</a:t>
            </a:r>
          </a:p>
          <a:p>
            <a:endParaRPr/>
          </a:p>
          <a:p>
            <a:r>
              <a:t>Attendance is taken at every class; college policy allows you to miss up to 10% of scheduled meetings without penalty. However, excessive absences will hurt your ability to keep up with the material and may lead to failure. You are expected to arrive on time and stay for the entire class. If you must miss a class, notify the instructor in advance and arrange to catch up. The academic integrity policy prohibits plagiarism, cheating and other forms of dishonesty【90015303169094†L60-L79】. All assignments must be your own work; when you use external sources, you must cite them properly. The instructor will identify additional resources during the semester, including web articles and printed handouts【90015303169094†L44-L47】. Because database administration is a hands‑on discipline, much of your learning will occur during lab sessions: be sure to bring the required USB storage device【90015303169094†L41-L42】.</a:t>
            </a:r>
          </a:p>
          <a:p>
            <a:endParaRPr/>
          </a:p>
          <a:p>
            <a:r>
              <a:t>Finally, the schedule outlines when each topic will be covered, so you can read the appropriate chapters in advance: this preparation will make lectures more meaningful and enable you to ask informed questions. If you have any special learning needs or require accommodations, please see the instructor during office hours.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rPr dirty="0"/>
              <a:t>We have reached the end of our introductory session. We have discussed the scope of database administration, the objectives of the course, the weekly topics and the grading policy. We have briefly reviewed the motivation for using a DBMS instead of a file system, introduced the three levels of abstraction and discussed the relational model, SQL, ER modeling and normalization. These topics are the building blocks of the rest of the course. In future classes we will delve deeply into Oracle’s architecture and utilities, explore how to configure tablespaces and manage schema objects, learn to implement and tune indexing strategies, and develop skills in backup, recovery and security. We will also consider broader trends, such as cloud‑managed databases, distributed systems and non‑relational models, and discuss how the core principles you learn here can be adapted to those environments.</a:t>
            </a:r>
          </a:p>
          <a:p>
            <a:endParaRPr dirty="0"/>
          </a:p>
          <a:p>
            <a:r>
              <a:rPr dirty="0"/>
              <a:t>As you move forward, keep in mind that database administration requires both theoretical knowledge and practical skills. Reading the textbook and attending lectures will provide the theory, while lab exercises and the case project will give you practical experience. This course is demanding, but by the end of the semester you will have a strong foundation in database administration. Make sure to schedule time each week for reading, practicing in the lab and reviewing your notes. If you find yourself struggling, seek help early: the instructor and your classmates are valuable resources. Thank you for your attention today, and I look forward to working with you this semester.</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92D"/>
        </a:solidFill>
        <a:effectLst/>
      </p:bgPr>
    </p:bg>
    <p:spTree>
      <p:nvGrpSpPr>
        <p:cNvPr id="1" name=""/>
        <p:cNvGrpSpPr/>
        <p:nvPr/>
      </p:nvGrpSpPr>
      <p:grpSpPr>
        <a:xfrm>
          <a:off x="0" y="0"/>
          <a:ext cx="0" cy="0"/>
          <a:chOff x="0" y="0"/>
          <a:chExt cx="0" cy="0"/>
        </a:xfrm>
      </p:grpSpPr>
      <p:sp>
        <p:nvSpPr>
          <p:cNvPr id="2" name="TextBox 1"/>
          <p:cNvSpPr txBox="1"/>
          <p:nvPr/>
        </p:nvSpPr>
        <p:spPr>
          <a:xfrm>
            <a:off x="457200" y="1645920"/>
            <a:ext cx="8229600" cy="1828800"/>
          </a:xfrm>
          <a:prstGeom prst="rect">
            <a:avLst/>
          </a:prstGeom>
          <a:noFill/>
        </p:spPr>
        <p:txBody>
          <a:bodyPr wrap="none">
            <a:spAutoFit/>
          </a:bodyPr>
          <a:lstStyle/>
          <a:p>
            <a:pPr algn="ctr">
              <a:defRPr sz="4400" b="1">
                <a:solidFill>
                  <a:srgbClr val="FFFFFF"/>
                </a:solidFill>
              </a:defRPr>
            </a:pPr>
            <a:r>
              <a:t>CST4714: Database Administration</a:t>
            </a:r>
          </a:p>
          <a:p>
            <a:pPr algn="ctr">
              <a:defRPr sz="2400">
                <a:solidFill>
                  <a:srgbClr val="6095C7"/>
                </a:solidFill>
              </a:defRPr>
            </a:pPr>
            <a:r>
              <a:t>Course Introduction &amp; Overview</a:t>
            </a:r>
          </a:p>
          <a:p>
            <a:pPr algn="ctr">
              <a:defRPr sz="1400">
                <a:solidFill>
                  <a:srgbClr val="6095C7"/>
                </a:solidFill>
              </a:defRPr>
            </a:pPr>
            <a:r>
              <a:t>Computer Systems Technology Department, City Tech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Course Topics &amp; Objectives</a:t>
            </a:r>
          </a:p>
        </p:txBody>
      </p:sp>
      <p:sp>
        <p:nvSpPr>
          <p:cNvPr id="4" name="TextBox 3"/>
          <p:cNvSpPr txBox="1"/>
          <p:nvPr/>
        </p:nvSpPr>
        <p:spPr>
          <a:xfrm>
            <a:off x="457200" y="914400"/>
            <a:ext cx="8229600" cy="3200400"/>
          </a:xfrm>
          <a:prstGeom prst="rect">
            <a:avLst/>
          </a:prstGeom>
          <a:noFill/>
        </p:spPr>
        <p:txBody>
          <a:bodyPr wrap="square">
            <a:spAutoFit/>
          </a:bodyPr>
          <a:lstStyle/>
          <a:p>
            <a:pPr>
              <a:defRPr sz="1600">
                <a:solidFill>
                  <a:srgbClr val="323232"/>
                </a:solidFill>
              </a:defRPr>
            </a:pPr>
            <a:r>
              <a:t>Week 1: DBA tasks, roles &amp; review of design</a:t>
            </a:r>
          </a:p>
          <a:p>
            <a:pPr>
              <a:defRPr sz="1600">
                <a:solidFill>
                  <a:srgbClr val="323232"/>
                </a:solidFill>
              </a:defRPr>
            </a:pPr>
            <a:r>
              <a:t>Week 2: Database architecture &amp; memory/transactions</a:t>
            </a:r>
          </a:p>
          <a:p>
            <a:pPr>
              <a:defRPr sz="1600">
                <a:solidFill>
                  <a:srgbClr val="323232"/>
                </a:solidFill>
              </a:defRPr>
            </a:pPr>
            <a:r>
              <a:t>Week 3: Tablespaces &amp; storage management</a:t>
            </a:r>
          </a:p>
          <a:p>
            <a:pPr>
              <a:defRPr sz="1600">
                <a:solidFill>
                  <a:srgbClr val="323232"/>
                </a:solidFill>
              </a:defRPr>
            </a:pPr>
            <a:r>
              <a:t>Week 4: Schema management &amp; SQL object types</a:t>
            </a:r>
          </a:p>
          <a:p>
            <a:pPr>
              <a:defRPr sz="1600">
                <a:solidFill>
                  <a:srgbClr val="323232"/>
                </a:solidFill>
              </a:defRPr>
            </a:pPr>
            <a:r>
              <a:t>Week 5–6: Concurrency, locking &amp; installing/upgrading</a:t>
            </a:r>
          </a:p>
          <a:p>
            <a:pPr>
              <a:defRPr sz="1600">
                <a:solidFill>
                  <a:srgbClr val="323232"/>
                </a:solidFill>
              </a:defRPr>
            </a:pPr>
            <a:r>
              <a:t>Weeks 7–10: DB creation, user management &amp; security</a:t>
            </a:r>
          </a:p>
          <a:p>
            <a:pPr>
              <a:defRPr sz="1600">
                <a:solidFill>
                  <a:srgbClr val="323232"/>
                </a:solidFill>
              </a:defRPr>
            </a:pPr>
            <a:r>
              <a:t>Weeks 11–14: Performance tuning, backup/recovery &amp; advanced topics</a:t>
            </a:r>
          </a:p>
          <a:p>
            <a:pPr>
              <a:defRPr sz="1600">
                <a:solidFill>
                  <a:srgbClr val="323232"/>
                </a:solidFill>
              </a:defRPr>
            </a:pPr>
            <a:r>
              <a:t>Final Exam &amp; project submission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DBMS Fundamentals &amp; Role of the DBA</a:t>
            </a:r>
          </a:p>
        </p:txBody>
      </p:sp>
      <p:sp>
        <p:nvSpPr>
          <p:cNvPr id="4" name="TextBox 3"/>
          <p:cNvSpPr txBox="1"/>
          <p:nvPr/>
        </p:nvSpPr>
        <p:spPr>
          <a:xfrm>
            <a:off x="457200" y="914400"/>
            <a:ext cx="3657600" cy="3200400"/>
          </a:xfrm>
          <a:prstGeom prst="rect">
            <a:avLst/>
          </a:prstGeom>
          <a:noFill/>
        </p:spPr>
        <p:txBody>
          <a:bodyPr wrap="square">
            <a:spAutoFit/>
          </a:bodyPr>
          <a:lstStyle/>
          <a:p>
            <a:pPr>
              <a:defRPr sz="1800" b="1">
                <a:solidFill>
                  <a:srgbClr val="323232"/>
                </a:solidFill>
              </a:defRPr>
            </a:pPr>
            <a:r>
              <a:t>Why DBMS?</a:t>
            </a:r>
          </a:p>
          <a:p>
            <a:pPr lvl="1">
              <a:defRPr sz="1400">
                <a:solidFill>
                  <a:srgbClr val="323232"/>
                </a:solidFill>
              </a:defRPr>
            </a:pPr>
            <a:r>
              <a:t>File‑based systems suffer from data redundancy &amp; isolation</a:t>
            </a:r>
          </a:p>
          <a:p>
            <a:pPr lvl="1">
              <a:defRPr sz="1400">
                <a:solidFill>
                  <a:srgbClr val="323232"/>
                </a:solidFill>
              </a:defRPr>
            </a:pPr>
            <a:r>
              <a:t>Difficult to enforce consistency across multiple files</a:t>
            </a:r>
          </a:p>
          <a:p>
            <a:pPr lvl="1">
              <a:defRPr sz="1400">
                <a:solidFill>
                  <a:srgbClr val="323232"/>
                </a:solidFill>
              </a:defRPr>
            </a:pPr>
            <a:r>
              <a:t>Hard to access and update data; no centralized catalogue</a:t>
            </a:r>
          </a:p>
          <a:p>
            <a:pPr lvl="1">
              <a:defRPr sz="1400">
                <a:solidFill>
                  <a:srgbClr val="323232"/>
                </a:solidFill>
              </a:defRPr>
            </a:pPr>
            <a:r>
              <a:t>DBMS provides concurrency control, recovery &amp; security</a:t>
            </a:r>
          </a:p>
        </p:txBody>
      </p:sp>
      <p:sp>
        <p:nvSpPr>
          <p:cNvPr id="5" name="TextBox 4"/>
          <p:cNvSpPr txBox="1"/>
          <p:nvPr/>
        </p:nvSpPr>
        <p:spPr>
          <a:xfrm>
            <a:off x="4572000" y="914400"/>
            <a:ext cx="4114800" cy="3200400"/>
          </a:xfrm>
          <a:prstGeom prst="rect">
            <a:avLst/>
          </a:prstGeom>
          <a:noFill/>
        </p:spPr>
        <p:txBody>
          <a:bodyPr wrap="square">
            <a:spAutoFit/>
          </a:bodyPr>
          <a:lstStyle/>
          <a:p>
            <a:pPr>
              <a:defRPr sz="1800" b="1">
                <a:solidFill>
                  <a:srgbClr val="323232"/>
                </a:solidFill>
              </a:defRPr>
            </a:pPr>
            <a:r>
              <a:t>Duties of a DBA</a:t>
            </a:r>
          </a:p>
          <a:p>
            <a:pPr lvl="1">
              <a:defRPr sz="1400">
                <a:solidFill>
                  <a:srgbClr val="323232"/>
                </a:solidFill>
              </a:defRPr>
            </a:pPr>
            <a:r>
              <a:t>Plan: analyze requirements &amp; choose technologies</a:t>
            </a:r>
          </a:p>
          <a:p>
            <a:pPr lvl="1">
              <a:defRPr sz="1400">
                <a:solidFill>
                  <a:srgbClr val="323232"/>
                </a:solidFill>
              </a:defRPr>
            </a:pPr>
            <a:r>
              <a:t>Build: install DBMS &amp; create structures</a:t>
            </a:r>
          </a:p>
          <a:p>
            <a:pPr lvl="1">
              <a:defRPr sz="1400">
                <a:solidFill>
                  <a:srgbClr val="323232"/>
                </a:solidFill>
              </a:defRPr>
            </a:pPr>
            <a:r>
              <a:t>Tune: optimise queries, indexes, memory</a:t>
            </a:r>
          </a:p>
          <a:p>
            <a:pPr lvl="1">
              <a:defRPr sz="1400">
                <a:solidFill>
                  <a:srgbClr val="323232"/>
                </a:solidFill>
              </a:defRPr>
            </a:pPr>
            <a:r>
              <a:t>Troubleshoot: diagnose and resolve issues</a:t>
            </a:r>
          </a:p>
          <a:p>
            <a:pPr lvl="1">
              <a:defRPr sz="1400">
                <a:solidFill>
                  <a:srgbClr val="323232"/>
                </a:solidFill>
              </a:defRPr>
            </a:pPr>
            <a:r>
              <a:t>Secure: manage users &amp; privileges, audit usage</a:t>
            </a:r>
          </a:p>
          <a:p>
            <a:pPr lvl="1">
              <a:defRPr sz="1400">
                <a:solidFill>
                  <a:srgbClr val="323232"/>
                </a:solidFill>
              </a:defRPr>
            </a:pPr>
            <a:r>
              <a:t>Monitor: observe metrics &amp; anticipate problems</a:t>
            </a:r>
          </a:p>
        </p:txBody>
      </p:sp>
      <p:sp>
        <p:nvSpPr>
          <p:cNvPr id="6" name="Can 5"/>
          <p:cNvSpPr/>
          <p:nvPr/>
        </p:nvSpPr>
        <p:spPr>
          <a:xfrm>
            <a:off x="914400" y="4114800"/>
            <a:ext cx="1097280" cy="731520"/>
          </a:xfrm>
          <a:prstGeom prst="can">
            <a:avLst/>
          </a:prstGeom>
          <a:solidFill>
            <a:srgbClr val="1F5E97"/>
          </a:solidFill>
          <a:ln>
            <a:solidFill>
              <a:srgbClr val="1F5E9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defRPr>
            </a:pPr>
            <a:r>
              <a:t>Database</a:t>
            </a:r>
          </a:p>
        </p:txBody>
      </p:sp>
      <p:sp>
        <p:nvSpPr>
          <p:cNvPr id="7" name="Rounded Rectangle 6"/>
          <p:cNvSpPr/>
          <p:nvPr/>
        </p:nvSpPr>
        <p:spPr>
          <a:xfrm>
            <a:off x="2286000" y="4114800"/>
            <a:ext cx="1463040" cy="457200"/>
          </a:xfrm>
          <a:prstGeom prst="roundRect">
            <a:avLst/>
          </a:prstGeom>
          <a:solidFill>
            <a:srgbClr val="6095C7"/>
          </a:solidFill>
          <a:ln>
            <a:solidFill>
              <a:srgbClr val="6095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t>Storage</a:t>
            </a:r>
          </a:p>
        </p:txBody>
      </p:sp>
      <p:sp>
        <p:nvSpPr>
          <p:cNvPr id="8" name="Rounded Rectangle 7"/>
          <p:cNvSpPr/>
          <p:nvPr/>
        </p:nvSpPr>
        <p:spPr>
          <a:xfrm>
            <a:off x="3931920" y="4114800"/>
            <a:ext cx="1463040" cy="457200"/>
          </a:xfrm>
          <a:prstGeom prst="roundRect">
            <a:avLst/>
          </a:prstGeom>
          <a:solidFill>
            <a:srgbClr val="6095C7"/>
          </a:solidFill>
          <a:ln>
            <a:solidFill>
              <a:srgbClr val="6095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t>Query Processor</a:t>
            </a:r>
          </a:p>
        </p:txBody>
      </p:sp>
      <p:sp>
        <p:nvSpPr>
          <p:cNvPr id="9" name="Rounded Rectangle 8"/>
          <p:cNvSpPr/>
          <p:nvPr/>
        </p:nvSpPr>
        <p:spPr>
          <a:xfrm>
            <a:off x="5577840" y="4114800"/>
            <a:ext cx="1463040" cy="457200"/>
          </a:xfrm>
          <a:prstGeom prst="roundRect">
            <a:avLst/>
          </a:prstGeom>
          <a:solidFill>
            <a:srgbClr val="6095C7"/>
          </a:solidFill>
          <a:ln>
            <a:solidFill>
              <a:srgbClr val="6095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t>Concurrency</a:t>
            </a:r>
          </a:p>
        </p:txBody>
      </p:sp>
      <p:sp>
        <p:nvSpPr>
          <p:cNvPr id="10" name="Rounded Rectangle 9"/>
          <p:cNvSpPr/>
          <p:nvPr/>
        </p:nvSpPr>
        <p:spPr>
          <a:xfrm>
            <a:off x="7223759" y="4114800"/>
            <a:ext cx="1463040" cy="457200"/>
          </a:xfrm>
          <a:prstGeom prst="roundRect">
            <a:avLst/>
          </a:prstGeom>
          <a:solidFill>
            <a:srgbClr val="6095C7"/>
          </a:solidFill>
          <a:ln>
            <a:solidFill>
              <a:srgbClr val="6095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t>Recovery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Data Models &amp; Architecture</a:t>
            </a:r>
          </a:p>
        </p:txBody>
      </p:sp>
      <p:sp>
        <p:nvSpPr>
          <p:cNvPr id="4" name="TextBox 3"/>
          <p:cNvSpPr txBox="1"/>
          <p:nvPr/>
        </p:nvSpPr>
        <p:spPr>
          <a:xfrm>
            <a:off x="457200" y="914400"/>
            <a:ext cx="3840480" cy="2743200"/>
          </a:xfrm>
          <a:prstGeom prst="rect">
            <a:avLst/>
          </a:prstGeom>
          <a:noFill/>
        </p:spPr>
        <p:txBody>
          <a:bodyPr wrap="square">
            <a:spAutoFit/>
          </a:bodyPr>
          <a:lstStyle/>
          <a:p>
            <a:pPr>
              <a:defRPr sz="1800" b="1">
                <a:solidFill>
                  <a:srgbClr val="323232"/>
                </a:solidFill>
              </a:defRPr>
            </a:pPr>
            <a:r>
              <a:t>Levels of Abstraction</a:t>
            </a:r>
          </a:p>
          <a:p>
            <a:pPr lvl="1">
              <a:defRPr sz="1400">
                <a:solidFill>
                  <a:srgbClr val="323232"/>
                </a:solidFill>
              </a:defRPr>
            </a:pPr>
            <a:r>
              <a:t>External (view) level: tailored user views</a:t>
            </a:r>
          </a:p>
          <a:p>
            <a:pPr lvl="1">
              <a:defRPr sz="1400">
                <a:solidFill>
                  <a:srgbClr val="323232"/>
                </a:solidFill>
              </a:defRPr>
            </a:pPr>
            <a:r>
              <a:t>Conceptual (logical) level: overall schema</a:t>
            </a:r>
          </a:p>
          <a:p>
            <a:pPr lvl="1">
              <a:defRPr sz="1400">
                <a:solidFill>
                  <a:srgbClr val="323232"/>
                </a:solidFill>
              </a:defRPr>
            </a:pPr>
            <a:r>
              <a:t>Physical (internal) level: storage details</a:t>
            </a:r>
          </a:p>
          <a:p>
            <a:pPr lvl="1">
              <a:defRPr sz="1400">
                <a:solidFill>
                  <a:srgbClr val="323232"/>
                </a:solidFill>
              </a:defRPr>
            </a:pPr>
            <a:r>
              <a:t>Data independence between levels</a:t>
            </a:r>
          </a:p>
        </p:txBody>
      </p:sp>
      <p:sp>
        <p:nvSpPr>
          <p:cNvPr id="5" name="TextBox 4"/>
          <p:cNvSpPr txBox="1"/>
          <p:nvPr/>
        </p:nvSpPr>
        <p:spPr>
          <a:xfrm>
            <a:off x="4572000" y="914400"/>
            <a:ext cx="4114800" cy="2743200"/>
          </a:xfrm>
          <a:prstGeom prst="rect">
            <a:avLst/>
          </a:prstGeom>
          <a:noFill/>
        </p:spPr>
        <p:txBody>
          <a:bodyPr wrap="square">
            <a:spAutoFit/>
          </a:bodyPr>
          <a:lstStyle/>
          <a:p>
            <a:pPr>
              <a:defRPr sz="1800" b="1">
                <a:solidFill>
                  <a:srgbClr val="323232"/>
                </a:solidFill>
              </a:defRPr>
            </a:pPr>
            <a:r>
              <a:t>Architectures</a:t>
            </a:r>
          </a:p>
          <a:p>
            <a:pPr lvl="1">
              <a:defRPr sz="1400">
                <a:solidFill>
                  <a:srgbClr val="323232"/>
                </a:solidFill>
              </a:defRPr>
            </a:pPr>
            <a:r>
              <a:t>Centralised vs client–server vs distributed</a:t>
            </a:r>
          </a:p>
          <a:p>
            <a:pPr lvl="1">
              <a:defRPr sz="1400">
                <a:solidFill>
                  <a:srgbClr val="323232"/>
                </a:solidFill>
              </a:defRPr>
            </a:pPr>
            <a:r>
              <a:t>Three‑tier model: client, app server, DB server</a:t>
            </a:r>
          </a:p>
          <a:p>
            <a:pPr lvl="1">
              <a:defRPr sz="1400">
                <a:solidFill>
                  <a:srgbClr val="323232"/>
                </a:solidFill>
              </a:defRPr>
            </a:pPr>
            <a:r>
              <a:t>Parallel DBs for performance &amp; availability</a:t>
            </a:r>
          </a:p>
          <a:p>
            <a:pPr lvl="1">
              <a:defRPr sz="1400">
                <a:solidFill>
                  <a:srgbClr val="323232"/>
                </a:solidFill>
              </a:defRPr>
            </a:pPr>
            <a:r>
              <a:t>Understand memory, processes &amp; storage</a:t>
            </a:r>
          </a:p>
        </p:txBody>
      </p:sp>
      <p:sp>
        <p:nvSpPr>
          <p:cNvPr id="6" name="Rectangle 5"/>
          <p:cNvSpPr/>
          <p:nvPr/>
        </p:nvSpPr>
        <p:spPr>
          <a:xfrm>
            <a:off x="914400" y="4023360"/>
            <a:ext cx="1280160" cy="548640"/>
          </a:xfrm>
          <a:prstGeom prst="rect">
            <a:avLst/>
          </a:prstGeom>
          <a:solidFill>
            <a:srgbClr val="1F5E97"/>
          </a:solidFill>
          <a:ln>
            <a:solidFill>
              <a:srgbClr val="1F5E9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defRPr>
            </a:pPr>
            <a:r>
              <a:t>Client</a:t>
            </a:r>
          </a:p>
        </p:txBody>
      </p:sp>
      <p:sp>
        <p:nvSpPr>
          <p:cNvPr id="7" name="Rectangle 6"/>
          <p:cNvSpPr/>
          <p:nvPr/>
        </p:nvSpPr>
        <p:spPr>
          <a:xfrm>
            <a:off x="4023360" y="4023360"/>
            <a:ext cx="1645920" cy="548640"/>
          </a:xfrm>
          <a:prstGeom prst="rect">
            <a:avLst/>
          </a:prstGeom>
          <a:solidFill>
            <a:srgbClr val="1F5E97"/>
          </a:solidFill>
          <a:ln>
            <a:solidFill>
              <a:srgbClr val="1F5E9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defRPr>
            </a:pPr>
            <a:r>
              <a:t>App Server</a:t>
            </a:r>
          </a:p>
        </p:txBody>
      </p:sp>
      <p:sp>
        <p:nvSpPr>
          <p:cNvPr id="8" name="Rectangle 7"/>
          <p:cNvSpPr/>
          <p:nvPr/>
        </p:nvSpPr>
        <p:spPr>
          <a:xfrm>
            <a:off x="6949440" y="4023360"/>
            <a:ext cx="1280160" cy="548640"/>
          </a:xfrm>
          <a:prstGeom prst="rect">
            <a:avLst/>
          </a:prstGeom>
          <a:solidFill>
            <a:srgbClr val="1F5E97"/>
          </a:solidFill>
          <a:ln>
            <a:solidFill>
              <a:srgbClr val="1F5E9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defRPr>
            </a:pPr>
            <a:r>
              <a:t>DB Server</a:t>
            </a:r>
          </a:p>
        </p:txBody>
      </p:sp>
      <p:sp>
        <p:nvSpPr>
          <p:cNvPr id="9" name="Right Arrow 8"/>
          <p:cNvSpPr/>
          <p:nvPr/>
        </p:nvSpPr>
        <p:spPr>
          <a:xfrm>
            <a:off x="2194560" y="4114800"/>
            <a:ext cx="1645920" cy="274320"/>
          </a:xfrm>
          <a:prstGeom prst="rightArrow">
            <a:avLst/>
          </a:prstGeom>
          <a:solidFill>
            <a:srgbClr val="6095C7"/>
          </a:solidFill>
          <a:ln>
            <a:solidFill>
              <a:srgbClr val="6095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5669280" y="4114800"/>
            <a:ext cx="1280160" cy="274320"/>
          </a:xfrm>
          <a:prstGeom prst="rightArrow">
            <a:avLst/>
          </a:prstGeom>
          <a:solidFill>
            <a:srgbClr val="6095C7"/>
          </a:solidFill>
          <a:ln>
            <a:solidFill>
              <a:srgbClr val="6095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Relational Model Essentials</a:t>
            </a:r>
          </a:p>
        </p:txBody>
      </p:sp>
      <p:sp>
        <p:nvSpPr>
          <p:cNvPr id="4" name="TextBox 3"/>
          <p:cNvSpPr txBox="1"/>
          <p:nvPr/>
        </p:nvSpPr>
        <p:spPr>
          <a:xfrm>
            <a:off x="457200" y="914400"/>
            <a:ext cx="5029200" cy="3200400"/>
          </a:xfrm>
          <a:prstGeom prst="rect">
            <a:avLst/>
          </a:prstGeom>
          <a:noFill/>
        </p:spPr>
        <p:txBody>
          <a:bodyPr wrap="square">
            <a:spAutoFit/>
          </a:bodyPr>
          <a:lstStyle/>
          <a:p>
            <a:pPr>
              <a:defRPr sz="1600" b="1">
                <a:solidFill>
                  <a:srgbClr val="323232"/>
                </a:solidFill>
              </a:defRPr>
            </a:pPr>
            <a:r>
              <a:t>Data organised as relations (tables)</a:t>
            </a:r>
          </a:p>
          <a:p>
            <a:pPr lvl="1">
              <a:defRPr sz="1400">
                <a:solidFill>
                  <a:srgbClr val="323232"/>
                </a:solidFill>
              </a:defRPr>
            </a:pPr>
            <a:r>
              <a:t>Relation = set of tuples (rows) and attributes (columns)</a:t>
            </a:r>
          </a:p>
          <a:p>
            <a:pPr lvl="1">
              <a:defRPr sz="1400">
                <a:solidFill>
                  <a:srgbClr val="323232"/>
                </a:solidFill>
              </a:defRPr>
            </a:pPr>
            <a:r>
              <a:t>Domains define the legal values of attributes</a:t>
            </a:r>
          </a:p>
          <a:p>
            <a:pPr lvl="1">
              <a:defRPr sz="1400">
                <a:solidFill>
                  <a:srgbClr val="323232"/>
                </a:solidFill>
              </a:defRPr>
            </a:pPr>
            <a:r>
              <a:t>Schema vs instance: design vs current contents</a:t>
            </a:r>
          </a:p>
          <a:p>
            <a:pPr lvl="1">
              <a:defRPr sz="1400">
                <a:solidFill>
                  <a:srgbClr val="323232"/>
                </a:solidFill>
              </a:defRPr>
            </a:pPr>
            <a:r>
              <a:t>Keys uniquely identify tuples; foreign keys enforce relationships</a:t>
            </a:r>
          </a:p>
        </p:txBody>
      </p:sp>
      <p:graphicFrame>
        <p:nvGraphicFramePr>
          <p:cNvPr id="5" name="Table 4"/>
          <p:cNvGraphicFramePr>
            <a:graphicFrameLocks noGrp="1"/>
          </p:cNvGraphicFramePr>
          <p:nvPr/>
        </p:nvGraphicFramePr>
        <p:xfrm>
          <a:off x="5669280" y="1828800"/>
          <a:ext cx="3017520" cy="146304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65760">
                <a:tc>
                  <a:txBody>
                    <a:bodyPr/>
                    <a:lstStyle/>
                    <a:p>
                      <a:pPr>
                        <a:defRPr sz="1200" b="1">
                          <a:solidFill>
                            <a:srgbClr val="FFFFFF"/>
                          </a:solidFill>
                        </a:defRPr>
                      </a:pPr>
                      <a:r>
                        <a:t>studentId</a:t>
                      </a:r>
                    </a:p>
                  </a:txBody>
                  <a:tcPr>
                    <a:solidFill>
                      <a:srgbClr val="1F5E97"/>
                    </a:solidFill>
                  </a:tcPr>
                </a:tc>
                <a:tc>
                  <a:txBody>
                    <a:bodyPr/>
                    <a:lstStyle/>
                    <a:p>
                      <a:pPr>
                        <a:defRPr sz="1200" b="1">
                          <a:solidFill>
                            <a:srgbClr val="FFFFFF"/>
                          </a:solidFill>
                        </a:defRPr>
                      </a:pPr>
                      <a:r>
                        <a:t>name</a:t>
                      </a:r>
                    </a:p>
                  </a:txBody>
                  <a:tcPr>
                    <a:solidFill>
                      <a:srgbClr val="1F5E97"/>
                    </a:solidFill>
                  </a:tcPr>
                </a:tc>
                <a:tc>
                  <a:txBody>
                    <a:bodyPr/>
                    <a:lstStyle/>
                    <a:p>
                      <a:pPr>
                        <a:defRPr sz="1200" b="1">
                          <a:solidFill>
                            <a:srgbClr val="FFFFFF"/>
                          </a:solidFill>
                        </a:defRPr>
                      </a:pPr>
                      <a:r>
                        <a:t>major</a:t>
                      </a:r>
                    </a:p>
                  </a:txBody>
                  <a:tcPr>
                    <a:solidFill>
                      <a:srgbClr val="1F5E97"/>
                    </a:solidFill>
                  </a:tcPr>
                </a:tc>
                <a:extLst>
                  <a:ext uri="{0D108BD9-81ED-4DB2-BD59-A6C34878D82A}">
                    <a16:rowId xmlns:a16="http://schemas.microsoft.com/office/drawing/2014/main" val="10000"/>
                  </a:ext>
                </a:extLst>
              </a:tr>
              <a:tr h="365760">
                <a:tc>
                  <a:txBody>
                    <a:bodyPr/>
                    <a:lstStyle/>
                    <a:p>
                      <a:pPr>
                        <a:defRPr sz="1200">
                          <a:solidFill>
                            <a:srgbClr val="323232"/>
                          </a:solidFill>
                        </a:defRPr>
                      </a:pPr>
                      <a:r>
                        <a:t>1001</a:t>
                      </a:r>
                    </a:p>
                  </a:txBody>
                  <a:tcPr/>
                </a:tc>
                <a:tc>
                  <a:txBody>
                    <a:bodyPr/>
                    <a:lstStyle/>
                    <a:p>
                      <a:pPr>
                        <a:defRPr sz="1200">
                          <a:solidFill>
                            <a:srgbClr val="323232"/>
                          </a:solidFill>
                        </a:defRPr>
                      </a:pPr>
                      <a:r>
                        <a:t>Alice</a:t>
                      </a:r>
                    </a:p>
                  </a:txBody>
                  <a:tcPr/>
                </a:tc>
                <a:tc>
                  <a:txBody>
                    <a:bodyPr/>
                    <a:lstStyle/>
                    <a:p>
                      <a:pPr>
                        <a:defRPr sz="1200">
                          <a:solidFill>
                            <a:srgbClr val="323232"/>
                          </a:solidFill>
                        </a:defRPr>
                      </a:pPr>
                      <a:r>
                        <a:t>CST</a:t>
                      </a:r>
                    </a:p>
                  </a:txBody>
                  <a:tcPr/>
                </a:tc>
                <a:extLst>
                  <a:ext uri="{0D108BD9-81ED-4DB2-BD59-A6C34878D82A}">
                    <a16:rowId xmlns:a16="http://schemas.microsoft.com/office/drawing/2014/main" val="10001"/>
                  </a:ext>
                </a:extLst>
              </a:tr>
              <a:tr h="365760">
                <a:tc>
                  <a:txBody>
                    <a:bodyPr/>
                    <a:lstStyle/>
                    <a:p>
                      <a:pPr>
                        <a:defRPr sz="1200">
                          <a:solidFill>
                            <a:srgbClr val="323232"/>
                          </a:solidFill>
                        </a:defRPr>
                      </a:pPr>
                      <a:r>
                        <a:t>1002</a:t>
                      </a:r>
                    </a:p>
                  </a:txBody>
                  <a:tcPr/>
                </a:tc>
                <a:tc>
                  <a:txBody>
                    <a:bodyPr/>
                    <a:lstStyle/>
                    <a:p>
                      <a:pPr>
                        <a:defRPr sz="1200">
                          <a:solidFill>
                            <a:srgbClr val="323232"/>
                          </a:solidFill>
                        </a:defRPr>
                      </a:pPr>
                      <a:r>
                        <a:t>Bob</a:t>
                      </a:r>
                    </a:p>
                  </a:txBody>
                  <a:tcPr/>
                </a:tc>
                <a:tc>
                  <a:txBody>
                    <a:bodyPr/>
                    <a:lstStyle/>
                    <a:p>
                      <a:pPr>
                        <a:defRPr sz="1200">
                          <a:solidFill>
                            <a:srgbClr val="323232"/>
                          </a:solidFill>
                        </a:defRPr>
                      </a:pPr>
                      <a:r>
                        <a:t>CST</a:t>
                      </a:r>
                    </a:p>
                  </a:txBody>
                  <a:tcPr/>
                </a:tc>
                <a:extLst>
                  <a:ext uri="{0D108BD9-81ED-4DB2-BD59-A6C34878D82A}">
                    <a16:rowId xmlns:a16="http://schemas.microsoft.com/office/drawing/2014/main" val="10002"/>
                  </a:ext>
                </a:extLst>
              </a:tr>
              <a:tr h="365760">
                <a:tc>
                  <a:txBody>
                    <a:bodyPr/>
                    <a:lstStyle/>
                    <a:p>
                      <a:pPr>
                        <a:defRPr sz="1200">
                          <a:solidFill>
                            <a:srgbClr val="323232"/>
                          </a:solidFill>
                        </a:defRPr>
                      </a:pPr>
                      <a:r>
                        <a:t>1003</a:t>
                      </a:r>
                    </a:p>
                  </a:txBody>
                  <a:tcPr/>
                </a:tc>
                <a:tc>
                  <a:txBody>
                    <a:bodyPr/>
                    <a:lstStyle/>
                    <a:p>
                      <a:pPr>
                        <a:defRPr sz="1200">
                          <a:solidFill>
                            <a:srgbClr val="323232"/>
                          </a:solidFill>
                        </a:defRPr>
                      </a:pPr>
                      <a:r>
                        <a:t>Carol</a:t>
                      </a:r>
                    </a:p>
                  </a:txBody>
                  <a:tcPr/>
                </a:tc>
                <a:tc>
                  <a:txBody>
                    <a:bodyPr/>
                    <a:lstStyle/>
                    <a:p>
                      <a:pPr>
                        <a:defRPr sz="1200">
                          <a:solidFill>
                            <a:srgbClr val="323232"/>
                          </a:solidFill>
                        </a:defRPr>
                      </a:pPr>
                      <a:r>
                        <a:t>CET</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Introduction to SQL</a:t>
            </a:r>
          </a:p>
        </p:txBody>
      </p:sp>
      <p:sp>
        <p:nvSpPr>
          <p:cNvPr id="4" name="TextBox 3"/>
          <p:cNvSpPr txBox="1"/>
          <p:nvPr/>
        </p:nvSpPr>
        <p:spPr>
          <a:xfrm>
            <a:off x="457200" y="914400"/>
            <a:ext cx="4846320" cy="3200400"/>
          </a:xfrm>
          <a:prstGeom prst="rect">
            <a:avLst/>
          </a:prstGeom>
          <a:noFill/>
        </p:spPr>
        <p:txBody>
          <a:bodyPr wrap="square">
            <a:spAutoFit/>
          </a:bodyPr>
          <a:lstStyle/>
          <a:p>
            <a:pPr>
              <a:defRPr sz="1800" b="1">
                <a:solidFill>
                  <a:srgbClr val="323232"/>
                </a:solidFill>
              </a:defRPr>
            </a:pPr>
            <a:r>
              <a:t>SQL Components</a:t>
            </a:r>
          </a:p>
          <a:p>
            <a:pPr lvl="1">
              <a:defRPr sz="1400">
                <a:solidFill>
                  <a:srgbClr val="323232"/>
                </a:solidFill>
              </a:defRPr>
            </a:pPr>
            <a:r>
              <a:t>Data Definition Language (DDL)</a:t>
            </a:r>
          </a:p>
          <a:p>
            <a:pPr lvl="1">
              <a:defRPr sz="1400">
                <a:solidFill>
                  <a:srgbClr val="323232"/>
                </a:solidFill>
              </a:defRPr>
            </a:pPr>
            <a:r>
              <a:t>Data Manipulation Language (DML)</a:t>
            </a:r>
          </a:p>
          <a:p>
            <a:pPr lvl="1">
              <a:defRPr sz="1400">
                <a:solidFill>
                  <a:srgbClr val="323232"/>
                </a:solidFill>
              </a:defRPr>
            </a:pPr>
            <a:r>
              <a:t>Data Control Language (DCL)</a:t>
            </a:r>
          </a:p>
          <a:p>
            <a:pPr lvl="1">
              <a:defRPr sz="1400">
                <a:solidFill>
                  <a:srgbClr val="323232"/>
                </a:solidFill>
              </a:defRPr>
            </a:pPr>
            <a:r>
              <a:t>Declarative syntax &amp; portability</a:t>
            </a:r>
          </a:p>
        </p:txBody>
      </p:sp>
      <p:sp>
        <p:nvSpPr>
          <p:cNvPr id="5" name="Rounded Rectangle 4"/>
          <p:cNvSpPr/>
          <p:nvPr/>
        </p:nvSpPr>
        <p:spPr>
          <a:xfrm>
            <a:off x="5486400" y="1097280"/>
            <a:ext cx="3200400" cy="2011680"/>
          </a:xfrm>
          <a:prstGeom prst="round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3C3C3C"/>
                </a:solidFill>
                <a:latin typeface="Courier New"/>
              </a:defRPr>
            </a:pPr>
            <a:r>
              <a:t>-- Example SELECT query</a:t>
            </a:r>
          </a:p>
          <a:p>
            <a:pPr>
              <a:defRPr sz="1200">
                <a:solidFill>
                  <a:srgbClr val="3C3C3C"/>
                </a:solidFill>
                <a:latin typeface="Courier New"/>
              </a:defRPr>
            </a:pPr>
            <a:r>
              <a:t>SELECT name, major</a:t>
            </a:r>
          </a:p>
          <a:p>
            <a:pPr>
              <a:defRPr sz="1200">
                <a:solidFill>
                  <a:srgbClr val="3C3C3C"/>
                </a:solidFill>
                <a:latin typeface="Courier New"/>
              </a:defRPr>
            </a:pPr>
            <a:r>
              <a:t>FROM student</a:t>
            </a:r>
          </a:p>
          <a:p>
            <a:pPr>
              <a:defRPr sz="1200">
                <a:solidFill>
                  <a:srgbClr val="3C3C3C"/>
                </a:solidFill>
                <a:latin typeface="Courier New"/>
              </a:defRPr>
            </a:pPr>
            <a:r>
              <a:t>WHERE major = 'CST';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Entity–Relationship Modeling</a:t>
            </a:r>
          </a:p>
        </p:txBody>
      </p:sp>
      <p:sp>
        <p:nvSpPr>
          <p:cNvPr id="4" name="TextBox 3"/>
          <p:cNvSpPr txBox="1"/>
          <p:nvPr/>
        </p:nvSpPr>
        <p:spPr>
          <a:xfrm>
            <a:off x="457200" y="914400"/>
            <a:ext cx="4114800" cy="2926080"/>
          </a:xfrm>
          <a:prstGeom prst="rect">
            <a:avLst/>
          </a:prstGeom>
          <a:noFill/>
        </p:spPr>
        <p:txBody>
          <a:bodyPr wrap="none">
            <a:spAutoFit/>
          </a:bodyPr>
          <a:lstStyle/>
          <a:p>
            <a:pPr>
              <a:defRPr sz="1800" b="1">
                <a:solidFill>
                  <a:srgbClr val="323232"/>
                </a:solidFill>
              </a:defRPr>
            </a:pPr>
            <a:r>
              <a:t>Concepts</a:t>
            </a:r>
          </a:p>
          <a:p>
            <a:pPr lvl="1">
              <a:defRPr sz="1400">
                <a:solidFill>
                  <a:srgbClr val="323232"/>
                </a:solidFill>
              </a:defRPr>
            </a:pPr>
            <a:r>
              <a:t>Entities: objects with attributes</a:t>
            </a:r>
          </a:p>
          <a:p>
            <a:pPr lvl="1">
              <a:defRPr sz="1400">
                <a:solidFill>
                  <a:srgbClr val="323232"/>
                </a:solidFill>
              </a:defRPr>
            </a:pPr>
            <a:r>
              <a:t>Relationships: associations between entities</a:t>
            </a:r>
          </a:p>
          <a:p>
            <a:pPr lvl="1">
              <a:defRPr sz="1400">
                <a:solidFill>
                  <a:srgbClr val="323232"/>
                </a:solidFill>
              </a:defRPr>
            </a:pPr>
            <a:r>
              <a:t>Cardinality: one‑to‑one, one‑to‑many, many‑to‑many</a:t>
            </a:r>
          </a:p>
          <a:p>
            <a:pPr lvl="1">
              <a:defRPr sz="1400">
                <a:solidFill>
                  <a:srgbClr val="323232"/>
                </a:solidFill>
              </a:defRPr>
            </a:pPr>
            <a:r>
              <a:t>ER diagrams aid communication &amp; design</a:t>
            </a:r>
          </a:p>
        </p:txBody>
      </p:sp>
      <p:sp>
        <p:nvSpPr>
          <p:cNvPr id="5" name="Rectangle 4"/>
          <p:cNvSpPr/>
          <p:nvPr/>
        </p:nvSpPr>
        <p:spPr>
          <a:xfrm>
            <a:off x="5303520" y="1188720"/>
            <a:ext cx="1280160" cy="457200"/>
          </a:xfrm>
          <a:prstGeom prst="rect">
            <a:avLst/>
          </a:prstGeom>
          <a:solidFill>
            <a:srgbClr val="1F5E97"/>
          </a:solidFill>
          <a:ln>
            <a:solidFill>
              <a:srgbClr val="1F5E9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defRPr>
            </a:pPr>
            <a:r>
              <a:t>STUDENT</a:t>
            </a:r>
          </a:p>
        </p:txBody>
      </p:sp>
      <p:sp>
        <p:nvSpPr>
          <p:cNvPr id="6" name="Rectangle 5"/>
          <p:cNvSpPr/>
          <p:nvPr/>
        </p:nvSpPr>
        <p:spPr>
          <a:xfrm>
            <a:off x="7315200" y="2926080"/>
            <a:ext cx="1280160" cy="457200"/>
          </a:xfrm>
          <a:prstGeom prst="rect">
            <a:avLst/>
          </a:prstGeom>
          <a:solidFill>
            <a:srgbClr val="1F5E97"/>
          </a:solidFill>
          <a:ln>
            <a:solidFill>
              <a:srgbClr val="1F5E9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defRPr>
            </a:pPr>
            <a:r>
              <a:t>COURSE</a:t>
            </a:r>
          </a:p>
        </p:txBody>
      </p:sp>
      <p:sp>
        <p:nvSpPr>
          <p:cNvPr id="7" name="Diamond 6"/>
          <p:cNvSpPr/>
          <p:nvPr/>
        </p:nvSpPr>
        <p:spPr>
          <a:xfrm>
            <a:off x="6400800" y="2011680"/>
            <a:ext cx="1097280" cy="548640"/>
          </a:xfrm>
          <a:prstGeom prst="diamond">
            <a:avLst/>
          </a:prstGeom>
          <a:solidFill>
            <a:srgbClr val="6095C7"/>
          </a:solidFill>
          <a:ln>
            <a:solidFill>
              <a:srgbClr val="6095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t>ENROLLS</a:t>
            </a:r>
          </a:p>
        </p:txBody>
      </p:sp>
      <p:sp>
        <p:nvSpPr>
          <p:cNvPr id="8" name="Rectangle 7"/>
          <p:cNvSpPr/>
          <p:nvPr/>
        </p:nvSpPr>
        <p:spPr>
          <a:xfrm>
            <a:off x="6400800" y="1645920"/>
            <a:ext cx="0" cy="457200"/>
          </a:xfrm>
          <a:prstGeom prst="rect">
            <a:avLst/>
          </a:prstGeom>
          <a:ln w="19050">
            <a:solidFill>
              <a:srgbClr val="1F5E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949440" y="2560320"/>
            <a:ext cx="365760" cy="365760"/>
          </a:xfrm>
          <a:prstGeom prst="rect">
            <a:avLst/>
          </a:prstGeom>
          <a:ln w="19050">
            <a:solidFill>
              <a:srgbClr val="1F5E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Normalization &amp; Database Design</a:t>
            </a:r>
          </a:p>
        </p:txBody>
      </p:sp>
      <p:sp>
        <p:nvSpPr>
          <p:cNvPr id="4" name="TextBox 3"/>
          <p:cNvSpPr txBox="1"/>
          <p:nvPr/>
        </p:nvSpPr>
        <p:spPr>
          <a:xfrm>
            <a:off x="457200" y="914400"/>
            <a:ext cx="4297680" cy="3200400"/>
          </a:xfrm>
          <a:prstGeom prst="rect">
            <a:avLst/>
          </a:prstGeom>
          <a:noFill/>
        </p:spPr>
        <p:txBody>
          <a:bodyPr wrap="none">
            <a:spAutoFit/>
          </a:bodyPr>
          <a:lstStyle/>
          <a:p>
            <a:pPr>
              <a:defRPr sz="1800" b="1">
                <a:solidFill>
                  <a:srgbClr val="323232"/>
                </a:solidFill>
              </a:defRPr>
            </a:pPr>
            <a:r>
              <a:t>Why Normalize?</a:t>
            </a:r>
          </a:p>
          <a:p>
            <a:pPr lvl="1">
              <a:defRPr sz="1400">
                <a:solidFill>
                  <a:srgbClr val="323232"/>
                </a:solidFill>
              </a:defRPr>
            </a:pPr>
            <a:r>
              <a:t>Reduce redundancy &amp; prevent anomalies</a:t>
            </a:r>
          </a:p>
          <a:p>
            <a:pPr lvl="1">
              <a:defRPr sz="1400">
                <a:solidFill>
                  <a:srgbClr val="323232"/>
                </a:solidFill>
              </a:defRPr>
            </a:pPr>
            <a:r>
              <a:t>1NF: atomic values &amp; unique rows</a:t>
            </a:r>
          </a:p>
          <a:p>
            <a:pPr lvl="1">
              <a:defRPr sz="1400">
                <a:solidFill>
                  <a:srgbClr val="323232"/>
                </a:solidFill>
              </a:defRPr>
            </a:pPr>
            <a:r>
              <a:t>2NF: full dependency on the key</a:t>
            </a:r>
          </a:p>
          <a:p>
            <a:pPr lvl="1">
              <a:defRPr sz="1400">
                <a:solidFill>
                  <a:srgbClr val="323232"/>
                </a:solidFill>
              </a:defRPr>
            </a:pPr>
            <a:r>
              <a:t>3NF/BCNF: remove transitive dependencies</a:t>
            </a:r>
          </a:p>
          <a:p>
            <a:pPr lvl="1">
              <a:defRPr sz="1400">
                <a:solidFill>
                  <a:srgbClr val="323232"/>
                </a:solidFill>
              </a:defRPr>
            </a:pPr>
            <a:r>
              <a:t>Balance normalisation against performance</a:t>
            </a:r>
          </a:p>
        </p:txBody>
      </p:sp>
      <p:graphicFrame>
        <p:nvGraphicFramePr>
          <p:cNvPr id="5" name="Table 4"/>
          <p:cNvGraphicFramePr>
            <a:graphicFrameLocks noGrp="1"/>
          </p:cNvGraphicFramePr>
          <p:nvPr/>
        </p:nvGraphicFramePr>
        <p:xfrm>
          <a:off x="5029200" y="1280160"/>
          <a:ext cx="3657600" cy="18288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7200">
                <a:tc>
                  <a:txBody>
                    <a:bodyPr/>
                    <a:lstStyle/>
                    <a:p>
                      <a:pPr>
                        <a:defRPr sz="1200" b="1">
                          <a:solidFill>
                            <a:srgbClr val="FFFFFF"/>
                          </a:solidFill>
                        </a:defRPr>
                      </a:pPr>
                      <a:r>
                        <a:t>Normal Form</a:t>
                      </a:r>
                    </a:p>
                  </a:txBody>
                  <a:tcPr>
                    <a:solidFill>
                      <a:srgbClr val="1F5E97"/>
                    </a:solidFill>
                  </a:tcPr>
                </a:tc>
                <a:tc>
                  <a:txBody>
                    <a:bodyPr/>
                    <a:lstStyle/>
                    <a:p>
                      <a:pPr>
                        <a:defRPr sz="1200" b="1">
                          <a:solidFill>
                            <a:srgbClr val="FFFFFF"/>
                          </a:solidFill>
                        </a:defRPr>
                      </a:pPr>
                      <a:r>
                        <a:t>Description</a:t>
                      </a:r>
                    </a:p>
                  </a:txBody>
                  <a:tcPr>
                    <a:solidFill>
                      <a:srgbClr val="1F5E97"/>
                    </a:solidFill>
                  </a:tcPr>
                </a:tc>
                <a:tc>
                  <a:txBody>
                    <a:bodyPr/>
                    <a:lstStyle/>
                    <a:p>
                      <a:pPr>
                        <a:defRPr sz="1200" b="1">
                          <a:solidFill>
                            <a:srgbClr val="FFFFFF"/>
                          </a:solidFill>
                        </a:defRPr>
                      </a:pPr>
                      <a:r>
                        <a:t>Goal</a:t>
                      </a:r>
                    </a:p>
                  </a:txBody>
                  <a:tcPr>
                    <a:solidFill>
                      <a:srgbClr val="1F5E97"/>
                    </a:solidFill>
                  </a:tcPr>
                </a:tc>
                <a:extLst>
                  <a:ext uri="{0D108BD9-81ED-4DB2-BD59-A6C34878D82A}">
                    <a16:rowId xmlns:a16="http://schemas.microsoft.com/office/drawing/2014/main" val="10000"/>
                  </a:ext>
                </a:extLst>
              </a:tr>
              <a:tr h="457200">
                <a:tc>
                  <a:txBody>
                    <a:bodyPr/>
                    <a:lstStyle/>
                    <a:p>
                      <a:pPr>
                        <a:defRPr sz="1000">
                          <a:solidFill>
                            <a:srgbClr val="323232"/>
                          </a:solidFill>
                        </a:defRPr>
                      </a:pPr>
                      <a:r>
                        <a:t>1NF</a:t>
                      </a:r>
                    </a:p>
                  </a:txBody>
                  <a:tcPr>
                    <a:solidFill>
                      <a:srgbClr val="6095C7"/>
                    </a:solidFill>
                  </a:tcPr>
                </a:tc>
                <a:tc>
                  <a:txBody>
                    <a:bodyPr/>
                    <a:lstStyle/>
                    <a:p>
                      <a:pPr>
                        <a:defRPr sz="1000">
                          <a:solidFill>
                            <a:srgbClr val="323232"/>
                          </a:solidFill>
                        </a:defRPr>
                      </a:pPr>
                      <a:r>
                        <a:t>Eliminate repeating groups</a:t>
                      </a:r>
                    </a:p>
                  </a:txBody>
                  <a:tcPr>
                    <a:solidFill>
                      <a:srgbClr val="6095C7"/>
                    </a:solidFill>
                  </a:tcPr>
                </a:tc>
                <a:tc>
                  <a:txBody>
                    <a:bodyPr/>
                    <a:lstStyle/>
                    <a:p>
                      <a:pPr>
                        <a:defRPr sz="1000">
                          <a:solidFill>
                            <a:srgbClr val="323232"/>
                          </a:solidFill>
                        </a:defRPr>
                      </a:pPr>
                      <a:r>
                        <a:t>Atomic attributes</a:t>
                      </a:r>
                    </a:p>
                  </a:txBody>
                  <a:tcPr>
                    <a:solidFill>
                      <a:srgbClr val="6095C7"/>
                    </a:solidFill>
                  </a:tcPr>
                </a:tc>
                <a:extLst>
                  <a:ext uri="{0D108BD9-81ED-4DB2-BD59-A6C34878D82A}">
                    <a16:rowId xmlns:a16="http://schemas.microsoft.com/office/drawing/2014/main" val="10001"/>
                  </a:ext>
                </a:extLst>
              </a:tr>
              <a:tr h="457200">
                <a:tc>
                  <a:txBody>
                    <a:bodyPr/>
                    <a:lstStyle/>
                    <a:p>
                      <a:pPr>
                        <a:defRPr sz="1000">
                          <a:solidFill>
                            <a:srgbClr val="323232"/>
                          </a:solidFill>
                        </a:defRPr>
                      </a:pPr>
                      <a:r>
                        <a:t>2NF</a:t>
                      </a:r>
                    </a:p>
                  </a:txBody>
                  <a:tcPr>
                    <a:solidFill>
                      <a:srgbClr val="E6F0FA"/>
                    </a:solidFill>
                  </a:tcPr>
                </a:tc>
                <a:tc>
                  <a:txBody>
                    <a:bodyPr/>
                    <a:lstStyle/>
                    <a:p>
                      <a:pPr>
                        <a:defRPr sz="1000">
                          <a:solidFill>
                            <a:srgbClr val="323232"/>
                          </a:solidFill>
                        </a:defRPr>
                      </a:pPr>
                      <a:r>
                        <a:t>No partial dependency</a:t>
                      </a:r>
                    </a:p>
                  </a:txBody>
                  <a:tcPr>
                    <a:solidFill>
                      <a:srgbClr val="E6F0FA"/>
                    </a:solidFill>
                  </a:tcPr>
                </a:tc>
                <a:tc>
                  <a:txBody>
                    <a:bodyPr/>
                    <a:lstStyle/>
                    <a:p>
                      <a:pPr>
                        <a:defRPr sz="1000">
                          <a:solidFill>
                            <a:srgbClr val="323232"/>
                          </a:solidFill>
                        </a:defRPr>
                      </a:pPr>
                      <a:r>
                        <a:t>Full key dependence</a:t>
                      </a:r>
                    </a:p>
                  </a:txBody>
                  <a:tcPr>
                    <a:solidFill>
                      <a:srgbClr val="E6F0FA"/>
                    </a:solidFill>
                  </a:tcPr>
                </a:tc>
                <a:extLst>
                  <a:ext uri="{0D108BD9-81ED-4DB2-BD59-A6C34878D82A}">
                    <a16:rowId xmlns:a16="http://schemas.microsoft.com/office/drawing/2014/main" val="10002"/>
                  </a:ext>
                </a:extLst>
              </a:tr>
              <a:tr h="457200">
                <a:tc>
                  <a:txBody>
                    <a:bodyPr/>
                    <a:lstStyle/>
                    <a:p>
                      <a:pPr>
                        <a:defRPr sz="1000">
                          <a:solidFill>
                            <a:srgbClr val="323232"/>
                          </a:solidFill>
                        </a:defRPr>
                      </a:pPr>
                      <a:r>
                        <a:t>3NF/BCNF</a:t>
                      </a:r>
                    </a:p>
                  </a:txBody>
                  <a:tcPr>
                    <a:solidFill>
                      <a:srgbClr val="6095C7"/>
                    </a:solidFill>
                  </a:tcPr>
                </a:tc>
                <a:tc>
                  <a:txBody>
                    <a:bodyPr/>
                    <a:lstStyle/>
                    <a:p>
                      <a:pPr>
                        <a:defRPr sz="1000">
                          <a:solidFill>
                            <a:srgbClr val="323232"/>
                          </a:solidFill>
                        </a:defRPr>
                      </a:pPr>
                      <a:r>
                        <a:t>No transitive dependency</a:t>
                      </a:r>
                    </a:p>
                  </a:txBody>
                  <a:tcPr>
                    <a:solidFill>
                      <a:srgbClr val="6095C7"/>
                    </a:solidFill>
                  </a:tcPr>
                </a:tc>
                <a:tc>
                  <a:txBody>
                    <a:bodyPr/>
                    <a:lstStyle/>
                    <a:p>
                      <a:pPr>
                        <a:defRPr sz="1000">
                          <a:solidFill>
                            <a:srgbClr val="323232"/>
                          </a:solidFill>
                        </a:defRPr>
                      </a:pPr>
                      <a:r>
                        <a:t>Dependency preservation</a:t>
                      </a:r>
                    </a:p>
                  </a:txBody>
                  <a:tcPr>
                    <a:solidFill>
                      <a:srgbClr val="6095C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Course Outline &amp; Logistics</a:t>
            </a:r>
          </a:p>
        </p:txBody>
      </p:sp>
      <p:sp>
        <p:nvSpPr>
          <p:cNvPr id="4" name="TextBox 3"/>
          <p:cNvSpPr txBox="1"/>
          <p:nvPr/>
        </p:nvSpPr>
        <p:spPr>
          <a:xfrm>
            <a:off x="457200" y="914400"/>
            <a:ext cx="4297680" cy="3017520"/>
          </a:xfrm>
          <a:prstGeom prst="rect">
            <a:avLst/>
          </a:prstGeom>
          <a:noFill/>
        </p:spPr>
        <p:txBody>
          <a:bodyPr wrap="none">
            <a:spAutoFit/>
          </a:bodyPr>
          <a:lstStyle/>
          <a:p>
            <a:pPr>
              <a:defRPr sz="1800" b="1">
                <a:solidFill>
                  <a:srgbClr val="323232"/>
                </a:solidFill>
              </a:defRPr>
            </a:pPr>
            <a:r>
              <a:t>Weekly Highlights</a:t>
            </a:r>
          </a:p>
          <a:p>
            <a:pPr lvl="1">
              <a:defRPr sz="1200">
                <a:solidFill>
                  <a:srgbClr val="323232"/>
                </a:solidFill>
              </a:defRPr>
            </a:pPr>
            <a:r>
              <a:t>1: DBA role &amp; design review</a:t>
            </a:r>
          </a:p>
          <a:p>
            <a:pPr lvl="1">
              <a:defRPr sz="1200">
                <a:solidFill>
                  <a:srgbClr val="323232"/>
                </a:solidFill>
              </a:defRPr>
            </a:pPr>
            <a:r>
              <a:t>2: Architecture, memory &amp; transactions</a:t>
            </a:r>
          </a:p>
          <a:p>
            <a:pPr lvl="1">
              <a:defRPr sz="1200">
                <a:solidFill>
                  <a:srgbClr val="323232"/>
                </a:solidFill>
              </a:defRPr>
            </a:pPr>
            <a:r>
              <a:t>3: Tablespaces &amp; storage</a:t>
            </a:r>
          </a:p>
          <a:p>
            <a:pPr lvl="1">
              <a:defRPr sz="1200">
                <a:solidFill>
                  <a:srgbClr val="323232"/>
                </a:solidFill>
              </a:defRPr>
            </a:pPr>
            <a:r>
              <a:t>4: Schema management</a:t>
            </a:r>
          </a:p>
          <a:p>
            <a:pPr lvl="1">
              <a:defRPr sz="1200">
                <a:solidFill>
                  <a:srgbClr val="323232"/>
                </a:solidFill>
              </a:defRPr>
            </a:pPr>
            <a:r>
              <a:t>5: Concurrency &amp; locking</a:t>
            </a:r>
          </a:p>
          <a:p>
            <a:pPr lvl="1">
              <a:defRPr sz="1200">
                <a:solidFill>
                  <a:srgbClr val="323232"/>
                </a:solidFill>
              </a:defRPr>
            </a:pPr>
            <a:r>
              <a:t>6: Installation &amp; upgrades</a:t>
            </a:r>
          </a:p>
          <a:p>
            <a:pPr lvl="1">
              <a:defRPr sz="1200">
                <a:solidFill>
                  <a:srgbClr val="323232"/>
                </a:solidFill>
              </a:defRPr>
            </a:pPr>
            <a:r>
              <a:t>7: Midterm review/exam</a:t>
            </a:r>
          </a:p>
          <a:p>
            <a:pPr lvl="1">
              <a:defRPr sz="1200">
                <a:solidFill>
                  <a:srgbClr val="323232"/>
                </a:solidFill>
              </a:defRPr>
            </a:pPr>
            <a:r>
              <a:t>8: Creating databases &amp; parameter files</a:t>
            </a:r>
          </a:p>
          <a:p>
            <a:pPr lvl="1">
              <a:defRPr sz="1200">
                <a:solidFill>
                  <a:srgbClr val="323232"/>
                </a:solidFill>
              </a:defRPr>
            </a:pPr>
            <a:r>
              <a:t>9: User management &amp; security</a:t>
            </a:r>
          </a:p>
          <a:p>
            <a:pPr lvl="1">
              <a:defRPr sz="1200">
                <a:solidFill>
                  <a:srgbClr val="323232"/>
                </a:solidFill>
              </a:defRPr>
            </a:pPr>
            <a:r>
              <a:t>10: Data loading &amp; transformation</a:t>
            </a:r>
          </a:p>
          <a:p>
            <a:pPr lvl="1">
              <a:defRPr sz="1200">
                <a:solidFill>
                  <a:srgbClr val="323232"/>
                </a:solidFill>
              </a:defRPr>
            </a:pPr>
            <a:r>
              <a:t>11: Query optimisation</a:t>
            </a:r>
          </a:p>
          <a:p>
            <a:pPr lvl="1">
              <a:defRPr sz="1200">
                <a:solidFill>
                  <a:srgbClr val="323232"/>
                </a:solidFill>
              </a:defRPr>
            </a:pPr>
            <a:r>
              <a:t>12: Performance tuning &amp; memory</a:t>
            </a:r>
          </a:p>
          <a:p>
            <a:pPr lvl="1">
              <a:defRPr sz="1200">
                <a:solidFill>
                  <a:srgbClr val="323232"/>
                </a:solidFill>
              </a:defRPr>
            </a:pPr>
            <a:r>
              <a:t>13: Backup &amp; recovery</a:t>
            </a:r>
          </a:p>
          <a:p>
            <a:pPr lvl="1">
              <a:defRPr sz="1200">
                <a:solidFill>
                  <a:srgbClr val="323232"/>
                </a:solidFill>
              </a:defRPr>
            </a:pPr>
            <a:r>
              <a:t>14: Advanced topics; distributed &amp; warehouse</a:t>
            </a:r>
          </a:p>
          <a:p>
            <a:pPr lvl="1">
              <a:defRPr sz="1200">
                <a:solidFill>
                  <a:srgbClr val="323232"/>
                </a:solidFill>
              </a:defRPr>
            </a:pPr>
            <a:r>
              <a:t>15: Final exam &amp; project</a:t>
            </a:r>
          </a:p>
        </p:txBody>
      </p:sp>
      <p:graphicFrame>
        <p:nvGraphicFramePr>
          <p:cNvPr id="5" name="Table 4"/>
          <p:cNvGraphicFramePr>
            <a:graphicFrameLocks noGrp="1"/>
          </p:cNvGraphicFramePr>
          <p:nvPr/>
        </p:nvGraphicFramePr>
        <p:xfrm>
          <a:off x="5029200" y="1463040"/>
          <a:ext cx="3840480" cy="22860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381000">
                <a:tc>
                  <a:txBody>
                    <a:bodyPr/>
                    <a:lstStyle/>
                    <a:p>
                      <a:pPr>
                        <a:defRPr sz="1200" b="1">
                          <a:solidFill>
                            <a:srgbClr val="FFFFFF"/>
                          </a:solidFill>
                        </a:defRPr>
                      </a:pPr>
                      <a:r>
                        <a:t>Assessment</a:t>
                      </a:r>
                    </a:p>
                  </a:txBody>
                  <a:tcPr>
                    <a:solidFill>
                      <a:srgbClr val="1F5E97"/>
                    </a:solidFill>
                  </a:tcPr>
                </a:tc>
                <a:tc>
                  <a:txBody>
                    <a:bodyPr/>
                    <a:lstStyle/>
                    <a:p>
                      <a:pPr>
                        <a:defRPr sz="1200" b="1">
                          <a:solidFill>
                            <a:srgbClr val="FFFFFF"/>
                          </a:solidFill>
                        </a:defRPr>
                      </a:pPr>
                      <a:r>
                        <a:t>Weight</a:t>
                      </a:r>
                    </a:p>
                  </a:txBody>
                  <a:tcPr>
                    <a:solidFill>
                      <a:srgbClr val="1F5E97"/>
                    </a:solidFill>
                  </a:tcPr>
                </a:tc>
                <a:extLst>
                  <a:ext uri="{0D108BD9-81ED-4DB2-BD59-A6C34878D82A}">
                    <a16:rowId xmlns:a16="http://schemas.microsoft.com/office/drawing/2014/main" val="10000"/>
                  </a:ext>
                </a:extLst>
              </a:tr>
              <a:tr h="381000">
                <a:tc>
                  <a:txBody>
                    <a:bodyPr/>
                    <a:lstStyle/>
                    <a:p>
                      <a:pPr>
                        <a:defRPr sz="1200">
                          <a:solidFill>
                            <a:srgbClr val="323232"/>
                          </a:solidFill>
                        </a:defRPr>
                      </a:pPr>
                      <a:r>
                        <a:t>Midterm</a:t>
                      </a:r>
                    </a:p>
                  </a:txBody>
                  <a:tcPr>
                    <a:solidFill>
                      <a:srgbClr val="6095C7"/>
                    </a:solidFill>
                  </a:tcPr>
                </a:tc>
                <a:tc>
                  <a:txBody>
                    <a:bodyPr/>
                    <a:lstStyle/>
                    <a:p>
                      <a:pPr>
                        <a:defRPr sz="1200">
                          <a:solidFill>
                            <a:srgbClr val="323232"/>
                          </a:solidFill>
                        </a:defRPr>
                      </a:pPr>
                      <a:r>
                        <a:t>20%</a:t>
                      </a:r>
                    </a:p>
                  </a:txBody>
                  <a:tcPr>
                    <a:solidFill>
                      <a:srgbClr val="6095C7"/>
                    </a:solidFill>
                  </a:tcPr>
                </a:tc>
                <a:extLst>
                  <a:ext uri="{0D108BD9-81ED-4DB2-BD59-A6C34878D82A}">
                    <a16:rowId xmlns:a16="http://schemas.microsoft.com/office/drawing/2014/main" val="10001"/>
                  </a:ext>
                </a:extLst>
              </a:tr>
              <a:tr h="381000">
                <a:tc>
                  <a:txBody>
                    <a:bodyPr/>
                    <a:lstStyle/>
                    <a:p>
                      <a:pPr>
                        <a:defRPr sz="1200">
                          <a:solidFill>
                            <a:srgbClr val="323232"/>
                          </a:solidFill>
                        </a:defRPr>
                      </a:pPr>
                      <a:r>
                        <a:t>Final</a:t>
                      </a:r>
                    </a:p>
                  </a:txBody>
                  <a:tcPr>
                    <a:solidFill>
                      <a:srgbClr val="E6F0FA"/>
                    </a:solidFill>
                  </a:tcPr>
                </a:tc>
                <a:tc>
                  <a:txBody>
                    <a:bodyPr/>
                    <a:lstStyle/>
                    <a:p>
                      <a:pPr>
                        <a:defRPr sz="1200">
                          <a:solidFill>
                            <a:srgbClr val="323232"/>
                          </a:solidFill>
                        </a:defRPr>
                      </a:pPr>
                      <a:r>
                        <a:t>30%</a:t>
                      </a:r>
                    </a:p>
                  </a:txBody>
                  <a:tcPr>
                    <a:solidFill>
                      <a:srgbClr val="E6F0FA"/>
                    </a:solidFill>
                  </a:tcPr>
                </a:tc>
                <a:extLst>
                  <a:ext uri="{0D108BD9-81ED-4DB2-BD59-A6C34878D82A}">
                    <a16:rowId xmlns:a16="http://schemas.microsoft.com/office/drawing/2014/main" val="10002"/>
                  </a:ext>
                </a:extLst>
              </a:tr>
              <a:tr h="381000">
                <a:tc>
                  <a:txBody>
                    <a:bodyPr/>
                    <a:lstStyle/>
                    <a:p>
                      <a:pPr>
                        <a:defRPr sz="1200">
                          <a:solidFill>
                            <a:srgbClr val="323232"/>
                          </a:solidFill>
                        </a:defRPr>
                      </a:pPr>
                      <a:r>
                        <a:t>Quizzes</a:t>
                      </a:r>
                    </a:p>
                  </a:txBody>
                  <a:tcPr>
                    <a:solidFill>
                      <a:srgbClr val="6095C7"/>
                    </a:solidFill>
                  </a:tcPr>
                </a:tc>
                <a:tc>
                  <a:txBody>
                    <a:bodyPr/>
                    <a:lstStyle/>
                    <a:p>
                      <a:pPr>
                        <a:defRPr sz="1200">
                          <a:solidFill>
                            <a:srgbClr val="323232"/>
                          </a:solidFill>
                        </a:defRPr>
                      </a:pPr>
                      <a:r>
                        <a:t>20%</a:t>
                      </a:r>
                    </a:p>
                  </a:txBody>
                  <a:tcPr>
                    <a:solidFill>
                      <a:srgbClr val="6095C7"/>
                    </a:solidFill>
                  </a:tcPr>
                </a:tc>
                <a:extLst>
                  <a:ext uri="{0D108BD9-81ED-4DB2-BD59-A6C34878D82A}">
                    <a16:rowId xmlns:a16="http://schemas.microsoft.com/office/drawing/2014/main" val="10003"/>
                  </a:ext>
                </a:extLst>
              </a:tr>
              <a:tr h="381000">
                <a:tc>
                  <a:txBody>
                    <a:bodyPr/>
                    <a:lstStyle/>
                    <a:p>
                      <a:pPr>
                        <a:defRPr sz="1200">
                          <a:solidFill>
                            <a:srgbClr val="323232"/>
                          </a:solidFill>
                        </a:defRPr>
                      </a:pPr>
                      <a:r>
                        <a:t>Case Project</a:t>
                      </a:r>
                    </a:p>
                  </a:txBody>
                  <a:tcPr>
                    <a:solidFill>
                      <a:srgbClr val="E6F0FA"/>
                    </a:solidFill>
                  </a:tcPr>
                </a:tc>
                <a:tc>
                  <a:txBody>
                    <a:bodyPr/>
                    <a:lstStyle/>
                    <a:p>
                      <a:pPr>
                        <a:defRPr sz="1200">
                          <a:solidFill>
                            <a:srgbClr val="323232"/>
                          </a:solidFill>
                        </a:defRPr>
                      </a:pPr>
                      <a:r>
                        <a:t>25%</a:t>
                      </a:r>
                    </a:p>
                  </a:txBody>
                  <a:tcPr>
                    <a:solidFill>
                      <a:srgbClr val="E6F0FA"/>
                    </a:solidFill>
                  </a:tcPr>
                </a:tc>
                <a:extLst>
                  <a:ext uri="{0D108BD9-81ED-4DB2-BD59-A6C34878D82A}">
                    <a16:rowId xmlns:a16="http://schemas.microsoft.com/office/drawing/2014/main" val="10004"/>
                  </a:ext>
                </a:extLst>
              </a:tr>
              <a:tr h="381000">
                <a:tc>
                  <a:txBody>
                    <a:bodyPr/>
                    <a:lstStyle/>
                    <a:p>
                      <a:pPr>
                        <a:defRPr sz="1200">
                          <a:solidFill>
                            <a:srgbClr val="323232"/>
                          </a:solidFill>
                        </a:defRPr>
                      </a:pPr>
                      <a:r>
                        <a:t>Homework</a:t>
                      </a:r>
                    </a:p>
                  </a:txBody>
                  <a:tcPr>
                    <a:solidFill>
                      <a:srgbClr val="6095C7"/>
                    </a:solidFill>
                  </a:tcPr>
                </a:tc>
                <a:tc>
                  <a:txBody>
                    <a:bodyPr/>
                    <a:lstStyle/>
                    <a:p>
                      <a:pPr>
                        <a:defRPr sz="1200">
                          <a:solidFill>
                            <a:srgbClr val="323232"/>
                          </a:solidFill>
                        </a:defRPr>
                      </a:pPr>
                      <a:r>
                        <a:t>5%</a:t>
                      </a:r>
                    </a:p>
                  </a:txBody>
                  <a:tcPr>
                    <a:solidFill>
                      <a:srgbClr val="6095C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48640"/>
          </a:xfrm>
          <a:prstGeom prst="rect">
            <a:avLst/>
          </a:prstGeom>
          <a:solidFill>
            <a:srgbClr val="05192D"/>
          </a:solidFill>
          <a:ln>
            <a:solidFill>
              <a:srgbClr val="051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1440"/>
            <a:ext cx="8595360" cy="365760"/>
          </a:xfrm>
          <a:prstGeom prst="rect">
            <a:avLst/>
          </a:prstGeom>
          <a:noFill/>
        </p:spPr>
        <p:txBody>
          <a:bodyPr wrap="none">
            <a:spAutoFit/>
          </a:bodyPr>
          <a:lstStyle/>
          <a:p>
            <a:pPr algn="l">
              <a:defRPr sz="2000" b="1">
                <a:solidFill>
                  <a:srgbClr val="FFFFFF"/>
                </a:solidFill>
              </a:defRPr>
            </a:pPr>
            <a:r>
              <a:t>Wrap‑Up &amp; Next Steps</a:t>
            </a:r>
          </a:p>
        </p:txBody>
      </p:sp>
      <p:sp>
        <p:nvSpPr>
          <p:cNvPr id="4" name="TextBox 3"/>
          <p:cNvSpPr txBox="1"/>
          <p:nvPr/>
        </p:nvSpPr>
        <p:spPr>
          <a:xfrm>
            <a:off x="457200" y="914400"/>
            <a:ext cx="4449488" cy="1231106"/>
          </a:xfrm>
          <a:prstGeom prst="rect">
            <a:avLst/>
          </a:prstGeom>
          <a:noFill/>
        </p:spPr>
        <p:txBody>
          <a:bodyPr wrap="none">
            <a:spAutoFit/>
          </a:bodyPr>
          <a:lstStyle/>
          <a:p>
            <a:pPr>
              <a:defRPr sz="1800" b="1">
                <a:solidFill>
                  <a:srgbClr val="323232"/>
                </a:solidFill>
              </a:defRPr>
            </a:pPr>
            <a:r>
              <a:rPr dirty="0"/>
              <a:t>Summary &amp; Looking Ahead</a:t>
            </a:r>
          </a:p>
          <a:p>
            <a:pPr lvl="1">
              <a:defRPr sz="1400">
                <a:solidFill>
                  <a:srgbClr val="323232"/>
                </a:solidFill>
              </a:defRPr>
            </a:pPr>
            <a:r>
              <a:rPr dirty="0"/>
              <a:t>Reviewed course scope, objectives &amp; logistics</a:t>
            </a:r>
          </a:p>
          <a:p>
            <a:pPr lvl="1">
              <a:defRPr sz="1400">
                <a:solidFill>
                  <a:srgbClr val="323232"/>
                </a:solidFill>
              </a:defRPr>
            </a:pPr>
            <a:r>
              <a:rPr dirty="0"/>
              <a:t>Introduced DBMS benefits &amp; DBA responsibilities</a:t>
            </a:r>
          </a:p>
          <a:p>
            <a:pPr lvl="1">
              <a:defRPr sz="1400">
                <a:solidFill>
                  <a:srgbClr val="323232"/>
                </a:solidFill>
              </a:defRPr>
            </a:pPr>
            <a:r>
              <a:rPr dirty="0"/>
              <a:t>Explored abstraction levels &amp; architectures</a:t>
            </a:r>
          </a:p>
          <a:p>
            <a:pPr lvl="1">
              <a:defRPr sz="1400">
                <a:solidFill>
                  <a:srgbClr val="323232"/>
                </a:solidFill>
              </a:defRPr>
            </a:pPr>
            <a:r>
              <a:rPr dirty="0"/>
              <a:t>Discussed relational model, SQL, ER &amp; normalization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361</TotalTime>
  <Words>4803</Words>
  <Application>Microsoft Macintosh PowerPoint</Application>
  <PresentationFormat>Custom</PresentationFormat>
  <Paragraphs>169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Atilio Barreda</cp:lastModifiedBy>
  <cp:revision>2</cp:revision>
  <dcterms:created xsi:type="dcterms:W3CDTF">2013-01-27T09:14:16Z</dcterms:created>
  <dcterms:modified xsi:type="dcterms:W3CDTF">2026-01-28T05:35:22Z</dcterms:modified>
  <cp:category/>
</cp:coreProperties>
</file>