
<file path=[Content_Types].xml><?xml version="1.0" encoding="utf-8"?>
<ns0:Types xmlns:ns0="http://schemas.openxmlformats.org/package/2006/content-types">
  <ns0:Default Extension="bin" ContentType="application/vnd.openxmlformats-officedocument.presentationml.printerSettings"/>
  <ns0:Default Extension="jpeg" ContentType="image/jpeg"/>
  <ns0:Default Extension="rels" ContentType="application/vnd.openxmlformats-package.relationships+xml"/>
  <ns0:Default Extension="xml" ContentType="application/xml"/>
  <ns0:Override PartName="/docProps/app.xml" ContentType="application/vnd.openxmlformats-officedocument.extended-properties+xml"/>
  <ns0:Override PartName="/docProps/core.xml" ContentType="application/vnd.openxmlformats-package.core-properties+xml"/>
  <ns0:Override PartName="/ppt/notesMasters/notesMaster1.xml" ContentType="application/vnd.openxmlformats-officedocument.presentationml.notesMaster+xml"/>
  <ns0:Override PartName="/ppt/notesSlides/notesSlide1.xml" ContentType="application/vnd.openxmlformats-officedocument.presentationml.notesSlide+xml"/>
  <ns0:Override PartName="/ppt/notesSlides/notesSlide10.xml" ContentType="application/vnd.openxmlformats-officedocument.presentationml.notesSlide+xml"/>
  <ns0:Override PartName="/ppt/notesSlides/notesSlide11.xml" ContentType="application/vnd.openxmlformats-officedocument.presentationml.notesSlide+xml"/>
  <ns0:Override PartName="/ppt/notesSlides/notesSlide12.xml" ContentType="application/vnd.openxmlformats-officedocument.presentationml.notesSlide+xml"/>
  <ns0:Override PartName="/ppt/notesSlides/notesSlide13.xml" ContentType="application/vnd.openxmlformats-officedocument.presentationml.notesSlide+xml"/>
  <ns0:Override PartName="/ppt/notesSlides/notesSlide14.xml" ContentType="application/vnd.openxmlformats-officedocument.presentationml.notesSlide+xml"/>
  <ns0:Override PartName="/ppt/notesSlides/notesSlide15.xml" ContentType="application/vnd.openxmlformats-officedocument.presentationml.notesSlide+xml"/>
  <ns0:Override PartName="/ppt/notesSlides/notesSlide16.xml" ContentType="application/vnd.openxmlformats-officedocument.presentationml.notesSlide+xml"/>
  <ns0:Override PartName="/ppt/notesSlides/notesSlide2.xml" ContentType="application/vnd.openxmlformats-officedocument.presentationml.notesSlide+xml"/>
  <ns0:Override PartName="/ppt/notesSlides/notesSlide3.xml" ContentType="application/vnd.openxmlformats-officedocument.presentationml.notesSlide+xml"/>
  <ns0:Override PartName="/ppt/notesSlides/notesSlide4.xml" ContentType="application/vnd.openxmlformats-officedocument.presentationml.notesSlide+xml"/>
  <ns0:Override PartName="/ppt/notesSlides/notesSlide5.xml" ContentType="application/vnd.openxmlformats-officedocument.presentationml.notesSlide+xml"/>
  <ns0:Override PartName="/ppt/notesSlides/notesSlide6.xml" ContentType="application/vnd.openxmlformats-officedocument.presentationml.notesSlide+xml"/>
  <ns0:Override PartName="/ppt/notesSlides/notesSlide7.xml" ContentType="application/vnd.openxmlformats-officedocument.presentationml.notesSlide+xml"/>
  <ns0:Override PartName="/ppt/notesSlides/notesSlide8.xml" ContentType="application/vnd.openxmlformats-officedocument.presentationml.notesSlide+xml"/>
  <ns0:Override PartName="/ppt/notesSlides/notesSlide9.xml" ContentType="application/vnd.openxmlformats-officedocument.presentationml.notesSlide+xml"/>
  <ns0:Override PartName="/ppt/presProps.xml" ContentType="application/vnd.openxmlformats-officedocument.presentationml.presProps+xml"/>
  <ns0:Override PartName="/ppt/presentation.xml" ContentType="application/vnd.openxmlformats-officedocument.presentationml.presentation.main+xml"/>
  <ns0:Override PartName="/ppt/slideLayouts/slideLayout1.xml" ContentType="application/vnd.openxmlformats-officedocument.presentationml.slideLayout+xml"/>
  <ns0:Override PartName="/ppt/slideLayouts/slideLayout10.xml" ContentType="application/vnd.openxmlformats-officedocument.presentationml.slideLayout+xml"/>
  <ns0:Override PartName="/ppt/slideLayouts/slideLayout11.xml" ContentType="application/vnd.openxmlformats-officedocument.presentationml.slideLayout+xml"/>
  <ns0:Override PartName="/ppt/slideLayouts/slideLayout2.xml" ContentType="application/vnd.openxmlformats-officedocument.presentationml.slideLayout+xml"/>
  <ns0:Override PartName="/ppt/slideLayouts/slideLayout3.xml" ContentType="application/vnd.openxmlformats-officedocument.presentationml.slideLayout+xml"/>
  <ns0:Override PartName="/ppt/slideLayouts/slideLayout4.xml" ContentType="application/vnd.openxmlformats-officedocument.presentationml.slideLayout+xml"/>
  <ns0:Override PartName="/ppt/slideLayouts/slideLayout5.xml" ContentType="application/vnd.openxmlformats-officedocument.presentationml.slideLayout+xml"/>
  <ns0:Override PartName="/ppt/slideLayouts/slideLayout6.xml" ContentType="application/vnd.openxmlformats-officedocument.presentationml.slideLayout+xml"/>
  <ns0:Override PartName="/ppt/slideLayouts/slideLayout7.xml" ContentType="application/vnd.openxmlformats-officedocument.presentationml.slideLayout+xml"/>
  <ns0:Override PartName="/ppt/slideLayouts/slideLayout8.xml" ContentType="application/vnd.openxmlformats-officedocument.presentationml.slideLayout+xml"/>
  <ns0:Override PartName="/ppt/slideLayouts/slideLayout9.xml" ContentType="application/vnd.openxmlformats-officedocument.presentationml.slideLayout+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s/slide10.xml" ContentType="application/vnd.openxmlformats-officedocument.presentationml.slide+xml"/>
  <ns0:Override PartName="/ppt/slides/slide11.xml" ContentType="application/vnd.openxmlformats-officedocument.presentationml.slide+xml"/>
  <ns0:Override PartName="/ppt/slides/slide12.xml" ContentType="application/vnd.openxmlformats-officedocument.presentationml.slide+xml"/>
  <ns0:Override PartName="/ppt/slides/slide13.xml" ContentType="application/vnd.openxmlformats-officedocument.presentationml.slide+xml"/>
  <ns0:Override PartName="/ppt/slides/slide14.xml" ContentType="application/vnd.openxmlformats-officedocument.presentationml.slide+xml"/>
  <ns0:Override PartName="/ppt/slides/slide15.xml" ContentType="application/vnd.openxmlformats-officedocument.presentationml.slide+xml"/>
  <ns0:Override PartName="/ppt/slides/slide16.xml" ContentType="application/vnd.openxmlformats-officedocument.presentationml.slide+xml"/>
  <ns0:Override PartName="/ppt/slides/slide17.xml" ContentType="application/vnd.openxmlformats-officedocument.presentationml.slide+xml"/>
  <ns0:Override PartName="/ppt/slides/slide18.xml" ContentType="application/vnd.openxmlformats-officedocument.presentationml.slide+xml"/>
  <ns0:Override PartName="/ppt/slides/slide19.xml" ContentType="application/vnd.openxmlformats-officedocument.presentationml.slide+xml"/>
  <ns0:Override PartName="/ppt/slides/slide2.xml" ContentType="application/vnd.openxmlformats-officedocument.presentationml.slide+xml"/>
  <ns0:Override PartName="/ppt/slides/slide20.xml" ContentType="application/vnd.openxmlformats-officedocument.presentationml.slide+xml"/>
  <ns0:Override PartName="/ppt/slides/slide21.xml" ContentType="application/vnd.openxmlformats-officedocument.presentationml.slide+xml"/>
  <ns0:Override PartName="/ppt/slides/slide3.xml" ContentType="application/vnd.openxmlformats-officedocument.presentationml.slide+xml"/>
  <ns0:Override PartName="/ppt/slides/slide4.xml" ContentType="application/vnd.openxmlformats-officedocument.presentationml.slide+xml"/>
  <ns0:Override PartName="/ppt/slides/slide5.xml" ContentType="application/vnd.openxmlformats-officedocument.presentationml.slide+xml"/>
  <ns0:Override PartName="/ppt/slides/slide6.xml" ContentType="application/vnd.openxmlformats-officedocument.presentationml.slide+xml"/>
  <ns0:Override PartName="/ppt/slides/slide7.xml" ContentType="application/vnd.openxmlformats-officedocument.presentationml.slide+xml"/>
  <ns0:Override PartName="/ppt/slides/slide8.xml" ContentType="application/vnd.openxmlformats-officedocument.presentationml.slide+xml"/>
  <ns0:Override PartName="/ppt/slides/slide9.xml" ContentType="application/vnd.openxmlformats-officedocument.presentationml.slide+xml"/>
  <ns0:Override PartName="/ppt/tableStyles.xml" ContentType="application/vnd.openxmlformats-officedocument.presentationml.tableStyles+xml"/>
  <ns0:Override PartName="/ppt/theme/theme1.xml" ContentType="application/vnd.openxmlformats-officedocument.theme+xml"/>
  <ns0:Override PartName="/ppt/theme/theme2.xml" ContentType="application/vnd.openxmlformats-officedocument.theme+xml"/>
  <ns0:Override PartName="/ppt/viewProps.xml" ContentType="application/vnd.openxmlformats-officedocument.presentationml.viewProps+xml"/>
  <ns0:Override PartName="/ppt/notesSlides/notesSlide17.xml" ContentType="application/vnd.openxmlformats-officedocument.presentationml.notesSlide+xml"/>
  <ns0:Override PartName="/ppt/notesSlides/notesSlide18.xml" ContentType="application/vnd.openxmlformats-officedocument.presentationml.notesSlide+xml"/>
  <ns0:Override PartName="/ppt/notesSlides/notesSlide19.xml" ContentType="application/vnd.openxmlformats-officedocument.presentationml.notesSlide+xml"/>
  <ns0:Override PartName="/ppt/notesSlides/notesSlide20.xml" ContentType="application/vnd.openxmlformats-officedocument.presentationml.notesSlide+xml"/>
  <ns0:Override PartName="/ppt/notesSlides/notesSlide21.xml" ContentType="application/vnd.openxmlformats-officedocument.presentationml.notesSlide+xml"/>
</ns0: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72" r:id="rId24"/>
    <p:sldId id="273" r:id="rId25"/>
    <p:sldId id="274" r:id="rId26"/>
    <p:sldId id="275" r:id="rId27"/>
    <p:sldId id="276" r:id="rId28"/>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notesMaster" Target="notesMasters/notesMaster1.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Today is Week 14, and we are moving into the finish-line part of the course. The final project is due May 26, 2026. The point of today is not to add a huge new technical burden. The point is to make the project easier to finish and easier to grade. We are going to review a few advanced ideas, especially polyglot persistence and distributed tradeoffs, but we are going to keep those ideas connected to your final project. By the end of class, you should have stronger admin evidence: a platform decision, an access-control concern, a backup and restore plan, an index or performance decision, and a clear plan for how I can review your work.</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The syllabus topic for this week is advanced topics, polyglot persistence, distributed database tradeoffs, and final project review. The new idea is simple. Sometimes one database is enough. Sometimes two databases are justified. The hard part is knowing the difference. When data is split across systems, new tradeoffs appear. You have to think about ownership, consistency, synchronization, failure, restore, permissions, and cost. For the final project, apply this vocabulary in a practical way. You do not need a complex distributed system. You need a database project whose design choices you can explain clearly.</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Polyglot persistence means using more than one type of database in the same system. A common example is using Postgres for structured records such as users, orders, roles, and permissions, while using MongoDB for flexible activity events, logs, or changing document-shaped data. That can be a good design when each database has a clear job. But using two databases just to look more advanced is a bad idea. A two-database project creates more setup, more explanation, more access-control work, and more failure points. For most beginner final projects, one database used well is stronger than two databases used vaguely.</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Most beginner final projects should use one platform well. If your data has one clear shape, one platform can probably handle it. If one platform can answer the required queries, that is enough. If you can explain the model clearly, that is a strong sign that the project is scoped correctly. One platform also makes admin evidence easier to verify. There is less setup, which means more time for quality. A finished small project is better than an unfinished complex project. If your project works clearly in Supabase or clearly in MongoDB Atlas, do not add another platform unless you can explain exactly why it is necessary.</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Two databases make sense only when each database has a clear job. Postgres is a good fit for structured core records, relationships, constraints, users, and permissions. MongoDB is a good fit for flexible events, logs, changing document shapes, nested records, or data that does not fit cleanly into a table design. If you choose both, you must be able to answer two questions. What does each platform own, and what would go wrong if that ownership were unclear. For example, if the same important fact lives in both systems, which copy is the source of truth. If you cannot answer that, the split is probably too complicated for this final project.</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The moment data is split, distributed tradeoffs appear. Duplication means the same fact might appear in two places. Consistency means one system might update before the other. Failure means one database may be working while the other one is down. Restore means backups may recover to different points in time. Security means permissions must be understood in both systems. Cost means two platforms create more operational surface area. You do not need to solve all of these problems in a beginner project. You do need to name one tradeoff honestly and explain how it affects your design.</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The final project should prove database administration thinking, not just that a dataset exists. Access evidence means you can explain who can read, write, update, or delete data. Index evidence means you can name one query that deserves performance support. Backup evidence means you can explain what data needs to be protected. Restore evidence means you can explain how you would check that recovery worked. Review evidence means I can verify your database, schema or collections, seed data, queries, and admin notes. These pieces matter because they show that you are thinking like someone responsible for operating a database, not only creating one.</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A backup is not the same as a restore. A backup is only useful if recovery can be verified. For your final project, keep the restore plan beginner friendly and specific. State what incident you are preparing for. It might be an accidental delete, a bad update, a broken table, a dropped collection, or a lost dataset. State what backup, export, or saved file you would use. State where the restore would happen. Then state what you would check after restore. You might check row counts, sample documents, important queries, indexes, tables, collections, or policies. The goal is not enterprise disaster recovery. The goal is a clear recovery plan.</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Review readiness means making the project easy for me to verify. If you are using Supabase or Postgres, your evidence can include SQL files, schema evidence, seed data, query examples, admin notes, and live access if you are using a live project. If you are using MongoDB Atlas, add me to the project or team, or provide another approved way for me to inspect the work. I need to be able to verify database names, collections, documents, indexes, and notes. If you are using both platforms, both sides need to be reviewable. Do not wait until the due date to solve access problems.</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The written explanation is a clear story of your database decisions. It should explain the project purpose, platform choice, data model, seed data, query examples, admin and reliability decisions, and what you would improve with more time. This is not a research paper. It is a technical explanation of what you built and why. A good report makes the project easy to understand even if I am not watching you demo it live. When you write, connect every choice to the project goal. Do not just list features. Explain the reasoning behind the database design.</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The final presentation should be simple and evidence based. You have five to seven minutes. Show what the database manages, why the platform fits, the data model, one useful query, one admin or reliability decision, and one lesson learned. Do not try to show every table, every collection, every query, and every setup screen. A focused presentation is stronger than a rushed tour of everything. Your goal is to prove that the database exists, that it answers a real question, and that you can explain at least one administration decision clearly.</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A short demo should prove that the database exists and works. Show the model first. That might be tables and relationships in Supabase, or collections and document shape in MongoDB. Then show one useful query and the result it returns. Then show one admin decision, such as an index, permission concern, backup plan, or restore checklist. If a live demo fails, screenshots are acceptable backup evidence. The goal is not performance. The goal is clarity. I should be able to see what the database stores, what question it answers, and what administration decision you made.</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The final project can become a short career story. You can say that you chose a database platform based on data shape. You modeled data for real queries. You loaded or created seed data. You wrote queries that answer user questions. You made an index, access-control, backup, or reliability decision. You can also explain what you would improve next. That is useful interview language. A small class project becomes stronger when you can explain the decisions behind it. The goal is not to pretend it is a production system. The goal is to show that you can reason like a database administrator.</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Now we are moving into the Class 1 lab. The lab is the Final Project Admin Evidence Check. You will work individually. Your Brightspace response should include your platform decision, one access-control concern, one backup or restore plan, one index or performance decision, and your review-readiness plan. Keep the answers short, but make them specific. If you are stuck, start with the platform decision and then write one sentence for each admin category. The goal is to leave class with evidence you can reuse in the final submission.</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Class 2 will focus on the report, presentation, and submission check. The report should explain the project in seven hundred to one thousand words. The presentation should tell a five to seven minute project story. The submission should include the artifacts needed to verify the work: model evidence, seed data, queries, admin notes, and review access or files. This slide is the preview of next class. Today, focus on admin evidence. Next class, we will turn that evidence into the final report and presentation structure.</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Before submitting on May 26, every item on this checklist should be clear. The data model evidence should be understandable. Seed data should exist and be explainable. At least four queries should be included in the final submission. One index decision should be explained. One access-control concern should be included. A backup and restore checklist should be included. I should be able to verify the project. The report and presentation should be ready. If one of these items is weak, that item is your next task. The final project should be built from evidence, not from last-minute guesses.</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Supabase is managed Postgres with a dashboard and platform tools around it. For this course, that means the database is still the center of the project. The dashboard is helpful because it gives you a Table Editor, SQL Editor, connection settings, authentication tools, and project settings. But the final project is not graded as a full web app. It is graded as database work. Your evidence should show the schema, seed data, queries, indexes, access-control thinking, and backup or restore plan. A simple Supabase project can be very strong if the database decisions are clear.</a:t>
            </a:r>
            <a:endParaRPr lang="en-US" dirty="0"/>
          </a:p>
        </p:txBody>
      </p:sp>
    </p:spTree>
  </p:cSld>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A Supabase final project should be easy to verify. You should be able to show three to five tables with columns, data types, primary keys, and relationships. You should have enough realistic rows to prove that the model and queries work. You should include at least four meaningful SQL queries in the final submission. Those queries should answer real questions about the project, not just select every row from a table. You should also include one index decision tied to a real query. If your project has these pieces, I can understand what the database manages and how the design supports actual use.</a:t>
            </a:r>
            <a:endParaRPr lang="en-US" dirty="0"/>
          </a:p>
        </p:txBody>
      </p:sp>
    </p:spTree>
  </p:cSld>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For Supabase, access control usually means thinking about Row Level Security. You do not need perfect production security for this class, but you do need to identify what should be protected. Decide what can be public, what should be private, who should be allowed to insert records, and who should be allowed to update or delete records. Row Level Security policies can control which rows users are allowed to access. Even if your project only explains the policy instead of fully implementing every rule, the reasoning matters. Also remember that passwords, service role keys, and connection strings should never be submitted in screenshots or public files.</a:t>
            </a:r>
            <a:endParaRPr lang="en-US" dirty="0"/>
          </a:p>
        </p:txBody>
      </p:sp>
    </p:spTree>
  </p:cSld>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Cloud database work includes setup and recovery, not just query writing. In Supabase, you may connect through the SQL Editor, a local database tool, or a connection string. If you are connecting from an environment that does not support IPv6, such as some notebook environments, the Supabase pooler connection string may be the practical fix. For backups and restore, keep the plan concrete. Say what you would back up, what incident you are preparing for, where you would restore, and what you would check afterward. After restore, you might check tables, row counts, important queries, indexes, and access policies.</a:t>
            </a:r>
            <a:endParaRPr lang="en-US" dirty="0"/>
          </a:p>
        </p:txBody>
      </p:sp>
    </p:spTree>
  </p:cSld>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If you are using Supabase, your evidence paragraph today should cover four things. First, explain why Supabase and Postgres fit your project. Second, name one permission or access-control concern. Third, describe one restore scenario and how you would verify recovery. Fourth, name one index decision tied to a real query. This paragraph does not need to solve every administration problem. It needs to be clear, specific, and checkable. By the end of the lab, you should have a piece of writing that can go directly into your final project report.</a:t>
            </a:r>
            <a:endParaRPr lang="en-US" dirty="0"/>
          </a:p>
        </p:txBody>
      </p:sp>
    </p:spTree>
  </p:cSld>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B31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47472"/>
            <a:ext cx="1828800" cy="228600"/>
          </a:xfrm>
          <a:prstGeom prst="rect">
            <a:avLst/>
          </a:prstGeom>
          <a:noFill/>
        </p:spPr>
        <p:txBody>
          <a:bodyPr wrap="square" anchor="t">
            <a:normAutofit/>
          </a:bodyPr>
          <a:lstStyle/>
          <a:p>
            <a:pPr algn="l"/>
            <a:r>
              <a:rPr sz="1200" b="1">
                <a:solidFill>
                  <a:srgbClr val="F5C454"/>
                </a:solidFill>
                <a:latin typeface="Aptos"/>
              </a:rPr>
              <a:t>Week 14</a:t>
            </a:r>
          </a:p>
        </p:txBody>
      </p:sp>
      <p:sp>
        <p:nvSpPr>
          <p:cNvPr id="5" name="TextBox 4"/>
          <p:cNvSpPr txBox="1"/>
          <p:nvPr/>
        </p:nvSpPr>
        <p:spPr>
          <a:xfrm>
            <a:off x="685800" y="1572768"/>
            <a:ext cx="8961120" cy="914400"/>
          </a:xfrm>
          <a:prstGeom prst="rect">
            <a:avLst/>
          </a:prstGeom>
          <a:noFill/>
        </p:spPr>
        <p:txBody>
          <a:bodyPr wrap="square" anchor="t">
            <a:normAutofit/>
          </a:bodyPr>
          <a:lstStyle/>
          <a:p>
            <a:pPr algn="l"/>
            <a:r>
              <a:rPr sz="3400" b="1">
                <a:solidFill>
                  <a:srgbClr val="1C2226"/>
                </a:solidFill>
                <a:latin typeface="Aptos Display"/>
              </a:rPr>
              <a:t>Polyglot Tradeoffs and Final Project Finish Line</a:t>
            </a:r>
          </a:p>
        </p:txBody>
      </p:sp>
      <p:sp>
        <p:nvSpPr>
          <p:cNvPr id="6" name="TextBox 5"/>
          <p:cNvSpPr txBox="1"/>
          <p:nvPr/>
        </p:nvSpPr>
        <p:spPr>
          <a:xfrm>
            <a:off x="731520" y="2606040"/>
            <a:ext cx="7863840" cy="502920"/>
          </a:xfrm>
          <a:prstGeom prst="rect">
            <a:avLst/>
          </a:prstGeom>
          <a:noFill/>
        </p:spPr>
        <p:txBody>
          <a:bodyPr wrap="square" anchor="t">
            <a:normAutofit/>
          </a:bodyPr>
          <a:lstStyle/>
          <a:p>
            <a:pPr algn="l"/>
            <a:r>
              <a:rPr sz="1700" b="0">
                <a:solidFill>
                  <a:srgbClr val="535C62"/>
                </a:solidFill>
                <a:latin typeface="Aptos"/>
              </a:rPr>
              <a:t>Short new concepts. Long work time. Everything points toward the May 26, 2026 final project deadline.</a:t>
            </a:r>
          </a:p>
        </p:txBody>
      </p:sp>
      <p:sp>
        <p:nvSpPr>
          <p:cNvPr id="7" name="Rounded Rectangle 6"/>
          <p:cNvSpPr/>
          <p:nvPr/>
        </p:nvSpPr>
        <p:spPr>
          <a:xfrm>
            <a:off x="822960" y="3886200"/>
            <a:ext cx="3017520" cy="1051560"/>
          </a:xfrm>
          <a:prstGeom prst="roundRect">
            <a:avLst/>
          </a:prstGeom>
          <a:solidFill>
            <a:srgbClr val="F5C454"/>
          </a:solidFill>
          <a:ln w="12700">
            <a:solidFill>
              <a:srgbClr val="D6CC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4014215"/>
            <a:ext cx="2688336" cy="237744"/>
          </a:xfrm>
          <a:prstGeom prst="rect">
            <a:avLst/>
          </a:prstGeom>
          <a:noFill/>
        </p:spPr>
        <p:txBody>
          <a:bodyPr wrap="square" anchor="t">
            <a:normAutofit/>
          </a:bodyPr>
          <a:lstStyle/>
          <a:p>
            <a:pPr algn="l"/>
            <a:r>
              <a:rPr sz="1320" b="1">
                <a:solidFill>
                  <a:srgbClr val="1B3146"/>
                </a:solidFill>
                <a:latin typeface="Aptos"/>
              </a:rPr>
              <a:t>Due date</a:t>
            </a:r>
          </a:p>
        </p:txBody>
      </p:sp>
      <p:sp>
        <p:nvSpPr>
          <p:cNvPr id="9" name="TextBox 8"/>
          <p:cNvSpPr txBox="1"/>
          <p:nvPr/>
        </p:nvSpPr>
        <p:spPr>
          <a:xfrm>
            <a:off x="987552" y="4325112"/>
            <a:ext cx="2688336" cy="539495"/>
          </a:xfrm>
          <a:prstGeom prst="rect">
            <a:avLst/>
          </a:prstGeom>
          <a:noFill/>
        </p:spPr>
        <p:txBody>
          <a:bodyPr wrap="square" anchor="t">
            <a:normAutofit/>
          </a:bodyPr>
          <a:lstStyle/>
          <a:p>
            <a:pPr algn="l"/>
            <a:r>
              <a:rPr sz="1500" b="0">
                <a:solidFill>
                  <a:srgbClr val="1C2226"/>
                </a:solidFill>
                <a:latin typeface="Aptos"/>
              </a:rPr>
              <a:t>Final project due May 26, 2026.</a:t>
            </a:r>
          </a:p>
        </p:txBody>
      </p:sp>
      <p:sp>
        <p:nvSpPr>
          <p:cNvPr id="10" name="Rounded Rectangle 9"/>
          <p:cNvSpPr/>
          <p:nvPr/>
        </p:nvSpPr>
        <p:spPr>
          <a:xfrm>
            <a:off x="4251960" y="3886200"/>
            <a:ext cx="3657600" cy="1051560"/>
          </a:xfrm>
          <a:prstGeom prst="roundRect">
            <a:avLst/>
          </a:prstGeom>
          <a:solidFill>
            <a:srgbClr val="D8EEE1"/>
          </a:solidFill>
          <a:ln w="12700">
            <a:solidFill>
              <a:srgbClr val="D6CC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16552" y="4014215"/>
            <a:ext cx="3328416" cy="237744"/>
          </a:xfrm>
          <a:prstGeom prst="rect">
            <a:avLst/>
          </a:prstGeom>
          <a:noFill/>
        </p:spPr>
        <p:txBody>
          <a:bodyPr wrap="square" anchor="t">
            <a:normAutofit/>
          </a:bodyPr>
          <a:lstStyle/>
          <a:p>
            <a:pPr algn="l"/>
            <a:r>
              <a:rPr sz="1320" b="1">
                <a:solidFill>
                  <a:srgbClr val="116763"/>
                </a:solidFill>
                <a:latin typeface="Aptos"/>
              </a:rPr>
              <a:t>This week</a:t>
            </a:r>
          </a:p>
        </p:txBody>
      </p:sp>
      <p:sp>
        <p:nvSpPr>
          <p:cNvPr id="12" name="TextBox 11"/>
          <p:cNvSpPr txBox="1"/>
          <p:nvPr/>
        </p:nvSpPr>
        <p:spPr>
          <a:xfrm>
            <a:off x="4416552" y="4325112"/>
            <a:ext cx="3328416" cy="539495"/>
          </a:xfrm>
          <a:prstGeom prst="rect">
            <a:avLst/>
          </a:prstGeom>
          <a:noFill/>
        </p:spPr>
        <p:txBody>
          <a:bodyPr wrap="square" anchor="t">
            <a:normAutofit/>
          </a:bodyPr>
          <a:lstStyle/>
          <a:p>
            <a:pPr algn="l"/>
            <a:r>
              <a:rPr sz="1400" b="0">
                <a:solidFill>
                  <a:srgbClr val="1C2226"/>
                </a:solidFill>
                <a:latin typeface="Aptos"/>
              </a:rPr>
              <a:t>Admin evidence, review readiness, report outline, and presentation plan.</a:t>
            </a:r>
          </a:p>
        </p:txBody>
      </p:sp>
      <p:sp>
        <p:nvSpPr>
          <p:cNvPr id="13" name="Rounded Rectangle 12"/>
          <p:cNvSpPr/>
          <p:nvPr/>
        </p:nvSpPr>
        <p:spPr>
          <a:xfrm>
            <a:off x="8321040" y="3886200"/>
            <a:ext cx="2880360" cy="1051560"/>
          </a:xfrm>
          <a:prstGeom prst="roundRect">
            <a:avLst/>
          </a:prstGeom>
          <a:solidFill>
            <a:srgbClr val="FFFFFF"/>
          </a:solidFill>
          <a:ln w="12700">
            <a:solidFill>
              <a:srgbClr val="D6CC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85632" y="4014215"/>
            <a:ext cx="2551176" cy="237744"/>
          </a:xfrm>
          <a:prstGeom prst="rect">
            <a:avLst/>
          </a:prstGeom>
          <a:noFill/>
        </p:spPr>
        <p:txBody>
          <a:bodyPr wrap="square" anchor="t">
            <a:normAutofit/>
          </a:bodyPr>
          <a:lstStyle/>
          <a:p>
            <a:pPr algn="l"/>
            <a:r>
              <a:rPr sz="1320" b="1">
                <a:solidFill>
                  <a:srgbClr val="116763"/>
                </a:solidFill>
                <a:latin typeface="Aptos"/>
              </a:rPr>
              <a:t>Class mode</a:t>
            </a:r>
          </a:p>
        </p:txBody>
      </p:sp>
      <p:sp>
        <p:nvSpPr>
          <p:cNvPr id="15" name="TextBox 14"/>
          <p:cNvSpPr txBox="1"/>
          <p:nvPr/>
        </p:nvSpPr>
        <p:spPr>
          <a:xfrm>
            <a:off x="8485632" y="4325112"/>
            <a:ext cx="2551176" cy="539495"/>
          </a:xfrm>
          <a:prstGeom prst="rect">
            <a:avLst/>
          </a:prstGeom>
          <a:noFill/>
        </p:spPr>
        <p:txBody>
          <a:bodyPr wrap="square" anchor="t">
            <a:normAutofit/>
          </a:bodyPr>
          <a:lstStyle/>
          <a:p>
            <a:pPr algn="l"/>
            <a:r>
              <a:rPr sz="1400" b="0">
                <a:solidFill>
                  <a:srgbClr val="1C2226"/>
                </a:solidFill>
                <a:latin typeface="Aptos"/>
              </a:rPr>
              <a:t>Brief teaching, then individual work.</a:t>
            </a:r>
          </a:p>
        </p:txBody>
      </p:sp>
      <p:sp>
        <p:nvSpPr>
          <p:cNvPr id="16" name="TextBox 15"/>
          <p:cNvSpPr txBox="1"/>
          <p:nvPr/>
        </p:nvSpPr>
        <p:spPr>
          <a:xfrm>
            <a:off x="658368" y="6473952"/>
            <a:ext cx="3200400" cy="201168"/>
          </a:xfrm>
          <a:prstGeom prst="rect">
            <a:avLst/>
          </a:prstGeom>
          <a:noFill/>
        </p:spPr>
        <p:txBody>
          <a:bodyPr wrap="square" anchor="t">
            <a:normAutofit/>
          </a:bodyPr>
          <a:lstStyle/>
          <a:p>
            <a:pPr algn="l"/>
            <a:r>
              <a:rPr sz="850" b="0">
                <a:solidFill>
                  <a:srgbClr val="535C62"/>
                </a:solidFill>
                <a:latin typeface="Aptos"/>
              </a:rPr>
              <a:t>CST4714 | Week 14</a:t>
            </a:r>
          </a:p>
        </p:txBody>
      </p:sp>
      <p:sp>
        <p:nvSpPr>
          <p:cNvPr id="17" name="TextBox 16"/>
          <p:cNvSpPr txBox="1"/>
          <p:nvPr/>
        </p:nvSpPr>
        <p:spPr>
          <a:xfrm>
            <a:off x="11301984" y="6473952"/>
            <a:ext cx="320040" cy="201168"/>
          </a:xfrm>
          <a:prstGeom prst="rect">
            <a:avLst/>
          </a:prstGeom>
          <a:noFill/>
        </p:spPr>
        <p:txBody>
          <a:bodyPr wrap="square" anchor="t">
            <a:normAutofit/>
          </a:bodyPr>
          <a:lstStyle/>
          <a:p>
            <a:pPr algn="r"/>
            <a:r>
              <a:rPr sz="850" b="0">
                <a:solidFill>
                  <a:srgbClr val="535C62"/>
                </a:solidFill>
                <a:latin typeface="Apt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167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18520" y="310896"/>
            <a:ext cx="658368" cy="658368"/>
          </a:xfrm>
          <a:prstGeom prst="ellipse">
            <a:avLst/>
          </a:prstGeom>
          <a:solidFill>
            <a:srgbClr val="F5C4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38912"/>
            <a:ext cx="4389120" cy="237744"/>
          </a:xfrm>
          <a:prstGeom prst="rect">
            <a:avLst/>
          </a:prstGeom>
          <a:noFill/>
        </p:spPr>
        <p:txBody>
          <a:bodyPr wrap="square" anchor="t">
            <a:normAutofit/>
          </a:bodyPr>
          <a:lstStyle/>
          <a:p>
            <a:pPr algn="l"/>
            <a:r>
              <a:rPr sz="950" b="1">
                <a:solidFill>
                  <a:srgbClr val="116763"/>
                </a:solidFill>
                <a:latin typeface="Aptos"/>
              </a:rPr>
              <a:t>ALIGNMENT</a:t>
            </a:r>
          </a:p>
        </p:txBody>
      </p:sp>
      <p:sp>
        <p:nvSpPr>
          <p:cNvPr id="6" name="TextBox 5"/>
          <p:cNvSpPr txBox="1"/>
          <p:nvPr/>
        </p:nvSpPr>
        <p:spPr>
          <a:xfrm>
            <a:off x="621792" y="713232"/>
            <a:ext cx="8778240" cy="676656"/>
          </a:xfrm>
          <a:prstGeom prst="rect">
            <a:avLst/>
          </a:prstGeom>
          <a:noFill/>
        </p:spPr>
        <p:txBody>
          <a:bodyPr wrap="square" anchor="t">
            <a:normAutofit/>
          </a:bodyPr>
          <a:lstStyle/>
          <a:p>
            <a:pPr algn="l"/>
            <a:r>
              <a:rPr sz="3000" b="1">
                <a:solidFill>
                  <a:srgbClr val="1C2226"/>
                </a:solidFill>
                <a:latin typeface="Aptos Display"/>
              </a:rPr>
              <a:t>What the Syllabus Says</a:t>
            </a:r>
          </a:p>
        </p:txBody>
      </p:sp>
      <p:sp>
        <p:nvSpPr>
          <p:cNvPr id="7" name="TextBox 6"/>
          <p:cNvSpPr txBox="1"/>
          <p:nvPr/>
        </p:nvSpPr>
        <p:spPr>
          <a:xfrm>
            <a:off x="658368" y="1353312"/>
            <a:ext cx="9326880" cy="347472"/>
          </a:xfrm>
          <a:prstGeom prst="rect">
            <a:avLst/>
          </a:prstGeom>
          <a:noFill/>
        </p:spPr>
        <p:txBody>
          <a:bodyPr wrap="square" anchor="t">
            <a:normAutofit/>
          </a:bodyPr>
          <a:lstStyle/>
          <a:p>
            <a:pPr algn="l"/>
            <a:r>
              <a:rPr sz="1400" b="0">
                <a:solidFill>
                  <a:srgbClr val="535C62"/>
                </a:solidFill>
                <a:latin typeface="Aptos"/>
              </a:rPr>
              <a:t>Advanced topics: polyglot persistence, distributed tradeoffs, final project work session, and review.</a:t>
            </a:r>
          </a:p>
        </p:txBody>
      </p:sp>
      <p:sp>
        <p:nvSpPr>
          <p:cNvPr id="8" name="Rounded Rectangle 7"/>
          <p:cNvSpPr/>
          <p:nvPr/>
        </p:nvSpPr>
        <p:spPr>
          <a:xfrm>
            <a:off x="731520" y="1920240"/>
            <a:ext cx="3291840" cy="1417320"/>
          </a:xfrm>
          <a:prstGeom prst="roundRect">
            <a:avLst/>
          </a:prstGeom>
          <a:solidFill>
            <a:srgbClr val="FFFFFF"/>
          </a:solidFill>
          <a:ln w="12700">
            <a:solidFill>
              <a:srgbClr val="D6CC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048256"/>
            <a:ext cx="2962656" cy="237744"/>
          </a:xfrm>
          <a:prstGeom prst="rect">
            <a:avLst/>
          </a:prstGeom>
          <a:noFill/>
        </p:spPr>
        <p:txBody>
          <a:bodyPr wrap="square" anchor="t">
            <a:normAutofit/>
          </a:bodyPr>
          <a:lstStyle/>
          <a:p>
            <a:pPr algn="l"/>
            <a:r>
              <a:rPr sz="1320" b="1">
                <a:solidFill>
                  <a:srgbClr val="116763"/>
                </a:solidFill>
                <a:latin typeface="Aptos"/>
              </a:rPr>
              <a:t>New idea</a:t>
            </a:r>
          </a:p>
        </p:txBody>
      </p:sp>
      <p:sp>
        <p:nvSpPr>
          <p:cNvPr id="10" name="TextBox 9"/>
          <p:cNvSpPr txBox="1"/>
          <p:nvPr/>
        </p:nvSpPr>
        <p:spPr>
          <a:xfrm>
            <a:off x="896112" y="2359152"/>
            <a:ext cx="2962656" cy="905256"/>
          </a:xfrm>
          <a:prstGeom prst="rect">
            <a:avLst/>
          </a:prstGeom>
          <a:noFill/>
        </p:spPr>
        <p:txBody>
          <a:bodyPr wrap="square" anchor="t">
            <a:normAutofit/>
          </a:bodyPr>
          <a:lstStyle/>
          <a:p>
            <a:pPr algn="l"/>
            <a:r>
              <a:rPr sz="1250" b="0">
                <a:solidFill>
                  <a:srgbClr val="1C2226"/>
                </a:solidFill>
                <a:latin typeface="Aptos"/>
              </a:rPr>
              <a:t>Sometimes one database is enough. Sometimes two are justified.</a:t>
            </a:r>
          </a:p>
        </p:txBody>
      </p:sp>
      <p:sp>
        <p:nvSpPr>
          <p:cNvPr id="11" name="Rounded Rectangle 10"/>
          <p:cNvSpPr/>
          <p:nvPr/>
        </p:nvSpPr>
        <p:spPr>
          <a:xfrm>
            <a:off x="4434840" y="1920240"/>
            <a:ext cx="3291840" cy="1417320"/>
          </a:xfrm>
          <a:prstGeom prst="roundRect">
            <a:avLst/>
          </a:prstGeom>
          <a:solidFill>
            <a:srgbClr val="D8EEE1"/>
          </a:solidFill>
          <a:ln w="12700">
            <a:solidFill>
              <a:srgbClr val="D6CC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1" y="2048256"/>
            <a:ext cx="2962656" cy="237744"/>
          </a:xfrm>
          <a:prstGeom prst="rect">
            <a:avLst/>
          </a:prstGeom>
          <a:noFill/>
        </p:spPr>
        <p:txBody>
          <a:bodyPr wrap="square" anchor="t">
            <a:normAutofit/>
          </a:bodyPr>
          <a:lstStyle/>
          <a:p>
            <a:pPr algn="l"/>
            <a:r>
              <a:rPr sz="1320" b="1">
                <a:solidFill>
                  <a:srgbClr val="116763"/>
                </a:solidFill>
                <a:latin typeface="Aptos"/>
              </a:rPr>
              <a:t>Tradeoff</a:t>
            </a:r>
          </a:p>
        </p:txBody>
      </p:sp>
      <p:sp>
        <p:nvSpPr>
          <p:cNvPr id="13" name="TextBox 12"/>
          <p:cNvSpPr txBox="1"/>
          <p:nvPr/>
        </p:nvSpPr>
        <p:spPr>
          <a:xfrm>
            <a:off x="4599431" y="2359152"/>
            <a:ext cx="2962656" cy="905256"/>
          </a:xfrm>
          <a:prstGeom prst="rect">
            <a:avLst/>
          </a:prstGeom>
          <a:noFill/>
        </p:spPr>
        <p:txBody>
          <a:bodyPr wrap="square" anchor="t">
            <a:normAutofit/>
          </a:bodyPr>
          <a:lstStyle/>
          <a:p>
            <a:pPr algn="l"/>
            <a:r>
              <a:rPr sz="1250" b="0">
                <a:solidFill>
                  <a:srgbClr val="1C2226"/>
                </a:solidFill>
                <a:latin typeface="Aptos"/>
              </a:rPr>
              <a:t>Distributed systems add ownership, consistency, sync, and failure questions.</a:t>
            </a:r>
          </a:p>
        </p:txBody>
      </p:sp>
      <p:sp>
        <p:nvSpPr>
          <p:cNvPr id="14" name="Rounded Rectangle 13"/>
          <p:cNvSpPr/>
          <p:nvPr/>
        </p:nvSpPr>
        <p:spPr>
          <a:xfrm>
            <a:off x="8138160" y="1920240"/>
            <a:ext cx="3291840" cy="1417320"/>
          </a:xfrm>
          <a:prstGeom prst="roundRect">
            <a:avLst/>
          </a:prstGeom>
          <a:solidFill>
            <a:srgbClr val="FFFFFF"/>
          </a:solidFill>
          <a:ln w="12700">
            <a:solidFill>
              <a:srgbClr val="D6CC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2048256"/>
            <a:ext cx="2962656" cy="237744"/>
          </a:xfrm>
          <a:prstGeom prst="rect">
            <a:avLst/>
          </a:prstGeom>
          <a:noFill/>
        </p:spPr>
        <p:txBody>
          <a:bodyPr wrap="square" anchor="t">
            <a:normAutofit/>
          </a:bodyPr>
          <a:lstStyle/>
          <a:p>
            <a:pPr algn="l"/>
            <a:r>
              <a:rPr sz="1320" b="1">
                <a:solidFill>
                  <a:srgbClr val="116763"/>
                </a:solidFill>
                <a:latin typeface="Aptos"/>
              </a:rPr>
              <a:t>Project work</a:t>
            </a:r>
          </a:p>
        </p:txBody>
      </p:sp>
      <p:sp>
        <p:nvSpPr>
          <p:cNvPr id="16" name="TextBox 15"/>
          <p:cNvSpPr txBox="1"/>
          <p:nvPr/>
        </p:nvSpPr>
        <p:spPr>
          <a:xfrm>
            <a:off x="8302752" y="2359152"/>
            <a:ext cx="2962656" cy="905256"/>
          </a:xfrm>
          <a:prstGeom prst="rect">
            <a:avLst/>
          </a:prstGeom>
          <a:noFill/>
        </p:spPr>
        <p:txBody>
          <a:bodyPr wrap="square" anchor="t">
            <a:normAutofit/>
          </a:bodyPr>
          <a:lstStyle/>
          <a:p>
            <a:pPr algn="l"/>
            <a:r>
              <a:rPr sz="1250" b="0">
                <a:solidFill>
                  <a:srgbClr val="1C2226"/>
                </a:solidFill>
                <a:latin typeface="Aptos"/>
              </a:rPr>
              <a:t>Students finish admin evidence, report, and presentation plan.</a:t>
            </a:r>
          </a:p>
        </p:txBody>
      </p:sp>
      <p:sp>
        <p:nvSpPr>
          <p:cNvPr id="17" name="TextBox 16"/>
          <p:cNvSpPr txBox="1"/>
          <p:nvPr/>
        </p:nvSpPr>
        <p:spPr>
          <a:xfrm>
            <a:off x="1097280" y="4480560"/>
            <a:ext cx="9966960" cy="713232"/>
          </a:xfrm>
          <a:prstGeom prst="rect">
            <a:avLst/>
          </a:prstGeom>
          <a:noFill/>
        </p:spPr>
        <p:txBody>
          <a:bodyPr wrap="square" anchor="t">
            <a:normAutofit/>
          </a:bodyPr>
          <a:lstStyle/>
          <a:p>
            <a:pPr algn="ctr"/>
            <a:r>
              <a:rPr sz="2200" b="1">
                <a:solidFill>
                  <a:srgbClr val="1C2226"/>
                </a:solidFill>
                <a:latin typeface="Aptos"/>
              </a:rPr>
              <a:t>The week should reduce student uncertainty, not add new project scope.</a:t>
            </a:r>
          </a:p>
        </p:txBody>
      </p:sp>
      <p:sp>
        <p:nvSpPr>
          <p:cNvPr id="18" name="TextBox 17"/>
          <p:cNvSpPr txBox="1"/>
          <p:nvPr/>
        </p:nvSpPr>
        <p:spPr>
          <a:xfrm>
            <a:off x="658368" y="6473952"/>
            <a:ext cx="3200400" cy="201168"/>
          </a:xfrm>
          <a:prstGeom prst="rect">
            <a:avLst/>
          </a:prstGeom>
          <a:noFill/>
        </p:spPr>
        <p:txBody>
          <a:bodyPr wrap="square" anchor="t">
            <a:normAutofit/>
          </a:bodyPr>
          <a:lstStyle/>
          <a:p>
            <a:pPr algn="l"/>
            <a:r>
              <a:rPr sz="850" b="0">
                <a:solidFill>
                  <a:srgbClr val="535C62"/>
                </a:solidFill>
                <a:latin typeface="Aptos"/>
              </a:rPr>
              <a:t>CST4714 | Week 14</a:t>
            </a:r>
          </a:p>
        </p:txBody>
      </p:sp>
      <p:sp>
        <p:nvSpPr>
          <p:cNvPr id="19" name="TextBox 18"/>
          <p:cNvSpPr txBox="1"/>
          <p:nvPr/>
        </p:nvSpPr>
        <p:spPr>
          <a:xfrm>
            <a:off x="11301984" y="6473952"/>
            <a:ext cx="320040" cy="201168"/>
          </a:xfrm>
          <a:prstGeom prst="rect">
            <a:avLst/>
          </a:prstGeom>
          <a:noFill/>
        </p:spPr>
        <p:txBody>
          <a:bodyPr wrap="square" anchor="t">
            <a:normAutofit/>
          </a:bodyPr>
          <a:lstStyle/>
          <a:p>
            <a:pPr algn="r"/>
            <a:r>
              <a:rPr sz="850" b="0">
                <a:solidFill>
                  <a:srgbClr val="535C62"/>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167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18520" y="310896"/>
            <a:ext cx="658368" cy="658368"/>
          </a:xfrm>
          <a:prstGeom prst="ellipse">
            <a:avLst/>
          </a:prstGeom>
          <a:solidFill>
            <a:srgbClr val="F5C4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38912"/>
            <a:ext cx="4389120" cy="237744"/>
          </a:xfrm>
          <a:prstGeom prst="rect">
            <a:avLst/>
          </a:prstGeom>
          <a:noFill/>
        </p:spPr>
        <p:txBody>
          <a:bodyPr wrap="square" anchor="t">
            <a:normAutofit/>
          </a:bodyPr>
          <a:lstStyle/>
          <a:p>
            <a:pPr algn="l"/>
            <a:r>
              <a:rPr sz="950" b="1">
                <a:solidFill>
                  <a:srgbClr val="116763"/>
                </a:solidFill>
                <a:latin typeface="Aptos"/>
              </a:rPr>
              <a:t>DEFINITION</a:t>
            </a:r>
          </a:p>
        </p:txBody>
      </p:sp>
      <p:sp>
        <p:nvSpPr>
          <p:cNvPr id="6" name="TextBox 5"/>
          <p:cNvSpPr txBox="1"/>
          <p:nvPr/>
        </p:nvSpPr>
        <p:spPr>
          <a:xfrm>
            <a:off x="621792" y="713232"/>
            <a:ext cx="8778240" cy="676656"/>
          </a:xfrm>
          <a:prstGeom prst="rect">
            <a:avLst/>
          </a:prstGeom>
          <a:noFill/>
        </p:spPr>
        <p:txBody>
          <a:bodyPr wrap="square" anchor="t">
            <a:normAutofit/>
          </a:bodyPr>
          <a:lstStyle/>
          <a:p>
            <a:pPr algn="l"/>
            <a:r>
              <a:rPr sz="3000" b="1">
                <a:solidFill>
                  <a:srgbClr val="1C2226"/>
                </a:solidFill>
                <a:latin typeface="Aptos Display"/>
              </a:rPr>
              <a:t>Polyglot Persistence</a:t>
            </a:r>
          </a:p>
        </p:txBody>
      </p:sp>
      <p:sp>
        <p:nvSpPr>
          <p:cNvPr id="7" name="TextBox 6"/>
          <p:cNvSpPr txBox="1"/>
          <p:nvPr/>
        </p:nvSpPr>
        <p:spPr>
          <a:xfrm>
            <a:off x="658368" y="1353312"/>
            <a:ext cx="9326880" cy="347472"/>
          </a:xfrm>
          <a:prstGeom prst="rect">
            <a:avLst/>
          </a:prstGeom>
          <a:noFill/>
        </p:spPr>
        <p:txBody>
          <a:bodyPr wrap="square" anchor="t">
            <a:normAutofit/>
          </a:bodyPr>
          <a:lstStyle/>
          <a:p>
            <a:pPr algn="l"/>
            <a:r>
              <a:rPr sz="1400" b="0">
                <a:solidFill>
                  <a:srgbClr val="535C62"/>
                </a:solidFill>
                <a:latin typeface="Aptos"/>
              </a:rPr>
              <a:t>Using more than one database type in the same system.</a:t>
            </a:r>
          </a:p>
        </p:txBody>
      </p:sp>
      <p:sp>
        <p:nvSpPr>
          <p:cNvPr id="8" name="Rounded Rectangle 7"/>
          <p:cNvSpPr/>
          <p:nvPr/>
        </p:nvSpPr>
        <p:spPr>
          <a:xfrm>
            <a:off x="822960" y="1920240"/>
            <a:ext cx="3200400" cy="1417320"/>
          </a:xfrm>
          <a:prstGeom prst="roundRect">
            <a:avLst/>
          </a:prstGeom>
          <a:solidFill>
            <a:srgbClr val="FFFFFF"/>
          </a:solidFill>
          <a:ln w="12700">
            <a:solidFill>
              <a:srgbClr val="D6CC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2048256"/>
            <a:ext cx="2871216" cy="237744"/>
          </a:xfrm>
          <a:prstGeom prst="rect">
            <a:avLst/>
          </a:prstGeom>
          <a:noFill/>
        </p:spPr>
        <p:txBody>
          <a:bodyPr wrap="square" anchor="t">
            <a:normAutofit/>
          </a:bodyPr>
          <a:lstStyle/>
          <a:p>
            <a:pPr algn="l"/>
            <a:r>
              <a:rPr sz="1320" b="1">
                <a:solidFill>
                  <a:srgbClr val="116763"/>
                </a:solidFill>
                <a:latin typeface="Aptos"/>
              </a:rPr>
              <a:t>Example</a:t>
            </a:r>
          </a:p>
        </p:txBody>
      </p:sp>
      <p:sp>
        <p:nvSpPr>
          <p:cNvPr id="10" name="TextBox 9"/>
          <p:cNvSpPr txBox="1"/>
          <p:nvPr/>
        </p:nvSpPr>
        <p:spPr>
          <a:xfrm>
            <a:off x="987552" y="2359152"/>
            <a:ext cx="2871216" cy="905256"/>
          </a:xfrm>
          <a:prstGeom prst="rect">
            <a:avLst/>
          </a:prstGeom>
          <a:noFill/>
        </p:spPr>
        <p:txBody>
          <a:bodyPr wrap="square" anchor="t">
            <a:normAutofit/>
          </a:bodyPr>
          <a:lstStyle/>
          <a:p>
            <a:pPr algn="l"/>
            <a:r>
              <a:rPr sz="1250" b="0">
                <a:solidFill>
                  <a:srgbClr val="1C2226"/>
                </a:solidFill>
                <a:latin typeface="Aptos"/>
              </a:rPr>
              <a:t>Postgres stores users, orders, and permissions.</a:t>
            </a:r>
          </a:p>
        </p:txBody>
      </p:sp>
      <p:sp>
        <p:nvSpPr>
          <p:cNvPr id="11" name="Rounded Rectangle 10"/>
          <p:cNvSpPr/>
          <p:nvPr/>
        </p:nvSpPr>
        <p:spPr>
          <a:xfrm>
            <a:off x="4434840" y="1920240"/>
            <a:ext cx="3200400" cy="1417320"/>
          </a:xfrm>
          <a:prstGeom prst="roundRect">
            <a:avLst/>
          </a:prstGeom>
          <a:solidFill>
            <a:srgbClr val="D8EEE1"/>
          </a:solidFill>
          <a:ln w="12700">
            <a:solidFill>
              <a:srgbClr val="D6CC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1" y="2048256"/>
            <a:ext cx="2871216" cy="237744"/>
          </a:xfrm>
          <a:prstGeom prst="rect">
            <a:avLst/>
          </a:prstGeom>
          <a:noFill/>
        </p:spPr>
        <p:txBody>
          <a:bodyPr wrap="square" anchor="t">
            <a:normAutofit/>
          </a:bodyPr>
          <a:lstStyle/>
          <a:p>
            <a:pPr algn="l"/>
            <a:r>
              <a:rPr sz="1320" b="1">
                <a:solidFill>
                  <a:srgbClr val="116763"/>
                </a:solidFill>
                <a:latin typeface="Aptos"/>
              </a:rPr>
              <a:t>Example</a:t>
            </a:r>
          </a:p>
        </p:txBody>
      </p:sp>
      <p:sp>
        <p:nvSpPr>
          <p:cNvPr id="13" name="TextBox 12"/>
          <p:cNvSpPr txBox="1"/>
          <p:nvPr/>
        </p:nvSpPr>
        <p:spPr>
          <a:xfrm>
            <a:off x="4599431" y="2359152"/>
            <a:ext cx="2871216" cy="905256"/>
          </a:xfrm>
          <a:prstGeom prst="rect">
            <a:avLst/>
          </a:prstGeom>
          <a:noFill/>
        </p:spPr>
        <p:txBody>
          <a:bodyPr wrap="square" anchor="t">
            <a:normAutofit/>
          </a:bodyPr>
          <a:lstStyle/>
          <a:p>
            <a:pPr algn="l"/>
            <a:r>
              <a:rPr sz="1250" b="0">
                <a:solidFill>
                  <a:srgbClr val="1C2226"/>
                </a:solidFill>
                <a:latin typeface="Aptos"/>
              </a:rPr>
              <a:t>MongoDB stores flexible activity events or changing documents.</a:t>
            </a:r>
          </a:p>
        </p:txBody>
      </p:sp>
      <p:sp>
        <p:nvSpPr>
          <p:cNvPr id="14" name="Rounded Rectangle 13"/>
          <p:cNvSpPr/>
          <p:nvPr/>
        </p:nvSpPr>
        <p:spPr>
          <a:xfrm>
            <a:off x="8046720" y="1920240"/>
            <a:ext cx="3200400" cy="1417320"/>
          </a:xfrm>
          <a:prstGeom prst="roundRect">
            <a:avLst/>
          </a:prstGeom>
          <a:solidFill>
            <a:srgbClr val="FFFFFF"/>
          </a:solidFill>
          <a:ln w="12700">
            <a:solidFill>
              <a:srgbClr val="D6CC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2048256"/>
            <a:ext cx="2871216" cy="237744"/>
          </a:xfrm>
          <a:prstGeom prst="rect">
            <a:avLst/>
          </a:prstGeom>
          <a:noFill/>
        </p:spPr>
        <p:txBody>
          <a:bodyPr wrap="square" anchor="t">
            <a:normAutofit/>
          </a:bodyPr>
          <a:lstStyle/>
          <a:p>
            <a:pPr algn="l"/>
            <a:r>
              <a:rPr sz="1320" b="1">
                <a:solidFill>
                  <a:srgbClr val="116763"/>
                </a:solidFill>
                <a:latin typeface="Aptos"/>
              </a:rPr>
              <a:t>Warning</a:t>
            </a:r>
          </a:p>
        </p:txBody>
      </p:sp>
      <p:sp>
        <p:nvSpPr>
          <p:cNvPr id="16" name="TextBox 15"/>
          <p:cNvSpPr txBox="1"/>
          <p:nvPr/>
        </p:nvSpPr>
        <p:spPr>
          <a:xfrm>
            <a:off x="8211312" y="2359152"/>
            <a:ext cx="2871216" cy="905256"/>
          </a:xfrm>
          <a:prstGeom prst="rect">
            <a:avLst/>
          </a:prstGeom>
          <a:noFill/>
        </p:spPr>
        <p:txBody>
          <a:bodyPr wrap="square" anchor="t">
            <a:normAutofit/>
          </a:bodyPr>
          <a:lstStyle/>
          <a:p>
            <a:pPr algn="l"/>
            <a:r>
              <a:rPr sz="1250" b="0">
                <a:solidFill>
                  <a:srgbClr val="1C2226"/>
                </a:solidFill>
                <a:latin typeface="Aptos"/>
              </a:rPr>
              <a:t>Two databases means two failure modes and two sources to explain.</a:t>
            </a:r>
          </a:p>
        </p:txBody>
      </p:sp>
      <p:sp>
        <p:nvSpPr>
          <p:cNvPr id="17" name="TextBox 16"/>
          <p:cNvSpPr txBox="1"/>
          <p:nvPr/>
        </p:nvSpPr>
        <p:spPr>
          <a:xfrm>
            <a:off x="1097280" y="4480560"/>
            <a:ext cx="9966960" cy="713232"/>
          </a:xfrm>
          <a:prstGeom prst="rect">
            <a:avLst/>
          </a:prstGeom>
          <a:noFill/>
        </p:spPr>
        <p:txBody>
          <a:bodyPr wrap="square" anchor="t">
            <a:normAutofit/>
          </a:bodyPr>
          <a:lstStyle/>
          <a:p>
            <a:pPr algn="ctr"/>
            <a:r>
              <a:rPr sz="2200" b="1">
                <a:solidFill>
                  <a:srgbClr val="1C2226"/>
                </a:solidFill>
                <a:latin typeface="Aptos"/>
              </a:rPr>
              <a:t>Polyglot is not automatically advanced. It is only good when the split is clear.</a:t>
            </a:r>
          </a:p>
        </p:txBody>
      </p:sp>
      <p:sp>
        <p:nvSpPr>
          <p:cNvPr id="18" name="TextBox 17"/>
          <p:cNvSpPr txBox="1"/>
          <p:nvPr/>
        </p:nvSpPr>
        <p:spPr>
          <a:xfrm>
            <a:off x="658368" y="6473952"/>
            <a:ext cx="3200400" cy="201168"/>
          </a:xfrm>
          <a:prstGeom prst="rect">
            <a:avLst/>
          </a:prstGeom>
          <a:noFill/>
        </p:spPr>
        <p:txBody>
          <a:bodyPr wrap="square" anchor="t">
            <a:normAutofit/>
          </a:bodyPr>
          <a:lstStyle/>
          <a:p>
            <a:pPr algn="l"/>
            <a:r>
              <a:rPr sz="850" b="0">
                <a:solidFill>
                  <a:srgbClr val="535C62"/>
                </a:solidFill>
                <a:latin typeface="Aptos"/>
              </a:rPr>
              <a:t>CST4714 | Week 14</a:t>
            </a:r>
          </a:p>
        </p:txBody>
      </p:sp>
      <p:sp>
        <p:nvSpPr>
          <p:cNvPr id="19" name="TextBox 18"/>
          <p:cNvSpPr txBox="1"/>
          <p:nvPr/>
        </p:nvSpPr>
        <p:spPr>
          <a:xfrm>
            <a:off x="11301984" y="6473952"/>
            <a:ext cx="320040" cy="201168"/>
          </a:xfrm>
          <a:prstGeom prst="rect">
            <a:avLst/>
          </a:prstGeom>
          <a:noFill/>
        </p:spPr>
        <p:txBody>
          <a:bodyPr wrap="square" anchor="t">
            <a:normAutofit/>
          </a:bodyPr>
          <a:lstStyle/>
          <a:p>
            <a:pPr algn="r"/>
            <a:r>
              <a:rPr sz="850" b="0">
                <a:solidFill>
                  <a:srgbClr val="535C62"/>
                </a:solidFill>
                <a:latin typeface="Apt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167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18520" y="310896"/>
            <a:ext cx="658368" cy="658368"/>
          </a:xfrm>
          <a:prstGeom prst="ellipse">
            <a:avLst/>
          </a:prstGeom>
          <a:solidFill>
            <a:srgbClr val="F5C4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38912"/>
            <a:ext cx="4389120" cy="237744"/>
          </a:xfrm>
          <a:prstGeom prst="rect">
            <a:avLst/>
          </a:prstGeom>
          <a:noFill/>
        </p:spPr>
        <p:txBody>
          <a:bodyPr wrap="square" anchor="t">
            <a:normAutofit/>
          </a:bodyPr>
          <a:lstStyle/>
          <a:p>
            <a:pPr algn="l"/>
            <a:r>
              <a:rPr sz="950" b="1">
                <a:solidFill>
                  <a:srgbClr val="116763"/>
                </a:solidFill>
                <a:latin typeface="Aptos"/>
              </a:rPr>
              <a:t>SCOPE CONTROL</a:t>
            </a:r>
          </a:p>
        </p:txBody>
      </p:sp>
      <p:sp>
        <p:nvSpPr>
          <p:cNvPr id="6" name="TextBox 5"/>
          <p:cNvSpPr txBox="1"/>
          <p:nvPr/>
        </p:nvSpPr>
        <p:spPr>
          <a:xfrm>
            <a:off x="621792" y="713232"/>
            <a:ext cx="8778240" cy="676656"/>
          </a:xfrm>
          <a:prstGeom prst="rect">
            <a:avLst/>
          </a:prstGeom>
          <a:noFill/>
        </p:spPr>
        <p:txBody>
          <a:bodyPr wrap="square" anchor="t">
            <a:normAutofit/>
          </a:bodyPr>
          <a:lstStyle/>
          <a:p>
            <a:pPr algn="l"/>
            <a:r>
              <a:rPr sz="3000" b="1">
                <a:solidFill>
                  <a:srgbClr val="1C2226"/>
                </a:solidFill>
                <a:latin typeface="Aptos Display"/>
              </a:rPr>
              <a:t>When One Database Is Enough</a:t>
            </a:r>
          </a:p>
        </p:txBody>
      </p:sp>
      <p:sp>
        <p:nvSpPr>
          <p:cNvPr id="7" name="TextBox 6"/>
          <p:cNvSpPr txBox="1"/>
          <p:nvPr/>
        </p:nvSpPr>
        <p:spPr>
          <a:xfrm>
            <a:off x="658368" y="1353312"/>
            <a:ext cx="9326880" cy="347472"/>
          </a:xfrm>
          <a:prstGeom prst="rect">
            <a:avLst/>
          </a:prstGeom>
          <a:noFill/>
        </p:spPr>
        <p:txBody>
          <a:bodyPr wrap="square" anchor="t">
            <a:normAutofit/>
          </a:bodyPr>
          <a:lstStyle/>
          <a:p>
            <a:pPr algn="l"/>
            <a:r>
              <a:rPr sz="1400" b="0">
                <a:solidFill>
                  <a:srgbClr val="535C62"/>
                </a:solidFill>
                <a:latin typeface="Aptos"/>
              </a:rPr>
              <a:t>Most beginner final projects should use one platform well.</a:t>
            </a:r>
          </a:p>
        </p:txBody>
      </p:sp>
      <p:sp>
        <p:nvSpPr>
          <p:cNvPr id="8" name="TextBox 7"/>
          <p:cNvSpPr txBox="1"/>
          <p:nvPr/>
        </p:nvSpPr>
        <p:spPr>
          <a:xfrm>
            <a:off x="960120" y="1874519"/>
            <a:ext cx="10287000" cy="3611880"/>
          </a:xfrm>
          <a:prstGeom prst="rect">
            <a:avLst/>
          </a:prstGeom>
          <a:noFill/>
        </p:spPr>
        <p:txBody>
          <a:bodyPr wrap="square">
            <a:normAutofit/>
          </a:bodyPr>
          <a:lstStyle/>
          <a:p>
            <a:pPr>
              <a:spcAft>
                <a:spcPts val="500"/>
              </a:spcAft>
              <a:defRPr sz="1800">
                <a:solidFill>
                  <a:srgbClr val="1C2226"/>
                </a:solidFill>
                <a:latin typeface="Aptos"/>
              </a:defRPr>
            </a:pPr>
            <a:r>
              <a:t>the data has one clear shape</a:t>
            </a:r>
          </a:p>
          <a:p>
            <a:pPr>
              <a:spcAft>
                <a:spcPts val="500"/>
              </a:spcAft>
              <a:defRPr sz="1800">
                <a:solidFill>
                  <a:srgbClr val="1C2226"/>
                </a:solidFill>
                <a:latin typeface="Aptos"/>
              </a:defRPr>
            </a:pPr>
            <a:r>
              <a:t>one platform can answer the required queries</a:t>
            </a:r>
          </a:p>
          <a:p>
            <a:pPr>
              <a:spcAft>
                <a:spcPts val="500"/>
              </a:spcAft>
              <a:defRPr sz="1800">
                <a:solidFill>
                  <a:srgbClr val="1C2226"/>
                </a:solidFill>
                <a:latin typeface="Aptos"/>
              </a:defRPr>
            </a:pPr>
            <a:r>
              <a:t>the student can explain the model clearly</a:t>
            </a:r>
          </a:p>
          <a:p>
            <a:pPr>
              <a:spcAft>
                <a:spcPts val="500"/>
              </a:spcAft>
              <a:defRPr sz="1800">
                <a:solidFill>
                  <a:srgbClr val="1C2226"/>
                </a:solidFill>
                <a:latin typeface="Aptos"/>
              </a:defRPr>
            </a:pPr>
            <a:r>
              <a:t>admin evidence is easier to verify</a:t>
            </a:r>
          </a:p>
          <a:p>
            <a:pPr>
              <a:spcAft>
                <a:spcPts val="500"/>
              </a:spcAft>
              <a:defRPr sz="1800">
                <a:solidFill>
                  <a:srgbClr val="1C2226"/>
                </a:solidFill>
                <a:latin typeface="Aptos"/>
              </a:defRPr>
            </a:pPr>
            <a:r>
              <a:t>less setup means more time for quality</a:t>
            </a:r>
          </a:p>
          <a:p>
            <a:pPr>
              <a:spcAft>
                <a:spcPts val="500"/>
              </a:spcAft>
              <a:defRPr sz="1800">
                <a:solidFill>
                  <a:srgbClr val="1C2226"/>
                </a:solidFill>
                <a:latin typeface="Aptos"/>
              </a:defRPr>
            </a:pPr>
            <a:r>
              <a:t>a finished small project beats an unfinished complex one</a:t>
            </a:r>
          </a:p>
        </p:txBody>
      </p:sp>
      <p:sp>
        <p:nvSpPr>
          <p:cNvPr id="9" name="TextBox 8"/>
          <p:cNvSpPr txBox="1"/>
          <p:nvPr/>
        </p:nvSpPr>
        <p:spPr>
          <a:xfrm>
            <a:off x="658368" y="6473952"/>
            <a:ext cx="3200400" cy="201168"/>
          </a:xfrm>
          <a:prstGeom prst="rect">
            <a:avLst/>
          </a:prstGeom>
          <a:noFill/>
        </p:spPr>
        <p:txBody>
          <a:bodyPr wrap="square" anchor="t">
            <a:normAutofit/>
          </a:bodyPr>
          <a:lstStyle/>
          <a:p>
            <a:pPr algn="l"/>
            <a:r>
              <a:rPr sz="850" b="0">
                <a:solidFill>
                  <a:srgbClr val="535C62"/>
                </a:solidFill>
                <a:latin typeface="Aptos"/>
              </a:rPr>
              <a:t>CST4714 | Week 14</a:t>
            </a:r>
          </a:p>
        </p:txBody>
      </p:sp>
      <p:sp>
        <p:nvSpPr>
          <p:cNvPr id="10" name="TextBox 9"/>
          <p:cNvSpPr txBox="1"/>
          <p:nvPr/>
        </p:nvSpPr>
        <p:spPr>
          <a:xfrm>
            <a:off x="11301984" y="6473952"/>
            <a:ext cx="320040" cy="201168"/>
          </a:xfrm>
          <a:prstGeom prst="rect">
            <a:avLst/>
          </a:prstGeom>
          <a:noFill/>
        </p:spPr>
        <p:txBody>
          <a:bodyPr wrap="square" anchor="t">
            <a:normAutofit/>
          </a:bodyPr>
          <a:lstStyle/>
          <a:p>
            <a:pPr algn="r"/>
            <a:r>
              <a:rPr sz="850" b="0">
                <a:solidFill>
                  <a:srgbClr val="535C62"/>
                </a:solidFill>
                <a:latin typeface="Apto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167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18520" y="310896"/>
            <a:ext cx="658368" cy="658368"/>
          </a:xfrm>
          <a:prstGeom prst="ellipse">
            <a:avLst/>
          </a:prstGeom>
          <a:solidFill>
            <a:srgbClr val="F5C4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38912"/>
            <a:ext cx="4389120" cy="237744"/>
          </a:xfrm>
          <a:prstGeom prst="rect">
            <a:avLst/>
          </a:prstGeom>
          <a:noFill/>
        </p:spPr>
        <p:txBody>
          <a:bodyPr wrap="square" anchor="t">
            <a:normAutofit/>
          </a:bodyPr>
          <a:lstStyle/>
          <a:p>
            <a:pPr algn="l"/>
            <a:r>
              <a:rPr sz="950" b="1">
                <a:solidFill>
                  <a:srgbClr val="116763"/>
                </a:solidFill>
                <a:latin typeface="Aptos"/>
              </a:rPr>
              <a:t>POLYGLOT RULE</a:t>
            </a:r>
          </a:p>
        </p:txBody>
      </p:sp>
      <p:sp>
        <p:nvSpPr>
          <p:cNvPr id="6" name="TextBox 5"/>
          <p:cNvSpPr txBox="1"/>
          <p:nvPr/>
        </p:nvSpPr>
        <p:spPr>
          <a:xfrm>
            <a:off x="621792" y="713232"/>
            <a:ext cx="8778240" cy="676656"/>
          </a:xfrm>
          <a:prstGeom prst="rect">
            <a:avLst/>
          </a:prstGeom>
          <a:noFill/>
        </p:spPr>
        <p:txBody>
          <a:bodyPr wrap="square" anchor="t">
            <a:normAutofit/>
          </a:bodyPr>
          <a:lstStyle/>
          <a:p>
            <a:pPr algn="l"/>
            <a:r>
              <a:rPr sz="3000" b="1">
                <a:solidFill>
                  <a:srgbClr val="1C2226"/>
                </a:solidFill>
                <a:latin typeface="Aptos Display"/>
              </a:rPr>
              <a:t>When Two Databases Make Sense</a:t>
            </a:r>
          </a:p>
        </p:txBody>
      </p:sp>
      <p:sp>
        <p:nvSpPr>
          <p:cNvPr id="7" name="TextBox 6"/>
          <p:cNvSpPr txBox="1"/>
          <p:nvPr/>
        </p:nvSpPr>
        <p:spPr>
          <a:xfrm>
            <a:off x="658368" y="1353312"/>
            <a:ext cx="9326880" cy="347472"/>
          </a:xfrm>
          <a:prstGeom prst="rect">
            <a:avLst/>
          </a:prstGeom>
          <a:noFill/>
        </p:spPr>
        <p:txBody>
          <a:bodyPr wrap="square" anchor="t">
            <a:normAutofit/>
          </a:bodyPr>
          <a:lstStyle/>
          <a:p>
            <a:pPr algn="l"/>
            <a:r>
              <a:rPr sz="1400" b="0">
                <a:solidFill>
                  <a:srgbClr val="535C62"/>
                </a:solidFill>
                <a:latin typeface="Aptos"/>
              </a:rPr>
              <a:t>Use both only when each has a clear job.</a:t>
            </a:r>
          </a:p>
        </p:txBody>
      </p:sp>
      <p:sp>
        <p:nvSpPr>
          <p:cNvPr id="8" name="Rounded Rectangle 7"/>
          <p:cNvSpPr/>
          <p:nvPr/>
        </p:nvSpPr>
        <p:spPr>
          <a:xfrm>
            <a:off x="822960" y="1828800"/>
            <a:ext cx="3291840" cy="1600200"/>
          </a:xfrm>
          <a:prstGeom prst="roundRect">
            <a:avLst/>
          </a:prstGeom>
          <a:solidFill>
            <a:srgbClr val="FFFFFF"/>
          </a:solidFill>
          <a:ln w="12700">
            <a:solidFill>
              <a:srgbClr val="D6CC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956816"/>
            <a:ext cx="2962656" cy="237744"/>
          </a:xfrm>
          <a:prstGeom prst="rect">
            <a:avLst/>
          </a:prstGeom>
          <a:noFill/>
        </p:spPr>
        <p:txBody>
          <a:bodyPr wrap="square" anchor="t">
            <a:normAutofit/>
          </a:bodyPr>
          <a:lstStyle/>
          <a:p>
            <a:pPr algn="l"/>
            <a:r>
              <a:rPr sz="1320" b="1">
                <a:solidFill>
                  <a:srgbClr val="116763"/>
                </a:solidFill>
                <a:latin typeface="Aptos"/>
              </a:rPr>
              <a:t>Postgres owns</a:t>
            </a:r>
          </a:p>
        </p:txBody>
      </p:sp>
      <p:sp>
        <p:nvSpPr>
          <p:cNvPr id="10" name="TextBox 9"/>
          <p:cNvSpPr txBox="1"/>
          <p:nvPr/>
        </p:nvSpPr>
        <p:spPr>
          <a:xfrm>
            <a:off x="987552" y="2267712"/>
            <a:ext cx="2962656" cy="1088136"/>
          </a:xfrm>
          <a:prstGeom prst="rect">
            <a:avLst/>
          </a:prstGeom>
          <a:noFill/>
        </p:spPr>
        <p:txBody>
          <a:bodyPr wrap="square" anchor="t">
            <a:normAutofit/>
          </a:bodyPr>
          <a:lstStyle/>
          <a:p>
            <a:pPr algn="l"/>
            <a:r>
              <a:rPr sz="1250" b="0">
                <a:solidFill>
                  <a:srgbClr val="1C2226"/>
                </a:solidFill>
                <a:latin typeface="Aptos"/>
              </a:rPr>
              <a:t>Structured core records, relationships, constraints, users, permissions.</a:t>
            </a:r>
          </a:p>
        </p:txBody>
      </p:sp>
      <p:sp>
        <p:nvSpPr>
          <p:cNvPr id="11" name="Rounded Rectangle 10"/>
          <p:cNvSpPr/>
          <p:nvPr/>
        </p:nvSpPr>
        <p:spPr>
          <a:xfrm>
            <a:off x="4434840" y="1828800"/>
            <a:ext cx="3291840" cy="1600200"/>
          </a:xfrm>
          <a:prstGeom prst="roundRect">
            <a:avLst/>
          </a:prstGeom>
          <a:solidFill>
            <a:srgbClr val="D8EEE1"/>
          </a:solidFill>
          <a:ln w="12700">
            <a:solidFill>
              <a:srgbClr val="D6CC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1" y="1956816"/>
            <a:ext cx="2962656" cy="237744"/>
          </a:xfrm>
          <a:prstGeom prst="rect">
            <a:avLst/>
          </a:prstGeom>
          <a:noFill/>
        </p:spPr>
        <p:txBody>
          <a:bodyPr wrap="square" anchor="t">
            <a:normAutofit/>
          </a:bodyPr>
          <a:lstStyle/>
          <a:p>
            <a:pPr algn="l"/>
            <a:r>
              <a:rPr sz="1320" b="1">
                <a:solidFill>
                  <a:srgbClr val="116763"/>
                </a:solidFill>
                <a:latin typeface="Aptos"/>
              </a:rPr>
              <a:t>MongoDB owns</a:t>
            </a:r>
          </a:p>
        </p:txBody>
      </p:sp>
      <p:sp>
        <p:nvSpPr>
          <p:cNvPr id="13" name="TextBox 12"/>
          <p:cNvSpPr txBox="1"/>
          <p:nvPr/>
        </p:nvSpPr>
        <p:spPr>
          <a:xfrm>
            <a:off x="4599431" y="2267712"/>
            <a:ext cx="2962656" cy="1088136"/>
          </a:xfrm>
          <a:prstGeom prst="rect">
            <a:avLst/>
          </a:prstGeom>
          <a:noFill/>
        </p:spPr>
        <p:txBody>
          <a:bodyPr wrap="square" anchor="t">
            <a:normAutofit/>
          </a:bodyPr>
          <a:lstStyle/>
          <a:p>
            <a:pPr algn="l"/>
            <a:r>
              <a:rPr sz="1250" b="0">
                <a:solidFill>
                  <a:srgbClr val="1C2226"/>
                </a:solidFill>
                <a:latin typeface="Aptos"/>
              </a:rPr>
              <a:t>Flexible events, logs, changing document shapes, nested records.</a:t>
            </a:r>
          </a:p>
        </p:txBody>
      </p:sp>
      <p:sp>
        <p:nvSpPr>
          <p:cNvPr id="14" name="Rounded Rectangle 13"/>
          <p:cNvSpPr/>
          <p:nvPr/>
        </p:nvSpPr>
        <p:spPr>
          <a:xfrm>
            <a:off x="8046720" y="1828800"/>
            <a:ext cx="3291840" cy="1600200"/>
          </a:xfrm>
          <a:prstGeom prst="roundRect">
            <a:avLst/>
          </a:prstGeom>
          <a:solidFill>
            <a:srgbClr val="FFFFFF"/>
          </a:solidFill>
          <a:ln w="12700">
            <a:solidFill>
              <a:srgbClr val="D6CC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1956816"/>
            <a:ext cx="2962656" cy="237744"/>
          </a:xfrm>
          <a:prstGeom prst="rect">
            <a:avLst/>
          </a:prstGeom>
          <a:noFill/>
        </p:spPr>
        <p:txBody>
          <a:bodyPr wrap="square" anchor="t">
            <a:normAutofit/>
          </a:bodyPr>
          <a:lstStyle/>
          <a:p>
            <a:pPr algn="l"/>
            <a:r>
              <a:rPr sz="1320" b="1">
                <a:solidFill>
                  <a:srgbClr val="116763"/>
                </a:solidFill>
                <a:latin typeface="Aptos"/>
              </a:rPr>
              <a:t>The split must answer</a:t>
            </a:r>
          </a:p>
        </p:txBody>
      </p:sp>
      <p:sp>
        <p:nvSpPr>
          <p:cNvPr id="16" name="TextBox 15"/>
          <p:cNvSpPr txBox="1"/>
          <p:nvPr/>
        </p:nvSpPr>
        <p:spPr>
          <a:xfrm>
            <a:off x="8211312" y="2267712"/>
            <a:ext cx="2962656" cy="1088136"/>
          </a:xfrm>
          <a:prstGeom prst="rect">
            <a:avLst/>
          </a:prstGeom>
          <a:noFill/>
        </p:spPr>
        <p:txBody>
          <a:bodyPr wrap="square" anchor="t">
            <a:normAutofit/>
          </a:bodyPr>
          <a:lstStyle/>
          <a:p>
            <a:pPr algn="l"/>
            <a:r>
              <a:rPr sz="1250" b="0">
                <a:solidFill>
                  <a:srgbClr val="1C2226"/>
                </a:solidFill>
                <a:latin typeface="Aptos"/>
              </a:rPr>
              <a:t>What data lives where? Which system is source of truth? How does restore work?</a:t>
            </a:r>
          </a:p>
        </p:txBody>
      </p:sp>
      <p:sp>
        <p:nvSpPr>
          <p:cNvPr id="17" name="TextBox 16"/>
          <p:cNvSpPr txBox="1"/>
          <p:nvPr/>
        </p:nvSpPr>
        <p:spPr>
          <a:xfrm>
            <a:off x="1097280" y="4480560"/>
            <a:ext cx="9966960" cy="713232"/>
          </a:xfrm>
          <a:prstGeom prst="rect">
            <a:avLst/>
          </a:prstGeom>
          <a:noFill/>
        </p:spPr>
        <p:txBody>
          <a:bodyPr wrap="square" anchor="t">
            <a:normAutofit/>
          </a:bodyPr>
          <a:lstStyle/>
          <a:p>
            <a:pPr algn="ctr"/>
            <a:r>
              <a:rPr sz="2200" b="1">
                <a:solidFill>
                  <a:srgbClr val="1C2226"/>
                </a:solidFill>
                <a:latin typeface="Aptos"/>
              </a:rPr>
              <a:t>If you cannot explain ownership, do not split the data.</a:t>
            </a:r>
          </a:p>
        </p:txBody>
      </p:sp>
      <p:sp>
        <p:nvSpPr>
          <p:cNvPr id="18" name="TextBox 17"/>
          <p:cNvSpPr txBox="1"/>
          <p:nvPr/>
        </p:nvSpPr>
        <p:spPr>
          <a:xfrm>
            <a:off x="658368" y="6473952"/>
            <a:ext cx="3200400" cy="201168"/>
          </a:xfrm>
          <a:prstGeom prst="rect">
            <a:avLst/>
          </a:prstGeom>
          <a:noFill/>
        </p:spPr>
        <p:txBody>
          <a:bodyPr wrap="square" anchor="t">
            <a:normAutofit/>
          </a:bodyPr>
          <a:lstStyle/>
          <a:p>
            <a:pPr algn="l"/>
            <a:r>
              <a:rPr sz="850" b="0">
                <a:solidFill>
                  <a:srgbClr val="535C62"/>
                </a:solidFill>
                <a:latin typeface="Aptos"/>
              </a:rPr>
              <a:t>CST4714 | Week 14</a:t>
            </a:r>
          </a:p>
        </p:txBody>
      </p:sp>
      <p:sp>
        <p:nvSpPr>
          <p:cNvPr id="19" name="TextBox 18"/>
          <p:cNvSpPr txBox="1"/>
          <p:nvPr/>
        </p:nvSpPr>
        <p:spPr>
          <a:xfrm>
            <a:off x="11301984" y="6473952"/>
            <a:ext cx="320040" cy="201168"/>
          </a:xfrm>
          <a:prstGeom prst="rect">
            <a:avLst/>
          </a:prstGeom>
          <a:noFill/>
        </p:spPr>
        <p:txBody>
          <a:bodyPr wrap="square" anchor="t">
            <a:normAutofit/>
          </a:bodyPr>
          <a:lstStyle/>
          <a:p>
            <a:pPr algn="r"/>
            <a:r>
              <a:rPr sz="850" b="0">
                <a:solidFill>
                  <a:srgbClr val="535C62"/>
                </a:solidFill>
                <a:latin typeface="Apto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167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18520" y="310896"/>
            <a:ext cx="658368" cy="658368"/>
          </a:xfrm>
          <a:prstGeom prst="ellipse">
            <a:avLst/>
          </a:prstGeom>
          <a:solidFill>
            <a:srgbClr val="F5C4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38912"/>
            <a:ext cx="4389120" cy="237744"/>
          </a:xfrm>
          <a:prstGeom prst="rect">
            <a:avLst/>
          </a:prstGeom>
          <a:noFill/>
        </p:spPr>
        <p:txBody>
          <a:bodyPr wrap="square" anchor="t">
            <a:normAutofit/>
          </a:bodyPr>
          <a:lstStyle/>
          <a:p>
            <a:pPr algn="l"/>
            <a:r>
              <a:rPr sz="950" b="1">
                <a:solidFill>
                  <a:srgbClr val="116763"/>
                </a:solidFill>
                <a:latin typeface="Aptos"/>
              </a:rPr>
              <a:t>ADVANCED BUT PRACTICAL</a:t>
            </a:r>
          </a:p>
        </p:txBody>
      </p:sp>
      <p:sp>
        <p:nvSpPr>
          <p:cNvPr id="6" name="TextBox 5"/>
          <p:cNvSpPr txBox="1"/>
          <p:nvPr/>
        </p:nvSpPr>
        <p:spPr>
          <a:xfrm>
            <a:off x="621792" y="713232"/>
            <a:ext cx="8778240" cy="676656"/>
          </a:xfrm>
          <a:prstGeom prst="rect">
            <a:avLst/>
          </a:prstGeom>
          <a:noFill/>
        </p:spPr>
        <p:txBody>
          <a:bodyPr wrap="square" anchor="t">
            <a:normAutofit/>
          </a:bodyPr>
          <a:lstStyle/>
          <a:p>
            <a:pPr algn="l"/>
            <a:r>
              <a:rPr sz="3000" b="1">
                <a:solidFill>
                  <a:srgbClr val="1C2226"/>
                </a:solidFill>
                <a:latin typeface="Aptos Display"/>
              </a:rPr>
              <a:t>Distributed Tradeoffs</a:t>
            </a:r>
          </a:p>
        </p:txBody>
      </p:sp>
      <p:sp>
        <p:nvSpPr>
          <p:cNvPr id="7" name="TextBox 6"/>
          <p:cNvSpPr txBox="1"/>
          <p:nvPr/>
        </p:nvSpPr>
        <p:spPr>
          <a:xfrm>
            <a:off x="658368" y="1353312"/>
            <a:ext cx="9326880" cy="347472"/>
          </a:xfrm>
          <a:prstGeom prst="rect">
            <a:avLst/>
          </a:prstGeom>
          <a:noFill/>
        </p:spPr>
        <p:txBody>
          <a:bodyPr wrap="square" anchor="t">
            <a:normAutofit/>
          </a:bodyPr>
          <a:lstStyle/>
          <a:p>
            <a:pPr algn="l"/>
            <a:r>
              <a:rPr sz="1400" b="0">
                <a:solidFill>
                  <a:srgbClr val="535C62"/>
                </a:solidFill>
                <a:latin typeface="Aptos"/>
              </a:rPr>
              <a:t>The moment data is split, tradeoffs appear.</a:t>
            </a:r>
          </a:p>
        </p:txBody>
      </p:sp>
      <p:sp>
        <p:nvSpPr>
          <p:cNvPr id="8" name="TextBox 7"/>
          <p:cNvSpPr txBox="1"/>
          <p:nvPr/>
        </p:nvSpPr>
        <p:spPr>
          <a:xfrm>
            <a:off x="960120" y="1874519"/>
            <a:ext cx="10287000" cy="3611880"/>
          </a:xfrm>
          <a:prstGeom prst="rect">
            <a:avLst/>
          </a:prstGeom>
          <a:noFill/>
        </p:spPr>
        <p:txBody>
          <a:bodyPr wrap="square">
            <a:normAutofit/>
          </a:bodyPr>
          <a:lstStyle/>
          <a:p>
            <a:pPr>
              <a:spcAft>
                <a:spcPts val="500"/>
              </a:spcAft>
              <a:defRPr sz="1800">
                <a:solidFill>
                  <a:srgbClr val="1C2226"/>
                </a:solidFill>
                <a:latin typeface="Aptos"/>
              </a:defRPr>
            </a:pPr>
            <a:r>
              <a:t>duplication: the same fact might appear in two places</a:t>
            </a:r>
          </a:p>
          <a:p>
            <a:pPr>
              <a:spcAft>
                <a:spcPts val="500"/>
              </a:spcAft>
              <a:defRPr sz="1800">
                <a:solidFill>
                  <a:srgbClr val="1C2226"/>
                </a:solidFill>
                <a:latin typeface="Aptos"/>
              </a:defRPr>
            </a:pPr>
            <a:r>
              <a:t>consistency: one system might update before another</a:t>
            </a:r>
          </a:p>
          <a:p>
            <a:pPr>
              <a:spcAft>
                <a:spcPts val="500"/>
              </a:spcAft>
              <a:defRPr sz="1800">
                <a:solidFill>
                  <a:srgbClr val="1C2226"/>
                </a:solidFill>
                <a:latin typeface="Aptos"/>
              </a:defRPr>
            </a:pPr>
            <a:r>
              <a:t>failure: one database may be up while the other is down</a:t>
            </a:r>
          </a:p>
          <a:p>
            <a:pPr>
              <a:spcAft>
                <a:spcPts val="500"/>
              </a:spcAft>
              <a:defRPr sz="1800">
                <a:solidFill>
                  <a:srgbClr val="1C2226"/>
                </a:solidFill>
                <a:latin typeface="Aptos"/>
              </a:defRPr>
            </a:pPr>
            <a:r>
              <a:t>restore: backups may recover to different points in time</a:t>
            </a:r>
          </a:p>
          <a:p>
            <a:pPr>
              <a:spcAft>
                <a:spcPts val="500"/>
              </a:spcAft>
              <a:defRPr sz="1800">
                <a:solidFill>
                  <a:srgbClr val="1C2226"/>
                </a:solidFill>
                <a:latin typeface="Aptos"/>
              </a:defRPr>
            </a:pPr>
            <a:r>
              <a:t>security: permissions must be understood in both systems</a:t>
            </a:r>
          </a:p>
          <a:p>
            <a:pPr>
              <a:spcAft>
                <a:spcPts val="500"/>
              </a:spcAft>
              <a:defRPr sz="1800">
                <a:solidFill>
                  <a:srgbClr val="1C2226"/>
                </a:solidFill>
                <a:latin typeface="Aptos"/>
              </a:defRPr>
            </a:pPr>
            <a:r>
              <a:t>cost: two platforms create more operational surface area</a:t>
            </a:r>
          </a:p>
        </p:txBody>
      </p:sp>
      <p:sp>
        <p:nvSpPr>
          <p:cNvPr id="9" name="TextBox 8"/>
          <p:cNvSpPr txBox="1"/>
          <p:nvPr/>
        </p:nvSpPr>
        <p:spPr>
          <a:xfrm>
            <a:off x="658368" y="6473952"/>
            <a:ext cx="3200400" cy="201168"/>
          </a:xfrm>
          <a:prstGeom prst="rect">
            <a:avLst/>
          </a:prstGeom>
          <a:noFill/>
        </p:spPr>
        <p:txBody>
          <a:bodyPr wrap="square" anchor="t">
            <a:normAutofit/>
          </a:bodyPr>
          <a:lstStyle/>
          <a:p>
            <a:pPr algn="l"/>
            <a:r>
              <a:rPr sz="850" b="0">
                <a:solidFill>
                  <a:srgbClr val="535C62"/>
                </a:solidFill>
                <a:latin typeface="Aptos"/>
              </a:rPr>
              <a:t>CST4714 | Week 14</a:t>
            </a:r>
          </a:p>
        </p:txBody>
      </p:sp>
      <p:sp>
        <p:nvSpPr>
          <p:cNvPr id="10" name="TextBox 9"/>
          <p:cNvSpPr txBox="1"/>
          <p:nvPr/>
        </p:nvSpPr>
        <p:spPr>
          <a:xfrm>
            <a:off x="11301984" y="6473952"/>
            <a:ext cx="320040" cy="201168"/>
          </a:xfrm>
          <a:prstGeom prst="rect">
            <a:avLst/>
          </a:prstGeom>
          <a:noFill/>
        </p:spPr>
        <p:txBody>
          <a:bodyPr wrap="square" anchor="t">
            <a:normAutofit/>
          </a:bodyPr>
          <a:lstStyle/>
          <a:p>
            <a:pPr algn="r"/>
            <a:r>
              <a:rPr sz="850" b="0">
                <a:solidFill>
                  <a:srgbClr val="535C62"/>
                </a:solidFill>
                <a:latin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167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18520" y="310896"/>
            <a:ext cx="658368" cy="658368"/>
          </a:xfrm>
          <a:prstGeom prst="ellipse">
            <a:avLst/>
          </a:prstGeom>
          <a:solidFill>
            <a:srgbClr val="F5C4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38912"/>
            <a:ext cx="4389120" cy="237744"/>
          </a:xfrm>
          <a:prstGeom prst="rect">
            <a:avLst/>
          </a:prstGeom>
          <a:noFill/>
        </p:spPr>
        <p:txBody>
          <a:bodyPr wrap="square" anchor="t">
            <a:normAutofit/>
          </a:bodyPr>
          <a:lstStyle/>
          <a:p>
            <a:pPr algn="l"/>
            <a:r>
              <a:rPr sz="950" b="1">
                <a:solidFill>
                  <a:srgbClr val="116763"/>
                </a:solidFill>
                <a:latin typeface="Aptos"/>
              </a:rPr>
              <a:t>PROJECT EVIDENCE</a:t>
            </a:r>
          </a:p>
        </p:txBody>
      </p:sp>
      <p:sp>
        <p:nvSpPr>
          <p:cNvPr id="6" name="TextBox 5"/>
          <p:cNvSpPr txBox="1"/>
          <p:nvPr/>
        </p:nvSpPr>
        <p:spPr>
          <a:xfrm>
            <a:off x="621792" y="713232"/>
            <a:ext cx="8778240" cy="676656"/>
          </a:xfrm>
          <a:prstGeom prst="rect">
            <a:avLst/>
          </a:prstGeom>
          <a:noFill/>
        </p:spPr>
        <p:txBody>
          <a:bodyPr wrap="square" anchor="t">
            <a:normAutofit/>
          </a:bodyPr>
          <a:lstStyle/>
          <a:p>
            <a:pPr algn="l"/>
            <a:r>
              <a:rPr sz="3000" b="1">
                <a:solidFill>
                  <a:srgbClr val="1C2226"/>
                </a:solidFill>
                <a:latin typeface="Aptos Display"/>
              </a:rPr>
              <a:t>Admin Evidence Is the Grade Signal</a:t>
            </a:r>
          </a:p>
        </p:txBody>
      </p:sp>
      <p:sp>
        <p:nvSpPr>
          <p:cNvPr id="7" name="TextBox 6"/>
          <p:cNvSpPr txBox="1"/>
          <p:nvPr/>
        </p:nvSpPr>
        <p:spPr>
          <a:xfrm>
            <a:off x="658368" y="1353312"/>
            <a:ext cx="9326880" cy="347472"/>
          </a:xfrm>
          <a:prstGeom prst="rect">
            <a:avLst/>
          </a:prstGeom>
          <a:noFill/>
        </p:spPr>
        <p:txBody>
          <a:bodyPr wrap="square" anchor="t">
            <a:normAutofit/>
          </a:bodyPr>
          <a:lstStyle/>
          <a:p>
            <a:pPr algn="l"/>
            <a:r>
              <a:rPr sz="1400" b="0">
                <a:solidFill>
                  <a:srgbClr val="535C62"/>
                </a:solidFill>
                <a:latin typeface="Aptos"/>
              </a:rPr>
              <a:t>The project should prove database administration thinking.</a:t>
            </a:r>
          </a:p>
        </p:txBody>
      </p:sp>
      <p:sp>
        <p:nvSpPr>
          <p:cNvPr id="8" name="Rounded Rectangle 7"/>
          <p:cNvSpPr/>
          <p:nvPr/>
        </p:nvSpPr>
        <p:spPr>
          <a:xfrm>
            <a:off x="731520" y="1874519"/>
            <a:ext cx="2514600" cy="1325880"/>
          </a:xfrm>
          <a:prstGeom prst="roundRect">
            <a:avLst/>
          </a:prstGeom>
          <a:solidFill>
            <a:srgbClr val="FFFFFF"/>
          </a:solidFill>
          <a:ln w="12700">
            <a:solidFill>
              <a:srgbClr val="D6CC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002536"/>
            <a:ext cx="2185416" cy="237744"/>
          </a:xfrm>
          <a:prstGeom prst="rect">
            <a:avLst/>
          </a:prstGeom>
          <a:noFill/>
        </p:spPr>
        <p:txBody>
          <a:bodyPr wrap="square" anchor="t">
            <a:normAutofit/>
          </a:bodyPr>
          <a:lstStyle/>
          <a:p>
            <a:pPr algn="l"/>
            <a:r>
              <a:rPr sz="1320" b="1">
                <a:solidFill>
                  <a:srgbClr val="116763"/>
                </a:solidFill>
                <a:latin typeface="Aptos"/>
              </a:rPr>
              <a:t>Access</a:t>
            </a:r>
          </a:p>
        </p:txBody>
      </p:sp>
      <p:sp>
        <p:nvSpPr>
          <p:cNvPr id="10" name="TextBox 9"/>
          <p:cNvSpPr txBox="1"/>
          <p:nvPr/>
        </p:nvSpPr>
        <p:spPr>
          <a:xfrm>
            <a:off x="896112" y="2313432"/>
            <a:ext cx="2185416" cy="813815"/>
          </a:xfrm>
          <a:prstGeom prst="rect">
            <a:avLst/>
          </a:prstGeom>
          <a:noFill/>
        </p:spPr>
        <p:txBody>
          <a:bodyPr wrap="square" anchor="t">
            <a:normAutofit/>
          </a:bodyPr>
          <a:lstStyle/>
          <a:p>
            <a:pPr algn="l"/>
            <a:r>
              <a:rPr sz="1250" b="0">
                <a:solidFill>
                  <a:srgbClr val="1C2226"/>
                </a:solidFill>
                <a:latin typeface="Aptos"/>
              </a:rPr>
              <a:t>Who can read, write, update, or delete?</a:t>
            </a:r>
          </a:p>
        </p:txBody>
      </p:sp>
      <p:sp>
        <p:nvSpPr>
          <p:cNvPr id="11" name="Rounded Rectangle 10"/>
          <p:cNvSpPr/>
          <p:nvPr/>
        </p:nvSpPr>
        <p:spPr>
          <a:xfrm>
            <a:off x="3520440" y="1874519"/>
            <a:ext cx="2514600" cy="1325880"/>
          </a:xfrm>
          <a:prstGeom prst="roundRect">
            <a:avLst/>
          </a:prstGeom>
          <a:solidFill>
            <a:srgbClr val="D8EEE1"/>
          </a:solidFill>
          <a:ln w="12700">
            <a:solidFill>
              <a:srgbClr val="D6CC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85032" y="2002536"/>
            <a:ext cx="2185416" cy="237744"/>
          </a:xfrm>
          <a:prstGeom prst="rect">
            <a:avLst/>
          </a:prstGeom>
          <a:noFill/>
        </p:spPr>
        <p:txBody>
          <a:bodyPr wrap="square" anchor="t">
            <a:normAutofit/>
          </a:bodyPr>
          <a:lstStyle/>
          <a:p>
            <a:pPr algn="l"/>
            <a:r>
              <a:rPr sz="1320" b="1">
                <a:solidFill>
                  <a:srgbClr val="116763"/>
                </a:solidFill>
                <a:latin typeface="Aptos"/>
              </a:rPr>
              <a:t>Index</a:t>
            </a:r>
          </a:p>
        </p:txBody>
      </p:sp>
      <p:sp>
        <p:nvSpPr>
          <p:cNvPr id="13" name="TextBox 12"/>
          <p:cNvSpPr txBox="1"/>
          <p:nvPr/>
        </p:nvSpPr>
        <p:spPr>
          <a:xfrm>
            <a:off x="3685032" y="2313432"/>
            <a:ext cx="2185416" cy="813815"/>
          </a:xfrm>
          <a:prstGeom prst="rect">
            <a:avLst/>
          </a:prstGeom>
          <a:noFill/>
        </p:spPr>
        <p:txBody>
          <a:bodyPr wrap="square" anchor="t">
            <a:normAutofit/>
          </a:bodyPr>
          <a:lstStyle/>
          <a:p>
            <a:pPr algn="l"/>
            <a:r>
              <a:rPr sz="1250" b="0">
                <a:solidFill>
                  <a:srgbClr val="1C2226"/>
                </a:solidFill>
                <a:latin typeface="Aptos"/>
              </a:rPr>
              <a:t>Which query deserves performance support?</a:t>
            </a:r>
          </a:p>
        </p:txBody>
      </p:sp>
      <p:sp>
        <p:nvSpPr>
          <p:cNvPr id="14" name="Rounded Rectangle 13"/>
          <p:cNvSpPr/>
          <p:nvPr/>
        </p:nvSpPr>
        <p:spPr>
          <a:xfrm>
            <a:off x="6309360" y="1874519"/>
            <a:ext cx="2514600" cy="1325880"/>
          </a:xfrm>
          <a:prstGeom prst="roundRect">
            <a:avLst/>
          </a:prstGeom>
          <a:solidFill>
            <a:srgbClr val="FFFFFF"/>
          </a:solidFill>
          <a:ln w="12700">
            <a:solidFill>
              <a:srgbClr val="D6CC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2002536"/>
            <a:ext cx="2185416" cy="237744"/>
          </a:xfrm>
          <a:prstGeom prst="rect">
            <a:avLst/>
          </a:prstGeom>
          <a:noFill/>
        </p:spPr>
        <p:txBody>
          <a:bodyPr wrap="square" anchor="t">
            <a:normAutofit/>
          </a:bodyPr>
          <a:lstStyle/>
          <a:p>
            <a:pPr algn="l"/>
            <a:r>
              <a:rPr sz="1320" b="1">
                <a:solidFill>
                  <a:srgbClr val="116763"/>
                </a:solidFill>
                <a:latin typeface="Aptos"/>
              </a:rPr>
              <a:t>Backup</a:t>
            </a:r>
          </a:p>
        </p:txBody>
      </p:sp>
      <p:sp>
        <p:nvSpPr>
          <p:cNvPr id="16" name="TextBox 15"/>
          <p:cNvSpPr txBox="1"/>
          <p:nvPr/>
        </p:nvSpPr>
        <p:spPr>
          <a:xfrm>
            <a:off x="6473952" y="2313432"/>
            <a:ext cx="2185416" cy="813815"/>
          </a:xfrm>
          <a:prstGeom prst="rect">
            <a:avLst/>
          </a:prstGeom>
          <a:noFill/>
        </p:spPr>
        <p:txBody>
          <a:bodyPr wrap="square" anchor="t">
            <a:normAutofit/>
          </a:bodyPr>
          <a:lstStyle/>
          <a:p>
            <a:pPr algn="l"/>
            <a:r>
              <a:rPr sz="1250" b="0">
                <a:solidFill>
                  <a:srgbClr val="1C2226"/>
                </a:solidFill>
                <a:latin typeface="Aptos"/>
              </a:rPr>
              <a:t>What data must be recoverable?</a:t>
            </a:r>
          </a:p>
        </p:txBody>
      </p:sp>
      <p:sp>
        <p:nvSpPr>
          <p:cNvPr id="17" name="Rounded Rectangle 16"/>
          <p:cNvSpPr/>
          <p:nvPr/>
        </p:nvSpPr>
        <p:spPr>
          <a:xfrm>
            <a:off x="9098280" y="1874519"/>
            <a:ext cx="2514600" cy="1325880"/>
          </a:xfrm>
          <a:prstGeom prst="roundRect">
            <a:avLst/>
          </a:prstGeom>
          <a:solidFill>
            <a:srgbClr val="D8EEE1"/>
          </a:solidFill>
          <a:ln w="12700">
            <a:solidFill>
              <a:srgbClr val="D6CC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62872" y="2002536"/>
            <a:ext cx="2185416" cy="237744"/>
          </a:xfrm>
          <a:prstGeom prst="rect">
            <a:avLst/>
          </a:prstGeom>
          <a:noFill/>
        </p:spPr>
        <p:txBody>
          <a:bodyPr wrap="square" anchor="t">
            <a:normAutofit/>
          </a:bodyPr>
          <a:lstStyle/>
          <a:p>
            <a:pPr algn="l"/>
            <a:r>
              <a:rPr sz="1320" b="1">
                <a:solidFill>
                  <a:srgbClr val="116763"/>
                </a:solidFill>
                <a:latin typeface="Aptos"/>
              </a:rPr>
              <a:t>Verify</a:t>
            </a:r>
          </a:p>
        </p:txBody>
      </p:sp>
      <p:sp>
        <p:nvSpPr>
          <p:cNvPr id="19" name="TextBox 18"/>
          <p:cNvSpPr txBox="1"/>
          <p:nvPr/>
        </p:nvSpPr>
        <p:spPr>
          <a:xfrm>
            <a:off x="9262872" y="2313432"/>
            <a:ext cx="2185416" cy="813815"/>
          </a:xfrm>
          <a:prstGeom prst="rect">
            <a:avLst/>
          </a:prstGeom>
          <a:noFill/>
        </p:spPr>
        <p:txBody>
          <a:bodyPr wrap="square" anchor="t">
            <a:normAutofit/>
          </a:bodyPr>
          <a:lstStyle/>
          <a:p>
            <a:pPr algn="l"/>
            <a:r>
              <a:rPr sz="1250" b="0">
                <a:solidFill>
                  <a:srgbClr val="1C2226"/>
                </a:solidFill>
                <a:latin typeface="Aptos"/>
              </a:rPr>
              <a:t>How do you prove restore worked?</a:t>
            </a:r>
          </a:p>
        </p:txBody>
      </p:sp>
      <p:sp>
        <p:nvSpPr>
          <p:cNvPr id="20" name="TextBox 19"/>
          <p:cNvSpPr txBox="1"/>
          <p:nvPr/>
        </p:nvSpPr>
        <p:spPr>
          <a:xfrm>
            <a:off x="1097280" y="4480560"/>
            <a:ext cx="9966960" cy="713232"/>
          </a:xfrm>
          <a:prstGeom prst="rect">
            <a:avLst/>
          </a:prstGeom>
          <a:noFill/>
        </p:spPr>
        <p:txBody>
          <a:bodyPr wrap="square" anchor="t">
            <a:normAutofit/>
          </a:bodyPr>
          <a:lstStyle/>
          <a:p>
            <a:pPr algn="ctr"/>
            <a:r>
              <a:rPr sz="2200" b="1">
                <a:solidFill>
                  <a:srgbClr val="1C2226"/>
                </a:solidFill>
                <a:latin typeface="Aptos"/>
              </a:rPr>
              <a:t>Screenshots are evidence only when students explain what they prove.</a:t>
            </a:r>
          </a:p>
        </p:txBody>
      </p:sp>
      <p:sp>
        <p:nvSpPr>
          <p:cNvPr id="21" name="TextBox 20"/>
          <p:cNvSpPr txBox="1"/>
          <p:nvPr/>
        </p:nvSpPr>
        <p:spPr>
          <a:xfrm>
            <a:off x="658368" y="6473952"/>
            <a:ext cx="3200400" cy="201168"/>
          </a:xfrm>
          <a:prstGeom prst="rect">
            <a:avLst/>
          </a:prstGeom>
          <a:noFill/>
        </p:spPr>
        <p:txBody>
          <a:bodyPr wrap="square" anchor="t">
            <a:normAutofit/>
          </a:bodyPr>
          <a:lstStyle/>
          <a:p>
            <a:pPr algn="l"/>
            <a:r>
              <a:rPr sz="850" b="0">
                <a:solidFill>
                  <a:srgbClr val="535C62"/>
                </a:solidFill>
                <a:latin typeface="Aptos"/>
              </a:rPr>
              <a:t>CST4714 | Week 14</a:t>
            </a:r>
          </a:p>
        </p:txBody>
      </p:sp>
      <p:sp>
        <p:nvSpPr>
          <p:cNvPr id="22" name="TextBox 21"/>
          <p:cNvSpPr txBox="1"/>
          <p:nvPr/>
        </p:nvSpPr>
        <p:spPr>
          <a:xfrm>
            <a:off x="11301984" y="6473952"/>
            <a:ext cx="320040" cy="201168"/>
          </a:xfrm>
          <a:prstGeom prst="rect">
            <a:avLst/>
          </a:prstGeom>
          <a:noFill/>
        </p:spPr>
        <p:txBody>
          <a:bodyPr wrap="square" anchor="t">
            <a:normAutofit/>
          </a:bodyPr>
          <a:lstStyle/>
          <a:p>
            <a:pPr algn="r"/>
            <a:r>
              <a:rPr sz="850" b="0">
                <a:solidFill>
                  <a:srgbClr val="535C62"/>
                </a:solidFill>
                <a:latin typeface="Apto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167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18520" y="310896"/>
            <a:ext cx="658368" cy="658368"/>
          </a:xfrm>
          <a:prstGeom prst="ellipse">
            <a:avLst/>
          </a:prstGeom>
          <a:solidFill>
            <a:srgbClr val="F5C4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38912"/>
            <a:ext cx="4389120" cy="237744"/>
          </a:xfrm>
          <a:prstGeom prst="rect">
            <a:avLst/>
          </a:prstGeom>
          <a:noFill/>
        </p:spPr>
        <p:txBody>
          <a:bodyPr wrap="square" anchor="t">
            <a:normAutofit/>
          </a:bodyPr>
          <a:lstStyle/>
          <a:p>
            <a:pPr algn="l"/>
            <a:r>
              <a:rPr sz="950" b="1">
                <a:solidFill>
                  <a:srgbClr val="116763"/>
                </a:solidFill>
                <a:latin typeface="Aptos"/>
              </a:rPr>
              <a:t>RELIABILITY</a:t>
            </a:r>
          </a:p>
        </p:txBody>
      </p:sp>
      <p:sp>
        <p:nvSpPr>
          <p:cNvPr id="6" name="TextBox 5"/>
          <p:cNvSpPr txBox="1"/>
          <p:nvPr/>
        </p:nvSpPr>
        <p:spPr>
          <a:xfrm>
            <a:off x="621792" y="713232"/>
            <a:ext cx="8778240" cy="676656"/>
          </a:xfrm>
          <a:prstGeom prst="rect">
            <a:avLst/>
          </a:prstGeom>
          <a:noFill/>
        </p:spPr>
        <p:txBody>
          <a:bodyPr wrap="square" anchor="t">
            <a:normAutofit/>
          </a:bodyPr>
          <a:lstStyle/>
          <a:p>
            <a:pPr algn="l"/>
            <a:r>
              <a:rPr sz="3000" b="1">
                <a:solidFill>
                  <a:srgbClr val="1C2226"/>
                </a:solidFill>
                <a:latin typeface="Aptos Display"/>
              </a:rPr>
              <a:t>Backup Is Not the Same as Restore</a:t>
            </a:r>
          </a:p>
        </p:txBody>
      </p:sp>
      <p:sp>
        <p:nvSpPr>
          <p:cNvPr id="7" name="TextBox 6"/>
          <p:cNvSpPr txBox="1"/>
          <p:nvPr/>
        </p:nvSpPr>
        <p:spPr>
          <a:xfrm>
            <a:off x="658368" y="1353312"/>
            <a:ext cx="9326880" cy="347472"/>
          </a:xfrm>
          <a:prstGeom prst="rect">
            <a:avLst/>
          </a:prstGeom>
          <a:noFill/>
        </p:spPr>
        <p:txBody>
          <a:bodyPr wrap="square" anchor="t">
            <a:normAutofit/>
          </a:bodyPr>
          <a:lstStyle/>
          <a:p>
            <a:pPr algn="l"/>
            <a:r>
              <a:rPr sz="1400" b="0">
                <a:solidFill>
                  <a:srgbClr val="535C62"/>
                </a:solidFill>
                <a:latin typeface="Aptos"/>
              </a:rPr>
              <a:t>A backup is only useful if recovery can be verified.</a:t>
            </a:r>
          </a:p>
        </p:txBody>
      </p:sp>
      <p:sp>
        <p:nvSpPr>
          <p:cNvPr id="8" name="TextBox 7"/>
          <p:cNvSpPr txBox="1"/>
          <p:nvPr/>
        </p:nvSpPr>
        <p:spPr>
          <a:xfrm>
            <a:off x="960120" y="1874519"/>
            <a:ext cx="10287000" cy="3611880"/>
          </a:xfrm>
          <a:prstGeom prst="rect">
            <a:avLst/>
          </a:prstGeom>
          <a:noFill/>
        </p:spPr>
        <p:txBody>
          <a:bodyPr wrap="square">
            <a:normAutofit/>
          </a:bodyPr>
          <a:lstStyle/>
          <a:p>
            <a:pPr>
              <a:spcAft>
                <a:spcPts val="500"/>
              </a:spcAft>
              <a:defRPr sz="1800">
                <a:solidFill>
                  <a:srgbClr val="1C2226"/>
                </a:solidFill>
                <a:latin typeface="Aptos"/>
              </a:defRPr>
            </a:pPr>
            <a:r>
              <a:t>what incident are you preparing for?</a:t>
            </a:r>
          </a:p>
          <a:p>
            <a:pPr>
              <a:spcAft>
                <a:spcPts val="500"/>
              </a:spcAft>
              <a:defRPr sz="1800">
                <a:solidFill>
                  <a:srgbClr val="1C2226"/>
                </a:solidFill>
                <a:latin typeface="Aptos"/>
              </a:defRPr>
            </a:pPr>
            <a:r>
              <a:t>what backup or export would you use?</a:t>
            </a:r>
          </a:p>
          <a:p>
            <a:pPr>
              <a:spcAft>
                <a:spcPts val="500"/>
              </a:spcAft>
              <a:defRPr sz="1800">
                <a:solidFill>
                  <a:srgbClr val="1C2226"/>
                </a:solidFill>
                <a:latin typeface="Aptos"/>
              </a:defRPr>
            </a:pPr>
            <a:r>
              <a:t>where would you restore?</a:t>
            </a:r>
          </a:p>
          <a:p>
            <a:pPr>
              <a:spcAft>
                <a:spcPts val="500"/>
              </a:spcAft>
              <a:defRPr sz="1800">
                <a:solidFill>
                  <a:srgbClr val="1C2226"/>
                </a:solidFill>
                <a:latin typeface="Aptos"/>
              </a:defRPr>
            </a:pPr>
            <a:r>
              <a:t>what downtime or data loss might happen?</a:t>
            </a:r>
          </a:p>
          <a:p>
            <a:pPr>
              <a:spcAft>
                <a:spcPts val="500"/>
              </a:spcAft>
              <a:defRPr sz="1800">
                <a:solidFill>
                  <a:srgbClr val="1C2226"/>
                </a:solidFill>
                <a:latin typeface="Aptos"/>
              </a:defRPr>
            </a:pPr>
            <a:r>
              <a:t>which queries prove the restored database works?</a:t>
            </a:r>
          </a:p>
          <a:p>
            <a:pPr>
              <a:spcAft>
                <a:spcPts val="500"/>
              </a:spcAft>
              <a:defRPr sz="1800">
                <a:solidFill>
                  <a:srgbClr val="1C2226"/>
                </a:solidFill>
                <a:latin typeface="Aptos"/>
              </a:defRPr>
            </a:pPr>
            <a:r>
              <a:t>which index, table, collection, or policy must still exist?</a:t>
            </a:r>
          </a:p>
        </p:txBody>
      </p:sp>
      <p:sp>
        <p:nvSpPr>
          <p:cNvPr id="9" name="TextBox 8"/>
          <p:cNvSpPr txBox="1"/>
          <p:nvPr/>
        </p:nvSpPr>
        <p:spPr>
          <a:xfrm>
            <a:off x="658368" y="6473952"/>
            <a:ext cx="3200400" cy="201168"/>
          </a:xfrm>
          <a:prstGeom prst="rect">
            <a:avLst/>
          </a:prstGeom>
          <a:noFill/>
        </p:spPr>
        <p:txBody>
          <a:bodyPr wrap="square" anchor="t">
            <a:normAutofit/>
          </a:bodyPr>
          <a:lstStyle/>
          <a:p>
            <a:pPr algn="l"/>
            <a:r>
              <a:rPr sz="850" b="0">
                <a:solidFill>
                  <a:srgbClr val="535C62"/>
                </a:solidFill>
                <a:latin typeface="Aptos"/>
              </a:rPr>
              <a:t>CST4714 | Week 14</a:t>
            </a:r>
          </a:p>
        </p:txBody>
      </p:sp>
      <p:sp>
        <p:nvSpPr>
          <p:cNvPr id="10" name="TextBox 9"/>
          <p:cNvSpPr txBox="1"/>
          <p:nvPr/>
        </p:nvSpPr>
        <p:spPr>
          <a:xfrm>
            <a:off x="11301984" y="6473952"/>
            <a:ext cx="320040" cy="201168"/>
          </a:xfrm>
          <a:prstGeom prst="rect">
            <a:avLst/>
          </a:prstGeom>
          <a:noFill/>
        </p:spPr>
        <p:txBody>
          <a:bodyPr wrap="square" anchor="t">
            <a:normAutofit/>
          </a:bodyPr>
          <a:lstStyle/>
          <a:p>
            <a:pPr algn="r"/>
            <a:r>
              <a:rPr sz="850" b="0">
                <a:solidFill>
                  <a:srgbClr val="535C62"/>
                </a:solidFill>
                <a:latin typeface="Apto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167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18520" y="310896"/>
            <a:ext cx="658368" cy="658368"/>
          </a:xfrm>
          <a:prstGeom prst="ellipse">
            <a:avLst/>
          </a:prstGeom>
          <a:solidFill>
            <a:srgbClr val="F5C4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38912"/>
            <a:ext cx="4389120" cy="237744"/>
          </a:xfrm>
          <a:prstGeom prst="rect">
            <a:avLst/>
          </a:prstGeom>
          <a:noFill/>
        </p:spPr>
        <p:txBody>
          <a:bodyPr wrap="square" anchor="t">
            <a:normAutofit/>
          </a:bodyPr>
          <a:lstStyle/>
          <a:p>
            <a:pPr algn="l"/>
            <a:r>
              <a:rPr sz="950" b="1">
                <a:solidFill>
                  <a:srgbClr val="116763"/>
                </a:solidFill>
                <a:latin typeface="Aptos"/>
              </a:rPr>
              <a:t>GRADING</a:t>
            </a:r>
          </a:p>
        </p:txBody>
      </p:sp>
      <p:sp>
        <p:nvSpPr>
          <p:cNvPr id="6" name="TextBox 5"/>
          <p:cNvSpPr txBox="1"/>
          <p:nvPr/>
        </p:nvSpPr>
        <p:spPr>
          <a:xfrm>
            <a:off x="621792" y="713232"/>
            <a:ext cx="8778240" cy="676656"/>
          </a:xfrm>
          <a:prstGeom prst="rect">
            <a:avLst/>
          </a:prstGeom>
          <a:noFill/>
        </p:spPr>
        <p:txBody>
          <a:bodyPr wrap="square" anchor="t">
            <a:normAutofit/>
          </a:bodyPr>
          <a:lstStyle/>
          <a:p>
            <a:pPr algn="l"/>
            <a:r>
              <a:rPr sz="3000" b="1">
                <a:solidFill>
                  <a:srgbClr val="1C2226"/>
                </a:solidFill>
                <a:latin typeface="Aptos Display"/>
              </a:rPr>
              <a:t>Review Readiness</a:t>
            </a:r>
          </a:p>
        </p:txBody>
      </p:sp>
      <p:sp>
        <p:nvSpPr>
          <p:cNvPr id="7" name="TextBox 6"/>
          <p:cNvSpPr txBox="1"/>
          <p:nvPr/>
        </p:nvSpPr>
        <p:spPr>
          <a:xfrm>
            <a:off x="658368" y="1353312"/>
            <a:ext cx="9326880" cy="347472"/>
          </a:xfrm>
          <a:prstGeom prst="rect">
            <a:avLst/>
          </a:prstGeom>
          <a:noFill/>
        </p:spPr>
        <p:txBody>
          <a:bodyPr wrap="square" anchor="t">
            <a:normAutofit/>
          </a:bodyPr>
          <a:lstStyle/>
          <a:p>
            <a:pPr algn="l"/>
            <a:r>
              <a:rPr sz="1400" b="0">
                <a:solidFill>
                  <a:srgbClr val="535C62"/>
                </a:solidFill>
                <a:latin typeface="Aptos"/>
              </a:rPr>
              <a:t>Make it easy for the instructor to verify the project.</a:t>
            </a:r>
          </a:p>
        </p:txBody>
      </p:sp>
      <p:sp>
        <p:nvSpPr>
          <p:cNvPr id="8" name="Rounded Rectangle 7"/>
          <p:cNvSpPr/>
          <p:nvPr/>
        </p:nvSpPr>
        <p:spPr>
          <a:xfrm>
            <a:off x="731520" y="1828800"/>
            <a:ext cx="3474720" cy="1737360"/>
          </a:xfrm>
          <a:prstGeom prst="roundRect">
            <a:avLst/>
          </a:prstGeom>
          <a:solidFill>
            <a:srgbClr val="FFFFFF"/>
          </a:solidFill>
          <a:ln w="12700">
            <a:solidFill>
              <a:srgbClr val="D6CC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956816"/>
            <a:ext cx="3145536" cy="237744"/>
          </a:xfrm>
          <a:prstGeom prst="rect">
            <a:avLst/>
          </a:prstGeom>
          <a:noFill/>
        </p:spPr>
        <p:txBody>
          <a:bodyPr wrap="square" anchor="t">
            <a:normAutofit/>
          </a:bodyPr>
          <a:lstStyle/>
          <a:p>
            <a:pPr algn="l"/>
            <a:r>
              <a:rPr sz="1320" b="1">
                <a:solidFill>
                  <a:srgbClr val="116763"/>
                </a:solidFill>
                <a:latin typeface="Aptos"/>
              </a:rPr>
              <a:t>Supabase/Postgres</a:t>
            </a:r>
          </a:p>
        </p:txBody>
      </p:sp>
      <p:sp>
        <p:nvSpPr>
          <p:cNvPr id="10" name="TextBox 9"/>
          <p:cNvSpPr txBox="1"/>
          <p:nvPr/>
        </p:nvSpPr>
        <p:spPr>
          <a:xfrm>
            <a:off x="896112" y="2267712"/>
            <a:ext cx="3145536" cy="1225295"/>
          </a:xfrm>
          <a:prstGeom prst="rect">
            <a:avLst/>
          </a:prstGeom>
          <a:noFill/>
        </p:spPr>
        <p:txBody>
          <a:bodyPr wrap="square" anchor="t">
            <a:normAutofit/>
          </a:bodyPr>
          <a:lstStyle/>
          <a:p>
            <a:pPr algn="l"/>
            <a:r>
              <a:rPr sz="1250" b="0">
                <a:solidFill>
                  <a:srgbClr val="1C2226"/>
                </a:solidFill>
                <a:latin typeface="Aptos"/>
              </a:rPr>
              <a:t>SQL files, schema evidence, seed data, query examples, admin notes, and access if using live project.</a:t>
            </a:r>
          </a:p>
        </p:txBody>
      </p:sp>
      <p:sp>
        <p:nvSpPr>
          <p:cNvPr id="11" name="Rounded Rectangle 10"/>
          <p:cNvSpPr/>
          <p:nvPr/>
        </p:nvSpPr>
        <p:spPr>
          <a:xfrm>
            <a:off x="4526280" y="1828800"/>
            <a:ext cx="3474720" cy="1737360"/>
          </a:xfrm>
          <a:prstGeom prst="roundRect">
            <a:avLst/>
          </a:prstGeom>
          <a:solidFill>
            <a:srgbClr val="D8EEE1"/>
          </a:solidFill>
          <a:ln w="12700">
            <a:solidFill>
              <a:srgbClr val="D6CC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90872" y="1956816"/>
            <a:ext cx="3145536" cy="237744"/>
          </a:xfrm>
          <a:prstGeom prst="rect">
            <a:avLst/>
          </a:prstGeom>
          <a:noFill/>
        </p:spPr>
        <p:txBody>
          <a:bodyPr wrap="square" anchor="t">
            <a:normAutofit/>
          </a:bodyPr>
          <a:lstStyle/>
          <a:p>
            <a:pPr algn="l"/>
            <a:r>
              <a:rPr sz="1320" b="1">
                <a:solidFill>
                  <a:srgbClr val="116763"/>
                </a:solidFill>
                <a:latin typeface="Aptos"/>
              </a:rPr>
              <a:t>MongoDB/Atlas</a:t>
            </a:r>
          </a:p>
        </p:txBody>
      </p:sp>
      <p:sp>
        <p:nvSpPr>
          <p:cNvPr id="13" name="TextBox 12"/>
          <p:cNvSpPr txBox="1"/>
          <p:nvPr/>
        </p:nvSpPr>
        <p:spPr>
          <a:xfrm>
            <a:off x="4690872" y="2267712"/>
            <a:ext cx="3145536" cy="1225295"/>
          </a:xfrm>
          <a:prstGeom prst="rect">
            <a:avLst/>
          </a:prstGeom>
          <a:noFill/>
        </p:spPr>
        <p:txBody>
          <a:bodyPr wrap="square" anchor="t">
            <a:normAutofit/>
          </a:bodyPr>
          <a:lstStyle/>
          <a:p>
            <a:pPr algn="l"/>
            <a:r>
              <a:rPr sz="1250" b="0">
                <a:solidFill>
                  <a:srgbClr val="1C2226"/>
                </a:solidFill>
                <a:latin typeface="Aptos"/>
              </a:rPr>
              <a:t>Add instructor to project/team or provide approved review access. Show collections, documents, indexes, and notes.</a:t>
            </a:r>
          </a:p>
        </p:txBody>
      </p:sp>
      <p:sp>
        <p:nvSpPr>
          <p:cNvPr id="14" name="Rounded Rectangle 13"/>
          <p:cNvSpPr/>
          <p:nvPr/>
        </p:nvSpPr>
        <p:spPr>
          <a:xfrm>
            <a:off x="8321040" y="1828800"/>
            <a:ext cx="2926080" cy="1737360"/>
          </a:xfrm>
          <a:prstGeom prst="roundRect">
            <a:avLst/>
          </a:prstGeom>
          <a:solidFill>
            <a:srgbClr val="FFFFFF"/>
          </a:solidFill>
          <a:ln w="12700">
            <a:solidFill>
              <a:srgbClr val="D6CC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85632" y="1956816"/>
            <a:ext cx="2596896" cy="237744"/>
          </a:xfrm>
          <a:prstGeom prst="rect">
            <a:avLst/>
          </a:prstGeom>
          <a:noFill/>
        </p:spPr>
        <p:txBody>
          <a:bodyPr wrap="square" anchor="t">
            <a:normAutofit/>
          </a:bodyPr>
          <a:lstStyle/>
          <a:p>
            <a:pPr algn="l"/>
            <a:r>
              <a:rPr sz="1320" b="1">
                <a:solidFill>
                  <a:srgbClr val="116763"/>
                </a:solidFill>
                <a:latin typeface="Aptos"/>
              </a:rPr>
              <a:t>Both</a:t>
            </a:r>
          </a:p>
        </p:txBody>
      </p:sp>
      <p:sp>
        <p:nvSpPr>
          <p:cNvPr id="16" name="TextBox 15"/>
          <p:cNvSpPr txBox="1"/>
          <p:nvPr/>
        </p:nvSpPr>
        <p:spPr>
          <a:xfrm>
            <a:off x="8485632" y="2267712"/>
            <a:ext cx="2596896" cy="1225295"/>
          </a:xfrm>
          <a:prstGeom prst="rect">
            <a:avLst/>
          </a:prstGeom>
          <a:noFill/>
        </p:spPr>
        <p:txBody>
          <a:bodyPr wrap="square" anchor="t">
            <a:normAutofit/>
          </a:bodyPr>
          <a:lstStyle/>
          <a:p>
            <a:pPr algn="l"/>
            <a:r>
              <a:rPr sz="1250" b="0">
                <a:solidFill>
                  <a:srgbClr val="1C2226"/>
                </a:solidFill>
                <a:latin typeface="Aptos"/>
              </a:rPr>
              <a:t>Provide both sets of evidence and explain the ownership split.</a:t>
            </a:r>
          </a:p>
        </p:txBody>
      </p:sp>
      <p:sp>
        <p:nvSpPr>
          <p:cNvPr id="17" name="TextBox 16"/>
          <p:cNvSpPr txBox="1"/>
          <p:nvPr/>
        </p:nvSpPr>
        <p:spPr>
          <a:xfrm>
            <a:off x="1097280" y="4480560"/>
            <a:ext cx="9966960" cy="713232"/>
          </a:xfrm>
          <a:prstGeom prst="rect">
            <a:avLst/>
          </a:prstGeom>
          <a:noFill/>
        </p:spPr>
        <p:txBody>
          <a:bodyPr wrap="square" anchor="t">
            <a:normAutofit/>
          </a:bodyPr>
          <a:lstStyle/>
          <a:p>
            <a:pPr algn="ctr"/>
            <a:r>
              <a:rPr sz="2200" b="1">
                <a:solidFill>
                  <a:srgbClr val="1C2226"/>
                </a:solidFill>
                <a:latin typeface="Aptos"/>
              </a:rPr>
              <a:t>Do not make the grader guess where the evidence is.</a:t>
            </a:r>
          </a:p>
        </p:txBody>
      </p:sp>
      <p:sp>
        <p:nvSpPr>
          <p:cNvPr id="18" name="TextBox 17"/>
          <p:cNvSpPr txBox="1"/>
          <p:nvPr/>
        </p:nvSpPr>
        <p:spPr>
          <a:xfrm>
            <a:off x="658368" y="6473952"/>
            <a:ext cx="3200400" cy="201168"/>
          </a:xfrm>
          <a:prstGeom prst="rect">
            <a:avLst/>
          </a:prstGeom>
          <a:noFill/>
        </p:spPr>
        <p:txBody>
          <a:bodyPr wrap="square" anchor="t">
            <a:normAutofit/>
          </a:bodyPr>
          <a:lstStyle/>
          <a:p>
            <a:pPr algn="l"/>
            <a:r>
              <a:rPr sz="850" b="0">
                <a:solidFill>
                  <a:srgbClr val="535C62"/>
                </a:solidFill>
                <a:latin typeface="Aptos"/>
              </a:rPr>
              <a:t>CST4714 | Week 14</a:t>
            </a:r>
          </a:p>
        </p:txBody>
      </p:sp>
      <p:sp>
        <p:nvSpPr>
          <p:cNvPr id="19" name="TextBox 18"/>
          <p:cNvSpPr txBox="1"/>
          <p:nvPr/>
        </p:nvSpPr>
        <p:spPr>
          <a:xfrm>
            <a:off x="11301984" y="6473952"/>
            <a:ext cx="320040" cy="201168"/>
          </a:xfrm>
          <a:prstGeom prst="rect">
            <a:avLst/>
          </a:prstGeom>
          <a:noFill/>
        </p:spPr>
        <p:txBody>
          <a:bodyPr wrap="square" anchor="t">
            <a:normAutofit/>
          </a:bodyPr>
          <a:lstStyle/>
          <a:p>
            <a:pPr algn="r"/>
            <a:r>
              <a:rPr sz="850" b="0">
                <a:solidFill>
                  <a:srgbClr val="535C62"/>
                </a:solidFill>
                <a:latin typeface="Apto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167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18520" y="310896"/>
            <a:ext cx="658368" cy="658368"/>
          </a:xfrm>
          <a:prstGeom prst="ellipse">
            <a:avLst/>
          </a:prstGeom>
          <a:solidFill>
            <a:srgbClr val="F5C4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38912"/>
            <a:ext cx="4389120" cy="237744"/>
          </a:xfrm>
          <a:prstGeom prst="rect">
            <a:avLst/>
          </a:prstGeom>
          <a:noFill/>
        </p:spPr>
        <p:txBody>
          <a:bodyPr wrap="square" anchor="t">
            <a:normAutofit/>
          </a:bodyPr>
          <a:lstStyle/>
          <a:p>
            <a:pPr algn="l"/>
            <a:r>
              <a:rPr sz="950" b="1">
                <a:solidFill>
                  <a:srgbClr val="116763"/>
                </a:solidFill>
                <a:latin typeface="Aptos"/>
              </a:rPr>
              <a:t>REPORT</a:t>
            </a:r>
          </a:p>
        </p:txBody>
      </p:sp>
      <p:sp>
        <p:nvSpPr>
          <p:cNvPr id="6" name="TextBox 5"/>
          <p:cNvSpPr txBox="1"/>
          <p:nvPr/>
        </p:nvSpPr>
        <p:spPr>
          <a:xfrm>
            <a:off x="621792" y="713232"/>
            <a:ext cx="8778240" cy="676656"/>
          </a:xfrm>
          <a:prstGeom prst="rect">
            <a:avLst/>
          </a:prstGeom>
          <a:noFill/>
        </p:spPr>
        <p:txBody>
          <a:bodyPr wrap="square" anchor="t">
            <a:normAutofit/>
          </a:bodyPr>
          <a:lstStyle/>
          <a:p>
            <a:pPr algn="l"/>
            <a:r>
              <a:rPr sz="3000" b="1">
                <a:solidFill>
                  <a:srgbClr val="1C2226"/>
                </a:solidFill>
                <a:latin typeface="Aptos Display"/>
              </a:rPr>
              <a:t>Written Explanation Structure</a:t>
            </a:r>
          </a:p>
        </p:txBody>
      </p:sp>
      <p:sp>
        <p:nvSpPr>
          <p:cNvPr id="7" name="TextBox 6"/>
          <p:cNvSpPr txBox="1"/>
          <p:nvPr/>
        </p:nvSpPr>
        <p:spPr>
          <a:xfrm>
            <a:off x="658368" y="1353312"/>
            <a:ext cx="9326880" cy="347472"/>
          </a:xfrm>
          <a:prstGeom prst="rect">
            <a:avLst/>
          </a:prstGeom>
          <a:noFill/>
        </p:spPr>
        <p:txBody>
          <a:bodyPr wrap="square" anchor="t">
            <a:normAutofit/>
          </a:bodyPr>
          <a:lstStyle/>
          <a:p>
            <a:pPr algn="l"/>
            <a:r>
              <a:rPr sz="1400" b="0">
                <a:solidFill>
                  <a:srgbClr val="535C62"/>
                </a:solidFill>
                <a:latin typeface="Aptos"/>
              </a:rPr>
              <a:t>The report is a clear story of database decisions.</a:t>
            </a:r>
          </a:p>
        </p:txBody>
      </p:sp>
      <p:sp>
        <p:nvSpPr>
          <p:cNvPr id="8" name="TextBox 7"/>
          <p:cNvSpPr txBox="1"/>
          <p:nvPr/>
        </p:nvSpPr>
        <p:spPr>
          <a:xfrm>
            <a:off x="960120" y="1874519"/>
            <a:ext cx="10287000" cy="3611880"/>
          </a:xfrm>
          <a:prstGeom prst="rect">
            <a:avLst/>
          </a:prstGeom>
          <a:noFill/>
        </p:spPr>
        <p:txBody>
          <a:bodyPr wrap="square">
            <a:normAutofit/>
          </a:bodyPr>
          <a:lstStyle/>
          <a:p>
            <a:pPr>
              <a:spcAft>
                <a:spcPts val="500"/>
              </a:spcAft>
              <a:defRPr sz="1800">
                <a:solidFill>
                  <a:srgbClr val="1C2226"/>
                </a:solidFill>
                <a:latin typeface="Aptos"/>
              </a:defRPr>
            </a:pPr>
            <a:r>
              <a:t>project purpose</a:t>
            </a:r>
          </a:p>
          <a:p>
            <a:pPr>
              <a:spcAft>
                <a:spcPts val="500"/>
              </a:spcAft>
              <a:defRPr sz="1800">
                <a:solidFill>
                  <a:srgbClr val="1C2226"/>
                </a:solidFill>
                <a:latin typeface="Aptos"/>
              </a:defRPr>
            </a:pPr>
            <a:r>
              <a:t>platform choice</a:t>
            </a:r>
          </a:p>
          <a:p>
            <a:pPr>
              <a:spcAft>
                <a:spcPts val="500"/>
              </a:spcAft>
              <a:defRPr sz="1800">
                <a:solidFill>
                  <a:srgbClr val="1C2226"/>
                </a:solidFill>
                <a:latin typeface="Aptos"/>
              </a:defRPr>
            </a:pPr>
            <a:r>
              <a:t>data model explanation</a:t>
            </a:r>
          </a:p>
          <a:p>
            <a:pPr>
              <a:spcAft>
                <a:spcPts val="500"/>
              </a:spcAft>
              <a:defRPr sz="1800">
                <a:solidFill>
                  <a:srgbClr val="1C2226"/>
                </a:solidFill>
                <a:latin typeface="Aptos"/>
              </a:defRPr>
            </a:pPr>
            <a:r>
              <a:t>seed data explanation</a:t>
            </a:r>
          </a:p>
          <a:p>
            <a:pPr>
              <a:spcAft>
                <a:spcPts val="500"/>
              </a:spcAft>
              <a:defRPr sz="1800">
                <a:solidFill>
                  <a:srgbClr val="1C2226"/>
                </a:solidFill>
                <a:latin typeface="Aptos"/>
              </a:defRPr>
            </a:pPr>
            <a:r>
              <a:t>query examples</a:t>
            </a:r>
          </a:p>
          <a:p>
            <a:pPr>
              <a:spcAft>
                <a:spcPts val="500"/>
              </a:spcAft>
              <a:defRPr sz="1800">
                <a:solidFill>
                  <a:srgbClr val="1C2226"/>
                </a:solidFill>
                <a:latin typeface="Aptos"/>
              </a:defRPr>
            </a:pPr>
            <a:r>
              <a:t>admin and reliability decisions</a:t>
            </a:r>
          </a:p>
          <a:p>
            <a:pPr>
              <a:spcAft>
                <a:spcPts val="500"/>
              </a:spcAft>
              <a:defRPr sz="1800">
                <a:solidFill>
                  <a:srgbClr val="1C2226"/>
                </a:solidFill>
                <a:latin typeface="Aptos"/>
              </a:defRPr>
            </a:pPr>
            <a:r>
              <a:t>what you would improve with more time</a:t>
            </a:r>
          </a:p>
        </p:txBody>
      </p:sp>
      <p:sp>
        <p:nvSpPr>
          <p:cNvPr id="9" name="TextBox 8"/>
          <p:cNvSpPr txBox="1"/>
          <p:nvPr/>
        </p:nvSpPr>
        <p:spPr>
          <a:xfrm>
            <a:off x="658368" y="6473952"/>
            <a:ext cx="3200400" cy="201168"/>
          </a:xfrm>
          <a:prstGeom prst="rect">
            <a:avLst/>
          </a:prstGeom>
          <a:noFill/>
        </p:spPr>
        <p:txBody>
          <a:bodyPr wrap="square" anchor="t">
            <a:normAutofit/>
          </a:bodyPr>
          <a:lstStyle/>
          <a:p>
            <a:pPr algn="l"/>
            <a:r>
              <a:rPr sz="850" b="0">
                <a:solidFill>
                  <a:srgbClr val="535C62"/>
                </a:solidFill>
                <a:latin typeface="Aptos"/>
              </a:rPr>
              <a:t>CST4714 | Week 14</a:t>
            </a:r>
          </a:p>
        </p:txBody>
      </p:sp>
      <p:sp>
        <p:nvSpPr>
          <p:cNvPr id="10" name="TextBox 9"/>
          <p:cNvSpPr txBox="1"/>
          <p:nvPr/>
        </p:nvSpPr>
        <p:spPr>
          <a:xfrm>
            <a:off x="11301984" y="6473952"/>
            <a:ext cx="320040" cy="201168"/>
          </a:xfrm>
          <a:prstGeom prst="rect">
            <a:avLst/>
          </a:prstGeom>
          <a:noFill/>
        </p:spPr>
        <p:txBody>
          <a:bodyPr wrap="square" anchor="t">
            <a:normAutofit/>
          </a:bodyPr>
          <a:lstStyle/>
          <a:p>
            <a:pPr algn="r"/>
            <a:r>
              <a:rPr sz="850" b="0">
                <a:solidFill>
                  <a:srgbClr val="535C62"/>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167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18520" y="310896"/>
            <a:ext cx="658368" cy="658368"/>
          </a:xfrm>
          <a:prstGeom prst="ellipse">
            <a:avLst/>
          </a:prstGeom>
          <a:solidFill>
            <a:srgbClr val="F5C4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38912"/>
            <a:ext cx="4389120" cy="237744"/>
          </a:xfrm>
          <a:prstGeom prst="rect">
            <a:avLst/>
          </a:prstGeom>
          <a:noFill/>
        </p:spPr>
        <p:txBody>
          <a:bodyPr wrap="square" anchor="t">
            <a:normAutofit/>
          </a:bodyPr>
          <a:lstStyle/>
          <a:p>
            <a:pPr algn="l"/>
            <a:r>
              <a:rPr sz="950" b="1">
                <a:solidFill>
                  <a:srgbClr val="116763"/>
                </a:solidFill>
                <a:latin typeface="Aptos"/>
              </a:rPr>
              <a:t>PRESENTATION</a:t>
            </a:r>
          </a:p>
        </p:txBody>
      </p:sp>
      <p:sp>
        <p:nvSpPr>
          <p:cNvPr id="6" name="TextBox 5"/>
          <p:cNvSpPr txBox="1"/>
          <p:nvPr/>
        </p:nvSpPr>
        <p:spPr>
          <a:xfrm>
            <a:off x="621792" y="713232"/>
            <a:ext cx="8778240" cy="676656"/>
          </a:xfrm>
          <a:prstGeom prst="rect">
            <a:avLst/>
          </a:prstGeom>
          <a:noFill/>
        </p:spPr>
        <p:txBody>
          <a:bodyPr wrap="square" anchor="t">
            <a:normAutofit/>
          </a:bodyPr>
          <a:lstStyle/>
          <a:p>
            <a:pPr algn="l"/>
            <a:r>
              <a:rPr sz="3000" b="1">
                <a:solidFill>
                  <a:srgbClr val="1C2226"/>
                </a:solidFill>
                <a:latin typeface="Aptos Display"/>
              </a:rPr>
              <a:t>Presentation Structure</a:t>
            </a:r>
          </a:p>
        </p:txBody>
      </p:sp>
      <p:sp>
        <p:nvSpPr>
          <p:cNvPr id="7" name="TextBox 6"/>
          <p:cNvSpPr txBox="1"/>
          <p:nvPr/>
        </p:nvSpPr>
        <p:spPr>
          <a:xfrm>
            <a:off x="658368" y="1353312"/>
            <a:ext cx="9326880" cy="347472"/>
          </a:xfrm>
          <a:prstGeom prst="rect">
            <a:avLst/>
          </a:prstGeom>
          <a:noFill/>
        </p:spPr>
        <p:txBody>
          <a:bodyPr wrap="square" anchor="t">
            <a:normAutofit/>
          </a:bodyPr>
          <a:lstStyle/>
          <a:p>
            <a:pPr algn="l"/>
            <a:r>
              <a:rPr sz="1400" b="0">
                <a:solidFill>
                  <a:srgbClr val="535C62"/>
                </a:solidFill>
                <a:latin typeface="Aptos"/>
              </a:rPr>
              <a:t>The presentation should be simple and evidence-based.</a:t>
            </a:r>
          </a:p>
        </p:txBody>
      </p:sp>
      <p:sp>
        <p:nvSpPr>
          <p:cNvPr id="8" name="TextBox 7"/>
          <p:cNvSpPr txBox="1"/>
          <p:nvPr/>
        </p:nvSpPr>
        <p:spPr>
          <a:xfrm>
            <a:off x="960120" y="1874519"/>
            <a:ext cx="10287000" cy="3611880"/>
          </a:xfrm>
          <a:prstGeom prst="rect">
            <a:avLst/>
          </a:prstGeom>
          <a:noFill/>
        </p:spPr>
        <p:txBody>
          <a:bodyPr wrap="square">
            <a:normAutofit/>
          </a:bodyPr>
          <a:lstStyle/>
          <a:p>
            <a:pPr>
              <a:spcAft>
                <a:spcPts val="500"/>
              </a:spcAft>
              <a:defRPr sz="1800">
                <a:solidFill>
                  <a:srgbClr val="1C2226"/>
                </a:solidFill>
                <a:latin typeface="Aptos"/>
              </a:defRPr>
            </a:pPr>
            <a:r>
              <a:t>what the database manages</a:t>
            </a:r>
          </a:p>
          <a:p>
            <a:pPr>
              <a:spcAft>
                <a:spcPts val="500"/>
              </a:spcAft>
              <a:defRPr sz="1800">
                <a:solidFill>
                  <a:srgbClr val="1C2226"/>
                </a:solidFill>
                <a:latin typeface="Aptos"/>
              </a:defRPr>
            </a:pPr>
            <a:r>
              <a:t>why the platform fits</a:t>
            </a:r>
          </a:p>
          <a:p>
            <a:pPr>
              <a:spcAft>
                <a:spcPts val="500"/>
              </a:spcAft>
              <a:defRPr sz="1800">
                <a:solidFill>
                  <a:srgbClr val="1C2226"/>
                </a:solidFill>
                <a:latin typeface="Aptos"/>
              </a:defRPr>
            </a:pPr>
            <a:r>
              <a:t>the data model</a:t>
            </a:r>
          </a:p>
          <a:p>
            <a:pPr>
              <a:spcAft>
                <a:spcPts val="500"/>
              </a:spcAft>
              <a:defRPr sz="1800">
                <a:solidFill>
                  <a:srgbClr val="1C2226"/>
                </a:solidFill>
                <a:latin typeface="Aptos"/>
              </a:defRPr>
            </a:pPr>
            <a:r>
              <a:t>one useful query</a:t>
            </a:r>
          </a:p>
          <a:p>
            <a:pPr>
              <a:spcAft>
                <a:spcPts val="500"/>
              </a:spcAft>
              <a:defRPr sz="1800">
                <a:solidFill>
                  <a:srgbClr val="1C2226"/>
                </a:solidFill>
                <a:latin typeface="Aptos"/>
              </a:defRPr>
            </a:pPr>
            <a:r>
              <a:t>one admin or reliability decision</a:t>
            </a:r>
          </a:p>
          <a:p>
            <a:pPr>
              <a:spcAft>
                <a:spcPts val="500"/>
              </a:spcAft>
              <a:defRPr sz="1800">
                <a:solidFill>
                  <a:srgbClr val="1C2226"/>
                </a:solidFill>
                <a:latin typeface="Aptos"/>
              </a:defRPr>
            </a:pPr>
            <a:r>
              <a:t>one lesson learned</a:t>
            </a:r>
          </a:p>
        </p:txBody>
      </p:sp>
      <p:sp>
        <p:nvSpPr>
          <p:cNvPr id="9" name="TextBox 8"/>
          <p:cNvSpPr txBox="1"/>
          <p:nvPr/>
        </p:nvSpPr>
        <p:spPr>
          <a:xfrm>
            <a:off x="658368" y="6473952"/>
            <a:ext cx="3200400" cy="201168"/>
          </a:xfrm>
          <a:prstGeom prst="rect">
            <a:avLst/>
          </a:prstGeom>
          <a:noFill/>
        </p:spPr>
        <p:txBody>
          <a:bodyPr wrap="square" anchor="t">
            <a:normAutofit/>
          </a:bodyPr>
          <a:lstStyle/>
          <a:p>
            <a:pPr algn="l"/>
            <a:r>
              <a:rPr sz="850" b="0">
                <a:solidFill>
                  <a:srgbClr val="535C62"/>
                </a:solidFill>
                <a:latin typeface="Aptos"/>
              </a:rPr>
              <a:t>CST4714 | Week 14</a:t>
            </a:r>
          </a:p>
        </p:txBody>
      </p:sp>
      <p:sp>
        <p:nvSpPr>
          <p:cNvPr id="10" name="TextBox 9"/>
          <p:cNvSpPr txBox="1"/>
          <p:nvPr/>
        </p:nvSpPr>
        <p:spPr>
          <a:xfrm>
            <a:off x="11301984" y="6473952"/>
            <a:ext cx="320040" cy="201168"/>
          </a:xfrm>
          <a:prstGeom prst="rect">
            <a:avLst/>
          </a:prstGeom>
          <a:noFill/>
        </p:spPr>
        <p:txBody>
          <a:bodyPr wrap="square" anchor="t">
            <a:normAutofit/>
          </a:bodyPr>
          <a:lstStyle/>
          <a:p>
            <a:pPr algn="r"/>
            <a:r>
              <a:rPr sz="850" b="0">
                <a:solidFill>
                  <a:srgbClr val="535C62"/>
                </a:solidFill>
                <a:latin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167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18520" y="310896"/>
            <a:ext cx="658368" cy="658368"/>
          </a:xfrm>
          <a:prstGeom prst="ellipse">
            <a:avLst/>
          </a:prstGeom>
          <a:solidFill>
            <a:srgbClr val="F5C4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38912"/>
            <a:ext cx="4389120" cy="237744"/>
          </a:xfrm>
          <a:prstGeom prst="rect">
            <a:avLst/>
          </a:prstGeom>
          <a:noFill/>
        </p:spPr>
        <p:txBody>
          <a:bodyPr wrap="square" anchor="t">
            <a:normAutofit/>
          </a:bodyPr>
          <a:lstStyle/>
          <a:p>
            <a:pPr algn="l"/>
            <a:r>
              <a:rPr sz="950" b="1">
                <a:solidFill>
                  <a:srgbClr val="116763"/>
                </a:solidFill>
                <a:latin typeface="Aptos"/>
              </a:rPr>
              <a:t>DEMO</a:t>
            </a:r>
          </a:p>
        </p:txBody>
      </p:sp>
      <p:sp>
        <p:nvSpPr>
          <p:cNvPr id="6" name="TextBox 5"/>
          <p:cNvSpPr txBox="1"/>
          <p:nvPr/>
        </p:nvSpPr>
        <p:spPr>
          <a:xfrm>
            <a:off x="621792" y="713232"/>
            <a:ext cx="8778240" cy="676656"/>
          </a:xfrm>
          <a:prstGeom prst="rect">
            <a:avLst/>
          </a:prstGeom>
          <a:noFill/>
        </p:spPr>
        <p:txBody>
          <a:bodyPr wrap="square" anchor="t">
            <a:normAutofit/>
          </a:bodyPr>
          <a:lstStyle/>
          <a:p>
            <a:pPr algn="l"/>
            <a:r>
              <a:rPr sz="3000" b="1">
                <a:solidFill>
                  <a:srgbClr val="1C2226"/>
                </a:solidFill>
                <a:latin typeface="Aptos Display"/>
              </a:rPr>
              <a:t>What to Show Live</a:t>
            </a:r>
          </a:p>
        </p:txBody>
      </p:sp>
      <p:sp>
        <p:nvSpPr>
          <p:cNvPr id="7" name="TextBox 6"/>
          <p:cNvSpPr txBox="1"/>
          <p:nvPr/>
        </p:nvSpPr>
        <p:spPr>
          <a:xfrm>
            <a:off x="658368" y="1353312"/>
            <a:ext cx="9326880" cy="347472"/>
          </a:xfrm>
          <a:prstGeom prst="rect">
            <a:avLst/>
          </a:prstGeom>
          <a:noFill/>
        </p:spPr>
        <p:txBody>
          <a:bodyPr wrap="square" anchor="t">
            <a:normAutofit/>
          </a:bodyPr>
          <a:lstStyle/>
          <a:p>
            <a:pPr algn="l"/>
            <a:r>
              <a:rPr sz="1400" b="0">
                <a:solidFill>
                  <a:srgbClr val="535C62"/>
                </a:solidFill>
                <a:latin typeface="Aptos"/>
              </a:rPr>
              <a:t>A short demo should prove the database exists and works.</a:t>
            </a:r>
          </a:p>
        </p:txBody>
      </p:sp>
      <p:sp>
        <p:nvSpPr>
          <p:cNvPr id="8" name="Rounded Rectangle 7"/>
          <p:cNvSpPr/>
          <p:nvPr/>
        </p:nvSpPr>
        <p:spPr>
          <a:xfrm>
            <a:off x="822960" y="1874519"/>
            <a:ext cx="3200400" cy="1371600"/>
          </a:xfrm>
          <a:prstGeom prst="roundRect">
            <a:avLst/>
          </a:prstGeom>
          <a:solidFill>
            <a:srgbClr val="FFFFFF"/>
          </a:solidFill>
          <a:ln w="12700">
            <a:solidFill>
              <a:srgbClr val="D6CC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2002536"/>
            <a:ext cx="2871216" cy="237744"/>
          </a:xfrm>
          <a:prstGeom prst="rect">
            <a:avLst/>
          </a:prstGeom>
          <a:noFill/>
        </p:spPr>
        <p:txBody>
          <a:bodyPr wrap="square" anchor="t">
            <a:normAutofit/>
          </a:bodyPr>
          <a:lstStyle/>
          <a:p>
            <a:pPr algn="l"/>
            <a:r>
              <a:rPr sz="1320" b="1">
                <a:solidFill>
                  <a:srgbClr val="116763"/>
                </a:solidFill>
                <a:latin typeface="Aptos"/>
              </a:rPr>
              <a:t>Show model</a:t>
            </a:r>
          </a:p>
        </p:txBody>
      </p:sp>
      <p:sp>
        <p:nvSpPr>
          <p:cNvPr id="10" name="TextBox 9"/>
          <p:cNvSpPr txBox="1"/>
          <p:nvPr/>
        </p:nvSpPr>
        <p:spPr>
          <a:xfrm>
            <a:off x="987552" y="2313432"/>
            <a:ext cx="2871216" cy="859536"/>
          </a:xfrm>
          <a:prstGeom prst="rect">
            <a:avLst/>
          </a:prstGeom>
          <a:noFill/>
        </p:spPr>
        <p:txBody>
          <a:bodyPr wrap="square" anchor="t">
            <a:normAutofit/>
          </a:bodyPr>
          <a:lstStyle/>
          <a:p>
            <a:pPr algn="l"/>
            <a:r>
              <a:rPr sz="1250" b="0">
                <a:solidFill>
                  <a:srgbClr val="1C2226"/>
                </a:solidFill>
                <a:latin typeface="Aptos"/>
              </a:rPr>
              <a:t>Tables/collections and one important relationship or document shape.</a:t>
            </a:r>
          </a:p>
        </p:txBody>
      </p:sp>
      <p:sp>
        <p:nvSpPr>
          <p:cNvPr id="11" name="Rounded Rectangle 10"/>
          <p:cNvSpPr/>
          <p:nvPr/>
        </p:nvSpPr>
        <p:spPr>
          <a:xfrm>
            <a:off x="4434840" y="1874519"/>
            <a:ext cx="3200400" cy="1371600"/>
          </a:xfrm>
          <a:prstGeom prst="roundRect">
            <a:avLst/>
          </a:prstGeom>
          <a:solidFill>
            <a:srgbClr val="D8EEE1"/>
          </a:solidFill>
          <a:ln w="12700">
            <a:solidFill>
              <a:srgbClr val="D6CC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1" y="2002536"/>
            <a:ext cx="2871216" cy="237744"/>
          </a:xfrm>
          <a:prstGeom prst="rect">
            <a:avLst/>
          </a:prstGeom>
          <a:noFill/>
        </p:spPr>
        <p:txBody>
          <a:bodyPr wrap="square" anchor="t">
            <a:normAutofit/>
          </a:bodyPr>
          <a:lstStyle/>
          <a:p>
            <a:pPr algn="l"/>
            <a:r>
              <a:rPr sz="1320" b="1">
                <a:solidFill>
                  <a:srgbClr val="116763"/>
                </a:solidFill>
                <a:latin typeface="Aptos"/>
              </a:rPr>
              <a:t>Show query</a:t>
            </a:r>
          </a:p>
        </p:txBody>
      </p:sp>
      <p:sp>
        <p:nvSpPr>
          <p:cNvPr id="13" name="TextBox 12"/>
          <p:cNvSpPr txBox="1"/>
          <p:nvPr/>
        </p:nvSpPr>
        <p:spPr>
          <a:xfrm>
            <a:off x="4599431" y="2313432"/>
            <a:ext cx="2871216" cy="859536"/>
          </a:xfrm>
          <a:prstGeom prst="rect">
            <a:avLst/>
          </a:prstGeom>
          <a:noFill/>
        </p:spPr>
        <p:txBody>
          <a:bodyPr wrap="square" anchor="t">
            <a:normAutofit/>
          </a:bodyPr>
          <a:lstStyle/>
          <a:p>
            <a:pPr algn="l"/>
            <a:r>
              <a:rPr sz="1250" b="0">
                <a:solidFill>
                  <a:srgbClr val="1C2226"/>
                </a:solidFill>
                <a:latin typeface="Aptos"/>
              </a:rPr>
              <a:t>One query result that answers a real project question.</a:t>
            </a:r>
          </a:p>
        </p:txBody>
      </p:sp>
      <p:sp>
        <p:nvSpPr>
          <p:cNvPr id="14" name="Rounded Rectangle 13"/>
          <p:cNvSpPr/>
          <p:nvPr/>
        </p:nvSpPr>
        <p:spPr>
          <a:xfrm>
            <a:off x="8046720" y="1874519"/>
            <a:ext cx="3200400" cy="1371600"/>
          </a:xfrm>
          <a:prstGeom prst="roundRect">
            <a:avLst/>
          </a:prstGeom>
          <a:solidFill>
            <a:srgbClr val="FFFFFF"/>
          </a:solidFill>
          <a:ln w="12700">
            <a:solidFill>
              <a:srgbClr val="D6CC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2002536"/>
            <a:ext cx="2871216" cy="237744"/>
          </a:xfrm>
          <a:prstGeom prst="rect">
            <a:avLst/>
          </a:prstGeom>
          <a:noFill/>
        </p:spPr>
        <p:txBody>
          <a:bodyPr wrap="square" anchor="t">
            <a:normAutofit/>
          </a:bodyPr>
          <a:lstStyle/>
          <a:p>
            <a:pPr algn="l"/>
            <a:r>
              <a:rPr sz="1320" b="1">
                <a:solidFill>
                  <a:srgbClr val="116763"/>
                </a:solidFill>
                <a:latin typeface="Aptos"/>
              </a:rPr>
              <a:t>Show admin</a:t>
            </a:r>
          </a:p>
        </p:txBody>
      </p:sp>
      <p:sp>
        <p:nvSpPr>
          <p:cNvPr id="16" name="TextBox 15"/>
          <p:cNvSpPr txBox="1"/>
          <p:nvPr/>
        </p:nvSpPr>
        <p:spPr>
          <a:xfrm>
            <a:off x="8211312" y="2313432"/>
            <a:ext cx="2871216" cy="859536"/>
          </a:xfrm>
          <a:prstGeom prst="rect">
            <a:avLst/>
          </a:prstGeom>
          <a:noFill/>
        </p:spPr>
        <p:txBody>
          <a:bodyPr wrap="square" anchor="t">
            <a:normAutofit/>
          </a:bodyPr>
          <a:lstStyle/>
          <a:p>
            <a:pPr algn="l"/>
            <a:r>
              <a:rPr sz="1250" b="0">
                <a:solidFill>
                  <a:srgbClr val="1C2226"/>
                </a:solidFill>
                <a:latin typeface="Aptos"/>
              </a:rPr>
              <a:t>One index, access-control concern, or restore checklist.</a:t>
            </a:r>
          </a:p>
        </p:txBody>
      </p:sp>
      <p:sp>
        <p:nvSpPr>
          <p:cNvPr id="17" name="TextBox 16"/>
          <p:cNvSpPr txBox="1"/>
          <p:nvPr/>
        </p:nvSpPr>
        <p:spPr>
          <a:xfrm>
            <a:off x="1097280" y="4480560"/>
            <a:ext cx="9966960" cy="713232"/>
          </a:xfrm>
          <a:prstGeom prst="rect">
            <a:avLst/>
          </a:prstGeom>
          <a:noFill/>
        </p:spPr>
        <p:txBody>
          <a:bodyPr wrap="square" anchor="t">
            <a:normAutofit/>
          </a:bodyPr>
          <a:lstStyle/>
          <a:p>
            <a:pPr algn="ctr"/>
            <a:r>
              <a:rPr sz="2200" b="1">
                <a:solidFill>
                  <a:srgbClr val="1C2226"/>
                </a:solidFill>
                <a:latin typeface="Aptos"/>
              </a:rPr>
              <a:t>If live tools fail, screenshots plus explanation are acceptable evidence.</a:t>
            </a:r>
          </a:p>
        </p:txBody>
      </p:sp>
      <p:sp>
        <p:nvSpPr>
          <p:cNvPr id="18" name="TextBox 17"/>
          <p:cNvSpPr txBox="1"/>
          <p:nvPr/>
        </p:nvSpPr>
        <p:spPr>
          <a:xfrm>
            <a:off x="658368" y="6473952"/>
            <a:ext cx="3200400" cy="201168"/>
          </a:xfrm>
          <a:prstGeom prst="rect">
            <a:avLst/>
          </a:prstGeom>
          <a:noFill/>
        </p:spPr>
        <p:txBody>
          <a:bodyPr wrap="square" anchor="t">
            <a:normAutofit/>
          </a:bodyPr>
          <a:lstStyle/>
          <a:p>
            <a:pPr algn="l"/>
            <a:r>
              <a:rPr sz="850" b="0">
                <a:solidFill>
                  <a:srgbClr val="535C62"/>
                </a:solidFill>
                <a:latin typeface="Aptos"/>
              </a:rPr>
              <a:t>CST4714 | Week 14</a:t>
            </a:r>
          </a:p>
        </p:txBody>
      </p:sp>
      <p:sp>
        <p:nvSpPr>
          <p:cNvPr id="19" name="TextBox 18"/>
          <p:cNvSpPr txBox="1"/>
          <p:nvPr/>
        </p:nvSpPr>
        <p:spPr>
          <a:xfrm>
            <a:off x="11301984" y="6473952"/>
            <a:ext cx="320040" cy="201168"/>
          </a:xfrm>
          <a:prstGeom prst="rect">
            <a:avLst/>
          </a:prstGeom>
          <a:noFill/>
        </p:spPr>
        <p:txBody>
          <a:bodyPr wrap="square" anchor="t">
            <a:normAutofit/>
          </a:bodyPr>
          <a:lstStyle/>
          <a:p>
            <a:pPr algn="r"/>
            <a:r>
              <a:rPr sz="850" b="0">
                <a:solidFill>
                  <a:srgbClr val="535C62"/>
                </a:solidFill>
                <a:latin typeface="Apto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167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18520" y="310896"/>
            <a:ext cx="658368" cy="658368"/>
          </a:xfrm>
          <a:prstGeom prst="ellipse">
            <a:avLst/>
          </a:prstGeom>
          <a:solidFill>
            <a:srgbClr val="F5C4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38912"/>
            <a:ext cx="4389120" cy="237744"/>
          </a:xfrm>
          <a:prstGeom prst="rect">
            <a:avLst/>
          </a:prstGeom>
          <a:noFill/>
        </p:spPr>
        <p:txBody>
          <a:bodyPr wrap="square" anchor="t">
            <a:normAutofit/>
          </a:bodyPr>
          <a:lstStyle/>
          <a:p>
            <a:pPr algn="l"/>
            <a:r>
              <a:rPr sz="950" b="1">
                <a:solidFill>
                  <a:srgbClr val="116763"/>
                </a:solidFill>
                <a:latin typeface="Aptos"/>
              </a:rPr>
              <a:t>CAREER</a:t>
            </a:r>
          </a:p>
        </p:txBody>
      </p:sp>
      <p:sp>
        <p:nvSpPr>
          <p:cNvPr id="6" name="TextBox 5"/>
          <p:cNvSpPr txBox="1"/>
          <p:nvPr/>
        </p:nvSpPr>
        <p:spPr>
          <a:xfrm>
            <a:off x="621792" y="713232"/>
            <a:ext cx="8778240" cy="676656"/>
          </a:xfrm>
          <a:prstGeom prst="rect">
            <a:avLst/>
          </a:prstGeom>
          <a:noFill/>
        </p:spPr>
        <p:txBody>
          <a:bodyPr wrap="square" anchor="t">
            <a:normAutofit/>
          </a:bodyPr>
          <a:lstStyle/>
          <a:p>
            <a:pPr algn="l"/>
            <a:r>
              <a:rPr sz="3000" b="1">
                <a:solidFill>
                  <a:srgbClr val="1C2226"/>
                </a:solidFill>
                <a:latin typeface="Aptos Display"/>
              </a:rPr>
              <a:t>Portfolio and Interview Framing</a:t>
            </a:r>
          </a:p>
        </p:txBody>
      </p:sp>
      <p:sp>
        <p:nvSpPr>
          <p:cNvPr id="7" name="TextBox 6"/>
          <p:cNvSpPr txBox="1"/>
          <p:nvPr/>
        </p:nvSpPr>
        <p:spPr>
          <a:xfrm>
            <a:off x="658368" y="1353312"/>
            <a:ext cx="9326880" cy="347472"/>
          </a:xfrm>
          <a:prstGeom prst="rect">
            <a:avLst/>
          </a:prstGeom>
          <a:noFill/>
        </p:spPr>
        <p:txBody>
          <a:bodyPr wrap="square" anchor="t">
            <a:normAutofit/>
          </a:bodyPr>
          <a:lstStyle/>
          <a:p>
            <a:pPr algn="l"/>
            <a:r>
              <a:rPr sz="1400" b="0">
                <a:solidFill>
                  <a:srgbClr val="535C62"/>
                </a:solidFill>
                <a:latin typeface="Aptos"/>
              </a:rPr>
              <a:t>The final project can become a short career story.</a:t>
            </a:r>
          </a:p>
        </p:txBody>
      </p:sp>
      <p:sp>
        <p:nvSpPr>
          <p:cNvPr id="8" name="TextBox 7"/>
          <p:cNvSpPr txBox="1"/>
          <p:nvPr/>
        </p:nvSpPr>
        <p:spPr>
          <a:xfrm>
            <a:off x="960120" y="1874519"/>
            <a:ext cx="10287000" cy="3611880"/>
          </a:xfrm>
          <a:prstGeom prst="rect">
            <a:avLst/>
          </a:prstGeom>
          <a:noFill/>
        </p:spPr>
        <p:txBody>
          <a:bodyPr wrap="square">
            <a:normAutofit/>
          </a:bodyPr>
          <a:lstStyle/>
          <a:p>
            <a:pPr>
              <a:spcAft>
                <a:spcPts val="500"/>
              </a:spcAft>
              <a:defRPr sz="1800">
                <a:solidFill>
                  <a:srgbClr val="1C2226"/>
                </a:solidFill>
                <a:latin typeface="Aptos"/>
              </a:defRPr>
            </a:pPr>
            <a:r>
              <a:t>I chose a database platform based on data shape.</a:t>
            </a:r>
          </a:p>
          <a:p>
            <a:pPr>
              <a:spcAft>
                <a:spcPts val="500"/>
              </a:spcAft>
              <a:defRPr sz="1800">
                <a:solidFill>
                  <a:srgbClr val="1C2226"/>
                </a:solidFill>
                <a:latin typeface="Aptos"/>
              </a:defRPr>
            </a:pPr>
            <a:r>
              <a:t>I modeled data for real queries.</a:t>
            </a:r>
          </a:p>
          <a:p>
            <a:pPr>
              <a:spcAft>
                <a:spcPts val="500"/>
              </a:spcAft>
              <a:defRPr sz="1800">
                <a:solidFill>
                  <a:srgbClr val="1C2226"/>
                </a:solidFill>
                <a:latin typeface="Aptos"/>
              </a:defRPr>
            </a:pPr>
            <a:r>
              <a:t>I loaded or created seed data.</a:t>
            </a:r>
          </a:p>
          <a:p>
            <a:pPr>
              <a:spcAft>
                <a:spcPts val="500"/>
              </a:spcAft>
              <a:defRPr sz="1800">
                <a:solidFill>
                  <a:srgbClr val="1C2226"/>
                </a:solidFill>
                <a:latin typeface="Aptos"/>
              </a:defRPr>
            </a:pPr>
            <a:r>
              <a:t>I wrote queries that answer user questions.</a:t>
            </a:r>
          </a:p>
          <a:p>
            <a:pPr>
              <a:spcAft>
                <a:spcPts val="500"/>
              </a:spcAft>
              <a:defRPr sz="1800">
                <a:solidFill>
                  <a:srgbClr val="1C2226"/>
                </a:solidFill>
                <a:latin typeface="Aptos"/>
              </a:defRPr>
            </a:pPr>
            <a:r>
              <a:t>I made an index/admin/reliability decision.</a:t>
            </a:r>
          </a:p>
          <a:p>
            <a:pPr>
              <a:spcAft>
                <a:spcPts val="500"/>
              </a:spcAft>
              <a:defRPr sz="1800">
                <a:solidFill>
                  <a:srgbClr val="1C2226"/>
                </a:solidFill>
                <a:latin typeface="Aptos"/>
              </a:defRPr>
            </a:pPr>
            <a:r>
              <a:t>I can explain what I would improve next.</a:t>
            </a:r>
          </a:p>
        </p:txBody>
      </p:sp>
      <p:sp>
        <p:nvSpPr>
          <p:cNvPr id="9" name="TextBox 8"/>
          <p:cNvSpPr txBox="1"/>
          <p:nvPr/>
        </p:nvSpPr>
        <p:spPr>
          <a:xfrm>
            <a:off x="658368" y="6473952"/>
            <a:ext cx="3200400" cy="201168"/>
          </a:xfrm>
          <a:prstGeom prst="rect">
            <a:avLst/>
          </a:prstGeom>
          <a:noFill/>
        </p:spPr>
        <p:txBody>
          <a:bodyPr wrap="square" anchor="t">
            <a:normAutofit/>
          </a:bodyPr>
          <a:lstStyle/>
          <a:p>
            <a:pPr algn="l"/>
            <a:r>
              <a:rPr sz="850" b="0">
                <a:solidFill>
                  <a:srgbClr val="535C62"/>
                </a:solidFill>
                <a:latin typeface="Aptos"/>
              </a:rPr>
              <a:t>CST4714 | Week 14</a:t>
            </a:r>
          </a:p>
        </p:txBody>
      </p:sp>
      <p:sp>
        <p:nvSpPr>
          <p:cNvPr id="10" name="TextBox 9"/>
          <p:cNvSpPr txBox="1"/>
          <p:nvPr/>
        </p:nvSpPr>
        <p:spPr>
          <a:xfrm>
            <a:off x="11301984" y="6473952"/>
            <a:ext cx="320040" cy="201168"/>
          </a:xfrm>
          <a:prstGeom prst="rect">
            <a:avLst/>
          </a:prstGeom>
          <a:noFill/>
        </p:spPr>
        <p:txBody>
          <a:bodyPr wrap="square" anchor="t">
            <a:normAutofit/>
          </a:bodyPr>
          <a:lstStyle/>
          <a:p>
            <a:pPr algn="r"/>
            <a:r>
              <a:rPr sz="850" b="0">
                <a:solidFill>
                  <a:srgbClr val="535C62"/>
                </a:solidFill>
                <a:latin typeface="Apto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167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18520" y="310896"/>
            <a:ext cx="658368" cy="658368"/>
          </a:xfrm>
          <a:prstGeom prst="ellipse">
            <a:avLst/>
          </a:prstGeom>
          <a:solidFill>
            <a:srgbClr val="F5C4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38912"/>
            <a:ext cx="4389120" cy="237744"/>
          </a:xfrm>
          <a:prstGeom prst="rect">
            <a:avLst/>
          </a:prstGeom>
          <a:noFill/>
        </p:spPr>
        <p:txBody>
          <a:bodyPr wrap="square" anchor="t">
            <a:normAutofit/>
          </a:bodyPr>
          <a:lstStyle/>
          <a:p>
            <a:pPr algn="l"/>
            <a:r>
              <a:rPr sz="950" b="1">
                <a:solidFill>
                  <a:srgbClr val="116763"/>
                </a:solidFill>
                <a:latin typeface="Aptos"/>
              </a:rPr>
              <a:t>WORK TIME</a:t>
            </a:r>
          </a:p>
        </p:txBody>
      </p:sp>
      <p:sp>
        <p:nvSpPr>
          <p:cNvPr id="6" name="TextBox 5"/>
          <p:cNvSpPr txBox="1"/>
          <p:nvPr/>
        </p:nvSpPr>
        <p:spPr>
          <a:xfrm>
            <a:off x="621792" y="713232"/>
            <a:ext cx="8778240" cy="676656"/>
          </a:xfrm>
          <a:prstGeom prst="rect">
            <a:avLst/>
          </a:prstGeom>
          <a:noFill/>
        </p:spPr>
        <p:txBody>
          <a:bodyPr wrap="square" anchor="t">
            <a:normAutofit/>
          </a:bodyPr>
          <a:lstStyle/>
          <a:p>
            <a:pPr algn="l"/>
            <a:r>
              <a:rPr sz="3000" b="1">
                <a:solidFill>
                  <a:srgbClr val="1C2226"/>
                </a:solidFill>
                <a:latin typeface="Aptos Display"/>
              </a:rPr>
              <a:t>Class 1 Lab</a:t>
            </a:r>
          </a:p>
        </p:txBody>
      </p:sp>
      <p:sp>
        <p:nvSpPr>
          <p:cNvPr id="7" name="TextBox 6"/>
          <p:cNvSpPr txBox="1"/>
          <p:nvPr/>
        </p:nvSpPr>
        <p:spPr>
          <a:xfrm>
            <a:off x="658368" y="1353312"/>
            <a:ext cx="9326880" cy="347472"/>
          </a:xfrm>
          <a:prstGeom prst="rect">
            <a:avLst/>
          </a:prstGeom>
          <a:noFill/>
        </p:spPr>
        <p:txBody>
          <a:bodyPr wrap="square" anchor="t">
            <a:normAutofit/>
          </a:bodyPr>
          <a:lstStyle/>
          <a:p>
            <a:pPr algn="l"/>
            <a:r>
              <a:rPr sz="1400" b="0">
                <a:solidFill>
                  <a:srgbClr val="535C62"/>
                </a:solidFill>
                <a:latin typeface="Aptos"/>
              </a:rPr>
              <a:t>Final Project Admin Evidence Check.</a:t>
            </a:r>
          </a:p>
        </p:txBody>
      </p:sp>
      <p:sp>
        <p:nvSpPr>
          <p:cNvPr id="8" name="Rounded Rectangle 7"/>
          <p:cNvSpPr/>
          <p:nvPr/>
        </p:nvSpPr>
        <p:spPr>
          <a:xfrm>
            <a:off x="822960" y="1828800"/>
            <a:ext cx="3108960" cy="1325880"/>
          </a:xfrm>
          <a:prstGeom prst="roundRect">
            <a:avLst/>
          </a:prstGeom>
          <a:solidFill>
            <a:srgbClr val="FFFFFF"/>
          </a:solidFill>
          <a:ln w="12700">
            <a:solidFill>
              <a:srgbClr val="D6CC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956816"/>
            <a:ext cx="2779776" cy="237744"/>
          </a:xfrm>
          <a:prstGeom prst="rect">
            <a:avLst/>
          </a:prstGeom>
          <a:noFill/>
        </p:spPr>
        <p:txBody>
          <a:bodyPr wrap="square" anchor="t">
            <a:normAutofit/>
          </a:bodyPr>
          <a:lstStyle/>
          <a:p>
            <a:pPr algn="l"/>
            <a:r>
              <a:rPr sz="1320" b="1">
                <a:solidFill>
                  <a:srgbClr val="116763"/>
                </a:solidFill>
                <a:latin typeface="Aptos"/>
              </a:rPr>
              <a:t>Access</a:t>
            </a:r>
          </a:p>
        </p:txBody>
      </p:sp>
      <p:sp>
        <p:nvSpPr>
          <p:cNvPr id="10" name="TextBox 9"/>
          <p:cNvSpPr txBox="1"/>
          <p:nvPr/>
        </p:nvSpPr>
        <p:spPr>
          <a:xfrm>
            <a:off x="987552" y="2267712"/>
            <a:ext cx="2779776" cy="813815"/>
          </a:xfrm>
          <a:prstGeom prst="rect">
            <a:avLst/>
          </a:prstGeom>
          <a:noFill/>
        </p:spPr>
        <p:txBody>
          <a:bodyPr wrap="square" anchor="t">
            <a:normAutofit/>
          </a:bodyPr>
          <a:lstStyle/>
          <a:p>
            <a:pPr algn="l"/>
            <a:r>
              <a:rPr sz="1250" b="0">
                <a:solidFill>
                  <a:srgbClr val="1C2226"/>
                </a:solidFill>
                <a:latin typeface="Aptos"/>
              </a:rPr>
              <a:t>Permission or review concern.</a:t>
            </a:r>
          </a:p>
        </p:txBody>
      </p:sp>
      <p:sp>
        <p:nvSpPr>
          <p:cNvPr id="11" name="Rounded Rectangle 10"/>
          <p:cNvSpPr/>
          <p:nvPr/>
        </p:nvSpPr>
        <p:spPr>
          <a:xfrm>
            <a:off x="4526280" y="1828800"/>
            <a:ext cx="3108960" cy="1325880"/>
          </a:xfrm>
          <a:prstGeom prst="roundRect">
            <a:avLst/>
          </a:prstGeom>
          <a:solidFill>
            <a:srgbClr val="D8EEE1"/>
          </a:solidFill>
          <a:ln w="12700">
            <a:solidFill>
              <a:srgbClr val="D6CC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90872" y="1956816"/>
            <a:ext cx="2779776" cy="237744"/>
          </a:xfrm>
          <a:prstGeom prst="rect">
            <a:avLst/>
          </a:prstGeom>
          <a:noFill/>
        </p:spPr>
        <p:txBody>
          <a:bodyPr wrap="square" anchor="t">
            <a:normAutofit/>
          </a:bodyPr>
          <a:lstStyle/>
          <a:p>
            <a:pPr algn="l"/>
            <a:r>
              <a:rPr sz="1320" b="1">
                <a:solidFill>
                  <a:srgbClr val="116763"/>
                </a:solidFill>
                <a:latin typeface="Aptos"/>
              </a:rPr>
              <a:t>Restore</a:t>
            </a:r>
          </a:p>
        </p:txBody>
      </p:sp>
      <p:sp>
        <p:nvSpPr>
          <p:cNvPr id="13" name="TextBox 12"/>
          <p:cNvSpPr txBox="1"/>
          <p:nvPr/>
        </p:nvSpPr>
        <p:spPr>
          <a:xfrm>
            <a:off x="4690872" y="2267712"/>
            <a:ext cx="2779776" cy="813815"/>
          </a:xfrm>
          <a:prstGeom prst="rect">
            <a:avLst/>
          </a:prstGeom>
          <a:noFill/>
        </p:spPr>
        <p:txBody>
          <a:bodyPr wrap="square" anchor="t">
            <a:normAutofit/>
          </a:bodyPr>
          <a:lstStyle/>
          <a:p>
            <a:pPr algn="l"/>
            <a:r>
              <a:rPr sz="1250" b="0">
                <a:solidFill>
                  <a:srgbClr val="1C2226"/>
                </a:solidFill>
                <a:latin typeface="Aptos"/>
              </a:rPr>
              <a:t>Backup and verification plan.</a:t>
            </a:r>
          </a:p>
        </p:txBody>
      </p:sp>
      <p:sp>
        <p:nvSpPr>
          <p:cNvPr id="14" name="Rounded Rectangle 13"/>
          <p:cNvSpPr/>
          <p:nvPr/>
        </p:nvSpPr>
        <p:spPr>
          <a:xfrm>
            <a:off x="8229600" y="1828800"/>
            <a:ext cx="3108960" cy="1325880"/>
          </a:xfrm>
          <a:prstGeom prst="roundRect">
            <a:avLst/>
          </a:prstGeom>
          <a:solidFill>
            <a:srgbClr val="FFFFFF"/>
          </a:solidFill>
          <a:ln w="12700">
            <a:solidFill>
              <a:srgbClr val="D6CC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94192" y="1956816"/>
            <a:ext cx="2779776" cy="237744"/>
          </a:xfrm>
          <a:prstGeom prst="rect">
            <a:avLst/>
          </a:prstGeom>
          <a:noFill/>
        </p:spPr>
        <p:txBody>
          <a:bodyPr wrap="square" anchor="t">
            <a:normAutofit/>
          </a:bodyPr>
          <a:lstStyle/>
          <a:p>
            <a:pPr algn="l"/>
            <a:r>
              <a:rPr sz="1320" b="1">
                <a:solidFill>
                  <a:srgbClr val="116763"/>
                </a:solidFill>
                <a:latin typeface="Aptos"/>
              </a:rPr>
              <a:t>Index</a:t>
            </a:r>
          </a:p>
        </p:txBody>
      </p:sp>
      <p:sp>
        <p:nvSpPr>
          <p:cNvPr id="16" name="TextBox 15"/>
          <p:cNvSpPr txBox="1"/>
          <p:nvPr/>
        </p:nvSpPr>
        <p:spPr>
          <a:xfrm>
            <a:off x="8394192" y="2267712"/>
            <a:ext cx="2779776" cy="813815"/>
          </a:xfrm>
          <a:prstGeom prst="rect">
            <a:avLst/>
          </a:prstGeom>
          <a:noFill/>
        </p:spPr>
        <p:txBody>
          <a:bodyPr wrap="square" anchor="t">
            <a:normAutofit/>
          </a:bodyPr>
          <a:lstStyle/>
          <a:p>
            <a:pPr algn="l"/>
            <a:r>
              <a:rPr sz="1250" b="0">
                <a:solidFill>
                  <a:srgbClr val="1C2226"/>
                </a:solidFill>
                <a:latin typeface="Aptos"/>
              </a:rPr>
              <a:t>One performance decision tied to a query.</a:t>
            </a:r>
          </a:p>
        </p:txBody>
      </p:sp>
      <p:sp>
        <p:nvSpPr>
          <p:cNvPr id="17" name="TextBox 16"/>
          <p:cNvSpPr txBox="1"/>
          <p:nvPr/>
        </p:nvSpPr>
        <p:spPr>
          <a:xfrm>
            <a:off x="1097280" y="4480560"/>
            <a:ext cx="9966960" cy="713232"/>
          </a:xfrm>
          <a:prstGeom prst="rect">
            <a:avLst/>
          </a:prstGeom>
          <a:noFill/>
        </p:spPr>
        <p:txBody>
          <a:bodyPr wrap="square" anchor="t">
            <a:normAutofit/>
          </a:bodyPr>
          <a:lstStyle/>
          <a:p>
            <a:pPr algn="ctr"/>
            <a:r>
              <a:rPr sz="2200" b="1">
                <a:solidFill>
                  <a:srgbClr val="1C2226"/>
                </a:solidFill>
                <a:latin typeface="Aptos"/>
              </a:rPr>
              <a:t>This lab turns hidden admin thinking into gradable evidence.</a:t>
            </a:r>
          </a:p>
        </p:txBody>
      </p:sp>
      <p:sp>
        <p:nvSpPr>
          <p:cNvPr id="18" name="TextBox 17"/>
          <p:cNvSpPr txBox="1"/>
          <p:nvPr/>
        </p:nvSpPr>
        <p:spPr>
          <a:xfrm>
            <a:off x="658368" y="6473952"/>
            <a:ext cx="3200400" cy="201168"/>
          </a:xfrm>
          <a:prstGeom prst="rect">
            <a:avLst/>
          </a:prstGeom>
          <a:noFill/>
        </p:spPr>
        <p:txBody>
          <a:bodyPr wrap="square" anchor="t">
            <a:normAutofit/>
          </a:bodyPr>
          <a:lstStyle/>
          <a:p>
            <a:pPr algn="l"/>
            <a:r>
              <a:rPr sz="850" b="0">
                <a:solidFill>
                  <a:srgbClr val="535C62"/>
                </a:solidFill>
                <a:latin typeface="Aptos"/>
              </a:rPr>
              <a:t>CST4714 | Week 14</a:t>
            </a:r>
          </a:p>
        </p:txBody>
      </p:sp>
      <p:sp>
        <p:nvSpPr>
          <p:cNvPr id="19" name="TextBox 18"/>
          <p:cNvSpPr txBox="1"/>
          <p:nvPr/>
        </p:nvSpPr>
        <p:spPr>
          <a:xfrm>
            <a:off x="11301984" y="6473952"/>
            <a:ext cx="320040" cy="201168"/>
          </a:xfrm>
          <a:prstGeom prst="rect">
            <a:avLst/>
          </a:prstGeom>
          <a:noFill/>
        </p:spPr>
        <p:txBody>
          <a:bodyPr wrap="square" anchor="t">
            <a:normAutofit/>
          </a:bodyPr>
          <a:lstStyle/>
          <a:p>
            <a:pPr algn="r"/>
            <a:r>
              <a:rPr sz="850" b="0">
                <a:solidFill>
                  <a:srgbClr val="535C62"/>
                </a:solidFill>
                <a:latin typeface="Apto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167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18520" y="310896"/>
            <a:ext cx="658368" cy="658368"/>
          </a:xfrm>
          <a:prstGeom prst="ellipse">
            <a:avLst/>
          </a:prstGeom>
          <a:solidFill>
            <a:srgbClr val="F5C4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38912"/>
            <a:ext cx="4389120" cy="237744"/>
          </a:xfrm>
          <a:prstGeom prst="rect">
            <a:avLst/>
          </a:prstGeom>
          <a:noFill/>
        </p:spPr>
        <p:txBody>
          <a:bodyPr wrap="square" anchor="t">
            <a:normAutofit/>
          </a:bodyPr>
          <a:lstStyle/>
          <a:p>
            <a:pPr algn="l"/>
            <a:r>
              <a:rPr sz="950" b="1">
                <a:solidFill>
                  <a:srgbClr val="116763"/>
                </a:solidFill>
                <a:latin typeface="Aptos"/>
              </a:rPr>
              <a:t>WORK TIME</a:t>
            </a:r>
          </a:p>
        </p:txBody>
      </p:sp>
      <p:sp>
        <p:nvSpPr>
          <p:cNvPr id="6" name="TextBox 5"/>
          <p:cNvSpPr txBox="1"/>
          <p:nvPr/>
        </p:nvSpPr>
        <p:spPr>
          <a:xfrm>
            <a:off x="621792" y="713232"/>
            <a:ext cx="8778240" cy="676656"/>
          </a:xfrm>
          <a:prstGeom prst="rect">
            <a:avLst/>
          </a:prstGeom>
          <a:noFill/>
        </p:spPr>
        <p:txBody>
          <a:bodyPr wrap="square" anchor="t">
            <a:normAutofit/>
          </a:bodyPr>
          <a:lstStyle/>
          <a:p>
            <a:pPr algn="l"/>
            <a:r>
              <a:rPr sz="3000" b="1">
                <a:solidFill>
                  <a:srgbClr val="1C2226"/>
                </a:solidFill>
                <a:latin typeface="Aptos Display"/>
              </a:rPr>
              <a:t>Class 2 Lab</a:t>
            </a:r>
          </a:p>
        </p:txBody>
      </p:sp>
      <p:sp>
        <p:nvSpPr>
          <p:cNvPr id="7" name="TextBox 6"/>
          <p:cNvSpPr txBox="1"/>
          <p:nvPr/>
        </p:nvSpPr>
        <p:spPr>
          <a:xfrm>
            <a:off x="658368" y="1353312"/>
            <a:ext cx="9326880" cy="347472"/>
          </a:xfrm>
          <a:prstGeom prst="rect">
            <a:avLst/>
          </a:prstGeom>
          <a:noFill/>
        </p:spPr>
        <p:txBody>
          <a:bodyPr wrap="square" anchor="t">
            <a:normAutofit/>
          </a:bodyPr>
          <a:lstStyle/>
          <a:p>
            <a:pPr algn="l"/>
            <a:r>
              <a:rPr sz="1400" b="0">
                <a:solidFill>
                  <a:srgbClr val="535C62"/>
                </a:solidFill>
                <a:latin typeface="Aptos"/>
              </a:rPr>
              <a:t>Report, Presentation, and Submission Check.</a:t>
            </a:r>
          </a:p>
        </p:txBody>
      </p:sp>
      <p:sp>
        <p:nvSpPr>
          <p:cNvPr id="8" name="Rounded Rectangle 7"/>
          <p:cNvSpPr/>
          <p:nvPr/>
        </p:nvSpPr>
        <p:spPr>
          <a:xfrm>
            <a:off x="822960" y="1828800"/>
            <a:ext cx="3108960" cy="1325880"/>
          </a:xfrm>
          <a:prstGeom prst="roundRect">
            <a:avLst/>
          </a:prstGeom>
          <a:solidFill>
            <a:srgbClr val="D8EEE1"/>
          </a:solidFill>
          <a:ln w="12700">
            <a:solidFill>
              <a:srgbClr val="D6CC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956816"/>
            <a:ext cx="2779776" cy="237744"/>
          </a:xfrm>
          <a:prstGeom prst="rect">
            <a:avLst/>
          </a:prstGeom>
          <a:noFill/>
        </p:spPr>
        <p:txBody>
          <a:bodyPr wrap="square" anchor="t">
            <a:normAutofit/>
          </a:bodyPr>
          <a:lstStyle/>
          <a:p>
            <a:pPr algn="l"/>
            <a:r>
              <a:rPr sz="1320" b="1">
                <a:solidFill>
                  <a:srgbClr val="116763"/>
                </a:solidFill>
                <a:latin typeface="Aptos"/>
              </a:rPr>
              <a:t>Report</a:t>
            </a:r>
          </a:p>
        </p:txBody>
      </p:sp>
      <p:sp>
        <p:nvSpPr>
          <p:cNvPr id="10" name="TextBox 9"/>
          <p:cNvSpPr txBox="1"/>
          <p:nvPr/>
        </p:nvSpPr>
        <p:spPr>
          <a:xfrm>
            <a:off x="987552" y="2267712"/>
            <a:ext cx="2779776" cy="813815"/>
          </a:xfrm>
          <a:prstGeom prst="rect">
            <a:avLst/>
          </a:prstGeom>
          <a:noFill/>
        </p:spPr>
        <p:txBody>
          <a:bodyPr wrap="square" anchor="t">
            <a:normAutofit/>
          </a:bodyPr>
          <a:lstStyle/>
          <a:p>
            <a:pPr algn="l"/>
            <a:r>
              <a:rPr sz="1250" b="0">
                <a:solidFill>
                  <a:srgbClr val="1C2226"/>
                </a:solidFill>
                <a:latin typeface="Aptos"/>
              </a:rPr>
              <a:t>Outline the 700-1000 word explanation.</a:t>
            </a:r>
          </a:p>
        </p:txBody>
      </p:sp>
      <p:sp>
        <p:nvSpPr>
          <p:cNvPr id="11" name="Rounded Rectangle 10"/>
          <p:cNvSpPr/>
          <p:nvPr/>
        </p:nvSpPr>
        <p:spPr>
          <a:xfrm>
            <a:off x="4526280" y="1828800"/>
            <a:ext cx="3108960" cy="1325880"/>
          </a:xfrm>
          <a:prstGeom prst="roundRect">
            <a:avLst/>
          </a:prstGeom>
          <a:solidFill>
            <a:srgbClr val="FFFFFF"/>
          </a:solidFill>
          <a:ln w="12700">
            <a:solidFill>
              <a:srgbClr val="D6CC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90872" y="1956816"/>
            <a:ext cx="2779776" cy="237744"/>
          </a:xfrm>
          <a:prstGeom prst="rect">
            <a:avLst/>
          </a:prstGeom>
          <a:noFill/>
        </p:spPr>
        <p:txBody>
          <a:bodyPr wrap="square" anchor="t">
            <a:normAutofit/>
          </a:bodyPr>
          <a:lstStyle/>
          <a:p>
            <a:pPr algn="l"/>
            <a:r>
              <a:rPr sz="1320" b="1">
                <a:solidFill>
                  <a:srgbClr val="116763"/>
                </a:solidFill>
                <a:latin typeface="Aptos"/>
              </a:rPr>
              <a:t>Presentation</a:t>
            </a:r>
          </a:p>
        </p:txBody>
      </p:sp>
      <p:sp>
        <p:nvSpPr>
          <p:cNvPr id="13" name="TextBox 12"/>
          <p:cNvSpPr txBox="1"/>
          <p:nvPr/>
        </p:nvSpPr>
        <p:spPr>
          <a:xfrm>
            <a:off x="4690872" y="2267712"/>
            <a:ext cx="2779776" cy="813815"/>
          </a:xfrm>
          <a:prstGeom prst="rect">
            <a:avLst/>
          </a:prstGeom>
          <a:noFill/>
        </p:spPr>
        <p:txBody>
          <a:bodyPr wrap="square" anchor="t">
            <a:normAutofit/>
          </a:bodyPr>
          <a:lstStyle/>
          <a:p>
            <a:pPr algn="l"/>
            <a:r>
              <a:rPr sz="1250" b="0">
                <a:solidFill>
                  <a:srgbClr val="1C2226"/>
                </a:solidFill>
                <a:latin typeface="Aptos"/>
              </a:rPr>
              <a:t>Plan the 5-7 minute project story.</a:t>
            </a:r>
          </a:p>
        </p:txBody>
      </p:sp>
      <p:sp>
        <p:nvSpPr>
          <p:cNvPr id="14" name="Rounded Rectangle 13"/>
          <p:cNvSpPr/>
          <p:nvPr/>
        </p:nvSpPr>
        <p:spPr>
          <a:xfrm>
            <a:off x="8229600" y="1828800"/>
            <a:ext cx="3108960" cy="1325880"/>
          </a:xfrm>
          <a:prstGeom prst="roundRect">
            <a:avLst/>
          </a:prstGeom>
          <a:solidFill>
            <a:srgbClr val="FFFFFF"/>
          </a:solidFill>
          <a:ln w="12700">
            <a:solidFill>
              <a:srgbClr val="D6CC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94192" y="1956816"/>
            <a:ext cx="2779776" cy="237744"/>
          </a:xfrm>
          <a:prstGeom prst="rect">
            <a:avLst/>
          </a:prstGeom>
          <a:noFill/>
        </p:spPr>
        <p:txBody>
          <a:bodyPr wrap="square" anchor="t">
            <a:normAutofit/>
          </a:bodyPr>
          <a:lstStyle/>
          <a:p>
            <a:pPr algn="l"/>
            <a:r>
              <a:rPr sz="1320" b="1">
                <a:solidFill>
                  <a:srgbClr val="116763"/>
                </a:solidFill>
                <a:latin typeface="Aptos"/>
              </a:rPr>
              <a:t>Submit</a:t>
            </a:r>
          </a:p>
        </p:txBody>
      </p:sp>
      <p:sp>
        <p:nvSpPr>
          <p:cNvPr id="16" name="TextBox 15"/>
          <p:cNvSpPr txBox="1"/>
          <p:nvPr/>
        </p:nvSpPr>
        <p:spPr>
          <a:xfrm>
            <a:off x="8394192" y="2267712"/>
            <a:ext cx="2779776" cy="813815"/>
          </a:xfrm>
          <a:prstGeom prst="rect">
            <a:avLst/>
          </a:prstGeom>
          <a:noFill/>
        </p:spPr>
        <p:txBody>
          <a:bodyPr wrap="square" anchor="t">
            <a:normAutofit/>
          </a:bodyPr>
          <a:lstStyle/>
          <a:p>
            <a:pPr algn="l"/>
            <a:r>
              <a:rPr sz="1250" b="0">
                <a:solidFill>
                  <a:srgbClr val="1C2226"/>
                </a:solidFill>
                <a:latin typeface="Aptos"/>
              </a:rPr>
              <a:t>Check every required evidence item.</a:t>
            </a:r>
          </a:p>
        </p:txBody>
      </p:sp>
      <p:sp>
        <p:nvSpPr>
          <p:cNvPr id="17" name="TextBox 16"/>
          <p:cNvSpPr txBox="1"/>
          <p:nvPr/>
        </p:nvSpPr>
        <p:spPr>
          <a:xfrm>
            <a:off x="1097280" y="4480560"/>
            <a:ext cx="9966960" cy="713232"/>
          </a:xfrm>
          <a:prstGeom prst="rect">
            <a:avLst/>
          </a:prstGeom>
          <a:noFill/>
        </p:spPr>
        <p:txBody>
          <a:bodyPr wrap="square" anchor="t">
            <a:normAutofit/>
          </a:bodyPr>
          <a:lstStyle/>
          <a:p>
            <a:pPr algn="ctr"/>
            <a:r>
              <a:rPr sz="2200" b="1">
                <a:solidFill>
                  <a:srgbClr val="1C2226"/>
                </a:solidFill>
                <a:latin typeface="Aptos"/>
              </a:rPr>
              <a:t>The outcome is a final cleanup checklist before May 26, 2026.</a:t>
            </a:r>
          </a:p>
        </p:txBody>
      </p:sp>
      <p:sp>
        <p:nvSpPr>
          <p:cNvPr id="18" name="TextBox 17"/>
          <p:cNvSpPr txBox="1"/>
          <p:nvPr/>
        </p:nvSpPr>
        <p:spPr>
          <a:xfrm>
            <a:off x="658368" y="6473952"/>
            <a:ext cx="3200400" cy="201168"/>
          </a:xfrm>
          <a:prstGeom prst="rect">
            <a:avLst/>
          </a:prstGeom>
          <a:noFill/>
        </p:spPr>
        <p:txBody>
          <a:bodyPr wrap="square" anchor="t">
            <a:normAutofit/>
          </a:bodyPr>
          <a:lstStyle/>
          <a:p>
            <a:pPr algn="l"/>
            <a:r>
              <a:rPr sz="850" b="0">
                <a:solidFill>
                  <a:srgbClr val="535C62"/>
                </a:solidFill>
                <a:latin typeface="Aptos"/>
              </a:rPr>
              <a:t>CST4714 | Week 14</a:t>
            </a:r>
          </a:p>
        </p:txBody>
      </p:sp>
      <p:sp>
        <p:nvSpPr>
          <p:cNvPr id="19" name="TextBox 18"/>
          <p:cNvSpPr txBox="1"/>
          <p:nvPr/>
        </p:nvSpPr>
        <p:spPr>
          <a:xfrm>
            <a:off x="11301984" y="6473952"/>
            <a:ext cx="320040" cy="201168"/>
          </a:xfrm>
          <a:prstGeom prst="rect">
            <a:avLst/>
          </a:prstGeom>
          <a:noFill/>
        </p:spPr>
        <p:txBody>
          <a:bodyPr wrap="square" anchor="t">
            <a:normAutofit/>
          </a:bodyPr>
          <a:lstStyle/>
          <a:p>
            <a:pPr algn="r"/>
            <a:r>
              <a:rPr sz="850" b="0">
                <a:solidFill>
                  <a:srgbClr val="535C62"/>
                </a:solidFill>
                <a:latin typeface="Apto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167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18520" y="310896"/>
            <a:ext cx="658368" cy="658368"/>
          </a:xfrm>
          <a:prstGeom prst="ellipse">
            <a:avLst/>
          </a:prstGeom>
          <a:solidFill>
            <a:srgbClr val="F5C4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38912"/>
            <a:ext cx="4389120" cy="237744"/>
          </a:xfrm>
          <a:prstGeom prst="rect">
            <a:avLst/>
          </a:prstGeom>
          <a:noFill/>
        </p:spPr>
        <p:txBody>
          <a:bodyPr wrap="square" anchor="t">
            <a:normAutofit/>
          </a:bodyPr>
          <a:lstStyle/>
          <a:p>
            <a:pPr algn="l"/>
            <a:r>
              <a:rPr sz="950" b="1">
                <a:solidFill>
                  <a:srgbClr val="116763"/>
                </a:solidFill>
                <a:latin typeface="Aptos"/>
              </a:rPr>
              <a:t>FINISH LINE</a:t>
            </a:r>
          </a:p>
        </p:txBody>
      </p:sp>
      <p:sp>
        <p:nvSpPr>
          <p:cNvPr id="6" name="TextBox 5"/>
          <p:cNvSpPr txBox="1"/>
          <p:nvPr/>
        </p:nvSpPr>
        <p:spPr>
          <a:xfrm>
            <a:off x="621792" y="713232"/>
            <a:ext cx="8778240" cy="676656"/>
          </a:xfrm>
          <a:prstGeom prst="rect">
            <a:avLst/>
          </a:prstGeom>
          <a:noFill/>
        </p:spPr>
        <p:txBody>
          <a:bodyPr wrap="square" anchor="t">
            <a:normAutofit/>
          </a:bodyPr>
          <a:lstStyle/>
          <a:p>
            <a:pPr algn="l"/>
            <a:r>
              <a:rPr sz="3000" b="1">
                <a:solidFill>
                  <a:srgbClr val="1C2226"/>
                </a:solidFill>
                <a:latin typeface="Aptos Display"/>
              </a:rPr>
              <a:t>May 26 Checklist</a:t>
            </a:r>
          </a:p>
        </p:txBody>
      </p:sp>
      <p:sp>
        <p:nvSpPr>
          <p:cNvPr id="7" name="TextBox 6"/>
          <p:cNvSpPr txBox="1"/>
          <p:nvPr/>
        </p:nvSpPr>
        <p:spPr>
          <a:xfrm>
            <a:off x="658368" y="1353312"/>
            <a:ext cx="9326880" cy="347472"/>
          </a:xfrm>
          <a:prstGeom prst="rect">
            <a:avLst/>
          </a:prstGeom>
          <a:noFill/>
        </p:spPr>
        <p:txBody>
          <a:bodyPr wrap="square" anchor="t">
            <a:normAutofit/>
          </a:bodyPr>
          <a:lstStyle/>
          <a:p>
            <a:pPr algn="l"/>
            <a:r>
              <a:rPr sz="1400" b="0">
                <a:solidFill>
                  <a:srgbClr val="535C62"/>
                </a:solidFill>
                <a:latin typeface="Aptos"/>
              </a:rPr>
              <a:t>Students should be able to check every item before submitting.</a:t>
            </a:r>
          </a:p>
        </p:txBody>
      </p:sp>
      <p:sp>
        <p:nvSpPr>
          <p:cNvPr id="8" name="TextBox 7"/>
          <p:cNvSpPr txBox="1"/>
          <p:nvPr/>
        </p:nvSpPr>
        <p:spPr>
          <a:xfrm>
            <a:off x="960120" y="1874519"/>
            <a:ext cx="10287000" cy="3611880"/>
          </a:xfrm>
          <a:prstGeom prst="rect">
            <a:avLst/>
          </a:prstGeom>
          <a:noFill/>
        </p:spPr>
        <p:txBody>
          <a:bodyPr wrap="square">
            <a:normAutofit/>
          </a:bodyPr>
          <a:lstStyle/>
          <a:p>
            <a:pPr>
              <a:spcAft>
                <a:spcPts val="500"/>
              </a:spcAft>
              <a:defRPr sz="1800">
                <a:solidFill>
                  <a:srgbClr val="1C2226"/>
                </a:solidFill>
                <a:latin typeface="Aptos"/>
              </a:defRPr>
            </a:pPr>
            <a:r>
              <a:t>data model evidence is clear</a:t>
            </a:r>
          </a:p>
          <a:p>
            <a:pPr>
              <a:spcAft>
                <a:spcPts val="500"/>
              </a:spcAft>
              <a:defRPr sz="1800">
                <a:solidFill>
                  <a:srgbClr val="1C2226"/>
                </a:solidFill>
                <a:latin typeface="Aptos"/>
              </a:defRPr>
            </a:pPr>
            <a:r>
              <a:t>seed data exists and can be explained</a:t>
            </a:r>
          </a:p>
          <a:p>
            <a:pPr>
              <a:spcAft>
                <a:spcPts val="500"/>
              </a:spcAft>
              <a:defRPr sz="1800">
                <a:solidFill>
                  <a:srgbClr val="1C2226"/>
                </a:solidFill>
                <a:latin typeface="Aptos"/>
              </a:defRPr>
            </a:pPr>
            <a:r>
              <a:t>at least four queries are included</a:t>
            </a:r>
          </a:p>
          <a:p>
            <a:pPr>
              <a:spcAft>
                <a:spcPts val="500"/>
              </a:spcAft>
              <a:defRPr sz="1800">
                <a:solidFill>
                  <a:srgbClr val="1C2226"/>
                </a:solidFill>
                <a:latin typeface="Aptos"/>
              </a:defRPr>
            </a:pPr>
            <a:r>
              <a:t>one index decision is explained</a:t>
            </a:r>
          </a:p>
          <a:p>
            <a:pPr>
              <a:spcAft>
                <a:spcPts val="500"/>
              </a:spcAft>
              <a:defRPr sz="1800">
                <a:solidFill>
                  <a:srgbClr val="1C2226"/>
                </a:solidFill>
                <a:latin typeface="Aptos"/>
              </a:defRPr>
            </a:pPr>
            <a:r>
              <a:t>access-control concern is included</a:t>
            </a:r>
          </a:p>
          <a:p>
            <a:pPr>
              <a:spcAft>
                <a:spcPts val="500"/>
              </a:spcAft>
              <a:defRPr sz="1800">
                <a:solidFill>
                  <a:srgbClr val="1C2226"/>
                </a:solidFill>
                <a:latin typeface="Aptos"/>
              </a:defRPr>
            </a:pPr>
            <a:r>
              <a:t>backup/restore checklist is included</a:t>
            </a:r>
          </a:p>
          <a:p>
            <a:pPr>
              <a:spcAft>
                <a:spcPts val="500"/>
              </a:spcAft>
              <a:defRPr sz="1800">
                <a:solidFill>
                  <a:srgbClr val="1C2226"/>
                </a:solidFill>
                <a:latin typeface="Aptos"/>
              </a:defRPr>
            </a:pPr>
            <a:r>
              <a:t>instructor can verify the project</a:t>
            </a:r>
          </a:p>
          <a:p>
            <a:pPr>
              <a:spcAft>
                <a:spcPts val="500"/>
              </a:spcAft>
              <a:defRPr sz="1800">
                <a:solidFill>
                  <a:srgbClr val="1C2226"/>
                </a:solidFill>
                <a:latin typeface="Aptos"/>
              </a:defRPr>
            </a:pPr>
            <a:r>
              <a:t>report and presentation are ready</a:t>
            </a:r>
          </a:p>
        </p:txBody>
      </p:sp>
      <p:sp>
        <p:nvSpPr>
          <p:cNvPr id="9" name="TextBox 8"/>
          <p:cNvSpPr txBox="1"/>
          <p:nvPr/>
        </p:nvSpPr>
        <p:spPr>
          <a:xfrm>
            <a:off x="658368" y="6473952"/>
            <a:ext cx="3200400" cy="201168"/>
          </a:xfrm>
          <a:prstGeom prst="rect">
            <a:avLst/>
          </a:prstGeom>
          <a:noFill/>
        </p:spPr>
        <p:txBody>
          <a:bodyPr wrap="square" anchor="t">
            <a:normAutofit/>
          </a:bodyPr>
          <a:lstStyle/>
          <a:p>
            <a:pPr algn="l"/>
            <a:r>
              <a:rPr sz="850" b="0">
                <a:solidFill>
                  <a:srgbClr val="535C62"/>
                </a:solidFill>
                <a:latin typeface="Aptos"/>
              </a:rPr>
              <a:t>CST4714 | Week 14</a:t>
            </a:r>
          </a:p>
        </p:txBody>
      </p:sp>
      <p:sp>
        <p:nvSpPr>
          <p:cNvPr id="10" name="TextBox 9"/>
          <p:cNvSpPr txBox="1"/>
          <p:nvPr/>
        </p:nvSpPr>
        <p:spPr>
          <a:xfrm>
            <a:off x="11301984" y="6473952"/>
            <a:ext cx="320040" cy="201168"/>
          </a:xfrm>
          <a:prstGeom prst="rect">
            <a:avLst/>
          </a:prstGeom>
          <a:noFill/>
        </p:spPr>
        <p:txBody>
          <a:bodyPr wrap="square" anchor="t">
            <a:normAutofit/>
          </a:bodyPr>
          <a:lstStyle/>
          <a:p>
            <a:pPr algn="r"/>
            <a:r>
              <a:rPr sz="850" b="0">
                <a:solidFill>
                  <a:srgbClr val="535C62"/>
                </a:solidFill>
                <a:latin typeface="Apto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0" cy="6858000"/>
          </a:xfrm>
          <a:prstGeom prst="rect">
            <a:avLst/>
          </a:prstGeom>
          <a:solidFill>
            <a:srgbClr val="248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0"/>
            <a:ext cx="91440" cy="6858000"/>
          </a:xfrm>
          <a:prstGeom prst="rect">
            <a:avLst/>
          </a:prstGeom>
          <a:solidFill>
            <a:srgbClr val="DA9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98448" y="320040"/>
            <a:ext cx="2743200" cy="228600"/>
          </a:xfrm>
          <a:prstGeom prst="rect">
            <a:avLst/>
          </a:prstGeom>
          <a:noFill/>
        </p:spPr>
        <p:txBody>
          <a:bodyPr wrap="none">
            <a:spAutoFit/>
          </a:bodyPr>
          <a:lstStyle/>
          <a:p>
            <a:r>
              <a:rPr sz="1200" b="1">
                <a:solidFill>
                  <a:srgbClr val="248B68"/>
                </a:solidFill>
                <a:latin typeface="Aptos"/>
              </a:rPr>
              <a:t>SUPABASE REVIEW</a:t>
            </a:r>
          </a:p>
        </p:txBody>
      </p:sp>
      <p:sp>
        <p:nvSpPr>
          <p:cNvPr id="6" name="TextBox 5"/>
          <p:cNvSpPr txBox="1"/>
          <p:nvPr/>
        </p:nvSpPr>
        <p:spPr>
          <a:xfrm>
            <a:off x="1280160" y="621792"/>
            <a:ext cx="8595360" cy="502920"/>
          </a:xfrm>
          <a:prstGeom prst="rect">
            <a:avLst/>
          </a:prstGeom>
          <a:noFill/>
        </p:spPr>
        <p:txBody>
          <a:bodyPr wrap="none">
            <a:spAutoFit/>
          </a:bodyPr>
          <a:lstStyle/>
          <a:p>
            <a:r>
              <a:rPr sz="3200" b="1">
                <a:solidFill>
                  <a:srgbClr val="182632"/>
                </a:solidFill>
                <a:latin typeface="Aptos"/>
              </a:rPr>
              <a:t>Supabase Is Postgres Plus a Dashboard</a:t>
            </a:r>
          </a:p>
        </p:txBody>
      </p:sp>
      <p:sp>
        <p:nvSpPr>
          <p:cNvPr id="7" name="TextBox 6"/>
          <p:cNvSpPr txBox="1"/>
          <p:nvPr/>
        </p:nvSpPr>
        <p:spPr>
          <a:xfrm>
            <a:off x="1316736" y="1152144"/>
            <a:ext cx="8732520" cy="411480"/>
          </a:xfrm>
          <a:prstGeom prst="rect">
            <a:avLst/>
          </a:prstGeom>
          <a:noFill/>
        </p:spPr>
        <p:txBody>
          <a:bodyPr wrap="square" lIns="54864" rIns="54864" tIns="27432" bIns="27432">
            <a:spAutoFit/>
          </a:bodyPr>
          <a:lstStyle/>
          <a:p>
            <a:pPr>
              <a:lnSpc>
                <a:spcPct val="105000"/>
              </a:lnSpc>
            </a:pPr>
            <a:r>
              <a:rPr sz="1600" b="0">
                <a:solidFill>
                  <a:srgbClr val="5C656E"/>
                </a:solidFill>
                <a:latin typeface="Aptos"/>
              </a:rPr>
              <a:t>For the final project, grade the database evidence, not whether the student built a full app.</a:t>
            </a:r>
          </a:p>
        </p:txBody>
      </p:sp>
      <p:sp>
        <p:nvSpPr>
          <p:cNvPr id="8" name="Rounded Rectangle 7"/>
          <p:cNvSpPr/>
          <p:nvPr/>
        </p:nvSpPr>
        <p:spPr>
          <a:xfrm>
            <a:off x="1325880" y="1874519"/>
            <a:ext cx="4343400" cy="1307592"/>
          </a:xfrm>
          <a:prstGeom prst="roundRect">
            <a:avLst/>
          </a:prstGeom>
          <a:solidFill>
            <a:srgbClr val="FFFFFF"/>
          </a:solidFill>
          <a:ln>
            <a:solidFill>
              <a:srgbClr val="DB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7048" y="2020823"/>
            <a:ext cx="3941064" cy="237744"/>
          </a:xfrm>
          <a:prstGeom prst="rect">
            <a:avLst/>
          </a:prstGeom>
          <a:noFill/>
        </p:spPr>
        <p:txBody>
          <a:bodyPr wrap="none">
            <a:spAutoFit/>
          </a:bodyPr>
          <a:lstStyle/>
          <a:p>
            <a:r>
              <a:rPr sz="1500" b="1">
                <a:solidFill>
                  <a:srgbClr val="143D30"/>
                </a:solidFill>
                <a:latin typeface="Aptos"/>
              </a:rPr>
              <a:t>Database</a:t>
            </a:r>
          </a:p>
        </p:txBody>
      </p:sp>
      <p:sp>
        <p:nvSpPr>
          <p:cNvPr id="10" name="TextBox 9"/>
          <p:cNvSpPr txBox="1"/>
          <p:nvPr/>
        </p:nvSpPr>
        <p:spPr>
          <a:xfrm>
            <a:off x="1527048" y="2350007"/>
            <a:ext cx="3941064" cy="640080"/>
          </a:xfrm>
          <a:prstGeom prst="rect">
            <a:avLst/>
          </a:prstGeom>
          <a:noFill/>
        </p:spPr>
        <p:txBody>
          <a:bodyPr wrap="square" lIns="54864" rIns="54864" tIns="27432" bIns="27432">
            <a:spAutoFit/>
          </a:bodyPr>
          <a:lstStyle/>
          <a:p>
            <a:pPr>
              <a:lnSpc>
                <a:spcPct val="105000"/>
              </a:lnSpc>
            </a:pPr>
            <a:r>
              <a:rPr sz="1600" b="0">
                <a:solidFill>
                  <a:srgbClr val="182632"/>
                </a:solidFill>
                <a:latin typeface="Aptos"/>
              </a:rPr>
              <a:t>A Supabase project includes a full Postgres database.</a:t>
            </a:r>
          </a:p>
        </p:txBody>
      </p:sp>
      <p:sp>
        <p:nvSpPr>
          <p:cNvPr id="11" name="Rounded Rectangle 10"/>
          <p:cNvSpPr/>
          <p:nvPr/>
        </p:nvSpPr>
        <p:spPr>
          <a:xfrm>
            <a:off x="5989320" y="1874519"/>
            <a:ext cx="4343400" cy="1307592"/>
          </a:xfrm>
          <a:prstGeom prst="roundRect">
            <a:avLst/>
          </a:prstGeom>
          <a:solidFill>
            <a:srgbClr val="FFFFFF"/>
          </a:solidFill>
          <a:ln>
            <a:solidFill>
              <a:srgbClr val="DB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90488" y="2020823"/>
            <a:ext cx="3941064" cy="237744"/>
          </a:xfrm>
          <a:prstGeom prst="rect">
            <a:avLst/>
          </a:prstGeom>
          <a:noFill/>
        </p:spPr>
        <p:txBody>
          <a:bodyPr wrap="none">
            <a:spAutoFit/>
          </a:bodyPr>
          <a:lstStyle/>
          <a:p>
            <a:r>
              <a:rPr sz="1500" b="1">
                <a:solidFill>
                  <a:srgbClr val="143D30"/>
                </a:solidFill>
                <a:latin typeface="Aptos"/>
              </a:rPr>
              <a:t>Dashboard</a:t>
            </a:r>
          </a:p>
        </p:txBody>
      </p:sp>
      <p:sp>
        <p:nvSpPr>
          <p:cNvPr id="13" name="TextBox 12"/>
          <p:cNvSpPr txBox="1"/>
          <p:nvPr/>
        </p:nvSpPr>
        <p:spPr>
          <a:xfrm>
            <a:off x="6190488" y="2350007"/>
            <a:ext cx="3941064" cy="640080"/>
          </a:xfrm>
          <a:prstGeom prst="rect">
            <a:avLst/>
          </a:prstGeom>
          <a:noFill/>
        </p:spPr>
        <p:txBody>
          <a:bodyPr wrap="square" lIns="54864" rIns="54864" tIns="27432" bIns="27432">
            <a:spAutoFit/>
          </a:bodyPr>
          <a:lstStyle/>
          <a:p>
            <a:pPr>
              <a:lnSpc>
                <a:spcPct val="105000"/>
              </a:lnSpc>
            </a:pPr>
            <a:r>
              <a:rPr sz="1600" b="0">
                <a:solidFill>
                  <a:srgbClr val="182632"/>
                </a:solidFill>
                <a:latin typeface="Aptos"/>
              </a:rPr>
              <a:t>Students can use Table Editor and SQL Editor to inspect and query data.</a:t>
            </a:r>
          </a:p>
        </p:txBody>
      </p:sp>
      <p:sp>
        <p:nvSpPr>
          <p:cNvPr id="14" name="Rounded Rectangle 13"/>
          <p:cNvSpPr/>
          <p:nvPr/>
        </p:nvSpPr>
        <p:spPr>
          <a:xfrm>
            <a:off x="1325880" y="3493007"/>
            <a:ext cx="4343400" cy="1307592"/>
          </a:xfrm>
          <a:prstGeom prst="roundRect">
            <a:avLst/>
          </a:prstGeom>
          <a:solidFill>
            <a:srgbClr val="FFFFFF"/>
          </a:solidFill>
          <a:ln>
            <a:solidFill>
              <a:srgbClr val="DB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7048" y="3639311"/>
            <a:ext cx="3941064" cy="237744"/>
          </a:xfrm>
          <a:prstGeom prst="rect">
            <a:avLst/>
          </a:prstGeom>
          <a:noFill/>
        </p:spPr>
        <p:txBody>
          <a:bodyPr wrap="none">
            <a:spAutoFit/>
          </a:bodyPr>
          <a:lstStyle/>
          <a:p>
            <a:r>
              <a:rPr sz="1500" b="1">
                <a:solidFill>
                  <a:srgbClr val="143D30"/>
                </a:solidFill>
                <a:latin typeface="Aptos"/>
              </a:rPr>
              <a:t>API and Auth</a:t>
            </a:r>
          </a:p>
        </p:txBody>
      </p:sp>
      <p:sp>
        <p:nvSpPr>
          <p:cNvPr id="16" name="TextBox 15"/>
          <p:cNvSpPr txBox="1"/>
          <p:nvPr/>
        </p:nvSpPr>
        <p:spPr>
          <a:xfrm>
            <a:off x="1527048" y="3968495"/>
            <a:ext cx="3941064" cy="640080"/>
          </a:xfrm>
          <a:prstGeom prst="rect">
            <a:avLst/>
          </a:prstGeom>
          <a:noFill/>
        </p:spPr>
        <p:txBody>
          <a:bodyPr wrap="square" lIns="54864" rIns="54864" tIns="27432" bIns="27432">
            <a:spAutoFit/>
          </a:bodyPr>
          <a:lstStyle/>
          <a:p>
            <a:pPr>
              <a:lnSpc>
                <a:spcPct val="105000"/>
              </a:lnSpc>
            </a:pPr>
            <a:r>
              <a:rPr sz="1600" b="0">
                <a:solidFill>
                  <a:srgbClr val="182632"/>
                </a:solidFill>
                <a:latin typeface="Aptos"/>
              </a:rPr>
              <a:t>Supabase can expose APIs and auth features, but this project is still database-first.</a:t>
            </a:r>
          </a:p>
        </p:txBody>
      </p:sp>
      <p:sp>
        <p:nvSpPr>
          <p:cNvPr id="17" name="Rounded Rectangle 16"/>
          <p:cNvSpPr/>
          <p:nvPr/>
        </p:nvSpPr>
        <p:spPr>
          <a:xfrm>
            <a:off x="5989320" y="3493007"/>
            <a:ext cx="4343400" cy="1307592"/>
          </a:xfrm>
          <a:prstGeom prst="roundRect">
            <a:avLst/>
          </a:prstGeom>
          <a:solidFill>
            <a:srgbClr val="FFFFFF"/>
          </a:solidFill>
          <a:ln>
            <a:solidFill>
              <a:srgbClr val="DB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90488" y="3639311"/>
            <a:ext cx="3941064" cy="237744"/>
          </a:xfrm>
          <a:prstGeom prst="rect">
            <a:avLst/>
          </a:prstGeom>
          <a:noFill/>
        </p:spPr>
        <p:txBody>
          <a:bodyPr wrap="none">
            <a:spAutoFit/>
          </a:bodyPr>
          <a:lstStyle/>
          <a:p>
            <a:r>
              <a:rPr sz="1500" b="1">
                <a:solidFill>
                  <a:srgbClr val="143D30"/>
                </a:solidFill>
                <a:latin typeface="Aptos"/>
              </a:rPr>
              <a:t>Admin Evidence</a:t>
            </a:r>
          </a:p>
        </p:txBody>
      </p:sp>
      <p:sp>
        <p:nvSpPr>
          <p:cNvPr id="19" name="TextBox 18"/>
          <p:cNvSpPr txBox="1"/>
          <p:nvPr/>
        </p:nvSpPr>
        <p:spPr>
          <a:xfrm>
            <a:off x="6190488" y="3968495"/>
            <a:ext cx="3941064" cy="640080"/>
          </a:xfrm>
          <a:prstGeom prst="rect">
            <a:avLst/>
          </a:prstGeom>
          <a:noFill/>
        </p:spPr>
        <p:txBody>
          <a:bodyPr wrap="square" lIns="54864" rIns="54864" tIns="27432" bIns="27432">
            <a:spAutoFit/>
          </a:bodyPr>
          <a:lstStyle/>
          <a:p>
            <a:pPr>
              <a:lnSpc>
                <a:spcPct val="105000"/>
              </a:lnSpc>
            </a:pPr>
            <a:r>
              <a:rPr sz="1600" b="0">
                <a:solidFill>
                  <a:srgbClr val="182632"/>
                </a:solidFill>
                <a:latin typeface="Aptos"/>
              </a:rPr>
              <a:t>Schema, seed data, queries, permissions, backups, and indexes are the proof.</a:t>
            </a:r>
          </a:p>
        </p:txBody>
      </p:sp>
      <p:sp>
        <p:nvSpPr>
          <p:cNvPr id="20" name="TextBox 19"/>
          <p:cNvSpPr txBox="1"/>
          <p:nvPr/>
        </p:nvSpPr>
        <p:spPr>
          <a:xfrm>
            <a:off x="8686800" y="5815584"/>
            <a:ext cx="1737360" cy="182880"/>
          </a:xfrm>
          <a:prstGeom prst="rect">
            <a:avLst/>
          </a:prstGeom>
          <a:noFill/>
        </p:spPr>
        <p:txBody>
          <a:bodyPr wrap="none">
            <a:spAutoFit/>
          </a:bodyPr>
          <a:lstStyle/>
          <a:p>
            <a:pPr algn="r"/>
            <a:r>
              <a:rPr sz="900" b="0">
                <a:solidFill>
                  <a:srgbClr val="5C656E"/>
                </a:solidFill>
                <a:latin typeface="Aptos"/>
              </a:rPr>
              <a:t>CST4714 | Week 14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0" cy="6858000"/>
          </a:xfrm>
          <a:prstGeom prst="rect">
            <a:avLst/>
          </a:prstGeom>
          <a:solidFill>
            <a:srgbClr val="248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0"/>
            <a:ext cx="91440" cy="6858000"/>
          </a:xfrm>
          <a:prstGeom prst="rect">
            <a:avLst/>
          </a:prstGeom>
          <a:solidFill>
            <a:srgbClr val="DA9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98448" y="320040"/>
            <a:ext cx="2743200" cy="228600"/>
          </a:xfrm>
          <a:prstGeom prst="rect">
            <a:avLst/>
          </a:prstGeom>
          <a:noFill/>
        </p:spPr>
        <p:txBody>
          <a:bodyPr wrap="none">
            <a:spAutoFit/>
          </a:bodyPr>
          <a:lstStyle/>
          <a:p>
            <a:r>
              <a:rPr sz="1200" b="1">
                <a:solidFill>
                  <a:srgbClr val="248B68"/>
                </a:solidFill>
                <a:latin typeface="Aptos"/>
              </a:rPr>
              <a:t>SUPABASE REVIEW</a:t>
            </a:r>
          </a:p>
        </p:txBody>
      </p:sp>
      <p:sp>
        <p:nvSpPr>
          <p:cNvPr id="6" name="TextBox 5"/>
          <p:cNvSpPr txBox="1"/>
          <p:nvPr/>
        </p:nvSpPr>
        <p:spPr>
          <a:xfrm>
            <a:off x="1280160" y="621792"/>
            <a:ext cx="8595360" cy="502920"/>
          </a:xfrm>
          <a:prstGeom prst="rect">
            <a:avLst/>
          </a:prstGeom>
          <a:noFill/>
        </p:spPr>
        <p:txBody>
          <a:bodyPr wrap="none">
            <a:spAutoFit/>
          </a:bodyPr>
          <a:lstStyle/>
          <a:p>
            <a:r>
              <a:rPr sz="3200" b="1">
                <a:solidFill>
                  <a:srgbClr val="182632"/>
                </a:solidFill>
                <a:latin typeface="Aptos"/>
              </a:rPr>
              <a:t>What Students Should Be Able to Show</a:t>
            </a:r>
          </a:p>
        </p:txBody>
      </p:sp>
      <p:sp>
        <p:nvSpPr>
          <p:cNvPr id="7" name="TextBox 6"/>
          <p:cNvSpPr txBox="1"/>
          <p:nvPr/>
        </p:nvSpPr>
        <p:spPr>
          <a:xfrm>
            <a:off x="1316736" y="1152144"/>
            <a:ext cx="8732520" cy="411480"/>
          </a:xfrm>
          <a:prstGeom prst="rect">
            <a:avLst/>
          </a:prstGeom>
          <a:noFill/>
        </p:spPr>
        <p:txBody>
          <a:bodyPr wrap="square" lIns="54864" rIns="54864" tIns="27432" bIns="27432">
            <a:spAutoFit/>
          </a:bodyPr>
          <a:lstStyle/>
          <a:p>
            <a:pPr>
              <a:lnSpc>
                <a:spcPct val="105000"/>
              </a:lnSpc>
            </a:pPr>
            <a:r>
              <a:rPr sz="1600" b="0">
                <a:solidFill>
                  <a:srgbClr val="5C656E"/>
                </a:solidFill>
                <a:latin typeface="Aptos"/>
              </a:rPr>
              <a:t>A Supabase final project should be easy to verify without guessing.</a:t>
            </a:r>
          </a:p>
        </p:txBody>
      </p:sp>
      <p:sp>
        <p:nvSpPr>
          <p:cNvPr id="8" name="Rounded Rectangle 7"/>
          <p:cNvSpPr/>
          <p:nvPr/>
        </p:nvSpPr>
        <p:spPr>
          <a:xfrm>
            <a:off x="1325880" y="1874519"/>
            <a:ext cx="4343400" cy="1307592"/>
          </a:xfrm>
          <a:prstGeom prst="roundRect">
            <a:avLst/>
          </a:prstGeom>
          <a:solidFill>
            <a:srgbClr val="FFFFFF"/>
          </a:solidFill>
          <a:ln>
            <a:solidFill>
              <a:srgbClr val="DB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7048" y="2020823"/>
            <a:ext cx="3941064" cy="237744"/>
          </a:xfrm>
          <a:prstGeom prst="rect">
            <a:avLst/>
          </a:prstGeom>
          <a:noFill/>
        </p:spPr>
        <p:txBody>
          <a:bodyPr wrap="none">
            <a:spAutoFit/>
          </a:bodyPr>
          <a:lstStyle/>
          <a:p>
            <a:r>
              <a:rPr sz="1500" b="1">
                <a:solidFill>
                  <a:srgbClr val="143D30"/>
                </a:solidFill>
                <a:latin typeface="Aptos"/>
              </a:rPr>
              <a:t>Tables</a:t>
            </a:r>
          </a:p>
        </p:txBody>
      </p:sp>
      <p:sp>
        <p:nvSpPr>
          <p:cNvPr id="10" name="TextBox 9"/>
          <p:cNvSpPr txBox="1"/>
          <p:nvPr/>
        </p:nvSpPr>
        <p:spPr>
          <a:xfrm>
            <a:off x="1527048" y="2350007"/>
            <a:ext cx="3941064" cy="640080"/>
          </a:xfrm>
          <a:prstGeom prst="rect">
            <a:avLst/>
          </a:prstGeom>
          <a:noFill/>
        </p:spPr>
        <p:txBody>
          <a:bodyPr wrap="square" lIns="54864" rIns="54864" tIns="27432" bIns="27432">
            <a:spAutoFit/>
          </a:bodyPr>
          <a:lstStyle/>
          <a:p>
            <a:pPr>
              <a:lnSpc>
                <a:spcPct val="105000"/>
              </a:lnSpc>
            </a:pPr>
            <a:r>
              <a:rPr sz="1600" b="0">
                <a:solidFill>
                  <a:srgbClr val="182632"/>
                </a:solidFill>
                <a:latin typeface="Aptos"/>
              </a:rPr>
              <a:t>3-5 tables with columns, types, primary keys, and relationships.</a:t>
            </a:r>
          </a:p>
        </p:txBody>
      </p:sp>
      <p:sp>
        <p:nvSpPr>
          <p:cNvPr id="11" name="Rounded Rectangle 10"/>
          <p:cNvSpPr/>
          <p:nvPr/>
        </p:nvSpPr>
        <p:spPr>
          <a:xfrm>
            <a:off x="5989320" y="1874519"/>
            <a:ext cx="4343400" cy="1307592"/>
          </a:xfrm>
          <a:prstGeom prst="roundRect">
            <a:avLst/>
          </a:prstGeom>
          <a:solidFill>
            <a:srgbClr val="FFFFFF"/>
          </a:solidFill>
          <a:ln>
            <a:solidFill>
              <a:srgbClr val="DB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90488" y="2020823"/>
            <a:ext cx="3941064" cy="237744"/>
          </a:xfrm>
          <a:prstGeom prst="rect">
            <a:avLst/>
          </a:prstGeom>
          <a:noFill/>
        </p:spPr>
        <p:txBody>
          <a:bodyPr wrap="none">
            <a:spAutoFit/>
          </a:bodyPr>
          <a:lstStyle/>
          <a:p>
            <a:r>
              <a:rPr sz="1500" b="1">
                <a:solidFill>
                  <a:srgbClr val="143D30"/>
                </a:solidFill>
                <a:latin typeface="Aptos"/>
              </a:rPr>
              <a:t>Seed Data</a:t>
            </a:r>
          </a:p>
        </p:txBody>
      </p:sp>
      <p:sp>
        <p:nvSpPr>
          <p:cNvPr id="13" name="TextBox 12"/>
          <p:cNvSpPr txBox="1"/>
          <p:nvPr/>
        </p:nvSpPr>
        <p:spPr>
          <a:xfrm>
            <a:off x="6190488" y="2350007"/>
            <a:ext cx="3941064" cy="640080"/>
          </a:xfrm>
          <a:prstGeom prst="rect">
            <a:avLst/>
          </a:prstGeom>
          <a:noFill/>
        </p:spPr>
        <p:txBody>
          <a:bodyPr wrap="square" lIns="54864" rIns="54864" tIns="27432" bIns="27432">
            <a:spAutoFit/>
          </a:bodyPr>
          <a:lstStyle/>
          <a:p>
            <a:pPr>
              <a:lnSpc>
                <a:spcPct val="105000"/>
              </a:lnSpc>
            </a:pPr>
            <a:r>
              <a:rPr sz="1600" b="0">
                <a:solidFill>
                  <a:srgbClr val="182632"/>
                </a:solidFill>
                <a:latin typeface="Aptos"/>
              </a:rPr>
              <a:t>Enough realistic rows to prove the queries and model work.</a:t>
            </a:r>
          </a:p>
        </p:txBody>
      </p:sp>
      <p:sp>
        <p:nvSpPr>
          <p:cNvPr id="14" name="Rounded Rectangle 13"/>
          <p:cNvSpPr/>
          <p:nvPr/>
        </p:nvSpPr>
        <p:spPr>
          <a:xfrm>
            <a:off x="1325880" y="3493007"/>
            <a:ext cx="4343400" cy="1307592"/>
          </a:xfrm>
          <a:prstGeom prst="roundRect">
            <a:avLst/>
          </a:prstGeom>
          <a:solidFill>
            <a:srgbClr val="FFFFFF"/>
          </a:solidFill>
          <a:ln>
            <a:solidFill>
              <a:srgbClr val="DB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7048" y="3639311"/>
            <a:ext cx="3941064" cy="237744"/>
          </a:xfrm>
          <a:prstGeom prst="rect">
            <a:avLst/>
          </a:prstGeom>
          <a:noFill/>
        </p:spPr>
        <p:txBody>
          <a:bodyPr wrap="none">
            <a:spAutoFit/>
          </a:bodyPr>
          <a:lstStyle/>
          <a:p>
            <a:r>
              <a:rPr sz="1500" b="1">
                <a:solidFill>
                  <a:srgbClr val="143D30"/>
                </a:solidFill>
                <a:latin typeface="Aptos"/>
              </a:rPr>
              <a:t>SQL Queries</a:t>
            </a:r>
          </a:p>
        </p:txBody>
      </p:sp>
      <p:sp>
        <p:nvSpPr>
          <p:cNvPr id="16" name="TextBox 15"/>
          <p:cNvSpPr txBox="1"/>
          <p:nvPr/>
        </p:nvSpPr>
        <p:spPr>
          <a:xfrm>
            <a:off x="1527048" y="3968495"/>
            <a:ext cx="3941064" cy="640080"/>
          </a:xfrm>
          <a:prstGeom prst="rect">
            <a:avLst/>
          </a:prstGeom>
          <a:noFill/>
        </p:spPr>
        <p:txBody>
          <a:bodyPr wrap="square" lIns="54864" rIns="54864" tIns="27432" bIns="27432">
            <a:spAutoFit/>
          </a:bodyPr>
          <a:lstStyle/>
          <a:p>
            <a:pPr>
              <a:lnSpc>
                <a:spcPct val="105000"/>
              </a:lnSpc>
            </a:pPr>
            <a:r>
              <a:rPr sz="1600" b="0">
                <a:solidFill>
                  <a:srgbClr val="182632"/>
                </a:solidFill>
                <a:latin typeface="Aptos"/>
              </a:rPr>
              <a:t>At least four meaningful queries in the final submission.</a:t>
            </a:r>
          </a:p>
        </p:txBody>
      </p:sp>
      <p:sp>
        <p:nvSpPr>
          <p:cNvPr id="17" name="Rounded Rectangle 16"/>
          <p:cNvSpPr/>
          <p:nvPr/>
        </p:nvSpPr>
        <p:spPr>
          <a:xfrm>
            <a:off x="5989320" y="3493007"/>
            <a:ext cx="4343400" cy="1307592"/>
          </a:xfrm>
          <a:prstGeom prst="roundRect">
            <a:avLst/>
          </a:prstGeom>
          <a:solidFill>
            <a:srgbClr val="FFFFFF"/>
          </a:solidFill>
          <a:ln>
            <a:solidFill>
              <a:srgbClr val="DB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90488" y="3639311"/>
            <a:ext cx="3941064" cy="237744"/>
          </a:xfrm>
          <a:prstGeom prst="rect">
            <a:avLst/>
          </a:prstGeom>
          <a:noFill/>
        </p:spPr>
        <p:txBody>
          <a:bodyPr wrap="none">
            <a:spAutoFit/>
          </a:bodyPr>
          <a:lstStyle/>
          <a:p>
            <a:r>
              <a:rPr sz="1500" b="1">
                <a:solidFill>
                  <a:srgbClr val="143D30"/>
                </a:solidFill>
                <a:latin typeface="Aptos"/>
              </a:rPr>
              <a:t>Index</a:t>
            </a:r>
          </a:p>
        </p:txBody>
      </p:sp>
      <p:sp>
        <p:nvSpPr>
          <p:cNvPr id="19" name="TextBox 18"/>
          <p:cNvSpPr txBox="1"/>
          <p:nvPr/>
        </p:nvSpPr>
        <p:spPr>
          <a:xfrm>
            <a:off x="6190488" y="3968495"/>
            <a:ext cx="3941064" cy="640080"/>
          </a:xfrm>
          <a:prstGeom prst="rect">
            <a:avLst/>
          </a:prstGeom>
          <a:noFill/>
        </p:spPr>
        <p:txBody>
          <a:bodyPr wrap="square" lIns="54864" rIns="54864" tIns="27432" bIns="27432">
            <a:spAutoFit/>
          </a:bodyPr>
          <a:lstStyle/>
          <a:p>
            <a:pPr>
              <a:lnSpc>
                <a:spcPct val="105000"/>
              </a:lnSpc>
            </a:pPr>
            <a:r>
              <a:rPr sz="1600" b="0">
                <a:solidFill>
                  <a:srgbClr val="182632"/>
                </a:solidFill>
                <a:latin typeface="Aptos"/>
              </a:rPr>
              <a:t>One index tied to one repeated filter, join, or sort.</a:t>
            </a:r>
          </a:p>
        </p:txBody>
      </p:sp>
      <p:sp>
        <p:nvSpPr>
          <p:cNvPr id="20" name="TextBox 19"/>
          <p:cNvSpPr txBox="1"/>
          <p:nvPr/>
        </p:nvSpPr>
        <p:spPr>
          <a:xfrm>
            <a:off x="8686800" y="5815584"/>
            <a:ext cx="1737360" cy="182880"/>
          </a:xfrm>
          <a:prstGeom prst="rect">
            <a:avLst/>
          </a:prstGeom>
          <a:noFill/>
        </p:spPr>
        <p:txBody>
          <a:bodyPr wrap="none">
            <a:spAutoFit/>
          </a:bodyPr>
          <a:lstStyle/>
          <a:p>
            <a:pPr algn="r"/>
            <a:r>
              <a:rPr sz="900" b="0">
                <a:solidFill>
                  <a:srgbClr val="5C656E"/>
                </a:solidFill>
                <a:latin typeface="Aptos"/>
              </a:rPr>
              <a:t>CST4714 | Week 14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0" cy="6858000"/>
          </a:xfrm>
          <a:prstGeom prst="rect">
            <a:avLst/>
          </a:prstGeom>
          <a:solidFill>
            <a:srgbClr val="248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0"/>
            <a:ext cx="91440" cy="6858000"/>
          </a:xfrm>
          <a:prstGeom prst="rect">
            <a:avLst/>
          </a:prstGeom>
          <a:solidFill>
            <a:srgbClr val="DA9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98448" y="320040"/>
            <a:ext cx="2743200" cy="228600"/>
          </a:xfrm>
          <a:prstGeom prst="rect">
            <a:avLst/>
          </a:prstGeom>
          <a:noFill/>
        </p:spPr>
        <p:txBody>
          <a:bodyPr wrap="none">
            <a:spAutoFit/>
          </a:bodyPr>
          <a:lstStyle/>
          <a:p>
            <a:r>
              <a:rPr sz="1200" b="1">
                <a:solidFill>
                  <a:srgbClr val="248B68"/>
                </a:solidFill>
                <a:latin typeface="Aptos"/>
              </a:rPr>
              <a:t>SUPABASE SECURITY</a:t>
            </a:r>
          </a:p>
        </p:txBody>
      </p:sp>
      <p:sp>
        <p:nvSpPr>
          <p:cNvPr id="6" name="TextBox 5"/>
          <p:cNvSpPr txBox="1"/>
          <p:nvPr/>
        </p:nvSpPr>
        <p:spPr>
          <a:xfrm>
            <a:off x="1280160" y="621792"/>
            <a:ext cx="8595360" cy="502920"/>
          </a:xfrm>
          <a:prstGeom prst="rect">
            <a:avLst/>
          </a:prstGeom>
          <a:noFill/>
        </p:spPr>
        <p:txBody>
          <a:bodyPr wrap="none">
            <a:spAutoFit/>
          </a:bodyPr>
          <a:lstStyle/>
          <a:p>
            <a:r>
              <a:rPr sz="3200" b="1">
                <a:solidFill>
                  <a:srgbClr val="182632"/>
                </a:solidFill>
                <a:latin typeface="Aptos"/>
              </a:rPr>
              <a:t>Access Control Means RLS Thinking</a:t>
            </a:r>
          </a:p>
        </p:txBody>
      </p:sp>
      <p:sp>
        <p:nvSpPr>
          <p:cNvPr id="7" name="TextBox 6"/>
          <p:cNvSpPr txBox="1"/>
          <p:nvPr/>
        </p:nvSpPr>
        <p:spPr>
          <a:xfrm>
            <a:off x="1316736" y="1152144"/>
            <a:ext cx="8732520" cy="411480"/>
          </a:xfrm>
          <a:prstGeom prst="rect">
            <a:avLst/>
          </a:prstGeom>
          <a:noFill/>
        </p:spPr>
        <p:txBody>
          <a:bodyPr wrap="square" lIns="54864" rIns="54864" tIns="27432" bIns="27432">
            <a:spAutoFit/>
          </a:bodyPr>
          <a:lstStyle/>
          <a:p>
            <a:pPr>
              <a:lnSpc>
                <a:spcPct val="105000"/>
              </a:lnSpc>
            </a:pPr>
            <a:r>
              <a:rPr sz="1600" b="0">
                <a:solidFill>
                  <a:srgbClr val="5C656E"/>
                </a:solidFill>
                <a:latin typeface="Aptos"/>
              </a:rPr>
              <a:t>Students do not need perfect production security, but they must identify what should be protected.</a:t>
            </a:r>
          </a:p>
        </p:txBody>
      </p:sp>
      <p:sp>
        <p:nvSpPr>
          <p:cNvPr id="8" name="Rounded Rectangle 7"/>
          <p:cNvSpPr/>
          <p:nvPr/>
        </p:nvSpPr>
        <p:spPr>
          <a:xfrm>
            <a:off x="1325880" y="1874519"/>
            <a:ext cx="4343400" cy="1307592"/>
          </a:xfrm>
          <a:prstGeom prst="roundRect">
            <a:avLst/>
          </a:prstGeom>
          <a:solidFill>
            <a:srgbClr val="FFFFFF"/>
          </a:solidFill>
          <a:ln>
            <a:solidFill>
              <a:srgbClr val="DB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7048" y="2020823"/>
            <a:ext cx="3941064" cy="237744"/>
          </a:xfrm>
          <a:prstGeom prst="rect">
            <a:avLst/>
          </a:prstGeom>
          <a:noFill/>
        </p:spPr>
        <p:txBody>
          <a:bodyPr wrap="none">
            <a:spAutoFit/>
          </a:bodyPr>
          <a:lstStyle/>
          <a:p>
            <a:r>
              <a:rPr sz="1500" b="1">
                <a:solidFill>
                  <a:srgbClr val="143D30"/>
                </a:solidFill>
                <a:latin typeface="Aptos"/>
              </a:rPr>
              <a:t>Public</a:t>
            </a:r>
          </a:p>
        </p:txBody>
      </p:sp>
      <p:sp>
        <p:nvSpPr>
          <p:cNvPr id="10" name="TextBox 9"/>
          <p:cNvSpPr txBox="1"/>
          <p:nvPr/>
        </p:nvSpPr>
        <p:spPr>
          <a:xfrm>
            <a:off x="1527048" y="2350007"/>
            <a:ext cx="3941064" cy="640080"/>
          </a:xfrm>
          <a:prstGeom prst="rect">
            <a:avLst/>
          </a:prstGeom>
          <a:noFill/>
        </p:spPr>
        <p:txBody>
          <a:bodyPr wrap="square" lIns="54864" rIns="54864" tIns="27432" bIns="27432">
            <a:spAutoFit/>
          </a:bodyPr>
          <a:lstStyle/>
          <a:p>
            <a:pPr>
              <a:lnSpc>
                <a:spcPct val="105000"/>
              </a:lnSpc>
            </a:pPr>
            <a:r>
              <a:rPr sz="1600" b="0">
                <a:solidFill>
                  <a:srgbClr val="182632"/>
                </a:solidFill>
                <a:latin typeface="Aptos"/>
              </a:rPr>
              <a:t>What can any user or visitor safely see?</a:t>
            </a:r>
          </a:p>
        </p:txBody>
      </p:sp>
      <p:sp>
        <p:nvSpPr>
          <p:cNvPr id="11" name="Rounded Rectangle 10"/>
          <p:cNvSpPr/>
          <p:nvPr/>
        </p:nvSpPr>
        <p:spPr>
          <a:xfrm>
            <a:off x="5989320" y="1874519"/>
            <a:ext cx="4343400" cy="1307592"/>
          </a:xfrm>
          <a:prstGeom prst="roundRect">
            <a:avLst/>
          </a:prstGeom>
          <a:solidFill>
            <a:srgbClr val="FFFFFF"/>
          </a:solidFill>
          <a:ln>
            <a:solidFill>
              <a:srgbClr val="DB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90488" y="2020823"/>
            <a:ext cx="3941064" cy="237744"/>
          </a:xfrm>
          <a:prstGeom prst="rect">
            <a:avLst/>
          </a:prstGeom>
          <a:noFill/>
        </p:spPr>
        <p:txBody>
          <a:bodyPr wrap="none">
            <a:spAutoFit/>
          </a:bodyPr>
          <a:lstStyle/>
          <a:p>
            <a:r>
              <a:rPr sz="1500" b="1">
                <a:solidFill>
                  <a:srgbClr val="143D30"/>
                </a:solidFill>
                <a:latin typeface="Aptos"/>
              </a:rPr>
              <a:t>Private</a:t>
            </a:r>
          </a:p>
        </p:txBody>
      </p:sp>
      <p:sp>
        <p:nvSpPr>
          <p:cNvPr id="13" name="TextBox 12"/>
          <p:cNvSpPr txBox="1"/>
          <p:nvPr/>
        </p:nvSpPr>
        <p:spPr>
          <a:xfrm>
            <a:off x="6190488" y="2350007"/>
            <a:ext cx="3941064" cy="640080"/>
          </a:xfrm>
          <a:prstGeom prst="rect">
            <a:avLst/>
          </a:prstGeom>
          <a:noFill/>
        </p:spPr>
        <p:txBody>
          <a:bodyPr wrap="square" lIns="54864" rIns="54864" tIns="27432" bIns="27432">
            <a:spAutoFit/>
          </a:bodyPr>
          <a:lstStyle/>
          <a:p>
            <a:pPr>
              <a:lnSpc>
                <a:spcPct val="105000"/>
              </a:lnSpc>
            </a:pPr>
            <a:r>
              <a:rPr sz="1600" b="0">
                <a:solidFill>
                  <a:srgbClr val="182632"/>
                </a:solidFill>
                <a:latin typeface="Aptos"/>
              </a:rPr>
              <a:t>What data should require authentication or staff access?</a:t>
            </a:r>
          </a:p>
        </p:txBody>
      </p:sp>
      <p:sp>
        <p:nvSpPr>
          <p:cNvPr id="14" name="Rounded Rectangle 13"/>
          <p:cNvSpPr/>
          <p:nvPr/>
        </p:nvSpPr>
        <p:spPr>
          <a:xfrm>
            <a:off x="1325880" y="3493007"/>
            <a:ext cx="4343400" cy="1307592"/>
          </a:xfrm>
          <a:prstGeom prst="roundRect">
            <a:avLst/>
          </a:prstGeom>
          <a:solidFill>
            <a:srgbClr val="FFFFFF"/>
          </a:solidFill>
          <a:ln>
            <a:solidFill>
              <a:srgbClr val="DB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7048" y="3639311"/>
            <a:ext cx="3941064" cy="237744"/>
          </a:xfrm>
          <a:prstGeom prst="rect">
            <a:avLst/>
          </a:prstGeom>
          <a:noFill/>
        </p:spPr>
        <p:txBody>
          <a:bodyPr wrap="none">
            <a:spAutoFit/>
          </a:bodyPr>
          <a:lstStyle/>
          <a:p>
            <a:r>
              <a:rPr sz="1500" b="1">
                <a:solidFill>
                  <a:srgbClr val="143D30"/>
                </a:solidFill>
                <a:latin typeface="Aptos"/>
              </a:rPr>
              <a:t>RLS</a:t>
            </a:r>
          </a:p>
        </p:txBody>
      </p:sp>
      <p:sp>
        <p:nvSpPr>
          <p:cNvPr id="16" name="TextBox 15"/>
          <p:cNvSpPr txBox="1"/>
          <p:nvPr/>
        </p:nvSpPr>
        <p:spPr>
          <a:xfrm>
            <a:off x="1527048" y="3968495"/>
            <a:ext cx="3941064" cy="640080"/>
          </a:xfrm>
          <a:prstGeom prst="rect">
            <a:avLst/>
          </a:prstGeom>
          <a:noFill/>
        </p:spPr>
        <p:txBody>
          <a:bodyPr wrap="square" lIns="54864" rIns="54864" tIns="27432" bIns="27432">
            <a:spAutoFit/>
          </a:bodyPr>
          <a:lstStyle/>
          <a:p>
            <a:pPr>
              <a:lnSpc>
                <a:spcPct val="105000"/>
              </a:lnSpc>
            </a:pPr>
            <a:r>
              <a:rPr sz="1600" b="0">
                <a:solidFill>
                  <a:srgbClr val="182632"/>
                </a:solidFill>
                <a:latin typeface="Aptos"/>
              </a:rPr>
              <a:t>Row Level Security policies control which rows users can access.</a:t>
            </a:r>
          </a:p>
        </p:txBody>
      </p:sp>
      <p:sp>
        <p:nvSpPr>
          <p:cNvPr id="17" name="Rounded Rectangle 16"/>
          <p:cNvSpPr/>
          <p:nvPr/>
        </p:nvSpPr>
        <p:spPr>
          <a:xfrm>
            <a:off x="5989320" y="3493007"/>
            <a:ext cx="4343400" cy="1307592"/>
          </a:xfrm>
          <a:prstGeom prst="roundRect">
            <a:avLst/>
          </a:prstGeom>
          <a:solidFill>
            <a:srgbClr val="FFFFFF"/>
          </a:solidFill>
          <a:ln>
            <a:solidFill>
              <a:srgbClr val="DB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90488" y="3639311"/>
            <a:ext cx="3941064" cy="237744"/>
          </a:xfrm>
          <a:prstGeom prst="rect">
            <a:avLst/>
          </a:prstGeom>
          <a:noFill/>
        </p:spPr>
        <p:txBody>
          <a:bodyPr wrap="none">
            <a:spAutoFit/>
          </a:bodyPr>
          <a:lstStyle/>
          <a:p>
            <a:r>
              <a:rPr sz="1500" b="1">
                <a:solidFill>
                  <a:srgbClr val="143D30"/>
                </a:solidFill>
                <a:latin typeface="Aptos"/>
              </a:rPr>
              <a:t>Secrets</a:t>
            </a:r>
          </a:p>
        </p:txBody>
      </p:sp>
      <p:sp>
        <p:nvSpPr>
          <p:cNvPr id="19" name="TextBox 18"/>
          <p:cNvSpPr txBox="1"/>
          <p:nvPr/>
        </p:nvSpPr>
        <p:spPr>
          <a:xfrm>
            <a:off x="6190488" y="3968495"/>
            <a:ext cx="3941064" cy="640080"/>
          </a:xfrm>
          <a:prstGeom prst="rect">
            <a:avLst/>
          </a:prstGeom>
          <a:noFill/>
        </p:spPr>
        <p:txBody>
          <a:bodyPr wrap="square" lIns="54864" rIns="54864" tIns="27432" bIns="27432">
            <a:spAutoFit/>
          </a:bodyPr>
          <a:lstStyle/>
          <a:p>
            <a:pPr>
              <a:lnSpc>
                <a:spcPct val="105000"/>
              </a:lnSpc>
            </a:pPr>
            <a:r>
              <a:rPr sz="1600" b="0">
                <a:solidFill>
                  <a:srgbClr val="182632"/>
                </a:solidFill>
                <a:latin typeface="Aptos"/>
              </a:rPr>
              <a:t>Never submit service keys, passwords, or live connection strings.</a:t>
            </a:r>
          </a:p>
        </p:txBody>
      </p:sp>
      <p:sp>
        <p:nvSpPr>
          <p:cNvPr id="20" name="TextBox 19"/>
          <p:cNvSpPr txBox="1"/>
          <p:nvPr/>
        </p:nvSpPr>
        <p:spPr>
          <a:xfrm>
            <a:off x="8686800" y="5815584"/>
            <a:ext cx="1737360" cy="182880"/>
          </a:xfrm>
          <a:prstGeom prst="rect">
            <a:avLst/>
          </a:prstGeom>
          <a:noFill/>
        </p:spPr>
        <p:txBody>
          <a:bodyPr wrap="none">
            <a:spAutoFit/>
          </a:bodyPr>
          <a:lstStyle/>
          <a:p>
            <a:pPr algn="r"/>
            <a:r>
              <a:rPr sz="900" b="0">
                <a:solidFill>
                  <a:srgbClr val="5C656E"/>
                </a:solidFill>
                <a:latin typeface="Aptos"/>
              </a:rPr>
              <a:t>CST4714 | Week 14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0" cy="6858000"/>
          </a:xfrm>
          <a:prstGeom prst="rect">
            <a:avLst/>
          </a:prstGeom>
          <a:solidFill>
            <a:srgbClr val="248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0"/>
            <a:ext cx="91440" cy="6858000"/>
          </a:xfrm>
          <a:prstGeom prst="rect">
            <a:avLst/>
          </a:prstGeom>
          <a:solidFill>
            <a:srgbClr val="DA9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98448" y="320040"/>
            <a:ext cx="2743200" cy="228600"/>
          </a:xfrm>
          <a:prstGeom prst="rect">
            <a:avLst/>
          </a:prstGeom>
          <a:noFill/>
        </p:spPr>
        <p:txBody>
          <a:bodyPr wrap="none">
            <a:spAutoFit/>
          </a:bodyPr>
          <a:lstStyle/>
          <a:p>
            <a:r>
              <a:rPr sz="1200" b="1">
                <a:solidFill>
                  <a:srgbClr val="248B68"/>
                </a:solidFill>
                <a:latin typeface="Aptos"/>
              </a:rPr>
              <a:t>SUPABASE OPS</a:t>
            </a:r>
          </a:p>
        </p:txBody>
      </p:sp>
      <p:sp>
        <p:nvSpPr>
          <p:cNvPr id="6" name="TextBox 5"/>
          <p:cNvSpPr txBox="1"/>
          <p:nvPr/>
        </p:nvSpPr>
        <p:spPr>
          <a:xfrm>
            <a:off x="1280160" y="621792"/>
            <a:ext cx="8595360" cy="502920"/>
          </a:xfrm>
          <a:prstGeom prst="rect">
            <a:avLst/>
          </a:prstGeom>
          <a:noFill/>
        </p:spPr>
        <p:txBody>
          <a:bodyPr wrap="none">
            <a:spAutoFit/>
          </a:bodyPr>
          <a:lstStyle/>
          <a:p>
            <a:r>
              <a:rPr sz="3200" b="1">
                <a:solidFill>
                  <a:srgbClr val="182632"/>
                </a:solidFill>
                <a:latin typeface="Aptos"/>
              </a:rPr>
              <a:t>Connections, Backups, and Restore Plans</a:t>
            </a:r>
          </a:p>
        </p:txBody>
      </p:sp>
      <p:sp>
        <p:nvSpPr>
          <p:cNvPr id="7" name="TextBox 6"/>
          <p:cNvSpPr txBox="1"/>
          <p:nvPr/>
        </p:nvSpPr>
        <p:spPr>
          <a:xfrm>
            <a:off x="1316736" y="1152144"/>
            <a:ext cx="8732520" cy="411480"/>
          </a:xfrm>
          <a:prstGeom prst="rect">
            <a:avLst/>
          </a:prstGeom>
          <a:noFill/>
        </p:spPr>
        <p:txBody>
          <a:bodyPr wrap="square" lIns="54864" rIns="54864" tIns="27432" bIns="27432">
            <a:spAutoFit/>
          </a:bodyPr>
          <a:lstStyle/>
          <a:p>
            <a:pPr>
              <a:lnSpc>
                <a:spcPct val="105000"/>
              </a:lnSpc>
            </a:pPr>
            <a:r>
              <a:rPr sz="1600" b="0">
                <a:solidFill>
                  <a:srgbClr val="5C656E"/>
                </a:solidFill>
                <a:latin typeface="Aptos"/>
              </a:rPr>
              <a:t>Cloud database work includes setup and recovery, not just query writing.</a:t>
            </a:r>
          </a:p>
        </p:txBody>
      </p:sp>
      <p:sp>
        <p:nvSpPr>
          <p:cNvPr id="8" name="Rounded Rectangle 7"/>
          <p:cNvSpPr/>
          <p:nvPr/>
        </p:nvSpPr>
        <p:spPr>
          <a:xfrm>
            <a:off x="1325880" y="1874519"/>
            <a:ext cx="4343400" cy="1307592"/>
          </a:xfrm>
          <a:prstGeom prst="roundRect">
            <a:avLst/>
          </a:prstGeom>
          <a:solidFill>
            <a:srgbClr val="FFFFFF"/>
          </a:solidFill>
          <a:ln>
            <a:solidFill>
              <a:srgbClr val="DB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7048" y="2020823"/>
            <a:ext cx="3941064" cy="237744"/>
          </a:xfrm>
          <a:prstGeom prst="rect">
            <a:avLst/>
          </a:prstGeom>
          <a:noFill/>
        </p:spPr>
        <p:txBody>
          <a:bodyPr wrap="none">
            <a:spAutoFit/>
          </a:bodyPr>
          <a:lstStyle/>
          <a:p>
            <a:r>
              <a:rPr sz="1500" b="1">
                <a:solidFill>
                  <a:srgbClr val="143D30"/>
                </a:solidFill>
                <a:latin typeface="Aptos"/>
              </a:rPr>
              <a:t>Connection</a:t>
            </a:r>
          </a:p>
        </p:txBody>
      </p:sp>
      <p:sp>
        <p:nvSpPr>
          <p:cNvPr id="10" name="TextBox 9"/>
          <p:cNvSpPr txBox="1"/>
          <p:nvPr/>
        </p:nvSpPr>
        <p:spPr>
          <a:xfrm>
            <a:off x="1527048" y="2350007"/>
            <a:ext cx="3941064" cy="640080"/>
          </a:xfrm>
          <a:prstGeom prst="rect">
            <a:avLst/>
          </a:prstGeom>
          <a:noFill/>
        </p:spPr>
        <p:txBody>
          <a:bodyPr wrap="square" lIns="54864" rIns="54864" tIns="27432" bIns="27432">
            <a:spAutoFit/>
          </a:bodyPr>
          <a:lstStyle/>
          <a:p>
            <a:pPr>
              <a:lnSpc>
                <a:spcPct val="105000"/>
              </a:lnSpc>
            </a:pPr>
            <a:r>
              <a:rPr sz="1600" b="0">
                <a:solidFill>
                  <a:srgbClr val="182632"/>
                </a:solidFill>
                <a:latin typeface="Aptos"/>
              </a:rPr>
              <a:t>Use SQL Editor, local tools, or a connection string.</a:t>
            </a:r>
          </a:p>
        </p:txBody>
      </p:sp>
      <p:sp>
        <p:nvSpPr>
          <p:cNvPr id="11" name="Rounded Rectangle 10"/>
          <p:cNvSpPr/>
          <p:nvPr/>
        </p:nvSpPr>
        <p:spPr>
          <a:xfrm>
            <a:off x="5989320" y="1874519"/>
            <a:ext cx="4343400" cy="1307592"/>
          </a:xfrm>
          <a:prstGeom prst="roundRect">
            <a:avLst/>
          </a:prstGeom>
          <a:solidFill>
            <a:srgbClr val="FFFFFF"/>
          </a:solidFill>
          <a:ln>
            <a:solidFill>
              <a:srgbClr val="DB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90488" y="2020823"/>
            <a:ext cx="3941064" cy="237744"/>
          </a:xfrm>
          <a:prstGeom prst="rect">
            <a:avLst/>
          </a:prstGeom>
          <a:noFill/>
        </p:spPr>
        <p:txBody>
          <a:bodyPr wrap="none">
            <a:spAutoFit/>
          </a:bodyPr>
          <a:lstStyle/>
          <a:p>
            <a:r>
              <a:rPr sz="1500" b="1">
                <a:solidFill>
                  <a:srgbClr val="143D30"/>
                </a:solidFill>
                <a:latin typeface="Aptos"/>
              </a:rPr>
              <a:t>Pooler</a:t>
            </a:r>
          </a:p>
        </p:txBody>
      </p:sp>
      <p:sp>
        <p:nvSpPr>
          <p:cNvPr id="13" name="TextBox 12"/>
          <p:cNvSpPr txBox="1"/>
          <p:nvPr/>
        </p:nvSpPr>
        <p:spPr>
          <a:xfrm>
            <a:off x="6190488" y="2350007"/>
            <a:ext cx="3941064" cy="640080"/>
          </a:xfrm>
          <a:prstGeom prst="rect">
            <a:avLst/>
          </a:prstGeom>
          <a:noFill/>
        </p:spPr>
        <p:txBody>
          <a:bodyPr wrap="square" lIns="54864" rIns="54864" tIns="27432" bIns="27432">
            <a:spAutoFit/>
          </a:bodyPr>
          <a:lstStyle/>
          <a:p>
            <a:pPr>
              <a:lnSpc>
                <a:spcPct val="105000"/>
              </a:lnSpc>
            </a:pPr>
            <a:r>
              <a:rPr sz="1600" b="0">
                <a:solidFill>
                  <a:srgbClr val="182632"/>
                </a:solidFill>
                <a:latin typeface="Aptos"/>
              </a:rPr>
              <a:t>Use the Supabase pooler when the environment needs IPv4 compatibility.</a:t>
            </a:r>
          </a:p>
        </p:txBody>
      </p:sp>
      <p:sp>
        <p:nvSpPr>
          <p:cNvPr id="14" name="Rounded Rectangle 13"/>
          <p:cNvSpPr/>
          <p:nvPr/>
        </p:nvSpPr>
        <p:spPr>
          <a:xfrm>
            <a:off x="1325880" y="3493007"/>
            <a:ext cx="4343400" cy="1307592"/>
          </a:xfrm>
          <a:prstGeom prst="roundRect">
            <a:avLst/>
          </a:prstGeom>
          <a:solidFill>
            <a:srgbClr val="FFFFFF"/>
          </a:solidFill>
          <a:ln>
            <a:solidFill>
              <a:srgbClr val="DB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7048" y="3639311"/>
            <a:ext cx="3941064" cy="237744"/>
          </a:xfrm>
          <a:prstGeom prst="rect">
            <a:avLst/>
          </a:prstGeom>
          <a:noFill/>
        </p:spPr>
        <p:txBody>
          <a:bodyPr wrap="none">
            <a:spAutoFit/>
          </a:bodyPr>
          <a:lstStyle/>
          <a:p>
            <a:r>
              <a:rPr sz="1500" b="1">
                <a:solidFill>
                  <a:srgbClr val="143D30"/>
                </a:solidFill>
                <a:latin typeface="Aptos"/>
              </a:rPr>
              <a:t>Backup</a:t>
            </a:r>
          </a:p>
        </p:txBody>
      </p:sp>
      <p:sp>
        <p:nvSpPr>
          <p:cNvPr id="16" name="TextBox 15"/>
          <p:cNvSpPr txBox="1"/>
          <p:nvPr/>
        </p:nvSpPr>
        <p:spPr>
          <a:xfrm>
            <a:off x="1527048" y="3968495"/>
            <a:ext cx="3941064" cy="640080"/>
          </a:xfrm>
          <a:prstGeom prst="rect">
            <a:avLst/>
          </a:prstGeom>
          <a:noFill/>
        </p:spPr>
        <p:txBody>
          <a:bodyPr wrap="square" lIns="54864" rIns="54864" tIns="27432" bIns="27432">
            <a:spAutoFit/>
          </a:bodyPr>
          <a:lstStyle/>
          <a:p>
            <a:pPr>
              <a:lnSpc>
                <a:spcPct val="105000"/>
              </a:lnSpc>
            </a:pPr>
            <a:r>
              <a:rPr sz="1600" b="0">
                <a:solidFill>
                  <a:srgbClr val="182632"/>
                </a:solidFill>
                <a:latin typeface="Aptos"/>
              </a:rPr>
              <a:t>A backup is only useful if the restore path is understood.</a:t>
            </a:r>
          </a:p>
        </p:txBody>
      </p:sp>
      <p:sp>
        <p:nvSpPr>
          <p:cNvPr id="17" name="Rounded Rectangle 16"/>
          <p:cNvSpPr/>
          <p:nvPr/>
        </p:nvSpPr>
        <p:spPr>
          <a:xfrm>
            <a:off x="5989320" y="3493007"/>
            <a:ext cx="4343400" cy="1307592"/>
          </a:xfrm>
          <a:prstGeom prst="roundRect">
            <a:avLst/>
          </a:prstGeom>
          <a:solidFill>
            <a:srgbClr val="FFFFFF"/>
          </a:solidFill>
          <a:ln>
            <a:solidFill>
              <a:srgbClr val="DB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90488" y="3639311"/>
            <a:ext cx="3941064" cy="237744"/>
          </a:xfrm>
          <a:prstGeom prst="rect">
            <a:avLst/>
          </a:prstGeom>
          <a:noFill/>
        </p:spPr>
        <p:txBody>
          <a:bodyPr wrap="none">
            <a:spAutoFit/>
          </a:bodyPr>
          <a:lstStyle/>
          <a:p>
            <a:r>
              <a:rPr sz="1500" b="1">
                <a:solidFill>
                  <a:srgbClr val="143D30"/>
                </a:solidFill>
                <a:latin typeface="Aptos"/>
              </a:rPr>
              <a:t>Verify</a:t>
            </a:r>
          </a:p>
        </p:txBody>
      </p:sp>
      <p:sp>
        <p:nvSpPr>
          <p:cNvPr id="19" name="TextBox 18"/>
          <p:cNvSpPr txBox="1"/>
          <p:nvPr/>
        </p:nvSpPr>
        <p:spPr>
          <a:xfrm>
            <a:off x="6190488" y="3968495"/>
            <a:ext cx="3941064" cy="640080"/>
          </a:xfrm>
          <a:prstGeom prst="rect">
            <a:avLst/>
          </a:prstGeom>
          <a:noFill/>
        </p:spPr>
        <p:txBody>
          <a:bodyPr wrap="square" lIns="54864" rIns="54864" tIns="27432" bIns="27432">
            <a:spAutoFit/>
          </a:bodyPr>
          <a:lstStyle/>
          <a:p>
            <a:pPr>
              <a:lnSpc>
                <a:spcPct val="105000"/>
              </a:lnSpc>
            </a:pPr>
            <a:r>
              <a:rPr sz="1600" b="0">
                <a:solidFill>
                  <a:srgbClr val="182632"/>
                </a:solidFill>
                <a:latin typeface="Aptos"/>
              </a:rPr>
              <a:t>After restore, check tables, row counts, queries, indexes, and policies.</a:t>
            </a:r>
          </a:p>
        </p:txBody>
      </p:sp>
      <p:sp>
        <p:nvSpPr>
          <p:cNvPr id="20" name="TextBox 19"/>
          <p:cNvSpPr txBox="1"/>
          <p:nvPr/>
        </p:nvSpPr>
        <p:spPr>
          <a:xfrm>
            <a:off x="8686800" y="5815584"/>
            <a:ext cx="1737360" cy="182880"/>
          </a:xfrm>
          <a:prstGeom prst="rect">
            <a:avLst/>
          </a:prstGeom>
          <a:noFill/>
        </p:spPr>
        <p:txBody>
          <a:bodyPr wrap="none">
            <a:spAutoFit/>
          </a:bodyPr>
          <a:lstStyle/>
          <a:p>
            <a:pPr algn="r"/>
            <a:r>
              <a:rPr sz="900" b="0">
                <a:solidFill>
                  <a:srgbClr val="5C656E"/>
                </a:solidFill>
                <a:latin typeface="Aptos"/>
              </a:rPr>
              <a:t>CST4714 | Week 14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0" cy="6858000"/>
          </a:xfrm>
          <a:prstGeom prst="rect">
            <a:avLst/>
          </a:prstGeom>
          <a:solidFill>
            <a:srgbClr val="248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0"/>
            <a:ext cx="91440" cy="6858000"/>
          </a:xfrm>
          <a:prstGeom prst="rect">
            <a:avLst/>
          </a:prstGeom>
          <a:solidFill>
            <a:srgbClr val="DA9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98448" y="320040"/>
            <a:ext cx="2743200" cy="228600"/>
          </a:xfrm>
          <a:prstGeom prst="rect">
            <a:avLst/>
          </a:prstGeom>
          <a:noFill/>
        </p:spPr>
        <p:txBody>
          <a:bodyPr wrap="none">
            <a:spAutoFit/>
          </a:bodyPr>
          <a:lstStyle/>
          <a:p>
            <a:r>
              <a:rPr sz="1200" b="1">
                <a:solidFill>
                  <a:srgbClr val="248B68"/>
                </a:solidFill>
                <a:latin typeface="Aptos"/>
              </a:rPr>
              <a:t>SUPABASE CHECKPOINT</a:t>
            </a:r>
          </a:p>
        </p:txBody>
      </p:sp>
      <p:sp>
        <p:nvSpPr>
          <p:cNvPr id="6" name="TextBox 5"/>
          <p:cNvSpPr txBox="1"/>
          <p:nvPr/>
        </p:nvSpPr>
        <p:spPr>
          <a:xfrm>
            <a:off x="1280160" y="621792"/>
            <a:ext cx="8595360" cy="502920"/>
          </a:xfrm>
          <a:prstGeom prst="rect">
            <a:avLst/>
          </a:prstGeom>
          <a:noFill/>
        </p:spPr>
        <p:txBody>
          <a:bodyPr wrap="none">
            <a:spAutoFit/>
          </a:bodyPr>
          <a:lstStyle/>
          <a:p>
            <a:r>
              <a:rPr sz="3200" b="1">
                <a:solidFill>
                  <a:srgbClr val="182632"/>
                </a:solidFill>
                <a:latin typeface="Aptos"/>
              </a:rPr>
              <a:t>Supabase Evidence Paragraph</a:t>
            </a:r>
          </a:p>
        </p:txBody>
      </p:sp>
      <p:sp>
        <p:nvSpPr>
          <p:cNvPr id="7" name="TextBox 6"/>
          <p:cNvSpPr txBox="1"/>
          <p:nvPr/>
        </p:nvSpPr>
        <p:spPr>
          <a:xfrm>
            <a:off x="1316736" y="1152144"/>
            <a:ext cx="8732520" cy="411480"/>
          </a:xfrm>
          <a:prstGeom prst="rect">
            <a:avLst/>
          </a:prstGeom>
          <a:noFill/>
        </p:spPr>
        <p:txBody>
          <a:bodyPr wrap="square" lIns="54864" rIns="54864" tIns="27432" bIns="27432">
            <a:spAutoFit/>
          </a:bodyPr>
          <a:lstStyle/>
          <a:p>
            <a:pPr>
              <a:lnSpc>
                <a:spcPct val="105000"/>
              </a:lnSpc>
            </a:pPr>
            <a:r>
              <a:rPr sz="1600" b="0">
                <a:solidFill>
                  <a:srgbClr val="5C656E"/>
                </a:solidFill>
                <a:latin typeface="Aptos"/>
              </a:rPr>
              <a:t>If students are using Supabase, this is what they should write during the lab.</a:t>
            </a:r>
          </a:p>
        </p:txBody>
      </p:sp>
      <p:sp>
        <p:nvSpPr>
          <p:cNvPr id="8" name="Rounded Rectangle 7"/>
          <p:cNvSpPr/>
          <p:nvPr/>
        </p:nvSpPr>
        <p:spPr>
          <a:xfrm>
            <a:off x="1325880" y="1874519"/>
            <a:ext cx="4343400" cy="1307592"/>
          </a:xfrm>
          <a:prstGeom prst="roundRect">
            <a:avLst/>
          </a:prstGeom>
          <a:solidFill>
            <a:srgbClr val="FFFFFF"/>
          </a:solidFill>
          <a:ln>
            <a:solidFill>
              <a:srgbClr val="DB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7048" y="2020823"/>
            <a:ext cx="3941064" cy="237744"/>
          </a:xfrm>
          <a:prstGeom prst="rect">
            <a:avLst/>
          </a:prstGeom>
          <a:noFill/>
        </p:spPr>
        <p:txBody>
          <a:bodyPr wrap="none">
            <a:spAutoFit/>
          </a:bodyPr>
          <a:lstStyle/>
          <a:p>
            <a:r>
              <a:rPr sz="1500" b="1">
                <a:solidFill>
                  <a:srgbClr val="143D30"/>
                </a:solidFill>
                <a:latin typeface="Aptos"/>
              </a:rPr>
              <a:t>Platform</a:t>
            </a:r>
          </a:p>
        </p:txBody>
      </p:sp>
      <p:sp>
        <p:nvSpPr>
          <p:cNvPr id="10" name="TextBox 9"/>
          <p:cNvSpPr txBox="1"/>
          <p:nvPr/>
        </p:nvSpPr>
        <p:spPr>
          <a:xfrm>
            <a:off x="1527048" y="2350007"/>
            <a:ext cx="3941064" cy="640080"/>
          </a:xfrm>
          <a:prstGeom prst="rect">
            <a:avLst/>
          </a:prstGeom>
          <a:noFill/>
        </p:spPr>
        <p:txBody>
          <a:bodyPr wrap="square" lIns="54864" rIns="54864" tIns="27432" bIns="27432">
            <a:spAutoFit/>
          </a:bodyPr>
          <a:lstStyle/>
          <a:p>
            <a:pPr>
              <a:lnSpc>
                <a:spcPct val="105000"/>
              </a:lnSpc>
            </a:pPr>
            <a:r>
              <a:rPr sz="1600" b="0">
                <a:solidFill>
                  <a:srgbClr val="182632"/>
                </a:solidFill>
                <a:latin typeface="Aptos"/>
              </a:rPr>
              <a:t>Why Supabase/Postgres fits the project.</a:t>
            </a:r>
          </a:p>
        </p:txBody>
      </p:sp>
      <p:sp>
        <p:nvSpPr>
          <p:cNvPr id="11" name="Rounded Rectangle 10"/>
          <p:cNvSpPr/>
          <p:nvPr/>
        </p:nvSpPr>
        <p:spPr>
          <a:xfrm>
            <a:off x="5989320" y="1874519"/>
            <a:ext cx="4343400" cy="1307592"/>
          </a:xfrm>
          <a:prstGeom prst="roundRect">
            <a:avLst/>
          </a:prstGeom>
          <a:solidFill>
            <a:srgbClr val="FFFFFF"/>
          </a:solidFill>
          <a:ln>
            <a:solidFill>
              <a:srgbClr val="DB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90488" y="2020823"/>
            <a:ext cx="3941064" cy="237744"/>
          </a:xfrm>
          <a:prstGeom prst="rect">
            <a:avLst/>
          </a:prstGeom>
          <a:noFill/>
        </p:spPr>
        <p:txBody>
          <a:bodyPr wrap="none">
            <a:spAutoFit/>
          </a:bodyPr>
          <a:lstStyle/>
          <a:p>
            <a:r>
              <a:rPr sz="1500" b="1">
                <a:solidFill>
                  <a:srgbClr val="143D30"/>
                </a:solidFill>
                <a:latin typeface="Aptos"/>
              </a:rPr>
              <a:t>Permission</a:t>
            </a:r>
          </a:p>
        </p:txBody>
      </p:sp>
      <p:sp>
        <p:nvSpPr>
          <p:cNvPr id="13" name="TextBox 12"/>
          <p:cNvSpPr txBox="1"/>
          <p:nvPr/>
        </p:nvSpPr>
        <p:spPr>
          <a:xfrm>
            <a:off x="6190488" y="2350007"/>
            <a:ext cx="3941064" cy="640080"/>
          </a:xfrm>
          <a:prstGeom prst="rect">
            <a:avLst/>
          </a:prstGeom>
          <a:noFill/>
        </p:spPr>
        <p:txBody>
          <a:bodyPr wrap="square" lIns="54864" rIns="54864" tIns="27432" bIns="27432">
            <a:spAutoFit/>
          </a:bodyPr>
          <a:lstStyle/>
          <a:p>
            <a:pPr>
              <a:lnSpc>
                <a:spcPct val="105000"/>
              </a:lnSpc>
            </a:pPr>
            <a:r>
              <a:rPr sz="1600" b="0">
                <a:solidFill>
                  <a:srgbClr val="182632"/>
                </a:solidFill>
                <a:latin typeface="Aptos"/>
              </a:rPr>
              <a:t>One table or action that needs protection.</a:t>
            </a:r>
          </a:p>
        </p:txBody>
      </p:sp>
      <p:sp>
        <p:nvSpPr>
          <p:cNvPr id="14" name="Rounded Rectangle 13"/>
          <p:cNvSpPr/>
          <p:nvPr/>
        </p:nvSpPr>
        <p:spPr>
          <a:xfrm>
            <a:off x="1325880" y="3493007"/>
            <a:ext cx="4343400" cy="1307592"/>
          </a:xfrm>
          <a:prstGeom prst="roundRect">
            <a:avLst/>
          </a:prstGeom>
          <a:solidFill>
            <a:srgbClr val="FFFFFF"/>
          </a:solidFill>
          <a:ln>
            <a:solidFill>
              <a:srgbClr val="DB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7048" y="3639311"/>
            <a:ext cx="3941064" cy="237744"/>
          </a:xfrm>
          <a:prstGeom prst="rect">
            <a:avLst/>
          </a:prstGeom>
          <a:noFill/>
        </p:spPr>
        <p:txBody>
          <a:bodyPr wrap="none">
            <a:spAutoFit/>
          </a:bodyPr>
          <a:lstStyle/>
          <a:p>
            <a:r>
              <a:rPr sz="1500" b="1">
                <a:solidFill>
                  <a:srgbClr val="143D30"/>
                </a:solidFill>
                <a:latin typeface="Aptos"/>
              </a:rPr>
              <a:t>Restore</a:t>
            </a:r>
          </a:p>
        </p:txBody>
      </p:sp>
      <p:sp>
        <p:nvSpPr>
          <p:cNvPr id="16" name="TextBox 15"/>
          <p:cNvSpPr txBox="1"/>
          <p:nvPr/>
        </p:nvSpPr>
        <p:spPr>
          <a:xfrm>
            <a:off x="1527048" y="3968495"/>
            <a:ext cx="3941064" cy="640080"/>
          </a:xfrm>
          <a:prstGeom prst="rect">
            <a:avLst/>
          </a:prstGeom>
          <a:noFill/>
        </p:spPr>
        <p:txBody>
          <a:bodyPr wrap="square" lIns="54864" rIns="54864" tIns="27432" bIns="27432">
            <a:spAutoFit/>
          </a:bodyPr>
          <a:lstStyle/>
          <a:p>
            <a:pPr>
              <a:lnSpc>
                <a:spcPct val="105000"/>
              </a:lnSpc>
            </a:pPr>
            <a:r>
              <a:rPr sz="1600" b="0">
                <a:solidFill>
                  <a:srgbClr val="182632"/>
                </a:solidFill>
                <a:latin typeface="Aptos"/>
              </a:rPr>
              <a:t>One mistake or incident and how recovery would be checked.</a:t>
            </a:r>
          </a:p>
        </p:txBody>
      </p:sp>
      <p:sp>
        <p:nvSpPr>
          <p:cNvPr id="17" name="Rounded Rectangle 16"/>
          <p:cNvSpPr/>
          <p:nvPr/>
        </p:nvSpPr>
        <p:spPr>
          <a:xfrm>
            <a:off x="5989320" y="3493007"/>
            <a:ext cx="4343400" cy="1307592"/>
          </a:xfrm>
          <a:prstGeom prst="roundRect">
            <a:avLst/>
          </a:prstGeom>
          <a:solidFill>
            <a:srgbClr val="FFFFFF"/>
          </a:solidFill>
          <a:ln>
            <a:solidFill>
              <a:srgbClr val="DB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90488" y="3639311"/>
            <a:ext cx="3941064" cy="237744"/>
          </a:xfrm>
          <a:prstGeom prst="rect">
            <a:avLst/>
          </a:prstGeom>
          <a:noFill/>
        </p:spPr>
        <p:txBody>
          <a:bodyPr wrap="none">
            <a:spAutoFit/>
          </a:bodyPr>
          <a:lstStyle/>
          <a:p>
            <a:r>
              <a:rPr sz="1500" b="1">
                <a:solidFill>
                  <a:srgbClr val="143D30"/>
                </a:solidFill>
                <a:latin typeface="Aptos"/>
              </a:rPr>
              <a:t>Index</a:t>
            </a:r>
          </a:p>
        </p:txBody>
      </p:sp>
      <p:sp>
        <p:nvSpPr>
          <p:cNvPr id="19" name="TextBox 18"/>
          <p:cNvSpPr txBox="1"/>
          <p:nvPr/>
        </p:nvSpPr>
        <p:spPr>
          <a:xfrm>
            <a:off x="6190488" y="3968495"/>
            <a:ext cx="3941064" cy="640080"/>
          </a:xfrm>
          <a:prstGeom prst="rect">
            <a:avLst/>
          </a:prstGeom>
          <a:noFill/>
        </p:spPr>
        <p:txBody>
          <a:bodyPr wrap="square" lIns="54864" rIns="54864" tIns="27432" bIns="27432">
            <a:spAutoFit/>
          </a:bodyPr>
          <a:lstStyle/>
          <a:p>
            <a:pPr>
              <a:lnSpc>
                <a:spcPct val="105000"/>
              </a:lnSpc>
            </a:pPr>
            <a:r>
              <a:rPr sz="1600" b="0">
                <a:solidFill>
                  <a:srgbClr val="182632"/>
                </a:solidFill>
                <a:latin typeface="Aptos"/>
              </a:rPr>
              <a:t>One indexed column or column set tied to a query.</a:t>
            </a:r>
          </a:p>
        </p:txBody>
      </p:sp>
      <p:sp>
        <p:nvSpPr>
          <p:cNvPr id="20" name="TextBox 19"/>
          <p:cNvSpPr txBox="1"/>
          <p:nvPr/>
        </p:nvSpPr>
        <p:spPr>
          <a:xfrm>
            <a:off x="8686800" y="5815584"/>
            <a:ext cx="1737360" cy="182880"/>
          </a:xfrm>
          <a:prstGeom prst="rect">
            <a:avLst/>
          </a:prstGeom>
          <a:noFill/>
        </p:spPr>
        <p:txBody>
          <a:bodyPr wrap="none">
            <a:spAutoFit/>
          </a:bodyPr>
          <a:lstStyle/>
          <a:p>
            <a:pPr algn="r"/>
            <a:r>
              <a:rPr sz="900" b="0">
                <a:solidFill>
                  <a:srgbClr val="5C656E"/>
                </a:solidFill>
                <a:latin typeface="Aptos"/>
              </a:rPr>
              <a:t>CST4714 | Week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