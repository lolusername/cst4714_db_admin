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Today we are doing a different kind of advanced topic class. You are going to act as incident commanders for a fictional cloud application. The app uses more than one database, and something has gone wrong. The goal is not to memorize distributed systems vocabulary. The goal is to use that vocabulary to explain a failure. By the end of class, you should be able to say what broke, what tradeoff caused it, and what design change would reduce the risk next time.</a:t>
            </a:r>
            <a:endParaRPr lang="en-US" dirty="0"/>
          </a:p>
        </p:txBody>
      </p:sp>
    </p:spTree>
  </p:cSld>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syllabus says Week 14 is about advanced topics, polyglot persistence, distributed tradeoffs, and project review. Today we are covering that through a game-style incident. Polyglot persistence means using more than one kind of database in the same system. Distributed tradeoffs are the problems that appear when data, writes, reads, backups, and permissions are spread across more than one service. This is still database administration. Administrators do not only build databases. They diagnose failures and make tradeoff decisions.</a:t>
            </a:r>
            <a:endParaRPr lang="en-US" dirty="0"/>
          </a:p>
        </p:txBody>
      </p:sp>
    </p:spTree>
  </p:cSld>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Here is the fictional app for today. Campus Food Rush lets students preorder food during lunch. It uses Postgres for users, orders, and payments. It uses MongoDB for cart events, activity logs, and menu snapshots. It also has a cache for fast menu availability reads. During the lunch rush, some students were charged, but their orders disappeared from the kitchen screen. That is the incident. Your job is to decide where the official truth should live and why the systems disagreed.</a:t>
            </a:r>
            <a:endParaRPr lang="en-US" dirty="0"/>
          </a:p>
        </p:txBody>
      </p:sp>
    </p:spTree>
  </p:cSld>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Before the incident, we need three vocabulary words. Source of truth means the official place where a fact lives. If order status lives in Postgres, then Postgres is the source of truth for order status. Consistency means systems agree about the same fact. Consistency becomes harder when writes are split across services. Idempotency means an action can be retried safely without causing duplicate effects. Checkout and payment systems need idempotency because users refresh pages, networks fail, and requests get retried.</a:t>
            </a:r>
            <a:endParaRPr lang="en-US" dirty="0"/>
          </a:p>
        </p:txBody>
      </p:sp>
    </p:spTree>
  </p:cSld>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Round one is the clue board. At twelve oh one, the menu cache says burritos are available. At twelve oh three, Postgres creates an order row with status pending. At twelve oh four, the payment provider marks the charge successful. At twelve oh five, MongoDB misses some checkout success events. At twelve oh six, the kitchen screen reads from MongoDB events instead of Postgres orders. At twelve oh seven, students refresh and submit checkout again. The key question is this: which system should the kitchen screen trust.</a:t>
            </a:r>
            <a:endParaRPr lang="en-US" dirty="0"/>
          </a:p>
        </p:txBody>
      </p:sp>
    </p:spTree>
  </p:cSld>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This is the first tradeoff. Reading from the event stream or cache may be fast, but it can be risky if the event stream is delayed or incomplete. Reading from the official orders table may be less flashy, but it follows the source of truth. The administration judgment is that not every screen should read from the fastest source. A kitchen screen needs correctness more than speed. If a student was charged, the kitchen should not depend only on a derived event log to know the order exists.</a:t>
            </a:r>
            <a:endParaRPr lang="en-US" dirty="0"/>
          </a:p>
        </p:txBody>
      </p:sp>
    </p:spTree>
  </p:cSld>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Round two is the ghost order. A ghost order means payment exists, but the operational order is missing or invisible. The student clicks checkout. The payment succeeds. The event write fails. The kitchen reads from events. The order vanishes. This is exactly the kind of distributed failure that appears when one user action depends on multiple systems. The question is what should happen when payment succeeds but the event write fails. The answer cannot be just hope the event write works next time.</a:t>
            </a:r>
            <a:endParaRPr lang="en-US" dirty="0"/>
          </a:p>
        </p:txBody>
      </p:sp>
    </p:spTree>
  </p:cSld>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A better design makes the write recoverable. The system should write the order first, record the payment status, retry the failed event safely, and make the kitchen screen read from the source of truth. Idempotency helps because the same checkout request can be retried without creating duplicate charges or duplicate orders. A request id is one common way to recognize that a retry is the same action. The database administration evidence is the explanation: what is the source of truth, what failure is monitored, how restore is verified, and what tradeoff the design accepts.</a:t>
            </a:r>
            <a:endParaRPr lang="en-US" dirty="0"/>
          </a:p>
        </p:txBody>
      </p:sp>
    </p:spTree>
  </p:cSld>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This is CAP without the math. Consistency means every read sees the correct agreed value. Availability means the system keeps responding. Partition tolerance means the network can fail between services. The practical version is easier to understand: when the network is weird, do we prefer a possibly stale answer or no answer. Different systems make different choices. For a public menu count, a slightly stale answer might be acceptable. For payment and order status, a stale answer can hurt people.</a:t>
            </a:r>
            <a:endParaRPr lang="en-US" dirty="0"/>
          </a:p>
        </p:txBody>
      </p:sp>
    </p:spTree>
  </p:cSld>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Round three is choosing a fix. Option A keeps the kitchen on MongoDB events and adds a lag warning. Option B moves the kitchen to Postgres orders and uses MongoDB events only for analytics. Option C keeps both systems as truth and manually compares them at night. Option D retries checkout blindly until everything writes. The safest repair is usually option B because the operational screen should read from the source of truth. The tradeoff is that some analytics or event-driven features may be less real time, but the kitchen order flow becomes safer.</a:t>
            </a:r>
            <a:endParaRPr lang="en-US" dirty="0"/>
          </a:p>
        </p:txBody>
      </p:sp>
    </p:spTree>
  </p:cSld>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Here are the pattern cards students should remember. The source-of-truth rule says each important fact needs one official owner. Derived copies are useful, but they are not truth. The outbox idea means the system records a change locally, then sends the event after the local commit, with retries if delivery fails. Idempotent retry means the same request can be retried without duplicate side effects. A restore drill means recovery is not done until counts, indexes, and important queries are verified.</a:t>
            </a:r>
            <a:endParaRPr lang="en-US" dirty="0"/>
          </a:p>
        </p:txBody>
      </p:sp>
    </p:spTree>
  </p:cSld>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The mini lab is an incident commander report. Students submit one root cause, one source of truth decision, one repair pattern, one tradeoff, and one test or monitor. This is individual work. The answers should be short. No code is required. The goal is to use today's vocabulary to make the fictional system safer. This should feel like a database administration decision exercise, not a paperwork checklist.</a:t>
            </a:r>
            <a:endParaRPr lang="en-US" dirty="0"/>
          </a:p>
        </p:txBody>
      </p:sp>
    </p:spTree>
  </p:cSld>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If students finish early, they can extend the incident report in one of two ways. First, they can design a status page by choosing three signals that would help during the incident. Examples include event lag, failed checkouts, duplicate payment attempts, restore status, stale cache age, or an order count mismatch. Second, they can write a customer-safe incident message. The message should explain the issue in plain language without exposing secrets or blaming users. This connects database administration to communication.</a:t>
            </a:r>
            <a:endParaRPr lang="en-US" dirty="0"/>
          </a:p>
        </p:txBody>
      </p:sp>
    </p:spTree>
  </p:cSld>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End with the main idea. A distributed system is not better because it has more parts. It is better only when each part has a clear job, a clear source of truth, and a clear recovery plan. The exit ticket is one sentence: name one place where speed and correctness were in tension today. Strong answers might mention the kitchen screen reading from events, the menu cache showing stale availability, or checkout retries causing duplicate payment risk.</a:t>
            </a:r>
            <a:endParaRPr lang="en-US" dirty="0"/>
          </a:p>
        </p:txBody>
      </p:sp>
    </p:spTree>
  </p:cSld>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1935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109728" cy="6858000"/>
          </a:xfrm>
          <a:prstGeom prst="rect">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20040"/>
            <a:ext cx="3474720" cy="274320"/>
          </a:xfrm>
          <a:prstGeom prst="rect">
            <a:avLst/>
          </a:prstGeom>
          <a:noFill/>
        </p:spPr>
        <p:txBody>
          <a:bodyPr wrap="square" lIns="54864" rIns="54864" tIns="18288" bIns="18288">
            <a:spAutoFit/>
          </a:bodyPr>
          <a:lstStyle/>
          <a:p>
            <a:r>
              <a:rPr sz="1200" b="1">
                <a:solidFill>
                  <a:srgbClr val="E27039"/>
                </a:solidFill>
                <a:latin typeface="Aptos"/>
              </a:rPr>
              <a:t>ADVANCED TOPIC GAME</a:t>
            </a:r>
          </a:p>
        </p:txBody>
      </p:sp>
      <p:sp>
        <p:nvSpPr>
          <p:cNvPr id="6" name="TextBox 5"/>
          <p:cNvSpPr txBox="1"/>
          <p:nvPr/>
        </p:nvSpPr>
        <p:spPr>
          <a:xfrm>
            <a:off x="1298448" y="640080"/>
            <a:ext cx="9692640" cy="502920"/>
          </a:xfrm>
          <a:prstGeom prst="rect">
            <a:avLst/>
          </a:prstGeom>
          <a:noFill/>
        </p:spPr>
        <p:txBody>
          <a:bodyPr wrap="square" lIns="54864" rIns="54864" tIns="18288" bIns="18288">
            <a:spAutoFit/>
          </a:bodyPr>
          <a:lstStyle/>
          <a:p>
            <a:r>
              <a:rPr sz="3200" b="1">
                <a:solidFill>
                  <a:srgbClr val="19222A"/>
                </a:solidFill>
                <a:latin typeface="Aptos"/>
              </a:rPr>
              <a:t>Distributed Database Incident Room</a:t>
            </a:r>
          </a:p>
        </p:txBody>
      </p:sp>
      <p:sp>
        <p:nvSpPr>
          <p:cNvPr id="7" name="TextBox 6"/>
          <p:cNvSpPr txBox="1"/>
          <p:nvPr/>
        </p:nvSpPr>
        <p:spPr>
          <a:xfrm>
            <a:off x="8686800" y="6355080"/>
            <a:ext cx="2377440" cy="228600"/>
          </a:xfrm>
          <a:prstGeom prst="rect">
            <a:avLst/>
          </a:prstGeom>
          <a:noFill/>
        </p:spPr>
        <p:txBody>
          <a:bodyPr wrap="square" lIns="54864" rIns="54864" tIns="18288" bIns="18288">
            <a:spAutoFit/>
          </a:bodyPr>
          <a:lstStyle/>
          <a:p>
            <a:pPr algn="r"/>
            <a:r>
              <a:rPr sz="900" b="0">
                <a:solidFill>
                  <a:srgbClr val="535D68"/>
                </a:solidFill>
                <a:latin typeface="Aptos"/>
              </a:rPr>
              <a:t>CST4714 | Week 14 Day 2 | 1</a:t>
            </a:r>
          </a:p>
        </p:txBody>
      </p:sp>
      <p:sp>
        <p:nvSpPr>
          <p:cNvPr id="8" name="TextBox 7"/>
          <p:cNvSpPr txBox="1"/>
          <p:nvPr/>
        </p:nvSpPr>
        <p:spPr>
          <a:xfrm>
            <a:off x="1371600" y="1280160"/>
            <a:ext cx="7498079" cy="384048"/>
          </a:xfrm>
          <a:prstGeom prst="rect">
            <a:avLst/>
          </a:prstGeom>
          <a:noFill/>
        </p:spPr>
        <p:txBody>
          <a:bodyPr wrap="square" lIns="54864" rIns="54864" tIns="18288" bIns="18288">
            <a:spAutoFit/>
          </a:bodyPr>
          <a:lstStyle/>
          <a:p>
            <a:r>
              <a:rPr sz="2200" b="1">
                <a:solidFill>
                  <a:srgbClr val="193556"/>
                </a:solidFill>
                <a:latin typeface="Aptos"/>
              </a:rPr>
              <a:t>A fake outage. Real database tradeoffs.</a:t>
            </a:r>
          </a:p>
        </p:txBody>
      </p:sp>
      <p:sp>
        <p:nvSpPr>
          <p:cNvPr id="9" name="Rounded Rectangle 8"/>
          <p:cNvSpPr/>
          <p:nvPr/>
        </p:nvSpPr>
        <p:spPr>
          <a:xfrm>
            <a:off x="1417320" y="2057400"/>
            <a:ext cx="2057400" cy="105156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81912" y="2176272"/>
            <a:ext cx="1728216" cy="256032"/>
          </a:xfrm>
          <a:prstGeom prst="rect">
            <a:avLst/>
          </a:prstGeom>
          <a:noFill/>
        </p:spPr>
        <p:txBody>
          <a:bodyPr wrap="square" lIns="54864" rIns="54864" tIns="18288" bIns="18288">
            <a:spAutoFit/>
          </a:bodyPr>
          <a:lstStyle/>
          <a:p>
            <a:r>
              <a:rPr sz="1500" b="1">
                <a:solidFill>
                  <a:srgbClr val="B74236"/>
                </a:solidFill>
                <a:latin typeface="Aptos"/>
              </a:rPr>
              <a:t>ORDERS</a:t>
            </a:r>
          </a:p>
        </p:txBody>
      </p:sp>
      <p:sp>
        <p:nvSpPr>
          <p:cNvPr id="11" name="TextBox 10"/>
          <p:cNvSpPr txBox="1"/>
          <p:nvPr/>
        </p:nvSpPr>
        <p:spPr>
          <a:xfrm>
            <a:off x="1581912" y="2496312"/>
            <a:ext cx="1728216" cy="502920"/>
          </a:xfrm>
          <a:prstGeom prst="rect">
            <a:avLst/>
          </a:prstGeom>
          <a:noFill/>
        </p:spPr>
        <p:txBody>
          <a:bodyPr wrap="square" lIns="54864" rIns="54864" tIns="18288" bIns="18288">
            <a:spAutoFit/>
          </a:bodyPr>
          <a:lstStyle/>
          <a:p>
            <a:r>
              <a:rPr sz="1400" b="0">
                <a:solidFill>
                  <a:srgbClr val="19222A"/>
                </a:solidFill>
                <a:latin typeface="Aptos"/>
              </a:rPr>
              <a:t>system status: unstable</a:t>
            </a:r>
          </a:p>
        </p:txBody>
      </p:sp>
      <p:sp>
        <p:nvSpPr>
          <p:cNvPr id="12" name="Rounded Rectangle 11"/>
          <p:cNvSpPr/>
          <p:nvPr/>
        </p:nvSpPr>
        <p:spPr>
          <a:xfrm>
            <a:off x="3840480" y="2057400"/>
            <a:ext cx="2057400" cy="105156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05072" y="2176272"/>
            <a:ext cx="1728216" cy="256032"/>
          </a:xfrm>
          <a:prstGeom prst="rect">
            <a:avLst/>
          </a:prstGeom>
          <a:noFill/>
        </p:spPr>
        <p:txBody>
          <a:bodyPr wrap="square" lIns="54864" rIns="54864" tIns="18288" bIns="18288">
            <a:spAutoFit/>
          </a:bodyPr>
          <a:lstStyle/>
          <a:p>
            <a:r>
              <a:rPr sz="1500" b="1">
                <a:solidFill>
                  <a:srgbClr val="B74236"/>
                </a:solidFill>
                <a:latin typeface="Aptos"/>
              </a:rPr>
              <a:t>PAYMENTS</a:t>
            </a:r>
          </a:p>
        </p:txBody>
      </p:sp>
      <p:sp>
        <p:nvSpPr>
          <p:cNvPr id="14" name="TextBox 13"/>
          <p:cNvSpPr txBox="1"/>
          <p:nvPr/>
        </p:nvSpPr>
        <p:spPr>
          <a:xfrm>
            <a:off x="4005072" y="2496312"/>
            <a:ext cx="1728216" cy="502920"/>
          </a:xfrm>
          <a:prstGeom prst="rect">
            <a:avLst/>
          </a:prstGeom>
          <a:noFill/>
        </p:spPr>
        <p:txBody>
          <a:bodyPr wrap="square" lIns="54864" rIns="54864" tIns="18288" bIns="18288">
            <a:spAutoFit/>
          </a:bodyPr>
          <a:lstStyle/>
          <a:p>
            <a:r>
              <a:rPr sz="1400" b="0">
                <a:solidFill>
                  <a:srgbClr val="19222A"/>
                </a:solidFill>
                <a:latin typeface="Aptos"/>
              </a:rPr>
              <a:t>system status: unstable</a:t>
            </a:r>
          </a:p>
        </p:txBody>
      </p:sp>
      <p:sp>
        <p:nvSpPr>
          <p:cNvPr id="15" name="Rounded Rectangle 14"/>
          <p:cNvSpPr/>
          <p:nvPr/>
        </p:nvSpPr>
        <p:spPr>
          <a:xfrm>
            <a:off x="6263640" y="2057400"/>
            <a:ext cx="2057400" cy="105156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2176272"/>
            <a:ext cx="1728216" cy="256032"/>
          </a:xfrm>
          <a:prstGeom prst="rect">
            <a:avLst/>
          </a:prstGeom>
          <a:noFill/>
        </p:spPr>
        <p:txBody>
          <a:bodyPr wrap="square" lIns="54864" rIns="54864" tIns="18288" bIns="18288">
            <a:spAutoFit/>
          </a:bodyPr>
          <a:lstStyle/>
          <a:p>
            <a:r>
              <a:rPr sz="1500" b="1">
                <a:solidFill>
                  <a:srgbClr val="B74236"/>
                </a:solidFill>
                <a:latin typeface="Aptos"/>
              </a:rPr>
              <a:t>INVENTORY</a:t>
            </a:r>
          </a:p>
        </p:txBody>
      </p:sp>
      <p:sp>
        <p:nvSpPr>
          <p:cNvPr id="17" name="TextBox 16"/>
          <p:cNvSpPr txBox="1"/>
          <p:nvPr/>
        </p:nvSpPr>
        <p:spPr>
          <a:xfrm>
            <a:off x="6428232" y="2496312"/>
            <a:ext cx="1728216" cy="502920"/>
          </a:xfrm>
          <a:prstGeom prst="rect">
            <a:avLst/>
          </a:prstGeom>
          <a:noFill/>
        </p:spPr>
        <p:txBody>
          <a:bodyPr wrap="square" lIns="54864" rIns="54864" tIns="18288" bIns="18288">
            <a:spAutoFit/>
          </a:bodyPr>
          <a:lstStyle/>
          <a:p>
            <a:r>
              <a:rPr sz="1400" b="0">
                <a:solidFill>
                  <a:srgbClr val="19222A"/>
                </a:solidFill>
                <a:latin typeface="Aptos"/>
              </a:rPr>
              <a:t>system status: unstable</a:t>
            </a:r>
          </a:p>
        </p:txBody>
      </p:sp>
      <p:sp>
        <p:nvSpPr>
          <p:cNvPr id="18" name="Rounded Rectangle 17"/>
          <p:cNvSpPr/>
          <p:nvPr/>
        </p:nvSpPr>
        <p:spPr>
          <a:xfrm>
            <a:off x="8686800" y="2057400"/>
            <a:ext cx="2057400" cy="105156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51392" y="2176272"/>
            <a:ext cx="1728216" cy="256032"/>
          </a:xfrm>
          <a:prstGeom prst="rect">
            <a:avLst/>
          </a:prstGeom>
          <a:noFill/>
        </p:spPr>
        <p:txBody>
          <a:bodyPr wrap="square" lIns="54864" rIns="54864" tIns="18288" bIns="18288">
            <a:spAutoFit/>
          </a:bodyPr>
          <a:lstStyle/>
          <a:p>
            <a:r>
              <a:rPr sz="1500" b="1">
                <a:solidFill>
                  <a:srgbClr val="B74236"/>
                </a:solidFill>
                <a:latin typeface="Aptos"/>
              </a:rPr>
              <a:t>LOGS</a:t>
            </a:r>
          </a:p>
        </p:txBody>
      </p:sp>
      <p:sp>
        <p:nvSpPr>
          <p:cNvPr id="20" name="TextBox 19"/>
          <p:cNvSpPr txBox="1"/>
          <p:nvPr/>
        </p:nvSpPr>
        <p:spPr>
          <a:xfrm>
            <a:off x="8851392" y="2496312"/>
            <a:ext cx="1728216" cy="502920"/>
          </a:xfrm>
          <a:prstGeom prst="rect">
            <a:avLst/>
          </a:prstGeom>
          <a:noFill/>
        </p:spPr>
        <p:txBody>
          <a:bodyPr wrap="square" lIns="54864" rIns="54864" tIns="18288" bIns="18288">
            <a:spAutoFit/>
          </a:bodyPr>
          <a:lstStyle/>
          <a:p>
            <a:r>
              <a:rPr sz="1400" b="0">
                <a:solidFill>
                  <a:srgbClr val="19222A"/>
                </a:solidFill>
                <a:latin typeface="Aptos"/>
              </a:rPr>
              <a:t>system status: unstable</a:t>
            </a:r>
          </a:p>
        </p:txBody>
      </p:sp>
      <p:sp>
        <p:nvSpPr>
          <p:cNvPr id="21" name="TextBox 20"/>
          <p:cNvSpPr txBox="1"/>
          <p:nvPr/>
        </p:nvSpPr>
        <p:spPr>
          <a:xfrm>
            <a:off x="1417320" y="3703320"/>
            <a:ext cx="7772400" cy="548640"/>
          </a:xfrm>
          <a:prstGeom prst="rect">
            <a:avLst/>
          </a:prstGeom>
          <a:noFill/>
        </p:spPr>
        <p:txBody>
          <a:bodyPr wrap="square" lIns="54864" rIns="54864" tIns="18288" bIns="18288">
            <a:spAutoFit/>
          </a:bodyPr>
          <a:lstStyle/>
          <a:p>
            <a:r>
              <a:rPr sz="2400" b="1">
                <a:solidFill>
                  <a:srgbClr val="19222A"/>
                </a:solidFill>
                <a:latin typeface="Aptos"/>
              </a:rPr>
              <a:t>Today you are the incident commander for a cloud app that uses more than one database.</a:t>
            </a:r>
          </a:p>
        </p:txBody>
      </p:sp>
      <p:sp>
        <p:nvSpPr>
          <p:cNvPr id="22" name="TextBox 21"/>
          <p:cNvSpPr txBox="1"/>
          <p:nvPr/>
        </p:nvSpPr>
        <p:spPr>
          <a:xfrm>
            <a:off x="1417320" y="4370832"/>
            <a:ext cx="8961120" cy="685800"/>
          </a:xfrm>
          <a:prstGeom prst="rect">
            <a:avLst/>
          </a:prstGeom>
          <a:noFill/>
        </p:spPr>
        <p:txBody>
          <a:bodyPr wrap="square" lIns="54864" rIns="54864" tIns="18288" bIns="18288">
            <a:spAutoFit/>
          </a:bodyPr>
          <a:lstStyle/>
          <a:p>
            <a:r>
              <a:rPr sz="2000" b="0">
                <a:solidFill>
                  <a:srgbClr val="535D68"/>
                </a:solidFill>
                <a:latin typeface="Aptos"/>
              </a:rPr>
              <a:t>Goal: figure out what broke, what tradeoff caused it, and what design change would reduce the risk next 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1935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109728" cy="6858000"/>
          </a:xfrm>
          <a:prstGeom prst="rect">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20040"/>
            <a:ext cx="3474720" cy="274320"/>
          </a:xfrm>
          <a:prstGeom prst="rect">
            <a:avLst/>
          </a:prstGeom>
          <a:noFill/>
        </p:spPr>
        <p:txBody>
          <a:bodyPr wrap="square" lIns="54864" rIns="54864" tIns="18288" bIns="18288">
            <a:spAutoFit/>
          </a:bodyPr>
          <a:lstStyle/>
          <a:p>
            <a:r>
              <a:rPr sz="1200" b="1">
                <a:solidFill>
                  <a:srgbClr val="E27039"/>
                </a:solidFill>
                <a:latin typeface="Aptos"/>
              </a:rPr>
              <a:t>COURSE ALIGNMENT</a:t>
            </a:r>
          </a:p>
        </p:txBody>
      </p:sp>
      <p:sp>
        <p:nvSpPr>
          <p:cNvPr id="6" name="TextBox 5"/>
          <p:cNvSpPr txBox="1"/>
          <p:nvPr/>
        </p:nvSpPr>
        <p:spPr>
          <a:xfrm>
            <a:off x="1298448" y="640080"/>
            <a:ext cx="9692640" cy="502920"/>
          </a:xfrm>
          <a:prstGeom prst="rect">
            <a:avLst/>
          </a:prstGeom>
          <a:noFill/>
        </p:spPr>
        <p:txBody>
          <a:bodyPr wrap="square" lIns="54864" rIns="54864" tIns="18288" bIns="18288">
            <a:spAutoFit/>
          </a:bodyPr>
          <a:lstStyle/>
          <a:p>
            <a:r>
              <a:rPr sz="3200" b="1">
                <a:solidFill>
                  <a:srgbClr val="19222A"/>
                </a:solidFill>
                <a:latin typeface="Aptos"/>
              </a:rPr>
              <a:t>Why This Matches The Syllabus</a:t>
            </a:r>
          </a:p>
        </p:txBody>
      </p:sp>
      <p:sp>
        <p:nvSpPr>
          <p:cNvPr id="7" name="TextBox 6"/>
          <p:cNvSpPr txBox="1"/>
          <p:nvPr/>
        </p:nvSpPr>
        <p:spPr>
          <a:xfrm>
            <a:off x="8686800" y="6355080"/>
            <a:ext cx="2377440" cy="228600"/>
          </a:xfrm>
          <a:prstGeom prst="rect">
            <a:avLst/>
          </a:prstGeom>
          <a:noFill/>
        </p:spPr>
        <p:txBody>
          <a:bodyPr wrap="square" lIns="54864" rIns="54864" tIns="18288" bIns="18288">
            <a:spAutoFit/>
          </a:bodyPr>
          <a:lstStyle/>
          <a:p>
            <a:pPr algn="r"/>
            <a:r>
              <a:rPr sz="900" b="0">
                <a:solidFill>
                  <a:srgbClr val="535D68"/>
                </a:solidFill>
                <a:latin typeface="Aptos"/>
              </a:rPr>
              <a:t>CST4714 | Week 14 Day 2 | 2</a:t>
            </a:r>
          </a:p>
        </p:txBody>
      </p:sp>
      <p:sp>
        <p:nvSpPr>
          <p:cNvPr id="8" name="Rounded Rectangle 7"/>
          <p:cNvSpPr/>
          <p:nvPr/>
        </p:nvSpPr>
        <p:spPr>
          <a:xfrm>
            <a:off x="1371600" y="1417320"/>
            <a:ext cx="4892040" cy="420624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72768" y="1563624"/>
            <a:ext cx="4489704" cy="292608"/>
          </a:xfrm>
          <a:prstGeom prst="rect">
            <a:avLst/>
          </a:prstGeom>
          <a:noFill/>
        </p:spPr>
        <p:txBody>
          <a:bodyPr wrap="square" lIns="54864" rIns="54864" tIns="18288" bIns="18288">
            <a:spAutoFit/>
          </a:bodyPr>
          <a:lstStyle/>
          <a:p>
            <a:r>
              <a:rPr sz="1700" b="1">
                <a:solidFill>
                  <a:srgbClr val="193556"/>
                </a:solidFill>
                <a:latin typeface="Aptos"/>
              </a:rPr>
              <a:t>Week 14 says advanced topics</a:t>
            </a:r>
          </a:p>
        </p:txBody>
      </p:sp>
      <p:sp>
        <p:nvSpPr>
          <p:cNvPr id="10" name="TextBox 9"/>
          <p:cNvSpPr txBox="1"/>
          <p:nvPr/>
        </p:nvSpPr>
        <p:spPr>
          <a:xfrm>
            <a:off x="1591056" y="1947672"/>
            <a:ext cx="4453128" cy="3520440"/>
          </a:xfrm>
          <a:prstGeom prst="rect">
            <a:avLst/>
          </a:prstGeom>
          <a:noFill/>
        </p:spPr>
        <p:txBody>
          <a:bodyPr wrap="square">
            <a:spAutoFit/>
          </a:bodyPr>
          <a:lstStyle/>
          <a:p>
            <a:pPr>
              <a:spcAft>
                <a:spcPts val="800"/>
              </a:spcAft>
              <a:defRPr sz="1600">
                <a:solidFill>
                  <a:srgbClr val="19222A"/>
                </a:solidFill>
                <a:latin typeface="Aptos"/>
              </a:defRPr>
            </a:pPr>
            <a:r>
              <a:t>polyglot persistence</a:t>
            </a:r>
          </a:p>
          <a:p>
            <a:pPr>
              <a:spcAft>
                <a:spcPts val="800"/>
              </a:spcAft>
              <a:defRPr sz="1600">
                <a:solidFill>
                  <a:srgbClr val="19222A"/>
                </a:solidFill>
                <a:latin typeface="Aptos"/>
              </a:defRPr>
            </a:pPr>
            <a:r>
              <a:t>distributed tradeoffs</a:t>
            </a:r>
          </a:p>
          <a:p>
            <a:pPr>
              <a:spcAft>
                <a:spcPts val="800"/>
              </a:spcAft>
              <a:defRPr sz="1600">
                <a:solidFill>
                  <a:srgbClr val="19222A"/>
                </a:solidFill>
                <a:latin typeface="Aptos"/>
              </a:defRPr>
            </a:pPr>
            <a:r>
              <a:t>final project work and review</a:t>
            </a:r>
          </a:p>
          <a:p>
            <a:pPr>
              <a:spcAft>
                <a:spcPts val="800"/>
              </a:spcAft>
              <a:defRPr sz="1600">
                <a:solidFill>
                  <a:srgbClr val="19222A"/>
                </a:solidFill>
                <a:latin typeface="Aptos"/>
              </a:defRPr>
            </a:pPr>
            <a:r>
              <a:t>database administration judgment</a:t>
            </a:r>
          </a:p>
        </p:txBody>
      </p:sp>
      <p:sp>
        <p:nvSpPr>
          <p:cNvPr id="11" name="Rounded Rectangle 10"/>
          <p:cNvSpPr/>
          <p:nvPr/>
        </p:nvSpPr>
        <p:spPr>
          <a:xfrm>
            <a:off x="6446520" y="1417320"/>
            <a:ext cx="4343400" cy="4206240"/>
          </a:xfrm>
          <a:prstGeom prst="roundRect">
            <a:avLst/>
          </a:prstGeom>
          <a:solidFill>
            <a:srgbClr val="ECF7F4"/>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47688" y="1563624"/>
            <a:ext cx="3941064" cy="292608"/>
          </a:xfrm>
          <a:prstGeom prst="rect">
            <a:avLst/>
          </a:prstGeom>
          <a:noFill/>
        </p:spPr>
        <p:txBody>
          <a:bodyPr wrap="square" lIns="54864" rIns="54864" tIns="18288" bIns="18288">
            <a:spAutoFit/>
          </a:bodyPr>
          <a:lstStyle/>
          <a:p>
            <a:r>
              <a:rPr sz="1700" b="1">
                <a:solidFill>
                  <a:srgbClr val="193556"/>
                </a:solidFill>
                <a:latin typeface="Aptos"/>
              </a:rPr>
              <a:t>Today turns that into a game</a:t>
            </a:r>
          </a:p>
        </p:txBody>
      </p:sp>
      <p:sp>
        <p:nvSpPr>
          <p:cNvPr id="13" name="TextBox 12"/>
          <p:cNvSpPr txBox="1"/>
          <p:nvPr/>
        </p:nvSpPr>
        <p:spPr>
          <a:xfrm>
            <a:off x="6665976" y="1947672"/>
            <a:ext cx="3904488" cy="3520440"/>
          </a:xfrm>
          <a:prstGeom prst="rect">
            <a:avLst/>
          </a:prstGeom>
          <a:noFill/>
        </p:spPr>
        <p:txBody>
          <a:bodyPr wrap="square">
            <a:spAutoFit/>
          </a:bodyPr>
          <a:lstStyle/>
          <a:p>
            <a:pPr>
              <a:spcAft>
                <a:spcPts val="800"/>
              </a:spcAft>
              <a:defRPr sz="1600">
                <a:solidFill>
                  <a:srgbClr val="19222A"/>
                </a:solidFill>
                <a:latin typeface="Aptos"/>
              </a:defRPr>
            </a:pPr>
            <a:r>
              <a:t>read the architecture</a:t>
            </a:r>
          </a:p>
          <a:p>
            <a:pPr>
              <a:spcAft>
                <a:spcPts val="800"/>
              </a:spcAft>
              <a:defRPr sz="1600">
                <a:solidFill>
                  <a:srgbClr val="19222A"/>
                </a:solidFill>
                <a:latin typeface="Aptos"/>
              </a:defRPr>
            </a:pPr>
            <a:r>
              <a:t>inspect the symptoms</a:t>
            </a:r>
          </a:p>
          <a:p>
            <a:pPr>
              <a:spcAft>
                <a:spcPts val="800"/>
              </a:spcAft>
              <a:defRPr sz="1600">
                <a:solidFill>
                  <a:srgbClr val="19222A"/>
                </a:solidFill>
                <a:latin typeface="Aptos"/>
              </a:defRPr>
            </a:pPr>
            <a:r>
              <a:t>name the tradeoff</a:t>
            </a:r>
          </a:p>
          <a:p>
            <a:pPr>
              <a:spcAft>
                <a:spcPts val="800"/>
              </a:spcAft>
              <a:defRPr sz="1600">
                <a:solidFill>
                  <a:srgbClr val="19222A"/>
                </a:solidFill>
                <a:latin typeface="Aptos"/>
              </a:defRPr>
            </a:pPr>
            <a:r>
              <a:t>choose a repair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1935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109728" cy="6858000"/>
          </a:xfrm>
          <a:prstGeom prst="rect">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20040"/>
            <a:ext cx="3474720" cy="274320"/>
          </a:xfrm>
          <a:prstGeom prst="rect">
            <a:avLst/>
          </a:prstGeom>
          <a:noFill/>
        </p:spPr>
        <p:txBody>
          <a:bodyPr wrap="square" lIns="54864" rIns="54864" tIns="18288" bIns="18288">
            <a:spAutoFit/>
          </a:bodyPr>
          <a:lstStyle/>
          <a:p>
            <a:r>
              <a:rPr sz="1200" b="1">
                <a:solidFill>
                  <a:srgbClr val="E27039"/>
                </a:solidFill>
                <a:latin typeface="Aptos"/>
              </a:rPr>
              <a:t>SCENARIO</a:t>
            </a:r>
          </a:p>
        </p:txBody>
      </p:sp>
      <p:sp>
        <p:nvSpPr>
          <p:cNvPr id="6" name="TextBox 5"/>
          <p:cNvSpPr txBox="1"/>
          <p:nvPr/>
        </p:nvSpPr>
        <p:spPr>
          <a:xfrm>
            <a:off x="1298448" y="640080"/>
            <a:ext cx="9692640" cy="502920"/>
          </a:xfrm>
          <a:prstGeom prst="rect">
            <a:avLst/>
          </a:prstGeom>
          <a:noFill/>
        </p:spPr>
        <p:txBody>
          <a:bodyPr wrap="square" lIns="54864" rIns="54864" tIns="18288" bIns="18288">
            <a:spAutoFit/>
          </a:bodyPr>
          <a:lstStyle/>
          <a:p>
            <a:r>
              <a:rPr sz="3200" b="1">
                <a:solidFill>
                  <a:srgbClr val="19222A"/>
                </a:solidFill>
                <a:latin typeface="Aptos"/>
              </a:rPr>
              <a:t>The App: Campus Food Rush</a:t>
            </a:r>
          </a:p>
        </p:txBody>
      </p:sp>
      <p:sp>
        <p:nvSpPr>
          <p:cNvPr id="7" name="TextBox 6"/>
          <p:cNvSpPr txBox="1"/>
          <p:nvPr/>
        </p:nvSpPr>
        <p:spPr>
          <a:xfrm>
            <a:off x="8686800" y="6355080"/>
            <a:ext cx="2377440" cy="228600"/>
          </a:xfrm>
          <a:prstGeom prst="rect">
            <a:avLst/>
          </a:prstGeom>
          <a:noFill/>
        </p:spPr>
        <p:txBody>
          <a:bodyPr wrap="square" lIns="54864" rIns="54864" tIns="18288" bIns="18288">
            <a:spAutoFit/>
          </a:bodyPr>
          <a:lstStyle/>
          <a:p>
            <a:pPr algn="r"/>
            <a:r>
              <a:rPr sz="900" b="0">
                <a:solidFill>
                  <a:srgbClr val="535D68"/>
                </a:solidFill>
                <a:latin typeface="Aptos"/>
              </a:rPr>
              <a:t>CST4714 | Week 14 Day 2 | 3</a:t>
            </a:r>
          </a:p>
        </p:txBody>
      </p:sp>
      <p:sp>
        <p:nvSpPr>
          <p:cNvPr id="8" name="TextBox 7"/>
          <p:cNvSpPr txBox="1"/>
          <p:nvPr/>
        </p:nvSpPr>
        <p:spPr>
          <a:xfrm>
            <a:off x="1371600" y="1234440"/>
            <a:ext cx="8229600" cy="411480"/>
          </a:xfrm>
          <a:prstGeom prst="rect">
            <a:avLst/>
          </a:prstGeom>
          <a:noFill/>
        </p:spPr>
        <p:txBody>
          <a:bodyPr wrap="square" lIns="54864" rIns="54864" tIns="18288" bIns="18288">
            <a:spAutoFit/>
          </a:bodyPr>
          <a:lstStyle/>
          <a:p>
            <a:r>
              <a:rPr sz="2400" b="1">
                <a:solidFill>
                  <a:srgbClr val="193556"/>
                </a:solidFill>
                <a:latin typeface="Aptos"/>
              </a:rPr>
              <a:t>A campus food preorder app crashes during a lunch rush.</a:t>
            </a:r>
          </a:p>
        </p:txBody>
      </p:sp>
      <p:sp>
        <p:nvSpPr>
          <p:cNvPr id="9" name="Rounded Rectangle 8"/>
          <p:cNvSpPr/>
          <p:nvPr/>
        </p:nvSpPr>
        <p:spPr>
          <a:xfrm>
            <a:off x="1417320" y="1920240"/>
            <a:ext cx="2011680" cy="11430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81912" y="2039112"/>
            <a:ext cx="1682496" cy="256032"/>
          </a:xfrm>
          <a:prstGeom prst="rect">
            <a:avLst/>
          </a:prstGeom>
          <a:noFill/>
        </p:spPr>
        <p:txBody>
          <a:bodyPr wrap="square" lIns="54864" rIns="54864" tIns="18288" bIns="18288">
            <a:spAutoFit/>
          </a:bodyPr>
          <a:lstStyle/>
          <a:p>
            <a:r>
              <a:rPr sz="1500" b="1">
                <a:solidFill>
                  <a:srgbClr val="193556"/>
                </a:solidFill>
                <a:latin typeface="Aptos"/>
              </a:rPr>
              <a:t>Postgres</a:t>
            </a:r>
          </a:p>
        </p:txBody>
      </p:sp>
      <p:sp>
        <p:nvSpPr>
          <p:cNvPr id="11" name="TextBox 10"/>
          <p:cNvSpPr txBox="1"/>
          <p:nvPr/>
        </p:nvSpPr>
        <p:spPr>
          <a:xfrm>
            <a:off x="1581912" y="2359152"/>
            <a:ext cx="1682496" cy="594360"/>
          </a:xfrm>
          <a:prstGeom prst="rect">
            <a:avLst/>
          </a:prstGeom>
          <a:noFill/>
        </p:spPr>
        <p:txBody>
          <a:bodyPr wrap="square" lIns="54864" rIns="54864" tIns="18288" bIns="18288">
            <a:spAutoFit/>
          </a:bodyPr>
          <a:lstStyle/>
          <a:p>
            <a:r>
              <a:rPr sz="1500" b="0">
                <a:solidFill>
                  <a:srgbClr val="19222A"/>
                </a:solidFill>
                <a:latin typeface="Aptos"/>
              </a:rPr>
              <a:t>users</a:t>
            </a:r>
            <a:br/>
            <a:r>
              <a:t>orders</a:t>
            </a:r>
            <a:br/>
            <a:r>
              <a:t>payments</a:t>
            </a:r>
          </a:p>
        </p:txBody>
      </p:sp>
      <p:sp>
        <p:nvSpPr>
          <p:cNvPr id="12" name="Rounded Rectangle 11"/>
          <p:cNvSpPr/>
          <p:nvPr/>
        </p:nvSpPr>
        <p:spPr>
          <a:xfrm>
            <a:off x="3794760" y="1920240"/>
            <a:ext cx="2011680" cy="11430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59352" y="2039112"/>
            <a:ext cx="1682496" cy="256032"/>
          </a:xfrm>
          <a:prstGeom prst="rect">
            <a:avLst/>
          </a:prstGeom>
          <a:noFill/>
        </p:spPr>
        <p:txBody>
          <a:bodyPr wrap="square" lIns="54864" rIns="54864" tIns="18288" bIns="18288">
            <a:spAutoFit/>
          </a:bodyPr>
          <a:lstStyle/>
          <a:p>
            <a:r>
              <a:rPr sz="1500" b="1">
                <a:solidFill>
                  <a:srgbClr val="193556"/>
                </a:solidFill>
                <a:latin typeface="Aptos"/>
              </a:rPr>
              <a:t>MongoDB</a:t>
            </a:r>
          </a:p>
        </p:txBody>
      </p:sp>
      <p:sp>
        <p:nvSpPr>
          <p:cNvPr id="14" name="TextBox 13"/>
          <p:cNvSpPr txBox="1"/>
          <p:nvPr/>
        </p:nvSpPr>
        <p:spPr>
          <a:xfrm>
            <a:off x="3959352" y="2359152"/>
            <a:ext cx="1682496" cy="594360"/>
          </a:xfrm>
          <a:prstGeom prst="rect">
            <a:avLst/>
          </a:prstGeom>
          <a:noFill/>
        </p:spPr>
        <p:txBody>
          <a:bodyPr wrap="square" lIns="54864" rIns="54864" tIns="18288" bIns="18288">
            <a:spAutoFit/>
          </a:bodyPr>
          <a:lstStyle/>
          <a:p>
            <a:r>
              <a:rPr sz="1500" b="0">
                <a:solidFill>
                  <a:srgbClr val="19222A"/>
                </a:solidFill>
                <a:latin typeface="Aptos"/>
              </a:rPr>
              <a:t>cart events</a:t>
            </a:r>
            <a:br/>
            <a:r>
              <a:t>activity logs</a:t>
            </a:r>
            <a:br/>
            <a:r>
              <a:t>menu snapshots</a:t>
            </a:r>
          </a:p>
        </p:txBody>
      </p:sp>
      <p:sp>
        <p:nvSpPr>
          <p:cNvPr id="15" name="Rounded Rectangle 14"/>
          <p:cNvSpPr/>
          <p:nvPr/>
        </p:nvSpPr>
        <p:spPr>
          <a:xfrm>
            <a:off x="6172200" y="1920240"/>
            <a:ext cx="2011680" cy="11430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36792" y="2039112"/>
            <a:ext cx="1682496" cy="256032"/>
          </a:xfrm>
          <a:prstGeom prst="rect">
            <a:avLst/>
          </a:prstGeom>
          <a:noFill/>
        </p:spPr>
        <p:txBody>
          <a:bodyPr wrap="square" lIns="54864" rIns="54864" tIns="18288" bIns="18288">
            <a:spAutoFit/>
          </a:bodyPr>
          <a:lstStyle/>
          <a:p>
            <a:r>
              <a:rPr sz="1500" b="1">
                <a:solidFill>
                  <a:srgbClr val="193556"/>
                </a:solidFill>
                <a:latin typeface="Aptos"/>
              </a:rPr>
              <a:t>Cache</a:t>
            </a:r>
          </a:p>
        </p:txBody>
      </p:sp>
      <p:sp>
        <p:nvSpPr>
          <p:cNvPr id="17" name="TextBox 16"/>
          <p:cNvSpPr txBox="1"/>
          <p:nvPr/>
        </p:nvSpPr>
        <p:spPr>
          <a:xfrm>
            <a:off x="6336792" y="2359152"/>
            <a:ext cx="1682496" cy="594360"/>
          </a:xfrm>
          <a:prstGeom prst="rect">
            <a:avLst/>
          </a:prstGeom>
          <a:noFill/>
        </p:spPr>
        <p:txBody>
          <a:bodyPr wrap="square" lIns="54864" rIns="54864" tIns="18288" bIns="18288">
            <a:spAutoFit/>
          </a:bodyPr>
          <a:lstStyle/>
          <a:p>
            <a:r>
              <a:rPr sz="1500" b="0">
                <a:solidFill>
                  <a:srgbClr val="19222A"/>
                </a:solidFill>
                <a:latin typeface="Aptos"/>
              </a:rPr>
              <a:t>menu availability</a:t>
            </a:r>
            <a:br/>
            <a:r>
              <a:t>fast reads</a:t>
            </a:r>
          </a:p>
        </p:txBody>
      </p:sp>
      <p:sp>
        <p:nvSpPr>
          <p:cNvPr id="18" name="Rounded Rectangle 17"/>
          <p:cNvSpPr/>
          <p:nvPr/>
        </p:nvSpPr>
        <p:spPr>
          <a:xfrm>
            <a:off x="8549640" y="1920240"/>
            <a:ext cx="2011680" cy="11430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14232" y="2039112"/>
            <a:ext cx="1682496" cy="256032"/>
          </a:xfrm>
          <a:prstGeom prst="rect">
            <a:avLst/>
          </a:prstGeom>
          <a:noFill/>
        </p:spPr>
        <p:txBody>
          <a:bodyPr wrap="square" lIns="54864" rIns="54864" tIns="18288" bIns="18288">
            <a:spAutoFit/>
          </a:bodyPr>
          <a:lstStyle/>
          <a:p>
            <a:r>
              <a:rPr sz="1500" b="1">
                <a:solidFill>
                  <a:srgbClr val="193556"/>
                </a:solidFill>
                <a:latin typeface="Aptos"/>
              </a:rPr>
              <a:t>Users</a:t>
            </a:r>
          </a:p>
        </p:txBody>
      </p:sp>
      <p:sp>
        <p:nvSpPr>
          <p:cNvPr id="20" name="TextBox 19"/>
          <p:cNvSpPr txBox="1"/>
          <p:nvPr/>
        </p:nvSpPr>
        <p:spPr>
          <a:xfrm>
            <a:off x="8714232" y="2359152"/>
            <a:ext cx="1682496" cy="594360"/>
          </a:xfrm>
          <a:prstGeom prst="rect">
            <a:avLst/>
          </a:prstGeom>
          <a:noFill/>
        </p:spPr>
        <p:txBody>
          <a:bodyPr wrap="square" lIns="54864" rIns="54864" tIns="18288" bIns="18288">
            <a:spAutoFit/>
          </a:bodyPr>
          <a:lstStyle/>
          <a:p>
            <a:r>
              <a:rPr sz="1500" b="0">
                <a:solidFill>
                  <a:srgbClr val="19222A"/>
                </a:solidFill>
                <a:latin typeface="Aptos"/>
              </a:rPr>
              <a:t>mobile checkout</a:t>
            </a:r>
            <a:br/>
            <a:r>
              <a:t>angry refreshes</a:t>
            </a:r>
          </a:p>
        </p:txBody>
      </p:sp>
      <p:cxnSp>
        <p:nvCxnSpPr>
          <p:cNvPr id="21" name="Connector 20"/>
          <p:cNvCxnSpPr/>
          <p:nvPr/>
        </p:nvCxnSpPr>
        <p:spPr>
          <a:xfrm>
            <a:off x="3429000" y="2487168"/>
            <a:ext cx="365760" cy="0"/>
          </a:xfrm>
          <a:prstGeom prst="line">
            <a:avLst/>
          </a:prstGeom>
          <a:ln w="25400">
            <a:solidFill>
              <a:srgbClr val="E2703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806440" y="2487168"/>
            <a:ext cx="365760" cy="0"/>
          </a:xfrm>
          <a:prstGeom prst="line">
            <a:avLst/>
          </a:prstGeom>
          <a:ln w="25400">
            <a:solidFill>
              <a:srgbClr val="E2703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183879" y="2487168"/>
            <a:ext cx="365761" cy="0"/>
          </a:xfrm>
          <a:prstGeom prst="line">
            <a:avLst/>
          </a:prstGeom>
          <a:ln w="25400">
            <a:solidFill>
              <a:srgbClr val="E27039"/>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417320" y="3794760"/>
            <a:ext cx="8778240" cy="548640"/>
          </a:xfrm>
          <a:prstGeom prst="rect">
            <a:avLst/>
          </a:prstGeom>
          <a:noFill/>
        </p:spPr>
        <p:txBody>
          <a:bodyPr wrap="square" lIns="54864" rIns="54864" tIns="18288" bIns="18288">
            <a:spAutoFit/>
          </a:bodyPr>
          <a:lstStyle/>
          <a:p>
            <a:r>
              <a:rPr sz="2500" b="1">
                <a:solidFill>
                  <a:srgbClr val="B74236"/>
                </a:solidFill>
                <a:latin typeface="Aptos"/>
              </a:rPr>
              <a:t>Symptom: some students were charged, but their orders disappeared from the kitchen screen.</a:t>
            </a:r>
          </a:p>
        </p:txBody>
      </p:sp>
      <p:sp>
        <p:nvSpPr>
          <p:cNvPr id="25" name="TextBox 24"/>
          <p:cNvSpPr txBox="1"/>
          <p:nvPr/>
        </p:nvSpPr>
        <p:spPr>
          <a:xfrm>
            <a:off x="1417320" y="4480560"/>
            <a:ext cx="8412480" cy="502920"/>
          </a:xfrm>
          <a:prstGeom prst="rect">
            <a:avLst/>
          </a:prstGeom>
          <a:noFill/>
        </p:spPr>
        <p:txBody>
          <a:bodyPr wrap="square" lIns="54864" rIns="54864" tIns="18288" bIns="18288">
            <a:spAutoFit/>
          </a:bodyPr>
          <a:lstStyle/>
          <a:p>
            <a:r>
              <a:rPr sz="2000" b="0">
                <a:solidFill>
                  <a:srgbClr val="535D68"/>
                </a:solidFill>
                <a:latin typeface="Aptos"/>
              </a:rPr>
              <a:t>Your job: decide where the official truth should live and why the systems disagreed.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1935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109728" cy="6858000"/>
          </a:xfrm>
          <a:prstGeom prst="rect">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20040"/>
            <a:ext cx="3474720" cy="274320"/>
          </a:xfrm>
          <a:prstGeom prst="rect">
            <a:avLst/>
          </a:prstGeom>
          <a:noFill/>
        </p:spPr>
        <p:txBody>
          <a:bodyPr wrap="square" lIns="54864" rIns="54864" tIns="18288" bIns="18288">
            <a:spAutoFit/>
          </a:bodyPr>
          <a:lstStyle/>
          <a:p>
            <a:r>
              <a:rPr sz="1200" b="1">
                <a:solidFill>
                  <a:srgbClr val="E27039"/>
                </a:solidFill>
                <a:latin typeface="Aptos"/>
              </a:rPr>
              <a:t>INCIDENT TOOLKIT</a:t>
            </a:r>
          </a:p>
        </p:txBody>
      </p:sp>
      <p:sp>
        <p:nvSpPr>
          <p:cNvPr id="6" name="TextBox 5"/>
          <p:cNvSpPr txBox="1"/>
          <p:nvPr/>
        </p:nvSpPr>
        <p:spPr>
          <a:xfrm>
            <a:off x="1298448" y="640080"/>
            <a:ext cx="9692640" cy="502920"/>
          </a:xfrm>
          <a:prstGeom prst="rect">
            <a:avLst/>
          </a:prstGeom>
          <a:noFill/>
        </p:spPr>
        <p:txBody>
          <a:bodyPr wrap="square" lIns="54864" rIns="54864" tIns="18288" bIns="18288">
            <a:spAutoFit/>
          </a:bodyPr>
          <a:lstStyle/>
          <a:p>
            <a:r>
              <a:rPr sz="3200" b="1">
                <a:solidFill>
                  <a:srgbClr val="19222A"/>
                </a:solidFill>
                <a:latin typeface="Aptos"/>
              </a:rPr>
              <a:t>Vocabulary You Need</a:t>
            </a:r>
          </a:p>
        </p:txBody>
      </p:sp>
      <p:sp>
        <p:nvSpPr>
          <p:cNvPr id="7" name="TextBox 6"/>
          <p:cNvSpPr txBox="1"/>
          <p:nvPr/>
        </p:nvSpPr>
        <p:spPr>
          <a:xfrm>
            <a:off x="8686800" y="6355080"/>
            <a:ext cx="2377440" cy="228600"/>
          </a:xfrm>
          <a:prstGeom prst="rect">
            <a:avLst/>
          </a:prstGeom>
          <a:noFill/>
        </p:spPr>
        <p:txBody>
          <a:bodyPr wrap="square" lIns="54864" rIns="54864" tIns="18288" bIns="18288">
            <a:spAutoFit/>
          </a:bodyPr>
          <a:lstStyle/>
          <a:p>
            <a:pPr algn="r"/>
            <a:r>
              <a:rPr sz="900" b="0">
                <a:solidFill>
                  <a:srgbClr val="535D68"/>
                </a:solidFill>
                <a:latin typeface="Aptos"/>
              </a:rPr>
              <a:t>CST4714 | Week 14 Day 2 | 4</a:t>
            </a:r>
          </a:p>
        </p:txBody>
      </p:sp>
      <p:sp>
        <p:nvSpPr>
          <p:cNvPr id="8" name="Rounded Rectangle 7"/>
          <p:cNvSpPr/>
          <p:nvPr/>
        </p:nvSpPr>
        <p:spPr>
          <a:xfrm>
            <a:off x="1325880" y="1353312"/>
            <a:ext cx="2926080" cy="43434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7048" y="1499616"/>
            <a:ext cx="2523744" cy="292608"/>
          </a:xfrm>
          <a:prstGeom prst="rect">
            <a:avLst/>
          </a:prstGeom>
          <a:noFill/>
        </p:spPr>
        <p:txBody>
          <a:bodyPr wrap="square" lIns="54864" rIns="54864" tIns="18288" bIns="18288">
            <a:spAutoFit/>
          </a:bodyPr>
          <a:lstStyle/>
          <a:p>
            <a:r>
              <a:rPr sz="1700" b="1">
                <a:solidFill>
                  <a:srgbClr val="193556"/>
                </a:solidFill>
                <a:latin typeface="Aptos"/>
              </a:rPr>
              <a:t>Source of truth</a:t>
            </a:r>
          </a:p>
        </p:txBody>
      </p:sp>
      <p:sp>
        <p:nvSpPr>
          <p:cNvPr id="10" name="TextBox 9"/>
          <p:cNvSpPr txBox="1"/>
          <p:nvPr/>
        </p:nvSpPr>
        <p:spPr>
          <a:xfrm>
            <a:off x="1545336" y="1883664"/>
            <a:ext cx="2487168" cy="3657600"/>
          </a:xfrm>
          <a:prstGeom prst="rect">
            <a:avLst/>
          </a:prstGeom>
          <a:noFill/>
        </p:spPr>
        <p:txBody>
          <a:bodyPr wrap="square">
            <a:spAutoFit/>
          </a:bodyPr>
          <a:lstStyle/>
          <a:p>
            <a:pPr>
              <a:spcAft>
                <a:spcPts val="800"/>
              </a:spcAft>
              <a:defRPr sz="1600">
                <a:solidFill>
                  <a:srgbClr val="19222A"/>
                </a:solidFill>
                <a:latin typeface="Aptos"/>
              </a:defRPr>
            </a:pPr>
            <a:r>
              <a:t>the official place for a fact</a:t>
            </a:r>
          </a:p>
          <a:p>
            <a:pPr>
              <a:spcAft>
                <a:spcPts val="800"/>
              </a:spcAft>
              <a:defRPr sz="1600">
                <a:solidFill>
                  <a:srgbClr val="19222A"/>
                </a:solidFill>
                <a:latin typeface="Aptos"/>
              </a:defRPr>
            </a:pPr>
            <a:r>
              <a:t>example: order status lives in Postgres</a:t>
            </a:r>
          </a:p>
        </p:txBody>
      </p:sp>
      <p:sp>
        <p:nvSpPr>
          <p:cNvPr id="11" name="Rounded Rectangle 10"/>
          <p:cNvSpPr/>
          <p:nvPr/>
        </p:nvSpPr>
        <p:spPr>
          <a:xfrm>
            <a:off x="4443984" y="1353312"/>
            <a:ext cx="2926080" cy="43434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1499616"/>
            <a:ext cx="2523744" cy="292608"/>
          </a:xfrm>
          <a:prstGeom prst="rect">
            <a:avLst/>
          </a:prstGeom>
          <a:noFill/>
        </p:spPr>
        <p:txBody>
          <a:bodyPr wrap="square" lIns="54864" rIns="54864" tIns="18288" bIns="18288">
            <a:spAutoFit/>
          </a:bodyPr>
          <a:lstStyle/>
          <a:p>
            <a:r>
              <a:rPr sz="1700" b="1">
                <a:solidFill>
                  <a:srgbClr val="193556"/>
                </a:solidFill>
                <a:latin typeface="Aptos"/>
              </a:rPr>
              <a:t>Consistency</a:t>
            </a:r>
          </a:p>
        </p:txBody>
      </p:sp>
      <p:sp>
        <p:nvSpPr>
          <p:cNvPr id="13" name="TextBox 12"/>
          <p:cNvSpPr txBox="1"/>
          <p:nvPr/>
        </p:nvSpPr>
        <p:spPr>
          <a:xfrm>
            <a:off x="4663440" y="1883664"/>
            <a:ext cx="2487168" cy="3657600"/>
          </a:xfrm>
          <a:prstGeom prst="rect">
            <a:avLst/>
          </a:prstGeom>
          <a:noFill/>
        </p:spPr>
        <p:txBody>
          <a:bodyPr wrap="square">
            <a:spAutoFit/>
          </a:bodyPr>
          <a:lstStyle/>
          <a:p>
            <a:pPr>
              <a:spcAft>
                <a:spcPts val="800"/>
              </a:spcAft>
              <a:defRPr sz="1600">
                <a:solidFill>
                  <a:srgbClr val="19222A"/>
                </a:solidFill>
                <a:latin typeface="Aptos"/>
              </a:defRPr>
            </a:pPr>
            <a:r>
              <a:t>systems agree about the same fact</a:t>
            </a:r>
          </a:p>
          <a:p>
            <a:pPr>
              <a:spcAft>
                <a:spcPts val="800"/>
              </a:spcAft>
              <a:defRPr sz="1600">
                <a:solidFill>
                  <a:srgbClr val="19222A"/>
                </a:solidFill>
                <a:latin typeface="Aptos"/>
              </a:defRPr>
            </a:pPr>
            <a:r>
              <a:t>harder when writes are split</a:t>
            </a:r>
          </a:p>
        </p:txBody>
      </p:sp>
      <p:sp>
        <p:nvSpPr>
          <p:cNvPr id="14" name="Rounded Rectangle 13"/>
          <p:cNvSpPr/>
          <p:nvPr/>
        </p:nvSpPr>
        <p:spPr>
          <a:xfrm>
            <a:off x="7562088" y="1353312"/>
            <a:ext cx="2926080" cy="43434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3256" y="1499616"/>
            <a:ext cx="2523744" cy="292608"/>
          </a:xfrm>
          <a:prstGeom prst="rect">
            <a:avLst/>
          </a:prstGeom>
          <a:noFill/>
        </p:spPr>
        <p:txBody>
          <a:bodyPr wrap="square" lIns="54864" rIns="54864" tIns="18288" bIns="18288">
            <a:spAutoFit/>
          </a:bodyPr>
          <a:lstStyle/>
          <a:p>
            <a:r>
              <a:rPr sz="1700" b="1">
                <a:solidFill>
                  <a:srgbClr val="193556"/>
                </a:solidFill>
                <a:latin typeface="Aptos"/>
              </a:rPr>
              <a:t>Idempotency</a:t>
            </a:r>
          </a:p>
        </p:txBody>
      </p:sp>
      <p:sp>
        <p:nvSpPr>
          <p:cNvPr id="16" name="TextBox 15"/>
          <p:cNvSpPr txBox="1"/>
          <p:nvPr/>
        </p:nvSpPr>
        <p:spPr>
          <a:xfrm>
            <a:off x="7781544" y="1883664"/>
            <a:ext cx="2487168" cy="3657600"/>
          </a:xfrm>
          <a:prstGeom prst="rect">
            <a:avLst/>
          </a:prstGeom>
          <a:noFill/>
        </p:spPr>
        <p:txBody>
          <a:bodyPr wrap="square">
            <a:spAutoFit/>
          </a:bodyPr>
          <a:lstStyle/>
          <a:p>
            <a:pPr>
              <a:spcAft>
                <a:spcPts val="800"/>
              </a:spcAft>
              <a:defRPr sz="1600">
                <a:solidFill>
                  <a:srgbClr val="19222A"/>
                </a:solidFill>
                <a:latin typeface="Aptos"/>
              </a:defRPr>
            </a:pPr>
            <a:r>
              <a:t>safe to retry without double effects</a:t>
            </a:r>
          </a:p>
          <a:p>
            <a:pPr>
              <a:spcAft>
                <a:spcPts val="800"/>
              </a:spcAft>
              <a:defRPr sz="1600">
                <a:solidFill>
                  <a:srgbClr val="19222A"/>
                </a:solidFill>
                <a:latin typeface="Aptos"/>
              </a:defRPr>
            </a:pPr>
            <a:r>
              <a:t>critical for checkout and payments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1935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109728" cy="6858000"/>
          </a:xfrm>
          <a:prstGeom prst="rect">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20040"/>
            <a:ext cx="3474720" cy="274320"/>
          </a:xfrm>
          <a:prstGeom prst="rect">
            <a:avLst/>
          </a:prstGeom>
          <a:noFill/>
        </p:spPr>
        <p:txBody>
          <a:bodyPr wrap="square" lIns="54864" rIns="54864" tIns="18288" bIns="18288">
            <a:spAutoFit/>
          </a:bodyPr>
          <a:lstStyle/>
          <a:p>
            <a:r>
              <a:rPr sz="1200" b="1">
                <a:solidFill>
                  <a:srgbClr val="E27039"/>
                </a:solidFill>
                <a:latin typeface="Aptos"/>
              </a:rPr>
              <a:t>ROUND 1</a:t>
            </a:r>
          </a:p>
        </p:txBody>
      </p:sp>
      <p:sp>
        <p:nvSpPr>
          <p:cNvPr id="6" name="TextBox 5"/>
          <p:cNvSpPr txBox="1"/>
          <p:nvPr/>
        </p:nvSpPr>
        <p:spPr>
          <a:xfrm>
            <a:off x="1298448" y="640080"/>
            <a:ext cx="9692640" cy="502920"/>
          </a:xfrm>
          <a:prstGeom prst="rect">
            <a:avLst/>
          </a:prstGeom>
          <a:noFill/>
        </p:spPr>
        <p:txBody>
          <a:bodyPr wrap="square" lIns="54864" rIns="54864" tIns="18288" bIns="18288">
            <a:spAutoFit/>
          </a:bodyPr>
          <a:lstStyle/>
          <a:p>
            <a:r>
              <a:rPr sz="3200" b="1">
                <a:solidFill>
                  <a:srgbClr val="19222A"/>
                </a:solidFill>
                <a:latin typeface="Aptos"/>
              </a:rPr>
              <a:t>Clue Board: What We Know</a:t>
            </a:r>
          </a:p>
        </p:txBody>
      </p:sp>
      <p:sp>
        <p:nvSpPr>
          <p:cNvPr id="7" name="TextBox 6"/>
          <p:cNvSpPr txBox="1"/>
          <p:nvPr/>
        </p:nvSpPr>
        <p:spPr>
          <a:xfrm>
            <a:off x="8686800" y="6355080"/>
            <a:ext cx="2377440" cy="228600"/>
          </a:xfrm>
          <a:prstGeom prst="rect">
            <a:avLst/>
          </a:prstGeom>
          <a:noFill/>
        </p:spPr>
        <p:txBody>
          <a:bodyPr wrap="square" lIns="54864" rIns="54864" tIns="18288" bIns="18288">
            <a:spAutoFit/>
          </a:bodyPr>
          <a:lstStyle/>
          <a:p>
            <a:pPr algn="r"/>
            <a:r>
              <a:rPr sz="900" b="0">
                <a:solidFill>
                  <a:srgbClr val="535D68"/>
                </a:solidFill>
                <a:latin typeface="Aptos"/>
              </a:rPr>
              <a:t>CST4714 | Week 14 Day 2 | 5</a:t>
            </a:r>
          </a:p>
        </p:txBody>
      </p:sp>
      <p:sp>
        <p:nvSpPr>
          <p:cNvPr id="8" name="Rounded Rectangle 7"/>
          <p:cNvSpPr/>
          <p:nvPr/>
        </p:nvSpPr>
        <p:spPr>
          <a:xfrm>
            <a:off x="1325880" y="1325880"/>
            <a:ext cx="4343400" cy="96012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90472" y="1444752"/>
            <a:ext cx="4014216" cy="256032"/>
          </a:xfrm>
          <a:prstGeom prst="rect">
            <a:avLst/>
          </a:prstGeom>
          <a:noFill/>
        </p:spPr>
        <p:txBody>
          <a:bodyPr wrap="square" lIns="54864" rIns="54864" tIns="18288" bIns="18288">
            <a:spAutoFit/>
          </a:bodyPr>
          <a:lstStyle/>
          <a:p>
            <a:r>
              <a:rPr sz="1500" b="1">
                <a:solidFill>
                  <a:srgbClr val="E27039"/>
                </a:solidFill>
                <a:latin typeface="Aptos"/>
              </a:rPr>
              <a:t>12:01</a:t>
            </a:r>
          </a:p>
        </p:txBody>
      </p:sp>
      <p:sp>
        <p:nvSpPr>
          <p:cNvPr id="10" name="TextBox 9"/>
          <p:cNvSpPr txBox="1"/>
          <p:nvPr/>
        </p:nvSpPr>
        <p:spPr>
          <a:xfrm>
            <a:off x="1490472" y="1764792"/>
            <a:ext cx="4014216" cy="411480"/>
          </a:xfrm>
          <a:prstGeom prst="rect">
            <a:avLst/>
          </a:prstGeom>
          <a:noFill/>
        </p:spPr>
        <p:txBody>
          <a:bodyPr wrap="square" lIns="54864" rIns="54864" tIns="18288" bIns="18288">
            <a:spAutoFit/>
          </a:bodyPr>
          <a:lstStyle/>
          <a:p>
            <a:r>
              <a:rPr sz="1400" b="0">
                <a:solidFill>
                  <a:srgbClr val="19222A"/>
                </a:solidFill>
                <a:latin typeface="Aptos"/>
              </a:rPr>
              <a:t>Menu cache says burritos are available.</a:t>
            </a:r>
          </a:p>
        </p:txBody>
      </p:sp>
      <p:sp>
        <p:nvSpPr>
          <p:cNvPr id="11" name="Rounded Rectangle 10"/>
          <p:cNvSpPr/>
          <p:nvPr/>
        </p:nvSpPr>
        <p:spPr>
          <a:xfrm>
            <a:off x="5989320" y="1325880"/>
            <a:ext cx="4343400" cy="96012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53912" y="1444752"/>
            <a:ext cx="4014216" cy="256032"/>
          </a:xfrm>
          <a:prstGeom prst="rect">
            <a:avLst/>
          </a:prstGeom>
          <a:noFill/>
        </p:spPr>
        <p:txBody>
          <a:bodyPr wrap="square" lIns="54864" rIns="54864" tIns="18288" bIns="18288">
            <a:spAutoFit/>
          </a:bodyPr>
          <a:lstStyle/>
          <a:p>
            <a:r>
              <a:rPr sz="1500" b="1">
                <a:solidFill>
                  <a:srgbClr val="E27039"/>
                </a:solidFill>
                <a:latin typeface="Aptos"/>
              </a:rPr>
              <a:t>12:03</a:t>
            </a:r>
          </a:p>
        </p:txBody>
      </p:sp>
      <p:sp>
        <p:nvSpPr>
          <p:cNvPr id="13" name="TextBox 12"/>
          <p:cNvSpPr txBox="1"/>
          <p:nvPr/>
        </p:nvSpPr>
        <p:spPr>
          <a:xfrm>
            <a:off x="6153912" y="1764792"/>
            <a:ext cx="4014216" cy="411480"/>
          </a:xfrm>
          <a:prstGeom prst="rect">
            <a:avLst/>
          </a:prstGeom>
          <a:noFill/>
        </p:spPr>
        <p:txBody>
          <a:bodyPr wrap="square" lIns="54864" rIns="54864" tIns="18288" bIns="18288">
            <a:spAutoFit/>
          </a:bodyPr>
          <a:lstStyle/>
          <a:p>
            <a:r>
              <a:rPr sz="1400" b="0">
                <a:solidFill>
                  <a:srgbClr val="19222A"/>
                </a:solidFill>
                <a:latin typeface="Aptos"/>
              </a:rPr>
              <a:t>Postgres order row is created with status pending.</a:t>
            </a:r>
          </a:p>
        </p:txBody>
      </p:sp>
      <p:sp>
        <p:nvSpPr>
          <p:cNvPr id="14" name="Rounded Rectangle 13"/>
          <p:cNvSpPr/>
          <p:nvPr/>
        </p:nvSpPr>
        <p:spPr>
          <a:xfrm>
            <a:off x="1325880" y="2624328"/>
            <a:ext cx="4343400" cy="96012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90472" y="2743200"/>
            <a:ext cx="4014216" cy="256032"/>
          </a:xfrm>
          <a:prstGeom prst="rect">
            <a:avLst/>
          </a:prstGeom>
          <a:noFill/>
        </p:spPr>
        <p:txBody>
          <a:bodyPr wrap="square" lIns="54864" rIns="54864" tIns="18288" bIns="18288">
            <a:spAutoFit/>
          </a:bodyPr>
          <a:lstStyle/>
          <a:p>
            <a:r>
              <a:rPr sz="1500" b="1">
                <a:solidFill>
                  <a:srgbClr val="E27039"/>
                </a:solidFill>
                <a:latin typeface="Aptos"/>
              </a:rPr>
              <a:t>12:04</a:t>
            </a:r>
          </a:p>
        </p:txBody>
      </p:sp>
      <p:sp>
        <p:nvSpPr>
          <p:cNvPr id="16" name="TextBox 15"/>
          <p:cNvSpPr txBox="1"/>
          <p:nvPr/>
        </p:nvSpPr>
        <p:spPr>
          <a:xfrm>
            <a:off x="1490472" y="3063240"/>
            <a:ext cx="4014216" cy="411480"/>
          </a:xfrm>
          <a:prstGeom prst="rect">
            <a:avLst/>
          </a:prstGeom>
          <a:noFill/>
        </p:spPr>
        <p:txBody>
          <a:bodyPr wrap="square" lIns="54864" rIns="54864" tIns="18288" bIns="18288">
            <a:spAutoFit/>
          </a:bodyPr>
          <a:lstStyle/>
          <a:p>
            <a:r>
              <a:rPr sz="1400" b="0">
                <a:solidFill>
                  <a:srgbClr val="19222A"/>
                </a:solidFill>
                <a:latin typeface="Aptos"/>
              </a:rPr>
              <a:t>Payment provider marks charge successful.</a:t>
            </a:r>
          </a:p>
        </p:txBody>
      </p:sp>
      <p:sp>
        <p:nvSpPr>
          <p:cNvPr id="17" name="Rounded Rectangle 16"/>
          <p:cNvSpPr/>
          <p:nvPr/>
        </p:nvSpPr>
        <p:spPr>
          <a:xfrm>
            <a:off x="5989320" y="2624328"/>
            <a:ext cx="4343400" cy="96012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2743200"/>
            <a:ext cx="4014216" cy="256032"/>
          </a:xfrm>
          <a:prstGeom prst="rect">
            <a:avLst/>
          </a:prstGeom>
          <a:noFill/>
        </p:spPr>
        <p:txBody>
          <a:bodyPr wrap="square" lIns="54864" rIns="54864" tIns="18288" bIns="18288">
            <a:spAutoFit/>
          </a:bodyPr>
          <a:lstStyle/>
          <a:p>
            <a:r>
              <a:rPr sz="1500" b="1">
                <a:solidFill>
                  <a:srgbClr val="E27039"/>
                </a:solidFill>
                <a:latin typeface="Aptos"/>
              </a:rPr>
              <a:t>12:05</a:t>
            </a:r>
          </a:p>
        </p:txBody>
      </p:sp>
      <p:sp>
        <p:nvSpPr>
          <p:cNvPr id="19" name="TextBox 18"/>
          <p:cNvSpPr txBox="1"/>
          <p:nvPr/>
        </p:nvSpPr>
        <p:spPr>
          <a:xfrm>
            <a:off x="6153912" y="3063240"/>
            <a:ext cx="4014216" cy="411480"/>
          </a:xfrm>
          <a:prstGeom prst="rect">
            <a:avLst/>
          </a:prstGeom>
          <a:noFill/>
        </p:spPr>
        <p:txBody>
          <a:bodyPr wrap="square" lIns="54864" rIns="54864" tIns="18288" bIns="18288">
            <a:spAutoFit/>
          </a:bodyPr>
          <a:lstStyle/>
          <a:p>
            <a:r>
              <a:rPr sz="1400" b="0">
                <a:solidFill>
                  <a:srgbClr val="19222A"/>
                </a:solidFill>
                <a:latin typeface="Aptos"/>
              </a:rPr>
              <a:t>MongoDB event log misses some checkout_success events.</a:t>
            </a:r>
          </a:p>
        </p:txBody>
      </p:sp>
      <p:sp>
        <p:nvSpPr>
          <p:cNvPr id="20" name="Rounded Rectangle 19"/>
          <p:cNvSpPr/>
          <p:nvPr/>
        </p:nvSpPr>
        <p:spPr>
          <a:xfrm>
            <a:off x="1325880" y="3922776"/>
            <a:ext cx="4343400" cy="96012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90472" y="4041648"/>
            <a:ext cx="4014216" cy="256032"/>
          </a:xfrm>
          <a:prstGeom prst="rect">
            <a:avLst/>
          </a:prstGeom>
          <a:noFill/>
        </p:spPr>
        <p:txBody>
          <a:bodyPr wrap="square" lIns="54864" rIns="54864" tIns="18288" bIns="18288">
            <a:spAutoFit/>
          </a:bodyPr>
          <a:lstStyle/>
          <a:p>
            <a:r>
              <a:rPr sz="1500" b="1">
                <a:solidFill>
                  <a:srgbClr val="E27039"/>
                </a:solidFill>
                <a:latin typeface="Aptos"/>
              </a:rPr>
              <a:t>12:06</a:t>
            </a:r>
          </a:p>
        </p:txBody>
      </p:sp>
      <p:sp>
        <p:nvSpPr>
          <p:cNvPr id="22" name="TextBox 21"/>
          <p:cNvSpPr txBox="1"/>
          <p:nvPr/>
        </p:nvSpPr>
        <p:spPr>
          <a:xfrm>
            <a:off x="1490472" y="4361688"/>
            <a:ext cx="4014216" cy="411480"/>
          </a:xfrm>
          <a:prstGeom prst="rect">
            <a:avLst/>
          </a:prstGeom>
          <a:noFill/>
        </p:spPr>
        <p:txBody>
          <a:bodyPr wrap="square" lIns="54864" rIns="54864" tIns="18288" bIns="18288">
            <a:spAutoFit/>
          </a:bodyPr>
          <a:lstStyle/>
          <a:p>
            <a:r>
              <a:rPr sz="1400" b="0">
                <a:solidFill>
                  <a:srgbClr val="19222A"/>
                </a:solidFill>
                <a:latin typeface="Aptos"/>
              </a:rPr>
              <a:t>Kitchen screen reads from MongoDB events, not Postgres orders.</a:t>
            </a:r>
          </a:p>
        </p:txBody>
      </p:sp>
      <p:sp>
        <p:nvSpPr>
          <p:cNvPr id="23" name="Rounded Rectangle 22"/>
          <p:cNvSpPr/>
          <p:nvPr/>
        </p:nvSpPr>
        <p:spPr>
          <a:xfrm>
            <a:off x="5989320" y="3922776"/>
            <a:ext cx="4343400" cy="96012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4041648"/>
            <a:ext cx="4014216" cy="256032"/>
          </a:xfrm>
          <a:prstGeom prst="rect">
            <a:avLst/>
          </a:prstGeom>
          <a:noFill/>
        </p:spPr>
        <p:txBody>
          <a:bodyPr wrap="square" lIns="54864" rIns="54864" tIns="18288" bIns="18288">
            <a:spAutoFit/>
          </a:bodyPr>
          <a:lstStyle/>
          <a:p>
            <a:r>
              <a:rPr sz="1500" b="1">
                <a:solidFill>
                  <a:srgbClr val="E27039"/>
                </a:solidFill>
                <a:latin typeface="Aptos"/>
              </a:rPr>
              <a:t>12:07</a:t>
            </a:r>
          </a:p>
        </p:txBody>
      </p:sp>
      <p:sp>
        <p:nvSpPr>
          <p:cNvPr id="25" name="TextBox 24"/>
          <p:cNvSpPr txBox="1"/>
          <p:nvPr/>
        </p:nvSpPr>
        <p:spPr>
          <a:xfrm>
            <a:off x="6153912" y="4361688"/>
            <a:ext cx="4014216" cy="411480"/>
          </a:xfrm>
          <a:prstGeom prst="rect">
            <a:avLst/>
          </a:prstGeom>
          <a:noFill/>
        </p:spPr>
        <p:txBody>
          <a:bodyPr wrap="square" lIns="54864" rIns="54864" tIns="18288" bIns="18288">
            <a:spAutoFit/>
          </a:bodyPr>
          <a:lstStyle/>
          <a:p>
            <a:r>
              <a:rPr sz="1400" b="0">
                <a:solidFill>
                  <a:srgbClr val="19222A"/>
                </a:solidFill>
                <a:latin typeface="Aptos"/>
              </a:rPr>
              <a:t>Students refresh and submit checkout again.</a:t>
            </a:r>
          </a:p>
        </p:txBody>
      </p:sp>
      <p:sp>
        <p:nvSpPr>
          <p:cNvPr id="26" name="TextBox 25"/>
          <p:cNvSpPr txBox="1"/>
          <p:nvPr/>
        </p:nvSpPr>
        <p:spPr>
          <a:xfrm>
            <a:off x="1417320" y="5532120"/>
            <a:ext cx="8229600" cy="411480"/>
          </a:xfrm>
          <a:prstGeom prst="rect">
            <a:avLst/>
          </a:prstGeom>
          <a:noFill/>
        </p:spPr>
        <p:txBody>
          <a:bodyPr wrap="square" lIns="54864" rIns="54864" tIns="18288" bIns="18288">
            <a:spAutoFit/>
          </a:bodyPr>
          <a:lstStyle/>
          <a:p>
            <a:r>
              <a:rPr sz="2300" b="1">
                <a:solidFill>
                  <a:srgbClr val="193556"/>
                </a:solidFill>
                <a:latin typeface="Aptos"/>
              </a:rPr>
              <a:t>Question: which system should the kitchen screen trust?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1935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109728" cy="6858000"/>
          </a:xfrm>
          <a:prstGeom prst="rect">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20040"/>
            <a:ext cx="3474720" cy="274320"/>
          </a:xfrm>
          <a:prstGeom prst="rect">
            <a:avLst/>
          </a:prstGeom>
          <a:noFill/>
        </p:spPr>
        <p:txBody>
          <a:bodyPr wrap="square" lIns="54864" rIns="54864" tIns="18288" bIns="18288">
            <a:spAutoFit/>
          </a:bodyPr>
          <a:lstStyle/>
          <a:p>
            <a:r>
              <a:rPr sz="1200" b="1">
                <a:solidFill>
                  <a:srgbClr val="E27039"/>
                </a:solidFill>
                <a:latin typeface="Aptos"/>
              </a:rPr>
              <a:t>ROUND 1 DEBRIEF</a:t>
            </a:r>
          </a:p>
        </p:txBody>
      </p:sp>
      <p:sp>
        <p:nvSpPr>
          <p:cNvPr id="6" name="TextBox 5"/>
          <p:cNvSpPr txBox="1"/>
          <p:nvPr/>
        </p:nvSpPr>
        <p:spPr>
          <a:xfrm>
            <a:off x="1298448" y="640080"/>
            <a:ext cx="9692640" cy="502920"/>
          </a:xfrm>
          <a:prstGeom prst="rect">
            <a:avLst/>
          </a:prstGeom>
          <a:noFill/>
        </p:spPr>
        <p:txBody>
          <a:bodyPr wrap="square" lIns="54864" rIns="54864" tIns="18288" bIns="18288">
            <a:spAutoFit/>
          </a:bodyPr>
          <a:lstStyle/>
          <a:p>
            <a:r>
              <a:rPr sz="3200" b="1">
                <a:solidFill>
                  <a:srgbClr val="19222A"/>
                </a:solidFill>
                <a:latin typeface="Aptos"/>
              </a:rPr>
              <a:t>Tradeoff: Fast Reads vs Correct Reads</a:t>
            </a:r>
          </a:p>
        </p:txBody>
      </p:sp>
      <p:sp>
        <p:nvSpPr>
          <p:cNvPr id="7" name="TextBox 6"/>
          <p:cNvSpPr txBox="1"/>
          <p:nvPr/>
        </p:nvSpPr>
        <p:spPr>
          <a:xfrm>
            <a:off x="8686800" y="6355080"/>
            <a:ext cx="2377440" cy="228600"/>
          </a:xfrm>
          <a:prstGeom prst="rect">
            <a:avLst/>
          </a:prstGeom>
          <a:noFill/>
        </p:spPr>
        <p:txBody>
          <a:bodyPr wrap="square" lIns="54864" rIns="54864" tIns="18288" bIns="18288">
            <a:spAutoFit/>
          </a:bodyPr>
          <a:lstStyle/>
          <a:p>
            <a:pPr algn="r"/>
            <a:r>
              <a:rPr sz="900" b="0">
                <a:solidFill>
                  <a:srgbClr val="535D68"/>
                </a:solidFill>
                <a:latin typeface="Aptos"/>
              </a:rPr>
              <a:t>CST4714 | Week 14 Day 2 | 6</a:t>
            </a:r>
          </a:p>
        </p:txBody>
      </p:sp>
      <p:sp>
        <p:nvSpPr>
          <p:cNvPr id="8" name="Rounded Rectangle 7"/>
          <p:cNvSpPr/>
          <p:nvPr/>
        </p:nvSpPr>
        <p:spPr>
          <a:xfrm>
            <a:off x="1325880" y="1417320"/>
            <a:ext cx="4160520" cy="3474720"/>
          </a:xfrm>
          <a:prstGeom prst="roundRect">
            <a:avLst/>
          </a:prstGeom>
          <a:solidFill>
            <a:srgbClr val="FFF5EB"/>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90472" y="1536192"/>
            <a:ext cx="3831336" cy="256032"/>
          </a:xfrm>
          <a:prstGeom prst="rect">
            <a:avLst/>
          </a:prstGeom>
          <a:noFill/>
        </p:spPr>
        <p:txBody>
          <a:bodyPr wrap="square" lIns="54864" rIns="54864" tIns="18288" bIns="18288">
            <a:spAutoFit/>
          </a:bodyPr>
          <a:lstStyle/>
          <a:p>
            <a:r>
              <a:rPr sz="1500" b="1">
                <a:solidFill>
                  <a:srgbClr val="E27039"/>
                </a:solidFill>
                <a:latin typeface="Aptos"/>
              </a:rPr>
              <a:t>Fast but risky</a:t>
            </a:r>
          </a:p>
        </p:txBody>
      </p:sp>
      <p:sp>
        <p:nvSpPr>
          <p:cNvPr id="10" name="TextBox 9"/>
          <p:cNvSpPr txBox="1"/>
          <p:nvPr/>
        </p:nvSpPr>
        <p:spPr>
          <a:xfrm>
            <a:off x="1490472" y="1856232"/>
            <a:ext cx="3831336" cy="2926080"/>
          </a:xfrm>
          <a:prstGeom prst="rect">
            <a:avLst/>
          </a:prstGeom>
          <a:noFill/>
        </p:spPr>
        <p:txBody>
          <a:bodyPr wrap="square" lIns="54864" rIns="54864" tIns="18288" bIns="18288">
            <a:spAutoFit/>
          </a:bodyPr>
          <a:lstStyle/>
          <a:p>
            <a:r>
              <a:rPr sz="1800" b="0">
                <a:solidFill>
                  <a:srgbClr val="19222A"/>
                </a:solidFill>
                <a:latin typeface="Aptos"/>
              </a:rPr>
              <a:t>Kitchen reads from event stream or cache. It is quick, but it may miss a fact if an event is delayed or lost.</a:t>
            </a:r>
          </a:p>
        </p:txBody>
      </p:sp>
      <p:sp>
        <p:nvSpPr>
          <p:cNvPr id="11" name="Rounded Rectangle 10"/>
          <p:cNvSpPr/>
          <p:nvPr/>
        </p:nvSpPr>
        <p:spPr>
          <a:xfrm>
            <a:off x="6080760" y="1417320"/>
            <a:ext cx="4160520" cy="3474720"/>
          </a:xfrm>
          <a:prstGeom prst="roundRect">
            <a:avLst/>
          </a:prstGeom>
          <a:solidFill>
            <a:srgbClr val="ECF7F4"/>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45352" y="1536192"/>
            <a:ext cx="3831336" cy="256032"/>
          </a:xfrm>
          <a:prstGeom prst="rect">
            <a:avLst/>
          </a:prstGeom>
          <a:noFill/>
        </p:spPr>
        <p:txBody>
          <a:bodyPr wrap="square" lIns="54864" rIns="54864" tIns="18288" bIns="18288">
            <a:spAutoFit/>
          </a:bodyPr>
          <a:lstStyle/>
          <a:p>
            <a:r>
              <a:rPr sz="1500" b="1">
                <a:solidFill>
                  <a:srgbClr val="369072"/>
                </a:solidFill>
                <a:latin typeface="Aptos"/>
              </a:rPr>
              <a:t>Slower but safer</a:t>
            </a:r>
          </a:p>
        </p:txBody>
      </p:sp>
      <p:sp>
        <p:nvSpPr>
          <p:cNvPr id="13" name="TextBox 12"/>
          <p:cNvSpPr txBox="1"/>
          <p:nvPr/>
        </p:nvSpPr>
        <p:spPr>
          <a:xfrm>
            <a:off x="6245352" y="1856232"/>
            <a:ext cx="3831336" cy="2926080"/>
          </a:xfrm>
          <a:prstGeom prst="rect">
            <a:avLst/>
          </a:prstGeom>
          <a:noFill/>
        </p:spPr>
        <p:txBody>
          <a:bodyPr wrap="square" lIns="54864" rIns="54864" tIns="18288" bIns="18288">
            <a:spAutoFit/>
          </a:bodyPr>
          <a:lstStyle/>
          <a:p>
            <a:r>
              <a:rPr sz="1800" b="0">
                <a:solidFill>
                  <a:srgbClr val="19222A"/>
                </a:solidFill>
                <a:latin typeface="Aptos"/>
              </a:rPr>
              <a:t>Kitchen reads from the official orders table. It may be less flashy, but it follows the source of truth.</a:t>
            </a:r>
          </a:p>
        </p:txBody>
      </p:sp>
      <p:sp>
        <p:nvSpPr>
          <p:cNvPr id="14" name="TextBox 13"/>
          <p:cNvSpPr txBox="1"/>
          <p:nvPr/>
        </p:nvSpPr>
        <p:spPr>
          <a:xfrm>
            <a:off x="1417320" y="5440680"/>
            <a:ext cx="8778240" cy="457200"/>
          </a:xfrm>
          <a:prstGeom prst="rect">
            <a:avLst/>
          </a:prstGeom>
          <a:noFill/>
        </p:spPr>
        <p:txBody>
          <a:bodyPr wrap="square" lIns="54864" rIns="54864" tIns="18288" bIns="18288">
            <a:spAutoFit/>
          </a:bodyPr>
          <a:lstStyle/>
          <a:p>
            <a:r>
              <a:rPr sz="2300" b="1">
                <a:solidFill>
                  <a:srgbClr val="193556"/>
                </a:solidFill>
                <a:latin typeface="Aptos"/>
              </a:rPr>
              <a:t>Administration judgment: not every screen should read from the fastest source.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1935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109728" cy="6858000"/>
          </a:xfrm>
          <a:prstGeom prst="rect">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20040"/>
            <a:ext cx="3474720" cy="274320"/>
          </a:xfrm>
          <a:prstGeom prst="rect">
            <a:avLst/>
          </a:prstGeom>
          <a:noFill/>
        </p:spPr>
        <p:txBody>
          <a:bodyPr wrap="square" lIns="54864" rIns="54864" tIns="18288" bIns="18288">
            <a:spAutoFit/>
          </a:bodyPr>
          <a:lstStyle/>
          <a:p>
            <a:r>
              <a:rPr sz="1200" b="1">
                <a:solidFill>
                  <a:srgbClr val="E27039"/>
                </a:solidFill>
                <a:latin typeface="Aptos"/>
              </a:rPr>
              <a:t>ROUND 2</a:t>
            </a:r>
          </a:p>
        </p:txBody>
      </p:sp>
      <p:sp>
        <p:nvSpPr>
          <p:cNvPr id="6" name="TextBox 5"/>
          <p:cNvSpPr txBox="1"/>
          <p:nvPr/>
        </p:nvSpPr>
        <p:spPr>
          <a:xfrm>
            <a:off x="1298448" y="640080"/>
            <a:ext cx="9692640" cy="502920"/>
          </a:xfrm>
          <a:prstGeom prst="rect">
            <a:avLst/>
          </a:prstGeom>
          <a:noFill/>
        </p:spPr>
        <p:txBody>
          <a:bodyPr wrap="square" lIns="54864" rIns="54864" tIns="18288" bIns="18288">
            <a:spAutoFit/>
          </a:bodyPr>
          <a:lstStyle/>
          <a:p>
            <a:r>
              <a:rPr sz="3200" b="1">
                <a:solidFill>
                  <a:srgbClr val="19222A"/>
                </a:solidFill>
                <a:latin typeface="Aptos"/>
              </a:rPr>
              <a:t>Failure Pattern: The Ghost Order</a:t>
            </a:r>
          </a:p>
        </p:txBody>
      </p:sp>
      <p:sp>
        <p:nvSpPr>
          <p:cNvPr id="7" name="TextBox 6"/>
          <p:cNvSpPr txBox="1"/>
          <p:nvPr/>
        </p:nvSpPr>
        <p:spPr>
          <a:xfrm>
            <a:off x="8686800" y="6355080"/>
            <a:ext cx="2377440" cy="228600"/>
          </a:xfrm>
          <a:prstGeom prst="rect">
            <a:avLst/>
          </a:prstGeom>
          <a:noFill/>
        </p:spPr>
        <p:txBody>
          <a:bodyPr wrap="square" lIns="54864" rIns="54864" tIns="18288" bIns="18288">
            <a:spAutoFit/>
          </a:bodyPr>
          <a:lstStyle/>
          <a:p>
            <a:pPr algn="r"/>
            <a:r>
              <a:rPr sz="900" b="0">
                <a:solidFill>
                  <a:srgbClr val="535D68"/>
                </a:solidFill>
                <a:latin typeface="Aptos"/>
              </a:rPr>
              <a:t>CST4714 | Week 14 Day 2 | 7</a:t>
            </a:r>
          </a:p>
        </p:txBody>
      </p:sp>
      <p:sp>
        <p:nvSpPr>
          <p:cNvPr id="8" name="TextBox 7"/>
          <p:cNvSpPr txBox="1"/>
          <p:nvPr/>
        </p:nvSpPr>
        <p:spPr>
          <a:xfrm>
            <a:off x="1371600" y="1280160"/>
            <a:ext cx="8961120" cy="411480"/>
          </a:xfrm>
          <a:prstGeom prst="rect">
            <a:avLst/>
          </a:prstGeom>
          <a:noFill/>
        </p:spPr>
        <p:txBody>
          <a:bodyPr wrap="square" lIns="54864" rIns="54864" tIns="18288" bIns="18288">
            <a:spAutoFit/>
          </a:bodyPr>
          <a:lstStyle/>
          <a:p>
            <a:r>
              <a:rPr sz="2400" b="1">
                <a:solidFill>
                  <a:srgbClr val="B74236"/>
                </a:solidFill>
                <a:latin typeface="Aptos"/>
              </a:rPr>
              <a:t>Ghost order = payment exists, but operational order is missing or invisible.</a:t>
            </a:r>
          </a:p>
        </p:txBody>
      </p:sp>
      <p:sp>
        <p:nvSpPr>
          <p:cNvPr id="9" name="Oval 8"/>
          <p:cNvSpPr/>
          <p:nvPr/>
        </p:nvSpPr>
        <p:spPr>
          <a:xfrm>
            <a:off x="1325880" y="2331720"/>
            <a:ext cx="566928" cy="566928"/>
          </a:xfrm>
          <a:prstGeom prst="ellipse">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25880" y="2414016"/>
            <a:ext cx="566928" cy="292608"/>
          </a:xfrm>
          <a:prstGeom prst="rect">
            <a:avLst/>
          </a:prstGeom>
          <a:noFill/>
        </p:spPr>
        <p:txBody>
          <a:bodyPr wrap="square" lIns="54864" rIns="54864" tIns="18288" bIns="18288">
            <a:spAutoFit/>
          </a:bodyPr>
          <a:lstStyle/>
          <a:p>
            <a:pPr algn="ctr"/>
            <a:r>
              <a:rPr sz="1600" b="1">
                <a:solidFill>
                  <a:srgbClr val="FFFFFF"/>
                </a:solidFill>
                <a:latin typeface="Aptos"/>
              </a:rPr>
              <a:t>1</a:t>
            </a:r>
          </a:p>
        </p:txBody>
      </p:sp>
      <p:sp>
        <p:nvSpPr>
          <p:cNvPr id="11" name="TextBox 10"/>
          <p:cNvSpPr txBox="1"/>
          <p:nvPr/>
        </p:nvSpPr>
        <p:spPr>
          <a:xfrm>
            <a:off x="868680" y="3108960"/>
            <a:ext cx="1508760" cy="640080"/>
          </a:xfrm>
          <a:prstGeom prst="rect">
            <a:avLst/>
          </a:prstGeom>
          <a:noFill/>
        </p:spPr>
        <p:txBody>
          <a:bodyPr wrap="square" lIns="54864" rIns="54864" tIns="18288" bIns="18288">
            <a:spAutoFit/>
          </a:bodyPr>
          <a:lstStyle/>
          <a:p>
            <a:pPr algn="ctr"/>
            <a:r>
              <a:rPr sz="1300" b="1">
                <a:solidFill>
                  <a:srgbClr val="19222A"/>
                </a:solidFill>
                <a:latin typeface="Aptos"/>
              </a:rPr>
              <a:t>student clicks checkout</a:t>
            </a:r>
          </a:p>
        </p:txBody>
      </p:sp>
      <p:cxnSp>
        <p:nvCxnSpPr>
          <p:cNvPr id="12" name="Connector 11"/>
          <p:cNvCxnSpPr/>
          <p:nvPr/>
        </p:nvCxnSpPr>
        <p:spPr>
          <a:xfrm>
            <a:off x="1965960" y="2615184"/>
            <a:ext cx="1234439" cy="0"/>
          </a:xfrm>
          <a:prstGeom prst="line">
            <a:avLst/>
          </a:prstGeom>
          <a:ln w="25400">
            <a:solidFill>
              <a:srgbClr val="535D6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291839" y="2331720"/>
            <a:ext cx="566928" cy="566928"/>
          </a:xfrm>
          <a:prstGeom prst="ellipse">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39" y="2414016"/>
            <a:ext cx="566928" cy="292608"/>
          </a:xfrm>
          <a:prstGeom prst="rect">
            <a:avLst/>
          </a:prstGeom>
          <a:noFill/>
        </p:spPr>
        <p:txBody>
          <a:bodyPr wrap="square" lIns="54864" rIns="54864" tIns="18288" bIns="18288">
            <a:spAutoFit/>
          </a:bodyPr>
          <a:lstStyle/>
          <a:p>
            <a:pPr algn="ctr"/>
            <a:r>
              <a:rPr sz="1600" b="1">
                <a:solidFill>
                  <a:srgbClr val="FFFFFF"/>
                </a:solidFill>
                <a:latin typeface="Aptos"/>
              </a:rPr>
              <a:t>2</a:t>
            </a:r>
          </a:p>
        </p:txBody>
      </p:sp>
      <p:sp>
        <p:nvSpPr>
          <p:cNvPr id="15" name="TextBox 14"/>
          <p:cNvSpPr txBox="1"/>
          <p:nvPr/>
        </p:nvSpPr>
        <p:spPr>
          <a:xfrm>
            <a:off x="2834639" y="3108960"/>
            <a:ext cx="1508760" cy="640080"/>
          </a:xfrm>
          <a:prstGeom prst="rect">
            <a:avLst/>
          </a:prstGeom>
          <a:noFill/>
        </p:spPr>
        <p:txBody>
          <a:bodyPr wrap="square" lIns="54864" rIns="54864" tIns="18288" bIns="18288">
            <a:spAutoFit/>
          </a:bodyPr>
          <a:lstStyle/>
          <a:p>
            <a:pPr algn="ctr"/>
            <a:r>
              <a:rPr sz="1300" b="1">
                <a:solidFill>
                  <a:srgbClr val="19222A"/>
                </a:solidFill>
                <a:latin typeface="Aptos"/>
              </a:rPr>
              <a:t>payment succeeds</a:t>
            </a:r>
          </a:p>
        </p:txBody>
      </p:sp>
      <p:cxnSp>
        <p:nvCxnSpPr>
          <p:cNvPr id="16" name="Connector 15"/>
          <p:cNvCxnSpPr/>
          <p:nvPr/>
        </p:nvCxnSpPr>
        <p:spPr>
          <a:xfrm>
            <a:off x="3931919" y="2615184"/>
            <a:ext cx="1234439" cy="0"/>
          </a:xfrm>
          <a:prstGeom prst="line">
            <a:avLst/>
          </a:prstGeom>
          <a:ln w="25400">
            <a:solidFill>
              <a:srgbClr val="535D68"/>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257800" y="2331720"/>
            <a:ext cx="566928" cy="566928"/>
          </a:xfrm>
          <a:prstGeom prst="ellipse">
            <a:avLst/>
          </a:prstGeom>
          <a:solidFill>
            <a:srgbClr val="B74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2414016"/>
            <a:ext cx="566928" cy="292608"/>
          </a:xfrm>
          <a:prstGeom prst="rect">
            <a:avLst/>
          </a:prstGeom>
          <a:noFill/>
        </p:spPr>
        <p:txBody>
          <a:bodyPr wrap="square" lIns="54864" rIns="54864" tIns="18288" bIns="18288">
            <a:spAutoFit/>
          </a:bodyPr>
          <a:lstStyle/>
          <a:p>
            <a:pPr algn="ctr"/>
            <a:r>
              <a:rPr sz="1600" b="1">
                <a:solidFill>
                  <a:srgbClr val="FFFFFF"/>
                </a:solidFill>
                <a:latin typeface="Aptos"/>
              </a:rPr>
              <a:t>3</a:t>
            </a:r>
          </a:p>
        </p:txBody>
      </p:sp>
      <p:sp>
        <p:nvSpPr>
          <p:cNvPr id="19" name="TextBox 18"/>
          <p:cNvSpPr txBox="1"/>
          <p:nvPr/>
        </p:nvSpPr>
        <p:spPr>
          <a:xfrm>
            <a:off x="4800600" y="3108960"/>
            <a:ext cx="1508760" cy="640080"/>
          </a:xfrm>
          <a:prstGeom prst="rect">
            <a:avLst/>
          </a:prstGeom>
          <a:noFill/>
        </p:spPr>
        <p:txBody>
          <a:bodyPr wrap="square" lIns="54864" rIns="54864" tIns="18288" bIns="18288">
            <a:spAutoFit/>
          </a:bodyPr>
          <a:lstStyle/>
          <a:p>
            <a:pPr algn="ctr"/>
            <a:r>
              <a:rPr sz="1300" b="1">
                <a:solidFill>
                  <a:srgbClr val="19222A"/>
                </a:solidFill>
                <a:latin typeface="Aptos"/>
              </a:rPr>
              <a:t>event write fails</a:t>
            </a:r>
          </a:p>
        </p:txBody>
      </p:sp>
      <p:cxnSp>
        <p:nvCxnSpPr>
          <p:cNvPr id="20" name="Connector 19"/>
          <p:cNvCxnSpPr/>
          <p:nvPr/>
        </p:nvCxnSpPr>
        <p:spPr>
          <a:xfrm>
            <a:off x="5897880" y="2615184"/>
            <a:ext cx="1234439" cy="0"/>
          </a:xfrm>
          <a:prstGeom prst="line">
            <a:avLst/>
          </a:prstGeom>
          <a:ln w="25400">
            <a:solidFill>
              <a:srgbClr val="535D68"/>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223759" y="2331720"/>
            <a:ext cx="566928" cy="566928"/>
          </a:xfrm>
          <a:prstGeom prst="ellipse">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2414016"/>
            <a:ext cx="566928" cy="292608"/>
          </a:xfrm>
          <a:prstGeom prst="rect">
            <a:avLst/>
          </a:prstGeom>
          <a:noFill/>
        </p:spPr>
        <p:txBody>
          <a:bodyPr wrap="square" lIns="54864" rIns="54864" tIns="18288" bIns="18288">
            <a:spAutoFit/>
          </a:bodyPr>
          <a:lstStyle/>
          <a:p>
            <a:pPr algn="ctr"/>
            <a:r>
              <a:rPr sz="1600" b="1">
                <a:solidFill>
                  <a:srgbClr val="FFFFFF"/>
                </a:solidFill>
                <a:latin typeface="Aptos"/>
              </a:rPr>
              <a:t>4</a:t>
            </a:r>
          </a:p>
        </p:txBody>
      </p:sp>
      <p:sp>
        <p:nvSpPr>
          <p:cNvPr id="23" name="TextBox 22"/>
          <p:cNvSpPr txBox="1"/>
          <p:nvPr/>
        </p:nvSpPr>
        <p:spPr>
          <a:xfrm>
            <a:off x="6766559" y="3108960"/>
            <a:ext cx="1508760" cy="640080"/>
          </a:xfrm>
          <a:prstGeom prst="rect">
            <a:avLst/>
          </a:prstGeom>
          <a:noFill/>
        </p:spPr>
        <p:txBody>
          <a:bodyPr wrap="square" lIns="54864" rIns="54864" tIns="18288" bIns="18288">
            <a:spAutoFit/>
          </a:bodyPr>
          <a:lstStyle/>
          <a:p>
            <a:pPr algn="ctr"/>
            <a:r>
              <a:rPr sz="1300" b="1">
                <a:solidFill>
                  <a:srgbClr val="19222A"/>
                </a:solidFill>
                <a:latin typeface="Aptos"/>
              </a:rPr>
              <a:t>kitchen reads events</a:t>
            </a:r>
          </a:p>
        </p:txBody>
      </p:sp>
      <p:cxnSp>
        <p:nvCxnSpPr>
          <p:cNvPr id="24" name="Connector 23"/>
          <p:cNvCxnSpPr/>
          <p:nvPr/>
        </p:nvCxnSpPr>
        <p:spPr>
          <a:xfrm>
            <a:off x="7863839" y="2615184"/>
            <a:ext cx="1234439" cy="0"/>
          </a:xfrm>
          <a:prstGeom prst="line">
            <a:avLst/>
          </a:prstGeom>
          <a:ln w="25400">
            <a:solidFill>
              <a:srgbClr val="535D68"/>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9189719" y="2331720"/>
            <a:ext cx="566928" cy="566928"/>
          </a:xfrm>
          <a:prstGeom prst="ellipse">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89719" y="2414016"/>
            <a:ext cx="566928" cy="292608"/>
          </a:xfrm>
          <a:prstGeom prst="rect">
            <a:avLst/>
          </a:prstGeom>
          <a:noFill/>
        </p:spPr>
        <p:txBody>
          <a:bodyPr wrap="square" lIns="54864" rIns="54864" tIns="18288" bIns="18288">
            <a:spAutoFit/>
          </a:bodyPr>
          <a:lstStyle/>
          <a:p>
            <a:pPr algn="ctr"/>
            <a:r>
              <a:rPr sz="1600" b="1">
                <a:solidFill>
                  <a:srgbClr val="FFFFFF"/>
                </a:solidFill>
                <a:latin typeface="Aptos"/>
              </a:rPr>
              <a:t>5</a:t>
            </a:r>
          </a:p>
        </p:txBody>
      </p:sp>
      <p:sp>
        <p:nvSpPr>
          <p:cNvPr id="27" name="TextBox 26"/>
          <p:cNvSpPr txBox="1"/>
          <p:nvPr/>
        </p:nvSpPr>
        <p:spPr>
          <a:xfrm>
            <a:off x="8732519" y="3108960"/>
            <a:ext cx="1508760" cy="640080"/>
          </a:xfrm>
          <a:prstGeom prst="rect">
            <a:avLst/>
          </a:prstGeom>
          <a:noFill/>
        </p:spPr>
        <p:txBody>
          <a:bodyPr wrap="square" lIns="54864" rIns="54864" tIns="18288" bIns="18288">
            <a:spAutoFit/>
          </a:bodyPr>
          <a:lstStyle/>
          <a:p>
            <a:pPr algn="ctr"/>
            <a:r>
              <a:rPr sz="1300" b="1">
                <a:solidFill>
                  <a:srgbClr val="19222A"/>
                </a:solidFill>
                <a:latin typeface="Aptos"/>
              </a:rPr>
              <a:t>order vanishes</a:t>
            </a:r>
          </a:p>
        </p:txBody>
      </p:sp>
      <p:sp>
        <p:nvSpPr>
          <p:cNvPr id="28" name="TextBox 27"/>
          <p:cNvSpPr txBox="1"/>
          <p:nvPr/>
        </p:nvSpPr>
        <p:spPr>
          <a:xfrm>
            <a:off x="1417320" y="4892040"/>
            <a:ext cx="8869680" cy="457200"/>
          </a:xfrm>
          <a:prstGeom prst="rect">
            <a:avLst/>
          </a:prstGeom>
          <a:noFill/>
        </p:spPr>
        <p:txBody>
          <a:bodyPr wrap="square" lIns="54864" rIns="54864" tIns="18288" bIns="18288">
            <a:spAutoFit/>
          </a:bodyPr>
          <a:lstStyle/>
          <a:p>
            <a:r>
              <a:rPr sz="2300" b="1">
                <a:solidFill>
                  <a:srgbClr val="193556"/>
                </a:solidFill>
                <a:latin typeface="Aptos"/>
              </a:rPr>
              <a:t>Question: what should happen when payment succeeds but the event write fails?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1935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109728" cy="6858000"/>
          </a:xfrm>
          <a:prstGeom prst="rect">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20040"/>
            <a:ext cx="3474720" cy="274320"/>
          </a:xfrm>
          <a:prstGeom prst="rect">
            <a:avLst/>
          </a:prstGeom>
          <a:noFill/>
        </p:spPr>
        <p:txBody>
          <a:bodyPr wrap="square" lIns="54864" rIns="54864" tIns="18288" bIns="18288">
            <a:spAutoFit/>
          </a:bodyPr>
          <a:lstStyle/>
          <a:p>
            <a:r>
              <a:rPr sz="1200" b="1">
                <a:solidFill>
                  <a:srgbClr val="E27039"/>
                </a:solidFill>
                <a:latin typeface="Aptos"/>
              </a:rPr>
              <a:t>ROUND 2 DEBRIEF</a:t>
            </a:r>
          </a:p>
        </p:txBody>
      </p:sp>
      <p:sp>
        <p:nvSpPr>
          <p:cNvPr id="6" name="TextBox 5"/>
          <p:cNvSpPr txBox="1"/>
          <p:nvPr/>
        </p:nvSpPr>
        <p:spPr>
          <a:xfrm>
            <a:off x="1298448" y="640080"/>
            <a:ext cx="9692640" cy="502920"/>
          </a:xfrm>
          <a:prstGeom prst="rect">
            <a:avLst/>
          </a:prstGeom>
          <a:noFill/>
        </p:spPr>
        <p:txBody>
          <a:bodyPr wrap="square" lIns="54864" rIns="54864" tIns="18288" bIns="18288">
            <a:spAutoFit/>
          </a:bodyPr>
          <a:lstStyle/>
          <a:p>
            <a:r>
              <a:rPr sz="3200" b="1">
                <a:solidFill>
                  <a:srgbClr val="19222A"/>
                </a:solidFill>
                <a:latin typeface="Aptos"/>
              </a:rPr>
              <a:t>Repair Pattern: Make The Write Recoverable</a:t>
            </a:r>
          </a:p>
        </p:txBody>
      </p:sp>
      <p:sp>
        <p:nvSpPr>
          <p:cNvPr id="7" name="TextBox 6"/>
          <p:cNvSpPr txBox="1"/>
          <p:nvPr/>
        </p:nvSpPr>
        <p:spPr>
          <a:xfrm>
            <a:off x="8686800" y="6355080"/>
            <a:ext cx="2377440" cy="228600"/>
          </a:xfrm>
          <a:prstGeom prst="rect">
            <a:avLst/>
          </a:prstGeom>
          <a:noFill/>
        </p:spPr>
        <p:txBody>
          <a:bodyPr wrap="square" lIns="54864" rIns="54864" tIns="18288" bIns="18288">
            <a:spAutoFit/>
          </a:bodyPr>
          <a:lstStyle/>
          <a:p>
            <a:pPr algn="r"/>
            <a:r>
              <a:rPr sz="900" b="0">
                <a:solidFill>
                  <a:srgbClr val="535D68"/>
                </a:solidFill>
                <a:latin typeface="Aptos"/>
              </a:rPr>
              <a:t>CST4714 | Week 14 Day 2 | 8</a:t>
            </a:r>
          </a:p>
        </p:txBody>
      </p:sp>
      <p:sp>
        <p:nvSpPr>
          <p:cNvPr id="8" name="Rounded Rectangle 7"/>
          <p:cNvSpPr/>
          <p:nvPr/>
        </p:nvSpPr>
        <p:spPr>
          <a:xfrm>
            <a:off x="1325880" y="1325880"/>
            <a:ext cx="2971800" cy="443484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7048" y="1472184"/>
            <a:ext cx="2569464" cy="292608"/>
          </a:xfrm>
          <a:prstGeom prst="rect">
            <a:avLst/>
          </a:prstGeom>
          <a:noFill/>
        </p:spPr>
        <p:txBody>
          <a:bodyPr wrap="square" lIns="54864" rIns="54864" tIns="18288" bIns="18288">
            <a:spAutoFit/>
          </a:bodyPr>
          <a:lstStyle/>
          <a:p>
            <a:r>
              <a:rPr sz="1700" b="1">
                <a:solidFill>
                  <a:srgbClr val="193556"/>
                </a:solidFill>
                <a:latin typeface="Aptos"/>
              </a:rPr>
              <a:t>Better design</a:t>
            </a:r>
          </a:p>
        </p:txBody>
      </p:sp>
      <p:sp>
        <p:nvSpPr>
          <p:cNvPr id="10" name="TextBox 9"/>
          <p:cNvSpPr txBox="1"/>
          <p:nvPr/>
        </p:nvSpPr>
        <p:spPr>
          <a:xfrm>
            <a:off x="1545336" y="1856232"/>
            <a:ext cx="2532888" cy="3749040"/>
          </a:xfrm>
          <a:prstGeom prst="rect">
            <a:avLst/>
          </a:prstGeom>
          <a:noFill/>
        </p:spPr>
        <p:txBody>
          <a:bodyPr wrap="square">
            <a:spAutoFit/>
          </a:bodyPr>
          <a:lstStyle/>
          <a:p>
            <a:pPr>
              <a:spcAft>
                <a:spcPts val="800"/>
              </a:spcAft>
              <a:defRPr sz="1600">
                <a:solidFill>
                  <a:srgbClr val="19222A"/>
                </a:solidFill>
                <a:latin typeface="Aptos"/>
              </a:defRPr>
            </a:pPr>
            <a:r>
              <a:t>write order first</a:t>
            </a:r>
          </a:p>
          <a:p>
            <a:pPr>
              <a:spcAft>
                <a:spcPts val="800"/>
              </a:spcAft>
              <a:defRPr sz="1600">
                <a:solidFill>
                  <a:srgbClr val="19222A"/>
                </a:solidFill>
                <a:latin typeface="Aptos"/>
              </a:defRPr>
            </a:pPr>
            <a:r>
              <a:t>record payment status</a:t>
            </a:r>
          </a:p>
          <a:p>
            <a:pPr>
              <a:spcAft>
                <a:spcPts val="800"/>
              </a:spcAft>
              <a:defRPr sz="1600">
                <a:solidFill>
                  <a:srgbClr val="19222A"/>
                </a:solidFill>
                <a:latin typeface="Aptos"/>
              </a:defRPr>
            </a:pPr>
            <a:r>
              <a:t>retry failed event safely</a:t>
            </a:r>
          </a:p>
          <a:p>
            <a:pPr>
              <a:spcAft>
                <a:spcPts val="800"/>
              </a:spcAft>
              <a:defRPr sz="1600">
                <a:solidFill>
                  <a:srgbClr val="19222A"/>
                </a:solidFill>
                <a:latin typeface="Aptos"/>
              </a:defRPr>
            </a:pPr>
            <a:r>
              <a:t>show kitchen from source of truth</a:t>
            </a:r>
          </a:p>
        </p:txBody>
      </p:sp>
      <p:sp>
        <p:nvSpPr>
          <p:cNvPr id="11" name="Rounded Rectangle 10"/>
          <p:cNvSpPr/>
          <p:nvPr/>
        </p:nvSpPr>
        <p:spPr>
          <a:xfrm>
            <a:off x="4526280" y="1325880"/>
            <a:ext cx="2971800" cy="4434840"/>
          </a:xfrm>
          <a:prstGeom prst="roundRect">
            <a:avLst/>
          </a:prstGeom>
          <a:solidFill>
            <a:srgbClr val="ECF7F4"/>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27448" y="1472184"/>
            <a:ext cx="2569464" cy="292608"/>
          </a:xfrm>
          <a:prstGeom prst="rect">
            <a:avLst/>
          </a:prstGeom>
          <a:noFill/>
        </p:spPr>
        <p:txBody>
          <a:bodyPr wrap="square" lIns="54864" rIns="54864" tIns="18288" bIns="18288">
            <a:spAutoFit/>
          </a:bodyPr>
          <a:lstStyle/>
          <a:p>
            <a:r>
              <a:rPr sz="1700" b="1">
                <a:solidFill>
                  <a:srgbClr val="193556"/>
                </a:solidFill>
                <a:latin typeface="Aptos"/>
              </a:rPr>
              <a:t>Idempotency</a:t>
            </a:r>
          </a:p>
        </p:txBody>
      </p:sp>
      <p:sp>
        <p:nvSpPr>
          <p:cNvPr id="13" name="TextBox 12"/>
          <p:cNvSpPr txBox="1"/>
          <p:nvPr/>
        </p:nvSpPr>
        <p:spPr>
          <a:xfrm>
            <a:off x="4745736" y="1856232"/>
            <a:ext cx="2532888" cy="3749040"/>
          </a:xfrm>
          <a:prstGeom prst="rect">
            <a:avLst/>
          </a:prstGeom>
          <a:noFill/>
        </p:spPr>
        <p:txBody>
          <a:bodyPr wrap="square">
            <a:spAutoFit/>
          </a:bodyPr>
          <a:lstStyle/>
          <a:p>
            <a:pPr>
              <a:spcAft>
                <a:spcPts val="800"/>
              </a:spcAft>
              <a:defRPr sz="1600">
                <a:solidFill>
                  <a:srgbClr val="19222A"/>
                </a:solidFill>
                <a:latin typeface="Aptos"/>
              </a:defRPr>
            </a:pPr>
            <a:r>
              <a:t>use request id</a:t>
            </a:r>
          </a:p>
          <a:p>
            <a:pPr>
              <a:spcAft>
                <a:spcPts val="800"/>
              </a:spcAft>
              <a:defRPr sz="1600">
                <a:solidFill>
                  <a:srgbClr val="19222A"/>
                </a:solidFill>
                <a:latin typeface="Aptos"/>
              </a:defRPr>
            </a:pPr>
            <a:r>
              <a:t>avoid duplicate charges</a:t>
            </a:r>
          </a:p>
          <a:p>
            <a:pPr>
              <a:spcAft>
                <a:spcPts val="800"/>
              </a:spcAft>
              <a:defRPr sz="1600">
                <a:solidFill>
                  <a:srgbClr val="19222A"/>
                </a:solidFill>
                <a:latin typeface="Aptos"/>
              </a:defRPr>
            </a:pPr>
            <a:r>
              <a:t>safe checkout retry</a:t>
            </a:r>
          </a:p>
          <a:p>
            <a:pPr>
              <a:spcAft>
                <a:spcPts val="800"/>
              </a:spcAft>
              <a:defRPr sz="1600">
                <a:solidFill>
                  <a:srgbClr val="19222A"/>
                </a:solidFill>
                <a:latin typeface="Aptos"/>
              </a:defRPr>
            </a:pPr>
            <a:r>
              <a:t>same request gives same result</a:t>
            </a:r>
          </a:p>
        </p:txBody>
      </p:sp>
      <p:sp>
        <p:nvSpPr>
          <p:cNvPr id="14" name="Rounded Rectangle 13"/>
          <p:cNvSpPr/>
          <p:nvPr/>
        </p:nvSpPr>
        <p:spPr>
          <a:xfrm>
            <a:off x="7726679" y="1325880"/>
            <a:ext cx="2971800" cy="4434840"/>
          </a:xfrm>
          <a:prstGeom prst="roundRect">
            <a:avLst/>
          </a:prstGeom>
          <a:solidFill>
            <a:srgbClr val="FFF5EB"/>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27847" y="1472184"/>
            <a:ext cx="2569464" cy="292608"/>
          </a:xfrm>
          <a:prstGeom prst="rect">
            <a:avLst/>
          </a:prstGeom>
          <a:noFill/>
        </p:spPr>
        <p:txBody>
          <a:bodyPr wrap="square" lIns="54864" rIns="54864" tIns="18288" bIns="18288">
            <a:spAutoFit/>
          </a:bodyPr>
          <a:lstStyle/>
          <a:p>
            <a:r>
              <a:rPr sz="1700" b="1">
                <a:solidFill>
                  <a:srgbClr val="193556"/>
                </a:solidFill>
                <a:latin typeface="Aptos"/>
              </a:rPr>
              <a:t>Admin evidence</a:t>
            </a:r>
          </a:p>
        </p:txBody>
      </p:sp>
      <p:sp>
        <p:nvSpPr>
          <p:cNvPr id="16" name="TextBox 15"/>
          <p:cNvSpPr txBox="1"/>
          <p:nvPr/>
        </p:nvSpPr>
        <p:spPr>
          <a:xfrm>
            <a:off x="7946135" y="1856232"/>
            <a:ext cx="2532888" cy="3749040"/>
          </a:xfrm>
          <a:prstGeom prst="rect">
            <a:avLst/>
          </a:prstGeom>
          <a:noFill/>
        </p:spPr>
        <p:txBody>
          <a:bodyPr wrap="square">
            <a:spAutoFit/>
          </a:bodyPr>
          <a:lstStyle/>
          <a:p>
            <a:pPr>
              <a:spcAft>
                <a:spcPts val="800"/>
              </a:spcAft>
              <a:defRPr sz="1600">
                <a:solidFill>
                  <a:srgbClr val="19222A"/>
                </a:solidFill>
                <a:latin typeface="Aptos"/>
              </a:defRPr>
            </a:pPr>
            <a:r>
              <a:t>document source of truth</a:t>
            </a:r>
          </a:p>
          <a:p>
            <a:pPr>
              <a:spcAft>
                <a:spcPts val="800"/>
              </a:spcAft>
              <a:defRPr sz="1600">
                <a:solidFill>
                  <a:srgbClr val="19222A"/>
                </a:solidFill>
                <a:latin typeface="Aptos"/>
              </a:defRPr>
            </a:pPr>
            <a:r>
              <a:t>monitor failed events</a:t>
            </a:r>
          </a:p>
          <a:p>
            <a:pPr>
              <a:spcAft>
                <a:spcPts val="800"/>
              </a:spcAft>
              <a:defRPr sz="1600">
                <a:solidFill>
                  <a:srgbClr val="19222A"/>
                </a:solidFill>
                <a:latin typeface="Aptos"/>
              </a:defRPr>
            </a:pPr>
            <a:r>
              <a:t>restore and verify orders</a:t>
            </a:r>
          </a:p>
          <a:p>
            <a:pPr>
              <a:spcAft>
                <a:spcPts val="800"/>
              </a:spcAft>
              <a:defRPr sz="1600">
                <a:solidFill>
                  <a:srgbClr val="19222A"/>
                </a:solidFill>
                <a:latin typeface="Aptos"/>
              </a:defRPr>
            </a:pPr>
            <a:r>
              <a:t>explain tradeoff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1935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109728" cy="6858000"/>
          </a:xfrm>
          <a:prstGeom prst="rect">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20040"/>
            <a:ext cx="3474720" cy="274320"/>
          </a:xfrm>
          <a:prstGeom prst="rect">
            <a:avLst/>
          </a:prstGeom>
          <a:noFill/>
        </p:spPr>
        <p:txBody>
          <a:bodyPr wrap="square" lIns="54864" rIns="54864" tIns="18288" bIns="18288">
            <a:spAutoFit/>
          </a:bodyPr>
          <a:lstStyle/>
          <a:p>
            <a:r>
              <a:rPr sz="1200" b="1">
                <a:solidFill>
                  <a:srgbClr val="E27039"/>
                </a:solidFill>
                <a:latin typeface="Aptos"/>
              </a:rPr>
              <a:t>ADVANCED CONCEPT</a:t>
            </a:r>
          </a:p>
        </p:txBody>
      </p:sp>
      <p:sp>
        <p:nvSpPr>
          <p:cNvPr id="6" name="TextBox 5"/>
          <p:cNvSpPr txBox="1"/>
          <p:nvPr/>
        </p:nvSpPr>
        <p:spPr>
          <a:xfrm>
            <a:off x="1298448" y="640080"/>
            <a:ext cx="9692640" cy="502920"/>
          </a:xfrm>
          <a:prstGeom prst="rect">
            <a:avLst/>
          </a:prstGeom>
          <a:noFill/>
        </p:spPr>
        <p:txBody>
          <a:bodyPr wrap="square" lIns="54864" rIns="54864" tIns="18288" bIns="18288">
            <a:spAutoFit/>
          </a:bodyPr>
          <a:lstStyle/>
          <a:p>
            <a:r>
              <a:rPr sz="3200" b="1">
                <a:solidFill>
                  <a:srgbClr val="19222A"/>
                </a:solidFill>
                <a:latin typeface="Aptos"/>
              </a:rPr>
              <a:t>CAP Without The Math</a:t>
            </a:r>
          </a:p>
        </p:txBody>
      </p:sp>
      <p:sp>
        <p:nvSpPr>
          <p:cNvPr id="7" name="TextBox 6"/>
          <p:cNvSpPr txBox="1"/>
          <p:nvPr/>
        </p:nvSpPr>
        <p:spPr>
          <a:xfrm>
            <a:off x="8686800" y="6355080"/>
            <a:ext cx="2377440" cy="228600"/>
          </a:xfrm>
          <a:prstGeom prst="rect">
            <a:avLst/>
          </a:prstGeom>
          <a:noFill/>
        </p:spPr>
        <p:txBody>
          <a:bodyPr wrap="square" lIns="54864" rIns="54864" tIns="18288" bIns="18288">
            <a:spAutoFit/>
          </a:bodyPr>
          <a:lstStyle/>
          <a:p>
            <a:pPr algn="r"/>
            <a:r>
              <a:rPr sz="900" b="0">
                <a:solidFill>
                  <a:srgbClr val="535D68"/>
                </a:solidFill>
                <a:latin typeface="Aptos"/>
              </a:rPr>
              <a:t>CST4714 | Week 14 Day 2 | 9</a:t>
            </a:r>
          </a:p>
        </p:txBody>
      </p:sp>
      <p:sp>
        <p:nvSpPr>
          <p:cNvPr id="8" name="Rounded Rectangle 7"/>
          <p:cNvSpPr/>
          <p:nvPr/>
        </p:nvSpPr>
        <p:spPr>
          <a:xfrm>
            <a:off x="1325880" y="1508760"/>
            <a:ext cx="2743200" cy="192024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90472" y="1627632"/>
            <a:ext cx="2414016" cy="256032"/>
          </a:xfrm>
          <a:prstGeom prst="rect">
            <a:avLst/>
          </a:prstGeom>
          <a:noFill/>
        </p:spPr>
        <p:txBody>
          <a:bodyPr wrap="square" lIns="54864" rIns="54864" tIns="18288" bIns="18288">
            <a:spAutoFit/>
          </a:bodyPr>
          <a:lstStyle/>
          <a:p>
            <a:r>
              <a:rPr sz="1500" b="1">
                <a:solidFill>
                  <a:srgbClr val="193556"/>
                </a:solidFill>
                <a:latin typeface="Aptos"/>
              </a:rPr>
              <a:t>Consistency</a:t>
            </a:r>
          </a:p>
        </p:txBody>
      </p:sp>
      <p:sp>
        <p:nvSpPr>
          <p:cNvPr id="10" name="TextBox 9"/>
          <p:cNvSpPr txBox="1"/>
          <p:nvPr/>
        </p:nvSpPr>
        <p:spPr>
          <a:xfrm>
            <a:off x="1490472" y="1947672"/>
            <a:ext cx="2414016" cy="1371600"/>
          </a:xfrm>
          <a:prstGeom prst="rect">
            <a:avLst/>
          </a:prstGeom>
          <a:noFill/>
        </p:spPr>
        <p:txBody>
          <a:bodyPr wrap="square" lIns="54864" rIns="54864" tIns="18288" bIns="18288">
            <a:spAutoFit/>
          </a:bodyPr>
          <a:lstStyle/>
          <a:p>
            <a:r>
              <a:rPr sz="1800" b="0">
                <a:solidFill>
                  <a:srgbClr val="19222A"/>
                </a:solidFill>
                <a:latin typeface="Aptos"/>
              </a:rPr>
              <a:t>Every read sees the correct agreed value.</a:t>
            </a:r>
          </a:p>
        </p:txBody>
      </p:sp>
      <p:sp>
        <p:nvSpPr>
          <p:cNvPr id="11" name="Rounded Rectangle 10"/>
          <p:cNvSpPr/>
          <p:nvPr/>
        </p:nvSpPr>
        <p:spPr>
          <a:xfrm>
            <a:off x="4663440" y="1508760"/>
            <a:ext cx="2743200" cy="192024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28032" y="1627632"/>
            <a:ext cx="2414016" cy="256032"/>
          </a:xfrm>
          <a:prstGeom prst="rect">
            <a:avLst/>
          </a:prstGeom>
          <a:noFill/>
        </p:spPr>
        <p:txBody>
          <a:bodyPr wrap="square" lIns="54864" rIns="54864" tIns="18288" bIns="18288">
            <a:spAutoFit/>
          </a:bodyPr>
          <a:lstStyle/>
          <a:p>
            <a:r>
              <a:rPr sz="1500" b="1">
                <a:solidFill>
                  <a:srgbClr val="193556"/>
                </a:solidFill>
                <a:latin typeface="Aptos"/>
              </a:rPr>
              <a:t>Availability</a:t>
            </a:r>
          </a:p>
        </p:txBody>
      </p:sp>
      <p:sp>
        <p:nvSpPr>
          <p:cNvPr id="13" name="TextBox 12"/>
          <p:cNvSpPr txBox="1"/>
          <p:nvPr/>
        </p:nvSpPr>
        <p:spPr>
          <a:xfrm>
            <a:off x="4828032" y="1947672"/>
            <a:ext cx="2414016" cy="1371600"/>
          </a:xfrm>
          <a:prstGeom prst="rect">
            <a:avLst/>
          </a:prstGeom>
          <a:noFill/>
        </p:spPr>
        <p:txBody>
          <a:bodyPr wrap="square" lIns="54864" rIns="54864" tIns="18288" bIns="18288">
            <a:spAutoFit/>
          </a:bodyPr>
          <a:lstStyle/>
          <a:p>
            <a:r>
              <a:rPr sz="1800" b="0">
                <a:solidFill>
                  <a:srgbClr val="19222A"/>
                </a:solidFill>
                <a:latin typeface="Aptos"/>
              </a:rPr>
              <a:t>The system keeps responding.</a:t>
            </a:r>
          </a:p>
        </p:txBody>
      </p:sp>
      <p:sp>
        <p:nvSpPr>
          <p:cNvPr id="14" name="Rounded Rectangle 13"/>
          <p:cNvSpPr/>
          <p:nvPr/>
        </p:nvSpPr>
        <p:spPr>
          <a:xfrm>
            <a:off x="8001000" y="1508760"/>
            <a:ext cx="2743200" cy="192024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5592" y="1627632"/>
            <a:ext cx="2414016" cy="256032"/>
          </a:xfrm>
          <a:prstGeom prst="rect">
            <a:avLst/>
          </a:prstGeom>
          <a:noFill/>
        </p:spPr>
        <p:txBody>
          <a:bodyPr wrap="square" lIns="54864" rIns="54864" tIns="18288" bIns="18288">
            <a:spAutoFit/>
          </a:bodyPr>
          <a:lstStyle/>
          <a:p>
            <a:r>
              <a:rPr sz="1500" b="1">
                <a:solidFill>
                  <a:srgbClr val="193556"/>
                </a:solidFill>
                <a:latin typeface="Aptos"/>
              </a:rPr>
              <a:t>Partition tolerance</a:t>
            </a:r>
          </a:p>
        </p:txBody>
      </p:sp>
      <p:sp>
        <p:nvSpPr>
          <p:cNvPr id="16" name="TextBox 15"/>
          <p:cNvSpPr txBox="1"/>
          <p:nvPr/>
        </p:nvSpPr>
        <p:spPr>
          <a:xfrm>
            <a:off x="8165592" y="1947672"/>
            <a:ext cx="2414016" cy="1371600"/>
          </a:xfrm>
          <a:prstGeom prst="rect">
            <a:avLst/>
          </a:prstGeom>
          <a:noFill/>
        </p:spPr>
        <p:txBody>
          <a:bodyPr wrap="square" lIns="54864" rIns="54864" tIns="18288" bIns="18288">
            <a:spAutoFit/>
          </a:bodyPr>
          <a:lstStyle/>
          <a:p>
            <a:r>
              <a:rPr sz="1800" b="0">
                <a:solidFill>
                  <a:srgbClr val="19222A"/>
                </a:solidFill>
                <a:latin typeface="Aptos"/>
              </a:rPr>
              <a:t>The network can fail between services.</a:t>
            </a:r>
          </a:p>
        </p:txBody>
      </p:sp>
      <p:sp>
        <p:nvSpPr>
          <p:cNvPr id="17" name="TextBox 16"/>
          <p:cNvSpPr txBox="1"/>
          <p:nvPr/>
        </p:nvSpPr>
        <p:spPr>
          <a:xfrm>
            <a:off x="1417320" y="4160520"/>
            <a:ext cx="8686800" cy="685800"/>
          </a:xfrm>
          <a:prstGeom prst="rect">
            <a:avLst/>
          </a:prstGeom>
          <a:noFill/>
        </p:spPr>
        <p:txBody>
          <a:bodyPr wrap="square" lIns="54864" rIns="54864" tIns="18288" bIns="18288">
            <a:spAutoFit/>
          </a:bodyPr>
          <a:lstStyle/>
          <a:p>
            <a:r>
              <a:rPr sz="2500" b="1">
                <a:solidFill>
                  <a:srgbClr val="E27039"/>
                </a:solidFill>
                <a:latin typeface="Aptos"/>
              </a:rPr>
              <a:t>Practical version: when the network is weird, do we prefer a possibly stale answer or no answer?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1935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109728" cy="6858000"/>
          </a:xfrm>
          <a:prstGeom prst="rect">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20040"/>
            <a:ext cx="3474720" cy="274320"/>
          </a:xfrm>
          <a:prstGeom prst="rect">
            <a:avLst/>
          </a:prstGeom>
          <a:noFill/>
        </p:spPr>
        <p:txBody>
          <a:bodyPr wrap="square" lIns="54864" rIns="54864" tIns="18288" bIns="18288">
            <a:spAutoFit/>
          </a:bodyPr>
          <a:lstStyle/>
          <a:p>
            <a:r>
              <a:rPr sz="1200" b="1">
                <a:solidFill>
                  <a:srgbClr val="E27039"/>
                </a:solidFill>
                <a:latin typeface="Aptos"/>
              </a:rPr>
              <a:t>ROUND 3</a:t>
            </a:r>
          </a:p>
        </p:txBody>
      </p:sp>
      <p:sp>
        <p:nvSpPr>
          <p:cNvPr id="6" name="TextBox 5"/>
          <p:cNvSpPr txBox="1"/>
          <p:nvPr/>
        </p:nvSpPr>
        <p:spPr>
          <a:xfrm>
            <a:off x="1298448" y="640080"/>
            <a:ext cx="9692640" cy="502920"/>
          </a:xfrm>
          <a:prstGeom prst="rect">
            <a:avLst/>
          </a:prstGeom>
          <a:noFill/>
        </p:spPr>
        <p:txBody>
          <a:bodyPr wrap="square" lIns="54864" rIns="54864" tIns="18288" bIns="18288">
            <a:spAutoFit/>
          </a:bodyPr>
          <a:lstStyle/>
          <a:p>
            <a:r>
              <a:rPr sz="3200" b="1">
                <a:solidFill>
                  <a:srgbClr val="19222A"/>
                </a:solidFill>
                <a:latin typeface="Aptos"/>
              </a:rPr>
              <a:t>Choose Your Fix</a:t>
            </a:r>
          </a:p>
        </p:txBody>
      </p:sp>
      <p:sp>
        <p:nvSpPr>
          <p:cNvPr id="7" name="TextBox 6"/>
          <p:cNvSpPr txBox="1"/>
          <p:nvPr/>
        </p:nvSpPr>
        <p:spPr>
          <a:xfrm>
            <a:off x="8686800" y="6355080"/>
            <a:ext cx="2377440" cy="228600"/>
          </a:xfrm>
          <a:prstGeom prst="rect">
            <a:avLst/>
          </a:prstGeom>
          <a:noFill/>
        </p:spPr>
        <p:txBody>
          <a:bodyPr wrap="square" lIns="54864" rIns="54864" tIns="18288" bIns="18288">
            <a:spAutoFit/>
          </a:bodyPr>
          <a:lstStyle/>
          <a:p>
            <a:pPr algn="r"/>
            <a:r>
              <a:rPr sz="900" b="0">
                <a:solidFill>
                  <a:srgbClr val="535D68"/>
                </a:solidFill>
                <a:latin typeface="Aptos"/>
              </a:rPr>
              <a:t>CST4714 | Week 14 Day 2 | 10</a:t>
            </a:r>
          </a:p>
        </p:txBody>
      </p:sp>
      <p:sp>
        <p:nvSpPr>
          <p:cNvPr id="8" name="Rounded Rectangle 7"/>
          <p:cNvSpPr/>
          <p:nvPr/>
        </p:nvSpPr>
        <p:spPr>
          <a:xfrm>
            <a:off x="1325880" y="1417320"/>
            <a:ext cx="4434840" cy="11430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90472" y="1536192"/>
            <a:ext cx="4105656" cy="256032"/>
          </a:xfrm>
          <a:prstGeom prst="rect">
            <a:avLst/>
          </a:prstGeom>
          <a:noFill/>
        </p:spPr>
        <p:txBody>
          <a:bodyPr wrap="square" lIns="54864" rIns="54864" tIns="18288" bIns="18288">
            <a:spAutoFit/>
          </a:bodyPr>
          <a:lstStyle/>
          <a:p>
            <a:r>
              <a:rPr sz="1500" b="1">
                <a:solidFill>
                  <a:srgbClr val="E27039"/>
                </a:solidFill>
                <a:latin typeface="Aptos"/>
              </a:rPr>
              <a:t>Option A</a:t>
            </a:r>
          </a:p>
        </p:txBody>
      </p:sp>
      <p:sp>
        <p:nvSpPr>
          <p:cNvPr id="10" name="TextBox 9"/>
          <p:cNvSpPr txBox="1"/>
          <p:nvPr/>
        </p:nvSpPr>
        <p:spPr>
          <a:xfrm>
            <a:off x="1490472" y="1856232"/>
            <a:ext cx="4105656" cy="594360"/>
          </a:xfrm>
          <a:prstGeom prst="rect">
            <a:avLst/>
          </a:prstGeom>
          <a:noFill/>
        </p:spPr>
        <p:txBody>
          <a:bodyPr wrap="square" lIns="54864" rIns="54864" tIns="18288" bIns="18288">
            <a:spAutoFit/>
          </a:bodyPr>
          <a:lstStyle/>
          <a:p>
            <a:r>
              <a:rPr sz="1500" b="0">
                <a:solidFill>
                  <a:srgbClr val="19222A"/>
                </a:solidFill>
                <a:latin typeface="Aptos"/>
              </a:rPr>
              <a:t>Keep kitchen on MongoDB events. Add a warning when events lag.</a:t>
            </a:r>
          </a:p>
        </p:txBody>
      </p:sp>
      <p:sp>
        <p:nvSpPr>
          <p:cNvPr id="11" name="Rounded Rectangle 10"/>
          <p:cNvSpPr/>
          <p:nvPr/>
        </p:nvSpPr>
        <p:spPr>
          <a:xfrm>
            <a:off x="6080760" y="1417320"/>
            <a:ext cx="4434840" cy="11430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45352" y="1536192"/>
            <a:ext cx="4105656" cy="256032"/>
          </a:xfrm>
          <a:prstGeom prst="rect">
            <a:avLst/>
          </a:prstGeom>
          <a:noFill/>
        </p:spPr>
        <p:txBody>
          <a:bodyPr wrap="square" lIns="54864" rIns="54864" tIns="18288" bIns="18288">
            <a:spAutoFit/>
          </a:bodyPr>
          <a:lstStyle/>
          <a:p>
            <a:r>
              <a:rPr sz="1500" b="1">
                <a:solidFill>
                  <a:srgbClr val="369072"/>
                </a:solidFill>
                <a:latin typeface="Aptos"/>
              </a:rPr>
              <a:t>Option B</a:t>
            </a:r>
          </a:p>
        </p:txBody>
      </p:sp>
      <p:sp>
        <p:nvSpPr>
          <p:cNvPr id="13" name="TextBox 12"/>
          <p:cNvSpPr txBox="1"/>
          <p:nvPr/>
        </p:nvSpPr>
        <p:spPr>
          <a:xfrm>
            <a:off x="6245352" y="1856232"/>
            <a:ext cx="4105656" cy="594360"/>
          </a:xfrm>
          <a:prstGeom prst="rect">
            <a:avLst/>
          </a:prstGeom>
          <a:noFill/>
        </p:spPr>
        <p:txBody>
          <a:bodyPr wrap="square" lIns="54864" rIns="54864" tIns="18288" bIns="18288">
            <a:spAutoFit/>
          </a:bodyPr>
          <a:lstStyle/>
          <a:p>
            <a:r>
              <a:rPr sz="1500" b="0">
                <a:solidFill>
                  <a:srgbClr val="19222A"/>
                </a:solidFill>
                <a:latin typeface="Aptos"/>
              </a:rPr>
              <a:t>Move kitchen to Postgres orders. Use MongoDB events only for analytics.</a:t>
            </a:r>
          </a:p>
        </p:txBody>
      </p:sp>
      <p:sp>
        <p:nvSpPr>
          <p:cNvPr id="14" name="Rounded Rectangle 13"/>
          <p:cNvSpPr/>
          <p:nvPr/>
        </p:nvSpPr>
        <p:spPr>
          <a:xfrm>
            <a:off x="1325880" y="3017520"/>
            <a:ext cx="4434840" cy="11430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90472" y="3136392"/>
            <a:ext cx="4105656" cy="256032"/>
          </a:xfrm>
          <a:prstGeom prst="rect">
            <a:avLst/>
          </a:prstGeom>
          <a:noFill/>
        </p:spPr>
        <p:txBody>
          <a:bodyPr wrap="square" lIns="54864" rIns="54864" tIns="18288" bIns="18288">
            <a:spAutoFit/>
          </a:bodyPr>
          <a:lstStyle/>
          <a:p>
            <a:r>
              <a:rPr sz="1500" b="1">
                <a:solidFill>
                  <a:srgbClr val="E27039"/>
                </a:solidFill>
                <a:latin typeface="Aptos"/>
              </a:rPr>
              <a:t>Option C</a:t>
            </a:r>
          </a:p>
        </p:txBody>
      </p:sp>
      <p:sp>
        <p:nvSpPr>
          <p:cNvPr id="16" name="TextBox 15"/>
          <p:cNvSpPr txBox="1"/>
          <p:nvPr/>
        </p:nvSpPr>
        <p:spPr>
          <a:xfrm>
            <a:off x="1490472" y="3456432"/>
            <a:ext cx="4105656" cy="594360"/>
          </a:xfrm>
          <a:prstGeom prst="rect">
            <a:avLst/>
          </a:prstGeom>
          <a:noFill/>
        </p:spPr>
        <p:txBody>
          <a:bodyPr wrap="square" lIns="54864" rIns="54864" tIns="18288" bIns="18288">
            <a:spAutoFit/>
          </a:bodyPr>
          <a:lstStyle/>
          <a:p>
            <a:r>
              <a:rPr sz="1500" b="0">
                <a:solidFill>
                  <a:srgbClr val="19222A"/>
                </a:solidFill>
                <a:latin typeface="Aptos"/>
              </a:rPr>
              <a:t>Keep both as truth. Manually compare them at night.</a:t>
            </a:r>
          </a:p>
        </p:txBody>
      </p:sp>
      <p:sp>
        <p:nvSpPr>
          <p:cNvPr id="17" name="Rounded Rectangle 16"/>
          <p:cNvSpPr/>
          <p:nvPr/>
        </p:nvSpPr>
        <p:spPr>
          <a:xfrm>
            <a:off x="6080760" y="3017520"/>
            <a:ext cx="4434840" cy="11430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45352" y="3136392"/>
            <a:ext cx="4105656" cy="256032"/>
          </a:xfrm>
          <a:prstGeom prst="rect">
            <a:avLst/>
          </a:prstGeom>
          <a:noFill/>
        </p:spPr>
        <p:txBody>
          <a:bodyPr wrap="square" lIns="54864" rIns="54864" tIns="18288" bIns="18288">
            <a:spAutoFit/>
          </a:bodyPr>
          <a:lstStyle/>
          <a:p>
            <a:r>
              <a:rPr sz="1500" b="1">
                <a:solidFill>
                  <a:srgbClr val="E27039"/>
                </a:solidFill>
                <a:latin typeface="Aptos"/>
              </a:rPr>
              <a:t>Option D</a:t>
            </a:r>
          </a:p>
        </p:txBody>
      </p:sp>
      <p:sp>
        <p:nvSpPr>
          <p:cNvPr id="19" name="TextBox 18"/>
          <p:cNvSpPr txBox="1"/>
          <p:nvPr/>
        </p:nvSpPr>
        <p:spPr>
          <a:xfrm>
            <a:off x="6245352" y="3456432"/>
            <a:ext cx="4105656" cy="594360"/>
          </a:xfrm>
          <a:prstGeom prst="rect">
            <a:avLst/>
          </a:prstGeom>
          <a:noFill/>
        </p:spPr>
        <p:txBody>
          <a:bodyPr wrap="square" lIns="54864" rIns="54864" tIns="18288" bIns="18288">
            <a:spAutoFit/>
          </a:bodyPr>
          <a:lstStyle/>
          <a:p>
            <a:r>
              <a:rPr sz="1500" b="0">
                <a:solidFill>
                  <a:srgbClr val="19222A"/>
                </a:solidFill>
                <a:latin typeface="Aptos"/>
              </a:rPr>
              <a:t>Retry checkout blindly until everything writes.</a:t>
            </a:r>
          </a:p>
        </p:txBody>
      </p:sp>
      <p:sp>
        <p:nvSpPr>
          <p:cNvPr id="20" name="TextBox 19"/>
          <p:cNvSpPr txBox="1"/>
          <p:nvPr/>
        </p:nvSpPr>
        <p:spPr>
          <a:xfrm>
            <a:off x="1417320" y="5212080"/>
            <a:ext cx="8503920" cy="457200"/>
          </a:xfrm>
          <a:prstGeom prst="rect">
            <a:avLst/>
          </a:prstGeom>
          <a:noFill/>
        </p:spPr>
        <p:txBody>
          <a:bodyPr wrap="square" lIns="54864" rIns="54864" tIns="18288" bIns="18288">
            <a:spAutoFit/>
          </a:bodyPr>
          <a:lstStyle/>
          <a:p>
            <a:r>
              <a:rPr sz="2500" b="1">
                <a:solidFill>
                  <a:srgbClr val="193556"/>
                </a:solidFill>
                <a:latin typeface="Aptos"/>
              </a:rPr>
              <a:t>Pick the safest repair and explain the tradeoff.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1935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109728" cy="6858000"/>
          </a:xfrm>
          <a:prstGeom prst="rect">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20040"/>
            <a:ext cx="3474720" cy="274320"/>
          </a:xfrm>
          <a:prstGeom prst="rect">
            <a:avLst/>
          </a:prstGeom>
          <a:noFill/>
        </p:spPr>
        <p:txBody>
          <a:bodyPr wrap="square" lIns="54864" rIns="54864" tIns="18288" bIns="18288">
            <a:spAutoFit/>
          </a:bodyPr>
          <a:lstStyle/>
          <a:p>
            <a:r>
              <a:rPr sz="1200" b="1">
                <a:solidFill>
                  <a:srgbClr val="E27039"/>
                </a:solidFill>
                <a:latin typeface="Aptos"/>
              </a:rPr>
              <a:t>TAKEAWAYS</a:t>
            </a:r>
          </a:p>
        </p:txBody>
      </p:sp>
      <p:sp>
        <p:nvSpPr>
          <p:cNvPr id="6" name="TextBox 5"/>
          <p:cNvSpPr txBox="1"/>
          <p:nvPr/>
        </p:nvSpPr>
        <p:spPr>
          <a:xfrm>
            <a:off x="1298448" y="640080"/>
            <a:ext cx="9692640" cy="502920"/>
          </a:xfrm>
          <a:prstGeom prst="rect">
            <a:avLst/>
          </a:prstGeom>
          <a:noFill/>
        </p:spPr>
        <p:txBody>
          <a:bodyPr wrap="square" lIns="54864" rIns="54864" tIns="18288" bIns="18288">
            <a:spAutoFit/>
          </a:bodyPr>
          <a:lstStyle/>
          <a:p>
            <a:r>
              <a:rPr sz="3200" b="1">
                <a:solidFill>
                  <a:srgbClr val="19222A"/>
                </a:solidFill>
                <a:latin typeface="Aptos"/>
              </a:rPr>
              <a:t>Pattern Cards For Real Systems</a:t>
            </a:r>
          </a:p>
        </p:txBody>
      </p:sp>
      <p:sp>
        <p:nvSpPr>
          <p:cNvPr id="7" name="TextBox 6"/>
          <p:cNvSpPr txBox="1"/>
          <p:nvPr/>
        </p:nvSpPr>
        <p:spPr>
          <a:xfrm>
            <a:off x="8686800" y="6355080"/>
            <a:ext cx="2377440" cy="228600"/>
          </a:xfrm>
          <a:prstGeom prst="rect">
            <a:avLst/>
          </a:prstGeom>
          <a:noFill/>
        </p:spPr>
        <p:txBody>
          <a:bodyPr wrap="square" lIns="54864" rIns="54864" tIns="18288" bIns="18288">
            <a:spAutoFit/>
          </a:bodyPr>
          <a:lstStyle/>
          <a:p>
            <a:pPr algn="r"/>
            <a:r>
              <a:rPr sz="900" b="0">
                <a:solidFill>
                  <a:srgbClr val="535D68"/>
                </a:solidFill>
                <a:latin typeface="Aptos"/>
              </a:rPr>
              <a:t>CST4714 | Week 14 Day 2 | 11</a:t>
            </a:r>
          </a:p>
        </p:txBody>
      </p:sp>
      <p:sp>
        <p:nvSpPr>
          <p:cNvPr id="8" name="Rounded Rectangle 7"/>
          <p:cNvSpPr/>
          <p:nvPr/>
        </p:nvSpPr>
        <p:spPr>
          <a:xfrm>
            <a:off x="1234440" y="1298448"/>
            <a:ext cx="2331720" cy="43434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35608" y="1444752"/>
            <a:ext cx="1929384" cy="292608"/>
          </a:xfrm>
          <a:prstGeom prst="rect">
            <a:avLst/>
          </a:prstGeom>
          <a:noFill/>
        </p:spPr>
        <p:txBody>
          <a:bodyPr wrap="square" lIns="54864" rIns="54864" tIns="18288" bIns="18288">
            <a:spAutoFit/>
          </a:bodyPr>
          <a:lstStyle/>
          <a:p>
            <a:r>
              <a:rPr sz="1700" b="1">
                <a:solidFill>
                  <a:srgbClr val="193556"/>
                </a:solidFill>
                <a:latin typeface="Aptos"/>
              </a:rPr>
              <a:t>Source-of-truth rule</a:t>
            </a:r>
          </a:p>
        </p:txBody>
      </p:sp>
      <p:sp>
        <p:nvSpPr>
          <p:cNvPr id="10" name="TextBox 9"/>
          <p:cNvSpPr txBox="1"/>
          <p:nvPr/>
        </p:nvSpPr>
        <p:spPr>
          <a:xfrm>
            <a:off x="1453896" y="1828800"/>
            <a:ext cx="1892808" cy="3657600"/>
          </a:xfrm>
          <a:prstGeom prst="rect">
            <a:avLst/>
          </a:prstGeom>
          <a:noFill/>
        </p:spPr>
        <p:txBody>
          <a:bodyPr wrap="square">
            <a:spAutoFit/>
          </a:bodyPr>
          <a:lstStyle/>
          <a:p>
            <a:pPr>
              <a:spcAft>
                <a:spcPts val="800"/>
              </a:spcAft>
              <a:defRPr sz="1600">
                <a:solidFill>
                  <a:srgbClr val="19222A"/>
                </a:solidFill>
                <a:latin typeface="Aptos"/>
              </a:defRPr>
            </a:pPr>
            <a:r>
              <a:t>one official owner for each fact</a:t>
            </a:r>
          </a:p>
          <a:p>
            <a:pPr>
              <a:spcAft>
                <a:spcPts val="800"/>
              </a:spcAft>
              <a:defRPr sz="1600">
                <a:solidFill>
                  <a:srgbClr val="19222A"/>
                </a:solidFill>
                <a:latin typeface="Aptos"/>
              </a:defRPr>
            </a:pPr>
            <a:r>
              <a:t>derived copies are not truth</a:t>
            </a:r>
          </a:p>
        </p:txBody>
      </p:sp>
      <p:sp>
        <p:nvSpPr>
          <p:cNvPr id="11" name="Rounded Rectangle 10"/>
          <p:cNvSpPr/>
          <p:nvPr/>
        </p:nvSpPr>
        <p:spPr>
          <a:xfrm>
            <a:off x="3703320" y="1298448"/>
            <a:ext cx="2331720" cy="43434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04488" y="1444752"/>
            <a:ext cx="1929384" cy="292608"/>
          </a:xfrm>
          <a:prstGeom prst="rect">
            <a:avLst/>
          </a:prstGeom>
          <a:noFill/>
        </p:spPr>
        <p:txBody>
          <a:bodyPr wrap="square" lIns="54864" rIns="54864" tIns="18288" bIns="18288">
            <a:spAutoFit/>
          </a:bodyPr>
          <a:lstStyle/>
          <a:p>
            <a:r>
              <a:rPr sz="1700" b="1">
                <a:solidFill>
                  <a:srgbClr val="193556"/>
                </a:solidFill>
                <a:latin typeface="Aptos"/>
              </a:rPr>
              <a:t>Outbox idea</a:t>
            </a:r>
          </a:p>
        </p:txBody>
      </p:sp>
      <p:sp>
        <p:nvSpPr>
          <p:cNvPr id="13" name="TextBox 12"/>
          <p:cNvSpPr txBox="1"/>
          <p:nvPr/>
        </p:nvSpPr>
        <p:spPr>
          <a:xfrm>
            <a:off x="3922776" y="1828800"/>
            <a:ext cx="1892808" cy="3657600"/>
          </a:xfrm>
          <a:prstGeom prst="rect">
            <a:avLst/>
          </a:prstGeom>
          <a:noFill/>
        </p:spPr>
        <p:txBody>
          <a:bodyPr wrap="square">
            <a:spAutoFit/>
          </a:bodyPr>
          <a:lstStyle/>
          <a:p>
            <a:pPr>
              <a:spcAft>
                <a:spcPts val="800"/>
              </a:spcAft>
              <a:defRPr sz="1600">
                <a:solidFill>
                  <a:srgbClr val="19222A"/>
                </a:solidFill>
                <a:latin typeface="Aptos"/>
              </a:defRPr>
            </a:pPr>
            <a:r>
              <a:t>record change locally</a:t>
            </a:r>
          </a:p>
          <a:p>
            <a:pPr>
              <a:spcAft>
                <a:spcPts val="800"/>
              </a:spcAft>
              <a:defRPr sz="1600">
                <a:solidFill>
                  <a:srgbClr val="19222A"/>
                </a:solidFill>
                <a:latin typeface="Aptos"/>
              </a:defRPr>
            </a:pPr>
            <a:r>
              <a:t>send event after commit</a:t>
            </a:r>
          </a:p>
          <a:p>
            <a:pPr>
              <a:spcAft>
                <a:spcPts val="800"/>
              </a:spcAft>
              <a:defRPr sz="1600">
                <a:solidFill>
                  <a:srgbClr val="19222A"/>
                </a:solidFill>
                <a:latin typeface="Aptos"/>
              </a:defRPr>
            </a:pPr>
            <a:r>
              <a:t>retry until delivered</a:t>
            </a:r>
          </a:p>
        </p:txBody>
      </p:sp>
      <p:sp>
        <p:nvSpPr>
          <p:cNvPr id="14" name="Rounded Rectangle 13"/>
          <p:cNvSpPr/>
          <p:nvPr/>
        </p:nvSpPr>
        <p:spPr>
          <a:xfrm>
            <a:off x="6172200" y="1298448"/>
            <a:ext cx="2331720" cy="43434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3368" y="1444752"/>
            <a:ext cx="1929384" cy="292608"/>
          </a:xfrm>
          <a:prstGeom prst="rect">
            <a:avLst/>
          </a:prstGeom>
          <a:noFill/>
        </p:spPr>
        <p:txBody>
          <a:bodyPr wrap="square" lIns="54864" rIns="54864" tIns="18288" bIns="18288">
            <a:spAutoFit/>
          </a:bodyPr>
          <a:lstStyle/>
          <a:p>
            <a:r>
              <a:rPr sz="1700" b="1">
                <a:solidFill>
                  <a:srgbClr val="193556"/>
                </a:solidFill>
                <a:latin typeface="Aptos"/>
              </a:rPr>
              <a:t>Idempotent retry</a:t>
            </a:r>
          </a:p>
        </p:txBody>
      </p:sp>
      <p:sp>
        <p:nvSpPr>
          <p:cNvPr id="16" name="TextBox 15"/>
          <p:cNvSpPr txBox="1"/>
          <p:nvPr/>
        </p:nvSpPr>
        <p:spPr>
          <a:xfrm>
            <a:off x="6391656" y="1828800"/>
            <a:ext cx="1892808" cy="3657600"/>
          </a:xfrm>
          <a:prstGeom prst="rect">
            <a:avLst/>
          </a:prstGeom>
          <a:noFill/>
        </p:spPr>
        <p:txBody>
          <a:bodyPr wrap="square">
            <a:spAutoFit/>
          </a:bodyPr>
          <a:lstStyle/>
          <a:p>
            <a:pPr>
              <a:spcAft>
                <a:spcPts val="800"/>
              </a:spcAft>
              <a:defRPr sz="1600">
                <a:solidFill>
                  <a:srgbClr val="19222A"/>
                </a:solidFill>
                <a:latin typeface="Aptos"/>
              </a:defRPr>
            </a:pPr>
            <a:r>
              <a:t>same request id</a:t>
            </a:r>
          </a:p>
          <a:p>
            <a:pPr>
              <a:spcAft>
                <a:spcPts val="800"/>
              </a:spcAft>
              <a:defRPr sz="1600">
                <a:solidFill>
                  <a:srgbClr val="19222A"/>
                </a:solidFill>
                <a:latin typeface="Aptos"/>
              </a:defRPr>
            </a:pPr>
            <a:r>
              <a:t>no duplicate charge</a:t>
            </a:r>
          </a:p>
          <a:p>
            <a:pPr>
              <a:spcAft>
                <a:spcPts val="800"/>
              </a:spcAft>
              <a:defRPr sz="1600">
                <a:solidFill>
                  <a:srgbClr val="19222A"/>
                </a:solidFill>
                <a:latin typeface="Aptos"/>
              </a:defRPr>
            </a:pPr>
            <a:r>
              <a:t>safe failure recovery</a:t>
            </a:r>
          </a:p>
        </p:txBody>
      </p:sp>
      <p:sp>
        <p:nvSpPr>
          <p:cNvPr id="17" name="Rounded Rectangle 16"/>
          <p:cNvSpPr/>
          <p:nvPr/>
        </p:nvSpPr>
        <p:spPr>
          <a:xfrm>
            <a:off x="8641080" y="1298448"/>
            <a:ext cx="2331720" cy="434340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42248" y="1444752"/>
            <a:ext cx="1929384" cy="292608"/>
          </a:xfrm>
          <a:prstGeom prst="rect">
            <a:avLst/>
          </a:prstGeom>
          <a:noFill/>
        </p:spPr>
        <p:txBody>
          <a:bodyPr wrap="square" lIns="54864" rIns="54864" tIns="18288" bIns="18288">
            <a:spAutoFit/>
          </a:bodyPr>
          <a:lstStyle/>
          <a:p>
            <a:r>
              <a:rPr sz="1700" b="1">
                <a:solidFill>
                  <a:srgbClr val="193556"/>
                </a:solidFill>
                <a:latin typeface="Aptos"/>
              </a:rPr>
              <a:t>Restore drill</a:t>
            </a:r>
          </a:p>
        </p:txBody>
      </p:sp>
      <p:sp>
        <p:nvSpPr>
          <p:cNvPr id="19" name="TextBox 18"/>
          <p:cNvSpPr txBox="1"/>
          <p:nvPr/>
        </p:nvSpPr>
        <p:spPr>
          <a:xfrm>
            <a:off x="8860536" y="1828800"/>
            <a:ext cx="1892808" cy="3657600"/>
          </a:xfrm>
          <a:prstGeom prst="rect">
            <a:avLst/>
          </a:prstGeom>
          <a:noFill/>
        </p:spPr>
        <p:txBody>
          <a:bodyPr wrap="square">
            <a:spAutoFit/>
          </a:bodyPr>
          <a:lstStyle/>
          <a:p>
            <a:pPr>
              <a:spcAft>
                <a:spcPts val="800"/>
              </a:spcAft>
              <a:defRPr sz="1600">
                <a:solidFill>
                  <a:srgbClr val="19222A"/>
                </a:solidFill>
                <a:latin typeface="Aptos"/>
              </a:defRPr>
            </a:pPr>
            <a:r>
              <a:t>recover data</a:t>
            </a:r>
          </a:p>
          <a:p>
            <a:pPr>
              <a:spcAft>
                <a:spcPts val="800"/>
              </a:spcAft>
              <a:defRPr sz="1600">
                <a:solidFill>
                  <a:srgbClr val="19222A"/>
                </a:solidFill>
                <a:latin typeface="Aptos"/>
              </a:defRPr>
            </a:pPr>
            <a:r>
              <a:t>verify counts</a:t>
            </a:r>
          </a:p>
          <a:p>
            <a:pPr>
              <a:spcAft>
                <a:spcPts val="800"/>
              </a:spcAft>
              <a:defRPr sz="1600">
                <a:solidFill>
                  <a:srgbClr val="19222A"/>
                </a:solidFill>
                <a:latin typeface="Aptos"/>
              </a:defRPr>
            </a:pPr>
            <a:r>
              <a:t>rerun important query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1935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109728" cy="6858000"/>
          </a:xfrm>
          <a:prstGeom prst="rect">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20040"/>
            <a:ext cx="3474720" cy="274320"/>
          </a:xfrm>
          <a:prstGeom prst="rect">
            <a:avLst/>
          </a:prstGeom>
          <a:noFill/>
        </p:spPr>
        <p:txBody>
          <a:bodyPr wrap="square" lIns="54864" rIns="54864" tIns="18288" bIns="18288">
            <a:spAutoFit/>
          </a:bodyPr>
          <a:lstStyle/>
          <a:p>
            <a:r>
              <a:rPr sz="1200" b="1">
                <a:solidFill>
                  <a:srgbClr val="E27039"/>
                </a:solidFill>
                <a:latin typeface="Aptos"/>
              </a:rPr>
              <a:t>IN-CLASS ACTIVITY</a:t>
            </a:r>
          </a:p>
        </p:txBody>
      </p:sp>
      <p:sp>
        <p:nvSpPr>
          <p:cNvPr id="6" name="TextBox 5"/>
          <p:cNvSpPr txBox="1"/>
          <p:nvPr/>
        </p:nvSpPr>
        <p:spPr>
          <a:xfrm>
            <a:off x="1298448" y="640080"/>
            <a:ext cx="9692640" cy="502920"/>
          </a:xfrm>
          <a:prstGeom prst="rect">
            <a:avLst/>
          </a:prstGeom>
          <a:noFill/>
        </p:spPr>
        <p:txBody>
          <a:bodyPr wrap="square" lIns="54864" rIns="54864" tIns="18288" bIns="18288">
            <a:spAutoFit/>
          </a:bodyPr>
          <a:lstStyle/>
          <a:p>
            <a:r>
              <a:rPr sz="3200" b="1">
                <a:solidFill>
                  <a:srgbClr val="19222A"/>
                </a:solidFill>
                <a:latin typeface="Aptos"/>
              </a:rPr>
              <a:t>Mini Lab: Incident Commander Report</a:t>
            </a:r>
          </a:p>
        </p:txBody>
      </p:sp>
      <p:sp>
        <p:nvSpPr>
          <p:cNvPr id="7" name="TextBox 6"/>
          <p:cNvSpPr txBox="1"/>
          <p:nvPr/>
        </p:nvSpPr>
        <p:spPr>
          <a:xfrm>
            <a:off x="8686800" y="6355080"/>
            <a:ext cx="2377440" cy="228600"/>
          </a:xfrm>
          <a:prstGeom prst="rect">
            <a:avLst/>
          </a:prstGeom>
          <a:noFill/>
        </p:spPr>
        <p:txBody>
          <a:bodyPr wrap="square" lIns="54864" rIns="54864" tIns="18288" bIns="18288">
            <a:spAutoFit/>
          </a:bodyPr>
          <a:lstStyle/>
          <a:p>
            <a:pPr algn="r"/>
            <a:r>
              <a:rPr sz="900" b="0">
                <a:solidFill>
                  <a:srgbClr val="535D68"/>
                </a:solidFill>
                <a:latin typeface="Aptos"/>
              </a:rPr>
              <a:t>CST4714 | Week 14 Day 2 | 12</a:t>
            </a:r>
          </a:p>
        </p:txBody>
      </p:sp>
      <p:sp>
        <p:nvSpPr>
          <p:cNvPr id="8" name="Rounded Rectangle 7"/>
          <p:cNvSpPr/>
          <p:nvPr/>
        </p:nvSpPr>
        <p:spPr>
          <a:xfrm>
            <a:off x="1325880" y="1325880"/>
            <a:ext cx="4434840" cy="4434840"/>
          </a:xfrm>
          <a:prstGeom prst="roundRect">
            <a:avLst/>
          </a:prstGeom>
          <a:solidFill>
            <a:srgbClr val="ECF7F4"/>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27048" y="1472184"/>
            <a:ext cx="4032504" cy="292608"/>
          </a:xfrm>
          <a:prstGeom prst="rect">
            <a:avLst/>
          </a:prstGeom>
          <a:noFill/>
        </p:spPr>
        <p:txBody>
          <a:bodyPr wrap="square" lIns="54864" rIns="54864" tIns="18288" bIns="18288">
            <a:spAutoFit/>
          </a:bodyPr>
          <a:lstStyle/>
          <a:p>
            <a:r>
              <a:rPr sz="1700" b="1">
                <a:solidFill>
                  <a:srgbClr val="193556"/>
                </a:solidFill>
                <a:latin typeface="Aptos"/>
              </a:rPr>
              <a:t>What students submit</a:t>
            </a:r>
          </a:p>
        </p:txBody>
      </p:sp>
      <p:sp>
        <p:nvSpPr>
          <p:cNvPr id="10" name="TextBox 9"/>
          <p:cNvSpPr txBox="1"/>
          <p:nvPr/>
        </p:nvSpPr>
        <p:spPr>
          <a:xfrm>
            <a:off x="1545336" y="1856232"/>
            <a:ext cx="3995928" cy="3749040"/>
          </a:xfrm>
          <a:prstGeom prst="rect">
            <a:avLst/>
          </a:prstGeom>
          <a:noFill/>
        </p:spPr>
        <p:txBody>
          <a:bodyPr wrap="square">
            <a:spAutoFit/>
          </a:bodyPr>
          <a:lstStyle/>
          <a:p>
            <a:pPr>
              <a:spcAft>
                <a:spcPts val="800"/>
              </a:spcAft>
              <a:defRPr sz="1600">
                <a:solidFill>
                  <a:srgbClr val="19222A"/>
                </a:solidFill>
                <a:latin typeface="Aptos"/>
              </a:defRPr>
            </a:pPr>
            <a:r>
              <a:t>one root cause</a:t>
            </a:r>
          </a:p>
          <a:p>
            <a:pPr>
              <a:spcAft>
                <a:spcPts val="800"/>
              </a:spcAft>
              <a:defRPr sz="1600">
                <a:solidFill>
                  <a:srgbClr val="19222A"/>
                </a:solidFill>
                <a:latin typeface="Aptos"/>
              </a:defRPr>
            </a:pPr>
            <a:r>
              <a:t>one source of truth decision</a:t>
            </a:r>
          </a:p>
          <a:p>
            <a:pPr>
              <a:spcAft>
                <a:spcPts val="800"/>
              </a:spcAft>
              <a:defRPr sz="1600">
                <a:solidFill>
                  <a:srgbClr val="19222A"/>
                </a:solidFill>
                <a:latin typeface="Aptos"/>
              </a:defRPr>
            </a:pPr>
            <a:r>
              <a:t>one repair pattern</a:t>
            </a:r>
          </a:p>
          <a:p>
            <a:pPr>
              <a:spcAft>
                <a:spcPts val="800"/>
              </a:spcAft>
              <a:defRPr sz="1600">
                <a:solidFill>
                  <a:srgbClr val="19222A"/>
                </a:solidFill>
                <a:latin typeface="Aptos"/>
              </a:defRPr>
            </a:pPr>
            <a:r>
              <a:t>one tradeoff</a:t>
            </a:r>
          </a:p>
          <a:p>
            <a:pPr>
              <a:spcAft>
                <a:spcPts val="800"/>
              </a:spcAft>
              <a:defRPr sz="1600">
                <a:solidFill>
                  <a:srgbClr val="19222A"/>
                </a:solidFill>
                <a:latin typeface="Aptos"/>
              </a:defRPr>
            </a:pPr>
            <a:r>
              <a:t>one test or monitor</a:t>
            </a:r>
          </a:p>
        </p:txBody>
      </p:sp>
      <p:sp>
        <p:nvSpPr>
          <p:cNvPr id="11" name="Rounded Rectangle 10"/>
          <p:cNvSpPr/>
          <p:nvPr/>
        </p:nvSpPr>
        <p:spPr>
          <a:xfrm>
            <a:off x="6172200" y="1325880"/>
            <a:ext cx="4434840" cy="443484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73368" y="1472184"/>
            <a:ext cx="4032504" cy="292608"/>
          </a:xfrm>
          <a:prstGeom prst="rect">
            <a:avLst/>
          </a:prstGeom>
          <a:noFill/>
        </p:spPr>
        <p:txBody>
          <a:bodyPr wrap="square" lIns="54864" rIns="54864" tIns="18288" bIns="18288">
            <a:spAutoFit/>
          </a:bodyPr>
          <a:lstStyle/>
          <a:p>
            <a:r>
              <a:rPr sz="1700" b="1">
                <a:solidFill>
                  <a:srgbClr val="193556"/>
                </a:solidFill>
                <a:latin typeface="Aptos"/>
              </a:rPr>
              <a:t>Rules</a:t>
            </a:r>
          </a:p>
        </p:txBody>
      </p:sp>
      <p:sp>
        <p:nvSpPr>
          <p:cNvPr id="13" name="TextBox 12"/>
          <p:cNvSpPr txBox="1"/>
          <p:nvPr/>
        </p:nvSpPr>
        <p:spPr>
          <a:xfrm>
            <a:off x="6391656" y="1856232"/>
            <a:ext cx="3995928" cy="3749040"/>
          </a:xfrm>
          <a:prstGeom prst="rect">
            <a:avLst/>
          </a:prstGeom>
          <a:noFill/>
        </p:spPr>
        <p:txBody>
          <a:bodyPr wrap="square">
            <a:spAutoFit/>
          </a:bodyPr>
          <a:lstStyle/>
          <a:p>
            <a:pPr>
              <a:spcAft>
                <a:spcPts val="800"/>
              </a:spcAft>
              <a:defRPr sz="1600">
                <a:solidFill>
                  <a:srgbClr val="19222A"/>
                </a:solidFill>
                <a:latin typeface="Aptos"/>
              </a:defRPr>
            </a:pPr>
            <a:r>
              <a:t>individual work</a:t>
            </a:r>
          </a:p>
          <a:p>
            <a:pPr>
              <a:spcAft>
                <a:spcPts val="800"/>
              </a:spcAft>
              <a:defRPr sz="1600">
                <a:solidFill>
                  <a:srgbClr val="19222A"/>
                </a:solidFill>
                <a:latin typeface="Aptos"/>
              </a:defRPr>
            </a:pPr>
            <a:r>
              <a:t>short answers</a:t>
            </a:r>
          </a:p>
          <a:p>
            <a:pPr>
              <a:spcAft>
                <a:spcPts val="800"/>
              </a:spcAft>
              <a:defRPr sz="1600">
                <a:solidFill>
                  <a:srgbClr val="19222A"/>
                </a:solidFill>
                <a:latin typeface="Aptos"/>
              </a:defRPr>
            </a:pPr>
            <a:r>
              <a:t>no code required</a:t>
            </a:r>
          </a:p>
          <a:p>
            <a:pPr>
              <a:spcAft>
                <a:spcPts val="800"/>
              </a:spcAft>
              <a:defRPr sz="1600">
                <a:solidFill>
                  <a:srgbClr val="19222A"/>
                </a:solidFill>
                <a:latin typeface="Aptos"/>
              </a:defRPr>
            </a:pPr>
            <a:r>
              <a:t>use today's vocabulary</a:t>
            </a:r>
          </a:p>
          <a:p>
            <a:pPr>
              <a:spcAft>
                <a:spcPts val="800"/>
              </a:spcAft>
              <a:defRPr sz="1600">
                <a:solidFill>
                  <a:srgbClr val="19222A"/>
                </a:solidFill>
                <a:latin typeface="Aptos"/>
              </a:defRPr>
            </a:pPr>
            <a:r>
              <a:t>make the system safer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1935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109728" cy="6858000"/>
          </a:xfrm>
          <a:prstGeom prst="rect">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20040"/>
            <a:ext cx="3474720" cy="274320"/>
          </a:xfrm>
          <a:prstGeom prst="rect">
            <a:avLst/>
          </a:prstGeom>
          <a:noFill/>
        </p:spPr>
        <p:txBody>
          <a:bodyPr wrap="square" lIns="54864" rIns="54864" tIns="18288" bIns="18288">
            <a:spAutoFit/>
          </a:bodyPr>
          <a:lstStyle/>
          <a:p>
            <a:r>
              <a:rPr sz="1200" b="1">
                <a:solidFill>
                  <a:srgbClr val="E27039"/>
                </a:solidFill>
                <a:latin typeface="Aptos"/>
              </a:rPr>
              <a:t>EXTENSION</a:t>
            </a:r>
          </a:p>
        </p:txBody>
      </p:sp>
      <p:sp>
        <p:nvSpPr>
          <p:cNvPr id="6" name="TextBox 5"/>
          <p:cNvSpPr txBox="1"/>
          <p:nvPr/>
        </p:nvSpPr>
        <p:spPr>
          <a:xfrm>
            <a:off x="1298448" y="640080"/>
            <a:ext cx="9692640" cy="502920"/>
          </a:xfrm>
          <a:prstGeom prst="rect">
            <a:avLst/>
          </a:prstGeom>
          <a:noFill/>
        </p:spPr>
        <p:txBody>
          <a:bodyPr wrap="square" lIns="54864" rIns="54864" tIns="18288" bIns="18288">
            <a:spAutoFit/>
          </a:bodyPr>
          <a:lstStyle/>
          <a:p>
            <a:r>
              <a:rPr sz="3200" b="1">
                <a:solidFill>
                  <a:srgbClr val="19222A"/>
                </a:solidFill>
                <a:latin typeface="Aptos"/>
              </a:rPr>
              <a:t>If You Finish Early</a:t>
            </a:r>
          </a:p>
        </p:txBody>
      </p:sp>
      <p:sp>
        <p:nvSpPr>
          <p:cNvPr id="7" name="TextBox 6"/>
          <p:cNvSpPr txBox="1"/>
          <p:nvPr/>
        </p:nvSpPr>
        <p:spPr>
          <a:xfrm>
            <a:off x="8686800" y="6355080"/>
            <a:ext cx="2377440" cy="228600"/>
          </a:xfrm>
          <a:prstGeom prst="rect">
            <a:avLst/>
          </a:prstGeom>
          <a:noFill/>
        </p:spPr>
        <p:txBody>
          <a:bodyPr wrap="square" lIns="54864" rIns="54864" tIns="18288" bIns="18288">
            <a:spAutoFit/>
          </a:bodyPr>
          <a:lstStyle/>
          <a:p>
            <a:pPr algn="r"/>
            <a:r>
              <a:rPr sz="900" b="0">
                <a:solidFill>
                  <a:srgbClr val="535D68"/>
                </a:solidFill>
                <a:latin typeface="Aptos"/>
              </a:rPr>
              <a:t>CST4714 | Week 14 Day 2 | 13</a:t>
            </a:r>
          </a:p>
        </p:txBody>
      </p:sp>
      <p:sp>
        <p:nvSpPr>
          <p:cNvPr id="8" name="Rounded Rectangle 7"/>
          <p:cNvSpPr/>
          <p:nvPr/>
        </p:nvSpPr>
        <p:spPr>
          <a:xfrm>
            <a:off x="1325880" y="1417320"/>
            <a:ext cx="4206240" cy="356616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90472" y="1536192"/>
            <a:ext cx="3877056" cy="256032"/>
          </a:xfrm>
          <a:prstGeom prst="rect">
            <a:avLst/>
          </a:prstGeom>
          <a:noFill/>
        </p:spPr>
        <p:txBody>
          <a:bodyPr wrap="square" lIns="54864" rIns="54864" tIns="18288" bIns="18288">
            <a:spAutoFit/>
          </a:bodyPr>
          <a:lstStyle/>
          <a:p>
            <a:r>
              <a:rPr sz="1500" b="1">
                <a:solidFill>
                  <a:srgbClr val="193556"/>
                </a:solidFill>
                <a:latin typeface="Aptos"/>
              </a:rPr>
              <a:t>Design a status page</a:t>
            </a:r>
          </a:p>
        </p:txBody>
      </p:sp>
      <p:sp>
        <p:nvSpPr>
          <p:cNvPr id="10" name="TextBox 9"/>
          <p:cNvSpPr txBox="1"/>
          <p:nvPr/>
        </p:nvSpPr>
        <p:spPr>
          <a:xfrm>
            <a:off x="1490472" y="1856232"/>
            <a:ext cx="3877056" cy="3017520"/>
          </a:xfrm>
          <a:prstGeom prst="rect">
            <a:avLst/>
          </a:prstGeom>
          <a:noFill/>
        </p:spPr>
        <p:txBody>
          <a:bodyPr wrap="square" lIns="54864" rIns="54864" tIns="18288" bIns="18288">
            <a:spAutoFit/>
          </a:bodyPr>
          <a:lstStyle/>
          <a:p>
            <a:r>
              <a:rPr sz="1800" b="0">
                <a:solidFill>
                  <a:srgbClr val="19222A"/>
                </a:solidFill>
                <a:latin typeface="Aptos"/>
              </a:rPr>
              <a:t>Choose three signals you would show during the incident: event lag, failed checkouts, duplicate payment attempts, restore status, stale cache age, or order count mismatch.</a:t>
            </a:r>
          </a:p>
        </p:txBody>
      </p:sp>
      <p:sp>
        <p:nvSpPr>
          <p:cNvPr id="11" name="Rounded Rectangle 10"/>
          <p:cNvSpPr/>
          <p:nvPr/>
        </p:nvSpPr>
        <p:spPr>
          <a:xfrm>
            <a:off x="6172200" y="1417320"/>
            <a:ext cx="4206240" cy="3566160"/>
          </a:xfrm>
          <a:prstGeom prst="roundRect">
            <a:avLst/>
          </a:prstGeom>
          <a:solidFill>
            <a:srgbClr val="FFF5EB"/>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1536192"/>
            <a:ext cx="3877056" cy="256032"/>
          </a:xfrm>
          <a:prstGeom prst="rect">
            <a:avLst/>
          </a:prstGeom>
          <a:noFill/>
        </p:spPr>
        <p:txBody>
          <a:bodyPr wrap="square" lIns="54864" rIns="54864" tIns="18288" bIns="18288">
            <a:spAutoFit/>
          </a:bodyPr>
          <a:lstStyle/>
          <a:p>
            <a:r>
              <a:rPr sz="1500" b="1">
                <a:solidFill>
                  <a:srgbClr val="E27039"/>
                </a:solidFill>
                <a:latin typeface="Aptos"/>
              </a:rPr>
              <a:t>Write a customer-safe message</a:t>
            </a:r>
          </a:p>
        </p:txBody>
      </p:sp>
      <p:sp>
        <p:nvSpPr>
          <p:cNvPr id="13" name="TextBox 12"/>
          <p:cNvSpPr txBox="1"/>
          <p:nvPr/>
        </p:nvSpPr>
        <p:spPr>
          <a:xfrm>
            <a:off x="6336792" y="1856232"/>
            <a:ext cx="3877056" cy="3017520"/>
          </a:xfrm>
          <a:prstGeom prst="rect">
            <a:avLst/>
          </a:prstGeom>
          <a:noFill/>
        </p:spPr>
        <p:txBody>
          <a:bodyPr wrap="square" lIns="54864" rIns="54864" tIns="18288" bIns="18288">
            <a:spAutoFit/>
          </a:bodyPr>
          <a:lstStyle/>
          <a:p>
            <a:r>
              <a:rPr sz="1800" b="0">
                <a:solidFill>
                  <a:srgbClr val="19222A"/>
                </a:solidFill>
                <a:latin typeface="Aptos"/>
              </a:rPr>
              <a:t>Explain the incident in plain language without exposing secrets or blaming users.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60120" cy="6858000"/>
          </a:xfrm>
          <a:prstGeom prst="rect">
            <a:avLst/>
          </a:prstGeom>
          <a:solidFill>
            <a:srgbClr val="1935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0"/>
            <a:ext cx="109728" cy="6858000"/>
          </a:xfrm>
          <a:prstGeom prst="rect">
            <a:avLst/>
          </a:prstGeom>
          <a:solidFill>
            <a:srgbClr val="E270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320040"/>
            <a:ext cx="3474720" cy="274320"/>
          </a:xfrm>
          <a:prstGeom prst="rect">
            <a:avLst/>
          </a:prstGeom>
          <a:noFill/>
        </p:spPr>
        <p:txBody>
          <a:bodyPr wrap="square" lIns="54864" rIns="54864" tIns="18288" bIns="18288">
            <a:spAutoFit/>
          </a:bodyPr>
          <a:lstStyle/>
          <a:p>
            <a:r>
              <a:rPr sz="1200" b="1">
                <a:solidFill>
                  <a:srgbClr val="E27039"/>
                </a:solidFill>
                <a:latin typeface="Aptos"/>
              </a:rPr>
              <a:t>WRAP-UP</a:t>
            </a:r>
          </a:p>
        </p:txBody>
      </p:sp>
      <p:sp>
        <p:nvSpPr>
          <p:cNvPr id="6" name="TextBox 5"/>
          <p:cNvSpPr txBox="1"/>
          <p:nvPr/>
        </p:nvSpPr>
        <p:spPr>
          <a:xfrm>
            <a:off x="1298448" y="640080"/>
            <a:ext cx="9692640" cy="502920"/>
          </a:xfrm>
          <a:prstGeom prst="rect">
            <a:avLst/>
          </a:prstGeom>
          <a:noFill/>
        </p:spPr>
        <p:txBody>
          <a:bodyPr wrap="square" lIns="54864" rIns="54864" tIns="18288" bIns="18288">
            <a:spAutoFit/>
          </a:bodyPr>
          <a:lstStyle/>
          <a:p>
            <a:r>
              <a:rPr sz="3200" b="1">
                <a:solidFill>
                  <a:srgbClr val="19222A"/>
                </a:solidFill>
                <a:latin typeface="Aptos"/>
              </a:rPr>
              <a:t>Exit Ticket</a:t>
            </a:r>
          </a:p>
        </p:txBody>
      </p:sp>
      <p:sp>
        <p:nvSpPr>
          <p:cNvPr id="7" name="TextBox 6"/>
          <p:cNvSpPr txBox="1"/>
          <p:nvPr/>
        </p:nvSpPr>
        <p:spPr>
          <a:xfrm>
            <a:off x="8686800" y="6355080"/>
            <a:ext cx="2377440" cy="228600"/>
          </a:xfrm>
          <a:prstGeom prst="rect">
            <a:avLst/>
          </a:prstGeom>
          <a:noFill/>
        </p:spPr>
        <p:txBody>
          <a:bodyPr wrap="square" lIns="54864" rIns="54864" tIns="18288" bIns="18288">
            <a:spAutoFit/>
          </a:bodyPr>
          <a:lstStyle/>
          <a:p>
            <a:pPr algn="r"/>
            <a:r>
              <a:rPr sz="900" b="0">
                <a:solidFill>
                  <a:srgbClr val="535D68"/>
                </a:solidFill>
                <a:latin typeface="Aptos"/>
              </a:rPr>
              <a:t>CST4714 | Week 14 Day 2 | 14</a:t>
            </a:r>
          </a:p>
        </p:txBody>
      </p:sp>
      <p:sp>
        <p:nvSpPr>
          <p:cNvPr id="8" name="TextBox 7"/>
          <p:cNvSpPr txBox="1"/>
          <p:nvPr/>
        </p:nvSpPr>
        <p:spPr>
          <a:xfrm>
            <a:off x="1417320" y="1508760"/>
            <a:ext cx="8595360" cy="548640"/>
          </a:xfrm>
          <a:prstGeom prst="rect">
            <a:avLst/>
          </a:prstGeom>
          <a:noFill/>
        </p:spPr>
        <p:txBody>
          <a:bodyPr wrap="square" lIns="54864" rIns="54864" tIns="18288" bIns="18288">
            <a:spAutoFit/>
          </a:bodyPr>
          <a:lstStyle/>
          <a:p>
            <a:r>
              <a:rPr sz="3000" b="1">
                <a:solidFill>
                  <a:srgbClr val="193556"/>
                </a:solidFill>
                <a:latin typeface="Aptos"/>
              </a:rPr>
              <a:t>A distributed system is not better because it has more parts.</a:t>
            </a:r>
          </a:p>
        </p:txBody>
      </p:sp>
      <p:sp>
        <p:nvSpPr>
          <p:cNvPr id="9" name="TextBox 8"/>
          <p:cNvSpPr txBox="1"/>
          <p:nvPr/>
        </p:nvSpPr>
        <p:spPr>
          <a:xfrm>
            <a:off x="1417320" y="2331720"/>
            <a:ext cx="8778240" cy="731520"/>
          </a:xfrm>
          <a:prstGeom prst="rect">
            <a:avLst/>
          </a:prstGeom>
          <a:noFill/>
        </p:spPr>
        <p:txBody>
          <a:bodyPr wrap="square" lIns="54864" rIns="54864" tIns="18288" bIns="18288">
            <a:spAutoFit/>
          </a:bodyPr>
          <a:lstStyle/>
          <a:p>
            <a:r>
              <a:rPr sz="2500" b="1">
                <a:solidFill>
                  <a:srgbClr val="E27039"/>
                </a:solidFill>
                <a:latin typeface="Aptos"/>
              </a:rPr>
              <a:t>It is better only when each part has a clear job, a clear source of truth, and a clear recovery plan.</a:t>
            </a:r>
          </a:p>
        </p:txBody>
      </p:sp>
      <p:sp>
        <p:nvSpPr>
          <p:cNvPr id="10" name="Rounded Rectangle 9"/>
          <p:cNvSpPr/>
          <p:nvPr/>
        </p:nvSpPr>
        <p:spPr>
          <a:xfrm>
            <a:off x="1417320" y="3703320"/>
            <a:ext cx="8961120" cy="1508760"/>
          </a:xfrm>
          <a:prstGeom prst="roundRect">
            <a:avLst/>
          </a:prstGeom>
          <a:solidFill>
            <a:srgbClr val="FFFFFF"/>
          </a:solidFill>
          <a:ln>
            <a:solidFill>
              <a:srgbClr val="D6CC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18488" y="3849624"/>
            <a:ext cx="8558784" cy="292608"/>
          </a:xfrm>
          <a:prstGeom prst="rect">
            <a:avLst/>
          </a:prstGeom>
          <a:noFill/>
        </p:spPr>
        <p:txBody>
          <a:bodyPr wrap="square" lIns="54864" rIns="54864" tIns="18288" bIns="18288">
            <a:spAutoFit/>
          </a:bodyPr>
          <a:lstStyle/>
          <a:p>
            <a:r>
              <a:rPr sz="1700" b="1">
                <a:solidFill>
                  <a:srgbClr val="193556"/>
                </a:solidFill>
                <a:latin typeface="Aptos"/>
              </a:rPr>
              <a:t>One-sentence exit ticket</a:t>
            </a:r>
          </a:p>
        </p:txBody>
      </p:sp>
      <p:sp>
        <p:nvSpPr>
          <p:cNvPr id="12" name="TextBox 11"/>
          <p:cNvSpPr txBox="1"/>
          <p:nvPr/>
        </p:nvSpPr>
        <p:spPr>
          <a:xfrm>
            <a:off x="1636776" y="4233672"/>
            <a:ext cx="8522208" cy="822960"/>
          </a:xfrm>
          <a:prstGeom prst="rect">
            <a:avLst/>
          </a:prstGeom>
          <a:noFill/>
        </p:spPr>
        <p:txBody>
          <a:bodyPr wrap="square">
            <a:spAutoFit/>
          </a:bodyPr>
          <a:lstStyle/>
          <a:p>
            <a:pPr>
              <a:spcAft>
                <a:spcPts val="800"/>
              </a:spcAft>
              <a:defRPr sz="1600">
                <a:solidFill>
                  <a:srgbClr val="19222A"/>
                </a:solidFill>
                <a:latin typeface="Aptos"/>
              </a:defRPr>
            </a:pPr>
            <a:r>
              <a:t>Name one place where speed and correctness were in tension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