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120" d="100"/>
          <a:sy n="120" d="100"/>
        </p:scale>
        <p:origin x="194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8317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Today’s lecture will walk step by step through how professional database administrators work with PostgreSQL across environments. We will start locally using Docker, connect using both the terminal and pgAdmin, and then move the exact same workflow to Supabase. The goal is to understand that SQL does not change—only the environment does.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Database administration is not just about writing SQL. It is about understanding where your database lives, who manages it, and what responsibilities you own versus what the platform abstracts away. This lesson sets that foundation.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Docker allows us to run software in isolated, reproducible environments. Unlike virtual machines, containers share the host operating system kernel, which makes them lightweight and fast. For databases, this means we can run production-grade PostgreSQL locally without complex installation steps.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Historically, installing databases locally caused version drift and configuration issues. Docker solves this by letting us specify exactly which version of PostgreSQL we want, and by allowing us to destroy and recreate environments without losing data.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Students should download Docker Desktop from docker.com. Once installed, Docker runs as a background service that allows us to start and stop containers using simple commands.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Docker Compose lets us describe an entire system—like a database and its storage—in a single text file. This is an example of infrastructure as code, where configuration becomes part of the project itself.</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file defines a PostgreSQL service using version 15. Environment variables initialize the database, ports expose it to the host, and volumes ensure that data persists even if the container is restarted.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Running docker compose up -d starts the database in detached mode. If the container does not exist yet, Docker creates it. If it already exists, Docker simply starts it again.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psql tool is the most direct way to communicate with PostgreSQL. Every GUI ultimately runs SQL commands underneath. Learning psql ensures you can work in any environment.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pgAdmin provides a visual interface for managing PostgreSQL. It is especially useful for inspecting schemas, viewing table definitions, and monitoring database activity.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common point of confusion is the difference between databases and schemas. A single database can contain many schemas. Unless specified otherwise, PostgreSQL uses the public schema.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PostgreSQL exposes metadata through system catalogs. These allow us to inspect tables, schemas, and performance characteristics. This is core DBA knowledge.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pgExercises provides a non-trivial dataset designed to build real SQL skills. Instead of toy examples, students work with a schema that forces relational thinking.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Supabase runs PostgreSQL for you in the cloud. The database engine is the same, but operational responsibilities—like backups and availability—are managed for you.</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Supabase extends PostgreSQL with authentication, row-level security, and APIs. These features sit on top of standard PostgreSQL, which is why learning Postgres first is essential.</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comparison highlights the core lesson: tools change responsibility boundaries, not database fundamentals. Understanding those boundaries is central to database administration.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you understand PostgreSQL deeply, you can move between local containers, cloud platforms, and production systems with confidence.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PostgreSQL from Local to Cloud</a:t>
            </a:r>
          </a:p>
          <a:p>
            <a:r>
              <a:t>Docker, pgAdmin, and Supabase</a:t>
            </a:r>
          </a:p>
        </p:txBody>
      </p:sp>
      <p:sp>
        <p:nvSpPr>
          <p:cNvPr id="3" name="Subtitle 2"/>
          <p:cNvSpPr>
            <a:spLocks noGrp="1"/>
          </p:cNvSpPr>
          <p:nvPr>
            <p:ph type="subTitle" idx="1"/>
          </p:nvPr>
        </p:nvSpPr>
        <p:spPr/>
        <p:txBody>
          <a:bodyPr/>
          <a:lstStyle/>
          <a:p>
            <a:r>
              <a:t>CST 4714 – Database Administration</a:t>
            </a:r>
          </a:p>
          <a:p>
            <a:r>
              <a:t>Atilio Barreda II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This Lesson Matters</a:t>
            </a:r>
          </a:p>
        </p:txBody>
      </p:sp>
      <p:sp>
        <p:nvSpPr>
          <p:cNvPr id="3" name="Content Placeholder 2"/>
          <p:cNvSpPr>
            <a:spLocks noGrp="1"/>
          </p:cNvSpPr>
          <p:nvPr>
            <p:ph idx="1"/>
          </p:nvPr>
        </p:nvSpPr>
        <p:spPr/>
        <p:txBody>
          <a:bodyPr/>
          <a:lstStyle/>
          <a:p>
            <a:r>
              <a:t>Database admins work across environments</a:t>
            </a:r>
          </a:p>
          <a:p>
            <a:r>
              <a:t>Local ≠ cloud, but the database is the same</a:t>
            </a:r>
          </a:p>
          <a:p>
            <a:r>
              <a:t>Tools shape how we reason about systems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Docker?</a:t>
            </a:r>
          </a:p>
        </p:txBody>
      </p:sp>
      <p:sp>
        <p:nvSpPr>
          <p:cNvPr id="3" name="Content Placeholder 2"/>
          <p:cNvSpPr>
            <a:spLocks noGrp="1"/>
          </p:cNvSpPr>
          <p:nvPr>
            <p:ph idx="1"/>
          </p:nvPr>
        </p:nvSpPr>
        <p:spPr/>
        <p:txBody>
          <a:bodyPr/>
          <a:lstStyle/>
          <a:p>
            <a:r>
              <a:t>Containerization platform</a:t>
            </a:r>
          </a:p>
          <a:p>
            <a:r>
              <a:t>Packages software + dependencies</a:t>
            </a:r>
          </a:p>
          <a:p>
            <a:r>
              <a:t>Not a virtual machine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Use Docker for Databases?</a:t>
            </a:r>
          </a:p>
        </p:txBody>
      </p:sp>
      <p:sp>
        <p:nvSpPr>
          <p:cNvPr id="3" name="Content Placeholder 2"/>
          <p:cNvSpPr>
            <a:spLocks noGrp="1"/>
          </p:cNvSpPr>
          <p:nvPr>
            <p:ph idx="1"/>
          </p:nvPr>
        </p:nvSpPr>
        <p:spPr/>
        <p:txBody>
          <a:bodyPr/>
          <a:lstStyle/>
          <a:p>
            <a:r>
              <a:t>Consistent versions</a:t>
            </a:r>
          </a:p>
          <a:p>
            <a:r>
              <a:t>Easy setup and teardown</a:t>
            </a:r>
          </a:p>
          <a:p>
            <a:r>
              <a:t>Reproducible environments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Installing Docker</a:t>
            </a:r>
          </a:p>
        </p:txBody>
      </p:sp>
      <p:sp>
        <p:nvSpPr>
          <p:cNvPr id="3" name="Content Placeholder 2"/>
          <p:cNvSpPr>
            <a:spLocks noGrp="1"/>
          </p:cNvSpPr>
          <p:nvPr>
            <p:ph idx="1"/>
          </p:nvPr>
        </p:nvSpPr>
        <p:spPr/>
        <p:txBody>
          <a:bodyPr/>
          <a:lstStyle/>
          <a:p>
            <a:r>
              <a:t>Download Docker Desktop</a:t>
            </a:r>
          </a:p>
          <a:p>
            <a:r>
              <a:t>Available for macOS, Windows, Linux</a:t>
            </a:r>
          </a:p>
          <a:p>
            <a:r>
              <a:t>Runs in the background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Docker Compose?</a:t>
            </a:r>
          </a:p>
        </p:txBody>
      </p:sp>
      <p:sp>
        <p:nvSpPr>
          <p:cNvPr id="3" name="Content Placeholder 2"/>
          <p:cNvSpPr>
            <a:spLocks noGrp="1"/>
          </p:cNvSpPr>
          <p:nvPr>
            <p:ph idx="1"/>
          </p:nvPr>
        </p:nvSpPr>
        <p:spPr/>
        <p:txBody>
          <a:bodyPr/>
          <a:lstStyle/>
          <a:p>
            <a:r>
              <a:t>Defines multi-container systems</a:t>
            </a:r>
          </a:p>
          <a:p>
            <a:r>
              <a:t>Uses YAML configuration</a:t>
            </a:r>
          </a:p>
          <a:p>
            <a:r>
              <a:t>Infrastructure as code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Our docker-compose.yml</a:t>
            </a:r>
          </a:p>
        </p:txBody>
      </p:sp>
      <p:sp>
        <p:nvSpPr>
          <p:cNvPr id="3" name="Content Placeholder 2"/>
          <p:cNvSpPr>
            <a:spLocks noGrp="1"/>
          </p:cNvSpPr>
          <p:nvPr>
            <p:ph idx="1"/>
          </p:nvPr>
        </p:nvSpPr>
        <p:spPr/>
        <p:txBody>
          <a:bodyPr/>
          <a:lstStyle/>
          <a:p>
            <a:r>
              <a:t>PostgreSQL 15 image</a:t>
            </a:r>
          </a:p>
          <a:p>
            <a:r>
              <a:t>Environment variables</a:t>
            </a:r>
          </a:p>
          <a:p>
            <a:r>
              <a:t>Ports and volumes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Starting PostgreSQL with Docker</a:t>
            </a:r>
          </a:p>
        </p:txBody>
      </p:sp>
      <p:sp>
        <p:nvSpPr>
          <p:cNvPr id="3" name="Content Placeholder 2"/>
          <p:cNvSpPr>
            <a:spLocks noGrp="1"/>
          </p:cNvSpPr>
          <p:nvPr>
            <p:ph idx="1"/>
          </p:nvPr>
        </p:nvSpPr>
        <p:spPr/>
        <p:txBody>
          <a:bodyPr/>
          <a:lstStyle/>
          <a:p>
            <a:r>
              <a:t>docker compose up -d</a:t>
            </a:r>
          </a:p>
          <a:p>
            <a:r>
              <a:t>Runs in the background</a:t>
            </a:r>
          </a:p>
          <a:p>
            <a:r>
              <a:t>Creates database automatically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Connecting via the Terminal</a:t>
            </a:r>
          </a:p>
        </p:txBody>
      </p:sp>
      <p:sp>
        <p:nvSpPr>
          <p:cNvPr id="3" name="Content Placeholder 2"/>
          <p:cNvSpPr>
            <a:spLocks noGrp="1"/>
          </p:cNvSpPr>
          <p:nvPr>
            <p:ph idx="1"/>
          </p:nvPr>
        </p:nvSpPr>
        <p:spPr/>
        <p:txBody>
          <a:bodyPr/>
          <a:lstStyle/>
          <a:p>
            <a:r>
              <a:t>psql command-line client</a:t>
            </a:r>
          </a:p>
          <a:p>
            <a:r>
              <a:t>Direct access to PostgreSQL</a:t>
            </a:r>
          </a:p>
          <a:p>
            <a:r>
              <a:t>Works everywhere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Connecting via pgAdmin</a:t>
            </a:r>
          </a:p>
        </p:txBody>
      </p:sp>
      <p:sp>
        <p:nvSpPr>
          <p:cNvPr id="3" name="Content Placeholder 2"/>
          <p:cNvSpPr>
            <a:spLocks noGrp="1"/>
          </p:cNvSpPr>
          <p:nvPr>
            <p:ph idx="1"/>
          </p:nvPr>
        </p:nvSpPr>
        <p:spPr/>
        <p:txBody>
          <a:bodyPr/>
          <a:lstStyle/>
          <a:p>
            <a:r>
              <a:t>Graphical administration tool</a:t>
            </a:r>
          </a:p>
          <a:p>
            <a:r>
              <a:t>Schema browsing</a:t>
            </a:r>
          </a:p>
          <a:p>
            <a:r>
              <a:t>Query tool and statistics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Databases vs Schemas</a:t>
            </a:r>
          </a:p>
        </p:txBody>
      </p:sp>
      <p:sp>
        <p:nvSpPr>
          <p:cNvPr id="3" name="Content Placeholder 2"/>
          <p:cNvSpPr>
            <a:spLocks noGrp="1"/>
          </p:cNvSpPr>
          <p:nvPr>
            <p:ph idx="1"/>
          </p:nvPr>
        </p:nvSpPr>
        <p:spPr/>
        <p:txBody>
          <a:bodyPr/>
          <a:lstStyle/>
          <a:p>
            <a:r>
              <a:t>Database: top-level container</a:t>
            </a:r>
          </a:p>
          <a:p>
            <a:r>
              <a:t>Schema: namespace inside a database</a:t>
            </a:r>
          </a:p>
          <a:p>
            <a:r>
              <a:t>public is the default schema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Inspecting Tables and Stats</a:t>
            </a:r>
          </a:p>
        </p:txBody>
      </p:sp>
      <p:sp>
        <p:nvSpPr>
          <p:cNvPr id="3" name="Content Placeholder 2"/>
          <p:cNvSpPr>
            <a:spLocks noGrp="1"/>
          </p:cNvSpPr>
          <p:nvPr>
            <p:ph idx="1"/>
          </p:nvPr>
        </p:nvSpPr>
        <p:spPr/>
        <p:txBody>
          <a:bodyPr/>
          <a:lstStyle/>
          <a:p>
            <a:r>
              <a:t>information_schema</a:t>
            </a:r>
          </a:p>
          <a:p>
            <a:r>
              <a:t>pg_catalog</a:t>
            </a:r>
          </a:p>
          <a:p>
            <a:r>
              <a:t>Database size and activity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Practice Data: pgExercises</a:t>
            </a:r>
          </a:p>
        </p:txBody>
      </p:sp>
      <p:sp>
        <p:nvSpPr>
          <p:cNvPr id="3" name="Content Placeholder 2"/>
          <p:cNvSpPr>
            <a:spLocks noGrp="1"/>
          </p:cNvSpPr>
          <p:nvPr>
            <p:ph idx="1"/>
          </p:nvPr>
        </p:nvSpPr>
        <p:spPr/>
        <p:txBody>
          <a:bodyPr/>
          <a:lstStyle/>
          <a:p>
            <a:r>
              <a:t>Realistic relational schema</a:t>
            </a:r>
          </a:p>
          <a:p>
            <a:r>
              <a:t>Joins, aggregations, constraints</a:t>
            </a:r>
          </a:p>
          <a:p>
            <a:r>
              <a:t>Industry-relevant practice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From Local to Supabase</a:t>
            </a:r>
          </a:p>
        </p:txBody>
      </p:sp>
      <p:sp>
        <p:nvSpPr>
          <p:cNvPr id="3" name="Content Placeholder 2"/>
          <p:cNvSpPr>
            <a:spLocks noGrp="1"/>
          </p:cNvSpPr>
          <p:nvPr>
            <p:ph idx="1"/>
          </p:nvPr>
        </p:nvSpPr>
        <p:spPr/>
        <p:txBody>
          <a:bodyPr/>
          <a:lstStyle/>
          <a:p>
            <a:r>
              <a:t>Same PostgreSQL engine</a:t>
            </a:r>
          </a:p>
          <a:p>
            <a:r>
              <a:t>Managed infrastructure</a:t>
            </a:r>
          </a:p>
          <a:p>
            <a:r>
              <a:t>Browser-based tools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Supabase Adds</a:t>
            </a:r>
          </a:p>
        </p:txBody>
      </p:sp>
      <p:sp>
        <p:nvSpPr>
          <p:cNvPr id="3" name="Content Placeholder 2"/>
          <p:cNvSpPr>
            <a:spLocks noGrp="1"/>
          </p:cNvSpPr>
          <p:nvPr>
            <p:ph idx="1"/>
          </p:nvPr>
        </p:nvSpPr>
        <p:spPr/>
        <p:txBody>
          <a:bodyPr/>
          <a:lstStyle/>
          <a:p>
            <a:r>
              <a:t>Automatic backups</a:t>
            </a:r>
          </a:p>
          <a:p>
            <a:r>
              <a:t>Authentication and RLS</a:t>
            </a:r>
          </a:p>
          <a:p>
            <a:r>
              <a:t>API layer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Local vs Cloud Responsibilities</a:t>
            </a:r>
          </a:p>
        </p:txBody>
      </p:sp>
      <p:sp>
        <p:nvSpPr>
          <p:cNvPr id="3" name="Content Placeholder 2"/>
          <p:cNvSpPr>
            <a:spLocks noGrp="1"/>
          </p:cNvSpPr>
          <p:nvPr>
            <p:ph idx="1"/>
          </p:nvPr>
        </p:nvSpPr>
        <p:spPr/>
        <p:txBody>
          <a:bodyPr/>
          <a:lstStyle/>
          <a:p>
            <a:r>
              <a:t>Docker: you manage everything</a:t>
            </a:r>
          </a:p>
          <a:p>
            <a:r>
              <a:t>Supabase: shared responsibility</a:t>
            </a:r>
          </a:p>
          <a:p>
            <a:r>
              <a:t>SQL remains unchanged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Takeaway</a:t>
            </a:r>
          </a:p>
        </p:txBody>
      </p:sp>
      <p:sp>
        <p:nvSpPr>
          <p:cNvPr id="3" name="Content Placeholder 2"/>
          <p:cNvSpPr>
            <a:spLocks noGrp="1"/>
          </p:cNvSpPr>
          <p:nvPr>
            <p:ph idx="1"/>
          </p:nvPr>
        </p:nvSpPr>
        <p:spPr/>
        <p:txBody>
          <a:bodyPr/>
          <a:lstStyle/>
          <a:p>
            <a:r>
              <a:t>PostgreSQL is portable</a:t>
            </a:r>
          </a:p>
          <a:p>
            <a:r>
              <a:t>Tools shape responsibility</a:t>
            </a:r>
          </a:p>
          <a:p>
            <a:r>
              <a:t>DBA thinking transcends platforms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8974</TotalTime>
  <Words>828</Words>
  <Application>Microsoft Macintosh PowerPoint</Application>
  <PresentationFormat>On-screen Show (4:3)</PresentationFormat>
  <Paragraphs>85</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PostgreSQL from Local to Cloud Docker, pgAdmin, and Supabase</vt:lpstr>
      <vt:lpstr>Why This Lesson Matters</vt:lpstr>
      <vt:lpstr>What Is Docker?</vt:lpstr>
      <vt:lpstr>Why Use Docker for Databases?</vt:lpstr>
      <vt:lpstr>Installing Docker</vt:lpstr>
      <vt:lpstr>What Is Docker Compose?</vt:lpstr>
      <vt:lpstr>Our docker-compose.yml</vt:lpstr>
      <vt:lpstr>Starting PostgreSQL with Docker</vt:lpstr>
      <vt:lpstr>Connecting via the Terminal</vt:lpstr>
      <vt:lpstr>Connecting via pgAdmin</vt:lpstr>
      <vt:lpstr>Databases vs Schemas</vt:lpstr>
      <vt:lpstr>Inspecting Tables and Stats</vt:lpstr>
      <vt:lpstr>Practice Data: pgExercises</vt:lpstr>
      <vt:lpstr>From Local to Supabase</vt:lpstr>
      <vt:lpstr>What Supabase Adds</vt:lpstr>
      <vt:lpstr>Local vs Cloud Responsibilities</vt:lpstr>
      <vt:lpstr>Key Takeaway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Atilio Barreda</cp:lastModifiedBy>
  <cp:revision>2</cp:revision>
  <dcterms:created xsi:type="dcterms:W3CDTF">2013-01-27T09:14:16Z</dcterms:created>
  <dcterms:modified xsi:type="dcterms:W3CDTF">2026-02-10T04:33:19Z</dcterms:modified>
  <cp:category/>
</cp:coreProperties>
</file>