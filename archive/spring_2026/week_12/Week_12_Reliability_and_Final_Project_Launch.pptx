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starts Week 12, and the structure is deliberately split. About half of our time is on the syllabus topic: replication, reliability, read preference, write concern, and backup or restore thinking. The other half is on launching the final project in a way that is realistic for the time left in the semester. The main message is that cloud platforms help with reliability, but they do not remove administrative judgment. Students still need to know what a replica is, what failover means, where reads and writes go, and why a backup only matters if restore is possible. The project side connects directly to those ideas. The final project should not be a giant app. It should be a small database administration project with clear evidence: model, data, queries, index choice, access-control thinking, and a reliability or restore plan.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make the week structure explicit. The syllabus topic is not being skipped; it is being made practical by connecting it to the final project. In the first half of the class, students need a clear mental model of replication and reliability. In the second half, they use that model to choose a final project path and begin planning. This is a good moment to tell students that every project, even a simple one, needs an operational story. Where is the data stored? How is it queried? What happens if something is deleted? What evidence shows that the database can be rebuilt, restored, or at least verified? That framing keeps the project from becoming only a schema exercise or only a UI exercise.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separates three ideas that students often blend together. Availability means the database can keep serving work. Durability means accepted writes are protected against loss according to the system and configuration. Recoverability means there is a path back after failure, deletion, corruption, or a bad change. Managed platforms such as Atlas and Supabase provide important reliability features, but the administrator still has responsibilities. Someone still needs to understand the platform limits, choose settings where choices exist, document the restore path, and verify the application after recovery. Tie this to the textbook language on failure, logging, and recovery. The cloud changes the tools and surfaces, but it does not remove the underlying database administration problem.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teach the simplest MongoDB Atlas reliability picture. In a replica set, there is a primary and secondaries. The primary receives writes. The secondaries replicate those writes. If the primary becomes unavailable, an eligible secondary can be elected as the new primary. This is the basic mechanism behind automatic failover. The important caveat is that replication is not an instant magic copy in every circumstance. There can be replication lag, which means a secondary may be behind the primary for a period of time. Students do not need to know every election rule, but they do need to understand the roles and the tradeoff: replicas improve resilience and can support read distribution, but secondary reads can be stale depending on configuration and timing.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preference controls where reads are routed in a MongoDB replica set. The default is primary, which is the easiest consistency story for beginners. Other read preferences can send reads to secondaries or choose members based on topology. The practical reason to care is workload management. Some applications want to reduce load on the primary or serve reads from a closer location. The risk is recency. MongoDB documentation states that asynchronous replication means reads from secondaries may return data that does not reflect the current state of the primary. This is the beginner-level tradeoff students need: faster or distributed reads can be useful, but they may not be the right choice for data that must be immediately current.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Write concern is about acknowledgement. It answers the question: how much confirmation do we require before we treat a write as accepted? The most important beginner example is majority. With majority write concern, the write must be acknowledged by a majority of voting members in the replica set. This gives a stronger durability story across failover than a write acknowledged only by one node. The tradeoff is that stronger acknowledgement can add latency or produce write concern errors when secondaries are slow or unavailable. Students do not need to configure this in detail today. They need the concept because final project reports should show that they understand reliability settings are tradeoffs. Faster acknowledgement and stronger durability are not always the same goal.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Replication lag and failover are the two behaviors students should understand well enough to explain in plain language. Replication lag is the delay between a primary receiving a write and a secondary applying that write. MongoDB documentation notes that small lag may be acceptable but significant lag can create problems. Failover is what happens when the primary is unavailable and the replica set elects a new primary. During election, writes cannot proceed until the cluster has a primary again. This is not a failure of the concept; it is part of the reliability design. Students should understand that reliable systems are not systems where nothing ever goes wrong. Reliable systems are systems with planned behavior when something does go wrong.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central for both the syllabus and the final project. Students often hear the word backup and assume the system is safe. That is incomplete. A backup is a stored recovery source. Restore is the process of using that backup to bring data back into a usable state. Verification is the evidence that the recovered system actually works. Supabase documentation explicitly warns that restoration causes project inaccessibility during the process, so downtime must be planned. This is a practical, beginner-friendly administrative idea: do not just say backups exist. Say what would be restored, how you would start the restore, what downtime or data loss might occur, and what checks would prove the database is usable again.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bridges the syllabus focus on Atlas with the final project option to use Supabase, Atlas, or both. The platforms have different interfaces and feature sets, but the administrative questions are similar. Where do reads and writes go? What backups exist? What restore path is available? What access-control risks exist? What indexes support the workload? Atlas gives us MongoDB reliability concepts such as replica sets, read preference, write concern, and Atlas backups. Supabase gives us managed Postgres, backups, possible PITR depending on plan, and read replicas on supported paid tiers. For the final project, students do not need paid features. They need to explain what the platform provides and what their project would require in a real setting.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do not need an enterprise disaster-recovery document. They need a beginner restore runbook that is concrete. The runbook should name the incident, name the restore source, explain the restore steps, and list verification checks. Verification is the part students often skip, so emphasize it. A restored database is not automatically good just because the restore command completed. They should run checks: can key tables or collections be queried, are expected record counts present, do critical sample records exist, do indexes or constraints still exist, and can the main project queries run successfully? This is enough to make the final project feel like database administration rather than only database design.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main final project framing slide. The project should be small and evidence-driven. Research and examples from database course projects consistently point toward practical, domain-based work: choose a real enough problem, model the data, load sample records, run meaningful queries, and explain decisions. For this course, the final project should not become a giant web application. It can have a small interface if a student wants one, but the grading focus is the database. A strong project shows schema or document design, queries, indexes, access-control or permission thinking, and a backup or restore plan. A small finished database with clear evidence is much better than an ambitious app where the database work is shallow.</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need permission to choose the simplest path that fits their project. Path A is Supabase and Postgres. It is best for projects with clear tables and relationships. Path B is MongoDB and Atlas. It is best for document-shaped data, embedded arrays, and workload-based modeling. Path C uses both, but only when there is a real reason. For example, Postgres might store structured products and users while MongoDB stores flexible inventory events or activity logs. Warn students that using both platforms can make the project harder. They should not choose both to look advanced. The best final project is the one they can finish, document, and explain clearly.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gives students starter scenarios so they do not lose the whole work session trying to invent a project. Beginner projects should be familiar and bounded. Campus events, small inventory, course resources, tutoring appointments, support tickets, lending, budgets, and submissions all have enough structure to demonstrate database thinking without becoming huge systems. The scope rule matters. For Postgres, three to five tables is enough. For MongoDB, two to four collections is enough. If a student uses both platforms, the split must be even smaller and very clear. Encourage students to choose a domain they can explain in one minute. If they cannot explain the domain quickly, the project is probably too large.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project needs review evidence, not a required GitHub repo. Students need to provide artifacts that let you verify the database work: schema or document model files, seed data, query examples, index choices, access-control thinking, and a backup or restore plan. For MongoDB Atlas projects, the cleanest review path is instructor access to the Atlas organization, project, or team so you can inspect the project directly. For Supabase or Postgres projects, SQL files and project artifacts are enough if they let you verify the schema, data, and queries. GitHub is optional. Screenshots can support the evidence, but screenshots alone should not be the whole project.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protects students from overbuilding. The most common project failure is choosing a huge app idea and never getting to the database administration evidence. Push them toward smaller scopes. A small inventory tracker, ticket tracker, resource library, or appointment scheduler can still show meaningful database design. It can still include indexes, queries, permissions, and backup planning. A full e-commerce platform or social network will bury them in application complexity. The phrase I would use here is: boring enough to finish and real enough to explain. That is a strong beginner final project standard. A finished, well-documented, small database is better than an unfinished large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launches the Day 1 lab. The first half of the lab checks reliability vocabulary. The second half makes students choose their final project path and scenario. The in-class checkpoint is week12_day1_project_choice.md. Students should identify the platform path, explain why it fits, list the main data the project needs, and name one reliability or backup concern. Keep this moving. The goal is not a perfect proposal yet. The goal is to prevent students from leaving Week 12 with no project direction. If a student is stuck, steer them toward one simple scenario and one platform.</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launches the Day 2 project studio. The first half reinforces restore-first thinking. The second half starts the final project plan. These files are in-class checkpoints, not the whole final project submission. Students should create final_project_plan.md with a title, platform path, problem statement, data model plan, seed data plan, query plan, and admin reliability plan. They should also understand that the final project will be reviewed through code/database artifacts and, for MongoDB Atlas work, instructor access to the Atlas project or team. Redirect students away from UI polish and toward database evidence.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the closing slide. It gives students a concrete exit target. By the end of Week 12, they should not merely have heard a lecture about replication and backups. They should have a platform choice, a project idea, a first model plan, query ideas, and at least one reliability or restore verification thought. This checklist also gives you a fast way to diagnose who is falling behind. If a student cannot answer the platform and scenario items, help them choose immediately. If they cannot list queries, their project is probably too vague. If they cannot name a reliability idea, they need to revisit the first half of the week. End by reminding them that the final project starts now, but it starts small.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868680"/>
            <a:ext cx="10607040" cy="822960"/>
          </a:xfrm>
          <a:prstGeom prst="rect">
            <a:avLst/>
          </a:prstGeom>
          <a:noFill/>
        </p:spPr>
        <p:txBody>
          <a:bodyPr wrap="square">
            <a:spAutoFit/>
          </a:bodyPr>
          <a:lstStyle/>
          <a:p>
            <a:pPr algn="l">
              <a:defRPr sz="3000" b="1">
                <a:solidFill>
                  <a:srgbClr val="FFFFFF"/>
                </a:solidFill>
                <a:latin typeface="Aptos"/>
              </a:defRPr>
            </a:pPr>
            <a:r>
              <a:t>Week 12: Reliability and Final Project Launch</a:t>
            </a:r>
          </a:p>
        </p:txBody>
      </p:sp>
      <p:sp>
        <p:nvSpPr>
          <p:cNvPr id="3" name="TextBox 2"/>
          <p:cNvSpPr txBox="1"/>
          <p:nvPr/>
        </p:nvSpPr>
        <p:spPr>
          <a:xfrm>
            <a:off x="749808" y="1691640"/>
            <a:ext cx="10424160" cy="457200"/>
          </a:xfrm>
          <a:prstGeom prst="rect">
            <a:avLst/>
          </a:prstGeom>
          <a:noFill/>
        </p:spPr>
        <p:txBody>
          <a:bodyPr wrap="square">
            <a:spAutoFit/>
          </a:bodyPr>
          <a:lstStyle/>
          <a:p>
            <a:pPr algn="l">
              <a:defRPr sz="1700" b="0">
                <a:solidFill>
                  <a:srgbClr val="BFDBFE"/>
                </a:solidFill>
                <a:latin typeface="Aptos"/>
              </a:defRPr>
            </a:pPr>
            <a:r>
              <a:t>Replication, read/write choices, backup/restore thinking, and a realistic final project start</a:t>
            </a:r>
          </a:p>
        </p:txBody>
      </p:sp>
      <p:sp>
        <p:nvSpPr>
          <p:cNvPr id="4" name="Rounded Rectangle 3"/>
          <p:cNvSpPr/>
          <p:nvPr/>
        </p:nvSpPr>
        <p:spPr>
          <a:xfrm>
            <a:off x="822960" y="2880360"/>
            <a:ext cx="3154680" cy="1828800"/>
          </a:xfrm>
          <a:prstGeom prst="roundRect">
            <a:avLst/>
          </a:prstGeom>
          <a:solidFill>
            <a:srgbClr val="FFFFFF"/>
          </a:solidFill>
          <a:ln w="2032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2990088"/>
            <a:ext cx="2862072" cy="274320"/>
          </a:xfrm>
          <a:prstGeom prst="rect">
            <a:avLst/>
          </a:prstGeom>
          <a:noFill/>
        </p:spPr>
        <p:txBody>
          <a:bodyPr wrap="square">
            <a:spAutoFit/>
          </a:bodyPr>
          <a:lstStyle/>
          <a:p>
            <a:pPr algn="l">
              <a:defRPr sz="2000" b="1">
                <a:solidFill>
                  <a:srgbClr val="0D9488"/>
                </a:solidFill>
                <a:latin typeface="Aptos"/>
              </a:defRPr>
            </a:pPr>
            <a:r>
              <a:t>Reliability</a:t>
            </a:r>
          </a:p>
        </p:txBody>
      </p:sp>
      <p:sp>
        <p:nvSpPr>
          <p:cNvPr id="6" name="TextBox 5"/>
          <p:cNvSpPr txBox="1"/>
          <p:nvPr/>
        </p:nvSpPr>
        <p:spPr>
          <a:xfrm>
            <a:off x="969264" y="3319272"/>
            <a:ext cx="2862072" cy="1298448"/>
          </a:xfrm>
          <a:prstGeom prst="rect">
            <a:avLst/>
          </a:prstGeom>
          <a:noFill/>
        </p:spPr>
        <p:txBody>
          <a:bodyPr wrap="square">
            <a:normAutofit/>
          </a:bodyPr>
          <a:lstStyle/>
          <a:p>
            <a:pPr>
              <a:defRPr sz="1450">
                <a:solidFill>
                  <a:srgbClr val="475569"/>
                </a:solidFill>
              </a:defRPr>
            </a:pPr>
            <a:r>
              <a:t>What keeps a database usable when systems fail or data must be recovered?</a:t>
            </a:r>
          </a:p>
        </p:txBody>
      </p:sp>
      <p:sp>
        <p:nvSpPr>
          <p:cNvPr id="7" name="Rounded Rectangle 6"/>
          <p:cNvSpPr/>
          <p:nvPr/>
        </p:nvSpPr>
        <p:spPr>
          <a:xfrm>
            <a:off x="4526280" y="2880360"/>
            <a:ext cx="3154680" cy="1828800"/>
          </a:xfrm>
          <a:prstGeom prst="roundRect">
            <a:avLst/>
          </a:prstGeom>
          <a:solidFill>
            <a:srgbClr val="FFFFFF"/>
          </a:solidFill>
          <a:ln w="20320">
            <a:solidFill>
              <a:srgbClr val="CA8A0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72584" y="2990088"/>
            <a:ext cx="2862072" cy="274320"/>
          </a:xfrm>
          <a:prstGeom prst="rect">
            <a:avLst/>
          </a:prstGeom>
          <a:noFill/>
        </p:spPr>
        <p:txBody>
          <a:bodyPr wrap="square">
            <a:spAutoFit/>
          </a:bodyPr>
          <a:lstStyle/>
          <a:p>
            <a:pPr algn="l">
              <a:defRPr sz="2000" b="1">
                <a:solidFill>
                  <a:srgbClr val="CA8A04"/>
                </a:solidFill>
                <a:latin typeface="Aptos"/>
              </a:defRPr>
            </a:pPr>
            <a:r>
              <a:t>Tradeoffs</a:t>
            </a:r>
          </a:p>
        </p:txBody>
      </p:sp>
      <p:sp>
        <p:nvSpPr>
          <p:cNvPr id="9" name="TextBox 8"/>
          <p:cNvSpPr txBox="1"/>
          <p:nvPr/>
        </p:nvSpPr>
        <p:spPr>
          <a:xfrm>
            <a:off x="4672584" y="3319272"/>
            <a:ext cx="2862072" cy="1298448"/>
          </a:xfrm>
          <a:prstGeom prst="rect">
            <a:avLst/>
          </a:prstGeom>
          <a:noFill/>
        </p:spPr>
        <p:txBody>
          <a:bodyPr wrap="square">
            <a:normAutofit/>
          </a:bodyPr>
          <a:lstStyle/>
          <a:p>
            <a:pPr>
              <a:defRPr sz="1450">
                <a:solidFill>
                  <a:srgbClr val="475569"/>
                </a:solidFill>
              </a:defRPr>
            </a:pPr>
            <a:r>
              <a:t>What do read preference, write concern, replicas, and backups actually decide?</a:t>
            </a:r>
          </a:p>
        </p:txBody>
      </p:sp>
      <p:sp>
        <p:nvSpPr>
          <p:cNvPr id="10" name="Rounded Rectangle 9"/>
          <p:cNvSpPr/>
          <p:nvPr/>
        </p:nvSpPr>
        <p:spPr>
          <a:xfrm>
            <a:off x="8229600" y="2880360"/>
            <a:ext cx="3154680" cy="1828800"/>
          </a:xfrm>
          <a:prstGeom prst="roundRect">
            <a:avLst/>
          </a:prstGeom>
          <a:solidFill>
            <a:srgbClr val="FFFFFF"/>
          </a:solidFill>
          <a:ln w="2032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75904" y="2990088"/>
            <a:ext cx="2862072" cy="274320"/>
          </a:xfrm>
          <a:prstGeom prst="rect">
            <a:avLst/>
          </a:prstGeom>
          <a:noFill/>
        </p:spPr>
        <p:txBody>
          <a:bodyPr wrap="square">
            <a:spAutoFit/>
          </a:bodyPr>
          <a:lstStyle/>
          <a:p>
            <a:pPr algn="l">
              <a:defRPr sz="2000" b="1">
                <a:solidFill>
                  <a:srgbClr val="16A34A"/>
                </a:solidFill>
                <a:latin typeface="Aptos"/>
              </a:defRPr>
            </a:pPr>
            <a:r>
              <a:t>Project Start</a:t>
            </a:r>
          </a:p>
        </p:txBody>
      </p:sp>
      <p:sp>
        <p:nvSpPr>
          <p:cNvPr id="12" name="TextBox 11"/>
          <p:cNvSpPr txBox="1"/>
          <p:nvPr/>
        </p:nvSpPr>
        <p:spPr>
          <a:xfrm>
            <a:off x="8375904" y="3319272"/>
            <a:ext cx="2862072" cy="1298448"/>
          </a:xfrm>
          <a:prstGeom prst="rect">
            <a:avLst/>
          </a:prstGeom>
          <a:noFill/>
        </p:spPr>
        <p:txBody>
          <a:bodyPr wrap="square">
            <a:normAutofit/>
          </a:bodyPr>
          <a:lstStyle/>
          <a:p>
            <a:pPr>
              <a:defRPr sz="1450">
                <a:solidFill>
                  <a:srgbClr val="475569"/>
                </a:solidFill>
              </a:defRPr>
            </a:pPr>
            <a:r>
              <a:t>Choose a small cloud database project and begin with evidence in mind.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20040"/>
            <a:ext cx="10972800" cy="640080"/>
          </a:xfrm>
          <a:prstGeom prst="rect">
            <a:avLst/>
          </a:prstGeom>
          <a:noFill/>
        </p:spPr>
        <p:txBody>
          <a:bodyPr wrap="square">
            <a:spAutoFit/>
          </a:bodyPr>
          <a:lstStyle/>
          <a:p>
            <a:pPr algn="l">
              <a:defRPr sz="2700" b="1">
                <a:solidFill>
                  <a:srgbClr val="0F172A"/>
                </a:solidFill>
                <a:latin typeface="Aptos"/>
              </a:defRPr>
            </a:pPr>
            <a:r>
              <a:t>What the Syllabus Says</a:t>
            </a:r>
          </a:p>
        </p:txBody>
      </p:sp>
      <p:sp>
        <p:nvSpPr>
          <p:cNvPr id="3" name="TextBox 2"/>
          <p:cNvSpPr txBox="1"/>
          <p:nvPr/>
        </p:nvSpPr>
        <p:spPr>
          <a:xfrm>
            <a:off x="585216" y="896112"/>
            <a:ext cx="10789920" cy="320040"/>
          </a:xfrm>
          <a:prstGeom prst="rect">
            <a:avLst/>
          </a:prstGeom>
          <a:noFill/>
        </p:spPr>
        <p:txBody>
          <a:bodyPr wrap="square">
            <a:spAutoFit/>
          </a:bodyPr>
          <a:lstStyle/>
          <a:p>
            <a:pPr algn="l">
              <a:defRPr sz="1350" b="0">
                <a:solidFill>
                  <a:srgbClr val="64748B"/>
                </a:solidFill>
                <a:latin typeface="Aptos"/>
              </a:defRPr>
            </a:pPr>
            <a:r>
              <a:t>Week 12: replication and reliability concepts, read preference, write concern, backup/restore</a:t>
            </a:r>
          </a:p>
        </p:txBody>
      </p:sp>
      <p:sp>
        <p:nvSpPr>
          <p:cNvPr id="4" name="Rounded Rectangle 3"/>
          <p:cNvSpPr/>
          <p:nvPr/>
        </p:nvSpPr>
        <p:spPr>
          <a:xfrm>
            <a:off x="731520" y="1508760"/>
            <a:ext cx="5303520" cy="3017520"/>
          </a:xfrm>
          <a:prstGeom prst="roundRect">
            <a:avLst/>
          </a:prstGeom>
          <a:solidFill>
            <a:srgbClr val="FFFFFF"/>
          </a:solidFill>
          <a:ln w="1778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 y="1618488"/>
            <a:ext cx="5010912" cy="256032"/>
          </a:xfrm>
          <a:prstGeom prst="rect">
            <a:avLst/>
          </a:prstGeom>
          <a:noFill/>
        </p:spPr>
        <p:txBody>
          <a:bodyPr wrap="square">
            <a:spAutoFit/>
          </a:bodyPr>
          <a:lstStyle/>
          <a:p>
            <a:pPr algn="l">
              <a:defRPr sz="1700" b="1">
                <a:solidFill>
                  <a:srgbClr val="0D9488"/>
                </a:solidFill>
                <a:latin typeface="Aptos"/>
              </a:defRPr>
            </a:pPr>
            <a:r>
              <a:t>First Half of Class</a:t>
            </a:r>
          </a:p>
        </p:txBody>
      </p:sp>
      <p:sp>
        <p:nvSpPr>
          <p:cNvPr id="6" name="TextBox 5"/>
          <p:cNvSpPr txBox="1"/>
          <p:nvPr/>
        </p:nvSpPr>
        <p:spPr>
          <a:xfrm>
            <a:off x="896112" y="1947672"/>
            <a:ext cx="4974336" cy="2487168"/>
          </a:xfrm>
          <a:prstGeom prst="rect">
            <a:avLst/>
          </a:prstGeom>
          <a:noFill/>
        </p:spPr>
        <p:txBody>
          <a:bodyPr wrap="square">
            <a:normAutofit/>
          </a:bodyPr>
          <a:lstStyle/>
          <a:p>
            <a:pPr>
              <a:defRPr sz="1450">
                <a:solidFill>
                  <a:srgbClr val="475569"/>
                </a:solidFill>
              </a:defRPr>
            </a:pPr>
            <a:r>
              <a:t>Replication vocabulary</a:t>
            </a:r>
          </a:p>
          <a:p>
            <a:pPr>
              <a:defRPr sz="1450">
                <a:solidFill>
                  <a:srgbClr val="475569"/>
                </a:solidFill>
              </a:defRPr>
            </a:pPr>
            <a:r>
              <a:t>Primary and secondary roles</a:t>
            </a:r>
          </a:p>
          <a:p>
            <a:pPr>
              <a:defRPr sz="1450">
                <a:solidFill>
                  <a:srgbClr val="475569"/>
                </a:solidFill>
              </a:defRPr>
            </a:pPr>
            <a:r>
              <a:t>Automatic failover</a:t>
            </a:r>
          </a:p>
          <a:p>
            <a:pPr>
              <a:defRPr sz="1450">
                <a:solidFill>
                  <a:srgbClr val="475569"/>
                </a:solidFill>
              </a:defRPr>
            </a:pPr>
            <a:r>
              <a:t>Read preference and write concern</a:t>
            </a:r>
          </a:p>
          <a:p>
            <a:pPr>
              <a:defRPr sz="1450">
                <a:solidFill>
                  <a:srgbClr val="475569"/>
                </a:solidFill>
              </a:defRPr>
            </a:pPr>
            <a:r>
              <a:t>Backup and restore mindset</a:t>
            </a:r>
          </a:p>
        </p:txBody>
      </p:sp>
      <p:sp>
        <p:nvSpPr>
          <p:cNvPr id="7" name="Rounded Rectangle 6"/>
          <p:cNvSpPr/>
          <p:nvPr/>
        </p:nvSpPr>
        <p:spPr>
          <a:xfrm>
            <a:off x="6309360" y="1508760"/>
            <a:ext cx="5074920" cy="3017520"/>
          </a:xfrm>
          <a:prstGeom prst="roundRect">
            <a:avLst/>
          </a:prstGeom>
          <a:solidFill>
            <a:srgbClr val="FFFFFF"/>
          </a:solidFill>
          <a:ln w="1778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55664" y="1618488"/>
            <a:ext cx="4782312" cy="256032"/>
          </a:xfrm>
          <a:prstGeom prst="rect">
            <a:avLst/>
          </a:prstGeom>
          <a:noFill/>
        </p:spPr>
        <p:txBody>
          <a:bodyPr wrap="square">
            <a:spAutoFit/>
          </a:bodyPr>
          <a:lstStyle/>
          <a:p>
            <a:pPr algn="l">
              <a:defRPr sz="1700" b="1">
                <a:solidFill>
                  <a:srgbClr val="16A34A"/>
                </a:solidFill>
                <a:latin typeface="Aptos"/>
              </a:defRPr>
            </a:pPr>
            <a:r>
              <a:t>Second Half of Class</a:t>
            </a:r>
          </a:p>
        </p:txBody>
      </p:sp>
      <p:sp>
        <p:nvSpPr>
          <p:cNvPr id="9" name="TextBox 8"/>
          <p:cNvSpPr txBox="1"/>
          <p:nvPr/>
        </p:nvSpPr>
        <p:spPr>
          <a:xfrm>
            <a:off x="6473952" y="1947672"/>
            <a:ext cx="4745736" cy="2487168"/>
          </a:xfrm>
          <a:prstGeom prst="rect">
            <a:avLst/>
          </a:prstGeom>
          <a:noFill/>
        </p:spPr>
        <p:txBody>
          <a:bodyPr wrap="square">
            <a:normAutofit/>
          </a:bodyPr>
          <a:lstStyle/>
          <a:p>
            <a:r>
              <a:t>Final project overview</a:t>
            </a:r>
          </a:p>
          <a:p>
            <a:r>
              <a:t>Platform choice: Supabase, Atlas, or both</a:t>
            </a:r>
          </a:p>
          <a:p>
            <a:r>
              <a:t>Beginner-friendly project scenarios</a:t>
            </a:r>
          </a:p>
          <a:p>
            <a:r>
              <a:t>Project artifacts and plan</a:t>
            </a:r>
          </a:p>
          <a:p>
            <a:r>
              <a:t>Reliability evidence from the start</a:t>
            </a:r>
          </a:p>
        </p:txBody>
      </p:sp>
      <p:sp>
        <p:nvSpPr>
          <p:cNvPr id="10" name="TextBox 9"/>
          <p:cNvSpPr txBox="1"/>
          <p:nvPr/>
        </p:nvSpPr>
        <p:spPr>
          <a:xfrm>
            <a:off x="914400" y="5074920"/>
            <a:ext cx="10058400" cy="457200"/>
          </a:xfrm>
          <a:prstGeom prst="rect">
            <a:avLst/>
          </a:prstGeom>
          <a:noFill/>
        </p:spPr>
        <p:txBody>
          <a:bodyPr wrap="square">
            <a:spAutoFit/>
          </a:bodyPr>
          <a:lstStyle/>
          <a:p>
            <a:pPr algn="ctr">
              <a:defRPr sz="2000" b="1">
                <a:solidFill>
                  <a:srgbClr val="0F172A"/>
                </a:solidFill>
                <a:latin typeface="Aptos"/>
              </a:defRPr>
            </a:pPr>
            <a:r>
              <a:t>The week works when reliability concepts feed directly into final project decisions.</a:t>
            </a:r>
          </a:p>
        </p:txBody>
      </p:sp>
      <p:cxnSp>
        <p:nvCxnSpPr>
          <p:cNvPr id="11" name="Connector 10"/>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94360" y="6419088"/>
            <a:ext cx="2560320" cy="182880"/>
          </a:xfrm>
          <a:prstGeom prst="rect">
            <a:avLst/>
          </a:prstGeom>
          <a:noFill/>
        </p:spPr>
        <p:txBody>
          <a:bodyPr wrap="square">
            <a:spAutoFit/>
          </a:bodyPr>
          <a:lstStyle/>
          <a:p>
            <a:pPr algn="l">
              <a:defRPr sz="900" b="0">
                <a:solidFill>
                  <a:srgbClr val="64748B"/>
                </a:solidFill>
                <a:latin typeface="Aptos"/>
              </a:defRPr>
            </a:pPr>
            <a:r>
              <a:t>CST4714 | Week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20040"/>
            <a:ext cx="10972800" cy="640080"/>
          </a:xfrm>
          <a:prstGeom prst="rect">
            <a:avLst/>
          </a:prstGeom>
          <a:noFill/>
        </p:spPr>
        <p:txBody>
          <a:bodyPr wrap="square">
            <a:spAutoFit/>
          </a:bodyPr>
          <a:lstStyle/>
          <a:p>
            <a:pPr algn="l">
              <a:defRPr sz="2700" b="1">
                <a:solidFill>
                  <a:srgbClr val="0F172A"/>
                </a:solidFill>
                <a:latin typeface="Aptos"/>
              </a:defRPr>
            </a:pPr>
            <a:r>
              <a:t>Reliability Is Not Magic</a:t>
            </a:r>
          </a:p>
        </p:txBody>
      </p:sp>
      <p:sp>
        <p:nvSpPr>
          <p:cNvPr id="3" name="TextBox 2"/>
          <p:cNvSpPr txBox="1"/>
          <p:nvPr/>
        </p:nvSpPr>
        <p:spPr>
          <a:xfrm>
            <a:off x="585216" y="896112"/>
            <a:ext cx="10789920" cy="320040"/>
          </a:xfrm>
          <a:prstGeom prst="rect">
            <a:avLst/>
          </a:prstGeom>
          <a:noFill/>
        </p:spPr>
        <p:txBody>
          <a:bodyPr wrap="square">
            <a:spAutoFit/>
          </a:bodyPr>
          <a:lstStyle/>
          <a:p>
            <a:pPr algn="l">
              <a:defRPr sz="1350" b="0">
                <a:solidFill>
                  <a:srgbClr val="64748B"/>
                </a:solidFill>
                <a:latin typeface="Aptos"/>
              </a:defRPr>
            </a:pPr>
            <a:r>
              <a:t>Managed cloud databases still require administrative reasoning</a:t>
            </a:r>
          </a:p>
        </p:txBody>
      </p:sp>
      <p:sp>
        <p:nvSpPr>
          <p:cNvPr id="4" name="Rounded Rectangle 3"/>
          <p:cNvSpPr/>
          <p:nvPr/>
        </p:nvSpPr>
        <p:spPr>
          <a:xfrm>
            <a:off x="685800" y="1600200"/>
            <a:ext cx="3383280" cy="1920240"/>
          </a:xfrm>
          <a:prstGeom prst="roundRect">
            <a:avLst/>
          </a:prstGeom>
          <a:solidFill>
            <a:srgbClr val="FFFFFF"/>
          </a:solidFill>
          <a:ln w="2032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2104" y="1709928"/>
            <a:ext cx="3090672" cy="274320"/>
          </a:xfrm>
          <a:prstGeom prst="rect">
            <a:avLst/>
          </a:prstGeom>
          <a:noFill/>
        </p:spPr>
        <p:txBody>
          <a:bodyPr wrap="square">
            <a:spAutoFit/>
          </a:bodyPr>
          <a:lstStyle/>
          <a:p>
            <a:pPr algn="l">
              <a:defRPr sz="2000" b="1">
                <a:solidFill>
                  <a:srgbClr val="0D9488"/>
                </a:solidFill>
                <a:latin typeface="Aptos"/>
              </a:defRPr>
            </a:pPr>
            <a:r>
              <a:t>Availability</a:t>
            </a:r>
          </a:p>
        </p:txBody>
      </p:sp>
      <p:sp>
        <p:nvSpPr>
          <p:cNvPr id="6" name="TextBox 5"/>
          <p:cNvSpPr txBox="1"/>
          <p:nvPr/>
        </p:nvSpPr>
        <p:spPr>
          <a:xfrm>
            <a:off x="832104" y="2039112"/>
            <a:ext cx="3090672" cy="1389888"/>
          </a:xfrm>
          <a:prstGeom prst="rect">
            <a:avLst/>
          </a:prstGeom>
          <a:noFill/>
        </p:spPr>
        <p:txBody>
          <a:bodyPr wrap="square">
            <a:normAutofit/>
          </a:bodyPr>
          <a:lstStyle/>
          <a:p>
            <a:pPr>
              <a:defRPr sz="1500">
                <a:solidFill>
                  <a:srgbClr val="475569"/>
                </a:solidFill>
              </a:defRPr>
            </a:pPr>
            <a:r>
              <a:t>Can the database keep serving useful work when something fails?</a:t>
            </a:r>
          </a:p>
        </p:txBody>
      </p:sp>
      <p:sp>
        <p:nvSpPr>
          <p:cNvPr id="7" name="Rounded Rectangle 6"/>
          <p:cNvSpPr/>
          <p:nvPr/>
        </p:nvSpPr>
        <p:spPr>
          <a:xfrm>
            <a:off x="4434840" y="1600200"/>
            <a:ext cx="3383280" cy="1920240"/>
          </a:xfrm>
          <a:prstGeom prst="roundRect">
            <a:avLst/>
          </a:prstGeom>
          <a:solidFill>
            <a:srgbClr val="FFFFFF"/>
          </a:solidFill>
          <a:ln w="2032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81144" y="1709928"/>
            <a:ext cx="3090672" cy="274320"/>
          </a:xfrm>
          <a:prstGeom prst="rect">
            <a:avLst/>
          </a:prstGeom>
          <a:noFill/>
        </p:spPr>
        <p:txBody>
          <a:bodyPr wrap="square">
            <a:spAutoFit/>
          </a:bodyPr>
          <a:lstStyle/>
          <a:p>
            <a:pPr algn="l">
              <a:defRPr sz="2000" b="1">
                <a:solidFill>
                  <a:srgbClr val="2563EB"/>
                </a:solidFill>
                <a:latin typeface="Aptos"/>
              </a:defRPr>
            </a:pPr>
            <a:r>
              <a:t>Durability</a:t>
            </a:r>
          </a:p>
        </p:txBody>
      </p:sp>
      <p:sp>
        <p:nvSpPr>
          <p:cNvPr id="9" name="TextBox 8"/>
          <p:cNvSpPr txBox="1"/>
          <p:nvPr/>
        </p:nvSpPr>
        <p:spPr>
          <a:xfrm>
            <a:off x="4581144" y="2039112"/>
            <a:ext cx="3090672" cy="1389888"/>
          </a:xfrm>
          <a:prstGeom prst="rect">
            <a:avLst/>
          </a:prstGeom>
          <a:noFill/>
        </p:spPr>
        <p:txBody>
          <a:bodyPr wrap="square">
            <a:normAutofit/>
          </a:bodyPr>
          <a:lstStyle/>
          <a:p>
            <a:pPr>
              <a:defRPr sz="1500">
                <a:solidFill>
                  <a:srgbClr val="475569"/>
                </a:solidFill>
              </a:defRPr>
            </a:pPr>
            <a:r>
              <a:t>After a write is accepted, how confident are we that it survives failures?</a:t>
            </a:r>
          </a:p>
        </p:txBody>
      </p:sp>
      <p:sp>
        <p:nvSpPr>
          <p:cNvPr id="10" name="Rounded Rectangle 9"/>
          <p:cNvSpPr/>
          <p:nvPr/>
        </p:nvSpPr>
        <p:spPr>
          <a:xfrm>
            <a:off x="8183879" y="1600200"/>
            <a:ext cx="3246120" cy="1920240"/>
          </a:xfrm>
          <a:prstGeom prst="roundRect">
            <a:avLst/>
          </a:prstGeom>
          <a:solidFill>
            <a:srgbClr val="FFFFFF"/>
          </a:solidFill>
          <a:ln w="2032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30183" y="1709928"/>
            <a:ext cx="2953512" cy="274320"/>
          </a:xfrm>
          <a:prstGeom prst="rect">
            <a:avLst/>
          </a:prstGeom>
          <a:noFill/>
        </p:spPr>
        <p:txBody>
          <a:bodyPr wrap="square">
            <a:spAutoFit/>
          </a:bodyPr>
          <a:lstStyle/>
          <a:p>
            <a:pPr algn="l">
              <a:defRPr sz="2000" b="1">
                <a:solidFill>
                  <a:srgbClr val="EA580C"/>
                </a:solidFill>
                <a:latin typeface="Aptos"/>
              </a:defRPr>
            </a:pPr>
            <a:r>
              <a:t>Recoverability</a:t>
            </a:r>
          </a:p>
        </p:txBody>
      </p:sp>
      <p:sp>
        <p:nvSpPr>
          <p:cNvPr id="12" name="TextBox 11"/>
          <p:cNvSpPr txBox="1"/>
          <p:nvPr/>
        </p:nvSpPr>
        <p:spPr>
          <a:xfrm>
            <a:off x="8330183" y="2039112"/>
            <a:ext cx="2953512" cy="1389888"/>
          </a:xfrm>
          <a:prstGeom prst="rect">
            <a:avLst/>
          </a:prstGeom>
          <a:noFill/>
        </p:spPr>
        <p:txBody>
          <a:bodyPr wrap="square">
            <a:normAutofit/>
          </a:bodyPr>
          <a:lstStyle/>
          <a:p>
            <a:pPr>
              <a:defRPr sz="1500">
                <a:solidFill>
                  <a:srgbClr val="475569"/>
                </a:solidFill>
              </a:defRPr>
            </a:pPr>
            <a:r>
              <a:t>Can we restore usable data after a mistake or incident?</a:t>
            </a:r>
          </a:p>
        </p:txBody>
      </p:sp>
      <p:sp>
        <p:nvSpPr>
          <p:cNvPr id="13" name="Rounded Rectangle 12"/>
          <p:cNvSpPr/>
          <p:nvPr/>
        </p:nvSpPr>
        <p:spPr>
          <a:xfrm>
            <a:off x="1097280" y="4023360"/>
            <a:ext cx="9875520" cy="1188720"/>
          </a:xfrm>
          <a:prstGeom prst="roundRect">
            <a:avLst/>
          </a:prstGeom>
          <a:solidFill>
            <a:srgbClr val="FFFFFF"/>
          </a:solidFill>
          <a:ln w="17780">
            <a:solidFill>
              <a:srgbClr val="CA8A0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43584" y="4133088"/>
            <a:ext cx="9582912" cy="256032"/>
          </a:xfrm>
          <a:prstGeom prst="rect">
            <a:avLst/>
          </a:prstGeom>
          <a:noFill/>
        </p:spPr>
        <p:txBody>
          <a:bodyPr wrap="square">
            <a:spAutoFit/>
          </a:bodyPr>
          <a:lstStyle/>
          <a:p>
            <a:pPr algn="l">
              <a:defRPr sz="1700" b="1">
                <a:solidFill>
                  <a:srgbClr val="CA8A04"/>
                </a:solidFill>
                <a:latin typeface="Aptos"/>
              </a:defRPr>
            </a:pPr>
            <a:r>
              <a:t>Course connection</a:t>
            </a:r>
          </a:p>
        </p:txBody>
      </p:sp>
      <p:sp>
        <p:nvSpPr>
          <p:cNvPr id="15" name="TextBox 14"/>
          <p:cNvSpPr txBox="1"/>
          <p:nvPr/>
        </p:nvSpPr>
        <p:spPr>
          <a:xfrm>
            <a:off x="1261872" y="4462272"/>
            <a:ext cx="9546336" cy="658368"/>
          </a:xfrm>
          <a:prstGeom prst="rect">
            <a:avLst/>
          </a:prstGeom>
          <a:noFill/>
        </p:spPr>
        <p:txBody>
          <a:bodyPr wrap="square">
            <a:normAutofit/>
          </a:bodyPr>
          <a:lstStyle/>
          <a:p>
            <a:pPr>
              <a:defRPr sz="1400">
                <a:solidFill>
                  <a:srgbClr val="475569"/>
                </a:solidFill>
              </a:defRPr>
            </a:pPr>
            <a:r>
              <a:t>Molina/Ullman frames durability through logging, recovery, and failure handling. Cloud platforms automate pieces of that work, but administrators still plan, verify, and document recovery.</a:t>
            </a:r>
          </a:p>
        </p:txBody>
      </p:sp>
      <p:cxnSp>
        <p:nvCxnSpPr>
          <p:cNvPr id="16" name="Connector 15"/>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94360" y="6419088"/>
            <a:ext cx="2560320" cy="182880"/>
          </a:xfrm>
          <a:prstGeom prst="rect">
            <a:avLst/>
          </a:prstGeom>
          <a:noFill/>
        </p:spPr>
        <p:txBody>
          <a:bodyPr wrap="square">
            <a:spAutoFit/>
          </a:bodyPr>
          <a:lstStyle/>
          <a:p>
            <a:pPr algn="l">
              <a:defRPr sz="900" b="0">
                <a:solidFill>
                  <a:srgbClr val="64748B"/>
                </a:solidFill>
                <a:latin typeface="Aptos"/>
              </a:defRPr>
            </a:pPr>
            <a:r>
              <a:t>CST4714 | Week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20040"/>
            <a:ext cx="10972800" cy="640080"/>
          </a:xfrm>
          <a:prstGeom prst="rect">
            <a:avLst/>
          </a:prstGeom>
          <a:noFill/>
        </p:spPr>
        <p:txBody>
          <a:bodyPr wrap="square">
            <a:spAutoFit/>
          </a:bodyPr>
          <a:lstStyle/>
          <a:p>
            <a:pPr algn="l">
              <a:defRPr sz="2700" b="1">
                <a:solidFill>
                  <a:srgbClr val="0F172A"/>
                </a:solidFill>
                <a:latin typeface="Aptos"/>
              </a:defRPr>
            </a:pPr>
            <a:r>
              <a:t>Replica Set Mental Model</a:t>
            </a:r>
          </a:p>
        </p:txBody>
      </p:sp>
      <p:sp>
        <p:nvSpPr>
          <p:cNvPr id="3" name="TextBox 2"/>
          <p:cNvSpPr txBox="1"/>
          <p:nvPr/>
        </p:nvSpPr>
        <p:spPr>
          <a:xfrm>
            <a:off x="585216" y="896112"/>
            <a:ext cx="10789920" cy="320040"/>
          </a:xfrm>
          <a:prstGeom prst="rect">
            <a:avLst/>
          </a:prstGeom>
          <a:noFill/>
        </p:spPr>
        <p:txBody>
          <a:bodyPr wrap="square">
            <a:spAutoFit/>
          </a:bodyPr>
          <a:lstStyle/>
          <a:p>
            <a:pPr algn="l">
              <a:defRPr sz="1350" b="0">
                <a:solidFill>
                  <a:srgbClr val="64748B"/>
                </a:solidFill>
                <a:latin typeface="Aptos"/>
              </a:defRPr>
            </a:pPr>
            <a:r>
              <a:t>One primary accepts writes; secondaries copy changes and can help with resilience</a:t>
            </a:r>
          </a:p>
        </p:txBody>
      </p:sp>
      <p:sp>
        <p:nvSpPr>
          <p:cNvPr id="4" name="Rounded Rectangle 3"/>
          <p:cNvSpPr/>
          <p:nvPr/>
        </p:nvSpPr>
        <p:spPr>
          <a:xfrm>
            <a:off x="822960" y="1828800"/>
            <a:ext cx="2560320" cy="1828800"/>
          </a:xfrm>
          <a:prstGeom prst="roundRect">
            <a:avLst/>
          </a:prstGeom>
          <a:solidFill>
            <a:srgbClr val="FFFFFF"/>
          </a:solidFill>
          <a:ln w="2032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9264" y="1938528"/>
            <a:ext cx="2267712" cy="274320"/>
          </a:xfrm>
          <a:prstGeom prst="rect">
            <a:avLst/>
          </a:prstGeom>
          <a:noFill/>
        </p:spPr>
        <p:txBody>
          <a:bodyPr wrap="square">
            <a:spAutoFit/>
          </a:bodyPr>
          <a:lstStyle/>
          <a:p>
            <a:pPr algn="l">
              <a:defRPr sz="1900" b="1">
                <a:solidFill>
                  <a:srgbClr val="16A34A"/>
                </a:solidFill>
                <a:latin typeface="Aptos"/>
              </a:defRPr>
            </a:pPr>
            <a:r>
              <a:t>Primary</a:t>
            </a:r>
          </a:p>
        </p:txBody>
      </p:sp>
      <p:sp>
        <p:nvSpPr>
          <p:cNvPr id="6" name="TextBox 5"/>
          <p:cNvSpPr txBox="1"/>
          <p:nvPr/>
        </p:nvSpPr>
        <p:spPr>
          <a:xfrm>
            <a:off x="969264" y="2267712"/>
            <a:ext cx="2267712" cy="1298448"/>
          </a:xfrm>
          <a:prstGeom prst="rect">
            <a:avLst/>
          </a:prstGeom>
          <a:noFill/>
        </p:spPr>
        <p:txBody>
          <a:bodyPr wrap="square">
            <a:normAutofit/>
          </a:bodyPr>
          <a:lstStyle/>
          <a:p>
            <a:pPr>
              <a:defRPr sz="1400">
                <a:solidFill>
                  <a:srgbClr val="475569"/>
                </a:solidFill>
              </a:defRPr>
            </a:pPr>
            <a:r>
              <a:t>Receives writes and coordinates the current authoritative write path.</a:t>
            </a:r>
          </a:p>
        </p:txBody>
      </p:sp>
      <p:sp>
        <p:nvSpPr>
          <p:cNvPr id="7" name="Rounded Rectangle 6"/>
          <p:cNvSpPr/>
          <p:nvPr/>
        </p:nvSpPr>
        <p:spPr>
          <a:xfrm>
            <a:off x="4800600" y="1417320"/>
            <a:ext cx="2560320" cy="1463040"/>
          </a:xfrm>
          <a:prstGeom prst="roundRect">
            <a:avLst/>
          </a:prstGeom>
          <a:solidFill>
            <a:srgbClr val="FFFFFF"/>
          </a:solidFill>
          <a:ln w="2032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46904" y="1527048"/>
            <a:ext cx="2267712" cy="274320"/>
          </a:xfrm>
          <a:prstGeom prst="rect">
            <a:avLst/>
          </a:prstGeom>
          <a:noFill/>
        </p:spPr>
        <p:txBody>
          <a:bodyPr wrap="square">
            <a:spAutoFit/>
          </a:bodyPr>
          <a:lstStyle/>
          <a:p>
            <a:pPr algn="l">
              <a:defRPr sz="1900" b="1">
                <a:solidFill>
                  <a:srgbClr val="2563EB"/>
                </a:solidFill>
                <a:latin typeface="Aptos"/>
              </a:defRPr>
            </a:pPr>
            <a:r>
              <a:t>Secondary</a:t>
            </a:r>
          </a:p>
        </p:txBody>
      </p:sp>
      <p:sp>
        <p:nvSpPr>
          <p:cNvPr id="9" name="TextBox 8"/>
          <p:cNvSpPr txBox="1"/>
          <p:nvPr/>
        </p:nvSpPr>
        <p:spPr>
          <a:xfrm>
            <a:off x="4946904" y="1856232"/>
            <a:ext cx="2267712" cy="932688"/>
          </a:xfrm>
          <a:prstGeom prst="rect">
            <a:avLst/>
          </a:prstGeom>
          <a:noFill/>
        </p:spPr>
        <p:txBody>
          <a:bodyPr wrap="square">
            <a:normAutofit/>
          </a:bodyPr>
          <a:lstStyle/>
          <a:p>
            <a:pPr>
              <a:defRPr sz="1400">
                <a:solidFill>
                  <a:srgbClr val="475569"/>
                </a:solidFill>
              </a:defRPr>
            </a:pPr>
            <a:r>
              <a:t>Copies changes from the primary.</a:t>
            </a:r>
          </a:p>
        </p:txBody>
      </p:sp>
      <p:sp>
        <p:nvSpPr>
          <p:cNvPr id="10" name="Rounded Rectangle 9"/>
          <p:cNvSpPr/>
          <p:nvPr/>
        </p:nvSpPr>
        <p:spPr>
          <a:xfrm>
            <a:off x="4800600" y="3337560"/>
            <a:ext cx="2560320" cy="1463040"/>
          </a:xfrm>
          <a:prstGeom prst="roundRect">
            <a:avLst/>
          </a:prstGeom>
          <a:solidFill>
            <a:srgbClr val="FFFFFF"/>
          </a:solidFill>
          <a:ln w="2032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46904" y="3447288"/>
            <a:ext cx="2267712" cy="274320"/>
          </a:xfrm>
          <a:prstGeom prst="rect">
            <a:avLst/>
          </a:prstGeom>
          <a:noFill/>
        </p:spPr>
        <p:txBody>
          <a:bodyPr wrap="square">
            <a:spAutoFit/>
          </a:bodyPr>
          <a:lstStyle/>
          <a:p>
            <a:pPr algn="l">
              <a:defRPr sz="1900" b="1">
                <a:solidFill>
                  <a:srgbClr val="2563EB"/>
                </a:solidFill>
                <a:latin typeface="Aptos"/>
              </a:defRPr>
            </a:pPr>
            <a:r>
              <a:t>Secondary</a:t>
            </a:r>
          </a:p>
        </p:txBody>
      </p:sp>
      <p:sp>
        <p:nvSpPr>
          <p:cNvPr id="12" name="TextBox 11"/>
          <p:cNvSpPr txBox="1"/>
          <p:nvPr/>
        </p:nvSpPr>
        <p:spPr>
          <a:xfrm>
            <a:off x="4946904" y="3776472"/>
            <a:ext cx="2267712" cy="932688"/>
          </a:xfrm>
          <a:prstGeom prst="rect">
            <a:avLst/>
          </a:prstGeom>
          <a:noFill/>
        </p:spPr>
        <p:txBody>
          <a:bodyPr wrap="square">
            <a:normAutofit/>
          </a:bodyPr>
          <a:lstStyle/>
          <a:p>
            <a:pPr>
              <a:defRPr sz="1400">
                <a:solidFill>
                  <a:srgbClr val="475569"/>
                </a:solidFill>
              </a:defRPr>
            </a:pPr>
            <a:r>
              <a:t>Can become primary after election if eligible.</a:t>
            </a:r>
          </a:p>
        </p:txBody>
      </p:sp>
      <p:sp>
        <p:nvSpPr>
          <p:cNvPr id="13" name="Rounded Rectangle 12"/>
          <p:cNvSpPr/>
          <p:nvPr/>
        </p:nvSpPr>
        <p:spPr>
          <a:xfrm>
            <a:off x="8823960" y="1828800"/>
            <a:ext cx="2560320" cy="1828800"/>
          </a:xfrm>
          <a:prstGeom prst="roundRect">
            <a:avLst/>
          </a:prstGeom>
          <a:solidFill>
            <a:srgbClr val="FFFFFF"/>
          </a:solidFill>
          <a:ln w="2032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970264" y="1938528"/>
            <a:ext cx="2267712" cy="274320"/>
          </a:xfrm>
          <a:prstGeom prst="rect">
            <a:avLst/>
          </a:prstGeom>
          <a:noFill/>
        </p:spPr>
        <p:txBody>
          <a:bodyPr wrap="square">
            <a:spAutoFit/>
          </a:bodyPr>
          <a:lstStyle/>
          <a:p>
            <a:pPr algn="l">
              <a:defRPr sz="1900" b="1">
                <a:solidFill>
                  <a:srgbClr val="EA580C"/>
                </a:solidFill>
                <a:latin typeface="Aptos"/>
              </a:defRPr>
            </a:pPr>
            <a:r>
              <a:t>Application</a:t>
            </a:r>
          </a:p>
        </p:txBody>
      </p:sp>
      <p:sp>
        <p:nvSpPr>
          <p:cNvPr id="15" name="TextBox 14"/>
          <p:cNvSpPr txBox="1"/>
          <p:nvPr/>
        </p:nvSpPr>
        <p:spPr>
          <a:xfrm>
            <a:off x="8970264" y="2267712"/>
            <a:ext cx="2267712" cy="1298448"/>
          </a:xfrm>
          <a:prstGeom prst="rect">
            <a:avLst/>
          </a:prstGeom>
          <a:noFill/>
        </p:spPr>
        <p:txBody>
          <a:bodyPr wrap="square">
            <a:normAutofit/>
          </a:bodyPr>
          <a:lstStyle/>
          <a:p>
            <a:pPr>
              <a:defRPr sz="1400">
                <a:solidFill>
                  <a:srgbClr val="475569"/>
                </a:solidFill>
              </a:defRPr>
            </a:pPr>
            <a:r>
              <a:t>Reads and writes through driver or service connection settings.</a:t>
            </a:r>
          </a:p>
        </p:txBody>
      </p:sp>
      <p:cxnSp>
        <p:nvCxnSpPr>
          <p:cNvPr id="16" name="Connector 15"/>
          <p:cNvCxnSpPr/>
          <p:nvPr/>
        </p:nvCxnSpPr>
        <p:spPr>
          <a:xfrm flipV="1">
            <a:off x="3401568" y="2148840"/>
            <a:ext cx="1307592" cy="594360"/>
          </a:xfrm>
          <a:prstGeom prst="line">
            <a:avLst/>
          </a:prstGeom>
          <a:ln w="2540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401568" y="2743200"/>
            <a:ext cx="1307592" cy="1234439"/>
          </a:xfrm>
          <a:prstGeom prst="line">
            <a:avLst/>
          </a:prstGeom>
          <a:ln w="25400">
            <a:solidFill>
              <a:srgbClr val="64748B"/>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7406640" y="2743200"/>
            <a:ext cx="1371600" cy="0"/>
          </a:xfrm>
          <a:prstGeom prst="line">
            <a:avLst/>
          </a:prstGeom>
          <a:ln w="25400">
            <a:solidFill>
              <a:srgbClr val="64748B"/>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14400" y="5166360"/>
            <a:ext cx="10058400" cy="411480"/>
          </a:xfrm>
          <a:prstGeom prst="rect">
            <a:avLst/>
          </a:prstGeom>
          <a:noFill/>
        </p:spPr>
        <p:txBody>
          <a:bodyPr wrap="square">
            <a:spAutoFit/>
          </a:bodyPr>
          <a:lstStyle/>
          <a:p>
            <a:pPr algn="ctr">
              <a:defRPr sz="2000" b="1">
                <a:solidFill>
                  <a:srgbClr val="0F172A"/>
                </a:solidFill>
                <a:latin typeface="Aptos"/>
              </a:defRPr>
            </a:pPr>
            <a:r>
              <a:t>Key idea: replication improves resilience, but replicas may lag behind the primary.</a:t>
            </a:r>
          </a:p>
        </p:txBody>
      </p:sp>
      <p:cxnSp>
        <p:nvCxnSpPr>
          <p:cNvPr id="20" name="Connector 19"/>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94360" y="6419088"/>
            <a:ext cx="2560320" cy="182880"/>
          </a:xfrm>
          <a:prstGeom prst="rect">
            <a:avLst/>
          </a:prstGeom>
          <a:noFill/>
        </p:spPr>
        <p:txBody>
          <a:bodyPr wrap="square">
            <a:spAutoFit/>
          </a:bodyPr>
          <a:lstStyle/>
          <a:p>
            <a:pPr algn="l">
              <a:defRPr sz="900" b="0">
                <a:solidFill>
                  <a:srgbClr val="64748B"/>
                </a:solidFill>
                <a:latin typeface="Aptos"/>
              </a:defRPr>
            </a:pPr>
            <a:r>
              <a:t>CST4714 | Week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20040"/>
            <a:ext cx="10972800" cy="640080"/>
          </a:xfrm>
          <a:prstGeom prst="rect">
            <a:avLst/>
          </a:prstGeom>
          <a:noFill/>
        </p:spPr>
        <p:txBody>
          <a:bodyPr wrap="square">
            <a:spAutoFit/>
          </a:bodyPr>
          <a:lstStyle/>
          <a:p>
            <a:pPr algn="l">
              <a:defRPr sz="2700" b="1">
                <a:solidFill>
                  <a:srgbClr val="0F172A"/>
                </a:solidFill>
                <a:latin typeface="Aptos"/>
              </a:defRPr>
            </a:pPr>
            <a:r>
              <a:t>Read Preference</a:t>
            </a:r>
          </a:p>
        </p:txBody>
      </p:sp>
      <p:sp>
        <p:nvSpPr>
          <p:cNvPr id="3" name="TextBox 2"/>
          <p:cNvSpPr txBox="1"/>
          <p:nvPr/>
        </p:nvSpPr>
        <p:spPr>
          <a:xfrm>
            <a:off x="585216" y="896112"/>
            <a:ext cx="10789920" cy="320040"/>
          </a:xfrm>
          <a:prstGeom prst="rect">
            <a:avLst/>
          </a:prstGeom>
          <a:noFill/>
        </p:spPr>
        <p:txBody>
          <a:bodyPr wrap="square">
            <a:spAutoFit/>
          </a:bodyPr>
          <a:lstStyle/>
          <a:p>
            <a:pPr algn="l">
              <a:defRPr sz="1350" b="0">
                <a:solidFill>
                  <a:srgbClr val="64748B"/>
                </a:solidFill>
                <a:latin typeface="Aptos"/>
              </a:defRPr>
            </a:pPr>
            <a:r>
              <a:t>Where should read operations go?</a:t>
            </a:r>
          </a:p>
        </p:txBody>
      </p:sp>
      <p:sp>
        <p:nvSpPr>
          <p:cNvPr id="4" name="Rounded Rectangle 3"/>
          <p:cNvSpPr/>
          <p:nvPr/>
        </p:nvSpPr>
        <p:spPr>
          <a:xfrm>
            <a:off x="777240" y="1737360"/>
            <a:ext cx="3246120" cy="1965960"/>
          </a:xfrm>
          <a:prstGeom prst="roundRect">
            <a:avLst/>
          </a:prstGeom>
          <a:solidFill>
            <a:srgbClr val="FFFFFF"/>
          </a:solidFill>
          <a:ln w="2032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23544" y="1847088"/>
            <a:ext cx="2953512" cy="274320"/>
          </a:xfrm>
          <a:prstGeom prst="rect">
            <a:avLst/>
          </a:prstGeom>
          <a:noFill/>
        </p:spPr>
        <p:txBody>
          <a:bodyPr wrap="square">
            <a:spAutoFit/>
          </a:bodyPr>
          <a:lstStyle/>
          <a:p>
            <a:pPr algn="l">
              <a:defRPr sz="2000" b="1">
                <a:solidFill>
                  <a:srgbClr val="16A34A"/>
                </a:solidFill>
                <a:latin typeface="Aptos"/>
              </a:defRPr>
            </a:pPr>
            <a:r>
              <a:t>primary</a:t>
            </a:r>
          </a:p>
        </p:txBody>
      </p:sp>
      <p:sp>
        <p:nvSpPr>
          <p:cNvPr id="6" name="TextBox 5"/>
          <p:cNvSpPr txBox="1"/>
          <p:nvPr/>
        </p:nvSpPr>
        <p:spPr>
          <a:xfrm>
            <a:off x="923544" y="2176272"/>
            <a:ext cx="2953512" cy="1435608"/>
          </a:xfrm>
          <a:prstGeom prst="rect">
            <a:avLst/>
          </a:prstGeom>
          <a:noFill/>
        </p:spPr>
        <p:txBody>
          <a:bodyPr wrap="square">
            <a:normAutofit/>
          </a:bodyPr>
          <a:lstStyle/>
          <a:p>
            <a:pPr>
              <a:defRPr sz="1500">
                <a:solidFill>
                  <a:srgbClr val="475569"/>
                </a:solidFill>
              </a:defRPr>
            </a:pPr>
            <a:r>
              <a:t>Default MongoDB behavior: read from the primary.</a:t>
            </a:r>
          </a:p>
        </p:txBody>
      </p:sp>
      <p:sp>
        <p:nvSpPr>
          <p:cNvPr id="7" name="Rounded Rectangle 6"/>
          <p:cNvSpPr/>
          <p:nvPr/>
        </p:nvSpPr>
        <p:spPr>
          <a:xfrm>
            <a:off x="4526279" y="1737360"/>
            <a:ext cx="3246120" cy="1965960"/>
          </a:xfrm>
          <a:prstGeom prst="roundRect">
            <a:avLst/>
          </a:prstGeom>
          <a:solidFill>
            <a:srgbClr val="FFFFFF"/>
          </a:solidFill>
          <a:ln w="2032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72583" y="1847088"/>
            <a:ext cx="2953512" cy="274320"/>
          </a:xfrm>
          <a:prstGeom prst="rect">
            <a:avLst/>
          </a:prstGeom>
          <a:noFill/>
        </p:spPr>
        <p:txBody>
          <a:bodyPr wrap="square">
            <a:spAutoFit/>
          </a:bodyPr>
          <a:lstStyle/>
          <a:p>
            <a:pPr algn="l">
              <a:defRPr sz="2000" b="1">
                <a:solidFill>
                  <a:srgbClr val="2563EB"/>
                </a:solidFill>
                <a:latin typeface="Aptos"/>
              </a:defRPr>
            </a:pPr>
            <a:r>
              <a:t>secondary</a:t>
            </a:r>
          </a:p>
        </p:txBody>
      </p:sp>
      <p:sp>
        <p:nvSpPr>
          <p:cNvPr id="9" name="TextBox 8"/>
          <p:cNvSpPr txBox="1"/>
          <p:nvPr/>
        </p:nvSpPr>
        <p:spPr>
          <a:xfrm>
            <a:off x="4672583" y="2176272"/>
            <a:ext cx="2953512" cy="1435608"/>
          </a:xfrm>
          <a:prstGeom prst="rect">
            <a:avLst/>
          </a:prstGeom>
          <a:noFill/>
        </p:spPr>
        <p:txBody>
          <a:bodyPr wrap="square">
            <a:normAutofit/>
          </a:bodyPr>
          <a:lstStyle/>
          <a:p>
            <a:pPr>
              <a:defRPr sz="1500">
                <a:solidFill>
                  <a:srgbClr val="475569"/>
                </a:solidFill>
              </a:defRPr>
            </a:pPr>
            <a:r>
              <a:t>Read from secondary members; useful for some workloads but may be stale.</a:t>
            </a:r>
          </a:p>
        </p:txBody>
      </p:sp>
      <p:sp>
        <p:nvSpPr>
          <p:cNvPr id="10" name="Rounded Rectangle 9"/>
          <p:cNvSpPr/>
          <p:nvPr/>
        </p:nvSpPr>
        <p:spPr>
          <a:xfrm>
            <a:off x="8275319" y="1737360"/>
            <a:ext cx="3246120" cy="1965960"/>
          </a:xfrm>
          <a:prstGeom prst="roundRect">
            <a:avLst/>
          </a:prstGeom>
          <a:solidFill>
            <a:srgbClr val="FFFFFF"/>
          </a:solidFill>
          <a:ln w="20320">
            <a:solidFill>
              <a:srgbClr val="CA8A0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21623" y="1847088"/>
            <a:ext cx="2953512" cy="274320"/>
          </a:xfrm>
          <a:prstGeom prst="rect">
            <a:avLst/>
          </a:prstGeom>
          <a:noFill/>
        </p:spPr>
        <p:txBody>
          <a:bodyPr wrap="square">
            <a:spAutoFit/>
          </a:bodyPr>
          <a:lstStyle/>
          <a:p>
            <a:pPr algn="l">
              <a:defRPr sz="2000" b="1">
                <a:solidFill>
                  <a:srgbClr val="CA8A04"/>
                </a:solidFill>
                <a:latin typeface="Aptos"/>
              </a:defRPr>
            </a:pPr>
            <a:r>
              <a:t>nearest</a:t>
            </a:r>
          </a:p>
        </p:txBody>
      </p:sp>
      <p:sp>
        <p:nvSpPr>
          <p:cNvPr id="12" name="TextBox 11"/>
          <p:cNvSpPr txBox="1"/>
          <p:nvPr/>
        </p:nvSpPr>
        <p:spPr>
          <a:xfrm>
            <a:off x="8421623" y="2176272"/>
            <a:ext cx="2953512" cy="1435608"/>
          </a:xfrm>
          <a:prstGeom prst="rect">
            <a:avLst/>
          </a:prstGeom>
          <a:noFill/>
        </p:spPr>
        <p:txBody>
          <a:bodyPr wrap="square">
            <a:normAutofit/>
          </a:bodyPr>
          <a:lstStyle/>
          <a:p>
            <a:pPr>
              <a:defRPr sz="1500">
                <a:solidFill>
                  <a:srgbClr val="475569"/>
                </a:solidFill>
              </a:defRPr>
            </a:pPr>
            <a:r>
              <a:t>Prefer low-latency members based on topology and driver rules.</a:t>
            </a:r>
          </a:p>
        </p:txBody>
      </p:sp>
      <p:sp>
        <p:nvSpPr>
          <p:cNvPr id="13" name="Rounded Rectangle 12"/>
          <p:cNvSpPr/>
          <p:nvPr/>
        </p:nvSpPr>
        <p:spPr>
          <a:xfrm>
            <a:off x="1005840" y="4160520"/>
            <a:ext cx="10012680" cy="1417320"/>
          </a:xfrm>
          <a:prstGeom prst="roundRect">
            <a:avLst/>
          </a:prstGeom>
          <a:solidFill>
            <a:srgbClr val="FFFFFF"/>
          </a:solidFill>
          <a:ln w="1778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52144" y="4270248"/>
            <a:ext cx="9720072" cy="256032"/>
          </a:xfrm>
          <a:prstGeom prst="rect">
            <a:avLst/>
          </a:prstGeom>
          <a:noFill/>
        </p:spPr>
        <p:txBody>
          <a:bodyPr wrap="square">
            <a:spAutoFit/>
          </a:bodyPr>
          <a:lstStyle/>
          <a:p>
            <a:pPr algn="l">
              <a:defRPr sz="1700" b="1">
                <a:solidFill>
                  <a:srgbClr val="EA580C"/>
                </a:solidFill>
                <a:latin typeface="Aptos"/>
              </a:defRPr>
            </a:pPr>
            <a:r>
              <a:t>Plain-language tradeoff</a:t>
            </a:r>
          </a:p>
        </p:txBody>
      </p:sp>
      <p:sp>
        <p:nvSpPr>
          <p:cNvPr id="15" name="TextBox 14"/>
          <p:cNvSpPr txBox="1"/>
          <p:nvPr/>
        </p:nvSpPr>
        <p:spPr>
          <a:xfrm>
            <a:off x="1170432" y="4599432"/>
            <a:ext cx="9683496" cy="886968"/>
          </a:xfrm>
          <a:prstGeom prst="rect">
            <a:avLst/>
          </a:prstGeom>
          <a:noFill/>
        </p:spPr>
        <p:txBody>
          <a:bodyPr wrap="square">
            <a:normAutofit/>
          </a:bodyPr>
          <a:lstStyle/>
          <a:p>
            <a:pPr>
              <a:defRPr sz="1500">
                <a:solidFill>
                  <a:srgbClr val="475569"/>
                </a:solidFill>
              </a:defRPr>
            </a:pPr>
            <a:r>
              <a:t>Reading from replicas can reduce load or latency, but asynchronous replication means the answer may not reflect the newest primary state.</a:t>
            </a:r>
          </a:p>
        </p:txBody>
      </p:sp>
      <p:cxnSp>
        <p:nvCxnSpPr>
          <p:cNvPr id="16" name="Connector 15"/>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94360" y="6419088"/>
            <a:ext cx="2560320" cy="182880"/>
          </a:xfrm>
          <a:prstGeom prst="rect">
            <a:avLst/>
          </a:prstGeom>
          <a:noFill/>
        </p:spPr>
        <p:txBody>
          <a:bodyPr wrap="square">
            <a:spAutoFit/>
          </a:bodyPr>
          <a:lstStyle/>
          <a:p>
            <a:pPr algn="l">
              <a:defRPr sz="900" b="0">
                <a:solidFill>
                  <a:srgbClr val="64748B"/>
                </a:solidFill>
                <a:latin typeface="Aptos"/>
              </a:defRPr>
            </a:pPr>
            <a:r>
              <a:t>CST4714 | Week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20040"/>
            <a:ext cx="10972800" cy="640080"/>
          </a:xfrm>
          <a:prstGeom prst="rect">
            <a:avLst/>
          </a:prstGeom>
          <a:noFill/>
        </p:spPr>
        <p:txBody>
          <a:bodyPr wrap="square">
            <a:spAutoFit/>
          </a:bodyPr>
          <a:lstStyle/>
          <a:p>
            <a:pPr algn="l">
              <a:defRPr sz="2700" b="1">
                <a:solidFill>
                  <a:srgbClr val="0F172A"/>
                </a:solidFill>
                <a:latin typeface="Aptos"/>
              </a:defRPr>
            </a:pPr>
            <a:r>
              <a:t>Write Concern</a:t>
            </a:r>
          </a:p>
        </p:txBody>
      </p:sp>
      <p:sp>
        <p:nvSpPr>
          <p:cNvPr id="3" name="TextBox 2"/>
          <p:cNvSpPr txBox="1"/>
          <p:nvPr/>
        </p:nvSpPr>
        <p:spPr>
          <a:xfrm>
            <a:off x="585216" y="896112"/>
            <a:ext cx="10789920" cy="320040"/>
          </a:xfrm>
          <a:prstGeom prst="rect">
            <a:avLst/>
          </a:prstGeom>
          <a:noFill/>
        </p:spPr>
        <p:txBody>
          <a:bodyPr wrap="square">
            <a:spAutoFit/>
          </a:bodyPr>
          <a:lstStyle/>
          <a:p>
            <a:pPr algn="l">
              <a:defRPr sz="1350" b="0">
                <a:solidFill>
                  <a:srgbClr val="64748B"/>
                </a:solidFill>
                <a:latin typeface="Aptos"/>
              </a:defRPr>
            </a:pPr>
            <a:r>
              <a:t>How much acknowledgement do we require before a write counts as accepted?</a:t>
            </a:r>
          </a:p>
        </p:txBody>
      </p:sp>
      <p:sp>
        <p:nvSpPr>
          <p:cNvPr id="4" name="Rounded Rectangle 3"/>
          <p:cNvSpPr/>
          <p:nvPr/>
        </p:nvSpPr>
        <p:spPr>
          <a:xfrm>
            <a:off x="731520" y="1600200"/>
            <a:ext cx="3429000" cy="1965960"/>
          </a:xfrm>
          <a:prstGeom prst="roundRect">
            <a:avLst/>
          </a:prstGeom>
          <a:solidFill>
            <a:srgbClr val="FFFFFF"/>
          </a:solidFill>
          <a:ln w="2032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 y="1709928"/>
            <a:ext cx="3136392" cy="274320"/>
          </a:xfrm>
          <a:prstGeom prst="rect">
            <a:avLst/>
          </a:prstGeom>
          <a:noFill/>
        </p:spPr>
        <p:txBody>
          <a:bodyPr wrap="square">
            <a:spAutoFit/>
          </a:bodyPr>
          <a:lstStyle/>
          <a:p>
            <a:pPr algn="l">
              <a:defRPr sz="2000" b="1">
                <a:solidFill>
                  <a:srgbClr val="EA580C"/>
                </a:solidFill>
                <a:latin typeface="Aptos"/>
              </a:defRPr>
            </a:pPr>
            <a:r>
              <a:t>Lower concern</a:t>
            </a:r>
          </a:p>
        </p:txBody>
      </p:sp>
      <p:sp>
        <p:nvSpPr>
          <p:cNvPr id="6" name="TextBox 5"/>
          <p:cNvSpPr txBox="1"/>
          <p:nvPr/>
        </p:nvSpPr>
        <p:spPr>
          <a:xfrm>
            <a:off x="877824" y="2039112"/>
            <a:ext cx="3136392" cy="1435608"/>
          </a:xfrm>
          <a:prstGeom prst="rect">
            <a:avLst/>
          </a:prstGeom>
          <a:noFill/>
        </p:spPr>
        <p:txBody>
          <a:bodyPr wrap="square">
            <a:normAutofit/>
          </a:bodyPr>
          <a:lstStyle/>
          <a:p>
            <a:pPr>
              <a:defRPr sz="1500">
                <a:solidFill>
                  <a:srgbClr val="475569"/>
                </a:solidFill>
              </a:defRPr>
            </a:pPr>
            <a:r>
              <a:t>Can acknowledge faster, but may offer weaker durability across failures.</a:t>
            </a:r>
          </a:p>
        </p:txBody>
      </p:sp>
      <p:sp>
        <p:nvSpPr>
          <p:cNvPr id="7" name="Rounded Rectangle 6"/>
          <p:cNvSpPr/>
          <p:nvPr/>
        </p:nvSpPr>
        <p:spPr>
          <a:xfrm>
            <a:off x="4434840" y="1600200"/>
            <a:ext cx="3429000" cy="1965960"/>
          </a:xfrm>
          <a:prstGeom prst="roundRect">
            <a:avLst/>
          </a:prstGeom>
          <a:solidFill>
            <a:srgbClr val="FFFFFF"/>
          </a:solidFill>
          <a:ln w="2032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81144" y="1709928"/>
            <a:ext cx="3136392" cy="274320"/>
          </a:xfrm>
          <a:prstGeom prst="rect">
            <a:avLst/>
          </a:prstGeom>
          <a:noFill/>
        </p:spPr>
        <p:txBody>
          <a:bodyPr wrap="square">
            <a:spAutoFit/>
          </a:bodyPr>
          <a:lstStyle/>
          <a:p>
            <a:pPr algn="l">
              <a:defRPr sz="2000" b="1">
                <a:solidFill>
                  <a:srgbClr val="16A34A"/>
                </a:solidFill>
                <a:latin typeface="Aptos"/>
              </a:defRPr>
            </a:pPr>
            <a:r>
              <a:t>majority</a:t>
            </a:r>
          </a:p>
        </p:txBody>
      </p:sp>
      <p:sp>
        <p:nvSpPr>
          <p:cNvPr id="9" name="TextBox 8"/>
          <p:cNvSpPr txBox="1"/>
          <p:nvPr/>
        </p:nvSpPr>
        <p:spPr>
          <a:xfrm>
            <a:off x="4581144" y="2039112"/>
            <a:ext cx="3136392" cy="1435608"/>
          </a:xfrm>
          <a:prstGeom prst="rect">
            <a:avLst/>
          </a:prstGeom>
          <a:noFill/>
        </p:spPr>
        <p:txBody>
          <a:bodyPr wrap="square">
            <a:normAutofit/>
          </a:bodyPr>
          <a:lstStyle/>
          <a:p>
            <a:pPr>
              <a:defRPr sz="1500">
                <a:solidFill>
                  <a:srgbClr val="475569"/>
                </a:solidFill>
              </a:defRPr>
            </a:pPr>
            <a:r>
              <a:t>Requires acknowledgement from a majority of voting replica set members.</a:t>
            </a:r>
          </a:p>
        </p:txBody>
      </p:sp>
      <p:sp>
        <p:nvSpPr>
          <p:cNvPr id="10" name="Rounded Rectangle 9"/>
          <p:cNvSpPr/>
          <p:nvPr/>
        </p:nvSpPr>
        <p:spPr>
          <a:xfrm>
            <a:off x="8138160" y="1600200"/>
            <a:ext cx="3246120" cy="1965960"/>
          </a:xfrm>
          <a:prstGeom prst="roundRect">
            <a:avLst/>
          </a:prstGeom>
          <a:solidFill>
            <a:srgbClr val="FFFFFF"/>
          </a:solidFill>
          <a:ln w="2032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84464" y="1709928"/>
            <a:ext cx="2953512" cy="274320"/>
          </a:xfrm>
          <a:prstGeom prst="rect">
            <a:avLst/>
          </a:prstGeom>
          <a:noFill/>
        </p:spPr>
        <p:txBody>
          <a:bodyPr wrap="square">
            <a:spAutoFit/>
          </a:bodyPr>
          <a:lstStyle/>
          <a:p>
            <a:pPr algn="l">
              <a:defRPr sz="2000" b="1">
                <a:solidFill>
                  <a:srgbClr val="DC2626"/>
                </a:solidFill>
                <a:latin typeface="Aptos"/>
              </a:defRPr>
            </a:pPr>
            <a:r>
              <a:t>Timeouts</a:t>
            </a:r>
          </a:p>
        </p:txBody>
      </p:sp>
      <p:sp>
        <p:nvSpPr>
          <p:cNvPr id="12" name="TextBox 11"/>
          <p:cNvSpPr txBox="1"/>
          <p:nvPr/>
        </p:nvSpPr>
        <p:spPr>
          <a:xfrm>
            <a:off x="8284464" y="2039112"/>
            <a:ext cx="2953512" cy="1435608"/>
          </a:xfrm>
          <a:prstGeom prst="rect">
            <a:avLst/>
          </a:prstGeom>
          <a:noFill/>
        </p:spPr>
        <p:txBody>
          <a:bodyPr wrap="square">
            <a:normAutofit/>
          </a:bodyPr>
          <a:lstStyle/>
          <a:p>
            <a:pPr>
              <a:defRPr sz="1400">
                <a:solidFill>
                  <a:srgbClr val="475569"/>
                </a:solidFill>
              </a:defRPr>
            </a:pPr>
            <a:r>
              <a:t>A write can succeed locally but report concern errors if replication acknowledgement is delayed.</a:t>
            </a:r>
          </a:p>
        </p:txBody>
      </p:sp>
      <p:sp>
        <p:nvSpPr>
          <p:cNvPr id="13" name="TextBox 12"/>
          <p:cNvSpPr txBox="1"/>
          <p:nvPr/>
        </p:nvSpPr>
        <p:spPr>
          <a:xfrm>
            <a:off x="1005840" y="4251960"/>
            <a:ext cx="10058400" cy="685800"/>
          </a:xfrm>
          <a:prstGeom prst="rect">
            <a:avLst/>
          </a:prstGeom>
          <a:noFill/>
        </p:spPr>
        <p:txBody>
          <a:bodyPr wrap="square">
            <a:spAutoFit/>
          </a:bodyPr>
          <a:lstStyle/>
          <a:p>
            <a:pPr algn="ctr">
              <a:defRPr sz="2000" b="1">
                <a:solidFill>
                  <a:srgbClr val="0F172A"/>
                </a:solidFill>
                <a:latin typeface="Aptos"/>
              </a:defRPr>
            </a:pPr>
            <a:r>
              <a:t>Write concern is a durability and acknowledgement choice, not just a performance setting.</a:t>
            </a:r>
          </a:p>
        </p:txBody>
      </p:sp>
      <p:cxnSp>
        <p:nvCxnSpPr>
          <p:cNvPr id="14" name="Connector 13"/>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94360" y="6419088"/>
            <a:ext cx="2560320" cy="182880"/>
          </a:xfrm>
          <a:prstGeom prst="rect">
            <a:avLst/>
          </a:prstGeom>
          <a:noFill/>
        </p:spPr>
        <p:txBody>
          <a:bodyPr wrap="square">
            <a:spAutoFit/>
          </a:bodyPr>
          <a:lstStyle/>
          <a:p>
            <a:pPr algn="l">
              <a:defRPr sz="900" b="0">
                <a:solidFill>
                  <a:srgbClr val="64748B"/>
                </a:solidFill>
                <a:latin typeface="Aptos"/>
              </a:defRPr>
            </a:pPr>
            <a:r>
              <a:t>CST4714 | Week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20040"/>
            <a:ext cx="10972800" cy="640080"/>
          </a:xfrm>
          <a:prstGeom prst="rect">
            <a:avLst/>
          </a:prstGeom>
          <a:noFill/>
        </p:spPr>
        <p:txBody>
          <a:bodyPr wrap="square">
            <a:spAutoFit/>
          </a:bodyPr>
          <a:lstStyle/>
          <a:p>
            <a:pPr algn="l">
              <a:defRPr sz="2700" b="1">
                <a:solidFill>
                  <a:srgbClr val="0F172A"/>
                </a:solidFill>
                <a:latin typeface="Aptos"/>
              </a:defRPr>
            </a:pPr>
            <a:r>
              <a:t>Replication Lag and Failover</a:t>
            </a:r>
          </a:p>
        </p:txBody>
      </p:sp>
      <p:sp>
        <p:nvSpPr>
          <p:cNvPr id="3" name="TextBox 2"/>
          <p:cNvSpPr txBox="1"/>
          <p:nvPr/>
        </p:nvSpPr>
        <p:spPr>
          <a:xfrm>
            <a:off x="585216" y="896112"/>
            <a:ext cx="10789920" cy="320040"/>
          </a:xfrm>
          <a:prstGeom prst="rect">
            <a:avLst/>
          </a:prstGeom>
          <a:noFill/>
        </p:spPr>
        <p:txBody>
          <a:bodyPr wrap="square">
            <a:spAutoFit/>
          </a:bodyPr>
          <a:lstStyle/>
          <a:p>
            <a:pPr algn="l">
              <a:defRPr sz="1350" b="0">
                <a:solidFill>
                  <a:srgbClr val="64748B"/>
                </a:solidFill>
                <a:latin typeface="Aptos"/>
              </a:defRPr>
            </a:pPr>
            <a:r>
              <a:t>The two reliability behaviors students should be able to describe</a:t>
            </a:r>
          </a:p>
        </p:txBody>
      </p:sp>
      <p:sp>
        <p:nvSpPr>
          <p:cNvPr id="4" name="Rounded Rectangle 3"/>
          <p:cNvSpPr/>
          <p:nvPr/>
        </p:nvSpPr>
        <p:spPr>
          <a:xfrm>
            <a:off x="777240" y="1554480"/>
            <a:ext cx="5029200" cy="2834640"/>
          </a:xfrm>
          <a:prstGeom prst="roundRect">
            <a:avLst/>
          </a:prstGeom>
          <a:solidFill>
            <a:srgbClr val="FFFFFF"/>
          </a:solidFill>
          <a:ln w="177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23544" y="1664208"/>
            <a:ext cx="4736592" cy="256032"/>
          </a:xfrm>
          <a:prstGeom prst="rect">
            <a:avLst/>
          </a:prstGeom>
          <a:noFill/>
        </p:spPr>
        <p:txBody>
          <a:bodyPr wrap="square">
            <a:spAutoFit/>
          </a:bodyPr>
          <a:lstStyle/>
          <a:p>
            <a:pPr algn="l">
              <a:defRPr sz="1700" b="1">
                <a:solidFill>
                  <a:srgbClr val="2563EB"/>
                </a:solidFill>
                <a:latin typeface="Aptos"/>
              </a:defRPr>
            </a:pPr>
            <a:r>
              <a:t>Replication Lag</a:t>
            </a:r>
          </a:p>
        </p:txBody>
      </p:sp>
      <p:sp>
        <p:nvSpPr>
          <p:cNvPr id="6" name="TextBox 5"/>
          <p:cNvSpPr txBox="1"/>
          <p:nvPr/>
        </p:nvSpPr>
        <p:spPr>
          <a:xfrm>
            <a:off x="941832" y="1993392"/>
            <a:ext cx="4700016" cy="2304288"/>
          </a:xfrm>
          <a:prstGeom prst="rect">
            <a:avLst/>
          </a:prstGeom>
          <a:noFill/>
        </p:spPr>
        <p:txBody>
          <a:bodyPr wrap="square">
            <a:normAutofit/>
          </a:bodyPr>
          <a:lstStyle/>
          <a:p>
            <a:pPr>
              <a:defRPr sz="1450">
                <a:solidFill>
                  <a:srgbClr val="475569"/>
                </a:solidFill>
              </a:defRPr>
            </a:pPr>
            <a:r>
              <a:t>Delay between a write on the primary and application of that change on a secondary.</a:t>
            </a:r>
          </a:p>
          <a:p>
            <a:pPr>
              <a:defRPr sz="1450">
                <a:solidFill>
                  <a:srgbClr val="475569"/>
                </a:solidFill>
              </a:defRPr>
            </a:pPr>
            <a:r>
              <a:t>Small lag may be acceptable.</a:t>
            </a:r>
          </a:p>
          <a:p>
            <a:pPr>
              <a:defRPr sz="1450">
                <a:solidFill>
                  <a:srgbClr val="475569"/>
                </a:solidFill>
              </a:defRPr>
            </a:pPr>
            <a:r>
              <a:t>Large lag can affect stale reads and recovery behavior.</a:t>
            </a:r>
          </a:p>
        </p:txBody>
      </p:sp>
      <p:sp>
        <p:nvSpPr>
          <p:cNvPr id="7" name="Rounded Rectangle 6"/>
          <p:cNvSpPr/>
          <p:nvPr/>
        </p:nvSpPr>
        <p:spPr>
          <a:xfrm>
            <a:off x="6263640" y="1554480"/>
            <a:ext cx="5029200" cy="2834640"/>
          </a:xfrm>
          <a:prstGeom prst="roundRect">
            <a:avLst/>
          </a:prstGeom>
          <a:solidFill>
            <a:srgbClr val="FFFFFF"/>
          </a:solidFill>
          <a:ln w="1778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9944" y="1664208"/>
            <a:ext cx="4736592" cy="256032"/>
          </a:xfrm>
          <a:prstGeom prst="rect">
            <a:avLst/>
          </a:prstGeom>
          <a:noFill/>
        </p:spPr>
        <p:txBody>
          <a:bodyPr wrap="square">
            <a:spAutoFit/>
          </a:bodyPr>
          <a:lstStyle/>
          <a:p>
            <a:pPr algn="l">
              <a:defRPr sz="1700" b="1">
                <a:solidFill>
                  <a:srgbClr val="EA580C"/>
                </a:solidFill>
                <a:latin typeface="Aptos"/>
              </a:defRPr>
            </a:pPr>
            <a:r>
              <a:t>Failover</a:t>
            </a:r>
          </a:p>
        </p:txBody>
      </p:sp>
      <p:sp>
        <p:nvSpPr>
          <p:cNvPr id="9" name="TextBox 8"/>
          <p:cNvSpPr txBox="1"/>
          <p:nvPr/>
        </p:nvSpPr>
        <p:spPr>
          <a:xfrm>
            <a:off x="6428232" y="1993392"/>
            <a:ext cx="4700016" cy="2304288"/>
          </a:xfrm>
          <a:prstGeom prst="rect">
            <a:avLst/>
          </a:prstGeom>
          <a:noFill/>
        </p:spPr>
        <p:txBody>
          <a:bodyPr wrap="square">
            <a:normAutofit/>
          </a:bodyPr>
          <a:lstStyle/>
          <a:p>
            <a:pPr>
              <a:defRPr sz="1450">
                <a:solidFill>
                  <a:srgbClr val="475569"/>
                </a:solidFill>
              </a:defRPr>
            </a:pPr>
            <a:r>
              <a:t>If the primary is unavailable, an election can choose a new primary.</a:t>
            </a:r>
          </a:p>
          <a:p>
            <a:pPr>
              <a:defRPr sz="1450">
                <a:solidFill>
                  <a:srgbClr val="475569"/>
                </a:solidFill>
              </a:defRPr>
            </a:pPr>
            <a:r>
              <a:t>Writes pause until election completes.</a:t>
            </a:r>
          </a:p>
          <a:p>
            <a:pPr>
              <a:defRPr sz="1450">
                <a:solidFill>
                  <a:srgbClr val="475569"/>
                </a:solidFill>
              </a:defRPr>
            </a:pPr>
            <a:r>
              <a:t>Applications should tolerate brief disruption.</a:t>
            </a:r>
          </a:p>
        </p:txBody>
      </p:sp>
      <p:sp>
        <p:nvSpPr>
          <p:cNvPr id="10" name="TextBox 9"/>
          <p:cNvSpPr txBox="1"/>
          <p:nvPr/>
        </p:nvSpPr>
        <p:spPr>
          <a:xfrm>
            <a:off x="914400" y="5074920"/>
            <a:ext cx="10058400" cy="411480"/>
          </a:xfrm>
          <a:prstGeom prst="rect">
            <a:avLst/>
          </a:prstGeom>
          <a:noFill/>
        </p:spPr>
        <p:txBody>
          <a:bodyPr wrap="square">
            <a:spAutoFit/>
          </a:bodyPr>
          <a:lstStyle/>
          <a:p>
            <a:pPr algn="ctr">
              <a:defRPr sz="2000" b="1">
                <a:solidFill>
                  <a:srgbClr val="0F172A"/>
                </a:solidFill>
                <a:latin typeface="Aptos"/>
              </a:defRPr>
            </a:pPr>
            <a:r>
              <a:t>Reliability means planning for delay and interruption, not pretending they never happen.</a:t>
            </a:r>
          </a:p>
        </p:txBody>
      </p:sp>
      <p:cxnSp>
        <p:nvCxnSpPr>
          <p:cNvPr id="11" name="Connector 10"/>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94360" y="6419088"/>
            <a:ext cx="2560320" cy="182880"/>
          </a:xfrm>
          <a:prstGeom prst="rect">
            <a:avLst/>
          </a:prstGeom>
          <a:noFill/>
        </p:spPr>
        <p:txBody>
          <a:bodyPr wrap="square">
            <a:spAutoFit/>
          </a:bodyPr>
          <a:lstStyle/>
          <a:p>
            <a:pPr algn="l">
              <a:defRPr sz="900" b="0">
                <a:solidFill>
                  <a:srgbClr val="64748B"/>
                </a:solidFill>
                <a:latin typeface="Aptos"/>
              </a:defRPr>
            </a:pPr>
            <a:r>
              <a:t>CST4714 | Week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20040"/>
            <a:ext cx="10972800" cy="640080"/>
          </a:xfrm>
          <a:prstGeom prst="rect">
            <a:avLst/>
          </a:prstGeom>
          <a:noFill/>
        </p:spPr>
        <p:txBody>
          <a:bodyPr wrap="square">
            <a:spAutoFit/>
          </a:bodyPr>
          <a:lstStyle/>
          <a:p>
            <a:pPr algn="l">
              <a:defRPr sz="2700" b="1">
                <a:solidFill>
                  <a:srgbClr val="0F172A"/>
                </a:solidFill>
                <a:latin typeface="Aptos"/>
              </a:defRPr>
            </a:pPr>
            <a:r>
              <a:t>Backup Is Not Restore</a:t>
            </a:r>
          </a:p>
        </p:txBody>
      </p:sp>
      <p:sp>
        <p:nvSpPr>
          <p:cNvPr id="3" name="TextBox 2"/>
          <p:cNvSpPr txBox="1"/>
          <p:nvPr/>
        </p:nvSpPr>
        <p:spPr>
          <a:xfrm>
            <a:off x="585216" y="896112"/>
            <a:ext cx="10789920" cy="320040"/>
          </a:xfrm>
          <a:prstGeom prst="rect">
            <a:avLst/>
          </a:prstGeom>
          <a:noFill/>
        </p:spPr>
        <p:txBody>
          <a:bodyPr wrap="square">
            <a:spAutoFit/>
          </a:bodyPr>
          <a:lstStyle/>
          <a:p>
            <a:pPr algn="l">
              <a:defRPr sz="1350" b="0">
                <a:solidFill>
                  <a:srgbClr val="64748B"/>
                </a:solidFill>
                <a:latin typeface="Aptos"/>
              </a:defRPr>
            </a:pPr>
            <a:r>
              <a:t>A backup only matters if you can recover usable data from it</a:t>
            </a:r>
          </a:p>
        </p:txBody>
      </p:sp>
      <p:sp>
        <p:nvSpPr>
          <p:cNvPr id="4" name="Rounded Rectangle 3"/>
          <p:cNvSpPr/>
          <p:nvPr/>
        </p:nvSpPr>
        <p:spPr>
          <a:xfrm>
            <a:off x="731520" y="1645920"/>
            <a:ext cx="3200400" cy="1965960"/>
          </a:xfrm>
          <a:prstGeom prst="roundRect">
            <a:avLst/>
          </a:prstGeom>
          <a:solidFill>
            <a:srgbClr val="FFFFFF"/>
          </a:solidFill>
          <a:ln w="2032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 y="1755648"/>
            <a:ext cx="2907792" cy="274320"/>
          </a:xfrm>
          <a:prstGeom prst="rect">
            <a:avLst/>
          </a:prstGeom>
          <a:noFill/>
        </p:spPr>
        <p:txBody>
          <a:bodyPr wrap="square">
            <a:spAutoFit/>
          </a:bodyPr>
          <a:lstStyle/>
          <a:p>
            <a:pPr algn="l">
              <a:defRPr sz="2000" b="1">
                <a:solidFill>
                  <a:srgbClr val="2563EB"/>
                </a:solidFill>
                <a:latin typeface="Aptos"/>
              </a:defRPr>
            </a:pPr>
            <a:r>
              <a:t>Backup</a:t>
            </a:r>
          </a:p>
        </p:txBody>
      </p:sp>
      <p:sp>
        <p:nvSpPr>
          <p:cNvPr id="6" name="TextBox 5"/>
          <p:cNvSpPr txBox="1"/>
          <p:nvPr/>
        </p:nvSpPr>
        <p:spPr>
          <a:xfrm>
            <a:off x="877824" y="2084832"/>
            <a:ext cx="2907792" cy="1435608"/>
          </a:xfrm>
          <a:prstGeom prst="rect">
            <a:avLst/>
          </a:prstGeom>
          <a:noFill/>
        </p:spPr>
        <p:txBody>
          <a:bodyPr wrap="square">
            <a:normAutofit/>
          </a:bodyPr>
          <a:lstStyle/>
          <a:p>
            <a:pPr>
              <a:defRPr sz="1500">
                <a:solidFill>
                  <a:srgbClr val="475569"/>
                </a:solidFill>
              </a:defRPr>
            </a:pPr>
            <a:r>
              <a:t>A stored copy, snapshot, dump, or recovery point.</a:t>
            </a:r>
          </a:p>
        </p:txBody>
      </p:sp>
      <p:sp>
        <p:nvSpPr>
          <p:cNvPr id="7" name="Rounded Rectangle 6"/>
          <p:cNvSpPr/>
          <p:nvPr/>
        </p:nvSpPr>
        <p:spPr>
          <a:xfrm>
            <a:off x="4480560" y="1645920"/>
            <a:ext cx="3200400" cy="1965960"/>
          </a:xfrm>
          <a:prstGeom prst="roundRect">
            <a:avLst/>
          </a:prstGeom>
          <a:solidFill>
            <a:srgbClr val="FFFFFF"/>
          </a:solidFill>
          <a:ln w="2032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626864" y="1755648"/>
            <a:ext cx="2907792" cy="274320"/>
          </a:xfrm>
          <a:prstGeom prst="rect">
            <a:avLst/>
          </a:prstGeom>
          <a:noFill/>
        </p:spPr>
        <p:txBody>
          <a:bodyPr wrap="square">
            <a:spAutoFit/>
          </a:bodyPr>
          <a:lstStyle/>
          <a:p>
            <a:pPr algn="l">
              <a:defRPr sz="2000" b="1">
                <a:solidFill>
                  <a:srgbClr val="16A34A"/>
                </a:solidFill>
                <a:latin typeface="Aptos"/>
              </a:defRPr>
            </a:pPr>
            <a:r>
              <a:t>Restore</a:t>
            </a:r>
          </a:p>
        </p:txBody>
      </p:sp>
      <p:sp>
        <p:nvSpPr>
          <p:cNvPr id="9" name="TextBox 8"/>
          <p:cNvSpPr txBox="1"/>
          <p:nvPr/>
        </p:nvSpPr>
        <p:spPr>
          <a:xfrm>
            <a:off x="4626864" y="2084832"/>
            <a:ext cx="2907792" cy="1435608"/>
          </a:xfrm>
          <a:prstGeom prst="rect">
            <a:avLst/>
          </a:prstGeom>
          <a:noFill/>
        </p:spPr>
        <p:txBody>
          <a:bodyPr wrap="square">
            <a:normAutofit/>
          </a:bodyPr>
          <a:lstStyle/>
          <a:p>
            <a:pPr>
              <a:defRPr sz="1500">
                <a:solidFill>
                  <a:srgbClr val="475569"/>
                </a:solidFill>
              </a:defRPr>
            </a:pPr>
            <a:r>
              <a:t>The process of bringing data back into a usable system.</a:t>
            </a:r>
          </a:p>
        </p:txBody>
      </p:sp>
      <p:sp>
        <p:nvSpPr>
          <p:cNvPr id="10" name="Rounded Rectangle 9"/>
          <p:cNvSpPr/>
          <p:nvPr/>
        </p:nvSpPr>
        <p:spPr>
          <a:xfrm>
            <a:off x="8229600" y="1645920"/>
            <a:ext cx="3108960" cy="1965960"/>
          </a:xfrm>
          <a:prstGeom prst="roundRect">
            <a:avLst/>
          </a:prstGeom>
          <a:solidFill>
            <a:srgbClr val="FFFFFF"/>
          </a:solidFill>
          <a:ln w="20320">
            <a:solidFill>
              <a:srgbClr val="CA8A0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75904" y="1755648"/>
            <a:ext cx="2816352" cy="274320"/>
          </a:xfrm>
          <a:prstGeom prst="rect">
            <a:avLst/>
          </a:prstGeom>
          <a:noFill/>
        </p:spPr>
        <p:txBody>
          <a:bodyPr wrap="square">
            <a:spAutoFit/>
          </a:bodyPr>
          <a:lstStyle/>
          <a:p>
            <a:pPr algn="l">
              <a:defRPr sz="2000" b="1">
                <a:solidFill>
                  <a:srgbClr val="CA8A04"/>
                </a:solidFill>
                <a:latin typeface="Aptos"/>
              </a:defRPr>
            </a:pPr>
            <a:r>
              <a:t>Verification</a:t>
            </a:r>
          </a:p>
        </p:txBody>
      </p:sp>
      <p:sp>
        <p:nvSpPr>
          <p:cNvPr id="12" name="TextBox 11"/>
          <p:cNvSpPr txBox="1"/>
          <p:nvPr/>
        </p:nvSpPr>
        <p:spPr>
          <a:xfrm>
            <a:off x="8375904" y="2084832"/>
            <a:ext cx="2816352" cy="1435608"/>
          </a:xfrm>
          <a:prstGeom prst="rect">
            <a:avLst/>
          </a:prstGeom>
          <a:noFill/>
        </p:spPr>
        <p:txBody>
          <a:bodyPr wrap="square">
            <a:normAutofit/>
          </a:bodyPr>
          <a:lstStyle/>
          <a:p>
            <a:pPr>
              <a:defRPr sz="1500">
                <a:solidFill>
                  <a:srgbClr val="475569"/>
                </a:solidFill>
              </a:defRPr>
            </a:pPr>
            <a:r>
              <a:t>Checks proving the restored database actually works.</a:t>
            </a:r>
          </a:p>
        </p:txBody>
      </p:sp>
      <p:sp>
        <p:nvSpPr>
          <p:cNvPr id="13" name="Rounded Rectangle 12"/>
          <p:cNvSpPr/>
          <p:nvPr/>
        </p:nvSpPr>
        <p:spPr>
          <a:xfrm>
            <a:off x="1005840" y="4160520"/>
            <a:ext cx="10012680" cy="1234440"/>
          </a:xfrm>
          <a:prstGeom prst="roundRect">
            <a:avLst/>
          </a:prstGeom>
          <a:solidFill>
            <a:srgbClr val="FFFFFF"/>
          </a:solidFill>
          <a:ln w="1778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52144" y="4270248"/>
            <a:ext cx="9720072" cy="256032"/>
          </a:xfrm>
          <a:prstGeom prst="rect">
            <a:avLst/>
          </a:prstGeom>
          <a:noFill/>
        </p:spPr>
        <p:txBody>
          <a:bodyPr wrap="square">
            <a:spAutoFit/>
          </a:bodyPr>
          <a:lstStyle/>
          <a:p>
            <a:pPr algn="l">
              <a:defRPr sz="1700" b="1">
                <a:solidFill>
                  <a:srgbClr val="EA580C"/>
                </a:solidFill>
                <a:latin typeface="Aptos"/>
              </a:defRPr>
            </a:pPr>
            <a:r>
              <a:t>Restore-first mindset</a:t>
            </a:r>
          </a:p>
        </p:txBody>
      </p:sp>
      <p:sp>
        <p:nvSpPr>
          <p:cNvPr id="15" name="TextBox 14"/>
          <p:cNvSpPr txBox="1"/>
          <p:nvPr/>
        </p:nvSpPr>
        <p:spPr>
          <a:xfrm>
            <a:off x="1170432" y="4599432"/>
            <a:ext cx="9683496" cy="704088"/>
          </a:xfrm>
          <a:prstGeom prst="rect">
            <a:avLst/>
          </a:prstGeom>
          <a:noFill/>
        </p:spPr>
        <p:txBody>
          <a:bodyPr wrap="square">
            <a:normAutofit/>
          </a:bodyPr>
          <a:lstStyle/>
          <a:p>
            <a:pPr>
              <a:defRPr sz="1500">
                <a:solidFill>
                  <a:srgbClr val="475569"/>
                </a:solidFill>
              </a:defRPr>
            </a:pPr>
            <a:r>
              <a:t>Plan the restore before an incident. Know expected downtime, data loss risk, and the checks that prove recovery worked.</a:t>
            </a:r>
          </a:p>
        </p:txBody>
      </p:sp>
      <p:cxnSp>
        <p:nvCxnSpPr>
          <p:cNvPr id="16" name="Connector 15"/>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94360" y="6419088"/>
            <a:ext cx="2560320" cy="182880"/>
          </a:xfrm>
          <a:prstGeom prst="rect">
            <a:avLst/>
          </a:prstGeom>
          <a:noFill/>
        </p:spPr>
        <p:txBody>
          <a:bodyPr wrap="square">
            <a:spAutoFit/>
          </a:bodyPr>
          <a:lstStyle/>
          <a:p>
            <a:pPr algn="l">
              <a:defRPr sz="900" b="0">
                <a:solidFill>
                  <a:srgbClr val="64748B"/>
                </a:solidFill>
                <a:latin typeface="Aptos"/>
              </a:defRPr>
            </a:pPr>
            <a:r>
              <a:t>CST4714 | Week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20040"/>
            <a:ext cx="10972800" cy="640080"/>
          </a:xfrm>
          <a:prstGeom prst="rect">
            <a:avLst/>
          </a:prstGeom>
          <a:noFill/>
        </p:spPr>
        <p:txBody>
          <a:bodyPr wrap="square">
            <a:spAutoFit/>
          </a:bodyPr>
          <a:lstStyle/>
          <a:p>
            <a:pPr algn="l">
              <a:defRPr sz="2700" b="1">
                <a:solidFill>
                  <a:srgbClr val="0F172A"/>
                </a:solidFill>
                <a:latin typeface="Aptos"/>
              </a:defRPr>
            </a:pPr>
            <a:r>
              <a:t>Atlas and Supabase Reliability Surfaces</a:t>
            </a:r>
          </a:p>
        </p:txBody>
      </p:sp>
      <p:sp>
        <p:nvSpPr>
          <p:cNvPr id="3" name="TextBox 2"/>
          <p:cNvSpPr txBox="1"/>
          <p:nvPr/>
        </p:nvSpPr>
        <p:spPr>
          <a:xfrm>
            <a:off x="585216" y="896112"/>
            <a:ext cx="10789920" cy="320040"/>
          </a:xfrm>
          <a:prstGeom prst="rect">
            <a:avLst/>
          </a:prstGeom>
          <a:noFill/>
        </p:spPr>
        <p:txBody>
          <a:bodyPr wrap="square">
            <a:spAutoFit/>
          </a:bodyPr>
          <a:lstStyle/>
          <a:p>
            <a:pPr algn="l">
              <a:defRPr sz="1350" b="0">
                <a:solidFill>
                  <a:srgbClr val="64748B"/>
                </a:solidFill>
                <a:latin typeface="Aptos"/>
              </a:defRPr>
            </a:pPr>
            <a:r>
              <a:t>Different platforms, similar administrative questions</a:t>
            </a:r>
          </a:p>
        </p:txBody>
      </p:sp>
      <p:sp>
        <p:nvSpPr>
          <p:cNvPr id="4" name="Rounded Rectangle 3"/>
          <p:cNvSpPr/>
          <p:nvPr/>
        </p:nvSpPr>
        <p:spPr>
          <a:xfrm>
            <a:off x="731520" y="1508760"/>
            <a:ext cx="5257800" cy="3154680"/>
          </a:xfrm>
          <a:prstGeom prst="roundRect">
            <a:avLst/>
          </a:prstGeom>
          <a:solidFill>
            <a:srgbClr val="FFFFFF"/>
          </a:solidFill>
          <a:ln w="1778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 y="1618488"/>
            <a:ext cx="4965192" cy="256032"/>
          </a:xfrm>
          <a:prstGeom prst="rect">
            <a:avLst/>
          </a:prstGeom>
          <a:noFill/>
        </p:spPr>
        <p:txBody>
          <a:bodyPr wrap="square">
            <a:spAutoFit/>
          </a:bodyPr>
          <a:lstStyle/>
          <a:p>
            <a:pPr algn="l">
              <a:defRPr sz="1700" b="1">
                <a:solidFill>
                  <a:srgbClr val="0D9488"/>
                </a:solidFill>
                <a:latin typeface="Aptos"/>
              </a:defRPr>
            </a:pPr>
            <a:r>
              <a:t>MongoDB Atlas</a:t>
            </a:r>
          </a:p>
        </p:txBody>
      </p:sp>
      <p:sp>
        <p:nvSpPr>
          <p:cNvPr id="6" name="TextBox 5"/>
          <p:cNvSpPr txBox="1"/>
          <p:nvPr/>
        </p:nvSpPr>
        <p:spPr>
          <a:xfrm>
            <a:off x="896112" y="1947672"/>
            <a:ext cx="4928616" cy="2624328"/>
          </a:xfrm>
          <a:prstGeom prst="rect">
            <a:avLst/>
          </a:prstGeom>
          <a:noFill/>
        </p:spPr>
        <p:txBody>
          <a:bodyPr wrap="square">
            <a:normAutofit/>
          </a:bodyPr>
          <a:lstStyle/>
          <a:p>
            <a:pPr>
              <a:defRPr sz="1450">
                <a:solidFill>
                  <a:srgbClr val="475569"/>
                </a:solidFill>
              </a:defRPr>
            </a:pPr>
            <a:r>
              <a:t>Replica sets and automatic failover</a:t>
            </a:r>
          </a:p>
          <a:p>
            <a:pPr>
              <a:defRPr sz="1450">
                <a:solidFill>
                  <a:srgbClr val="475569"/>
                </a:solidFill>
              </a:defRPr>
            </a:pPr>
            <a:r>
              <a:t>Read preference and write concern</a:t>
            </a:r>
          </a:p>
          <a:p>
            <a:pPr>
              <a:defRPr sz="1450">
                <a:solidFill>
                  <a:srgbClr val="475569"/>
                </a:solidFill>
              </a:defRPr>
            </a:pPr>
            <a:r>
              <a:t>Atlas backup and restore features</a:t>
            </a:r>
          </a:p>
          <a:p>
            <a:pPr>
              <a:defRPr sz="1450">
                <a:solidFill>
                  <a:srgbClr val="475569"/>
                </a:solidFill>
              </a:defRPr>
            </a:pPr>
            <a:r>
              <a:t>Document model and index decisions</a:t>
            </a:r>
          </a:p>
        </p:txBody>
      </p:sp>
      <p:sp>
        <p:nvSpPr>
          <p:cNvPr id="7" name="Rounded Rectangle 6"/>
          <p:cNvSpPr/>
          <p:nvPr/>
        </p:nvSpPr>
        <p:spPr>
          <a:xfrm>
            <a:off x="6263640" y="1508760"/>
            <a:ext cx="5257800" cy="3154680"/>
          </a:xfrm>
          <a:prstGeom prst="roundRect">
            <a:avLst/>
          </a:prstGeom>
          <a:solidFill>
            <a:srgbClr val="FFFFFF"/>
          </a:solidFill>
          <a:ln w="177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9944" y="1618488"/>
            <a:ext cx="4965192" cy="256032"/>
          </a:xfrm>
          <a:prstGeom prst="rect">
            <a:avLst/>
          </a:prstGeom>
          <a:noFill/>
        </p:spPr>
        <p:txBody>
          <a:bodyPr wrap="square">
            <a:spAutoFit/>
          </a:bodyPr>
          <a:lstStyle/>
          <a:p>
            <a:pPr algn="l">
              <a:defRPr sz="1700" b="1">
                <a:solidFill>
                  <a:srgbClr val="2563EB"/>
                </a:solidFill>
                <a:latin typeface="Aptos"/>
              </a:defRPr>
            </a:pPr>
            <a:r>
              <a:t>Supabase / Postgres</a:t>
            </a:r>
          </a:p>
        </p:txBody>
      </p:sp>
      <p:sp>
        <p:nvSpPr>
          <p:cNvPr id="9" name="TextBox 8"/>
          <p:cNvSpPr txBox="1"/>
          <p:nvPr/>
        </p:nvSpPr>
        <p:spPr>
          <a:xfrm>
            <a:off x="6428232" y="1947672"/>
            <a:ext cx="4928616" cy="2624328"/>
          </a:xfrm>
          <a:prstGeom prst="rect">
            <a:avLst/>
          </a:prstGeom>
          <a:noFill/>
        </p:spPr>
        <p:txBody>
          <a:bodyPr wrap="square">
            <a:normAutofit/>
          </a:bodyPr>
          <a:lstStyle/>
          <a:p>
            <a:pPr>
              <a:defRPr sz="1450">
                <a:solidFill>
                  <a:srgbClr val="475569"/>
                </a:solidFill>
              </a:defRPr>
            </a:pPr>
            <a:r>
              <a:t>Managed Postgres project</a:t>
            </a:r>
          </a:p>
          <a:p>
            <a:pPr>
              <a:defRPr sz="1450">
                <a:solidFill>
                  <a:srgbClr val="475569"/>
                </a:solidFill>
              </a:defRPr>
            </a:pPr>
            <a:r>
              <a:t>Backups and PITR depending on plan</a:t>
            </a:r>
          </a:p>
          <a:p>
            <a:pPr>
              <a:defRPr sz="1450">
                <a:solidFill>
                  <a:srgbClr val="475569"/>
                </a:solidFill>
              </a:defRPr>
            </a:pPr>
            <a:r>
              <a:t>Read replicas on supported paid plans</a:t>
            </a:r>
          </a:p>
          <a:p>
            <a:pPr>
              <a:defRPr sz="1450">
                <a:solidFill>
                  <a:srgbClr val="475569"/>
                </a:solidFill>
              </a:defRPr>
            </a:pPr>
            <a:r>
              <a:t>SQL schema, indexes, roles, and RLS</a:t>
            </a:r>
          </a:p>
        </p:txBody>
      </p:sp>
      <p:sp>
        <p:nvSpPr>
          <p:cNvPr id="10" name="TextBox 9"/>
          <p:cNvSpPr txBox="1"/>
          <p:nvPr/>
        </p:nvSpPr>
        <p:spPr>
          <a:xfrm>
            <a:off x="914400" y="5166360"/>
            <a:ext cx="10058400" cy="365760"/>
          </a:xfrm>
          <a:prstGeom prst="rect">
            <a:avLst/>
          </a:prstGeom>
          <a:noFill/>
        </p:spPr>
        <p:txBody>
          <a:bodyPr wrap="square">
            <a:spAutoFit/>
          </a:bodyPr>
          <a:lstStyle/>
          <a:p>
            <a:pPr algn="ctr">
              <a:defRPr sz="2000" b="1">
                <a:solidFill>
                  <a:srgbClr val="0F172A"/>
                </a:solidFill>
                <a:latin typeface="Aptos"/>
              </a:defRPr>
            </a:pPr>
            <a:r>
              <a:t>The final project can use either platform, but every project needs an administrative story.</a:t>
            </a:r>
          </a:p>
        </p:txBody>
      </p:sp>
      <p:cxnSp>
        <p:nvCxnSpPr>
          <p:cNvPr id="11" name="Connector 10"/>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94360" y="6419088"/>
            <a:ext cx="2560320" cy="182880"/>
          </a:xfrm>
          <a:prstGeom prst="rect">
            <a:avLst/>
          </a:prstGeom>
          <a:noFill/>
        </p:spPr>
        <p:txBody>
          <a:bodyPr wrap="square">
            <a:spAutoFit/>
          </a:bodyPr>
          <a:lstStyle/>
          <a:p>
            <a:pPr algn="l">
              <a:defRPr sz="900" b="0">
                <a:solidFill>
                  <a:srgbClr val="64748B"/>
                </a:solidFill>
                <a:latin typeface="Aptos"/>
              </a:defRPr>
            </a:pPr>
            <a:r>
              <a:t>CST4714 | Week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20040"/>
            <a:ext cx="10972800" cy="640080"/>
          </a:xfrm>
          <a:prstGeom prst="rect">
            <a:avLst/>
          </a:prstGeom>
          <a:noFill/>
        </p:spPr>
        <p:txBody>
          <a:bodyPr wrap="square">
            <a:spAutoFit/>
          </a:bodyPr>
          <a:lstStyle/>
          <a:p>
            <a:pPr algn="l">
              <a:defRPr sz="2700" b="1">
                <a:solidFill>
                  <a:srgbClr val="0F172A"/>
                </a:solidFill>
                <a:latin typeface="Aptos"/>
              </a:defRPr>
            </a:pPr>
            <a:r>
              <a:t>A Beginner Restore Runbook</a:t>
            </a:r>
          </a:p>
        </p:txBody>
      </p:sp>
      <p:sp>
        <p:nvSpPr>
          <p:cNvPr id="3" name="TextBox 2"/>
          <p:cNvSpPr txBox="1"/>
          <p:nvPr/>
        </p:nvSpPr>
        <p:spPr>
          <a:xfrm>
            <a:off x="585216" y="896112"/>
            <a:ext cx="10789920" cy="320040"/>
          </a:xfrm>
          <a:prstGeom prst="rect">
            <a:avLst/>
          </a:prstGeom>
          <a:noFill/>
        </p:spPr>
        <p:txBody>
          <a:bodyPr wrap="square">
            <a:spAutoFit/>
          </a:bodyPr>
          <a:lstStyle/>
          <a:p>
            <a:pPr algn="l">
              <a:defRPr sz="1350" b="0">
                <a:solidFill>
                  <a:srgbClr val="64748B"/>
                </a:solidFill>
                <a:latin typeface="Aptos"/>
              </a:defRPr>
            </a:pPr>
            <a:r>
              <a:t>What students should be able to write for the final project</a:t>
            </a:r>
          </a:p>
        </p:txBody>
      </p:sp>
      <p:sp>
        <p:nvSpPr>
          <p:cNvPr id="4" name="Rounded Rectangle 3"/>
          <p:cNvSpPr/>
          <p:nvPr/>
        </p:nvSpPr>
        <p:spPr>
          <a:xfrm>
            <a:off x="685800" y="1828800"/>
            <a:ext cx="2331720" cy="2011680"/>
          </a:xfrm>
          <a:prstGeom prst="roundRect">
            <a:avLst/>
          </a:prstGeom>
          <a:solidFill>
            <a:srgbClr val="FFFFFF"/>
          </a:solidFill>
          <a:ln w="2032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2104" y="1938528"/>
            <a:ext cx="2039112" cy="274320"/>
          </a:xfrm>
          <a:prstGeom prst="rect">
            <a:avLst/>
          </a:prstGeom>
          <a:noFill/>
        </p:spPr>
        <p:txBody>
          <a:bodyPr wrap="square">
            <a:spAutoFit/>
          </a:bodyPr>
          <a:lstStyle/>
          <a:p>
            <a:pPr algn="l">
              <a:defRPr sz="1700" b="1">
                <a:solidFill>
                  <a:srgbClr val="DC2626"/>
                </a:solidFill>
                <a:latin typeface="Aptos"/>
              </a:defRPr>
            </a:pPr>
            <a:r>
              <a:t>1. Incident</a:t>
            </a:r>
          </a:p>
        </p:txBody>
      </p:sp>
      <p:sp>
        <p:nvSpPr>
          <p:cNvPr id="6" name="TextBox 5"/>
          <p:cNvSpPr txBox="1"/>
          <p:nvPr/>
        </p:nvSpPr>
        <p:spPr>
          <a:xfrm>
            <a:off x="832104" y="2267712"/>
            <a:ext cx="2039112" cy="1481328"/>
          </a:xfrm>
          <a:prstGeom prst="rect">
            <a:avLst/>
          </a:prstGeom>
          <a:noFill/>
        </p:spPr>
        <p:txBody>
          <a:bodyPr wrap="square">
            <a:normAutofit/>
          </a:bodyPr>
          <a:lstStyle/>
          <a:p>
            <a:pPr>
              <a:defRPr sz="1350">
                <a:solidFill>
                  <a:srgbClr val="475569"/>
                </a:solidFill>
              </a:defRPr>
            </a:pPr>
            <a:r>
              <a:t>What happened? Deleted rows, bad import, failed migration, or outage?</a:t>
            </a:r>
          </a:p>
        </p:txBody>
      </p:sp>
      <p:cxnSp>
        <p:nvCxnSpPr>
          <p:cNvPr id="7" name="Connector 6"/>
          <p:cNvCxnSpPr/>
          <p:nvPr/>
        </p:nvCxnSpPr>
        <p:spPr>
          <a:xfrm>
            <a:off x="3017520" y="2834640"/>
            <a:ext cx="502920" cy="0"/>
          </a:xfrm>
          <a:prstGeom prst="line">
            <a:avLst/>
          </a:prstGeom>
          <a:ln w="25400">
            <a:solidFill>
              <a:srgbClr val="64748B"/>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566160" y="1828800"/>
            <a:ext cx="2331720" cy="2011680"/>
          </a:xfrm>
          <a:prstGeom prst="roundRect">
            <a:avLst/>
          </a:prstGeom>
          <a:solidFill>
            <a:srgbClr val="FFFFFF"/>
          </a:solidFill>
          <a:ln w="2032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712464" y="1938528"/>
            <a:ext cx="2039112" cy="274320"/>
          </a:xfrm>
          <a:prstGeom prst="rect">
            <a:avLst/>
          </a:prstGeom>
          <a:noFill/>
        </p:spPr>
        <p:txBody>
          <a:bodyPr wrap="square">
            <a:spAutoFit/>
          </a:bodyPr>
          <a:lstStyle/>
          <a:p>
            <a:pPr algn="l">
              <a:defRPr sz="1700" b="1">
                <a:solidFill>
                  <a:srgbClr val="2563EB"/>
                </a:solidFill>
                <a:latin typeface="Aptos"/>
              </a:defRPr>
            </a:pPr>
            <a:r>
              <a:t>2. Restore Source</a:t>
            </a:r>
          </a:p>
        </p:txBody>
      </p:sp>
      <p:sp>
        <p:nvSpPr>
          <p:cNvPr id="10" name="TextBox 9"/>
          <p:cNvSpPr txBox="1"/>
          <p:nvPr/>
        </p:nvSpPr>
        <p:spPr>
          <a:xfrm>
            <a:off x="3712464" y="2267712"/>
            <a:ext cx="2039112" cy="1481328"/>
          </a:xfrm>
          <a:prstGeom prst="rect">
            <a:avLst/>
          </a:prstGeom>
          <a:noFill/>
        </p:spPr>
        <p:txBody>
          <a:bodyPr wrap="square">
            <a:normAutofit/>
          </a:bodyPr>
          <a:lstStyle/>
          <a:p>
            <a:pPr>
              <a:defRPr sz="1350">
                <a:solidFill>
                  <a:srgbClr val="475569"/>
                </a:solidFill>
              </a:defRPr>
            </a:pPr>
            <a:r>
              <a:t>Which backup, snapshot, dump, or recovery point would be used?</a:t>
            </a:r>
          </a:p>
        </p:txBody>
      </p:sp>
      <p:cxnSp>
        <p:nvCxnSpPr>
          <p:cNvPr id="11" name="Connector 10"/>
          <p:cNvCxnSpPr/>
          <p:nvPr/>
        </p:nvCxnSpPr>
        <p:spPr>
          <a:xfrm>
            <a:off x="5897879" y="2834640"/>
            <a:ext cx="502921" cy="0"/>
          </a:xfrm>
          <a:prstGeom prst="line">
            <a:avLst/>
          </a:prstGeom>
          <a:ln w="25400">
            <a:solidFill>
              <a:srgbClr val="64748B"/>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446520" y="1828800"/>
            <a:ext cx="2331720" cy="2011680"/>
          </a:xfrm>
          <a:prstGeom prst="roundRect">
            <a:avLst/>
          </a:prstGeom>
          <a:solidFill>
            <a:srgbClr val="FFFFFF"/>
          </a:solidFill>
          <a:ln w="2032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2824" y="1938528"/>
            <a:ext cx="2039112" cy="274320"/>
          </a:xfrm>
          <a:prstGeom prst="rect">
            <a:avLst/>
          </a:prstGeom>
          <a:noFill/>
        </p:spPr>
        <p:txBody>
          <a:bodyPr wrap="square">
            <a:spAutoFit/>
          </a:bodyPr>
          <a:lstStyle/>
          <a:p>
            <a:pPr algn="l">
              <a:defRPr sz="1700" b="1">
                <a:solidFill>
                  <a:srgbClr val="EA580C"/>
                </a:solidFill>
                <a:latin typeface="Aptos"/>
              </a:defRPr>
            </a:pPr>
            <a:r>
              <a:t>3. Restore Steps</a:t>
            </a:r>
          </a:p>
        </p:txBody>
      </p:sp>
      <p:sp>
        <p:nvSpPr>
          <p:cNvPr id="14" name="TextBox 13"/>
          <p:cNvSpPr txBox="1"/>
          <p:nvPr/>
        </p:nvSpPr>
        <p:spPr>
          <a:xfrm>
            <a:off x="6592824" y="2267712"/>
            <a:ext cx="2039112" cy="1481328"/>
          </a:xfrm>
          <a:prstGeom prst="rect">
            <a:avLst/>
          </a:prstGeom>
          <a:noFill/>
        </p:spPr>
        <p:txBody>
          <a:bodyPr wrap="square">
            <a:normAutofit/>
          </a:bodyPr>
          <a:lstStyle/>
          <a:p>
            <a:pPr>
              <a:defRPr sz="1350">
                <a:solidFill>
                  <a:srgbClr val="475569"/>
                </a:solidFill>
              </a:defRPr>
            </a:pPr>
            <a:r>
              <a:t>Where would restore happen and what downtime is expected?</a:t>
            </a:r>
          </a:p>
        </p:txBody>
      </p:sp>
      <p:cxnSp>
        <p:nvCxnSpPr>
          <p:cNvPr id="15" name="Connector 14"/>
          <p:cNvCxnSpPr/>
          <p:nvPr/>
        </p:nvCxnSpPr>
        <p:spPr>
          <a:xfrm>
            <a:off x="8778240" y="2834640"/>
            <a:ext cx="502920" cy="0"/>
          </a:xfrm>
          <a:prstGeom prst="line">
            <a:avLst/>
          </a:prstGeom>
          <a:ln w="25400">
            <a:solidFill>
              <a:srgbClr val="64748B"/>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9326880" y="1828800"/>
            <a:ext cx="2331720" cy="2011680"/>
          </a:xfrm>
          <a:prstGeom prst="roundRect">
            <a:avLst/>
          </a:prstGeom>
          <a:solidFill>
            <a:srgbClr val="FFFFFF"/>
          </a:solidFill>
          <a:ln w="2032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73184" y="1938528"/>
            <a:ext cx="2039112" cy="274320"/>
          </a:xfrm>
          <a:prstGeom prst="rect">
            <a:avLst/>
          </a:prstGeom>
          <a:noFill/>
        </p:spPr>
        <p:txBody>
          <a:bodyPr wrap="square">
            <a:spAutoFit/>
          </a:bodyPr>
          <a:lstStyle/>
          <a:p>
            <a:pPr algn="l">
              <a:defRPr sz="1700" b="1">
                <a:solidFill>
                  <a:srgbClr val="16A34A"/>
                </a:solidFill>
                <a:latin typeface="Aptos"/>
              </a:defRPr>
            </a:pPr>
            <a:r>
              <a:t>4. Verification</a:t>
            </a:r>
          </a:p>
        </p:txBody>
      </p:sp>
      <p:sp>
        <p:nvSpPr>
          <p:cNvPr id="18" name="TextBox 17"/>
          <p:cNvSpPr txBox="1"/>
          <p:nvPr/>
        </p:nvSpPr>
        <p:spPr>
          <a:xfrm>
            <a:off x="9473184" y="2267712"/>
            <a:ext cx="2039112" cy="1481328"/>
          </a:xfrm>
          <a:prstGeom prst="rect">
            <a:avLst/>
          </a:prstGeom>
          <a:noFill/>
        </p:spPr>
        <p:txBody>
          <a:bodyPr wrap="square">
            <a:normAutofit/>
          </a:bodyPr>
          <a:lstStyle/>
          <a:p>
            <a:pPr>
              <a:defRPr sz="1350">
                <a:solidFill>
                  <a:srgbClr val="475569"/>
                </a:solidFill>
              </a:defRPr>
            </a:pPr>
            <a:r>
              <a:t>Which queries prove the recovered database is usable?</a:t>
            </a:r>
          </a:p>
        </p:txBody>
      </p:sp>
      <p:sp>
        <p:nvSpPr>
          <p:cNvPr id="19" name="TextBox 18"/>
          <p:cNvSpPr txBox="1"/>
          <p:nvPr/>
        </p:nvSpPr>
        <p:spPr>
          <a:xfrm>
            <a:off x="914400" y="4892040"/>
            <a:ext cx="10058400" cy="548640"/>
          </a:xfrm>
          <a:prstGeom prst="rect">
            <a:avLst/>
          </a:prstGeom>
          <a:noFill/>
        </p:spPr>
        <p:txBody>
          <a:bodyPr wrap="square">
            <a:spAutoFit/>
          </a:bodyPr>
          <a:lstStyle/>
          <a:p>
            <a:pPr algn="ctr">
              <a:defRPr sz="1900" b="1">
                <a:solidFill>
                  <a:srgbClr val="0F172A"/>
                </a:solidFill>
                <a:latin typeface="Aptos"/>
              </a:defRPr>
            </a:pPr>
            <a:r>
              <a:t>A final project runbook can be short. It just needs to be concrete enough that another person could follow the plan.</a:t>
            </a:r>
          </a:p>
        </p:txBody>
      </p:sp>
      <p:cxnSp>
        <p:nvCxnSpPr>
          <p:cNvPr id="20" name="Connector 19"/>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94360" y="6419088"/>
            <a:ext cx="2560320" cy="182880"/>
          </a:xfrm>
          <a:prstGeom prst="rect">
            <a:avLst/>
          </a:prstGeom>
          <a:noFill/>
        </p:spPr>
        <p:txBody>
          <a:bodyPr wrap="square">
            <a:spAutoFit/>
          </a:bodyPr>
          <a:lstStyle/>
          <a:p>
            <a:pPr algn="l">
              <a:defRPr sz="900" b="0">
                <a:solidFill>
                  <a:srgbClr val="64748B"/>
                </a:solidFill>
                <a:latin typeface="Aptos"/>
              </a:defRPr>
            </a:pPr>
            <a:r>
              <a:t>CST4714 | Week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20040"/>
            <a:ext cx="10972800" cy="640080"/>
          </a:xfrm>
          <a:prstGeom prst="rect">
            <a:avLst/>
          </a:prstGeom>
          <a:noFill/>
        </p:spPr>
        <p:txBody>
          <a:bodyPr wrap="square">
            <a:spAutoFit/>
          </a:bodyPr>
          <a:lstStyle/>
          <a:p>
            <a:pPr algn="l">
              <a:defRPr sz="2700" b="1">
                <a:solidFill>
                  <a:srgbClr val="0F172A"/>
                </a:solidFill>
                <a:latin typeface="Aptos"/>
              </a:defRPr>
            </a:pPr>
            <a:r>
              <a:t>Final Project Goal</a:t>
            </a:r>
          </a:p>
        </p:txBody>
      </p:sp>
      <p:sp>
        <p:nvSpPr>
          <p:cNvPr id="3" name="TextBox 2"/>
          <p:cNvSpPr txBox="1"/>
          <p:nvPr/>
        </p:nvSpPr>
        <p:spPr>
          <a:xfrm>
            <a:off x="585216" y="896112"/>
            <a:ext cx="10789920" cy="320040"/>
          </a:xfrm>
          <a:prstGeom prst="rect">
            <a:avLst/>
          </a:prstGeom>
          <a:noFill/>
        </p:spPr>
        <p:txBody>
          <a:bodyPr wrap="square">
            <a:spAutoFit/>
          </a:bodyPr>
          <a:lstStyle/>
          <a:p>
            <a:pPr algn="l">
              <a:defRPr sz="1350" b="0">
                <a:solidFill>
                  <a:srgbClr val="64748B"/>
                </a:solidFill>
                <a:latin typeface="Aptos"/>
              </a:defRPr>
            </a:pPr>
            <a:r>
              <a:t>Build a small cloud database project with administrative evidence</a:t>
            </a:r>
          </a:p>
        </p:txBody>
      </p:sp>
      <p:sp>
        <p:nvSpPr>
          <p:cNvPr id="4" name="Rounded Rectangle 3"/>
          <p:cNvSpPr/>
          <p:nvPr/>
        </p:nvSpPr>
        <p:spPr>
          <a:xfrm>
            <a:off x="731520" y="1463040"/>
            <a:ext cx="3291840" cy="2011680"/>
          </a:xfrm>
          <a:prstGeom prst="roundRect">
            <a:avLst/>
          </a:prstGeom>
          <a:solidFill>
            <a:srgbClr val="FFFFFF"/>
          </a:solidFill>
          <a:ln w="2032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 y="1572768"/>
            <a:ext cx="2999232" cy="274320"/>
          </a:xfrm>
          <a:prstGeom prst="rect">
            <a:avLst/>
          </a:prstGeom>
          <a:noFill/>
        </p:spPr>
        <p:txBody>
          <a:bodyPr wrap="square">
            <a:spAutoFit/>
          </a:bodyPr>
          <a:lstStyle/>
          <a:p>
            <a:pPr algn="l">
              <a:defRPr sz="1900" b="1">
                <a:solidFill>
                  <a:srgbClr val="DC2626"/>
                </a:solidFill>
                <a:latin typeface="Aptos"/>
              </a:defRPr>
            </a:pPr>
            <a:r>
              <a:t>Not a giant app</a:t>
            </a:r>
          </a:p>
        </p:txBody>
      </p:sp>
      <p:sp>
        <p:nvSpPr>
          <p:cNvPr id="6" name="TextBox 5"/>
          <p:cNvSpPr txBox="1"/>
          <p:nvPr/>
        </p:nvSpPr>
        <p:spPr>
          <a:xfrm>
            <a:off x="877824" y="1901952"/>
            <a:ext cx="2999232" cy="1481328"/>
          </a:xfrm>
          <a:prstGeom prst="rect">
            <a:avLst/>
          </a:prstGeom>
          <a:noFill/>
        </p:spPr>
        <p:txBody>
          <a:bodyPr wrap="square">
            <a:normAutofit/>
          </a:bodyPr>
          <a:lstStyle/>
          <a:p>
            <a:pPr>
              <a:defRPr sz="1500">
                <a:solidFill>
                  <a:srgbClr val="475569"/>
                </a:solidFill>
              </a:defRPr>
            </a:pPr>
            <a:r>
              <a:t>The project is graded on database work, not on building a full production UI.</a:t>
            </a:r>
          </a:p>
        </p:txBody>
      </p:sp>
      <p:sp>
        <p:nvSpPr>
          <p:cNvPr id="7" name="Rounded Rectangle 6"/>
          <p:cNvSpPr/>
          <p:nvPr/>
        </p:nvSpPr>
        <p:spPr>
          <a:xfrm>
            <a:off x="4434840" y="1463040"/>
            <a:ext cx="3291840" cy="2011680"/>
          </a:xfrm>
          <a:prstGeom prst="roundRect">
            <a:avLst/>
          </a:prstGeom>
          <a:solidFill>
            <a:srgbClr val="FFFFFF"/>
          </a:solidFill>
          <a:ln w="2032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81144" y="1572768"/>
            <a:ext cx="2999232" cy="274320"/>
          </a:xfrm>
          <a:prstGeom prst="rect">
            <a:avLst/>
          </a:prstGeom>
          <a:noFill/>
        </p:spPr>
        <p:txBody>
          <a:bodyPr wrap="square">
            <a:spAutoFit/>
          </a:bodyPr>
          <a:lstStyle/>
          <a:p>
            <a:pPr algn="l">
              <a:defRPr sz="1900" b="1">
                <a:solidFill>
                  <a:srgbClr val="16A34A"/>
                </a:solidFill>
                <a:latin typeface="Aptos"/>
              </a:defRPr>
            </a:pPr>
            <a:r>
              <a:t>Database evidence</a:t>
            </a:r>
          </a:p>
        </p:txBody>
      </p:sp>
      <p:sp>
        <p:nvSpPr>
          <p:cNvPr id="9" name="TextBox 8"/>
          <p:cNvSpPr txBox="1"/>
          <p:nvPr/>
        </p:nvSpPr>
        <p:spPr>
          <a:xfrm>
            <a:off x="4581144" y="1901952"/>
            <a:ext cx="2999232" cy="1481328"/>
          </a:xfrm>
          <a:prstGeom prst="rect">
            <a:avLst/>
          </a:prstGeom>
          <a:noFill/>
        </p:spPr>
        <p:txBody>
          <a:bodyPr wrap="square">
            <a:normAutofit/>
          </a:bodyPr>
          <a:lstStyle/>
          <a:p>
            <a:pPr>
              <a:defRPr sz="1500">
                <a:solidFill>
                  <a:srgbClr val="475569"/>
                </a:solidFill>
              </a:defRPr>
            </a:pPr>
            <a:r>
              <a:t>Model, seed data, queries, index choice, access-control concern, and reliability plan.</a:t>
            </a:r>
          </a:p>
        </p:txBody>
      </p:sp>
      <p:sp>
        <p:nvSpPr>
          <p:cNvPr id="10" name="Rounded Rectangle 9"/>
          <p:cNvSpPr/>
          <p:nvPr/>
        </p:nvSpPr>
        <p:spPr>
          <a:xfrm>
            <a:off x="8138160" y="1463040"/>
            <a:ext cx="3246120" cy="2011680"/>
          </a:xfrm>
          <a:prstGeom prst="roundRect">
            <a:avLst/>
          </a:prstGeom>
          <a:solidFill>
            <a:srgbClr val="FFFFFF"/>
          </a:solidFill>
          <a:ln w="2032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84464" y="1572768"/>
            <a:ext cx="2953512" cy="274320"/>
          </a:xfrm>
          <a:prstGeom prst="rect">
            <a:avLst/>
          </a:prstGeom>
          <a:noFill/>
        </p:spPr>
        <p:txBody>
          <a:bodyPr wrap="square">
            <a:spAutoFit/>
          </a:bodyPr>
          <a:lstStyle/>
          <a:p>
            <a:pPr algn="l">
              <a:defRPr sz="1900" b="1">
                <a:solidFill>
                  <a:srgbClr val="2563EB"/>
                </a:solidFill>
                <a:latin typeface="Aptos"/>
              </a:defRPr>
            </a:pPr>
            <a:r>
              <a:t>Portfolio value</a:t>
            </a:r>
          </a:p>
        </p:txBody>
      </p:sp>
      <p:sp>
        <p:nvSpPr>
          <p:cNvPr id="12" name="TextBox 11"/>
          <p:cNvSpPr txBox="1"/>
          <p:nvPr/>
        </p:nvSpPr>
        <p:spPr>
          <a:xfrm>
            <a:off x="8284464" y="1901952"/>
            <a:ext cx="2953512" cy="1481328"/>
          </a:xfrm>
          <a:prstGeom prst="rect">
            <a:avLst/>
          </a:prstGeom>
          <a:noFill/>
        </p:spPr>
        <p:txBody>
          <a:bodyPr wrap="square">
            <a:normAutofit/>
          </a:bodyPr>
          <a:lstStyle/>
          <a:p>
            <a:pPr>
              <a:defRPr sz="1500">
                <a:solidFill>
                  <a:srgbClr val="475569"/>
                </a:solidFill>
              </a:defRPr>
            </a:pPr>
            <a:r>
              <a:t>A clear, small project is easier to explain in interviews than an unfinished large one.</a:t>
            </a:r>
          </a:p>
        </p:txBody>
      </p:sp>
      <p:sp>
        <p:nvSpPr>
          <p:cNvPr id="13" name="Rounded Rectangle 12"/>
          <p:cNvSpPr/>
          <p:nvPr/>
        </p:nvSpPr>
        <p:spPr>
          <a:xfrm>
            <a:off x="960120" y="3977639"/>
            <a:ext cx="10058400" cy="1325880"/>
          </a:xfrm>
          <a:prstGeom prst="roundRect">
            <a:avLst/>
          </a:prstGeom>
          <a:solidFill>
            <a:srgbClr val="FFFFFF"/>
          </a:solidFill>
          <a:ln w="17780">
            <a:solidFill>
              <a:srgbClr val="CA8A0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06424" y="4087367"/>
            <a:ext cx="9765792" cy="256032"/>
          </a:xfrm>
          <a:prstGeom prst="rect">
            <a:avLst/>
          </a:prstGeom>
          <a:noFill/>
        </p:spPr>
        <p:txBody>
          <a:bodyPr wrap="square">
            <a:spAutoFit/>
          </a:bodyPr>
          <a:lstStyle/>
          <a:p>
            <a:pPr algn="l">
              <a:defRPr sz="1700" b="1">
                <a:solidFill>
                  <a:srgbClr val="CA8A04"/>
                </a:solidFill>
                <a:latin typeface="Aptos"/>
              </a:defRPr>
            </a:pPr>
            <a:r>
              <a:t>Research-informed design choice</a:t>
            </a:r>
          </a:p>
        </p:txBody>
      </p:sp>
      <p:sp>
        <p:nvSpPr>
          <p:cNvPr id="15" name="TextBox 14"/>
          <p:cNvSpPr txBox="1"/>
          <p:nvPr/>
        </p:nvSpPr>
        <p:spPr>
          <a:xfrm>
            <a:off x="1124712" y="4416551"/>
            <a:ext cx="9729216" cy="795528"/>
          </a:xfrm>
          <a:prstGeom prst="rect">
            <a:avLst/>
          </a:prstGeom>
          <a:noFill/>
        </p:spPr>
        <p:txBody>
          <a:bodyPr wrap="square">
            <a:normAutofit/>
          </a:bodyPr>
          <a:lstStyle/>
          <a:p>
            <a:pPr>
              <a:defRPr sz="1500">
                <a:solidFill>
                  <a:srgbClr val="475569"/>
                </a:solidFill>
              </a:defRPr>
            </a:pPr>
            <a:r>
              <a:t>Beginner database projects work best when they solve a small, concrete domain and require visible database decisions instead of open-ended application sprawl.</a:t>
            </a:r>
          </a:p>
        </p:txBody>
      </p:sp>
      <p:cxnSp>
        <p:nvCxnSpPr>
          <p:cNvPr id="16" name="Connector 15"/>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94360" y="6419088"/>
            <a:ext cx="2560320" cy="182880"/>
          </a:xfrm>
          <a:prstGeom prst="rect">
            <a:avLst/>
          </a:prstGeom>
          <a:noFill/>
        </p:spPr>
        <p:txBody>
          <a:bodyPr wrap="square">
            <a:spAutoFit/>
          </a:bodyPr>
          <a:lstStyle/>
          <a:p>
            <a:pPr algn="l">
              <a:defRPr sz="900" b="0">
                <a:solidFill>
                  <a:srgbClr val="64748B"/>
                </a:solidFill>
                <a:latin typeface="Aptos"/>
              </a:defRPr>
            </a:pPr>
            <a:r>
              <a:t>CST4714 | Week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20040"/>
            <a:ext cx="10972800" cy="640080"/>
          </a:xfrm>
          <a:prstGeom prst="rect">
            <a:avLst/>
          </a:prstGeom>
          <a:noFill/>
        </p:spPr>
        <p:txBody>
          <a:bodyPr wrap="square">
            <a:spAutoFit/>
          </a:bodyPr>
          <a:lstStyle/>
          <a:p>
            <a:pPr algn="l">
              <a:defRPr sz="2700" b="1">
                <a:solidFill>
                  <a:srgbClr val="0F172A"/>
                </a:solidFill>
                <a:latin typeface="Aptos"/>
              </a:defRPr>
            </a:pPr>
            <a:r>
              <a:t>Choose One Project Path</a:t>
            </a:r>
          </a:p>
        </p:txBody>
      </p:sp>
      <p:sp>
        <p:nvSpPr>
          <p:cNvPr id="3" name="TextBox 2"/>
          <p:cNvSpPr txBox="1"/>
          <p:nvPr/>
        </p:nvSpPr>
        <p:spPr>
          <a:xfrm>
            <a:off x="585216" y="896112"/>
            <a:ext cx="10789920" cy="320040"/>
          </a:xfrm>
          <a:prstGeom prst="rect">
            <a:avLst/>
          </a:prstGeom>
          <a:noFill/>
        </p:spPr>
        <p:txBody>
          <a:bodyPr wrap="square">
            <a:spAutoFit/>
          </a:bodyPr>
          <a:lstStyle/>
          <a:p>
            <a:pPr algn="l">
              <a:defRPr sz="1350" b="0">
                <a:solidFill>
                  <a:srgbClr val="64748B"/>
                </a:solidFill>
                <a:latin typeface="Aptos"/>
              </a:defRPr>
            </a:pPr>
            <a:r>
              <a:t>Postgres/Supabase, MongoDB/Atlas, or both</a:t>
            </a:r>
          </a:p>
        </p:txBody>
      </p:sp>
      <p:sp>
        <p:nvSpPr>
          <p:cNvPr id="4" name="Rounded Rectangle 3"/>
          <p:cNvSpPr/>
          <p:nvPr/>
        </p:nvSpPr>
        <p:spPr>
          <a:xfrm>
            <a:off x="685800" y="1508760"/>
            <a:ext cx="3429000" cy="2926080"/>
          </a:xfrm>
          <a:prstGeom prst="roundRect">
            <a:avLst/>
          </a:prstGeom>
          <a:solidFill>
            <a:srgbClr val="FFFFFF"/>
          </a:solidFill>
          <a:ln w="2032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2104" y="1618488"/>
            <a:ext cx="3136392" cy="274320"/>
          </a:xfrm>
          <a:prstGeom prst="rect">
            <a:avLst/>
          </a:prstGeom>
          <a:noFill/>
        </p:spPr>
        <p:txBody>
          <a:bodyPr wrap="square">
            <a:spAutoFit/>
          </a:bodyPr>
          <a:lstStyle/>
          <a:p>
            <a:pPr algn="l">
              <a:defRPr sz="1800" b="1">
                <a:solidFill>
                  <a:srgbClr val="2563EB"/>
                </a:solidFill>
                <a:latin typeface="Aptos"/>
              </a:defRPr>
            </a:pPr>
            <a:r>
              <a:t>Path A: Supabase/Postgres</a:t>
            </a:r>
          </a:p>
        </p:txBody>
      </p:sp>
      <p:sp>
        <p:nvSpPr>
          <p:cNvPr id="6" name="TextBox 5"/>
          <p:cNvSpPr txBox="1"/>
          <p:nvPr/>
        </p:nvSpPr>
        <p:spPr>
          <a:xfrm>
            <a:off x="832104" y="1947672"/>
            <a:ext cx="3136392" cy="2395728"/>
          </a:xfrm>
          <a:prstGeom prst="rect">
            <a:avLst/>
          </a:prstGeom>
          <a:noFill/>
        </p:spPr>
        <p:txBody>
          <a:bodyPr wrap="square">
            <a:normAutofit/>
          </a:bodyPr>
          <a:lstStyle/>
          <a:p>
            <a:pPr>
              <a:defRPr sz="1450">
                <a:solidFill>
                  <a:srgbClr val="475569"/>
                </a:solidFill>
              </a:defRPr>
            </a:pPr>
            <a:r>
              <a:t>Best for clear tables, relationships, SQL queries, constraints, roles, RLS, and relational backup planning.</a:t>
            </a:r>
          </a:p>
        </p:txBody>
      </p:sp>
      <p:sp>
        <p:nvSpPr>
          <p:cNvPr id="7" name="Rounded Rectangle 6"/>
          <p:cNvSpPr/>
          <p:nvPr/>
        </p:nvSpPr>
        <p:spPr>
          <a:xfrm>
            <a:off x="4389120" y="1508760"/>
            <a:ext cx="3429000" cy="2926080"/>
          </a:xfrm>
          <a:prstGeom prst="roundRect">
            <a:avLst/>
          </a:prstGeom>
          <a:solidFill>
            <a:srgbClr val="FFFFFF"/>
          </a:solidFill>
          <a:ln w="2032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35424" y="1618488"/>
            <a:ext cx="3136392" cy="274320"/>
          </a:xfrm>
          <a:prstGeom prst="rect">
            <a:avLst/>
          </a:prstGeom>
          <a:noFill/>
        </p:spPr>
        <p:txBody>
          <a:bodyPr wrap="square">
            <a:spAutoFit/>
          </a:bodyPr>
          <a:lstStyle/>
          <a:p>
            <a:pPr algn="l">
              <a:defRPr sz="1800" b="1">
                <a:solidFill>
                  <a:srgbClr val="0D9488"/>
                </a:solidFill>
                <a:latin typeface="Aptos"/>
              </a:defRPr>
            </a:pPr>
            <a:r>
              <a:t>Path B: MongoDB/Atlas</a:t>
            </a:r>
          </a:p>
        </p:txBody>
      </p:sp>
      <p:sp>
        <p:nvSpPr>
          <p:cNvPr id="9" name="TextBox 8"/>
          <p:cNvSpPr txBox="1"/>
          <p:nvPr/>
        </p:nvSpPr>
        <p:spPr>
          <a:xfrm>
            <a:off x="4535424" y="1947672"/>
            <a:ext cx="3136392" cy="2395728"/>
          </a:xfrm>
          <a:prstGeom prst="rect">
            <a:avLst/>
          </a:prstGeom>
          <a:noFill/>
        </p:spPr>
        <p:txBody>
          <a:bodyPr wrap="square">
            <a:normAutofit/>
          </a:bodyPr>
          <a:lstStyle/>
          <a:p>
            <a:pPr>
              <a:defRPr sz="1450">
                <a:solidFill>
                  <a:srgbClr val="475569"/>
                </a:solidFill>
              </a:defRPr>
            </a:pPr>
            <a:r>
              <a:t>Best for document models, embedded arrays, flexible records, MQL queries, Atlas indexes, and Atlas reliability planning.</a:t>
            </a:r>
          </a:p>
        </p:txBody>
      </p:sp>
      <p:sp>
        <p:nvSpPr>
          <p:cNvPr id="10" name="Rounded Rectangle 9"/>
          <p:cNvSpPr/>
          <p:nvPr/>
        </p:nvSpPr>
        <p:spPr>
          <a:xfrm>
            <a:off x="8092440" y="1508760"/>
            <a:ext cx="3337560" cy="2926080"/>
          </a:xfrm>
          <a:prstGeom prst="roundRect">
            <a:avLst/>
          </a:prstGeom>
          <a:solidFill>
            <a:srgbClr val="FFFFFF"/>
          </a:solidFill>
          <a:ln w="2032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38744" y="1618488"/>
            <a:ext cx="3044952" cy="274320"/>
          </a:xfrm>
          <a:prstGeom prst="rect">
            <a:avLst/>
          </a:prstGeom>
          <a:noFill/>
        </p:spPr>
        <p:txBody>
          <a:bodyPr wrap="square">
            <a:spAutoFit/>
          </a:bodyPr>
          <a:lstStyle/>
          <a:p>
            <a:pPr algn="l">
              <a:defRPr sz="1800" b="1">
                <a:solidFill>
                  <a:srgbClr val="EA580C"/>
                </a:solidFill>
                <a:latin typeface="Aptos"/>
              </a:defRPr>
            </a:pPr>
            <a:r>
              <a:t>Path C: Both</a:t>
            </a:r>
          </a:p>
        </p:txBody>
      </p:sp>
      <p:sp>
        <p:nvSpPr>
          <p:cNvPr id="12" name="TextBox 11"/>
          <p:cNvSpPr txBox="1"/>
          <p:nvPr/>
        </p:nvSpPr>
        <p:spPr>
          <a:xfrm>
            <a:off x="8238744" y="1947672"/>
            <a:ext cx="3044952" cy="2395728"/>
          </a:xfrm>
          <a:prstGeom prst="rect">
            <a:avLst/>
          </a:prstGeom>
          <a:noFill/>
        </p:spPr>
        <p:txBody>
          <a:bodyPr wrap="square">
            <a:normAutofit/>
          </a:bodyPr>
          <a:lstStyle/>
          <a:p>
            <a:pPr>
              <a:defRPr sz="1450">
                <a:solidFill>
                  <a:srgbClr val="475569"/>
                </a:solidFill>
              </a:defRPr>
            </a:pPr>
            <a:r>
              <a:t>Use only when the split is simple: structured core records in Postgres and flexible events or logs in MongoDB.</a:t>
            </a:r>
          </a:p>
        </p:txBody>
      </p:sp>
      <p:sp>
        <p:nvSpPr>
          <p:cNvPr id="13" name="TextBox 12"/>
          <p:cNvSpPr txBox="1"/>
          <p:nvPr/>
        </p:nvSpPr>
        <p:spPr>
          <a:xfrm>
            <a:off x="914400" y="4983480"/>
            <a:ext cx="10058400" cy="411480"/>
          </a:xfrm>
          <a:prstGeom prst="rect">
            <a:avLst/>
          </a:prstGeom>
          <a:noFill/>
        </p:spPr>
        <p:txBody>
          <a:bodyPr wrap="square">
            <a:spAutoFit/>
          </a:bodyPr>
          <a:lstStyle/>
          <a:p>
            <a:pPr algn="ctr">
              <a:defRPr sz="1900" b="1">
                <a:solidFill>
                  <a:srgbClr val="0F172A"/>
                </a:solidFill>
                <a:latin typeface="Aptos"/>
              </a:defRPr>
            </a:pPr>
            <a:r>
              <a:t>Choose both only with a real reason. More tools does not automatically mean a better project.</a:t>
            </a:r>
          </a:p>
        </p:txBody>
      </p:sp>
      <p:cxnSp>
        <p:nvCxnSpPr>
          <p:cNvPr id="14" name="Connector 13"/>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94360" y="6419088"/>
            <a:ext cx="2560320" cy="182880"/>
          </a:xfrm>
          <a:prstGeom prst="rect">
            <a:avLst/>
          </a:prstGeom>
          <a:noFill/>
        </p:spPr>
        <p:txBody>
          <a:bodyPr wrap="square">
            <a:spAutoFit/>
          </a:bodyPr>
          <a:lstStyle/>
          <a:p>
            <a:pPr algn="l">
              <a:defRPr sz="900" b="0">
                <a:solidFill>
                  <a:srgbClr val="64748B"/>
                </a:solidFill>
                <a:latin typeface="Aptos"/>
              </a:defRPr>
            </a:pPr>
            <a:r>
              <a:t>CST4714 | Week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20040"/>
            <a:ext cx="10972800" cy="640080"/>
          </a:xfrm>
          <a:prstGeom prst="rect">
            <a:avLst/>
          </a:prstGeom>
          <a:noFill/>
        </p:spPr>
        <p:txBody>
          <a:bodyPr wrap="square">
            <a:spAutoFit/>
          </a:bodyPr>
          <a:lstStyle/>
          <a:p>
            <a:pPr algn="l">
              <a:defRPr sz="2700" b="1">
                <a:solidFill>
                  <a:srgbClr val="0F172A"/>
                </a:solidFill>
                <a:latin typeface="Aptos"/>
              </a:defRPr>
            </a:pPr>
            <a:r>
              <a:t>Beginner-Friendly Project Scenarios</a:t>
            </a:r>
          </a:p>
        </p:txBody>
      </p:sp>
      <p:sp>
        <p:nvSpPr>
          <p:cNvPr id="3" name="TextBox 2"/>
          <p:cNvSpPr txBox="1"/>
          <p:nvPr/>
        </p:nvSpPr>
        <p:spPr>
          <a:xfrm>
            <a:off x="585216" y="896112"/>
            <a:ext cx="10789920" cy="320040"/>
          </a:xfrm>
          <a:prstGeom prst="rect">
            <a:avLst/>
          </a:prstGeom>
          <a:noFill/>
        </p:spPr>
        <p:txBody>
          <a:bodyPr wrap="square">
            <a:spAutoFit/>
          </a:bodyPr>
          <a:lstStyle/>
          <a:p>
            <a:pPr algn="l">
              <a:defRPr sz="1350" b="0">
                <a:solidFill>
                  <a:srgbClr val="64748B"/>
                </a:solidFill>
                <a:latin typeface="Aptos"/>
              </a:defRPr>
            </a:pPr>
            <a:r>
              <a:t>Small domains produce better final projects</a:t>
            </a:r>
          </a:p>
        </p:txBody>
      </p:sp>
      <p:sp>
        <p:nvSpPr>
          <p:cNvPr id="4" name="Rounded Rectangle 3"/>
          <p:cNvSpPr/>
          <p:nvPr/>
        </p:nvSpPr>
        <p:spPr>
          <a:xfrm>
            <a:off x="685800" y="1508760"/>
            <a:ext cx="2423160" cy="1005840"/>
          </a:xfrm>
          <a:prstGeom prst="roundRect">
            <a:avLst/>
          </a:prstGeom>
          <a:solidFill>
            <a:srgbClr val="FFFFFF"/>
          </a:solidFill>
          <a:ln w="2032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32104" y="1618488"/>
            <a:ext cx="2130552" cy="274320"/>
          </a:xfrm>
          <a:prstGeom prst="rect">
            <a:avLst/>
          </a:prstGeom>
          <a:noFill/>
        </p:spPr>
        <p:txBody>
          <a:bodyPr wrap="square">
            <a:spAutoFit/>
          </a:bodyPr>
          <a:lstStyle/>
          <a:p>
            <a:pPr algn="l">
              <a:defRPr sz="1500" b="1">
                <a:solidFill>
                  <a:srgbClr val="0D9488"/>
                </a:solidFill>
                <a:latin typeface="Aptos"/>
              </a:defRPr>
            </a:pPr>
            <a:r>
              <a:t>Campus club event tracker</a:t>
            </a:r>
          </a:p>
        </p:txBody>
      </p:sp>
      <p:sp>
        <p:nvSpPr>
          <p:cNvPr id="6" name="TextBox 5"/>
          <p:cNvSpPr txBox="1"/>
          <p:nvPr/>
        </p:nvSpPr>
        <p:spPr>
          <a:xfrm>
            <a:off x="832104" y="1947672"/>
            <a:ext cx="2130552" cy="475488"/>
          </a:xfrm>
          <a:prstGeom prst="rect">
            <a:avLst/>
          </a:prstGeom>
          <a:noFill/>
        </p:spPr>
        <p:txBody>
          <a:bodyPr wrap="square">
            <a:normAutofit/>
          </a:bodyPr>
          <a:lstStyle/>
          <a:p>
            <a:pPr>
              <a:defRPr sz="1150">
                <a:solidFill>
                  <a:srgbClr val="475569"/>
                </a:solidFill>
              </a:defRPr>
            </a:pPr>
            <a:r>
              <a:t>Keep scope small; focus on database evidence.</a:t>
            </a:r>
          </a:p>
        </p:txBody>
      </p:sp>
      <p:sp>
        <p:nvSpPr>
          <p:cNvPr id="7" name="Rounded Rectangle 6"/>
          <p:cNvSpPr/>
          <p:nvPr/>
        </p:nvSpPr>
        <p:spPr>
          <a:xfrm>
            <a:off x="3566160" y="1508760"/>
            <a:ext cx="2423160" cy="1005840"/>
          </a:xfrm>
          <a:prstGeom prst="roundRect">
            <a:avLst/>
          </a:prstGeom>
          <a:solidFill>
            <a:srgbClr val="FFFFFF"/>
          </a:solidFill>
          <a:ln w="2032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12464" y="1618488"/>
            <a:ext cx="2130552" cy="274320"/>
          </a:xfrm>
          <a:prstGeom prst="rect">
            <a:avLst/>
          </a:prstGeom>
          <a:noFill/>
        </p:spPr>
        <p:txBody>
          <a:bodyPr wrap="square">
            <a:spAutoFit/>
          </a:bodyPr>
          <a:lstStyle/>
          <a:p>
            <a:pPr algn="l">
              <a:defRPr sz="1500" b="1">
                <a:solidFill>
                  <a:srgbClr val="EA580C"/>
                </a:solidFill>
                <a:latin typeface="Aptos"/>
              </a:defRPr>
            </a:pPr>
            <a:r>
              <a:t>Small inventory tracker</a:t>
            </a:r>
          </a:p>
        </p:txBody>
      </p:sp>
      <p:sp>
        <p:nvSpPr>
          <p:cNvPr id="9" name="TextBox 8"/>
          <p:cNvSpPr txBox="1"/>
          <p:nvPr/>
        </p:nvSpPr>
        <p:spPr>
          <a:xfrm>
            <a:off x="3712464" y="1947672"/>
            <a:ext cx="2130552" cy="475488"/>
          </a:xfrm>
          <a:prstGeom prst="rect">
            <a:avLst/>
          </a:prstGeom>
          <a:noFill/>
        </p:spPr>
        <p:txBody>
          <a:bodyPr wrap="square">
            <a:normAutofit/>
          </a:bodyPr>
          <a:lstStyle/>
          <a:p>
            <a:pPr>
              <a:defRPr sz="1150">
                <a:solidFill>
                  <a:srgbClr val="475569"/>
                </a:solidFill>
              </a:defRPr>
            </a:pPr>
            <a:r>
              <a:t>Keep scope small; focus on database evidence.</a:t>
            </a:r>
          </a:p>
        </p:txBody>
      </p:sp>
      <p:sp>
        <p:nvSpPr>
          <p:cNvPr id="10" name="Rounded Rectangle 9"/>
          <p:cNvSpPr/>
          <p:nvPr/>
        </p:nvSpPr>
        <p:spPr>
          <a:xfrm>
            <a:off x="6446520" y="1508760"/>
            <a:ext cx="2423160" cy="1005840"/>
          </a:xfrm>
          <a:prstGeom prst="roundRect">
            <a:avLst/>
          </a:prstGeom>
          <a:solidFill>
            <a:srgbClr val="FFFFFF"/>
          </a:solidFill>
          <a:ln w="2032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92824" y="1618488"/>
            <a:ext cx="2130552" cy="274320"/>
          </a:xfrm>
          <a:prstGeom prst="rect">
            <a:avLst/>
          </a:prstGeom>
          <a:noFill/>
        </p:spPr>
        <p:txBody>
          <a:bodyPr wrap="square">
            <a:spAutoFit/>
          </a:bodyPr>
          <a:lstStyle/>
          <a:p>
            <a:pPr algn="l">
              <a:defRPr sz="1500" b="1">
                <a:solidFill>
                  <a:srgbClr val="2563EB"/>
                </a:solidFill>
                <a:latin typeface="Aptos"/>
              </a:defRPr>
            </a:pPr>
            <a:r>
              <a:t>Course resource library</a:t>
            </a:r>
          </a:p>
        </p:txBody>
      </p:sp>
      <p:sp>
        <p:nvSpPr>
          <p:cNvPr id="12" name="TextBox 11"/>
          <p:cNvSpPr txBox="1"/>
          <p:nvPr/>
        </p:nvSpPr>
        <p:spPr>
          <a:xfrm>
            <a:off x="6592824" y="1947672"/>
            <a:ext cx="2130552" cy="475488"/>
          </a:xfrm>
          <a:prstGeom prst="rect">
            <a:avLst/>
          </a:prstGeom>
          <a:noFill/>
        </p:spPr>
        <p:txBody>
          <a:bodyPr wrap="square">
            <a:normAutofit/>
          </a:bodyPr>
          <a:lstStyle/>
          <a:p>
            <a:pPr>
              <a:defRPr sz="1150">
                <a:solidFill>
                  <a:srgbClr val="475569"/>
                </a:solidFill>
              </a:defRPr>
            </a:pPr>
            <a:r>
              <a:t>Keep scope small; focus on database evidence.</a:t>
            </a:r>
          </a:p>
        </p:txBody>
      </p:sp>
      <p:sp>
        <p:nvSpPr>
          <p:cNvPr id="13" name="Rounded Rectangle 12"/>
          <p:cNvSpPr/>
          <p:nvPr/>
        </p:nvSpPr>
        <p:spPr>
          <a:xfrm>
            <a:off x="9326880" y="1508760"/>
            <a:ext cx="2423160" cy="1005840"/>
          </a:xfrm>
          <a:prstGeom prst="roundRect">
            <a:avLst/>
          </a:prstGeom>
          <a:solidFill>
            <a:srgbClr val="FFFFFF"/>
          </a:solidFill>
          <a:ln w="2032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73184" y="1618488"/>
            <a:ext cx="2130552" cy="274320"/>
          </a:xfrm>
          <a:prstGeom prst="rect">
            <a:avLst/>
          </a:prstGeom>
          <a:noFill/>
        </p:spPr>
        <p:txBody>
          <a:bodyPr wrap="square">
            <a:spAutoFit/>
          </a:bodyPr>
          <a:lstStyle/>
          <a:p>
            <a:pPr algn="l">
              <a:defRPr sz="1500" b="1">
                <a:solidFill>
                  <a:srgbClr val="16A34A"/>
                </a:solidFill>
                <a:latin typeface="Aptos"/>
              </a:defRPr>
            </a:pPr>
            <a:r>
              <a:t>Tutoring scheduler</a:t>
            </a:r>
          </a:p>
        </p:txBody>
      </p:sp>
      <p:sp>
        <p:nvSpPr>
          <p:cNvPr id="15" name="TextBox 14"/>
          <p:cNvSpPr txBox="1"/>
          <p:nvPr/>
        </p:nvSpPr>
        <p:spPr>
          <a:xfrm>
            <a:off x="9473184" y="1947672"/>
            <a:ext cx="2130552" cy="475488"/>
          </a:xfrm>
          <a:prstGeom prst="rect">
            <a:avLst/>
          </a:prstGeom>
          <a:noFill/>
        </p:spPr>
        <p:txBody>
          <a:bodyPr wrap="square">
            <a:normAutofit/>
          </a:bodyPr>
          <a:lstStyle/>
          <a:p>
            <a:pPr>
              <a:defRPr sz="1150">
                <a:solidFill>
                  <a:srgbClr val="475569"/>
                </a:solidFill>
              </a:defRPr>
            </a:pPr>
            <a:r>
              <a:t>Keep scope small; focus on database evidence.</a:t>
            </a:r>
          </a:p>
        </p:txBody>
      </p:sp>
      <p:sp>
        <p:nvSpPr>
          <p:cNvPr id="16" name="Rounded Rectangle 15"/>
          <p:cNvSpPr/>
          <p:nvPr/>
        </p:nvSpPr>
        <p:spPr>
          <a:xfrm>
            <a:off x="685800" y="2926080"/>
            <a:ext cx="2423160" cy="1005840"/>
          </a:xfrm>
          <a:prstGeom prst="roundRect">
            <a:avLst/>
          </a:prstGeom>
          <a:solidFill>
            <a:srgbClr val="FFFFFF"/>
          </a:solidFill>
          <a:ln w="20320">
            <a:solidFill>
              <a:srgbClr val="CA8A0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 y="3035808"/>
            <a:ext cx="2130552" cy="274320"/>
          </a:xfrm>
          <a:prstGeom prst="rect">
            <a:avLst/>
          </a:prstGeom>
          <a:noFill/>
        </p:spPr>
        <p:txBody>
          <a:bodyPr wrap="square">
            <a:spAutoFit/>
          </a:bodyPr>
          <a:lstStyle/>
          <a:p>
            <a:pPr algn="l">
              <a:defRPr sz="1500" b="1">
                <a:solidFill>
                  <a:srgbClr val="CA8A04"/>
                </a:solidFill>
                <a:latin typeface="Aptos"/>
              </a:defRPr>
            </a:pPr>
            <a:r>
              <a:t>Support ticket tracker</a:t>
            </a:r>
          </a:p>
        </p:txBody>
      </p:sp>
      <p:sp>
        <p:nvSpPr>
          <p:cNvPr id="18" name="TextBox 17"/>
          <p:cNvSpPr txBox="1"/>
          <p:nvPr/>
        </p:nvSpPr>
        <p:spPr>
          <a:xfrm>
            <a:off x="832104" y="3364992"/>
            <a:ext cx="2130552" cy="475488"/>
          </a:xfrm>
          <a:prstGeom prst="rect">
            <a:avLst/>
          </a:prstGeom>
          <a:noFill/>
        </p:spPr>
        <p:txBody>
          <a:bodyPr wrap="square">
            <a:normAutofit/>
          </a:bodyPr>
          <a:lstStyle/>
          <a:p>
            <a:pPr>
              <a:defRPr sz="1150">
                <a:solidFill>
                  <a:srgbClr val="475569"/>
                </a:solidFill>
              </a:defRPr>
            </a:pPr>
            <a:r>
              <a:t>Keep scope small; focus on database evidence.</a:t>
            </a:r>
          </a:p>
        </p:txBody>
      </p:sp>
      <p:sp>
        <p:nvSpPr>
          <p:cNvPr id="19" name="Rounded Rectangle 18"/>
          <p:cNvSpPr/>
          <p:nvPr/>
        </p:nvSpPr>
        <p:spPr>
          <a:xfrm>
            <a:off x="3566160" y="2926080"/>
            <a:ext cx="2423160" cy="1005840"/>
          </a:xfrm>
          <a:prstGeom prst="roundRect">
            <a:avLst/>
          </a:prstGeom>
          <a:solidFill>
            <a:srgbClr val="FFFFFF"/>
          </a:solidFill>
          <a:ln w="2032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712464" y="3035808"/>
            <a:ext cx="2130552" cy="274320"/>
          </a:xfrm>
          <a:prstGeom prst="rect">
            <a:avLst/>
          </a:prstGeom>
          <a:noFill/>
        </p:spPr>
        <p:txBody>
          <a:bodyPr wrap="square">
            <a:spAutoFit/>
          </a:bodyPr>
          <a:lstStyle/>
          <a:p>
            <a:pPr algn="l">
              <a:defRPr sz="1500" b="1">
                <a:solidFill>
                  <a:srgbClr val="0D9488"/>
                </a:solidFill>
                <a:latin typeface="Aptos"/>
              </a:defRPr>
            </a:pPr>
            <a:r>
              <a:t>Book lending tracker</a:t>
            </a:r>
          </a:p>
        </p:txBody>
      </p:sp>
      <p:sp>
        <p:nvSpPr>
          <p:cNvPr id="21" name="TextBox 20"/>
          <p:cNvSpPr txBox="1"/>
          <p:nvPr/>
        </p:nvSpPr>
        <p:spPr>
          <a:xfrm>
            <a:off x="3712464" y="3364992"/>
            <a:ext cx="2130552" cy="475488"/>
          </a:xfrm>
          <a:prstGeom prst="rect">
            <a:avLst/>
          </a:prstGeom>
          <a:noFill/>
        </p:spPr>
        <p:txBody>
          <a:bodyPr wrap="square">
            <a:normAutofit/>
          </a:bodyPr>
          <a:lstStyle/>
          <a:p>
            <a:pPr>
              <a:defRPr sz="1150">
                <a:solidFill>
                  <a:srgbClr val="475569"/>
                </a:solidFill>
              </a:defRPr>
            </a:pPr>
            <a:r>
              <a:t>Keep scope small; focus on database evidence.</a:t>
            </a:r>
          </a:p>
        </p:txBody>
      </p:sp>
      <p:sp>
        <p:nvSpPr>
          <p:cNvPr id="22" name="Rounded Rectangle 21"/>
          <p:cNvSpPr/>
          <p:nvPr/>
        </p:nvSpPr>
        <p:spPr>
          <a:xfrm>
            <a:off x="6446520" y="2926080"/>
            <a:ext cx="2423160" cy="1005840"/>
          </a:xfrm>
          <a:prstGeom prst="roundRect">
            <a:avLst/>
          </a:prstGeom>
          <a:solidFill>
            <a:srgbClr val="FFFFFF"/>
          </a:solidFill>
          <a:ln w="2032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92824" y="3035808"/>
            <a:ext cx="2130552" cy="274320"/>
          </a:xfrm>
          <a:prstGeom prst="rect">
            <a:avLst/>
          </a:prstGeom>
          <a:noFill/>
        </p:spPr>
        <p:txBody>
          <a:bodyPr wrap="square">
            <a:spAutoFit/>
          </a:bodyPr>
          <a:lstStyle/>
          <a:p>
            <a:pPr algn="l">
              <a:defRPr sz="1500" b="1">
                <a:solidFill>
                  <a:srgbClr val="2563EB"/>
                </a:solidFill>
                <a:latin typeface="Aptos"/>
              </a:defRPr>
            </a:pPr>
            <a:r>
              <a:t>Budget or expense tracker</a:t>
            </a:r>
          </a:p>
        </p:txBody>
      </p:sp>
      <p:sp>
        <p:nvSpPr>
          <p:cNvPr id="24" name="TextBox 23"/>
          <p:cNvSpPr txBox="1"/>
          <p:nvPr/>
        </p:nvSpPr>
        <p:spPr>
          <a:xfrm>
            <a:off x="6592824" y="3364992"/>
            <a:ext cx="2130552" cy="475488"/>
          </a:xfrm>
          <a:prstGeom prst="rect">
            <a:avLst/>
          </a:prstGeom>
          <a:noFill/>
        </p:spPr>
        <p:txBody>
          <a:bodyPr wrap="square">
            <a:normAutofit/>
          </a:bodyPr>
          <a:lstStyle/>
          <a:p>
            <a:pPr>
              <a:defRPr sz="1150">
                <a:solidFill>
                  <a:srgbClr val="475569"/>
                </a:solidFill>
              </a:defRPr>
            </a:pPr>
            <a:r>
              <a:t>Keep scope small; focus on database evidence.</a:t>
            </a:r>
          </a:p>
        </p:txBody>
      </p:sp>
      <p:sp>
        <p:nvSpPr>
          <p:cNvPr id="25" name="Rounded Rectangle 24"/>
          <p:cNvSpPr/>
          <p:nvPr/>
        </p:nvSpPr>
        <p:spPr>
          <a:xfrm>
            <a:off x="9326880" y="2926080"/>
            <a:ext cx="2423160" cy="1005840"/>
          </a:xfrm>
          <a:prstGeom prst="roundRect">
            <a:avLst/>
          </a:prstGeom>
          <a:solidFill>
            <a:srgbClr val="FFFFFF"/>
          </a:solidFill>
          <a:ln w="2032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473184" y="3035808"/>
            <a:ext cx="2130552" cy="274320"/>
          </a:xfrm>
          <a:prstGeom prst="rect">
            <a:avLst/>
          </a:prstGeom>
          <a:noFill/>
        </p:spPr>
        <p:txBody>
          <a:bodyPr wrap="square">
            <a:spAutoFit/>
          </a:bodyPr>
          <a:lstStyle/>
          <a:p>
            <a:pPr algn="l">
              <a:defRPr sz="1500" b="1">
                <a:solidFill>
                  <a:srgbClr val="EA580C"/>
                </a:solidFill>
                <a:latin typeface="Aptos"/>
              </a:defRPr>
            </a:pPr>
            <a:r>
              <a:t>Student submission tracker</a:t>
            </a:r>
          </a:p>
        </p:txBody>
      </p:sp>
      <p:sp>
        <p:nvSpPr>
          <p:cNvPr id="27" name="TextBox 26"/>
          <p:cNvSpPr txBox="1"/>
          <p:nvPr/>
        </p:nvSpPr>
        <p:spPr>
          <a:xfrm>
            <a:off x="9473184" y="3364992"/>
            <a:ext cx="2130552" cy="475488"/>
          </a:xfrm>
          <a:prstGeom prst="rect">
            <a:avLst/>
          </a:prstGeom>
          <a:noFill/>
        </p:spPr>
        <p:txBody>
          <a:bodyPr wrap="square">
            <a:normAutofit/>
          </a:bodyPr>
          <a:lstStyle/>
          <a:p>
            <a:pPr>
              <a:defRPr sz="1150">
                <a:solidFill>
                  <a:srgbClr val="475569"/>
                </a:solidFill>
              </a:defRPr>
            </a:pPr>
            <a:r>
              <a:t>Keep scope small; focus on database evidence.</a:t>
            </a:r>
          </a:p>
        </p:txBody>
      </p:sp>
      <p:sp>
        <p:nvSpPr>
          <p:cNvPr id="28" name="Rounded Rectangle 27"/>
          <p:cNvSpPr/>
          <p:nvPr/>
        </p:nvSpPr>
        <p:spPr>
          <a:xfrm>
            <a:off x="960120" y="4617720"/>
            <a:ext cx="10058400" cy="1051560"/>
          </a:xfrm>
          <a:prstGeom prst="roundRect">
            <a:avLst/>
          </a:prstGeom>
          <a:solidFill>
            <a:srgbClr val="FFFFFF"/>
          </a:solidFill>
          <a:ln w="1778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106424" y="4727448"/>
            <a:ext cx="9765792" cy="256032"/>
          </a:xfrm>
          <a:prstGeom prst="rect">
            <a:avLst/>
          </a:prstGeom>
          <a:noFill/>
        </p:spPr>
        <p:txBody>
          <a:bodyPr wrap="square">
            <a:spAutoFit/>
          </a:bodyPr>
          <a:lstStyle/>
          <a:p>
            <a:pPr algn="l">
              <a:defRPr sz="1700" b="1">
                <a:solidFill>
                  <a:srgbClr val="DC2626"/>
                </a:solidFill>
                <a:latin typeface="Aptos"/>
              </a:defRPr>
            </a:pPr>
            <a:r>
              <a:t>Scope rule</a:t>
            </a:r>
          </a:p>
        </p:txBody>
      </p:sp>
      <p:sp>
        <p:nvSpPr>
          <p:cNvPr id="30" name="TextBox 29"/>
          <p:cNvSpPr txBox="1"/>
          <p:nvPr/>
        </p:nvSpPr>
        <p:spPr>
          <a:xfrm>
            <a:off x="1124712" y="5056632"/>
            <a:ext cx="9729216" cy="521208"/>
          </a:xfrm>
          <a:prstGeom prst="rect">
            <a:avLst/>
          </a:prstGeom>
          <a:noFill/>
        </p:spPr>
        <p:txBody>
          <a:bodyPr wrap="square">
            <a:normAutofit/>
          </a:bodyPr>
          <a:lstStyle/>
          <a:p>
            <a:pPr>
              <a:defRPr sz="1500">
                <a:solidFill>
                  <a:srgbClr val="475569"/>
                </a:solidFill>
              </a:defRPr>
            </a:pPr>
            <a:r>
              <a:t>3-5 Postgres tables, or 2-4 MongoDB collections, or a very small split if using both platforms.</a:t>
            </a:r>
          </a:p>
        </p:txBody>
      </p:sp>
      <p:cxnSp>
        <p:nvCxnSpPr>
          <p:cNvPr id="31" name="Connector 30"/>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94360" y="6419088"/>
            <a:ext cx="2560320" cy="182880"/>
          </a:xfrm>
          <a:prstGeom prst="rect">
            <a:avLst/>
          </a:prstGeom>
          <a:noFill/>
        </p:spPr>
        <p:txBody>
          <a:bodyPr wrap="square">
            <a:spAutoFit/>
          </a:bodyPr>
          <a:lstStyle/>
          <a:p>
            <a:pPr algn="l">
              <a:defRPr sz="900" b="0">
                <a:solidFill>
                  <a:srgbClr val="64748B"/>
                </a:solidFill>
                <a:latin typeface="Aptos"/>
              </a:defRPr>
            </a:pPr>
            <a:r>
              <a:t>CST4714 | Week 12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20040"/>
            <a:ext cx="10972800" cy="640080"/>
          </a:xfrm>
          <a:prstGeom prst="rect">
            <a:avLst/>
          </a:prstGeom>
          <a:noFill/>
        </p:spPr>
        <p:txBody>
          <a:bodyPr wrap="square">
            <a:spAutoFit/>
          </a:bodyPr>
          <a:lstStyle/>
          <a:p>
            <a:r>
              <a:t>Minimum Project Review Evidence</a:t>
            </a:r>
          </a:p>
        </p:txBody>
      </p:sp>
      <p:sp>
        <p:nvSpPr>
          <p:cNvPr id="3" name="TextBox 2"/>
          <p:cNvSpPr txBox="1"/>
          <p:nvPr/>
        </p:nvSpPr>
        <p:spPr>
          <a:xfrm>
            <a:off x="585216" y="896112"/>
            <a:ext cx="10789920" cy="320040"/>
          </a:xfrm>
          <a:prstGeom prst="rect">
            <a:avLst/>
          </a:prstGeom>
          <a:noFill/>
        </p:spPr>
        <p:txBody>
          <a:bodyPr wrap="square">
            <a:spAutoFit/>
          </a:bodyPr>
          <a:lstStyle/>
          <a:p>
            <a:r>
              <a:t>What the instructor must be able to verify</a:t>
            </a:r>
          </a:p>
        </p:txBody>
      </p:sp>
      <p:sp>
        <p:nvSpPr>
          <p:cNvPr id="4" name="Rounded Rectangle 3"/>
          <p:cNvSpPr/>
          <p:nvPr/>
        </p:nvSpPr>
        <p:spPr>
          <a:xfrm>
            <a:off x="731520" y="1463040"/>
            <a:ext cx="3383280" cy="3429000"/>
          </a:xfrm>
          <a:prstGeom prst="roundRect">
            <a:avLst/>
          </a:prstGeom>
          <a:solidFill>
            <a:srgbClr val="FFFFFF"/>
          </a:solidFill>
          <a:ln w="177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 y="1572768"/>
            <a:ext cx="3090672" cy="256032"/>
          </a:xfrm>
          <a:prstGeom prst="rect">
            <a:avLst/>
          </a:prstGeom>
          <a:noFill/>
        </p:spPr>
        <p:txBody>
          <a:bodyPr wrap="square">
            <a:spAutoFit/>
          </a:bodyPr>
          <a:lstStyle/>
          <a:p>
            <a:r>
              <a:t>Data Artifacts</a:t>
            </a:r>
          </a:p>
        </p:txBody>
      </p:sp>
      <p:sp>
        <p:nvSpPr>
          <p:cNvPr id="6" name="TextBox 5"/>
          <p:cNvSpPr txBox="1"/>
          <p:nvPr/>
        </p:nvSpPr>
        <p:spPr>
          <a:xfrm>
            <a:off x="896112" y="1901952"/>
            <a:ext cx="3054096" cy="2898648"/>
          </a:xfrm>
          <a:prstGeom prst="rect">
            <a:avLst/>
          </a:prstGeom>
          <a:noFill/>
        </p:spPr>
        <p:txBody>
          <a:bodyPr wrap="square">
            <a:normAutofit/>
          </a:bodyPr>
          <a:lstStyle/>
          <a:p>
            <a:r>
              <a:t>Schema or document model</a:t>
            </a:r>
          </a:p>
          <a:p>
            <a:r>
              <a:t>Seed data files</a:t>
            </a:r>
          </a:p>
          <a:p>
            <a:r>
              <a:t>Query examples</a:t>
            </a:r>
          </a:p>
          <a:p>
            <a:r>
              <a:t>Platform choice rationale</a:t>
            </a:r>
          </a:p>
        </p:txBody>
      </p:sp>
      <p:sp>
        <p:nvSpPr>
          <p:cNvPr id="7" name="Rounded Rectangle 6"/>
          <p:cNvSpPr/>
          <p:nvPr/>
        </p:nvSpPr>
        <p:spPr>
          <a:xfrm>
            <a:off x="4389120" y="1463040"/>
            <a:ext cx="3383280" cy="3429000"/>
          </a:xfrm>
          <a:prstGeom prst="roundRect">
            <a:avLst/>
          </a:prstGeom>
          <a:solidFill>
            <a:srgbClr val="FFFFFF"/>
          </a:solidFill>
          <a:ln w="1778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35424" y="1572768"/>
            <a:ext cx="3090672" cy="256032"/>
          </a:xfrm>
          <a:prstGeom prst="rect">
            <a:avLst/>
          </a:prstGeom>
          <a:noFill/>
        </p:spPr>
        <p:txBody>
          <a:bodyPr wrap="square">
            <a:spAutoFit/>
          </a:bodyPr>
          <a:lstStyle/>
          <a:p>
            <a:r>
              <a:t>Cloud Review Access</a:t>
            </a:r>
          </a:p>
        </p:txBody>
      </p:sp>
      <p:sp>
        <p:nvSpPr>
          <p:cNvPr id="9" name="TextBox 8"/>
          <p:cNvSpPr txBox="1"/>
          <p:nvPr/>
        </p:nvSpPr>
        <p:spPr>
          <a:xfrm>
            <a:off x="4553712" y="1901952"/>
            <a:ext cx="3054096" cy="2898648"/>
          </a:xfrm>
          <a:prstGeom prst="rect">
            <a:avLst/>
          </a:prstGeom>
          <a:noFill/>
        </p:spPr>
        <p:txBody>
          <a:bodyPr wrap="square">
            <a:normAutofit/>
          </a:bodyPr>
          <a:lstStyle/>
          <a:p>
            <a:r>
              <a:t>Atlas: add instructor to project/team</a:t>
            </a:r>
          </a:p>
          <a:p>
            <a:r>
              <a:t>Postgres: submit SQL/project files</a:t>
            </a:r>
          </a:p>
          <a:p>
            <a:r>
              <a:t>GitHub optional</a:t>
            </a:r>
          </a:p>
          <a:p>
            <a:r>
              <a:t>Access must allow review</a:t>
            </a:r>
          </a:p>
        </p:txBody>
      </p:sp>
      <p:sp>
        <p:nvSpPr>
          <p:cNvPr id="10" name="Rounded Rectangle 9"/>
          <p:cNvSpPr/>
          <p:nvPr/>
        </p:nvSpPr>
        <p:spPr>
          <a:xfrm>
            <a:off x="8046720" y="1463040"/>
            <a:ext cx="3383280" cy="3429000"/>
          </a:xfrm>
          <a:prstGeom prst="roundRect">
            <a:avLst/>
          </a:prstGeom>
          <a:solidFill>
            <a:srgbClr val="FFFFFF"/>
          </a:solidFill>
          <a:ln w="1778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93024" y="1572768"/>
            <a:ext cx="3090672" cy="256032"/>
          </a:xfrm>
          <a:prstGeom prst="rect">
            <a:avLst/>
          </a:prstGeom>
          <a:noFill/>
        </p:spPr>
        <p:txBody>
          <a:bodyPr wrap="square">
            <a:spAutoFit/>
          </a:bodyPr>
          <a:lstStyle/>
          <a:p>
            <a:pPr algn="l">
              <a:defRPr sz="1700" b="1">
                <a:solidFill>
                  <a:srgbClr val="EA580C"/>
                </a:solidFill>
                <a:latin typeface="Aptos"/>
              </a:defRPr>
            </a:pPr>
            <a:r>
              <a:t>Admin Evidence</a:t>
            </a:r>
          </a:p>
        </p:txBody>
      </p:sp>
      <p:sp>
        <p:nvSpPr>
          <p:cNvPr id="12" name="TextBox 11"/>
          <p:cNvSpPr txBox="1"/>
          <p:nvPr/>
        </p:nvSpPr>
        <p:spPr>
          <a:xfrm>
            <a:off x="8211312" y="1901952"/>
            <a:ext cx="3054096" cy="2898648"/>
          </a:xfrm>
          <a:prstGeom prst="rect">
            <a:avLst/>
          </a:prstGeom>
          <a:noFill/>
        </p:spPr>
        <p:txBody>
          <a:bodyPr wrap="square">
            <a:normAutofit/>
          </a:bodyPr>
          <a:lstStyle/>
          <a:p>
            <a:r>
              <a:t>Index decision</a:t>
            </a:r>
          </a:p>
          <a:p>
            <a:r>
              <a:t>Access-control concern</a:t>
            </a:r>
          </a:p>
          <a:p>
            <a:r>
              <a:t>Backup/restore plan</a:t>
            </a:r>
          </a:p>
          <a:p>
            <a:r>
              <a:t>Restore verification checklist</a:t>
            </a:r>
          </a:p>
          <a:p>
            <a:r>
              <a:t>Reliability note</a:t>
            </a:r>
          </a:p>
        </p:txBody>
      </p:sp>
      <p:cxnSp>
        <p:nvCxnSpPr>
          <p:cNvPr id="13" name="Connector 12"/>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94360" y="6419088"/>
            <a:ext cx="2560320" cy="182880"/>
          </a:xfrm>
          <a:prstGeom prst="rect">
            <a:avLst/>
          </a:prstGeom>
          <a:noFill/>
        </p:spPr>
        <p:txBody>
          <a:bodyPr wrap="square">
            <a:spAutoFit/>
          </a:bodyPr>
          <a:lstStyle/>
          <a:p>
            <a:pPr algn="l">
              <a:defRPr sz="900" b="0">
                <a:solidFill>
                  <a:srgbClr val="64748B"/>
                </a:solidFill>
                <a:latin typeface="Aptos"/>
              </a:defRPr>
            </a:pPr>
            <a:r>
              <a:t>CST4714 | Week 12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20040"/>
            <a:ext cx="10972800" cy="640080"/>
          </a:xfrm>
          <a:prstGeom prst="rect">
            <a:avLst/>
          </a:prstGeom>
          <a:noFill/>
        </p:spPr>
        <p:txBody>
          <a:bodyPr wrap="square">
            <a:spAutoFit/>
          </a:bodyPr>
          <a:lstStyle/>
          <a:p>
            <a:pPr algn="l">
              <a:defRPr sz="2700" b="1">
                <a:solidFill>
                  <a:srgbClr val="0F172A"/>
                </a:solidFill>
                <a:latin typeface="Aptos"/>
              </a:defRPr>
            </a:pPr>
            <a:r>
              <a:t>Bad Scope vs Good Scope</a:t>
            </a:r>
          </a:p>
        </p:txBody>
      </p:sp>
      <p:sp>
        <p:nvSpPr>
          <p:cNvPr id="3" name="TextBox 2"/>
          <p:cNvSpPr txBox="1"/>
          <p:nvPr/>
        </p:nvSpPr>
        <p:spPr>
          <a:xfrm>
            <a:off x="585216" y="896112"/>
            <a:ext cx="10789920" cy="320040"/>
          </a:xfrm>
          <a:prstGeom prst="rect">
            <a:avLst/>
          </a:prstGeom>
          <a:noFill/>
        </p:spPr>
        <p:txBody>
          <a:bodyPr wrap="square">
            <a:spAutoFit/>
          </a:bodyPr>
          <a:lstStyle/>
          <a:p>
            <a:pPr algn="l">
              <a:defRPr sz="1350" b="0">
                <a:solidFill>
                  <a:srgbClr val="64748B"/>
                </a:solidFill>
                <a:latin typeface="Aptos"/>
              </a:defRPr>
            </a:pPr>
            <a:r>
              <a:t>Make the project finishable</a:t>
            </a:r>
          </a:p>
        </p:txBody>
      </p:sp>
      <p:sp>
        <p:nvSpPr>
          <p:cNvPr id="4" name="Rounded Rectangle 3"/>
          <p:cNvSpPr/>
          <p:nvPr/>
        </p:nvSpPr>
        <p:spPr>
          <a:xfrm>
            <a:off x="731520" y="1600200"/>
            <a:ext cx="5074920" cy="2834640"/>
          </a:xfrm>
          <a:prstGeom prst="roundRect">
            <a:avLst/>
          </a:prstGeom>
          <a:solidFill>
            <a:srgbClr val="FFFFFF"/>
          </a:solidFill>
          <a:ln w="2032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 y="1709928"/>
            <a:ext cx="4782312" cy="274320"/>
          </a:xfrm>
          <a:prstGeom prst="rect">
            <a:avLst/>
          </a:prstGeom>
          <a:noFill/>
        </p:spPr>
        <p:txBody>
          <a:bodyPr wrap="square">
            <a:spAutoFit/>
          </a:bodyPr>
          <a:lstStyle/>
          <a:p>
            <a:pPr algn="l">
              <a:defRPr sz="2000" b="1">
                <a:solidFill>
                  <a:srgbClr val="DC2626"/>
                </a:solidFill>
                <a:latin typeface="Aptos"/>
              </a:defRPr>
            </a:pPr>
            <a:r>
              <a:t>Too Big</a:t>
            </a:r>
          </a:p>
        </p:txBody>
      </p:sp>
      <p:sp>
        <p:nvSpPr>
          <p:cNvPr id="6" name="TextBox 5"/>
          <p:cNvSpPr txBox="1"/>
          <p:nvPr/>
        </p:nvSpPr>
        <p:spPr>
          <a:xfrm>
            <a:off x="877824" y="2039112"/>
            <a:ext cx="4782312" cy="2304288"/>
          </a:xfrm>
          <a:prstGeom prst="rect">
            <a:avLst/>
          </a:prstGeom>
          <a:noFill/>
        </p:spPr>
        <p:txBody>
          <a:bodyPr wrap="square">
            <a:normAutofit/>
          </a:bodyPr>
          <a:lstStyle/>
          <a:p>
            <a:pPr>
              <a:defRPr sz="1600">
                <a:solidFill>
                  <a:srgbClr val="475569"/>
                </a:solidFill>
              </a:defRPr>
            </a:pPr>
            <a:r>
              <a:t>A full e-commerce site, full LMS, full social network, complex multi-tenant SaaS app, or anything that depends on paid cloud features.</a:t>
            </a:r>
          </a:p>
        </p:txBody>
      </p:sp>
      <p:sp>
        <p:nvSpPr>
          <p:cNvPr id="7" name="Rounded Rectangle 6"/>
          <p:cNvSpPr/>
          <p:nvPr/>
        </p:nvSpPr>
        <p:spPr>
          <a:xfrm>
            <a:off x="6263640" y="1600200"/>
            <a:ext cx="5074920" cy="2834640"/>
          </a:xfrm>
          <a:prstGeom prst="roundRect">
            <a:avLst/>
          </a:prstGeom>
          <a:solidFill>
            <a:srgbClr val="FFFFFF"/>
          </a:solidFill>
          <a:ln w="2032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9944" y="1709928"/>
            <a:ext cx="4782312" cy="274320"/>
          </a:xfrm>
          <a:prstGeom prst="rect">
            <a:avLst/>
          </a:prstGeom>
          <a:noFill/>
        </p:spPr>
        <p:txBody>
          <a:bodyPr wrap="square">
            <a:spAutoFit/>
          </a:bodyPr>
          <a:lstStyle/>
          <a:p>
            <a:pPr algn="l">
              <a:defRPr sz="2000" b="1">
                <a:solidFill>
                  <a:srgbClr val="16A34A"/>
                </a:solidFill>
                <a:latin typeface="Aptos"/>
              </a:defRPr>
            </a:pPr>
            <a:r>
              <a:t>Good Scope</a:t>
            </a:r>
          </a:p>
        </p:txBody>
      </p:sp>
      <p:sp>
        <p:nvSpPr>
          <p:cNvPr id="9" name="TextBox 8"/>
          <p:cNvSpPr txBox="1"/>
          <p:nvPr/>
        </p:nvSpPr>
        <p:spPr>
          <a:xfrm>
            <a:off x="6409944" y="2039112"/>
            <a:ext cx="4782312" cy="2304288"/>
          </a:xfrm>
          <a:prstGeom prst="rect">
            <a:avLst/>
          </a:prstGeom>
          <a:noFill/>
        </p:spPr>
        <p:txBody>
          <a:bodyPr wrap="square">
            <a:normAutofit/>
          </a:bodyPr>
          <a:lstStyle/>
          <a:p>
            <a:pPr>
              <a:defRPr sz="1600">
                <a:solidFill>
                  <a:srgbClr val="475569"/>
                </a:solidFill>
              </a:defRPr>
            </a:pPr>
            <a:r>
              <a:t>A small database that manages one real domain, includes enough records to test queries, and documents the admin choices clearly.</a:t>
            </a:r>
          </a:p>
        </p:txBody>
      </p:sp>
      <p:sp>
        <p:nvSpPr>
          <p:cNvPr id="10" name="TextBox 9"/>
          <p:cNvSpPr txBox="1"/>
          <p:nvPr/>
        </p:nvSpPr>
        <p:spPr>
          <a:xfrm>
            <a:off x="1005840" y="4892040"/>
            <a:ext cx="9966960" cy="594360"/>
          </a:xfrm>
          <a:prstGeom prst="rect">
            <a:avLst/>
          </a:prstGeom>
          <a:noFill/>
        </p:spPr>
        <p:txBody>
          <a:bodyPr wrap="square">
            <a:spAutoFit/>
          </a:bodyPr>
          <a:lstStyle/>
          <a:p>
            <a:pPr algn="ctr">
              <a:defRPr sz="2000" b="1">
                <a:solidFill>
                  <a:srgbClr val="0F172A"/>
                </a:solidFill>
                <a:latin typeface="Aptos"/>
              </a:defRPr>
            </a:pPr>
            <a:r>
              <a:t>The final project should be boring enough to finish and real enough to explain.</a:t>
            </a:r>
          </a:p>
        </p:txBody>
      </p:sp>
      <p:cxnSp>
        <p:nvCxnSpPr>
          <p:cNvPr id="11" name="Connector 10"/>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94360" y="6419088"/>
            <a:ext cx="2560320" cy="182880"/>
          </a:xfrm>
          <a:prstGeom prst="rect">
            <a:avLst/>
          </a:prstGeom>
          <a:noFill/>
        </p:spPr>
        <p:txBody>
          <a:bodyPr wrap="square">
            <a:spAutoFit/>
          </a:bodyPr>
          <a:lstStyle/>
          <a:p>
            <a:pPr algn="l">
              <a:defRPr sz="900" b="0">
                <a:solidFill>
                  <a:srgbClr val="64748B"/>
                </a:solidFill>
                <a:latin typeface="Aptos"/>
              </a:defRPr>
            </a:pPr>
            <a:r>
              <a:t>CST4714 | Week 12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20040"/>
            <a:ext cx="10972800" cy="640080"/>
          </a:xfrm>
          <a:prstGeom prst="rect">
            <a:avLst/>
          </a:prstGeom>
          <a:noFill/>
        </p:spPr>
        <p:txBody>
          <a:bodyPr wrap="square">
            <a:spAutoFit/>
          </a:bodyPr>
          <a:lstStyle/>
          <a:p>
            <a:pPr algn="l">
              <a:defRPr sz="2700" b="1">
                <a:solidFill>
                  <a:srgbClr val="0F172A"/>
                </a:solidFill>
                <a:latin typeface="Aptos"/>
              </a:defRPr>
            </a:pPr>
            <a:r>
              <a:t>Day 1 Lab: Reliability and Project Choice</a:t>
            </a:r>
          </a:p>
        </p:txBody>
      </p:sp>
      <p:sp>
        <p:nvSpPr>
          <p:cNvPr id="3" name="TextBox 2"/>
          <p:cNvSpPr txBox="1"/>
          <p:nvPr/>
        </p:nvSpPr>
        <p:spPr>
          <a:xfrm>
            <a:off x="585216" y="896112"/>
            <a:ext cx="10789920" cy="320040"/>
          </a:xfrm>
          <a:prstGeom prst="rect">
            <a:avLst/>
          </a:prstGeom>
          <a:noFill/>
        </p:spPr>
        <p:txBody>
          <a:bodyPr wrap="square">
            <a:spAutoFit/>
          </a:bodyPr>
          <a:lstStyle/>
          <a:p>
            <a:pPr algn="l">
              <a:defRPr sz="1350" b="0">
                <a:solidFill>
                  <a:srgbClr val="64748B"/>
                </a:solidFill>
                <a:latin typeface="Aptos"/>
              </a:defRPr>
            </a:pPr>
            <a:r>
              <a:t>Students leave with a path and a scenario</a:t>
            </a:r>
          </a:p>
        </p:txBody>
      </p:sp>
      <p:sp>
        <p:nvSpPr>
          <p:cNvPr id="4" name="Rounded Rectangle 3"/>
          <p:cNvSpPr/>
          <p:nvPr/>
        </p:nvSpPr>
        <p:spPr>
          <a:xfrm>
            <a:off x="731520" y="1554480"/>
            <a:ext cx="5120640" cy="3063240"/>
          </a:xfrm>
          <a:prstGeom prst="roundRect">
            <a:avLst/>
          </a:prstGeom>
          <a:solidFill>
            <a:srgbClr val="FFFFFF"/>
          </a:solidFill>
          <a:ln w="1778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 y="1664208"/>
            <a:ext cx="4828032" cy="256032"/>
          </a:xfrm>
          <a:prstGeom prst="rect">
            <a:avLst/>
          </a:prstGeom>
          <a:noFill/>
        </p:spPr>
        <p:txBody>
          <a:bodyPr wrap="square">
            <a:spAutoFit/>
          </a:bodyPr>
          <a:lstStyle/>
          <a:p>
            <a:pPr algn="l">
              <a:defRPr sz="1700" b="1">
                <a:solidFill>
                  <a:srgbClr val="0D9488"/>
                </a:solidFill>
                <a:latin typeface="Aptos"/>
              </a:defRPr>
            </a:pPr>
            <a:r>
              <a:t>Reliability Notes</a:t>
            </a:r>
          </a:p>
        </p:txBody>
      </p:sp>
      <p:sp>
        <p:nvSpPr>
          <p:cNvPr id="6" name="TextBox 5"/>
          <p:cNvSpPr txBox="1"/>
          <p:nvPr/>
        </p:nvSpPr>
        <p:spPr>
          <a:xfrm>
            <a:off x="896112" y="1993392"/>
            <a:ext cx="4791456" cy="2532888"/>
          </a:xfrm>
          <a:prstGeom prst="rect">
            <a:avLst/>
          </a:prstGeom>
          <a:noFill/>
        </p:spPr>
        <p:txBody>
          <a:bodyPr wrap="square">
            <a:normAutofit/>
          </a:bodyPr>
          <a:lstStyle/>
          <a:p>
            <a:pPr>
              <a:defRPr sz="1450">
                <a:solidFill>
                  <a:srgbClr val="475569"/>
                </a:solidFill>
              </a:defRPr>
            </a:pPr>
            <a:r>
              <a:t>Define primary, secondary, replication lag, failover</a:t>
            </a:r>
          </a:p>
          <a:p>
            <a:pPr>
              <a:defRPr sz="1450">
                <a:solidFill>
                  <a:srgbClr val="475569"/>
                </a:solidFill>
              </a:defRPr>
            </a:pPr>
            <a:r>
              <a:t>Explain read preference and write concern</a:t>
            </a:r>
          </a:p>
          <a:p>
            <a:pPr>
              <a:defRPr sz="1450">
                <a:solidFill>
                  <a:srgbClr val="475569"/>
                </a:solidFill>
              </a:defRPr>
            </a:pPr>
            <a:r>
              <a:t>Name one reliability risk</a:t>
            </a:r>
          </a:p>
        </p:txBody>
      </p:sp>
      <p:sp>
        <p:nvSpPr>
          <p:cNvPr id="7" name="Rounded Rectangle 6"/>
          <p:cNvSpPr/>
          <p:nvPr/>
        </p:nvSpPr>
        <p:spPr>
          <a:xfrm>
            <a:off x="6263640" y="1554480"/>
            <a:ext cx="5120640" cy="3063240"/>
          </a:xfrm>
          <a:prstGeom prst="roundRect">
            <a:avLst/>
          </a:prstGeom>
          <a:solidFill>
            <a:srgbClr val="FFFFFF"/>
          </a:solidFill>
          <a:ln w="1778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9944" y="1664208"/>
            <a:ext cx="4828032" cy="256032"/>
          </a:xfrm>
          <a:prstGeom prst="rect">
            <a:avLst/>
          </a:prstGeom>
          <a:noFill/>
        </p:spPr>
        <p:txBody>
          <a:bodyPr wrap="square">
            <a:spAutoFit/>
          </a:bodyPr>
          <a:lstStyle/>
          <a:p>
            <a:pPr algn="l">
              <a:defRPr sz="1700" b="1">
                <a:solidFill>
                  <a:srgbClr val="16A34A"/>
                </a:solidFill>
                <a:latin typeface="Aptos"/>
              </a:defRPr>
            </a:pPr>
            <a:r>
              <a:t>Project Choice</a:t>
            </a:r>
          </a:p>
        </p:txBody>
      </p:sp>
      <p:sp>
        <p:nvSpPr>
          <p:cNvPr id="9" name="TextBox 8"/>
          <p:cNvSpPr txBox="1"/>
          <p:nvPr/>
        </p:nvSpPr>
        <p:spPr>
          <a:xfrm>
            <a:off x="6428232" y="1993392"/>
            <a:ext cx="4791456" cy="2532888"/>
          </a:xfrm>
          <a:prstGeom prst="rect">
            <a:avLst/>
          </a:prstGeom>
          <a:noFill/>
        </p:spPr>
        <p:txBody>
          <a:bodyPr wrap="square">
            <a:normAutofit/>
          </a:bodyPr>
          <a:lstStyle/>
          <a:p>
            <a:pPr>
              <a:defRPr sz="1450">
                <a:solidFill>
                  <a:srgbClr val="475569"/>
                </a:solidFill>
              </a:defRPr>
            </a:pPr>
            <a:r>
              <a:t>Choose Supabase, Atlas, or both</a:t>
            </a:r>
          </a:p>
          <a:p>
            <a:pPr>
              <a:defRPr sz="1450">
                <a:solidFill>
                  <a:srgbClr val="475569"/>
                </a:solidFill>
              </a:defRPr>
            </a:pPr>
            <a:r>
              <a:t>Choose a small scenario</a:t>
            </a:r>
          </a:p>
          <a:p>
            <a:pPr>
              <a:defRPr sz="1450">
                <a:solidFill>
                  <a:srgbClr val="475569"/>
                </a:solidFill>
              </a:defRPr>
            </a:pPr>
            <a:r>
              <a:t>List core data</a:t>
            </a:r>
          </a:p>
          <a:p>
            <a:pPr>
              <a:defRPr sz="1450">
                <a:solidFill>
                  <a:srgbClr val="475569"/>
                </a:solidFill>
              </a:defRPr>
            </a:pPr>
            <a:r>
              <a:t>Name one backup or restore concern</a:t>
            </a:r>
          </a:p>
        </p:txBody>
      </p:sp>
      <p:sp>
        <p:nvSpPr>
          <p:cNvPr id="10" name="TextBox 9"/>
          <p:cNvSpPr txBox="1"/>
          <p:nvPr/>
        </p:nvSpPr>
        <p:spPr>
          <a:xfrm>
            <a:off x="914400" y="5166360"/>
            <a:ext cx="10058400" cy="320040"/>
          </a:xfrm>
          <a:prstGeom prst="rect">
            <a:avLst/>
          </a:prstGeom>
          <a:noFill/>
        </p:spPr>
        <p:txBody>
          <a:bodyPr wrap="square">
            <a:spAutoFit/>
          </a:bodyPr>
          <a:lstStyle/>
          <a:p>
            <a:r>
              <a:t>In-class checkpoint: week12_day1_project_choice.md</a:t>
            </a:r>
          </a:p>
        </p:txBody>
      </p:sp>
      <p:cxnSp>
        <p:nvCxnSpPr>
          <p:cNvPr id="11" name="Connector 10"/>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94360" y="6419088"/>
            <a:ext cx="2560320" cy="182880"/>
          </a:xfrm>
          <a:prstGeom prst="rect">
            <a:avLst/>
          </a:prstGeom>
          <a:noFill/>
        </p:spPr>
        <p:txBody>
          <a:bodyPr wrap="square">
            <a:spAutoFit/>
          </a:bodyPr>
          <a:lstStyle/>
          <a:p>
            <a:pPr algn="l">
              <a:defRPr sz="900" b="0">
                <a:solidFill>
                  <a:srgbClr val="64748B"/>
                </a:solidFill>
                <a:latin typeface="Aptos"/>
              </a:defRPr>
            </a:pPr>
            <a:r>
              <a:t>CST4714 | Week 12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20040"/>
            <a:ext cx="10972800" cy="640080"/>
          </a:xfrm>
          <a:prstGeom prst="rect">
            <a:avLst/>
          </a:prstGeom>
          <a:noFill/>
        </p:spPr>
        <p:txBody>
          <a:bodyPr wrap="square">
            <a:spAutoFit/>
          </a:bodyPr>
          <a:lstStyle/>
          <a:p>
            <a:pPr algn="l">
              <a:defRPr sz="2700" b="1">
                <a:solidFill>
                  <a:srgbClr val="0F172A"/>
                </a:solidFill>
                <a:latin typeface="Aptos"/>
              </a:defRPr>
            </a:pPr>
            <a:r>
              <a:t>Day 2 Lab: Restore-First Project Studio</a:t>
            </a:r>
          </a:p>
        </p:txBody>
      </p:sp>
      <p:sp>
        <p:nvSpPr>
          <p:cNvPr id="3" name="TextBox 2"/>
          <p:cNvSpPr txBox="1"/>
          <p:nvPr/>
        </p:nvSpPr>
        <p:spPr>
          <a:xfrm>
            <a:off x="585216" y="896112"/>
            <a:ext cx="10789920" cy="320040"/>
          </a:xfrm>
          <a:prstGeom prst="rect">
            <a:avLst/>
          </a:prstGeom>
          <a:noFill/>
        </p:spPr>
        <p:txBody>
          <a:bodyPr wrap="square">
            <a:spAutoFit/>
          </a:bodyPr>
          <a:lstStyle/>
          <a:p>
            <a:pPr algn="l">
              <a:defRPr sz="1350" b="0">
                <a:solidFill>
                  <a:srgbClr val="64748B"/>
                </a:solidFill>
                <a:latin typeface="Aptos"/>
              </a:defRPr>
            </a:pPr>
            <a:r>
              <a:t>Students start the final project plan</a:t>
            </a:r>
          </a:p>
        </p:txBody>
      </p:sp>
      <p:sp>
        <p:nvSpPr>
          <p:cNvPr id="4" name="Rounded Rectangle 3"/>
          <p:cNvSpPr/>
          <p:nvPr/>
        </p:nvSpPr>
        <p:spPr>
          <a:xfrm>
            <a:off x="731520" y="1554480"/>
            <a:ext cx="5120640" cy="3154680"/>
          </a:xfrm>
          <a:prstGeom prst="roundRect">
            <a:avLst/>
          </a:prstGeom>
          <a:solidFill>
            <a:srgbClr val="FFFFFF"/>
          </a:solidFill>
          <a:ln w="17780">
            <a:solidFill>
              <a:srgbClr val="EA580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 y="1664208"/>
            <a:ext cx="4828032" cy="256032"/>
          </a:xfrm>
          <a:prstGeom prst="rect">
            <a:avLst/>
          </a:prstGeom>
          <a:noFill/>
        </p:spPr>
        <p:txBody>
          <a:bodyPr wrap="square">
            <a:spAutoFit/>
          </a:bodyPr>
          <a:lstStyle/>
          <a:p>
            <a:pPr algn="l">
              <a:defRPr sz="1700" b="1">
                <a:solidFill>
                  <a:srgbClr val="EA580C"/>
                </a:solidFill>
                <a:latin typeface="Aptos"/>
              </a:defRPr>
            </a:pPr>
            <a:r>
              <a:t>Restore-First Notes</a:t>
            </a:r>
          </a:p>
        </p:txBody>
      </p:sp>
      <p:sp>
        <p:nvSpPr>
          <p:cNvPr id="6" name="TextBox 5"/>
          <p:cNvSpPr txBox="1"/>
          <p:nvPr/>
        </p:nvSpPr>
        <p:spPr>
          <a:xfrm>
            <a:off x="896112" y="1993392"/>
            <a:ext cx="4791456" cy="2624328"/>
          </a:xfrm>
          <a:prstGeom prst="rect">
            <a:avLst/>
          </a:prstGeom>
          <a:noFill/>
        </p:spPr>
        <p:txBody>
          <a:bodyPr wrap="square">
            <a:normAutofit/>
          </a:bodyPr>
          <a:lstStyle/>
          <a:p>
            <a:pPr>
              <a:defRPr sz="1450">
                <a:solidFill>
                  <a:srgbClr val="475569"/>
                </a:solidFill>
              </a:defRPr>
            </a:pPr>
            <a:r>
              <a:t>Define backup, restore, PITR</a:t>
            </a:r>
          </a:p>
          <a:p>
            <a:pPr>
              <a:defRPr sz="1450">
                <a:solidFill>
                  <a:srgbClr val="475569"/>
                </a:solidFill>
              </a:defRPr>
            </a:pPr>
            <a:r>
              <a:t>Write a short verification checklist</a:t>
            </a:r>
          </a:p>
          <a:p>
            <a:pPr>
              <a:defRPr sz="1450">
                <a:solidFill>
                  <a:srgbClr val="475569"/>
                </a:solidFill>
              </a:defRPr>
            </a:pPr>
            <a:r>
              <a:t>Compare one Supabase and one Atlas reliability idea</a:t>
            </a:r>
          </a:p>
        </p:txBody>
      </p:sp>
      <p:sp>
        <p:nvSpPr>
          <p:cNvPr id="7" name="Rounded Rectangle 6"/>
          <p:cNvSpPr/>
          <p:nvPr/>
        </p:nvSpPr>
        <p:spPr>
          <a:xfrm>
            <a:off x="6263640" y="1554480"/>
            <a:ext cx="5120640" cy="3154680"/>
          </a:xfrm>
          <a:prstGeom prst="roundRect">
            <a:avLst/>
          </a:prstGeom>
          <a:solidFill>
            <a:srgbClr val="FFFFFF"/>
          </a:solidFill>
          <a:ln w="177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9944" y="1664208"/>
            <a:ext cx="4828032" cy="256032"/>
          </a:xfrm>
          <a:prstGeom prst="rect">
            <a:avLst/>
          </a:prstGeom>
          <a:noFill/>
        </p:spPr>
        <p:txBody>
          <a:bodyPr wrap="square">
            <a:spAutoFit/>
          </a:bodyPr>
          <a:lstStyle/>
          <a:p>
            <a:pPr algn="l">
              <a:defRPr sz="1700" b="1">
                <a:solidFill>
                  <a:srgbClr val="2563EB"/>
                </a:solidFill>
                <a:latin typeface="Aptos"/>
              </a:defRPr>
            </a:pPr>
            <a:r>
              <a:t>Project Plan</a:t>
            </a:r>
          </a:p>
        </p:txBody>
      </p:sp>
      <p:sp>
        <p:nvSpPr>
          <p:cNvPr id="9" name="TextBox 8"/>
          <p:cNvSpPr txBox="1"/>
          <p:nvPr/>
        </p:nvSpPr>
        <p:spPr>
          <a:xfrm>
            <a:off x="6428232" y="1993392"/>
            <a:ext cx="4791456" cy="2624328"/>
          </a:xfrm>
          <a:prstGeom prst="rect">
            <a:avLst/>
          </a:prstGeom>
          <a:noFill/>
        </p:spPr>
        <p:txBody>
          <a:bodyPr wrap="square">
            <a:normAutofit/>
          </a:bodyPr>
          <a:lstStyle/>
          <a:p>
            <a:pPr>
              <a:defRPr sz="1450">
                <a:solidFill>
                  <a:srgbClr val="475569"/>
                </a:solidFill>
              </a:defRPr>
            </a:pPr>
            <a:r>
              <a:t>Title and problem statement</a:t>
            </a:r>
          </a:p>
          <a:p>
            <a:pPr>
              <a:defRPr sz="1450">
                <a:solidFill>
                  <a:srgbClr val="475569"/>
                </a:solidFill>
              </a:defRPr>
            </a:pPr>
            <a:r>
              <a:t>Platform path</a:t>
            </a:r>
          </a:p>
          <a:p>
            <a:pPr>
              <a:defRPr sz="1450">
                <a:solidFill>
                  <a:srgbClr val="475569"/>
                </a:solidFill>
              </a:defRPr>
            </a:pPr>
            <a:r>
              <a:t>Data model plan</a:t>
            </a:r>
          </a:p>
          <a:p>
            <a:pPr>
              <a:defRPr sz="1450">
                <a:solidFill>
                  <a:srgbClr val="475569"/>
                </a:solidFill>
              </a:defRPr>
            </a:pPr>
            <a:r>
              <a:t>Seed data plan</a:t>
            </a:r>
          </a:p>
          <a:p>
            <a:pPr>
              <a:defRPr sz="1450">
                <a:solidFill>
                  <a:srgbClr val="475569"/>
                </a:solidFill>
              </a:defRPr>
            </a:pPr>
            <a:r>
              <a:t>Query plan</a:t>
            </a:r>
          </a:p>
          <a:p>
            <a:pPr>
              <a:defRPr sz="1450">
                <a:solidFill>
                  <a:srgbClr val="475569"/>
                </a:solidFill>
              </a:defRPr>
            </a:pPr>
            <a:r>
              <a:t>Admin and reliability plan</a:t>
            </a:r>
          </a:p>
        </p:txBody>
      </p:sp>
      <p:sp>
        <p:nvSpPr>
          <p:cNvPr id="10" name="TextBox 9"/>
          <p:cNvSpPr txBox="1"/>
          <p:nvPr/>
        </p:nvSpPr>
        <p:spPr>
          <a:xfrm>
            <a:off x="914400" y="5257800"/>
            <a:ext cx="10058400" cy="320040"/>
          </a:xfrm>
          <a:prstGeom prst="rect">
            <a:avLst/>
          </a:prstGeom>
          <a:noFill/>
        </p:spPr>
        <p:txBody>
          <a:bodyPr wrap="square">
            <a:spAutoFit/>
          </a:bodyPr>
          <a:lstStyle/>
          <a:p>
            <a:r>
              <a:t>In-class checkpoints: week12_day2_reliability_notes.md and final_project_plan.md</a:t>
            </a:r>
          </a:p>
        </p:txBody>
      </p:sp>
      <p:cxnSp>
        <p:nvCxnSpPr>
          <p:cNvPr id="11" name="Connector 10"/>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94360" y="6419088"/>
            <a:ext cx="2560320" cy="182880"/>
          </a:xfrm>
          <a:prstGeom prst="rect">
            <a:avLst/>
          </a:prstGeom>
          <a:noFill/>
        </p:spPr>
        <p:txBody>
          <a:bodyPr wrap="square">
            <a:spAutoFit/>
          </a:bodyPr>
          <a:lstStyle/>
          <a:p>
            <a:pPr algn="l">
              <a:defRPr sz="900" b="0">
                <a:solidFill>
                  <a:srgbClr val="64748B"/>
                </a:solidFill>
                <a:latin typeface="Aptos"/>
              </a:defRPr>
            </a:pPr>
            <a:r>
              <a:t>CST4714 | Week 12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66928" y="320040"/>
            <a:ext cx="10972800" cy="640080"/>
          </a:xfrm>
          <a:prstGeom prst="rect">
            <a:avLst/>
          </a:prstGeom>
          <a:noFill/>
        </p:spPr>
        <p:txBody>
          <a:bodyPr wrap="square">
            <a:spAutoFit/>
          </a:bodyPr>
          <a:lstStyle/>
          <a:p>
            <a:pPr algn="l">
              <a:defRPr sz="2700" b="1">
                <a:solidFill>
                  <a:srgbClr val="0F172A"/>
                </a:solidFill>
                <a:latin typeface="Aptos"/>
              </a:defRPr>
            </a:pPr>
            <a:r>
              <a:t>End-of-Week Checklist</a:t>
            </a:r>
          </a:p>
        </p:txBody>
      </p:sp>
      <p:sp>
        <p:nvSpPr>
          <p:cNvPr id="3" name="TextBox 2"/>
          <p:cNvSpPr txBox="1"/>
          <p:nvPr/>
        </p:nvSpPr>
        <p:spPr>
          <a:xfrm>
            <a:off x="585216" y="896112"/>
            <a:ext cx="10789920" cy="320040"/>
          </a:xfrm>
          <a:prstGeom prst="rect">
            <a:avLst/>
          </a:prstGeom>
          <a:noFill/>
        </p:spPr>
        <p:txBody>
          <a:bodyPr wrap="square">
            <a:spAutoFit/>
          </a:bodyPr>
          <a:lstStyle/>
          <a:p>
            <a:pPr algn="l">
              <a:defRPr sz="1350" b="0">
                <a:solidFill>
                  <a:srgbClr val="64748B"/>
                </a:solidFill>
                <a:latin typeface="Aptos"/>
              </a:defRPr>
            </a:pPr>
            <a:r>
              <a:t>What students should have before leaving Week 12</a:t>
            </a:r>
          </a:p>
        </p:txBody>
      </p:sp>
      <p:sp>
        <p:nvSpPr>
          <p:cNvPr id="4" name="Rounded Rectangle 3"/>
          <p:cNvSpPr/>
          <p:nvPr/>
        </p:nvSpPr>
        <p:spPr>
          <a:xfrm>
            <a:off x="960120" y="1417320"/>
            <a:ext cx="10149840" cy="4389120"/>
          </a:xfrm>
          <a:prstGeom prst="roundRect">
            <a:avLst/>
          </a:prstGeom>
          <a:solidFill>
            <a:srgbClr val="FFFFFF"/>
          </a:solidFill>
          <a:ln w="1778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06424" y="1527048"/>
            <a:ext cx="9857232" cy="256032"/>
          </a:xfrm>
          <a:prstGeom prst="rect">
            <a:avLst/>
          </a:prstGeom>
          <a:noFill/>
        </p:spPr>
        <p:txBody>
          <a:bodyPr wrap="square">
            <a:spAutoFit/>
          </a:bodyPr>
          <a:lstStyle/>
          <a:p>
            <a:pPr algn="l">
              <a:defRPr sz="1700" b="1">
                <a:solidFill>
                  <a:srgbClr val="16A34A"/>
                </a:solidFill>
                <a:latin typeface="Aptos"/>
              </a:defRPr>
            </a:pPr>
            <a:r>
              <a:t>Student Checklist</a:t>
            </a:r>
          </a:p>
        </p:txBody>
      </p:sp>
      <p:sp>
        <p:nvSpPr>
          <p:cNvPr id="6" name="TextBox 5"/>
          <p:cNvSpPr txBox="1"/>
          <p:nvPr/>
        </p:nvSpPr>
        <p:spPr>
          <a:xfrm>
            <a:off x="1124712" y="1856232"/>
            <a:ext cx="9820656" cy="3858768"/>
          </a:xfrm>
          <a:prstGeom prst="rect">
            <a:avLst/>
          </a:prstGeom>
          <a:noFill/>
        </p:spPr>
        <p:txBody>
          <a:bodyPr wrap="square">
            <a:normAutofit/>
          </a:bodyPr>
          <a:lstStyle/>
          <a:p>
            <a:pPr>
              <a:defRPr sz="1600">
                <a:solidFill>
                  <a:srgbClr val="475569"/>
                </a:solidFill>
              </a:defRPr>
            </a:pPr>
            <a:r>
              <a:t>I chose Supabase/Postgres, MongoDB/Atlas, or both.</a:t>
            </a:r>
          </a:p>
          <a:p>
            <a:pPr>
              <a:defRPr sz="1600">
                <a:solidFill>
                  <a:srgbClr val="475569"/>
                </a:solidFill>
              </a:defRPr>
            </a:pPr>
            <a:r>
              <a:t>I chose a small project scenario.</a:t>
            </a:r>
          </a:p>
          <a:p>
            <a:pPr>
              <a:defRPr sz="1600">
                <a:solidFill>
                  <a:srgbClr val="475569"/>
                </a:solidFill>
              </a:defRPr>
            </a:pPr>
            <a:r>
              <a:t>I can explain one reliability concept in plain language.</a:t>
            </a:r>
          </a:p>
          <a:p>
            <a:pPr>
              <a:defRPr sz="1600">
                <a:solidFill>
                  <a:srgbClr val="475569"/>
                </a:solidFill>
              </a:defRPr>
            </a:pPr>
            <a:r>
              <a:t>I wrote a first data model plan.</a:t>
            </a:r>
          </a:p>
          <a:p>
            <a:pPr>
              <a:defRPr sz="1600">
                <a:solidFill>
                  <a:srgbClr val="475569"/>
                </a:solidFill>
              </a:defRPr>
            </a:pPr>
            <a:r>
              <a:t>I listed at least four project queries.</a:t>
            </a:r>
          </a:p>
          <a:p>
            <a:pPr>
              <a:defRPr sz="1600">
                <a:solidFill>
                  <a:srgbClr val="475569"/>
                </a:solidFill>
              </a:defRPr>
            </a:pPr>
            <a:r>
              <a:t>I wrote one backup/restore verification idea.</a:t>
            </a:r>
          </a:p>
          <a:p>
            <a:pPr>
              <a:defRPr sz="1600">
                <a:solidFill>
                  <a:srgbClr val="475569"/>
                </a:solidFill>
              </a:defRPr>
            </a:pPr>
            <a:r>
              <a:t>I know what to build first next week.</a:t>
            </a:r>
          </a:p>
        </p:txBody>
      </p:sp>
      <p:cxnSp>
        <p:nvCxnSpPr>
          <p:cNvPr id="7" name="Connector 6"/>
          <p:cNvCxnSpPr/>
          <p:nvPr/>
        </p:nvCxnSpPr>
        <p:spPr>
          <a:xfrm>
            <a:off x="502920" y="6382512"/>
            <a:ext cx="11155680" cy="0"/>
          </a:xfrm>
          <a:prstGeom prst="line">
            <a:avLst/>
          </a:prstGeom>
          <a:ln w="12700">
            <a:solidFill>
              <a:srgbClr val="E2E8F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94360" y="6419088"/>
            <a:ext cx="2560320" cy="182880"/>
          </a:xfrm>
          <a:prstGeom prst="rect">
            <a:avLst/>
          </a:prstGeom>
          <a:noFill/>
        </p:spPr>
        <p:txBody>
          <a:bodyPr wrap="square">
            <a:spAutoFit/>
          </a:bodyPr>
          <a:lstStyle/>
          <a:p>
            <a:pPr algn="l">
              <a:defRPr sz="900" b="0">
                <a:solidFill>
                  <a:srgbClr val="64748B"/>
                </a:solidFill>
                <a:latin typeface="Aptos"/>
              </a:defRPr>
            </a:pPr>
            <a:r>
              <a:t>CST4714 | Week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