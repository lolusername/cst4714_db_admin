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notesMaster" Target="notesMasters/notesMaster1.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frame the day as a practical bridge from final project ideas to usable data.</a:t>
            </a:r>
          </a:p>
          <a:p>
            <a:r>
              <a:t>Students do not need to become data scientists today. They need to learn how to recognize a dataset, ask where it came from, understand its shape, and plan a safe upload.</a:t>
            </a:r>
          </a:p>
          <a:p>
            <a:r>
              <a:t>Keep returning to the database administrator question: what evidence would I need before trusting and loading this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separate the words dataset, platform, and database.</a:t>
            </a:r>
          </a:p>
          <a:p>
            <a:r>
              <a:t>Students often treat a CSV download as if it is already a database. Emphasize that a platform gives access to data, but database work begins when we decide structure, constraints, indexes, and recovery.</a:t>
            </a:r>
          </a:p>
          <a:p>
            <a:r>
              <a:t>Use examples students know: Kaggle hosts competition and practice datasets, NYC Open Data publishes public agency data, and scikit-learn ships small datasets inside Python.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this is the core workflow for the lab.</a:t>
            </a:r>
          </a:p>
          <a:p>
            <a:r>
              <a:t>The common beginner mistake is jumping from download to upload. Slow them down. The useful middle steps are inspect, trust, and shape.</a:t>
            </a:r>
          </a:p>
          <a:p>
            <a:r>
              <a:t>Connect to final projects: a good project can start from a public dataset, but students must be able to explain why the data is appropriate and how they transformed or modeled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introduce formats from scratch and connect each format to database shape.</a:t>
            </a:r>
          </a:p>
          <a:p>
            <a:r>
              <a:t>CSV is easy to preview but can hide type problems: dates become text, IDs become numbers, empty values become nulls. JSON can preserve nesting but may vary across records.</a:t>
            </a:r>
          </a:p>
          <a:p>
            <a:r>
              <a:t>For images and security logs, emphasize that the database often stores metadata and references, not necessarily every large raw 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Kaggle is approachable but not automatically authoritative.</a:t>
            </a:r>
          </a:p>
          <a:p>
            <a:r>
              <a:t>Point out that datasets can be uploaded by many different users. That is useful, but it means students need to check license, source, descriptions, and whether the dataset is current.</a:t>
            </a:r>
          </a:p>
          <a:p>
            <a:r>
              <a:t>For the lab, Kaggle is a good option when students can find a small CSV with understandable columns.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NYC Open Data is a strong source for realistic database projects because it has public agency context and structured fields.</a:t>
            </a:r>
          </a:p>
          <a:p>
            <a:r>
              <a:t>Explain that many city portals use Socrata, which means students may see export buttons and API endpoints. They do not need to code against the API today; they need to know that it exists.</a:t>
            </a:r>
          </a:p>
          <a:p>
            <a:r>
              <a:t>Warn that public data can contain messy categories, missing coordinates, old dates, and fields with unclear names.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introduce scikit-learn from scratch as a Python library with built-in dataset utilities.</a:t>
            </a:r>
          </a:p>
          <a:p>
            <a:r>
              <a:t>Explain that ML datasets are convenient because they are small and documented, but they can hide the messy work of real data collection.</a:t>
            </a:r>
          </a:p>
          <a:p>
            <a:r>
              <a:t>For database class, the point is not training a model. The point is turning records and metadata into a database that can be queried and documented.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be explicit about safety boundaries.</a:t>
            </a:r>
          </a:p>
          <a:p>
            <a:r>
              <a:t>Security data is attractive to students, but they should work with metadata and documented examples, not dangerous files. CISA KEV and GitHub Advisory Database are safer entry points because they describe vulnerabilities rather than asking students to handle malware.</a:t>
            </a:r>
          </a:p>
          <a:p>
            <a:r>
              <a:t>Connect to database administration: security datasets naturally raise access control, retention, data quality, and update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GitHub is a distribution channel, not a guarantee of quality.</a:t>
            </a:r>
          </a:p>
          <a:p>
            <a:r>
              <a:t>Students should learn to read repository context: README, license, issue activity, commit dates, and whether the dataset is raw or generated.</a:t>
            </a:r>
          </a:p>
          <a:p>
            <a:r>
              <a:t>The safest beginner path is to use data files directly, not run code from random repositories.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this is the checklist students use during the lab.</a:t>
            </a:r>
          </a:p>
          <a:p>
            <a:r>
              <a:t>Make the checklist practical. They should answer each item with evidence from the platform page, preview, documentation, or file.</a:t>
            </a:r>
          </a:p>
          <a:p>
            <a:r>
              <a:t>If they cannot answer source, license, meaning, and privacy, the dataset is not ready for a database project.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give students a simple starting routine.</a:t>
            </a:r>
          </a:p>
          <a:p>
            <a:r>
              <a:t>They should not feel stuck when opening a new dataset. Count, preview, identify, type, question, risk, and model are enough to start.</a:t>
            </a:r>
          </a:p>
          <a:p>
            <a:r>
              <a:t>Use this slide to transition into database fit.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the database choice is not a popularity contest.</a:t>
            </a:r>
          </a:p>
          <a:p>
            <a:r>
              <a:t>Use shape and access pattern. Tables and relationships point to Postgres. Nested documents, flexible event data, and variable records point to MongoDB.</a:t>
            </a:r>
          </a:p>
          <a:p>
            <a:r>
              <a:t>Both is acceptable only when the split is clear and small enough for the student to finish.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make Atlas upload concrete without requiring every student to finish import today.</a:t>
            </a:r>
          </a:p>
          <a:p>
            <a:r>
              <a:t>Compass is easier for beginners because it has an import UI. mongoimport is more reproducible and better for project evidence.</a:t>
            </a:r>
          </a:p>
          <a:p>
            <a:r>
              <a:t>Emphasize secret handling. Students should never submit full connection strings or passwords. For the lab, an upload plan is enough unless you explicitly ask for an actual import.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import starts with schema decisions.</a:t>
            </a:r>
          </a:p>
          <a:p>
            <a:r>
              <a:t>For Postgres, students need to decide columns and data types. CSV import is easy only after those choices make sense.</a:t>
            </a:r>
          </a:p>
          <a:p>
            <a:r>
              <a:t>Connect to Supabase: Supabase is managed Postgres, so the same modeling principles apply even when the dashboard makes imports easier.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clarify that this is one lab, not multiple deliverables.</a:t>
            </a:r>
          </a:p>
          <a:p>
            <a:r>
              <a:t>They submit one Brightspace text response. The response should include the dataset link, analysis, database fit, and upload plans.</a:t>
            </a:r>
          </a:p>
          <a:p>
            <a:r>
              <a:t>If students already have Atlas or Supabase ready, they can try a small sample import, but do not let setup consume the whole class.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close by connecting the lab to the final project.</a:t>
            </a:r>
          </a:p>
          <a:p>
            <a:r>
              <a:t>Students should not leave with a vague idea like “I found a dataset.” They should leave with a source, a dataset link, a record definition, a trust assessment, and an upload plan.</a:t>
            </a:r>
          </a:p>
          <a:p>
            <a:r>
              <a:t>Reinforce that small and understandable is better than huge and confusing.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notesSlide" Target="../notesSlides/notesSlide16.xml" /></ns0: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00600" cy="6858000"/>
          </a:xfrm>
          <a:prstGeom prst="rect">
            <a:avLst/>
          </a:prstGeom>
          <a:solidFill>
            <a:srgbClr val="1C3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051560"/>
            <a:ext cx="1874519" cy="438912"/>
          </a:xfrm>
          <a:prstGeom prst="roundRect">
            <a:avLst/>
          </a:prstGeom>
          <a:solidFill>
            <a:srgbClr val="D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161288"/>
            <a:ext cx="1371600" cy="182880"/>
          </a:xfrm>
          <a:prstGeom prst="rect">
            <a:avLst/>
          </a:prstGeom>
          <a:noFill/>
        </p:spPr>
        <p:txBody>
          <a:bodyPr wrap="square" anchor="t">
            <a:normAutofit/>
          </a:bodyPr>
          <a:lstStyle/>
          <a:p>
            <a:pPr algn="l"/>
            <a:r>
              <a:rPr sz="1300" b="1">
                <a:solidFill>
                  <a:srgbClr val="1C354A"/>
                </a:solidFill>
                <a:latin typeface="Aptos"/>
              </a:rPr>
              <a:t>CSV</a:t>
            </a:r>
          </a:p>
        </p:txBody>
      </p:sp>
      <p:sp>
        <p:nvSpPr>
          <p:cNvPr id="6" name="Rounded Rectangle 5"/>
          <p:cNvSpPr/>
          <p:nvPr/>
        </p:nvSpPr>
        <p:spPr>
          <a:xfrm>
            <a:off x="758952" y="1874519"/>
            <a:ext cx="1874519" cy="438912"/>
          </a:xfrm>
          <a:prstGeom prst="roundRect">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84248"/>
            <a:ext cx="1371600" cy="182880"/>
          </a:xfrm>
          <a:prstGeom prst="rect">
            <a:avLst/>
          </a:prstGeom>
          <a:noFill/>
        </p:spPr>
        <p:txBody>
          <a:bodyPr wrap="square" anchor="t">
            <a:normAutofit/>
          </a:bodyPr>
          <a:lstStyle/>
          <a:p>
            <a:pPr algn="l"/>
            <a:r>
              <a:rPr sz="1300" b="1">
                <a:solidFill>
                  <a:srgbClr val="1C354A"/>
                </a:solidFill>
                <a:latin typeface="Aptos"/>
              </a:rPr>
              <a:t>JSON</a:t>
            </a:r>
          </a:p>
        </p:txBody>
      </p:sp>
      <p:sp>
        <p:nvSpPr>
          <p:cNvPr id="8" name="Rounded Rectangle 7"/>
          <p:cNvSpPr/>
          <p:nvPr/>
        </p:nvSpPr>
        <p:spPr>
          <a:xfrm>
            <a:off x="832104" y="2697480"/>
            <a:ext cx="1874519" cy="438912"/>
          </a:xfrm>
          <a:prstGeom prst="roundRect">
            <a:avLst/>
          </a:prstGeom>
          <a:solidFill>
            <a:srgbClr val="DD6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807208"/>
            <a:ext cx="1371600" cy="182880"/>
          </a:xfrm>
          <a:prstGeom prst="rect">
            <a:avLst/>
          </a:prstGeom>
          <a:noFill/>
        </p:spPr>
        <p:txBody>
          <a:bodyPr wrap="square" anchor="t">
            <a:normAutofit/>
          </a:bodyPr>
          <a:lstStyle/>
          <a:p>
            <a:pPr algn="l"/>
            <a:r>
              <a:rPr sz="1300" b="1">
                <a:solidFill>
                  <a:srgbClr val="1C354A"/>
                </a:solidFill>
                <a:latin typeface="Aptos"/>
              </a:rPr>
              <a:t>API</a:t>
            </a:r>
          </a:p>
        </p:txBody>
      </p:sp>
      <p:sp>
        <p:nvSpPr>
          <p:cNvPr id="10" name="Rounded Rectangle 9"/>
          <p:cNvSpPr/>
          <p:nvPr/>
        </p:nvSpPr>
        <p:spPr>
          <a:xfrm>
            <a:off x="905256" y="3520440"/>
            <a:ext cx="1874519" cy="438912"/>
          </a:xfrm>
          <a:prstGeom prst="roundRect">
            <a:avLst/>
          </a:prstGeom>
          <a:solidFill>
            <a:srgbClr val="D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3630168"/>
            <a:ext cx="1371600" cy="182880"/>
          </a:xfrm>
          <a:prstGeom prst="rect">
            <a:avLst/>
          </a:prstGeom>
          <a:noFill/>
        </p:spPr>
        <p:txBody>
          <a:bodyPr wrap="square" anchor="t">
            <a:normAutofit/>
          </a:bodyPr>
          <a:lstStyle/>
          <a:p>
            <a:pPr algn="l"/>
            <a:r>
              <a:rPr sz="1300" b="1">
                <a:solidFill>
                  <a:srgbClr val="1C354A"/>
                </a:solidFill>
                <a:latin typeface="Aptos"/>
              </a:rPr>
              <a:t>LOG</a:t>
            </a:r>
          </a:p>
        </p:txBody>
      </p:sp>
      <p:sp>
        <p:nvSpPr>
          <p:cNvPr id="12" name="Rounded Rectangle 11"/>
          <p:cNvSpPr/>
          <p:nvPr/>
        </p:nvSpPr>
        <p:spPr>
          <a:xfrm>
            <a:off x="978408" y="4343400"/>
            <a:ext cx="1874519" cy="438912"/>
          </a:xfrm>
          <a:prstGeom prst="roundRect">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 y="4453128"/>
            <a:ext cx="1371600" cy="182880"/>
          </a:xfrm>
          <a:prstGeom prst="rect">
            <a:avLst/>
          </a:prstGeom>
          <a:noFill/>
        </p:spPr>
        <p:txBody>
          <a:bodyPr wrap="square" anchor="t">
            <a:normAutofit/>
          </a:bodyPr>
          <a:lstStyle/>
          <a:p>
            <a:pPr algn="l"/>
            <a:r>
              <a:rPr sz="1300" b="1">
                <a:solidFill>
                  <a:srgbClr val="1C354A"/>
                </a:solidFill>
                <a:latin typeface="Aptos"/>
              </a:rPr>
              <a:t>ML</a:t>
            </a:r>
          </a:p>
        </p:txBody>
      </p:sp>
      <p:sp>
        <p:nvSpPr>
          <p:cNvPr id="14" name="TextBox 13"/>
          <p:cNvSpPr txBox="1"/>
          <p:nvPr/>
        </p:nvSpPr>
        <p:spPr>
          <a:xfrm>
            <a:off x="5440680" y="804672"/>
            <a:ext cx="3474720" cy="228600"/>
          </a:xfrm>
          <a:prstGeom prst="rect">
            <a:avLst/>
          </a:prstGeom>
          <a:noFill/>
        </p:spPr>
        <p:txBody>
          <a:bodyPr wrap="square" anchor="t">
            <a:normAutofit/>
          </a:bodyPr>
          <a:lstStyle/>
          <a:p>
            <a:pPr algn="l"/>
            <a:r>
              <a:rPr sz="1200" b="1">
                <a:solidFill>
                  <a:srgbClr val="116666"/>
                </a:solidFill>
                <a:latin typeface="Aptos"/>
              </a:rPr>
              <a:t>Week 12 Day 2</a:t>
            </a:r>
          </a:p>
        </p:txBody>
      </p:sp>
      <p:sp>
        <p:nvSpPr>
          <p:cNvPr id="15" name="TextBox 14"/>
          <p:cNvSpPr txBox="1"/>
          <p:nvPr/>
        </p:nvSpPr>
        <p:spPr>
          <a:xfrm>
            <a:off x="5394960" y="1115568"/>
            <a:ext cx="5806440" cy="1188720"/>
          </a:xfrm>
          <a:prstGeom prst="rect">
            <a:avLst/>
          </a:prstGeom>
          <a:noFill/>
        </p:spPr>
        <p:txBody>
          <a:bodyPr wrap="square" anchor="t">
            <a:normAutofit/>
          </a:bodyPr>
          <a:lstStyle/>
          <a:p>
            <a:pPr algn="l"/>
            <a:r>
              <a:rPr sz="3500" b="1">
                <a:solidFill>
                  <a:srgbClr val="1D2326"/>
                </a:solidFill>
                <a:latin typeface="Aptos Display"/>
              </a:rPr>
              <a:t>Data Platforms and Dataset On-Ramps</a:t>
            </a:r>
          </a:p>
        </p:txBody>
      </p:sp>
      <p:sp>
        <p:nvSpPr>
          <p:cNvPr id="16" name="TextBox 15"/>
          <p:cNvSpPr txBox="1"/>
          <p:nvPr/>
        </p:nvSpPr>
        <p:spPr>
          <a:xfrm>
            <a:off x="5440680" y="2542032"/>
            <a:ext cx="5394960" cy="621792"/>
          </a:xfrm>
          <a:prstGeom prst="rect">
            <a:avLst/>
          </a:prstGeom>
          <a:noFill/>
        </p:spPr>
        <p:txBody>
          <a:bodyPr wrap="square" anchor="t">
            <a:normAutofit/>
          </a:bodyPr>
          <a:lstStyle/>
          <a:p>
            <a:pPr algn="l"/>
            <a:r>
              <a:rPr sz="1600" b="0">
                <a:solidFill>
                  <a:srgbClr val="586065"/>
                </a:solidFill>
                <a:latin typeface="Aptos"/>
              </a:rPr>
              <a:t>Finding useful data, judging whether it is trustworthy, and planning how it enters MongoDB Atlas or Postgres/Supabase.</a:t>
            </a:r>
          </a:p>
        </p:txBody>
      </p:sp>
      <p:sp>
        <p:nvSpPr>
          <p:cNvPr id="17" name="Rounded Rectangle 16"/>
          <p:cNvSpPr/>
          <p:nvPr/>
        </p:nvSpPr>
        <p:spPr>
          <a:xfrm>
            <a:off x="5440680" y="3858768"/>
            <a:ext cx="5394960" cy="105156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05272" y="3995928"/>
            <a:ext cx="5065776" cy="246888"/>
          </a:xfrm>
          <a:prstGeom prst="rect">
            <a:avLst/>
          </a:prstGeom>
          <a:noFill/>
        </p:spPr>
        <p:txBody>
          <a:bodyPr wrap="square" anchor="t">
            <a:normAutofit/>
          </a:bodyPr>
          <a:lstStyle/>
          <a:p>
            <a:pPr algn="l"/>
            <a:r>
              <a:rPr sz="1350" b="1">
                <a:solidFill>
                  <a:srgbClr val="116666"/>
                </a:solidFill>
                <a:latin typeface="Aptos"/>
              </a:rPr>
              <a:t>Today's job</a:t>
            </a:r>
          </a:p>
        </p:txBody>
      </p:sp>
      <p:sp>
        <p:nvSpPr>
          <p:cNvPr id="19" name="TextBox 18"/>
          <p:cNvSpPr txBox="1"/>
          <p:nvPr/>
        </p:nvSpPr>
        <p:spPr>
          <a:xfrm>
            <a:off x="5605272" y="4297679"/>
            <a:ext cx="5065776" cy="521207"/>
          </a:xfrm>
          <a:prstGeom prst="rect">
            <a:avLst/>
          </a:prstGeom>
          <a:noFill/>
        </p:spPr>
        <p:txBody>
          <a:bodyPr wrap="square" anchor="t">
            <a:normAutofit/>
          </a:bodyPr>
          <a:lstStyle/>
          <a:p>
            <a:pPr algn="l"/>
            <a:r>
              <a:rPr sz="1250" b="0">
                <a:solidFill>
                  <a:srgbClr val="1D2326"/>
                </a:solidFill>
                <a:latin typeface="Aptos"/>
              </a:rPr>
              <a:t>Choose one real dataset, analyze the platform it came from, and decide how it should be loaded into a database.</a:t>
            </a:r>
          </a:p>
        </p:txBody>
      </p:sp>
      <p:sp>
        <p:nvSpPr>
          <p:cNvPr id="20" name="TextBox 19"/>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1" name="TextBox 20"/>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FROM SCRATCH</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What Is a Data Platform?</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A place that publishes, hosts, documents, or distributes datasets.</a:t>
            </a:r>
          </a:p>
        </p:txBody>
      </p:sp>
      <p:sp>
        <p:nvSpPr>
          <p:cNvPr id="8" name="Rounded Rectangle 7"/>
          <p:cNvSpPr/>
          <p:nvPr/>
        </p:nvSpPr>
        <p:spPr>
          <a:xfrm>
            <a:off x="685800" y="1993392"/>
            <a:ext cx="3474720" cy="132588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130552"/>
            <a:ext cx="3145536" cy="246888"/>
          </a:xfrm>
          <a:prstGeom prst="rect">
            <a:avLst/>
          </a:prstGeom>
          <a:noFill/>
        </p:spPr>
        <p:txBody>
          <a:bodyPr wrap="square" anchor="t">
            <a:normAutofit/>
          </a:bodyPr>
          <a:lstStyle/>
          <a:p>
            <a:pPr algn="l"/>
            <a:r>
              <a:rPr sz="1350" b="1">
                <a:solidFill>
                  <a:srgbClr val="116666"/>
                </a:solidFill>
                <a:latin typeface="Aptos"/>
              </a:rPr>
              <a:t>Dataset</a:t>
            </a:r>
          </a:p>
        </p:txBody>
      </p:sp>
      <p:sp>
        <p:nvSpPr>
          <p:cNvPr id="10" name="TextBox 9"/>
          <p:cNvSpPr txBox="1"/>
          <p:nvPr/>
        </p:nvSpPr>
        <p:spPr>
          <a:xfrm>
            <a:off x="850392" y="2432304"/>
            <a:ext cx="3145536" cy="795528"/>
          </a:xfrm>
          <a:prstGeom prst="rect">
            <a:avLst/>
          </a:prstGeom>
          <a:noFill/>
        </p:spPr>
        <p:txBody>
          <a:bodyPr wrap="square" anchor="t">
            <a:normAutofit/>
          </a:bodyPr>
          <a:lstStyle/>
          <a:p>
            <a:pPr algn="l"/>
            <a:r>
              <a:rPr sz="1250" b="0">
                <a:solidFill>
                  <a:srgbClr val="1D2326"/>
                </a:solidFill>
                <a:latin typeface="Aptos"/>
              </a:rPr>
              <a:t>A collection of records: rows, documents, files, images, logs, or examples gathered for a purpose.</a:t>
            </a:r>
          </a:p>
        </p:txBody>
      </p:sp>
      <p:sp>
        <p:nvSpPr>
          <p:cNvPr id="11" name="Rounded Rectangle 10"/>
          <p:cNvSpPr/>
          <p:nvPr/>
        </p:nvSpPr>
        <p:spPr>
          <a:xfrm>
            <a:off x="4343400" y="1993392"/>
            <a:ext cx="3474720" cy="132588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2130552"/>
            <a:ext cx="3145536" cy="246888"/>
          </a:xfrm>
          <a:prstGeom prst="rect">
            <a:avLst/>
          </a:prstGeom>
          <a:noFill/>
        </p:spPr>
        <p:txBody>
          <a:bodyPr wrap="square" anchor="t">
            <a:normAutofit/>
          </a:bodyPr>
          <a:lstStyle/>
          <a:p>
            <a:pPr algn="l"/>
            <a:r>
              <a:rPr sz="1350" b="1">
                <a:solidFill>
                  <a:srgbClr val="116666"/>
                </a:solidFill>
                <a:latin typeface="Aptos"/>
              </a:rPr>
              <a:t>Platform</a:t>
            </a:r>
          </a:p>
        </p:txBody>
      </p:sp>
      <p:sp>
        <p:nvSpPr>
          <p:cNvPr id="13" name="TextBox 12"/>
          <p:cNvSpPr txBox="1"/>
          <p:nvPr/>
        </p:nvSpPr>
        <p:spPr>
          <a:xfrm>
            <a:off x="4507992" y="2432304"/>
            <a:ext cx="3145536" cy="795528"/>
          </a:xfrm>
          <a:prstGeom prst="rect">
            <a:avLst/>
          </a:prstGeom>
          <a:noFill/>
        </p:spPr>
        <p:txBody>
          <a:bodyPr wrap="square" anchor="t">
            <a:normAutofit/>
          </a:bodyPr>
          <a:lstStyle/>
          <a:p>
            <a:pPr algn="l"/>
            <a:r>
              <a:rPr sz="1250" b="0">
                <a:solidFill>
                  <a:srgbClr val="1D2326"/>
                </a:solidFill>
                <a:latin typeface="Aptos"/>
              </a:rPr>
              <a:t>The system around the dataset: search, preview, download, API, license, metadata, owner, and update history.</a:t>
            </a:r>
          </a:p>
        </p:txBody>
      </p:sp>
      <p:sp>
        <p:nvSpPr>
          <p:cNvPr id="14" name="Rounded Rectangle 13"/>
          <p:cNvSpPr/>
          <p:nvPr/>
        </p:nvSpPr>
        <p:spPr>
          <a:xfrm>
            <a:off x="8001000" y="1993392"/>
            <a:ext cx="3474720" cy="132588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2130552"/>
            <a:ext cx="3145536" cy="246888"/>
          </a:xfrm>
          <a:prstGeom prst="rect">
            <a:avLst/>
          </a:prstGeom>
          <a:noFill/>
        </p:spPr>
        <p:txBody>
          <a:bodyPr wrap="square" anchor="t">
            <a:normAutofit/>
          </a:bodyPr>
          <a:lstStyle/>
          <a:p>
            <a:pPr algn="l"/>
            <a:r>
              <a:rPr sz="1350" b="1">
                <a:solidFill>
                  <a:srgbClr val="116666"/>
                </a:solidFill>
                <a:latin typeface="Aptos"/>
              </a:rPr>
              <a:t>Database</a:t>
            </a:r>
          </a:p>
        </p:txBody>
      </p:sp>
      <p:sp>
        <p:nvSpPr>
          <p:cNvPr id="16" name="TextBox 15"/>
          <p:cNvSpPr txBox="1"/>
          <p:nvPr/>
        </p:nvSpPr>
        <p:spPr>
          <a:xfrm>
            <a:off x="8165592" y="2432304"/>
            <a:ext cx="3145536" cy="795528"/>
          </a:xfrm>
          <a:prstGeom prst="rect">
            <a:avLst/>
          </a:prstGeom>
          <a:noFill/>
        </p:spPr>
        <p:txBody>
          <a:bodyPr wrap="square" anchor="t">
            <a:normAutofit/>
          </a:bodyPr>
          <a:lstStyle/>
          <a:p>
            <a:pPr algn="l"/>
            <a:r>
              <a:rPr sz="1250" b="0">
                <a:solidFill>
                  <a:srgbClr val="1D2326"/>
                </a:solidFill>
                <a:latin typeface="Aptos"/>
              </a:rPr>
              <a:t>Where we store selected data in a modeled form so applications and queries can use it reliably.</a:t>
            </a:r>
          </a:p>
        </p:txBody>
      </p:sp>
      <p:cxnSp>
        <p:nvCxnSpPr>
          <p:cNvPr id="17" name="Connector 16"/>
          <p:cNvCxnSpPr/>
          <p:nvPr/>
        </p:nvCxnSpPr>
        <p:spPr>
          <a:xfrm>
            <a:off x="3950208" y="2651760"/>
            <a:ext cx="365760" cy="0"/>
          </a:xfrm>
          <a:prstGeom prst="line">
            <a:avLst/>
          </a:prstGeom>
          <a:ln w="27940">
            <a:solidFill>
              <a:srgbClr val="1166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607808" y="2651760"/>
            <a:ext cx="365760" cy="0"/>
          </a:xfrm>
          <a:prstGeom prst="line">
            <a:avLst/>
          </a:prstGeom>
          <a:ln w="27940">
            <a:solidFill>
              <a:srgbClr val="11666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43000" y="4160520"/>
            <a:ext cx="9875520" cy="548640"/>
          </a:xfrm>
          <a:prstGeom prst="rect">
            <a:avLst/>
          </a:prstGeom>
          <a:noFill/>
        </p:spPr>
        <p:txBody>
          <a:bodyPr wrap="square" anchor="t">
            <a:normAutofit/>
          </a:bodyPr>
          <a:lstStyle/>
          <a:p>
            <a:pPr algn="ctr"/>
            <a:r>
              <a:rPr sz="2000" b="1">
                <a:solidFill>
                  <a:srgbClr val="1D2326"/>
                </a:solidFill>
                <a:latin typeface="Aptos"/>
              </a:rPr>
              <a:t>A platform is not automatically a database. It is a source. Your job is to decide what is worth importing and how it should be modeled.</a:t>
            </a:r>
          </a:p>
        </p:txBody>
      </p:sp>
      <p:sp>
        <p:nvSpPr>
          <p:cNvPr id="20" name="TextBox 19"/>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1" name="TextBox 20"/>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MENTAL MODEL</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The Data-On-Ramp Pipeline</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The same basic path appears across Kaggle, NYC Open Data, GitHub, ML datasets, and security datasets.</a:t>
            </a:r>
          </a:p>
        </p:txBody>
      </p:sp>
      <p:sp>
        <p:nvSpPr>
          <p:cNvPr id="8" name="Rounded Rectangle 7"/>
          <p:cNvSpPr/>
          <p:nvPr/>
        </p:nvSpPr>
        <p:spPr>
          <a:xfrm>
            <a:off x="502920" y="2240280"/>
            <a:ext cx="150876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377440"/>
            <a:ext cx="1179576" cy="246888"/>
          </a:xfrm>
          <a:prstGeom prst="rect">
            <a:avLst/>
          </a:prstGeom>
          <a:noFill/>
        </p:spPr>
        <p:txBody>
          <a:bodyPr wrap="square" anchor="t">
            <a:normAutofit/>
          </a:bodyPr>
          <a:lstStyle/>
          <a:p>
            <a:pPr algn="l"/>
            <a:r>
              <a:rPr sz="1350" b="1">
                <a:solidFill>
                  <a:srgbClr val="116666"/>
                </a:solidFill>
                <a:latin typeface="Aptos"/>
              </a:rPr>
              <a:t>Find</a:t>
            </a:r>
          </a:p>
        </p:txBody>
      </p:sp>
      <p:sp>
        <p:nvSpPr>
          <p:cNvPr id="10" name="TextBox 9"/>
          <p:cNvSpPr txBox="1"/>
          <p:nvPr/>
        </p:nvSpPr>
        <p:spPr>
          <a:xfrm>
            <a:off x="667512" y="2679192"/>
            <a:ext cx="1179576" cy="612648"/>
          </a:xfrm>
          <a:prstGeom prst="rect">
            <a:avLst/>
          </a:prstGeom>
          <a:noFill/>
        </p:spPr>
        <p:txBody>
          <a:bodyPr wrap="square" anchor="t">
            <a:normAutofit/>
          </a:bodyPr>
          <a:lstStyle/>
          <a:p>
            <a:pPr algn="l"/>
            <a:r>
              <a:rPr sz="1050" b="0">
                <a:solidFill>
                  <a:srgbClr val="1D2326"/>
                </a:solidFill>
                <a:latin typeface="Aptos"/>
              </a:rPr>
              <a:t>Search a platform</a:t>
            </a:r>
          </a:p>
        </p:txBody>
      </p:sp>
      <p:cxnSp>
        <p:nvCxnSpPr>
          <p:cNvPr id="11" name="Connector 10"/>
          <p:cNvCxnSpPr/>
          <p:nvPr/>
        </p:nvCxnSpPr>
        <p:spPr>
          <a:xfrm>
            <a:off x="2011680" y="2816352"/>
            <a:ext cx="320040"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04872" y="2240280"/>
            <a:ext cx="1508760" cy="11430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9464" y="2377440"/>
            <a:ext cx="1179576" cy="246888"/>
          </a:xfrm>
          <a:prstGeom prst="rect">
            <a:avLst/>
          </a:prstGeom>
          <a:noFill/>
        </p:spPr>
        <p:txBody>
          <a:bodyPr wrap="square" anchor="t">
            <a:normAutofit/>
          </a:bodyPr>
          <a:lstStyle/>
          <a:p>
            <a:pPr algn="l"/>
            <a:r>
              <a:rPr sz="1350" b="1">
                <a:solidFill>
                  <a:srgbClr val="116666"/>
                </a:solidFill>
                <a:latin typeface="Aptos"/>
              </a:rPr>
              <a:t>Inspect</a:t>
            </a:r>
          </a:p>
        </p:txBody>
      </p:sp>
      <p:sp>
        <p:nvSpPr>
          <p:cNvPr id="14" name="TextBox 13"/>
          <p:cNvSpPr txBox="1"/>
          <p:nvPr/>
        </p:nvSpPr>
        <p:spPr>
          <a:xfrm>
            <a:off x="2569464" y="2679192"/>
            <a:ext cx="1179576" cy="612648"/>
          </a:xfrm>
          <a:prstGeom prst="rect">
            <a:avLst/>
          </a:prstGeom>
          <a:noFill/>
        </p:spPr>
        <p:txBody>
          <a:bodyPr wrap="square" anchor="t">
            <a:normAutofit/>
          </a:bodyPr>
          <a:lstStyle/>
          <a:p>
            <a:pPr algn="l"/>
            <a:r>
              <a:rPr sz="1050" b="0">
                <a:solidFill>
                  <a:srgbClr val="1D2326"/>
                </a:solidFill>
                <a:latin typeface="Aptos"/>
              </a:rPr>
              <a:t>Preview rows, fields, files</a:t>
            </a:r>
          </a:p>
        </p:txBody>
      </p:sp>
      <p:cxnSp>
        <p:nvCxnSpPr>
          <p:cNvPr id="15" name="Connector 14"/>
          <p:cNvCxnSpPr/>
          <p:nvPr/>
        </p:nvCxnSpPr>
        <p:spPr>
          <a:xfrm>
            <a:off x="3913631" y="2816352"/>
            <a:ext cx="320041"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06824" y="2240280"/>
            <a:ext cx="150876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377440"/>
            <a:ext cx="1179576" cy="246888"/>
          </a:xfrm>
          <a:prstGeom prst="rect">
            <a:avLst/>
          </a:prstGeom>
          <a:noFill/>
        </p:spPr>
        <p:txBody>
          <a:bodyPr wrap="square" anchor="t">
            <a:normAutofit/>
          </a:bodyPr>
          <a:lstStyle/>
          <a:p>
            <a:pPr algn="l"/>
            <a:r>
              <a:rPr sz="1350" b="1">
                <a:solidFill>
                  <a:srgbClr val="116666"/>
                </a:solidFill>
                <a:latin typeface="Aptos"/>
              </a:rPr>
              <a:t>Trust</a:t>
            </a:r>
          </a:p>
        </p:txBody>
      </p:sp>
      <p:sp>
        <p:nvSpPr>
          <p:cNvPr id="18" name="TextBox 17"/>
          <p:cNvSpPr txBox="1"/>
          <p:nvPr/>
        </p:nvSpPr>
        <p:spPr>
          <a:xfrm>
            <a:off x="4471416" y="2679192"/>
            <a:ext cx="1179576" cy="612648"/>
          </a:xfrm>
          <a:prstGeom prst="rect">
            <a:avLst/>
          </a:prstGeom>
          <a:noFill/>
        </p:spPr>
        <p:txBody>
          <a:bodyPr wrap="square" anchor="t">
            <a:normAutofit/>
          </a:bodyPr>
          <a:lstStyle/>
          <a:p>
            <a:pPr algn="l"/>
            <a:r>
              <a:rPr sz="1050" b="0">
                <a:solidFill>
                  <a:srgbClr val="1D2326"/>
                </a:solidFill>
                <a:latin typeface="Aptos"/>
              </a:rPr>
              <a:t>Check owner, license, update, privacy</a:t>
            </a:r>
          </a:p>
        </p:txBody>
      </p:sp>
      <p:cxnSp>
        <p:nvCxnSpPr>
          <p:cNvPr id="19" name="Connector 18"/>
          <p:cNvCxnSpPr/>
          <p:nvPr/>
        </p:nvCxnSpPr>
        <p:spPr>
          <a:xfrm>
            <a:off x="5815583" y="2816352"/>
            <a:ext cx="320041"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08776" y="2240280"/>
            <a:ext cx="1508760" cy="11430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2377440"/>
            <a:ext cx="1179576" cy="246888"/>
          </a:xfrm>
          <a:prstGeom prst="rect">
            <a:avLst/>
          </a:prstGeom>
          <a:noFill/>
        </p:spPr>
        <p:txBody>
          <a:bodyPr wrap="square" anchor="t">
            <a:normAutofit/>
          </a:bodyPr>
          <a:lstStyle/>
          <a:p>
            <a:pPr algn="l"/>
            <a:r>
              <a:rPr sz="1350" b="1">
                <a:solidFill>
                  <a:srgbClr val="116666"/>
                </a:solidFill>
                <a:latin typeface="Aptos"/>
              </a:rPr>
              <a:t>Shape</a:t>
            </a:r>
          </a:p>
        </p:txBody>
      </p:sp>
      <p:sp>
        <p:nvSpPr>
          <p:cNvPr id="22" name="TextBox 21"/>
          <p:cNvSpPr txBox="1"/>
          <p:nvPr/>
        </p:nvSpPr>
        <p:spPr>
          <a:xfrm>
            <a:off x="6373368" y="2679192"/>
            <a:ext cx="1179576" cy="612648"/>
          </a:xfrm>
          <a:prstGeom prst="rect">
            <a:avLst/>
          </a:prstGeom>
          <a:noFill/>
        </p:spPr>
        <p:txBody>
          <a:bodyPr wrap="square" anchor="t">
            <a:normAutofit/>
          </a:bodyPr>
          <a:lstStyle/>
          <a:p>
            <a:pPr algn="l"/>
            <a:r>
              <a:rPr sz="1050" b="0">
                <a:solidFill>
                  <a:srgbClr val="1D2326"/>
                </a:solidFill>
                <a:latin typeface="Aptos"/>
              </a:rPr>
              <a:t>Decide row vs document model</a:t>
            </a:r>
          </a:p>
        </p:txBody>
      </p:sp>
      <p:cxnSp>
        <p:nvCxnSpPr>
          <p:cNvPr id="23" name="Connector 22"/>
          <p:cNvCxnSpPr/>
          <p:nvPr/>
        </p:nvCxnSpPr>
        <p:spPr>
          <a:xfrm>
            <a:off x="7717536" y="2816352"/>
            <a:ext cx="320040"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10728" y="2240280"/>
            <a:ext cx="150876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2377440"/>
            <a:ext cx="1179576" cy="246888"/>
          </a:xfrm>
          <a:prstGeom prst="rect">
            <a:avLst/>
          </a:prstGeom>
          <a:noFill/>
        </p:spPr>
        <p:txBody>
          <a:bodyPr wrap="square" anchor="t">
            <a:normAutofit/>
          </a:bodyPr>
          <a:lstStyle/>
          <a:p>
            <a:pPr algn="l"/>
            <a:r>
              <a:rPr sz="1350" b="1">
                <a:solidFill>
                  <a:srgbClr val="116666"/>
                </a:solidFill>
                <a:latin typeface="Aptos"/>
              </a:rPr>
              <a:t>Load</a:t>
            </a:r>
          </a:p>
        </p:txBody>
      </p:sp>
      <p:sp>
        <p:nvSpPr>
          <p:cNvPr id="26" name="TextBox 25"/>
          <p:cNvSpPr txBox="1"/>
          <p:nvPr/>
        </p:nvSpPr>
        <p:spPr>
          <a:xfrm>
            <a:off x="8275320" y="2679192"/>
            <a:ext cx="1179576" cy="612648"/>
          </a:xfrm>
          <a:prstGeom prst="rect">
            <a:avLst/>
          </a:prstGeom>
          <a:noFill/>
        </p:spPr>
        <p:txBody>
          <a:bodyPr wrap="square" anchor="t">
            <a:normAutofit/>
          </a:bodyPr>
          <a:lstStyle/>
          <a:p>
            <a:pPr algn="l"/>
            <a:r>
              <a:rPr sz="1050" b="0">
                <a:solidFill>
                  <a:srgbClr val="1D2326"/>
                </a:solidFill>
                <a:latin typeface="Aptos"/>
              </a:rPr>
              <a:t>Atlas, Supabase, or both</a:t>
            </a:r>
          </a:p>
        </p:txBody>
      </p:sp>
      <p:cxnSp>
        <p:nvCxnSpPr>
          <p:cNvPr id="27" name="Connector 26"/>
          <p:cNvCxnSpPr/>
          <p:nvPr/>
        </p:nvCxnSpPr>
        <p:spPr>
          <a:xfrm>
            <a:off x="9619488" y="2816352"/>
            <a:ext cx="320040"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12680" y="2240280"/>
            <a:ext cx="1508760" cy="11430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77272" y="2377440"/>
            <a:ext cx="1179576" cy="246888"/>
          </a:xfrm>
          <a:prstGeom prst="rect">
            <a:avLst/>
          </a:prstGeom>
          <a:noFill/>
        </p:spPr>
        <p:txBody>
          <a:bodyPr wrap="square" anchor="t">
            <a:normAutofit/>
          </a:bodyPr>
          <a:lstStyle/>
          <a:p>
            <a:pPr algn="l"/>
            <a:r>
              <a:rPr sz="1350" b="1">
                <a:solidFill>
                  <a:srgbClr val="116666"/>
                </a:solidFill>
                <a:latin typeface="Aptos"/>
              </a:rPr>
              <a:t>Verify</a:t>
            </a:r>
          </a:p>
        </p:txBody>
      </p:sp>
      <p:sp>
        <p:nvSpPr>
          <p:cNvPr id="30" name="TextBox 29"/>
          <p:cNvSpPr txBox="1"/>
          <p:nvPr/>
        </p:nvSpPr>
        <p:spPr>
          <a:xfrm>
            <a:off x="10177272" y="2679192"/>
            <a:ext cx="1179576" cy="612648"/>
          </a:xfrm>
          <a:prstGeom prst="rect">
            <a:avLst/>
          </a:prstGeom>
          <a:noFill/>
        </p:spPr>
        <p:txBody>
          <a:bodyPr wrap="square" anchor="t">
            <a:normAutofit/>
          </a:bodyPr>
          <a:lstStyle/>
          <a:p>
            <a:pPr algn="l"/>
            <a:r>
              <a:rPr sz="1050" b="0">
                <a:solidFill>
                  <a:srgbClr val="1D2326"/>
                </a:solidFill>
                <a:latin typeface="Aptos"/>
              </a:rPr>
              <a:t>Run queries and check counts</a:t>
            </a:r>
          </a:p>
        </p:txBody>
      </p:sp>
      <p:sp>
        <p:nvSpPr>
          <p:cNvPr id="31" name="TextBox 30"/>
          <p:cNvSpPr txBox="1"/>
          <p:nvPr/>
        </p:nvSpPr>
        <p:spPr>
          <a:xfrm>
            <a:off x="1280160" y="4590288"/>
            <a:ext cx="9601200" cy="594360"/>
          </a:xfrm>
          <a:prstGeom prst="rect">
            <a:avLst/>
          </a:prstGeom>
          <a:noFill/>
        </p:spPr>
        <p:txBody>
          <a:bodyPr wrap="square" anchor="t">
            <a:normAutofit/>
          </a:bodyPr>
          <a:lstStyle/>
          <a:p>
            <a:pPr algn="ctr"/>
            <a:r>
              <a:rPr sz="2000" b="1">
                <a:solidFill>
                  <a:srgbClr val="AE3B36"/>
                </a:solidFill>
                <a:latin typeface="Aptos"/>
              </a:rPr>
              <a:t>Do not skip the middle. Bad imports usually happen because nobody checked meaning, types, license, or privacy before loading.</a:t>
            </a:r>
          </a:p>
        </p:txBody>
      </p:sp>
      <p:sp>
        <p:nvSpPr>
          <p:cNvPr id="32" name="TextBox 31"/>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33" name="TextBox 32"/>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FORMATS</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Dataset Format Survival Guide</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Different formats imply different loading and modeling choices.</a:t>
            </a:r>
          </a:p>
        </p:txBody>
      </p:sp>
      <p:sp>
        <p:nvSpPr>
          <p:cNvPr id="8" name="Rounded Rectangle 7"/>
          <p:cNvSpPr/>
          <p:nvPr/>
        </p:nvSpPr>
        <p:spPr>
          <a:xfrm>
            <a:off x="658368" y="1874519"/>
            <a:ext cx="2880360" cy="138988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011679"/>
            <a:ext cx="2551176" cy="246888"/>
          </a:xfrm>
          <a:prstGeom prst="rect">
            <a:avLst/>
          </a:prstGeom>
          <a:noFill/>
        </p:spPr>
        <p:txBody>
          <a:bodyPr wrap="square" anchor="t">
            <a:normAutofit/>
          </a:bodyPr>
          <a:lstStyle/>
          <a:p>
            <a:pPr algn="l"/>
            <a:r>
              <a:rPr sz="1350" b="1">
                <a:solidFill>
                  <a:srgbClr val="116666"/>
                </a:solidFill>
                <a:latin typeface="Aptos"/>
              </a:rPr>
              <a:t>CSV</a:t>
            </a:r>
          </a:p>
        </p:txBody>
      </p:sp>
      <p:sp>
        <p:nvSpPr>
          <p:cNvPr id="10" name="TextBox 9"/>
          <p:cNvSpPr txBox="1"/>
          <p:nvPr/>
        </p:nvSpPr>
        <p:spPr>
          <a:xfrm>
            <a:off x="822959" y="2313432"/>
            <a:ext cx="2551176" cy="859536"/>
          </a:xfrm>
          <a:prstGeom prst="rect">
            <a:avLst/>
          </a:prstGeom>
          <a:noFill/>
        </p:spPr>
        <p:txBody>
          <a:bodyPr wrap="square" anchor="t">
            <a:normAutofit/>
          </a:bodyPr>
          <a:lstStyle/>
          <a:p>
            <a:pPr algn="l"/>
            <a:r>
              <a:rPr sz="1150" b="0">
                <a:solidFill>
                  <a:srgbClr val="1D2326"/>
                </a:solidFill>
                <a:latin typeface="Aptos"/>
              </a:rPr>
              <a:t>Flat rows and columns. Good for Postgres tables. Can become flat MongoDB documents.</a:t>
            </a:r>
          </a:p>
        </p:txBody>
      </p:sp>
      <p:sp>
        <p:nvSpPr>
          <p:cNvPr id="11" name="Rounded Rectangle 10"/>
          <p:cNvSpPr/>
          <p:nvPr/>
        </p:nvSpPr>
        <p:spPr>
          <a:xfrm>
            <a:off x="4224528" y="1874519"/>
            <a:ext cx="2880360" cy="138988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011679"/>
            <a:ext cx="2551176" cy="246888"/>
          </a:xfrm>
          <a:prstGeom prst="rect">
            <a:avLst/>
          </a:prstGeom>
          <a:noFill/>
        </p:spPr>
        <p:txBody>
          <a:bodyPr wrap="square" anchor="t">
            <a:normAutofit/>
          </a:bodyPr>
          <a:lstStyle/>
          <a:p>
            <a:pPr algn="l"/>
            <a:r>
              <a:rPr sz="1350" b="1">
                <a:solidFill>
                  <a:srgbClr val="116666"/>
                </a:solidFill>
                <a:latin typeface="Aptos"/>
              </a:rPr>
              <a:t>JSON</a:t>
            </a:r>
          </a:p>
        </p:txBody>
      </p:sp>
      <p:sp>
        <p:nvSpPr>
          <p:cNvPr id="13" name="TextBox 12"/>
          <p:cNvSpPr txBox="1"/>
          <p:nvPr/>
        </p:nvSpPr>
        <p:spPr>
          <a:xfrm>
            <a:off x="4389120" y="2313432"/>
            <a:ext cx="2551176" cy="859536"/>
          </a:xfrm>
          <a:prstGeom prst="rect">
            <a:avLst/>
          </a:prstGeom>
          <a:noFill/>
        </p:spPr>
        <p:txBody>
          <a:bodyPr wrap="square" anchor="t">
            <a:normAutofit/>
          </a:bodyPr>
          <a:lstStyle/>
          <a:p>
            <a:pPr algn="l"/>
            <a:r>
              <a:rPr sz="1150" b="0">
                <a:solidFill>
                  <a:srgbClr val="1D2326"/>
                </a:solidFill>
                <a:latin typeface="Aptos"/>
              </a:rPr>
              <a:t>Objects, arrays, nested structures. Often a natural fit for MongoDB documents.</a:t>
            </a:r>
          </a:p>
        </p:txBody>
      </p:sp>
      <p:sp>
        <p:nvSpPr>
          <p:cNvPr id="14" name="Rounded Rectangle 13"/>
          <p:cNvSpPr/>
          <p:nvPr/>
        </p:nvSpPr>
        <p:spPr>
          <a:xfrm>
            <a:off x="7790688" y="1874519"/>
            <a:ext cx="2880360" cy="138988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9" y="2011679"/>
            <a:ext cx="2551176" cy="246888"/>
          </a:xfrm>
          <a:prstGeom prst="rect">
            <a:avLst/>
          </a:prstGeom>
          <a:noFill/>
        </p:spPr>
        <p:txBody>
          <a:bodyPr wrap="square" anchor="t">
            <a:normAutofit/>
          </a:bodyPr>
          <a:lstStyle/>
          <a:p>
            <a:pPr algn="l"/>
            <a:r>
              <a:rPr sz="1350" b="1">
                <a:solidFill>
                  <a:srgbClr val="116666"/>
                </a:solidFill>
                <a:latin typeface="Aptos"/>
              </a:rPr>
              <a:t>API</a:t>
            </a:r>
          </a:p>
        </p:txBody>
      </p:sp>
      <p:sp>
        <p:nvSpPr>
          <p:cNvPr id="16" name="TextBox 15"/>
          <p:cNvSpPr txBox="1"/>
          <p:nvPr/>
        </p:nvSpPr>
        <p:spPr>
          <a:xfrm>
            <a:off x="7955279" y="2313432"/>
            <a:ext cx="2551176" cy="859536"/>
          </a:xfrm>
          <a:prstGeom prst="rect">
            <a:avLst/>
          </a:prstGeom>
          <a:noFill/>
        </p:spPr>
        <p:txBody>
          <a:bodyPr wrap="square" anchor="t">
            <a:normAutofit/>
          </a:bodyPr>
          <a:lstStyle/>
          <a:p>
            <a:pPr algn="l"/>
            <a:r>
              <a:rPr sz="1150" b="0">
                <a:solidFill>
                  <a:srgbClr val="1D2326"/>
                </a:solidFill>
                <a:latin typeface="Aptos"/>
              </a:rPr>
              <a:t>Data returned by a URL. May need paging, parameters, and rate-limit awareness.</a:t>
            </a:r>
          </a:p>
        </p:txBody>
      </p:sp>
      <p:sp>
        <p:nvSpPr>
          <p:cNvPr id="17" name="Rounded Rectangle 16"/>
          <p:cNvSpPr/>
          <p:nvPr/>
        </p:nvSpPr>
        <p:spPr>
          <a:xfrm>
            <a:off x="658368" y="3794760"/>
            <a:ext cx="2880360" cy="138988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931920"/>
            <a:ext cx="2551176" cy="246888"/>
          </a:xfrm>
          <a:prstGeom prst="rect">
            <a:avLst/>
          </a:prstGeom>
          <a:noFill/>
        </p:spPr>
        <p:txBody>
          <a:bodyPr wrap="square" anchor="t">
            <a:normAutofit/>
          </a:bodyPr>
          <a:lstStyle/>
          <a:p>
            <a:pPr algn="l"/>
            <a:r>
              <a:rPr sz="1350" b="1">
                <a:solidFill>
                  <a:srgbClr val="116666"/>
                </a:solidFill>
                <a:latin typeface="Aptos"/>
              </a:rPr>
              <a:t>Images/Text</a:t>
            </a:r>
          </a:p>
        </p:txBody>
      </p:sp>
      <p:sp>
        <p:nvSpPr>
          <p:cNvPr id="19" name="TextBox 18"/>
          <p:cNvSpPr txBox="1"/>
          <p:nvPr/>
        </p:nvSpPr>
        <p:spPr>
          <a:xfrm>
            <a:off x="822959" y="4233672"/>
            <a:ext cx="2551176" cy="859536"/>
          </a:xfrm>
          <a:prstGeom prst="rect">
            <a:avLst/>
          </a:prstGeom>
          <a:noFill/>
        </p:spPr>
        <p:txBody>
          <a:bodyPr wrap="square" anchor="t">
            <a:normAutofit/>
          </a:bodyPr>
          <a:lstStyle/>
          <a:p>
            <a:pPr algn="l"/>
            <a:r>
              <a:rPr sz="1150" b="0">
                <a:solidFill>
                  <a:srgbClr val="1D2326"/>
                </a:solidFill>
                <a:latin typeface="Aptos"/>
              </a:rPr>
              <a:t>Files plus metadata. Usually store metadata in the database, not huge files directly.</a:t>
            </a:r>
          </a:p>
        </p:txBody>
      </p:sp>
      <p:sp>
        <p:nvSpPr>
          <p:cNvPr id="20" name="Rounded Rectangle 19"/>
          <p:cNvSpPr/>
          <p:nvPr/>
        </p:nvSpPr>
        <p:spPr>
          <a:xfrm>
            <a:off x="4224528" y="3794760"/>
            <a:ext cx="2880360" cy="138988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3931920"/>
            <a:ext cx="2551176" cy="246888"/>
          </a:xfrm>
          <a:prstGeom prst="rect">
            <a:avLst/>
          </a:prstGeom>
          <a:noFill/>
        </p:spPr>
        <p:txBody>
          <a:bodyPr wrap="square" anchor="t">
            <a:normAutofit/>
          </a:bodyPr>
          <a:lstStyle/>
          <a:p>
            <a:pPr algn="l"/>
            <a:r>
              <a:rPr sz="1350" b="1">
                <a:solidFill>
                  <a:srgbClr val="116666"/>
                </a:solidFill>
                <a:latin typeface="Aptos"/>
              </a:rPr>
              <a:t>Logs/Security</a:t>
            </a:r>
          </a:p>
        </p:txBody>
      </p:sp>
      <p:sp>
        <p:nvSpPr>
          <p:cNvPr id="22" name="TextBox 21"/>
          <p:cNvSpPr txBox="1"/>
          <p:nvPr/>
        </p:nvSpPr>
        <p:spPr>
          <a:xfrm>
            <a:off x="4389120" y="4233672"/>
            <a:ext cx="2551176" cy="859536"/>
          </a:xfrm>
          <a:prstGeom prst="rect">
            <a:avLst/>
          </a:prstGeom>
          <a:noFill/>
        </p:spPr>
        <p:txBody>
          <a:bodyPr wrap="square" anchor="t">
            <a:normAutofit/>
          </a:bodyPr>
          <a:lstStyle/>
          <a:p>
            <a:pPr algn="l"/>
            <a:r>
              <a:rPr sz="1150" b="0">
                <a:solidFill>
                  <a:srgbClr val="1D2326"/>
                </a:solidFill>
                <a:latin typeface="Aptos"/>
              </a:rPr>
              <a:t>Events over time. Good for document/event modeling, but privacy and safety checks matter.</a:t>
            </a:r>
          </a:p>
        </p:txBody>
      </p:sp>
      <p:sp>
        <p:nvSpPr>
          <p:cNvPr id="23" name="Rounded Rectangle 22"/>
          <p:cNvSpPr/>
          <p:nvPr/>
        </p:nvSpPr>
        <p:spPr>
          <a:xfrm>
            <a:off x="7790688" y="3794760"/>
            <a:ext cx="2880360" cy="138988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79" y="3931920"/>
            <a:ext cx="2551176" cy="246888"/>
          </a:xfrm>
          <a:prstGeom prst="rect">
            <a:avLst/>
          </a:prstGeom>
          <a:noFill/>
        </p:spPr>
        <p:txBody>
          <a:bodyPr wrap="square" anchor="t">
            <a:normAutofit/>
          </a:bodyPr>
          <a:lstStyle/>
          <a:p>
            <a:pPr algn="l"/>
            <a:r>
              <a:rPr sz="1350" b="1">
                <a:solidFill>
                  <a:srgbClr val="116666"/>
                </a:solidFill>
                <a:latin typeface="Aptos"/>
              </a:rPr>
              <a:t>ML datasets</a:t>
            </a:r>
          </a:p>
        </p:txBody>
      </p:sp>
      <p:sp>
        <p:nvSpPr>
          <p:cNvPr id="25" name="TextBox 24"/>
          <p:cNvSpPr txBox="1"/>
          <p:nvPr/>
        </p:nvSpPr>
        <p:spPr>
          <a:xfrm>
            <a:off x="7955279" y="4233672"/>
            <a:ext cx="2551176" cy="859536"/>
          </a:xfrm>
          <a:prstGeom prst="rect">
            <a:avLst/>
          </a:prstGeom>
          <a:noFill/>
        </p:spPr>
        <p:txBody>
          <a:bodyPr wrap="square" anchor="t">
            <a:normAutofit/>
          </a:bodyPr>
          <a:lstStyle/>
          <a:p>
            <a:pPr algn="l"/>
            <a:r>
              <a:rPr sz="1150" b="0">
                <a:solidFill>
                  <a:srgbClr val="1D2326"/>
                </a:solidFill>
                <a:latin typeface="Aptos"/>
              </a:rPr>
              <a:t>Often already cleaned for teaching or modeling. Good for practice, not always realistic production data.</a:t>
            </a:r>
          </a:p>
        </p:txBody>
      </p:sp>
      <p:sp>
        <p:nvSpPr>
          <p:cNvPr id="26" name="TextBox 25"/>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7" name="TextBox 26"/>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PLATFORM 1</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Kaggle From Scratch</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A popular platform for public datasets, notebooks, competitions, and practice projects.</a:t>
            </a:r>
          </a:p>
        </p:txBody>
      </p:sp>
      <p:sp>
        <p:nvSpPr>
          <p:cNvPr id="8" name="Rounded Rectangle 7"/>
          <p:cNvSpPr/>
          <p:nvPr/>
        </p:nvSpPr>
        <p:spPr>
          <a:xfrm>
            <a:off x="731520" y="1828800"/>
            <a:ext cx="3383280" cy="146304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3054096" cy="246888"/>
          </a:xfrm>
          <a:prstGeom prst="rect">
            <a:avLst/>
          </a:prstGeom>
          <a:noFill/>
        </p:spPr>
        <p:txBody>
          <a:bodyPr wrap="square" anchor="t">
            <a:normAutofit/>
          </a:bodyPr>
          <a:lstStyle/>
          <a:p>
            <a:pPr algn="l"/>
            <a:r>
              <a:rPr sz="1350" b="1">
                <a:solidFill>
                  <a:srgbClr val="116666"/>
                </a:solidFill>
                <a:latin typeface="Aptos"/>
              </a:rPr>
              <a:t>What students see</a:t>
            </a:r>
          </a:p>
        </p:txBody>
      </p:sp>
      <p:sp>
        <p:nvSpPr>
          <p:cNvPr id="10" name="TextBox 9"/>
          <p:cNvSpPr txBox="1"/>
          <p:nvPr/>
        </p:nvSpPr>
        <p:spPr>
          <a:xfrm>
            <a:off x="896112" y="2267712"/>
            <a:ext cx="3054096" cy="932688"/>
          </a:xfrm>
          <a:prstGeom prst="rect">
            <a:avLst/>
          </a:prstGeom>
          <a:noFill/>
        </p:spPr>
        <p:txBody>
          <a:bodyPr wrap="square" anchor="t">
            <a:normAutofit/>
          </a:bodyPr>
          <a:lstStyle/>
          <a:p>
            <a:pPr algn="l"/>
            <a:r>
              <a:rPr sz="1250" b="0">
                <a:solidFill>
                  <a:srgbClr val="1D2326"/>
                </a:solidFill>
                <a:latin typeface="Aptos"/>
              </a:rPr>
              <a:t>Dataset page, files, preview, metadata, license, discussions, notebooks, and download options.</a:t>
            </a:r>
          </a:p>
        </p:txBody>
      </p:sp>
      <p:sp>
        <p:nvSpPr>
          <p:cNvPr id="11" name="Rounded Rectangle 10"/>
          <p:cNvSpPr/>
          <p:nvPr/>
        </p:nvSpPr>
        <p:spPr>
          <a:xfrm>
            <a:off x="4389120" y="1828800"/>
            <a:ext cx="3383280" cy="14630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65960"/>
            <a:ext cx="3054096" cy="246888"/>
          </a:xfrm>
          <a:prstGeom prst="rect">
            <a:avLst/>
          </a:prstGeom>
          <a:noFill/>
        </p:spPr>
        <p:txBody>
          <a:bodyPr wrap="square" anchor="t">
            <a:normAutofit/>
          </a:bodyPr>
          <a:lstStyle/>
          <a:p>
            <a:pPr algn="l"/>
            <a:r>
              <a:rPr sz="1350" b="1">
                <a:solidFill>
                  <a:srgbClr val="116666"/>
                </a:solidFill>
                <a:latin typeface="Aptos"/>
              </a:rPr>
              <a:t>Good for</a:t>
            </a:r>
          </a:p>
        </p:txBody>
      </p:sp>
      <p:sp>
        <p:nvSpPr>
          <p:cNvPr id="13" name="TextBox 12"/>
          <p:cNvSpPr txBox="1"/>
          <p:nvPr/>
        </p:nvSpPr>
        <p:spPr>
          <a:xfrm>
            <a:off x="4553712" y="2267712"/>
            <a:ext cx="3054096" cy="932688"/>
          </a:xfrm>
          <a:prstGeom prst="rect">
            <a:avLst/>
          </a:prstGeom>
          <a:noFill/>
        </p:spPr>
        <p:txBody>
          <a:bodyPr wrap="square" anchor="t">
            <a:normAutofit/>
          </a:bodyPr>
          <a:lstStyle/>
          <a:p>
            <a:pPr algn="l"/>
            <a:r>
              <a:rPr sz="1250" b="0">
                <a:solidFill>
                  <a:srgbClr val="1D2326"/>
                </a:solidFill>
                <a:latin typeface="Aptos"/>
              </a:rPr>
              <a:t>Practice projects, CSV datasets, ML examples, business-style data, and portfolio exploration.</a:t>
            </a:r>
          </a:p>
        </p:txBody>
      </p:sp>
      <p:sp>
        <p:nvSpPr>
          <p:cNvPr id="14" name="Rounded Rectangle 13"/>
          <p:cNvSpPr/>
          <p:nvPr/>
        </p:nvSpPr>
        <p:spPr>
          <a:xfrm>
            <a:off x="8046720" y="1828800"/>
            <a:ext cx="3383280" cy="14630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965960"/>
            <a:ext cx="3054096" cy="246888"/>
          </a:xfrm>
          <a:prstGeom prst="rect">
            <a:avLst/>
          </a:prstGeom>
          <a:noFill/>
        </p:spPr>
        <p:txBody>
          <a:bodyPr wrap="square" anchor="t">
            <a:normAutofit/>
          </a:bodyPr>
          <a:lstStyle/>
          <a:p>
            <a:pPr algn="l"/>
            <a:r>
              <a:rPr sz="1350" b="1">
                <a:solidFill>
                  <a:srgbClr val="116666"/>
                </a:solidFill>
                <a:latin typeface="Aptos"/>
              </a:rPr>
              <a:t>Check carefully</a:t>
            </a:r>
          </a:p>
        </p:txBody>
      </p:sp>
      <p:sp>
        <p:nvSpPr>
          <p:cNvPr id="16" name="TextBox 15"/>
          <p:cNvSpPr txBox="1"/>
          <p:nvPr/>
        </p:nvSpPr>
        <p:spPr>
          <a:xfrm>
            <a:off x="8211312" y="2267712"/>
            <a:ext cx="3054096" cy="932688"/>
          </a:xfrm>
          <a:prstGeom prst="rect">
            <a:avLst/>
          </a:prstGeom>
          <a:noFill/>
        </p:spPr>
        <p:txBody>
          <a:bodyPr wrap="square" anchor="t">
            <a:normAutofit/>
          </a:bodyPr>
          <a:lstStyle/>
          <a:p>
            <a:pPr algn="l"/>
            <a:r>
              <a:rPr sz="1250" b="0">
                <a:solidFill>
                  <a:srgbClr val="1D2326"/>
                </a:solidFill>
                <a:latin typeface="Aptos"/>
              </a:rPr>
              <a:t>License, uploader quality, freshness, missing data, unrealistic cleaning, and whether the dataset is too large.</a:t>
            </a:r>
          </a:p>
        </p:txBody>
      </p:sp>
      <p:sp>
        <p:nvSpPr>
          <p:cNvPr id="17" name="TextBox 16"/>
          <p:cNvSpPr txBox="1"/>
          <p:nvPr/>
        </p:nvSpPr>
        <p:spPr>
          <a:xfrm>
            <a:off x="914400" y="4224528"/>
            <a:ext cx="10149840" cy="585216"/>
          </a:xfrm>
          <a:prstGeom prst="rect">
            <a:avLst/>
          </a:prstGeom>
          <a:noFill/>
        </p:spPr>
        <p:txBody>
          <a:bodyPr wrap="square" anchor="t">
            <a:normAutofit/>
          </a:bodyPr>
          <a:lstStyle/>
          <a:p>
            <a:pPr algn="ctr"/>
            <a:r>
              <a:rPr sz="1900" b="1">
                <a:solidFill>
                  <a:srgbClr val="1D2326"/>
                </a:solidFill>
                <a:latin typeface="Aptos"/>
              </a:rPr>
              <a:t>Beginner move: use the platform preview before downloading. Find the file list, row/column meaning, and license first.</a:t>
            </a:r>
          </a:p>
        </p:txBody>
      </p:sp>
      <p:sp>
        <p:nvSpPr>
          <p:cNvPr id="18" name="TextBox 17"/>
          <p:cNvSpPr txBox="1"/>
          <p:nvPr/>
        </p:nvSpPr>
        <p:spPr>
          <a:xfrm>
            <a:off x="4480560" y="5532120"/>
            <a:ext cx="3291840" cy="274320"/>
          </a:xfrm>
          <a:prstGeom prst="rect">
            <a:avLst/>
          </a:prstGeom>
          <a:noFill/>
        </p:spPr>
        <p:txBody>
          <a:bodyPr wrap="square" anchor="t">
            <a:normAutofit/>
          </a:bodyPr>
          <a:lstStyle/>
          <a:p>
            <a:pPr algn="ctr"/>
            <a:r>
              <a:rPr sz="1200" b="1">
                <a:solidFill>
                  <a:srgbClr val="116666"/>
                </a:solidFill>
                <a:latin typeface="Aptos"/>
              </a:rPr>
              <a:t>Link: kaggle.com/datasets</a:t>
            </a:r>
          </a:p>
        </p:txBody>
      </p:sp>
      <p:sp>
        <p:nvSpPr>
          <p:cNvPr id="19" name="TextBox 18"/>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0" name="TextBox 19"/>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PLATFORM 2</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NYC Open Data From Scratch</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Public agency data with previews, exports, APIs, and metadata.</a:t>
            </a:r>
          </a:p>
        </p:txBody>
      </p:sp>
      <p:sp>
        <p:nvSpPr>
          <p:cNvPr id="8" name="Rounded Rectangle 7"/>
          <p:cNvSpPr/>
          <p:nvPr/>
        </p:nvSpPr>
        <p:spPr>
          <a:xfrm>
            <a:off x="658368" y="1828800"/>
            <a:ext cx="3291840" cy="14630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65960"/>
            <a:ext cx="2962656" cy="246888"/>
          </a:xfrm>
          <a:prstGeom prst="rect">
            <a:avLst/>
          </a:prstGeom>
          <a:noFill/>
        </p:spPr>
        <p:txBody>
          <a:bodyPr wrap="square" anchor="t">
            <a:normAutofit/>
          </a:bodyPr>
          <a:lstStyle/>
          <a:p>
            <a:pPr algn="l"/>
            <a:r>
              <a:rPr sz="1350" b="1">
                <a:solidFill>
                  <a:srgbClr val="116666"/>
                </a:solidFill>
                <a:latin typeface="Aptos"/>
              </a:rPr>
              <a:t>Why it matters</a:t>
            </a:r>
          </a:p>
        </p:txBody>
      </p:sp>
      <p:sp>
        <p:nvSpPr>
          <p:cNvPr id="10" name="TextBox 9"/>
          <p:cNvSpPr txBox="1"/>
          <p:nvPr/>
        </p:nvSpPr>
        <p:spPr>
          <a:xfrm>
            <a:off x="822959" y="2267712"/>
            <a:ext cx="2962656" cy="932688"/>
          </a:xfrm>
          <a:prstGeom prst="rect">
            <a:avLst/>
          </a:prstGeom>
          <a:noFill/>
        </p:spPr>
        <p:txBody>
          <a:bodyPr wrap="square" anchor="t">
            <a:normAutofit/>
          </a:bodyPr>
          <a:lstStyle/>
          <a:p>
            <a:pPr algn="l"/>
            <a:r>
              <a:rPr sz="1250" b="0">
                <a:solidFill>
                  <a:srgbClr val="1D2326"/>
                </a:solidFill>
                <a:latin typeface="Aptos"/>
              </a:rPr>
              <a:t>Real civic data: 311, inspections, permits, transportation, schools, parks, public safety, and more.</a:t>
            </a:r>
          </a:p>
        </p:txBody>
      </p:sp>
      <p:sp>
        <p:nvSpPr>
          <p:cNvPr id="11" name="Rounded Rectangle 10"/>
          <p:cNvSpPr/>
          <p:nvPr/>
        </p:nvSpPr>
        <p:spPr>
          <a:xfrm>
            <a:off x="4434840" y="1828800"/>
            <a:ext cx="3291840" cy="146304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65960"/>
            <a:ext cx="2962656" cy="246888"/>
          </a:xfrm>
          <a:prstGeom prst="rect">
            <a:avLst/>
          </a:prstGeom>
          <a:noFill/>
        </p:spPr>
        <p:txBody>
          <a:bodyPr wrap="square" anchor="t">
            <a:normAutofit/>
          </a:bodyPr>
          <a:lstStyle/>
          <a:p>
            <a:pPr algn="l"/>
            <a:r>
              <a:rPr sz="1350" b="1">
                <a:solidFill>
                  <a:srgbClr val="116666"/>
                </a:solidFill>
                <a:latin typeface="Aptos"/>
              </a:rPr>
              <a:t>What to inspect</a:t>
            </a:r>
          </a:p>
        </p:txBody>
      </p:sp>
      <p:sp>
        <p:nvSpPr>
          <p:cNvPr id="13" name="TextBox 12"/>
          <p:cNvSpPr txBox="1"/>
          <p:nvPr/>
        </p:nvSpPr>
        <p:spPr>
          <a:xfrm>
            <a:off x="4599431" y="2267712"/>
            <a:ext cx="2962656" cy="932688"/>
          </a:xfrm>
          <a:prstGeom prst="rect">
            <a:avLst/>
          </a:prstGeom>
          <a:noFill/>
        </p:spPr>
        <p:txBody>
          <a:bodyPr wrap="square" anchor="t">
            <a:normAutofit/>
          </a:bodyPr>
          <a:lstStyle/>
          <a:p>
            <a:pPr algn="l"/>
            <a:r>
              <a:rPr sz="1250" b="0">
                <a:solidFill>
                  <a:srgbClr val="1D2326"/>
                </a:solidFill>
                <a:latin typeface="Aptos"/>
              </a:rPr>
              <a:t>Agency, update frequency, field descriptions, row count, geospatial fields, date fields, and export format.</a:t>
            </a:r>
          </a:p>
        </p:txBody>
      </p:sp>
      <p:sp>
        <p:nvSpPr>
          <p:cNvPr id="14" name="Rounded Rectangle 13"/>
          <p:cNvSpPr/>
          <p:nvPr/>
        </p:nvSpPr>
        <p:spPr>
          <a:xfrm>
            <a:off x="8211312" y="1828800"/>
            <a:ext cx="3291840" cy="14630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1965960"/>
            <a:ext cx="2962656" cy="246888"/>
          </a:xfrm>
          <a:prstGeom prst="rect">
            <a:avLst/>
          </a:prstGeom>
          <a:noFill/>
        </p:spPr>
        <p:txBody>
          <a:bodyPr wrap="square" anchor="t">
            <a:normAutofit/>
          </a:bodyPr>
          <a:lstStyle/>
          <a:p>
            <a:pPr algn="l"/>
            <a:r>
              <a:rPr sz="1350" b="1">
                <a:solidFill>
                  <a:srgbClr val="116666"/>
                </a:solidFill>
                <a:latin typeface="Aptos"/>
              </a:rPr>
              <a:t>Database fit</a:t>
            </a:r>
          </a:p>
        </p:txBody>
      </p:sp>
      <p:sp>
        <p:nvSpPr>
          <p:cNvPr id="16" name="TextBox 15"/>
          <p:cNvSpPr txBox="1"/>
          <p:nvPr/>
        </p:nvSpPr>
        <p:spPr>
          <a:xfrm>
            <a:off x="8375904" y="2267712"/>
            <a:ext cx="2962656" cy="932688"/>
          </a:xfrm>
          <a:prstGeom prst="rect">
            <a:avLst/>
          </a:prstGeom>
          <a:noFill/>
        </p:spPr>
        <p:txBody>
          <a:bodyPr wrap="square" anchor="t">
            <a:normAutofit/>
          </a:bodyPr>
          <a:lstStyle/>
          <a:p>
            <a:pPr algn="l"/>
            <a:r>
              <a:rPr sz="1250" b="0">
                <a:solidFill>
                  <a:srgbClr val="1D2326"/>
                </a:solidFill>
                <a:latin typeface="Aptos"/>
              </a:rPr>
              <a:t>Great for Postgres tables; also useful for MongoDB if records have variable attributes or event/log shape.</a:t>
            </a:r>
          </a:p>
        </p:txBody>
      </p:sp>
      <p:sp>
        <p:nvSpPr>
          <p:cNvPr id="17" name="TextBox 16"/>
          <p:cNvSpPr txBox="1"/>
          <p:nvPr/>
        </p:nvSpPr>
        <p:spPr>
          <a:xfrm>
            <a:off x="1417320" y="4343400"/>
            <a:ext cx="9326880" cy="457200"/>
          </a:xfrm>
          <a:prstGeom prst="rect">
            <a:avLst/>
          </a:prstGeom>
          <a:noFill/>
        </p:spPr>
        <p:txBody>
          <a:bodyPr wrap="square" anchor="t">
            <a:normAutofit/>
          </a:bodyPr>
          <a:lstStyle/>
          <a:p>
            <a:pPr algn="ctr"/>
            <a:r>
              <a:rPr sz="2000" b="1">
                <a:solidFill>
                  <a:srgbClr val="1D2326"/>
                </a:solidFill>
                <a:latin typeface="Aptos"/>
              </a:rPr>
              <a:t>Open data is usually better documented than random files, but it still needs cleaning and modeling.</a:t>
            </a:r>
          </a:p>
        </p:txBody>
      </p:sp>
      <p:sp>
        <p:nvSpPr>
          <p:cNvPr id="18" name="TextBox 17"/>
          <p:cNvSpPr txBox="1"/>
          <p:nvPr/>
        </p:nvSpPr>
        <p:spPr>
          <a:xfrm>
            <a:off x="3127248" y="5541264"/>
            <a:ext cx="5943600" cy="274320"/>
          </a:xfrm>
          <a:prstGeom prst="rect">
            <a:avLst/>
          </a:prstGeom>
          <a:noFill/>
        </p:spPr>
        <p:txBody>
          <a:bodyPr wrap="square" anchor="t">
            <a:normAutofit/>
          </a:bodyPr>
          <a:lstStyle/>
          <a:p>
            <a:pPr algn="ctr"/>
            <a:r>
              <a:rPr sz="1200" b="1">
                <a:solidFill>
                  <a:srgbClr val="116666"/>
                </a:solidFill>
                <a:latin typeface="Aptos"/>
              </a:rPr>
              <a:t>Links: opendata.cityofnewyork.us | dev.socrata.com</a:t>
            </a:r>
          </a:p>
        </p:txBody>
      </p:sp>
      <p:sp>
        <p:nvSpPr>
          <p:cNvPr id="19" name="TextBox 18"/>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0" name="TextBox 19"/>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PLATFORM 3</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ML Datasets: scikit-learn and UCI</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Small teaching datasets are useful for practice, but they are not the same as production systems.</a:t>
            </a:r>
          </a:p>
        </p:txBody>
      </p:sp>
      <p:sp>
        <p:nvSpPr>
          <p:cNvPr id="8" name="Rounded Rectangle 7"/>
          <p:cNvSpPr/>
          <p:nvPr/>
        </p:nvSpPr>
        <p:spPr>
          <a:xfrm>
            <a:off x="822960" y="1901952"/>
            <a:ext cx="3383280" cy="16002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39112"/>
            <a:ext cx="3054096" cy="246888"/>
          </a:xfrm>
          <a:prstGeom prst="rect">
            <a:avLst/>
          </a:prstGeom>
          <a:noFill/>
        </p:spPr>
        <p:txBody>
          <a:bodyPr wrap="square" anchor="t">
            <a:normAutofit/>
          </a:bodyPr>
          <a:lstStyle/>
          <a:p>
            <a:pPr algn="l"/>
            <a:r>
              <a:rPr sz="1350" b="1">
                <a:solidFill>
                  <a:srgbClr val="116666"/>
                </a:solidFill>
                <a:latin typeface="Aptos"/>
              </a:rPr>
              <a:t>scikit-learn</a:t>
            </a:r>
          </a:p>
        </p:txBody>
      </p:sp>
      <p:sp>
        <p:nvSpPr>
          <p:cNvPr id="10" name="TextBox 9"/>
          <p:cNvSpPr txBox="1"/>
          <p:nvPr/>
        </p:nvSpPr>
        <p:spPr>
          <a:xfrm>
            <a:off x="987552" y="2340864"/>
            <a:ext cx="3054096" cy="1069848"/>
          </a:xfrm>
          <a:prstGeom prst="rect">
            <a:avLst/>
          </a:prstGeom>
          <a:noFill/>
        </p:spPr>
        <p:txBody>
          <a:bodyPr wrap="square" anchor="t">
            <a:normAutofit/>
          </a:bodyPr>
          <a:lstStyle/>
          <a:p>
            <a:pPr algn="l"/>
            <a:r>
              <a:rPr sz="1250" b="0">
                <a:solidFill>
                  <a:srgbClr val="1D2326"/>
                </a:solidFill>
                <a:latin typeface="Aptos"/>
              </a:rPr>
              <a:t>Python library includes dataset loaders like iris, digits, diabetes, and fetch utilities. Good for controlled examples.</a:t>
            </a:r>
          </a:p>
        </p:txBody>
      </p:sp>
      <p:sp>
        <p:nvSpPr>
          <p:cNvPr id="11" name="Rounded Rectangle 10"/>
          <p:cNvSpPr/>
          <p:nvPr/>
        </p:nvSpPr>
        <p:spPr>
          <a:xfrm>
            <a:off x="4434840" y="1901952"/>
            <a:ext cx="3383280" cy="16002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2039112"/>
            <a:ext cx="3054096" cy="246888"/>
          </a:xfrm>
          <a:prstGeom prst="rect">
            <a:avLst/>
          </a:prstGeom>
          <a:noFill/>
        </p:spPr>
        <p:txBody>
          <a:bodyPr wrap="square" anchor="t">
            <a:normAutofit/>
          </a:bodyPr>
          <a:lstStyle/>
          <a:p>
            <a:pPr algn="l"/>
            <a:r>
              <a:rPr sz="1350" b="1">
                <a:solidFill>
                  <a:srgbClr val="116666"/>
                </a:solidFill>
                <a:latin typeface="Aptos"/>
              </a:rPr>
              <a:t>UCI ML Repository</a:t>
            </a:r>
          </a:p>
        </p:txBody>
      </p:sp>
      <p:sp>
        <p:nvSpPr>
          <p:cNvPr id="13" name="TextBox 12"/>
          <p:cNvSpPr txBox="1"/>
          <p:nvPr/>
        </p:nvSpPr>
        <p:spPr>
          <a:xfrm>
            <a:off x="4599431" y="2340864"/>
            <a:ext cx="3054096" cy="1069848"/>
          </a:xfrm>
          <a:prstGeom prst="rect">
            <a:avLst/>
          </a:prstGeom>
          <a:noFill/>
        </p:spPr>
        <p:txBody>
          <a:bodyPr wrap="square" anchor="t">
            <a:normAutofit/>
          </a:bodyPr>
          <a:lstStyle/>
          <a:p>
            <a:pPr algn="l"/>
            <a:r>
              <a:rPr sz="1250" b="0">
                <a:solidFill>
                  <a:srgbClr val="1D2326"/>
                </a:solidFill>
                <a:latin typeface="Aptos"/>
              </a:rPr>
              <a:t>Long-running public collection of machine learning datasets with dataset pages, descriptions, and files.</a:t>
            </a:r>
          </a:p>
        </p:txBody>
      </p:sp>
      <p:sp>
        <p:nvSpPr>
          <p:cNvPr id="14" name="Rounded Rectangle 13"/>
          <p:cNvSpPr/>
          <p:nvPr/>
        </p:nvSpPr>
        <p:spPr>
          <a:xfrm>
            <a:off x="8046720" y="1901952"/>
            <a:ext cx="3383280" cy="16002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39112"/>
            <a:ext cx="3054096" cy="246888"/>
          </a:xfrm>
          <a:prstGeom prst="rect">
            <a:avLst/>
          </a:prstGeom>
          <a:noFill/>
        </p:spPr>
        <p:txBody>
          <a:bodyPr wrap="square" anchor="t">
            <a:normAutofit/>
          </a:bodyPr>
          <a:lstStyle/>
          <a:p>
            <a:pPr algn="l"/>
            <a:r>
              <a:rPr sz="1350" b="1">
                <a:solidFill>
                  <a:srgbClr val="116666"/>
                </a:solidFill>
                <a:latin typeface="Aptos"/>
              </a:rPr>
              <a:t>Database angle</a:t>
            </a:r>
          </a:p>
        </p:txBody>
      </p:sp>
      <p:sp>
        <p:nvSpPr>
          <p:cNvPr id="16" name="TextBox 15"/>
          <p:cNvSpPr txBox="1"/>
          <p:nvPr/>
        </p:nvSpPr>
        <p:spPr>
          <a:xfrm>
            <a:off x="8211312" y="2340864"/>
            <a:ext cx="3054096" cy="1069848"/>
          </a:xfrm>
          <a:prstGeom prst="rect">
            <a:avLst/>
          </a:prstGeom>
          <a:noFill/>
        </p:spPr>
        <p:txBody>
          <a:bodyPr wrap="square" anchor="t">
            <a:normAutofit/>
          </a:bodyPr>
          <a:lstStyle/>
          <a:p>
            <a:pPr algn="l"/>
            <a:r>
              <a:rPr sz="1250" b="0">
                <a:solidFill>
                  <a:srgbClr val="1D2326"/>
                </a:solidFill>
                <a:latin typeface="Aptos"/>
              </a:rPr>
              <a:t>Ask what a row means, what the target variable is, and whether the data belongs as a table, documents, or metadata plus files.</a:t>
            </a:r>
          </a:p>
        </p:txBody>
      </p:sp>
      <p:sp>
        <p:nvSpPr>
          <p:cNvPr id="17" name="TextBox 16"/>
          <p:cNvSpPr txBox="1"/>
          <p:nvPr/>
        </p:nvSpPr>
        <p:spPr>
          <a:xfrm>
            <a:off x="1188720" y="4434840"/>
            <a:ext cx="9784080" cy="640080"/>
          </a:xfrm>
          <a:prstGeom prst="rect">
            <a:avLst/>
          </a:prstGeom>
          <a:noFill/>
        </p:spPr>
        <p:txBody>
          <a:bodyPr wrap="square" anchor="t">
            <a:normAutofit/>
          </a:bodyPr>
          <a:lstStyle/>
          <a:p>
            <a:pPr algn="ctr"/>
            <a:r>
              <a:rPr sz="1900" b="1">
                <a:solidFill>
                  <a:srgbClr val="1D2326"/>
                </a:solidFill>
                <a:latin typeface="Aptos"/>
              </a:rPr>
              <a:t>ML datasets are often already prepared for modeling. For database administration, the learning is in metadata, schema, import, and reproducibility.</a:t>
            </a:r>
          </a:p>
        </p:txBody>
      </p:sp>
      <p:sp>
        <p:nvSpPr>
          <p:cNvPr id="18" name="TextBox 17"/>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19" name="TextBox 18"/>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PLATFORM 4</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Security Datasets: Use Safe Metadata First</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Security data can be useful, but students must avoid unsafe or private material.</a:t>
            </a:r>
          </a:p>
        </p:txBody>
      </p:sp>
      <p:sp>
        <p:nvSpPr>
          <p:cNvPr id="8" name="Rounded Rectangle 7"/>
          <p:cNvSpPr/>
          <p:nvPr/>
        </p:nvSpPr>
        <p:spPr>
          <a:xfrm>
            <a:off x="749808" y="1828800"/>
            <a:ext cx="3291840" cy="169164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65960"/>
            <a:ext cx="2962656" cy="246888"/>
          </a:xfrm>
          <a:prstGeom prst="rect">
            <a:avLst/>
          </a:prstGeom>
          <a:noFill/>
        </p:spPr>
        <p:txBody>
          <a:bodyPr wrap="square" anchor="t">
            <a:normAutofit/>
          </a:bodyPr>
          <a:lstStyle/>
          <a:p>
            <a:pPr algn="l"/>
            <a:r>
              <a:rPr sz="1350" b="1">
                <a:solidFill>
                  <a:srgbClr val="116666"/>
                </a:solidFill>
                <a:latin typeface="Aptos"/>
              </a:rPr>
              <a:t>Safe beginner examples</a:t>
            </a:r>
          </a:p>
        </p:txBody>
      </p:sp>
      <p:sp>
        <p:nvSpPr>
          <p:cNvPr id="10" name="TextBox 9"/>
          <p:cNvSpPr txBox="1"/>
          <p:nvPr/>
        </p:nvSpPr>
        <p:spPr>
          <a:xfrm>
            <a:off x="914400" y="2267712"/>
            <a:ext cx="2962656" cy="1161288"/>
          </a:xfrm>
          <a:prstGeom prst="rect">
            <a:avLst/>
          </a:prstGeom>
          <a:noFill/>
        </p:spPr>
        <p:txBody>
          <a:bodyPr wrap="square" anchor="t">
            <a:normAutofit/>
          </a:bodyPr>
          <a:lstStyle/>
          <a:p>
            <a:pPr algn="l"/>
            <a:r>
              <a:rPr sz="1250" b="0">
                <a:solidFill>
                  <a:srgbClr val="1D2326"/>
                </a:solidFill>
                <a:latin typeface="Aptos"/>
              </a:rPr>
              <a:t>Vulnerability advisories, CVE metadata, known exploited vulnerability catalogs, sanitized logs, and documented network-flow datasets.</a:t>
            </a:r>
          </a:p>
        </p:txBody>
      </p:sp>
      <p:sp>
        <p:nvSpPr>
          <p:cNvPr id="11" name="Rounded Rectangle 10"/>
          <p:cNvSpPr/>
          <p:nvPr/>
        </p:nvSpPr>
        <p:spPr>
          <a:xfrm>
            <a:off x="4434840" y="1828800"/>
            <a:ext cx="3291840" cy="16916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65960"/>
            <a:ext cx="2962656" cy="246888"/>
          </a:xfrm>
          <a:prstGeom prst="rect">
            <a:avLst/>
          </a:prstGeom>
          <a:noFill/>
        </p:spPr>
        <p:txBody>
          <a:bodyPr wrap="square" anchor="t">
            <a:normAutofit/>
          </a:bodyPr>
          <a:lstStyle/>
          <a:p>
            <a:pPr algn="l"/>
            <a:r>
              <a:rPr sz="1350" b="1">
                <a:solidFill>
                  <a:srgbClr val="AE3B36"/>
                </a:solidFill>
                <a:latin typeface="Aptos"/>
              </a:rPr>
              <a:t>Do not use</a:t>
            </a:r>
          </a:p>
        </p:txBody>
      </p:sp>
      <p:sp>
        <p:nvSpPr>
          <p:cNvPr id="13" name="TextBox 12"/>
          <p:cNvSpPr txBox="1"/>
          <p:nvPr/>
        </p:nvSpPr>
        <p:spPr>
          <a:xfrm>
            <a:off x="4599431" y="2267712"/>
            <a:ext cx="2962656" cy="1161288"/>
          </a:xfrm>
          <a:prstGeom prst="rect">
            <a:avLst/>
          </a:prstGeom>
          <a:noFill/>
        </p:spPr>
        <p:txBody>
          <a:bodyPr wrap="square" anchor="t">
            <a:normAutofit/>
          </a:bodyPr>
          <a:lstStyle/>
          <a:p>
            <a:pPr algn="l"/>
            <a:r>
              <a:rPr sz="1250" b="0">
                <a:solidFill>
                  <a:srgbClr val="1D2326"/>
                </a:solidFill>
                <a:latin typeface="Aptos"/>
              </a:rPr>
              <a:t>Malware samples, exploit kits, credential dumps, leaked private data, or anything that asks you to run unknown code.</a:t>
            </a:r>
          </a:p>
        </p:txBody>
      </p:sp>
      <p:sp>
        <p:nvSpPr>
          <p:cNvPr id="14" name="Rounded Rectangle 13"/>
          <p:cNvSpPr/>
          <p:nvPr/>
        </p:nvSpPr>
        <p:spPr>
          <a:xfrm>
            <a:off x="8119872" y="1828800"/>
            <a:ext cx="3291840" cy="16916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1965960"/>
            <a:ext cx="2962656" cy="246888"/>
          </a:xfrm>
          <a:prstGeom prst="rect">
            <a:avLst/>
          </a:prstGeom>
          <a:noFill/>
        </p:spPr>
        <p:txBody>
          <a:bodyPr wrap="square" anchor="t">
            <a:normAutofit/>
          </a:bodyPr>
          <a:lstStyle/>
          <a:p>
            <a:pPr algn="l"/>
            <a:r>
              <a:rPr sz="1350" b="1">
                <a:solidFill>
                  <a:srgbClr val="116666"/>
                </a:solidFill>
                <a:latin typeface="Aptos"/>
              </a:rPr>
              <a:t>Database questions</a:t>
            </a:r>
          </a:p>
        </p:txBody>
      </p:sp>
      <p:sp>
        <p:nvSpPr>
          <p:cNvPr id="16" name="TextBox 15"/>
          <p:cNvSpPr txBox="1"/>
          <p:nvPr/>
        </p:nvSpPr>
        <p:spPr>
          <a:xfrm>
            <a:off x="8284464" y="2267712"/>
            <a:ext cx="2962656" cy="1161288"/>
          </a:xfrm>
          <a:prstGeom prst="rect">
            <a:avLst/>
          </a:prstGeom>
          <a:noFill/>
        </p:spPr>
        <p:txBody>
          <a:bodyPr wrap="square" anchor="t">
            <a:normAutofit/>
          </a:bodyPr>
          <a:lstStyle/>
          <a:p>
            <a:pPr algn="l"/>
            <a:r>
              <a:rPr sz="1250" b="0">
                <a:solidFill>
                  <a:srgbClr val="1D2326"/>
                </a:solidFill>
                <a:latin typeface="Aptos"/>
              </a:rPr>
              <a:t>What is one event? What fields identify product, date, severity, vendor, exploit status, or mitigation?</a:t>
            </a:r>
          </a:p>
        </p:txBody>
      </p:sp>
      <p:sp>
        <p:nvSpPr>
          <p:cNvPr id="17" name="TextBox 16"/>
          <p:cNvSpPr txBox="1"/>
          <p:nvPr/>
        </p:nvSpPr>
        <p:spPr>
          <a:xfrm>
            <a:off x="1143000" y="4526280"/>
            <a:ext cx="9921240" cy="603504"/>
          </a:xfrm>
          <a:prstGeom prst="rect">
            <a:avLst/>
          </a:prstGeom>
          <a:noFill/>
        </p:spPr>
        <p:txBody>
          <a:bodyPr wrap="square" anchor="t">
            <a:normAutofit/>
          </a:bodyPr>
          <a:lstStyle/>
          <a:p>
            <a:pPr algn="ctr"/>
            <a:r>
              <a:rPr sz="1900" b="1">
                <a:solidFill>
                  <a:srgbClr val="1D2326"/>
                </a:solidFill>
                <a:latin typeface="Aptos"/>
              </a:rPr>
              <a:t>Security datasets are excellent for admin thinking because they force questions about trust, sensitivity, retention, and access control.</a:t>
            </a:r>
          </a:p>
        </p:txBody>
      </p:sp>
      <p:sp>
        <p:nvSpPr>
          <p:cNvPr id="18" name="TextBox 17"/>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19" name="TextBox 18"/>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SOURCE HYGIENE</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GitHub and Random Online Data</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Useful, but quality varies. Treat every repository as a source that needs inspection.</a:t>
            </a:r>
          </a:p>
        </p:txBody>
      </p:sp>
      <p:sp>
        <p:nvSpPr>
          <p:cNvPr id="8" name="TextBox 7"/>
          <p:cNvSpPr txBox="1"/>
          <p:nvPr/>
        </p:nvSpPr>
        <p:spPr>
          <a:xfrm>
            <a:off x="960120" y="1828800"/>
            <a:ext cx="4937760" cy="3291840"/>
          </a:xfrm>
          <a:prstGeom prst="rect">
            <a:avLst/>
          </a:prstGeom>
          <a:noFill/>
        </p:spPr>
        <p:txBody>
          <a:bodyPr wrap="square">
            <a:normAutofit/>
          </a:bodyPr>
          <a:lstStyle/>
          <a:p>
            <a:pPr>
              <a:spcAft>
                <a:spcPts val="600"/>
              </a:spcAft>
              <a:defRPr sz="1700">
                <a:solidFill>
                  <a:srgbClr val="1D2326"/>
                </a:solidFill>
                <a:latin typeface="Aptos"/>
              </a:defRPr>
            </a:pPr>
            <a:r>
              <a:t>Look for README, license, data dictionary, commit history, and maintainer identity.</a:t>
            </a:r>
          </a:p>
          <a:p>
            <a:pPr>
              <a:spcAft>
                <a:spcPts val="600"/>
              </a:spcAft>
              <a:defRPr sz="1700">
                <a:solidFill>
                  <a:srgbClr val="1D2326"/>
                </a:solidFill>
                <a:latin typeface="Aptos"/>
              </a:defRPr>
            </a:pPr>
            <a:r>
              <a:t>Use raw CSV/JSON files carefully; previews can hide encoding and delimiter problems.</a:t>
            </a:r>
          </a:p>
          <a:p>
            <a:pPr>
              <a:spcAft>
                <a:spcPts val="600"/>
              </a:spcAft>
              <a:defRPr sz="1700">
                <a:solidFill>
                  <a:srgbClr val="1D2326"/>
                </a:solidFill>
                <a:latin typeface="Aptos"/>
              </a:defRPr>
            </a:pPr>
            <a:r>
              <a:t>Avoid huge files or repositories with unclear ownership.</a:t>
            </a:r>
          </a:p>
          <a:p>
            <a:pPr>
              <a:spcAft>
                <a:spcPts val="600"/>
              </a:spcAft>
              <a:defRPr sz="1700">
                <a:solidFill>
                  <a:srgbClr val="1D2326"/>
                </a:solidFill>
                <a:latin typeface="Aptos"/>
              </a:defRPr>
            </a:pPr>
            <a:r>
              <a:t>Never run unknown scripts just to get a dataset.</a:t>
            </a:r>
          </a:p>
          <a:p>
            <a:pPr>
              <a:spcAft>
                <a:spcPts val="600"/>
              </a:spcAft>
              <a:defRPr sz="1700">
                <a:solidFill>
                  <a:srgbClr val="1D2326"/>
                </a:solidFill>
                <a:latin typeface="Aptos"/>
              </a:defRPr>
            </a:pPr>
            <a:r>
              <a:t>Prefer data files you can explain without trusting magic setup code.</a:t>
            </a:r>
          </a:p>
        </p:txBody>
      </p:sp>
      <p:sp>
        <p:nvSpPr>
          <p:cNvPr id="9" name="Rounded Rectangle 8"/>
          <p:cNvSpPr/>
          <p:nvPr/>
        </p:nvSpPr>
        <p:spPr>
          <a:xfrm>
            <a:off x="6629400" y="1965960"/>
            <a:ext cx="4343400" cy="214884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3992" y="2103120"/>
            <a:ext cx="4014215" cy="246888"/>
          </a:xfrm>
          <a:prstGeom prst="rect">
            <a:avLst/>
          </a:prstGeom>
          <a:noFill/>
        </p:spPr>
        <p:txBody>
          <a:bodyPr wrap="square" anchor="t">
            <a:normAutofit/>
          </a:bodyPr>
          <a:lstStyle/>
          <a:p>
            <a:pPr algn="l"/>
            <a:r>
              <a:rPr sz="1350" b="1">
                <a:solidFill>
                  <a:srgbClr val="116666"/>
                </a:solidFill>
                <a:latin typeface="Aptos"/>
              </a:rPr>
              <a:t>Good beginner rule</a:t>
            </a:r>
          </a:p>
        </p:txBody>
      </p:sp>
      <p:sp>
        <p:nvSpPr>
          <p:cNvPr id="11" name="TextBox 10"/>
          <p:cNvSpPr txBox="1"/>
          <p:nvPr/>
        </p:nvSpPr>
        <p:spPr>
          <a:xfrm>
            <a:off x="6793992" y="2404872"/>
            <a:ext cx="4014215" cy="1618488"/>
          </a:xfrm>
          <a:prstGeom prst="rect">
            <a:avLst/>
          </a:prstGeom>
          <a:noFill/>
        </p:spPr>
        <p:txBody>
          <a:bodyPr wrap="square" anchor="t">
            <a:normAutofit/>
          </a:bodyPr>
          <a:lstStyle/>
          <a:p>
            <a:pPr algn="l"/>
            <a:r>
              <a:rPr sz="1500" b="0">
                <a:solidFill>
                  <a:srgbClr val="1D2326"/>
                </a:solidFill>
                <a:latin typeface="Aptos"/>
              </a:rPr>
              <a:t>If you cannot explain who made the data, what one record means, and what the license allows, do not build your final project on it.</a:t>
            </a:r>
          </a:p>
        </p:txBody>
      </p:sp>
      <p:sp>
        <p:nvSpPr>
          <p:cNvPr id="12" name="TextBox 11"/>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13" name="TextBox 12"/>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AUDIT</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Dataset Evaluation Checklist</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Before import, answer these questions.</a:t>
            </a:r>
          </a:p>
        </p:txBody>
      </p:sp>
      <p:sp>
        <p:nvSpPr>
          <p:cNvPr id="8" name="Rounded Rectangle 7"/>
          <p:cNvSpPr/>
          <p:nvPr/>
        </p:nvSpPr>
        <p:spPr>
          <a:xfrm>
            <a:off x="658368" y="1847088"/>
            <a:ext cx="2395728" cy="120700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84248"/>
            <a:ext cx="2066544" cy="246888"/>
          </a:xfrm>
          <a:prstGeom prst="rect">
            <a:avLst/>
          </a:prstGeom>
          <a:noFill/>
        </p:spPr>
        <p:txBody>
          <a:bodyPr wrap="square" anchor="t">
            <a:normAutofit/>
          </a:bodyPr>
          <a:lstStyle/>
          <a:p>
            <a:pPr algn="l"/>
            <a:r>
              <a:rPr sz="1350" b="1">
                <a:solidFill>
                  <a:srgbClr val="116666"/>
                </a:solidFill>
                <a:latin typeface="Aptos"/>
              </a:rPr>
              <a:t>Source</a:t>
            </a:r>
          </a:p>
        </p:txBody>
      </p:sp>
      <p:sp>
        <p:nvSpPr>
          <p:cNvPr id="10" name="TextBox 9"/>
          <p:cNvSpPr txBox="1"/>
          <p:nvPr/>
        </p:nvSpPr>
        <p:spPr>
          <a:xfrm>
            <a:off x="822959" y="2286000"/>
            <a:ext cx="2066544" cy="676656"/>
          </a:xfrm>
          <a:prstGeom prst="rect">
            <a:avLst/>
          </a:prstGeom>
          <a:noFill/>
        </p:spPr>
        <p:txBody>
          <a:bodyPr wrap="square" anchor="t">
            <a:normAutofit/>
          </a:bodyPr>
          <a:lstStyle/>
          <a:p>
            <a:pPr algn="l"/>
            <a:r>
              <a:rPr sz="1120" b="0">
                <a:solidFill>
                  <a:srgbClr val="1D2326"/>
                </a:solidFill>
                <a:latin typeface="Aptos"/>
              </a:rPr>
              <a:t>Who created it and why?</a:t>
            </a:r>
          </a:p>
        </p:txBody>
      </p:sp>
      <p:sp>
        <p:nvSpPr>
          <p:cNvPr id="11" name="Rounded Rectangle 10"/>
          <p:cNvSpPr/>
          <p:nvPr/>
        </p:nvSpPr>
        <p:spPr>
          <a:xfrm>
            <a:off x="3511296" y="1847088"/>
            <a:ext cx="2395728" cy="120700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7" y="1984248"/>
            <a:ext cx="2066544" cy="246888"/>
          </a:xfrm>
          <a:prstGeom prst="rect">
            <a:avLst/>
          </a:prstGeom>
          <a:noFill/>
        </p:spPr>
        <p:txBody>
          <a:bodyPr wrap="square" anchor="t">
            <a:normAutofit/>
          </a:bodyPr>
          <a:lstStyle/>
          <a:p>
            <a:pPr algn="l"/>
            <a:r>
              <a:rPr sz="1350" b="1">
                <a:solidFill>
                  <a:srgbClr val="116666"/>
                </a:solidFill>
                <a:latin typeface="Aptos"/>
              </a:rPr>
              <a:t>License</a:t>
            </a:r>
          </a:p>
        </p:txBody>
      </p:sp>
      <p:sp>
        <p:nvSpPr>
          <p:cNvPr id="13" name="TextBox 12"/>
          <p:cNvSpPr txBox="1"/>
          <p:nvPr/>
        </p:nvSpPr>
        <p:spPr>
          <a:xfrm>
            <a:off x="3675887" y="2286000"/>
            <a:ext cx="2066544" cy="676656"/>
          </a:xfrm>
          <a:prstGeom prst="rect">
            <a:avLst/>
          </a:prstGeom>
          <a:noFill/>
        </p:spPr>
        <p:txBody>
          <a:bodyPr wrap="square" anchor="t">
            <a:normAutofit/>
          </a:bodyPr>
          <a:lstStyle/>
          <a:p>
            <a:pPr algn="l"/>
            <a:r>
              <a:rPr sz="1120" b="0">
                <a:solidFill>
                  <a:srgbClr val="1D2326"/>
                </a:solidFill>
                <a:latin typeface="Aptos"/>
              </a:rPr>
              <a:t>Are you allowed to use it?</a:t>
            </a:r>
          </a:p>
        </p:txBody>
      </p:sp>
      <p:sp>
        <p:nvSpPr>
          <p:cNvPr id="14" name="Rounded Rectangle 13"/>
          <p:cNvSpPr/>
          <p:nvPr/>
        </p:nvSpPr>
        <p:spPr>
          <a:xfrm>
            <a:off x="6364224" y="1847088"/>
            <a:ext cx="2395728" cy="120700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1984248"/>
            <a:ext cx="2066544" cy="246888"/>
          </a:xfrm>
          <a:prstGeom prst="rect">
            <a:avLst/>
          </a:prstGeom>
          <a:noFill/>
        </p:spPr>
        <p:txBody>
          <a:bodyPr wrap="square" anchor="t">
            <a:normAutofit/>
          </a:bodyPr>
          <a:lstStyle/>
          <a:p>
            <a:pPr algn="l"/>
            <a:r>
              <a:rPr sz="1350" b="1">
                <a:solidFill>
                  <a:srgbClr val="116666"/>
                </a:solidFill>
                <a:latin typeface="Aptos"/>
              </a:rPr>
              <a:t>Format</a:t>
            </a:r>
          </a:p>
        </p:txBody>
      </p:sp>
      <p:sp>
        <p:nvSpPr>
          <p:cNvPr id="16" name="TextBox 15"/>
          <p:cNvSpPr txBox="1"/>
          <p:nvPr/>
        </p:nvSpPr>
        <p:spPr>
          <a:xfrm>
            <a:off x="6528816" y="2286000"/>
            <a:ext cx="2066544" cy="676656"/>
          </a:xfrm>
          <a:prstGeom prst="rect">
            <a:avLst/>
          </a:prstGeom>
          <a:noFill/>
        </p:spPr>
        <p:txBody>
          <a:bodyPr wrap="square" anchor="t">
            <a:normAutofit/>
          </a:bodyPr>
          <a:lstStyle/>
          <a:p>
            <a:pPr algn="l"/>
            <a:r>
              <a:rPr sz="1120" b="0">
                <a:solidFill>
                  <a:srgbClr val="1D2326"/>
                </a:solidFill>
                <a:latin typeface="Aptos"/>
              </a:rPr>
              <a:t>CSV, JSON, API, logs, files?</a:t>
            </a:r>
          </a:p>
        </p:txBody>
      </p:sp>
      <p:sp>
        <p:nvSpPr>
          <p:cNvPr id="17" name="Rounded Rectangle 16"/>
          <p:cNvSpPr/>
          <p:nvPr/>
        </p:nvSpPr>
        <p:spPr>
          <a:xfrm>
            <a:off x="9217152" y="1847088"/>
            <a:ext cx="2395728" cy="120700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81744" y="1984248"/>
            <a:ext cx="2066544" cy="246888"/>
          </a:xfrm>
          <a:prstGeom prst="rect">
            <a:avLst/>
          </a:prstGeom>
          <a:noFill/>
        </p:spPr>
        <p:txBody>
          <a:bodyPr wrap="square" anchor="t">
            <a:normAutofit/>
          </a:bodyPr>
          <a:lstStyle/>
          <a:p>
            <a:pPr algn="l"/>
            <a:r>
              <a:rPr sz="1350" b="1">
                <a:solidFill>
                  <a:srgbClr val="116666"/>
                </a:solidFill>
                <a:latin typeface="Aptos"/>
              </a:rPr>
              <a:t>Size</a:t>
            </a:r>
          </a:p>
        </p:txBody>
      </p:sp>
      <p:sp>
        <p:nvSpPr>
          <p:cNvPr id="19" name="TextBox 18"/>
          <p:cNvSpPr txBox="1"/>
          <p:nvPr/>
        </p:nvSpPr>
        <p:spPr>
          <a:xfrm>
            <a:off x="9381744" y="2286000"/>
            <a:ext cx="2066544" cy="676656"/>
          </a:xfrm>
          <a:prstGeom prst="rect">
            <a:avLst/>
          </a:prstGeom>
          <a:noFill/>
        </p:spPr>
        <p:txBody>
          <a:bodyPr wrap="square" anchor="t">
            <a:normAutofit/>
          </a:bodyPr>
          <a:lstStyle/>
          <a:p>
            <a:pPr algn="l"/>
            <a:r>
              <a:rPr sz="1120" b="0">
                <a:solidFill>
                  <a:srgbClr val="1D2326"/>
                </a:solidFill>
                <a:latin typeface="Aptos"/>
              </a:rPr>
              <a:t>Can you handle it in class?</a:t>
            </a:r>
          </a:p>
        </p:txBody>
      </p:sp>
      <p:sp>
        <p:nvSpPr>
          <p:cNvPr id="20" name="Rounded Rectangle 19"/>
          <p:cNvSpPr/>
          <p:nvPr/>
        </p:nvSpPr>
        <p:spPr>
          <a:xfrm>
            <a:off x="658368" y="3675887"/>
            <a:ext cx="2395728" cy="120700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3813048"/>
            <a:ext cx="2066544" cy="246888"/>
          </a:xfrm>
          <a:prstGeom prst="rect">
            <a:avLst/>
          </a:prstGeom>
          <a:noFill/>
        </p:spPr>
        <p:txBody>
          <a:bodyPr wrap="square" anchor="t">
            <a:normAutofit/>
          </a:bodyPr>
          <a:lstStyle/>
          <a:p>
            <a:pPr algn="l"/>
            <a:r>
              <a:rPr sz="1350" b="1">
                <a:solidFill>
                  <a:srgbClr val="116666"/>
                </a:solidFill>
                <a:latin typeface="Aptos"/>
              </a:rPr>
              <a:t>Meaning</a:t>
            </a:r>
          </a:p>
        </p:txBody>
      </p:sp>
      <p:sp>
        <p:nvSpPr>
          <p:cNvPr id="22" name="TextBox 21"/>
          <p:cNvSpPr txBox="1"/>
          <p:nvPr/>
        </p:nvSpPr>
        <p:spPr>
          <a:xfrm>
            <a:off x="822959" y="4114800"/>
            <a:ext cx="2066544" cy="676656"/>
          </a:xfrm>
          <a:prstGeom prst="rect">
            <a:avLst/>
          </a:prstGeom>
          <a:noFill/>
        </p:spPr>
        <p:txBody>
          <a:bodyPr wrap="square" anchor="t">
            <a:normAutofit/>
          </a:bodyPr>
          <a:lstStyle/>
          <a:p>
            <a:pPr algn="l"/>
            <a:r>
              <a:rPr sz="1120" b="0">
                <a:solidFill>
                  <a:srgbClr val="1D2326"/>
                </a:solidFill>
                <a:latin typeface="Aptos"/>
              </a:rPr>
              <a:t>What does one record represent?</a:t>
            </a:r>
          </a:p>
        </p:txBody>
      </p:sp>
      <p:sp>
        <p:nvSpPr>
          <p:cNvPr id="23" name="Rounded Rectangle 22"/>
          <p:cNvSpPr/>
          <p:nvPr/>
        </p:nvSpPr>
        <p:spPr>
          <a:xfrm>
            <a:off x="3511296" y="3675887"/>
            <a:ext cx="2395728" cy="120700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5887" y="3813048"/>
            <a:ext cx="2066544" cy="246888"/>
          </a:xfrm>
          <a:prstGeom prst="rect">
            <a:avLst/>
          </a:prstGeom>
          <a:noFill/>
        </p:spPr>
        <p:txBody>
          <a:bodyPr wrap="square" anchor="t">
            <a:normAutofit/>
          </a:bodyPr>
          <a:lstStyle/>
          <a:p>
            <a:pPr algn="l"/>
            <a:r>
              <a:rPr sz="1350" b="1">
                <a:solidFill>
                  <a:srgbClr val="116666"/>
                </a:solidFill>
                <a:latin typeface="Aptos"/>
              </a:rPr>
              <a:t>Types</a:t>
            </a:r>
          </a:p>
        </p:txBody>
      </p:sp>
      <p:sp>
        <p:nvSpPr>
          <p:cNvPr id="25" name="TextBox 24"/>
          <p:cNvSpPr txBox="1"/>
          <p:nvPr/>
        </p:nvSpPr>
        <p:spPr>
          <a:xfrm>
            <a:off x="3675887" y="4114800"/>
            <a:ext cx="2066544" cy="676656"/>
          </a:xfrm>
          <a:prstGeom prst="rect">
            <a:avLst/>
          </a:prstGeom>
          <a:noFill/>
        </p:spPr>
        <p:txBody>
          <a:bodyPr wrap="square" anchor="t">
            <a:normAutofit/>
          </a:bodyPr>
          <a:lstStyle/>
          <a:p>
            <a:pPr algn="l"/>
            <a:r>
              <a:rPr sz="1120" b="0">
                <a:solidFill>
                  <a:srgbClr val="1D2326"/>
                </a:solidFill>
                <a:latin typeface="Aptos"/>
              </a:rPr>
              <a:t>Dates, numbers, text, IDs, nulls?</a:t>
            </a:r>
          </a:p>
        </p:txBody>
      </p:sp>
      <p:sp>
        <p:nvSpPr>
          <p:cNvPr id="26" name="Rounded Rectangle 25"/>
          <p:cNvSpPr/>
          <p:nvPr/>
        </p:nvSpPr>
        <p:spPr>
          <a:xfrm>
            <a:off x="6364224" y="3675887"/>
            <a:ext cx="2395728" cy="1207008"/>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3813048"/>
            <a:ext cx="2066544" cy="246888"/>
          </a:xfrm>
          <a:prstGeom prst="rect">
            <a:avLst/>
          </a:prstGeom>
          <a:noFill/>
        </p:spPr>
        <p:txBody>
          <a:bodyPr wrap="square" anchor="t">
            <a:normAutofit/>
          </a:bodyPr>
          <a:lstStyle/>
          <a:p>
            <a:pPr algn="l"/>
            <a:r>
              <a:rPr sz="1350" b="1">
                <a:solidFill>
                  <a:srgbClr val="116666"/>
                </a:solidFill>
                <a:latin typeface="Aptos"/>
              </a:rPr>
              <a:t>Privacy</a:t>
            </a:r>
          </a:p>
        </p:txBody>
      </p:sp>
      <p:sp>
        <p:nvSpPr>
          <p:cNvPr id="28" name="TextBox 27"/>
          <p:cNvSpPr txBox="1"/>
          <p:nvPr/>
        </p:nvSpPr>
        <p:spPr>
          <a:xfrm>
            <a:off x="6528816" y="4114800"/>
            <a:ext cx="2066544" cy="676656"/>
          </a:xfrm>
          <a:prstGeom prst="rect">
            <a:avLst/>
          </a:prstGeom>
          <a:noFill/>
        </p:spPr>
        <p:txBody>
          <a:bodyPr wrap="square" anchor="t">
            <a:normAutofit/>
          </a:bodyPr>
          <a:lstStyle/>
          <a:p>
            <a:pPr algn="l"/>
            <a:r>
              <a:rPr sz="1120" b="0">
                <a:solidFill>
                  <a:srgbClr val="1D2326"/>
                </a:solidFill>
                <a:latin typeface="Aptos"/>
              </a:rPr>
              <a:t>Any personal or sensitive data?</a:t>
            </a:r>
          </a:p>
        </p:txBody>
      </p:sp>
      <p:sp>
        <p:nvSpPr>
          <p:cNvPr id="29" name="Rounded Rectangle 28"/>
          <p:cNvSpPr/>
          <p:nvPr/>
        </p:nvSpPr>
        <p:spPr>
          <a:xfrm>
            <a:off x="9217152" y="3675887"/>
            <a:ext cx="2395728" cy="1207008"/>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81744" y="3813048"/>
            <a:ext cx="2066544" cy="246888"/>
          </a:xfrm>
          <a:prstGeom prst="rect">
            <a:avLst/>
          </a:prstGeom>
          <a:noFill/>
        </p:spPr>
        <p:txBody>
          <a:bodyPr wrap="square" anchor="t">
            <a:normAutofit/>
          </a:bodyPr>
          <a:lstStyle/>
          <a:p>
            <a:pPr algn="l"/>
            <a:r>
              <a:rPr sz="1350" b="1">
                <a:solidFill>
                  <a:srgbClr val="116666"/>
                </a:solidFill>
                <a:latin typeface="Aptos"/>
              </a:rPr>
              <a:t>Update</a:t>
            </a:r>
          </a:p>
        </p:txBody>
      </p:sp>
      <p:sp>
        <p:nvSpPr>
          <p:cNvPr id="31" name="TextBox 30"/>
          <p:cNvSpPr txBox="1"/>
          <p:nvPr/>
        </p:nvSpPr>
        <p:spPr>
          <a:xfrm>
            <a:off x="9381744" y="4114800"/>
            <a:ext cx="2066544" cy="676656"/>
          </a:xfrm>
          <a:prstGeom prst="rect">
            <a:avLst/>
          </a:prstGeom>
          <a:noFill/>
        </p:spPr>
        <p:txBody>
          <a:bodyPr wrap="square" anchor="t">
            <a:normAutofit/>
          </a:bodyPr>
          <a:lstStyle/>
          <a:p>
            <a:pPr algn="l"/>
            <a:r>
              <a:rPr sz="1120" b="0">
                <a:solidFill>
                  <a:srgbClr val="1D2326"/>
                </a:solidFill>
                <a:latin typeface="Aptos"/>
              </a:rPr>
              <a:t>Static download or changing source?</a:t>
            </a:r>
          </a:p>
        </p:txBody>
      </p:sp>
      <p:sp>
        <p:nvSpPr>
          <p:cNvPr id="32" name="TextBox 31"/>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33" name="TextBox 32"/>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INSPECTION</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The First 10 Minutes With Any Dataset</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Do this before importing anything.</a:t>
            </a:r>
          </a:p>
        </p:txBody>
      </p:sp>
      <p:sp>
        <p:nvSpPr>
          <p:cNvPr id="8" name="Rounded Rectangle 7"/>
          <p:cNvSpPr/>
          <p:nvPr/>
        </p:nvSpPr>
        <p:spPr>
          <a:xfrm>
            <a:off x="777240" y="1828800"/>
            <a:ext cx="256032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65960"/>
            <a:ext cx="2231136" cy="246888"/>
          </a:xfrm>
          <a:prstGeom prst="rect">
            <a:avLst/>
          </a:prstGeom>
          <a:noFill/>
        </p:spPr>
        <p:txBody>
          <a:bodyPr wrap="square" anchor="t">
            <a:normAutofit/>
          </a:bodyPr>
          <a:lstStyle/>
          <a:p>
            <a:pPr algn="l"/>
            <a:r>
              <a:rPr sz="1350" b="1">
                <a:solidFill>
                  <a:srgbClr val="116666"/>
                </a:solidFill>
                <a:latin typeface="Aptos"/>
              </a:rPr>
              <a:t>1. Count</a:t>
            </a:r>
          </a:p>
        </p:txBody>
      </p:sp>
      <p:sp>
        <p:nvSpPr>
          <p:cNvPr id="10" name="TextBox 9"/>
          <p:cNvSpPr txBox="1"/>
          <p:nvPr/>
        </p:nvSpPr>
        <p:spPr>
          <a:xfrm>
            <a:off x="941832" y="2267712"/>
            <a:ext cx="2231136" cy="612648"/>
          </a:xfrm>
          <a:prstGeom prst="rect">
            <a:avLst/>
          </a:prstGeom>
          <a:noFill/>
        </p:spPr>
        <p:txBody>
          <a:bodyPr wrap="square" anchor="t">
            <a:normAutofit/>
          </a:bodyPr>
          <a:lstStyle/>
          <a:p>
            <a:pPr algn="l"/>
            <a:r>
              <a:rPr sz="1250" b="0">
                <a:solidFill>
                  <a:srgbClr val="1D2326"/>
                </a:solidFill>
                <a:latin typeface="Aptos"/>
              </a:rPr>
              <a:t>How many files, rows, columns, or documents?</a:t>
            </a:r>
          </a:p>
        </p:txBody>
      </p:sp>
      <p:sp>
        <p:nvSpPr>
          <p:cNvPr id="11" name="Rounded Rectangle 10"/>
          <p:cNvSpPr/>
          <p:nvPr/>
        </p:nvSpPr>
        <p:spPr>
          <a:xfrm>
            <a:off x="3520440" y="1828800"/>
            <a:ext cx="2560320" cy="11430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1965960"/>
            <a:ext cx="2231136" cy="246888"/>
          </a:xfrm>
          <a:prstGeom prst="rect">
            <a:avLst/>
          </a:prstGeom>
          <a:noFill/>
        </p:spPr>
        <p:txBody>
          <a:bodyPr wrap="square" anchor="t">
            <a:normAutofit/>
          </a:bodyPr>
          <a:lstStyle/>
          <a:p>
            <a:pPr algn="l"/>
            <a:r>
              <a:rPr sz="1350" b="1">
                <a:solidFill>
                  <a:srgbClr val="116666"/>
                </a:solidFill>
                <a:latin typeface="Aptos"/>
              </a:rPr>
              <a:t>2. Preview</a:t>
            </a:r>
          </a:p>
        </p:txBody>
      </p:sp>
      <p:sp>
        <p:nvSpPr>
          <p:cNvPr id="13" name="TextBox 12"/>
          <p:cNvSpPr txBox="1"/>
          <p:nvPr/>
        </p:nvSpPr>
        <p:spPr>
          <a:xfrm>
            <a:off x="3685032" y="2267712"/>
            <a:ext cx="2231136" cy="612648"/>
          </a:xfrm>
          <a:prstGeom prst="rect">
            <a:avLst/>
          </a:prstGeom>
          <a:noFill/>
        </p:spPr>
        <p:txBody>
          <a:bodyPr wrap="square" anchor="t">
            <a:normAutofit/>
          </a:bodyPr>
          <a:lstStyle/>
          <a:p>
            <a:pPr algn="l"/>
            <a:r>
              <a:rPr sz="1250" b="0">
                <a:solidFill>
                  <a:srgbClr val="1D2326"/>
                </a:solidFill>
                <a:latin typeface="Aptos"/>
              </a:rPr>
              <a:t>Read the first few records and field names.</a:t>
            </a:r>
          </a:p>
        </p:txBody>
      </p:sp>
      <p:sp>
        <p:nvSpPr>
          <p:cNvPr id="14" name="Rounded Rectangle 13"/>
          <p:cNvSpPr/>
          <p:nvPr/>
        </p:nvSpPr>
        <p:spPr>
          <a:xfrm>
            <a:off x="6263640" y="1828800"/>
            <a:ext cx="256032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1" y="1965960"/>
            <a:ext cx="2231136" cy="246888"/>
          </a:xfrm>
          <a:prstGeom prst="rect">
            <a:avLst/>
          </a:prstGeom>
          <a:noFill/>
        </p:spPr>
        <p:txBody>
          <a:bodyPr wrap="square" anchor="t">
            <a:normAutofit/>
          </a:bodyPr>
          <a:lstStyle/>
          <a:p>
            <a:pPr algn="l"/>
            <a:r>
              <a:rPr sz="1350" b="1">
                <a:solidFill>
                  <a:srgbClr val="116666"/>
                </a:solidFill>
                <a:latin typeface="Aptos"/>
              </a:rPr>
              <a:t>3. Identify</a:t>
            </a:r>
          </a:p>
        </p:txBody>
      </p:sp>
      <p:sp>
        <p:nvSpPr>
          <p:cNvPr id="16" name="TextBox 15"/>
          <p:cNvSpPr txBox="1"/>
          <p:nvPr/>
        </p:nvSpPr>
        <p:spPr>
          <a:xfrm>
            <a:off x="6428231" y="2267712"/>
            <a:ext cx="2231136" cy="612648"/>
          </a:xfrm>
          <a:prstGeom prst="rect">
            <a:avLst/>
          </a:prstGeom>
          <a:noFill/>
        </p:spPr>
        <p:txBody>
          <a:bodyPr wrap="square" anchor="t">
            <a:normAutofit/>
          </a:bodyPr>
          <a:lstStyle/>
          <a:p>
            <a:pPr algn="l"/>
            <a:r>
              <a:rPr sz="1250" b="0">
                <a:solidFill>
                  <a:srgbClr val="1D2326"/>
                </a:solidFill>
                <a:latin typeface="Aptos"/>
              </a:rPr>
              <a:t>What field uniquely identifies a record?</a:t>
            </a:r>
          </a:p>
        </p:txBody>
      </p:sp>
      <p:sp>
        <p:nvSpPr>
          <p:cNvPr id="17" name="Rounded Rectangle 16"/>
          <p:cNvSpPr/>
          <p:nvPr/>
        </p:nvSpPr>
        <p:spPr>
          <a:xfrm>
            <a:off x="9006840" y="1828800"/>
            <a:ext cx="2560320" cy="11430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71432" y="1965960"/>
            <a:ext cx="2231136" cy="246888"/>
          </a:xfrm>
          <a:prstGeom prst="rect">
            <a:avLst/>
          </a:prstGeom>
          <a:noFill/>
        </p:spPr>
        <p:txBody>
          <a:bodyPr wrap="square" anchor="t">
            <a:normAutofit/>
          </a:bodyPr>
          <a:lstStyle/>
          <a:p>
            <a:pPr algn="l"/>
            <a:r>
              <a:rPr sz="1350" b="1">
                <a:solidFill>
                  <a:srgbClr val="116666"/>
                </a:solidFill>
                <a:latin typeface="Aptos"/>
              </a:rPr>
              <a:t>4. Type</a:t>
            </a:r>
          </a:p>
        </p:txBody>
      </p:sp>
      <p:sp>
        <p:nvSpPr>
          <p:cNvPr id="19" name="TextBox 18"/>
          <p:cNvSpPr txBox="1"/>
          <p:nvPr/>
        </p:nvSpPr>
        <p:spPr>
          <a:xfrm>
            <a:off x="9171432" y="2267712"/>
            <a:ext cx="2231136" cy="612648"/>
          </a:xfrm>
          <a:prstGeom prst="rect">
            <a:avLst/>
          </a:prstGeom>
          <a:noFill/>
        </p:spPr>
        <p:txBody>
          <a:bodyPr wrap="square" anchor="t">
            <a:normAutofit/>
          </a:bodyPr>
          <a:lstStyle/>
          <a:p>
            <a:pPr algn="l"/>
            <a:r>
              <a:rPr sz="1250" b="0">
                <a:solidFill>
                  <a:srgbClr val="1D2326"/>
                </a:solidFill>
                <a:latin typeface="Aptos"/>
              </a:rPr>
              <a:t>Which fields are dates, numbers, booleans, arrays, or text?</a:t>
            </a:r>
          </a:p>
        </p:txBody>
      </p:sp>
      <p:sp>
        <p:nvSpPr>
          <p:cNvPr id="20" name="Rounded Rectangle 19"/>
          <p:cNvSpPr/>
          <p:nvPr/>
        </p:nvSpPr>
        <p:spPr>
          <a:xfrm>
            <a:off x="1874519" y="3886200"/>
            <a:ext cx="283464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39112" y="4023360"/>
            <a:ext cx="2505456" cy="246888"/>
          </a:xfrm>
          <a:prstGeom prst="rect">
            <a:avLst/>
          </a:prstGeom>
          <a:noFill/>
        </p:spPr>
        <p:txBody>
          <a:bodyPr wrap="square" anchor="t">
            <a:normAutofit/>
          </a:bodyPr>
          <a:lstStyle/>
          <a:p>
            <a:pPr algn="l"/>
            <a:r>
              <a:rPr sz="1350" b="1">
                <a:solidFill>
                  <a:srgbClr val="116666"/>
                </a:solidFill>
                <a:latin typeface="Aptos"/>
              </a:rPr>
              <a:t>5. Question</a:t>
            </a:r>
          </a:p>
        </p:txBody>
      </p:sp>
      <p:sp>
        <p:nvSpPr>
          <p:cNvPr id="22" name="TextBox 21"/>
          <p:cNvSpPr txBox="1"/>
          <p:nvPr/>
        </p:nvSpPr>
        <p:spPr>
          <a:xfrm>
            <a:off x="2039112" y="4325112"/>
            <a:ext cx="2505456" cy="612648"/>
          </a:xfrm>
          <a:prstGeom prst="rect">
            <a:avLst/>
          </a:prstGeom>
          <a:noFill/>
        </p:spPr>
        <p:txBody>
          <a:bodyPr wrap="square" anchor="t">
            <a:normAutofit/>
          </a:bodyPr>
          <a:lstStyle/>
          <a:p>
            <a:pPr algn="l"/>
            <a:r>
              <a:rPr sz="1250" b="0">
                <a:solidFill>
                  <a:srgbClr val="1D2326"/>
                </a:solidFill>
                <a:latin typeface="Aptos"/>
              </a:rPr>
              <a:t>What useful question could the database answer?</a:t>
            </a:r>
          </a:p>
        </p:txBody>
      </p:sp>
      <p:sp>
        <p:nvSpPr>
          <p:cNvPr id="23" name="Rounded Rectangle 22"/>
          <p:cNvSpPr/>
          <p:nvPr/>
        </p:nvSpPr>
        <p:spPr>
          <a:xfrm>
            <a:off x="4800600" y="3886200"/>
            <a:ext cx="283464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65192" y="4023360"/>
            <a:ext cx="2505456" cy="246888"/>
          </a:xfrm>
          <a:prstGeom prst="rect">
            <a:avLst/>
          </a:prstGeom>
          <a:noFill/>
        </p:spPr>
        <p:txBody>
          <a:bodyPr wrap="square" anchor="t">
            <a:normAutofit/>
          </a:bodyPr>
          <a:lstStyle/>
          <a:p>
            <a:pPr algn="l"/>
            <a:r>
              <a:rPr sz="1350" b="1">
                <a:solidFill>
                  <a:srgbClr val="116666"/>
                </a:solidFill>
                <a:latin typeface="Aptos"/>
              </a:rPr>
              <a:t>6. Risk</a:t>
            </a:r>
          </a:p>
        </p:txBody>
      </p:sp>
      <p:sp>
        <p:nvSpPr>
          <p:cNvPr id="25" name="TextBox 24"/>
          <p:cNvSpPr txBox="1"/>
          <p:nvPr/>
        </p:nvSpPr>
        <p:spPr>
          <a:xfrm>
            <a:off x="4965192" y="4325112"/>
            <a:ext cx="2505456" cy="612648"/>
          </a:xfrm>
          <a:prstGeom prst="rect">
            <a:avLst/>
          </a:prstGeom>
          <a:noFill/>
        </p:spPr>
        <p:txBody>
          <a:bodyPr wrap="square" anchor="t">
            <a:normAutofit/>
          </a:bodyPr>
          <a:lstStyle/>
          <a:p>
            <a:pPr algn="l"/>
            <a:r>
              <a:rPr sz="1250" b="0">
                <a:solidFill>
                  <a:srgbClr val="1D2326"/>
                </a:solidFill>
                <a:latin typeface="Aptos"/>
              </a:rPr>
              <a:t>What could go wrong: bad license, PII, duplicates, nulls, huge file?</a:t>
            </a:r>
          </a:p>
        </p:txBody>
      </p:sp>
      <p:sp>
        <p:nvSpPr>
          <p:cNvPr id="26" name="Rounded Rectangle 25"/>
          <p:cNvSpPr/>
          <p:nvPr/>
        </p:nvSpPr>
        <p:spPr>
          <a:xfrm>
            <a:off x="7726679" y="3886200"/>
            <a:ext cx="2834640" cy="11430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91271" y="4023360"/>
            <a:ext cx="2505456" cy="246888"/>
          </a:xfrm>
          <a:prstGeom prst="rect">
            <a:avLst/>
          </a:prstGeom>
          <a:noFill/>
        </p:spPr>
        <p:txBody>
          <a:bodyPr wrap="square" anchor="t">
            <a:normAutofit/>
          </a:bodyPr>
          <a:lstStyle/>
          <a:p>
            <a:pPr algn="l"/>
            <a:r>
              <a:rPr sz="1350" b="1">
                <a:solidFill>
                  <a:srgbClr val="116666"/>
                </a:solidFill>
                <a:latin typeface="Aptos"/>
              </a:rPr>
              <a:t>7. Model</a:t>
            </a:r>
          </a:p>
        </p:txBody>
      </p:sp>
      <p:sp>
        <p:nvSpPr>
          <p:cNvPr id="28" name="TextBox 27"/>
          <p:cNvSpPr txBox="1"/>
          <p:nvPr/>
        </p:nvSpPr>
        <p:spPr>
          <a:xfrm>
            <a:off x="7891271" y="4325112"/>
            <a:ext cx="2505456" cy="612648"/>
          </a:xfrm>
          <a:prstGeom prst="rect">
            <a:avLst/>
          </a:prstGeom>
          <a:noFill/>
        </p:spPr>
        <p:txBody>
          <a:bodyPr wrap="square" anchor="t">
            <a:normAutofit/>
          </a:bodyPr>
          <a:lstStyle/>
          <a:p>
            <a:pPr algn="l"/>
            <a:r>
              <a:rPr sz="1250" b="0">
                <a:solidFill>
                  <a:srgbClr val="1D2326"/>
                </a:solidFill>
                <a:latin typeface="Aptos"/>
              </a:rPr>
              <a:t>Table, collection, or split across systems?</a:t>
            </a:r>
          </a:p>
        </p:txBody>
      </p:sp>
      <p:sp>
        <p:nvSpPr>
          <p:cNvPr id="29" name="TextBox 28"/>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30" name="TextBox 29"/>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DATABASE FIT</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MongoDB Atlas or Postgres/Supabase?</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Choose based on data shape and the questions you need to answer.</a:t>
            </a:r>
          </a:p>
        </p:txBody>
      </p:sp>
      <p:sp>
        <p:nvSpPr>
          <p:cNvPr id="8" name="Rounded Rectangle 7"/>
          <p:cNvSpPr/>
          <p:nvPr/>
        </p:nvSpPr>
        <p:spPr>
          <a:xfrm>
            <a:off x="777240" y="1828800"/>
            <a:ext cx="3566160" cy="146304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1965960"/>
            <a:ext cx="3236976" cy="246888"/>
          </a:xfrm>
          <a:prstGeom prst="rect">
            <a:avLst/>
          </a:prstGeom>
          <a:noFill/>
        </p:spPr>
        <p:txBody>
          <a:bodyPr wrap="square" anchor="t">
            <a:normAutofit/>
          </a:bodyPr>
          <a:lstStyle/>
          <a:p>
            <a:pPr algn="l"/>
            <a:r>
              <a:rPr sz="1350" b="1">
                <a:solidFill>
                  <a:srgbClr val="116666"/>
                </a:solidFill>
                <a:latin typeface="Aptos"/>
              </a:rPr>
              <a:t>Postgres/Supabase</a:t>
            </a:r>
          </a:p>
        </p:txBody>
      </p:sp>
      <p:sp>
        <p:nvSpPr>
          <p:cNvPr id="10" name="TextBox 9"/>
          <p:cNvSpPr txBox="1"/>
          <p:nvPr/>
        </p:nvSpPr>
        <p:spPr>
          <a:xfrm>
            <a:off x="941832" y="2267712"/>
            <a:ext cx="3236976" cy="932688"/>
          </a:xfrm>
          <a:prstGeom prst="rect">
            <a:avLst/>
          </a:prstGeom>
          <a:noFill/>
        </p:spPr>
        <p:txBody>
          <a:bodyPr wrap="square" anchor="t">
            <a:normAutofit/>
          </a:bodyPr>
          <a:lstStyle/>
          <a:p>
            <a:pPr algn="l"/>
            <a:r>
              <a:rPr sz="1250" b="0">
                <a:solidFill>
                  <a:srgbClr val="1D2326"/>
                </a:solidFill>
                <a:latin typeface="Aptos"/>
              </a:rPr>
              <a:t>Best when data is tabular, relational, needs constraints, needs joins, and has clear columns.</a:t>
            </a:r>
          </a:p>
        </p:txBody>
      </p:sp>
      <p:sp>
        <p:nvSpPr>
          <p:cNvPr id="11" name="Rounded Rectangle 10"/>
          <p:cNvSpPr/>
          <p:nvPr/>
        </p:nvSpPr>
        <p:spPr>
          <a:xfrm>
            <a:off x="7818120" y="1828800"/>
            <a:ext cx="3566160" cy="146304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82712" y="1965960"/>
            <a:ext cx="3236976" cy="246888"/>
          </a:xfrm>
          <a:prstGeom prst="rect">
            <a:avLst/>
          </a:prstGeom>
          <a:noFill/>
        </p:spPr>
        <p:txBody>
          <a:bodyPr wrap="square" anchor="t">
            <a:normAutofit/>
          </a:bodyPr>
          <a:lstStyle/>
          <a:p>
            <a:pPr algn="l"/>
            <a:r>
              <a:rPr sz="1350" b="1">
                <a:solidFill>
                  <a:srgbClr val="116666"/>
                </a:solidFill>
                <a:latin typeface="Aptos"/>
              </a:rPr>
              <a:t>MongoDB Atlas</a:t>
            </a:r>
          </a:p>
        </p:txBody>
      </p:sp>
      <p:sp>
        <p:nvSpPr>
          <p:cNvPr id="13" name="TextBox 12"/>
          <p:cNvSpPr txBox="1"/>
          <p:nvPr/>
        </p:nvSpPr>
        <p:spPr>
          <a:xfrm>
            <a:off x="7982712" y="2267712"/>
            <a:ext cx="3236976" cy="932688"/>
          </a:xfrm>
          <a:prstGeom prst="rect">
            <a:avLst/>
          </a:prstGeom>
          <a:noFill/>
        </p:spPr>
        <p:txBody>
          <a:bodyPr wrap="square" anchor="t">
            <a:normAutofit/>
          </a:bodyPr>
          <a:lstStyle/>
          <a:p>
            <a:pPr algn="l"/>
            <a:r>
              <a:rPr sz="1250" b="0">
                <a:solidFill>
                  <a:srgbClr val="1D2326"/>
                </a:solidFill>
                <a:latin typeface="Aptos"/>
              </a:rPr>
              <a:t>Best when data is document-shaped, nested, log-like, flexible, or varies record by record.</a:t>
            </a:r>
          </a:p>
        </p:txBody>
      </p:sp>
      <p:sp>
        <p:nvSpPr>
          <p:cNvPr id="14" name="Diamond 13"/>
          <p:cNvSpPr/>
          <p:nvPr/>
        </p:nvSpPr>
        <p:spPr>
          <a:xfrm>
            <a:off x="4983480" y="1938528"/>
            <a:ext cx="2240280" cy="1325880"/>
          </a:xfrm>
          <a:prstGeom prst="diamond">
            <a:avLst/>
          </a:prstGeom>
          <a:solidFill>
            <a:srgbClr val="F6C65F"/>
          </a:solidFill>
          <a:ln w="17780">
            <a:solidFill>
              <a:srgbClr val="DD6F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85232" y="2304288"/>
            <a:ext cx="1645920" cy="475488"/>
          </a:xfrm>
          <a:prstGeom prst="rect">
            <a:avLst/>
          </a:prstGeom>
          <a:noFill/>
        </p:spPr>
        <p:txBody>
          <a:bodyPr wrap="square" anchor="t">
            <a:normAutofit/>
          </a:bodyPr>
          <a:lstStyle/>
          <a:p>
            <a:pPr algn="ctr"/>
            <a:r>
              <a:rPr sz="1200" b="1">
                <a:solidFill>
                  <a:srgbClr val="1C354A"/>
                </a:solidFill>
                <a:latin typeface="Aptos"/>
              </a:rPr>
              <a:t>What does one record look like?</a:t>
            </a:r>
          </a:p>
        </p:txBody>
      </p:sp>
      <p:cxnSp>
        <p:nvCxnSpPr>
          <p:cNvPr id="16" name="Connector 15"/>
          <p:cNvCxnSpPr/>
          <p:nvPr/>
        </p:nvCxnSpPr>
        <p:spPr>
          <a:xfrm>
            <a:off x="4352544" y="2542032"/>
            <a:ext cx="630936"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223760" y="2542032"/>
            <a:ext cx="548640" cy="0"/>
          </a:xfrm>
          <a:prstGeom prst="line">
            <a:avLst/>
          </a:prstGeom>
          <a:ln w="27940">
            <a:solidFill>
              <a:srgbClr val="DD6F2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43000" y="4343400"/>
            <a:ext cx="9829800" cy="566928"/>
          </a:xfrm>
          <a:prstGeom prst="rect">
            <a:avLst/>
          </a:prstGeom>
          <a:noFill/>
        </p:spPr>
        <p:txBody>
          <a:bodyPr wrap="square" anchor="t">
            <a:normAutofit/>
          </a:bodyPr>
          <a:lstStyle/>
          <a:p>
            <a:pPr algn="ctr"/>
            <a:r>
              <a:rPr sz="1900" b="1">
                <a:solidFill>
                  <a:srgbClr val="1D2326"/>
                </a:solidFill>
                <a:latin typeface="Aptos"/>
              </a:rPr>
              <a:t>Both is allowed only when the split is simple: structured core records in Postgres, flexible events or documents in MongoDB.</a:t>
            </a:r>
          </a:p>
        </p:txBody>
      </p:sp>
      <p:sp>
        <p:nvSpPr>
          <p:cNvPr id="19" name="TextBox 18"/>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0" name="TextBox 19"/>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ATLAS ON-RAMP</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Uploading to MongoDB Atlas</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Common beginner path: prepare a CSV or JSON file, then import into a collection.</a:t>
            </a:r>
          </a:p>
        </p:txBody>
      </p:sp>
      <p:sp>
        <p:nvSpPr>
          <p:cNvPr id="8" name="Rounded Rectangle 7"/>
          <p:cNvSpPr/>
          <p:nvPr/>
        </p:nvSpPr>
        <p:spPr>
          <a:xfrm>
            <a:off x="731520" y="1828800"/>
            <a:ext cx="3337560" cy="141732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3008376" cy="246888"/>
          </a:xfrm>
          <a:prstGeom prst="rect">
            <a:avLst/>
          </a:prstGeom>
          <a:noFill/>
        </p:spPr>
        <p:txBody>
          <a:bodyPr wrap="square" anchor="t">
            <a:normAutofit/>
          </a:bodyPr>
          <a:lstStyle/>
          <a:p>
            <a:pPr algn="l"/>
            <a:r>
              <a:rPr sz="1350" b="1">
                <a:solidFill>
                  <a:srgbClr val="116666"/>
                </a:solidFill>
                <a:latin typeface="Aptos"/>
              </a:rPr>
              <a:t>Option 1: Compass</a:t>
            </a:r>
          </a:p>
        </p:txBody>
      </p:sp>
      <p:sp>
        <p:nvSpPr>
          <p:cNvPr id="10" name="TextBox 9"/>
          <p:cNvSpPr txBox="1"/>
          <p:nvPr/>
        </p:nvSpPr>
        <p:spPr>
          <a:xfrm>
            <a:off x="896112" y="2267712"/>
            <a:ext cx="3008376" cy="886968"/>
          </a:xfrm>
          <a:prstGeom prst="rect">
            <a:avLst/>
          </a:prstGeom>
          <a:noFill/>
        </p:spPr>
        <p:txBody>
          <a:bodyPr wrap="square" anchor="t">
            <a:normAutofit/>
          </a:bodyPr>
          <a:lstStyle/>
          <a:p>
            <a:pPr algn="l"/>
            <a:r>
              <a:rPr sz="1250" b="0">
                <a:solidFill>
                  <a:srgbClr val="1D2326"/>
                </a:solidFill>
                <a:latin typeface="Aptos"/>
              </a:rPr>
              <a:t>Connect to Atlas with a safe connection string, choose database and collection, then import CSV or JSON.</a:t>
            </a:r>
          </a:p>
        </p:txBody>
      </p:sp>
      <p:sp>
        <p:nvSpPr>
          <p:cNvPr id="11" name="Rounded Rectangle 10"/>
          <p:cNvSpPr/>
          <p:nvPr/>
        </p:nvSpPr>
        <p:spPr>
          <a:xfrm>
            <a:off x="4434840" y="1828800"/>
            <a:ext cx="3337560" cy="141732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65960"/>
            <a:ext cx="3008376" cy="246888"/>
          </a:xfrm>
          <a:prstGeom prst="rect">
            <a:avLst/>
          </a:prstGeom>
          <a:noFill/>
        </p:spPr>
        <p:txBody>
          <a:bodyPr wrap="square" anchor="t">
            <a:normAutofit/>
          </a:bodyPr>
          <a:lstStyle/>
          <a:p>
            <a:pPr algn="l"/>
            <a:r>
              <a:rPr sz="1350" b="1">
                <a:solidFill>
                  <a:srgbClr val="116666"/>
                </a:solidFill>
                <a:latin typeface="Aptos"/>
              </a:rPr>
              <a:t>Option 2: mongoimport</a:t>
            </a:r>
          </a:p>
        </p:txBody>
      </p:sp>
      <p:sp>
        <p:nvSpPr>
          <p:cNvPr id="13" name="TextBox 12"/>
          <p:cNvSpPr txBox="1"/>
          <p:nvPr/>
        </p:nvSpPr>
        <p:spPr>
          <a:xfrm>
            <a:off x="4599431" y="2267712"/>
            <a:ext cx="3008376" cy="886968"/>
          </a:xfrm>
          <a:prstGeom prst="rect">
            <a:avLst/>
          </a:prstGeom>
          <a:noFill/>
        </p:spPr>
        <p:txBody>
          <a:bodyPr wrap="square" anchor="t">
            <a:normAutofit/>
          </a:bodyPr>
          <a:lstStyle/>
          <a:p>
            <a:pPr algn="l"/>
            <a:r>
              <a:rPr sz="1250" b="0">
                <a:solidFill>
                  <a:srgbClr val="1D2326"/>
                </a:solidFill>
                <a:latin typeface="Aptos"/>
              </a:rPr>
              <a:t>Use the Database Tools command line. Good when you need repeatable imports.</a:t>
            </a:r>
          </a:p>
        </p:txBody>
      </p:sp>
      <p:sp>
        <p:nvSpPr>
          <p:cNvPr id="14" name="Rounded Rectangle 13"/>
          <p:cNvSpPr/>
          <p:nvPr/>
        </p:nvSpPr>
        <p:spPr>
          <a:xfrm>
            <a:off x="8138160" y="1828800"/>
            <a:ext cx="3337560" cy="141732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965960"/>
            <a:ext cx="3008376" cy="246888"/>
          </a:xfrm>
          <a:prstGeom prst="rect">
            <a:avLst/>
          </a:prstGeom>
          <a:noFill/>
        </p:spPr>
        <p:txBody>
          <a:bodyPr wrap="square" anchor="t">
            <a:normAutofit/>
          </a:bodyPr>
          <a:lstStyle/>
          <a:p>
            <a:pPr algn="l"/>
            <a:r>
              <a:rPr sz="1350" b="1">
                <a:solidFill>
                  <a:srgbClr val="116666"/>
                </a:solidFill>
                <a:latin typeface="Aptos"/>
              </a:rPr>
              <a:t>After import</a:t>
            </a:r>
          </a:p>
        </p:txBody>
      </p:sp>
      <p:sp>
        <p:nvSpPr>
          <p:cNvPr id="16" name="TextBox 15"/>
          <p:cNvSpPr txBox="1"/>
          <p:nvPr/>
        </p:nvSpPr>
        <p:spPr>
          <a:xfrm>
            <a:off x="8302752" y="2267712"/>
            <a:ext cx="3008376" cy="886968"/>
          </a:xfrm>
          <a:prstGeom prst="rect">
            <a:avLst/>
          </a:prstGeom>
          <a:noFill/>
        </p:spPr>
        <p:txBody>
          <a:bodyPr wrap="square" anchor="t">
            <a:normAutofit/>
          </a:bodyPr>
          <a:lstStyle/>
          <a:p>
            <a:pPr algn="l"/>
            <a:r>
              <a:rPr sz="1250" b="0">
                <a:solidFill>
                  <a:srgbClr val="1D2326"/>
                </a:solidFill>
                <a:latin typeface="Aptos"/>
              </a:rPr>
              <a:t>Check document count, inspect sample documents, fix types if needed, and create indexes for common queries.</a:t>
            </a:r>
          </a:p>
        </p:txBody>
      </p:sp>
      <p:sp>
        <p:nvSpPr>
          <p:cNvPr id="17" name="Rounded Rectangle 16"/>
          <p:cNvSpPr/>
          <p:nvPr/>
        </p:nvSpPr>
        <p:spPr>
          <a:xfrm>
            <a:off x="1234440" y="3950208"/>
            <a:ext cx="9738360" cy="841248"/>
          </a:xfrm>
          <a:prstGeom prst="roundRect">
            <a:avLst/>
          </a:prstGeom>
          <a:solidFill>
            <a:srgbClr val="1C3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1328" y="4160520"/>
            <a:ext cx="9326880" cy="347472"/>
          </a:xfrm>
          <a:prstGeom prst="rect">
            <a:avLst/>
          </a:prstGeom>
          <a:noFill/>
        </p:spPr>
        <p:txBody>
          <a:bodyPr wrap="square" anchor="t">
            <a:normAutofit/>
          </a:bodyPr>
          <a:lstStyle/>
          <a:p>
            <a:pPr algn="l"/>
            <a:r>
              <a:rPr sz="1500" b="0">
                <a:solidFill>
                  <a:srgbClr val="FFFFFF"/>
                </a:solidFill>
                <a:latin typeface="Aptos Mono"/>
              </a:rPr>
              <a:t>mongoimport --uri "$MONGODB_URI" --db datasets_lab \
  --collection records --type csv --headerline \
  --file data.csv</a:t>
            </a:r>
          </a:p>
        </p:txBody>
      </p:sp>
      <p:sp>
        <p:nvSpPr>
          <p:cNvPr id="19" name="TextBox 18"/>
          <p:cNvSpPr txBox="1"/>
          <p:nvPr/>
        </p:nvSpPr>
        <p:spPr>
          <a:xfrm>
            <a:off x="1920240" y="5330952"/>
            <a:ext cx="8321040" cy="320040"/>
          </a:xfrm>
          <a:prstGeom prst="rect">
            <a:avLst/>
          </a:prstGeom>
          <a:noFill/>
        </p:spPr>
        <p:txBody>
          <a:bodyPr wrap="square" anchor="t">
            <a:normAutofit/>
          </a:bodyPr>
          <a:lstStyle/>
          <a:p>
            <a:pPr algn="ctr"/>
            <a:r>
              <a:rPr sz="1500" b="1">
                <a:solidFill>
                  <a:srgbClr val="AE3B36"/>
                </a:solidFill>
                <a:latin typeface="Aptos"/>
              </a:rPr>
              <a:t>Never paste passwords, tokens, or full connection strings into a public submission.</a:t>
            </a:r>
          </a:p>
        </p:txBody>
      </p:sp>
      <p:sp>
        <p:nvSpPr>
          <p:cNvPr id="20" name="TextBox 19"/>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1" name="TextBox 20"/>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POSTGRES ON-RAMP</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Uploading to Postgres/Supabase</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Common beginner path: create a table, choose types, then import CSV.</a:t>
            </a:r>
          </a:p>
        </p:txBody>
      </p:sp>
      <p:sp>
        <p:nvSpPr>
          <p:cNvPr id="8" name="Rounded Rectangle 7"/>
          <p:cNvSpPr/>
          <p:nvPr/>
        </p:nvSpPr>
        <p:spPr>
          <a:xfrm>
            <a:off x="731520" y="1828800"/>
            <a:ext cx="3383280" cy="141732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3054096" cy="246888"/>
          </a:xfrm>
          <a:prstGeom prst="rect">
            <a:avLst/>
          </a:prstGeom>
          <a:noFill/>
        </p:spPr>
        <p:txBody>
          <a:bodyPr wrap="square" anchor="t">
            <a:normAutofit/>
          </a:bodyPr>
          <a:lstStyle/>
          <a:p>
            <a:pPr algn="l"/>
            <a:r>
              <a:rPr sz="1350" b="1">
                <a:solidFill>
                  <a:srgbClr val="116666"/>
                </a:solidFill>
                <a:latin typeface="Aptos"/>
              </a:rPr>
              <a:t>Dashboard import</a:t>
            </a:r>
          </a:p>
        </p:txBody>
      </p:sp>
      <p:sp>
        <p:nvSpPr>
          <p:cNvPr id="10" name="TextBox 9"/>
          <p:cNvSpPr txBox="1"/>
          <p:nvPr/>
        </p:nvSpPr>
        <p:spPr>
          <a:xfrm>
            <a:off x="896112" y="2267712"/>
            <a:ext cx="3054096" cy="886968"/>
          </a:xfrm>
          <a:prstGeom prst="rect">
            <a:avLst/>
          </a:prstGeom>
          <a:noFill/>
        </p:spPr>
        <p:txBody>
          <a:bodyPr wrap="square" anchor="t">
            <a:normAutofit/>
          </a:bodyPr>
          <a:lstStyle/>
          <a:p>
            <a:pPr algn="l"/>
            <a:r>
              <a:rPr sz="1250" b="0">
                <a:solidFill>
                  <a:srgbClr val="1D2326"/>
                </a:solidFill>
                <a:latin typeface="Aptos"/>
              </a:rPr>
              <a:t>Supabase Table Editor can import small CSV files after a table exists or as part of a guided workflow.</a:t>
            </a:r>
          </a:p>
        </p:txBody>
      </p:sp>
      <p:sp>
        <p:nvSpPr>
          <p:cNvPr id="11" name="Rounded Rectangle 10"/>
          <p:cNvSpPr/>
          <p:nvPr/>
        </p:nvSpPr>
        <p:spPr>
          <a:xfrm>
            <a:off x="4434840" y="1828800"/>
            <a:ext cx="3383280" cy="141732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1" y="1965960"/>
            <a:ext cx="3054096" cy="246888"/>
          </a:xfrm>
          <a:prstGeom prst="rect">
            <a:avLst/>
          </a:prstGeom>
          <a:noFill/>
        </p:spPr>
        <p:txBody>
          <a:bodyPr wrap="square" anchor="t">
            <a:normAutofit/>
          </a:bodyPr>
          <a:lstStyle/>
          <a:p>
            <a:pPr algn="l"/>
            <a:r>
              <a:rPr sz="1350" b="1">
                <a:solidFill>
                  <a:srgbClr val="116666"/>
                </a:solidFill>
                <a:latin typeface="Aptos"/>
              </a:rPr>
              <a:t>SQL first</a:t>
            </a:r>
          </a:p>
        </p:txBody>
      </p:sp>
      <p:sp>
        <p:nvSpPr>
          <p:cNvPr id="13" name="TextBox 12"/>
          <p:cNvSpPr txBox="1"/>
          <p:nvPr/>
        </p:nvSpPr>
        <p:spPr>
          <a:xfrm>
            <a:off x="4599431" y="2267712"/>
            <a:ext cx="3054096" cy="886968"/>
          </a:xfrm>
          <a:prstGeom prst="rect">
            <a:avLst/>
          </a:prstGeom>
          <a:noFill/>
        </p:spPr>
        <p:txBody>
          <a:bodyPr wrap="square" anchor="t">
            <a:normAutofit/>
          </a:bodyPr>
          <a:lstStyle/>
          <a:p>
            <a:pPr algn="l"/>
            <a:r>
              <a:rPr sz="1250" b="0">
                <a:solidFill>
                  <a:srgbClr val="1D2326"/>
                </a:solidFill>
                <a:latin typeface="Aptos"/>
              </a:rPr>
              <a:t>Create a table with the right column names and data types before loading.</a:t>
            </a:r>
          </a:p>
        </p:txBody>
      </p:sp>
      <p:sp>
        <p:nvSpPr>
          <p:cNvPr id="14" name="Rounded Rectangle 13"/>
          <p:cNvSpPr/>
          <p:nvPr/>
        </p:nvSpPr>
        <p:spPr>
          <a:xfrm>
            <a:off x="8138160" y="1828800"/>
            <a:ext cx="3383280" cy="141732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965960"/>
            <a:ext cx="3054096" cy="246888"/>
          </a:xfrm>
          <a:prstGeom prst="rect">
            <a:avLst/>
          </a:prstGeom>
          <a:noFill/>
        </p:spPr>
        <p:txBody>
          <a:bodyPr wrap="square" anchor="t">
            <a:normAutofit/>
          </a:bodyPr>
          <a:lstStyle/>
          <a:p>
            <a:pPr algn="l"/>
            <a:r>
              <a:rPr sz="1350" b="1">
                <a:solidFill>
                  <a:srgbClr val="116666"/>
                </a:solidFill>
                <a:latin typeface="Aptos"/>
              </a:rPr>
              <a:t>COPY / \copy</a:t>
            </a:r>
          </a:p>
        </p:txBody>
      </p:sp>
      <p:sp>
        <p:nvSpPr>
          <p:cNvPr id="16" name="TextBox 15"/>
          <p:cNvSpPr txBox="1"/>
          <p:nvPr/>
        </p:nvSpPr>
        <p:spPr>
          <a:xfrm>
            <a:off x="8302752" y="2267712"/>
            <a:ext cx="3054096" cy="886968"/>
          </a:xfrm>
          <a:prstGeom prst="rect">
            <a:avLst/>
          </a:prstGeom>
          <a:noFill/>
        </p:spPr>
        <p:txBody>
          <a:bodyPr wrap="square" anchor="t">
            <a:normAutofit/>
          </a:bodyPr>
          <a:lstStyle/>
          <a:p>
            <a:pPr algn="l"/>
            <a:r>
              <a:rPr sz="1250" b="0">
                <a:solidFill>
                  <a:srgbClr val="1D2326"/>
                </a:solidFill>
                <a:latin typeface="Aptos"/>
              </a:rPr>
              <a:t>Postgres import pattern for CSV. Use when you want controlled, repeatable loading.</a:t>
            </a:r>
          </a:p>
        </p:txBody>
      </p:sp>
      <p:sp>
        <p:nvSpPr>
          <p:cNvPr id="17" name="Rounded Rectangle 16"/>
          <p:cNvSpPr/>
          <p:nvPr/>
        </p:nvSpPr>
        <p:spPr>
          <a:xfrm>
            <a:off x="960120" y="3794760"/>
            <a:ext cx="10104120" cy="1097280"/>
          </a:xfrm>
          <a:prstGeom prst="roundRect">
            <a:avLst/>
          </a:prstGeom>
          <a:solidFill>
            <a:srgbClr val="1C3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4005072"/>
            <a:ext cx="9646920" cy="594360"/>
          </a:xfrm>
          <a:prstGeom prst="rect">
            <a:avLst/>
          </a:prstGeom>
          <a:noFill/>
        </p:spPr>
        <p:txBody>
          <a:bodyPr wrap="square" anchor="t">
            <a:normAutofit/>
          </a:bodyPr>
          <a:lstStyle/>
          <a:p>
            <a:pPr algn="l"/>
            <a:r>
              <a:rPr sz="1400" b="0">
                <a:solidFill>
                  <a:srgbClr val="FFFFFF"/>
                </a:solidFill>
                <a:latin typeface="Aptos Mono"/>
              </a:rPr>
              <a:t>create table records (id bigserial primary key, source_id text, title text);
\copy records(source_id, title) from 'data.csv' with (format csv, header true);</a:t>
            </a:r>
          </a:p>
        </p:txBody>
      </p:sp>
      <p:sp>
        <p:nvSpPr>
          <p:cNvPr id="19" name="TextBox 18"/>
          <p:cNvSpPr txBox="1"/>
          <p:nvPr/>
        </p:nvSpPr>
        <p:spPr>
          <a:xfrm>
            <a:off x="1371600" y="5394960"/>
            <a:ext cx="9509760" cy="402336"/>
          </a:xfrm>
          <a:prstGeom prst="rect">
            <a:avLst/>
          </a:prstGeom>
          <a:noFill/>
        </p:spPr>
        <p:txBody>
          <a:bodyPr wrap="square" anchor="t">
            <a:normAutofit/>
          </a:bodyPr>
          <a:lstStyle/>
          <a:p>
            <a:pPr algn="ctr"/>
            <a:r>
              <a:rPr sz="1600" b="1">
                <a:solidFill>
                  <a:srgbClr val="1D2326"/>
                </a:solidFill>
                <a:latin typeface="Aptos"/>
              </a:rPr>
              <a:t>The hard part is usually not clicking import. The hard part is choosing accurate columns, types, keys, and indexes.</a:t>
            </a:r>
          </a:p>
        </p:txBody>
      </p:sp>
      <p:sp>
        <p:nvSpPr>
          <p:cNvPr id="20" name="TextBox 19"/>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21" name="TextBox 20"/>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0312"/>
          </a:xfrm>
          <a:prstGeom prst="rect">
            <a:avLst/>
          </a:prstGeom>
          <a:solidFill>
            <a:srgbClr val="11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10896"/>
            <a:ext cx="822960" cy="822960"/>
          </a:xfrm>
          <a:prstGeom prst="ellipse">
            <a:avLst/>
          </a:prstGeom>
          <a:solidFill>
            <a:srgbClr val="F6C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IN-CLASS ACTIVITY</a:t>
            </a:r>
          </a:p>
        </p:txBody>
      </p:sp>
      <p:sp>
        <p:nvSpPr>
          <p:cNvPr id="6" name="TextBox 5"/>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Day 2 Lab: Dataset Platform Audit</a:t>
            </a:r>
          </a:p>
        </p:txBody>
      </p:sp>
      <p:sp>
        <p:nvSpPr>
          <p:cNvPr id="7" name="TextBox 6"/>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One dataset, one platform analysis, two upload plans.</a:t>
            </a:r>
          </a:p>
        </p:txBody>
      </p:sp>
      <p:sp>
        <p:nvSpPr>
          <p:cNvPr id="8" name="Rounded Rectangle 7"/>
          <p:cNvSpPr/>
          <p:nvPr/>
        </p:nvSpPr>
        <p:spPr>
          <a:xfrm>
            <a:off x="685800" y="1828800"/>
            <a:ext cx="3383280" cy="16002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965960"/>
            <a:ext cx="3054096" cy="246888"/>
          </a:xfrm>
          <a:prstGeom prst="rect">
            <a:avLst/>
          </a:prstGeom>
          <a:noFill/>
        </p:spPr>
        <p:txBody>
          <a:bodyPr wrap="square" anchor="t">
            <a:normAutofit/>
          </a:bodyPr>
          <a:lstStyle/>
          <a:p>
            <a:pPr algn="l"/>
            <a:r>
              <a:rPr sz="1350" b="1">
                <a:solidFill>
                  <a:srgbClr val="116666"/>
                </a:solidFill>
                <a:latin typeface="Aptos"/>
              </a:rPr>
              <a:t>Choose</a:t>
            </a:r>
          </a:p>
        </p:txBody>
      </p:sp>
      <p:sp>
        <p:nvSpPr>
          <p:cNvPr id="10" name="TextBox 9"/>
          <p:cNvSpPr txBox="1"/>
          <p:nvPr/>
        </p:nvSpPr>
        <p:spPr>
          <a:xfrm>
            <a:off x="850392" y="2267712"/>
            <a:ext cx="3054096" cy="1069848"/>
          </a:xfrm>
          <a:prstGeom prst="rect">
            <a:avLst/>
          </a:prstGeom>
          <a:noFill/>
        </p:spPr>
        <p:txBody>
          <a:bodyPr wrap="square" anchor="t">
            <a:normAutofit/>
          </a:bodyPr>
          <a:lstStyle/>
          <a:p>
            <a:pPr algn="l"/>
            <a:r>
              <a:rPr sz="1250" b="0">
                <a:solidFill>
                  <a:srgbClr val="1D2326"/>
                </a:solidFill>
                <a:latin typeface="Aptos"/>
              </a:rPr>
              <a:t>Pick Kaggle, NYC Open Data, scikit-learn, UCI, CISA/GitHub security metadata, or a public GitHub dataset.</a:t>
            </a:r>
          </a:p>
        </p:txBody>
      </p:sp>
      <p:sp>
        <p:nvSpPr>
          <p:cNvPr id="11" name="Rounded Rectangle 10"/>
          <p:cNvSpPr/>
          <p:nvPr/>
        </p:nvSpPr>
        <p:spPr>
          <a:xfrm>
            <a:off x="4407408" y="1828800"/>
            <a:ext cx="3383280" cy="160020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65960"/>
            <a:ext cx="3054096" cy="246888"/>
          </a:xfrm>
          <a:prstGeom prst="rect">
            <a:avLst/>
          </a:prstGeom>
          <a:noFill/>
        </p:spPr>
        <p:txBody>
          <a:bodyPr wrap="square" anchor="t">
            <a:normAutofit/>
          </a:bodyPr>
          <a:lstStyle/>
          <a:p>
            <a:pPr algn="l"/>
            <a:r>
              <a:rPr sz="1350" b="1">
                <a:solidFill>
                  <a:srgbClr val="116666"/>
                </a:solidFill>
                <a:latin typeface="Aptos"/>
              </a:rPr>
              <a:t>Analyze</a:t>
            </a:r>
          </a:p>
        </p:txBody>
      </p:sp>
      <p:sp>
        <p:nvSpPr>
          <p:cNvPr id="13" name="TextBox 12"/>
          <p:cNvSpPr txBox="1"/>
          <p:nvPr/>
        </p:nvSpPr>
        <p:spPr>
          <a:xfrm>
            <a:off x="4572000" y="2267712"/>
            <a:ext cx="3054096" cy="1069848"/>
          </a:xfrm>
          <a:prstGeom prst="rect">
            <a:avLst/>
          </a:prstGeom>
          <a:noFill/>
        </p:spPr>
        <p:txBody>
          <a:bodyPr wrap="square" anchor="t">
            <a:normAutofit/>
          </a:bodyPr>
          <a:lstStyle/>
          <a:p>
            <a:pPr algn="l"/>
            <a:r>
              <a:rPr sz="1250" b="0">
                <a:solidFill>
                  <a:srgbClr val="1D2326"/>
                </a:solidFill>
                <a:latin typeface="Aptos"/>
              </a:rPr>
              <a:t>Identify owner, license, format, fields, record meaning, trust signals, risks, and one useful question.</a:t>
            </a:r>
          </a:p>
        </p:txBody>
      </p:sp>
      <p:sp>
        <p:nvSpPr>
          <p:cNvPr id="14" name="Rounded Rectangle 13"/>
          <p:cNvSpPr/>
          <p:nvPr/>
        </p:nvSpPr>
        <p:spPr>
          <a:xfrm>
            <a:off x="8138160" y="1828800"/>
            <a:ext cx="3383280" cy="1600200"/>
          </a:xfrm>
          <a:prstGeom prst="roundRect">
            <a:avLst/>
          </a:prstGeom>
          <a:solidFill>
            <a:srgbClr val="FFFFFF"/>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965960"/>
            <a:ext cx="3054096" cy="246888"/>
          </a:xfrm>
          <a:prstGeom prst="rect">
            <a:avLst/>
          </a:prstGeom>
          <a:noFill/>
        </p:spPr>
        <p:txBody>
          <a:bodyPr wrap="square" anchor="t">
            <a:normAutofit/>
          </a:bodyPr>
          <a:lstStyle/>
          <a:p>
            <a:pPr algn="l"/>
            <a:r>
              <a:rPr sz="1350" b="1">
                <a:solidFill>
                  <a:srgbClr val="116666"/>
                </a:solidFill>
                <a:latin typeface="Aptos"/>
              </a:rPr>
              <a:t>Plan</a:t>
            </a:r>
          </a:p>
        </p:txBody>
      </p:sp>
      <p:sp>
        <p:nvSpPr>
          <p:cNvPr id="16" name="TextBox 15"/>
          <p:cNvSpPr txBox="1"/>
          <p:nvPr/>
        </p:nvSpPr>
        <p:spPr>
          <a:xfrm>
            <a:off x="8302752" y="2267712"/>
            <a:ext cx="3054096" cy="1069848"/>
          </a:xfrm>
          <a:prstGeom prst="rect">
            <a:avLst/>
          </a:prstGeom>
          <a:noFill/>
        </p:spPr>
        <p:txBody>
          <a:bodyPr wrap="square" anchor="t">
            <a:normAutofit/>
          </a:bodyPr>
          <a:lstStyle/>
          <a:p>
            <a:pPr algn="l"/>
            <a:r>
              <a:rPr sz="1250" b="0">
                <a:solidFill>
                  <a:srgbClr val="1D2326"/>
                </a:solidFill>
                <a:latin typeface="Aptos"/>
              </a:rPr>
              <a:t>Decide MongoDB, Postgres, or both. Write an Atlas upload plan and a Postgres/Supabase upload plan.</a:t>
            </a:r>
          </a:p>
        </p:txBody>
      </p:sp>
      <p:sp>
        <p:nvSpPr>
          <p:cNvPr id="17" name="TextBox 16"/>
          <p:cNvSpPr txBox="1"/>
          <p:nvPr/>
        </p:nvSpPr>
        <p:spPr>
          <a:xfrm>
            <a:off x="1143000" y="4434840"/>
            <a:ext cx="9921240" cy="585216"/>
          </a:xfrm>
          <a:prstGeom prst="rect">
            <a:avLst/>
          </a:prstGeom>
          <a:noFill/>
        </p:spPr>
        <p:txBody>
          <a:bodyPr wrap="square" anchor="t">
            <a:normAutofit/>
          </a:bodyPr>
          <a:lstStyle/>
          <a:p>
            <a:pPr algn="ctr"/>
            <a:r>
              <a:rPr sz="2000" b="1">
                <a:solidFill>
                  <a:srgbClr val="1D2326"/>
                </a:solidFill>
                <a:latin typeface="Aptos"/>
              </a:rPr>
              <a:t>Submit one Brightspace text response. Do not submit secrets. Full upload is not required unless the instructor says so.</a:t>
            </a:r>
          </a:p>
        </p:txBody>
      </p:sp>
      <p:sp>
        <p:nvSpPr>
          <p:cNvPr id="18" name="TextBox 17"/>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19" name="TextBox 18"/>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75488"/>
            <a:ext cx="4114800" cy="228600"/>
          </a:xfrm>
          <a:prstGeom prst="rect">
            <a:avLst/>
          </a:prstGeom>
          <a:noFill/>
        </p:spPr>
        <p:txBody>
          <a:bodyPr wrap="square" anchor="t">
            <a:normAutofit/>
          </a:bodyPr>
          <a:lstStyle/>
          <a:p>
            <a:pPr algn="l"/>
            <a:r>
              <a:rPr sz="950" b="1">
                <a:solidFill>
                  <a:srgbClr val="116666"/>
                </a:solidFill>
                <a:latin typeface="Aptos"/>
              </a:rPr>
              <a:t>WRAP-UP</a:t>
            </a:r>
          </a:p>
        </p:txBody>
      </p:sp>
      <p:sp>
        <p:nvSpPr>
          <p:cNvPr id="4" name="TextBox 3"/>
          <p:cNvSpPr txBox="1"/>
          <p:nvPr/>
        </p:nvSpPr>
        <p:spPr>
          <a:xfrm>
            <a:off x="621792" y="694944"/>
            <a:ext cx="8138160" cy="658368"/>
          </a:xfrm>
          <a:prstGeom prst="rect">
            <a:avLst/>
          </a:prstGeom>
          <a:noFill/>
        </p:spPr>
        <p:txBody>
          <a:bodyPr wrap="square" anchor="t">
            <a:normAutofit/>
          </a:bodyPr>
          <a:lstStyle/>
          <a:p>
            <a:pPr algn="l"/>
            <a:r>
              <a:rPr sz="3100" b="1">
                <a:solidFill>
                  <a:srgbClr val="1D2326"/>
                </a:solidFill>
                <a:latin typeface="Aptos Display"/>
              </a:rPr>
              <a:t>End-of-Day Check</a:t>
            </a:r>
          </a:p>
        </p:txBody>
      </p:sp>
      <p:sp>
        <p:nvSpPr>
          <p:cNvPr id="5" name="TextBox 4"/>
          <p:cNvSpPr txBox="1"/>
          <p:nvPr/>
        </p:nvSpPr>
        <p:spPr>
          <a:xfrm>
            <a:off x="658368" y="1335024"/>
            <a:ext cx="8686800" cy="384048"/>
          </a:xfrm>
          <a:prstGeom prst="rect">
            <a:avLst/>
          </a:prstGeom>
          <a:noFill/>
        </p:spPr>
        <p:txBody>
          <a:bodyPr wrap="square" anchor="t">
            <a:normAutofit/>
          </a:bodyPr>
          <a:lstStyle/>
          <a:p>
            <a:pPr algn="l"/>
            <a:r>
              <a:rPr sz="1400" b="0">
                <a:solidFill>
                  <a:srgbClr val="586065"/>
                </a:solidFill>
                <a:latin typeface="Aptos"/>
              </a:rPr>
              <a:t>Students should leave with a dataset they can explain.</a:t>
            </a:r>
          </a:p>
        </p:txBody>
      </p:sp>
      <p:sp>
        <p:nvSpPr>
          <p:cNvPr id="6" name="TextBox 5"/>
          <p:cNvSpPr txBox="1"/>
          <p:nvPr/>
        </p:nvSpPr>
        <p:spPr>
          <a:xfrm>
            <a:off x="1143000" y="1783080"/>
            <a:ext cx="9966960" cy="3108960"/>
          </a:xfrm>
          <a:prstGeom prst="rect">
            <a:avLst/>
          </a:prstGeom>
          <a:noFill/>
        </p:spPr>
        <p:txBody>
          <a:bodyPr wrap="square">
            <a:normAutofit/>
          </a:bodyPr>
          <a:lstStyle/>
          <a:p>
            <a:pPr>
              <a:spcAft>
                <a:spcPts val="600"/>
              </a:spcAft>
              <a:defRPr sz="1900">
                <a:solidFill>
                  <a:srgbClr val="1D2326"/>
                </a:solidFill>
                <a:latin typeface="Aptos"/>
              </a:defRPr>
            </a:pPr>
            <a:r>
              <a:t>I can name the data platform and dataset source.</a:t>
            </a:r>
          </a:p>
          <a:p>
            <a:pPr>
              <a:spcAft>
                <a:spcPts val="600"/>
              </a:spcAft>
              <a:defRPr sz="1900">
                <a:solidFill>
                  <a:srgbClr val="1D2326"/>
                </a:solidFill>
                <a:latin typeface="Aptos"/>
              </a:defRPr>
            </a:pPr>
            <a:r>
              <a:t>I can explain what one record represents.</a:t>
            </a:r>
          </a:p>
          <a:p>
            <a:pPr>
              <a:spcAft>
                <a:spcPts val="600"/>
              </a:spcAft>
              <a:defRPr sz="1900">
                <a:solidFill>
                  <a:srgbClr val="1D2326"/>
                </a:solidFill>
                <a:latin typeface="Aptos"/>
              </a:defRPr>
            </a:pPr>
            <a:r>
              <a:t>I checked basic trust, license, privacy, and safety concerns.</a:t>
            </a:r>
          </a:p>
          <a:p>
            <a:pPr>
              <a:spcAft>
                <a:spcPts val="600"/>
              </a:spcAft>
              <a:defRPr sz="1900">
                <a:solidFill>
                  <a:srgbClr val="1D2326"/>
                </a:solidFill>
                <a:latin typeface="Aptos"/>
              </a:defRPr>
            </a:pPr>
            <a:r>
              <a:t>I know whether the dataset fits MongoDB Atlas, Postgres/Supabase, or both.</a:t>
            </a:r>
          </a:p>
          <a:p>
            <a:pPr>
              <a:spcAft>
                <a:spcPts val="600"/>
              </a:spcAft>
              <a:defRPr sz="1900">
                <a:solidFill>
                  <a:srgbClr val="1D2326"/>
                </a:solidFill>
                <a:latin typeface="Aptos"/>
              </a:defRPr>
            </a:pPr>
            <a:r>
              <a:t>I can describe the first safe upload steps for both platforms.</a:t>
            </a:r>
          </a:p>
          <a:p>
            <a:pPr>
              <a:spcAft>
                <a:spcPts val="600"/>
              </a:spcAft>
              <a:defRPr sz="1900">
                <a:solidFill>
                  <a:srgbClr val="1D2326"/>
                </a:solidFill>
                <a:latin typeface="Aptos"/>
              </a:defRPr>
            </a:pPr>
            <a:r>
              <a:t>I can connect this dataset to a possible final project idea.</a:t>
            </a:r>
          </a:p>
        </p:txBody>
      </p:sp>
      <p:sp>
        <p:nvSpPr>
          <p:cNvPr id="7" name="Rounded Rectangle 6"/>
          <p:cNvSpPr/>
          <p:nvPr/>
        </p:nvSpPr>
        <p:spPr>
          <a:xfrm>
            <a:off x="1965960" y="5138928"/>
            <a:ext cx="8229600" cy="868680"/>
          </a:xfrm>
          <a:prstGeom prst="roundRect">
            <a:avLst/>
          </a:prstGeom>
          <a:solidFill>
            <a:srgbClr val="D6EFE2"/>
          </a:solidFill>
          <a:ln w="12700">
            <a:solidFill>
              <a:srgbClr val="DAD2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30552" y="5276088"/>
            <a:ext cx="7900416" cy="246888"/>
          </a:xfrm>
          <a:prstGeom prst="rect">
            <a:avLst/>
          </a:prstGeom>
          <a:noFill/>
        </p:spPr>
        <p:txBody>
          <a:bodyPr wrap="square" anchor="t">
            <a:normAutofit/>
          </a:bodyPr>
          <a:lstStyle/>
          <a:p>
            <a:pPr algn="l"/>
            <a:r>
              <a:rPr sz="1350" b="1">
                <a:solidFill>
                  <a:srgbClr val="116666"/>
                </a:solidFill>
                <a:latin typeface="Aptos"/>
              </a:rPr>
              <a:t>Final project connection</a:t>
            </a:r>
          </a:p>
        </p:txBody>
      </p:sp>
      <p:sp>
        <p:nvSpPr>
          <p:cNvPr id="9" name="TextBox 8"/>
          <p:cNvSpPr txBox="1"/>
          <p:nvPr/>
        </p:nvSpPr>
        <p:spPr>
          <a:xfrm>
            <a:off x="2130552" y="5577840"/>
            <a:ext cx="7900416" cy="338328"/>
          </a:xfrm>
          <a:prstGeom prst="rect">
            <a:avLst/>
          </a:prstGeom>
          <a:noFill/>
        </p:spPr>
        <p:txBody>
          <a:bodyPr wrap="square" anchor="t">
            <a:normAutofit/>
          </a:bodyPr>
          <a:lstStyle/>
          <a:p>
            <a:pPr algn="l"/>
            <a:r>
              <a:rPr sz="1450" b="0">
                <a:solidFill>
                  <a:srgbClr val="1D2326"/>
                </a:solidFill>
                <a:latin typeface="Aptos"/>
              </a:rPr>
              <a:t>Good final projects usually start with data that is small, understandable, documented, and useful enough to query.</a:t>
            </a:r>
          </a:p>
        </p:txBody>
      </p:sp>
      <p:sp>
        <p:nvSpPr>
          <p:cNvPr id="10" name="TextBox 9"/>
          <p:cNvSpPr txBox="1"/>
          <p:nvPr/>
        </p:nvSpPr>
        <p:spPr>
          <a:xfrm>
            <a:off x="658368" y="6473952"/>
            <a:ext cx="3108960" cy="201168"/>
          </a:xfrm>
          <a:prstGeom prst="rect">
            <a:avLst/>
          </a:prstGeom>
          <a:noFill/>
        </p:spPr>
        <p:txBody>
          <a:bodyPr wrap="square" anchor="t">
            <a:normAutofit/>
          </a:bodyPr>
          <a:lstStyle/>
          <a:p>
            <a:pPr algn="l"/>
            <a:r>
              <a:rPr sz="850" b="0">
                <a:solidFill>
                  <a:srgbClr val="586065"/>
                </a:solidFill>
                <a:latin typeface="Aptos"/>
              </a:rPr>
              <a:t>CST4714 | Week 12 Day 2</a:t>
            </a:r>
          </a:p>
        </p:txBody>
      </p:sp>
      <p:sp>
        <p:nvSpPr>
          <p:cNvPr id="11" name="TextBox 10"/>
          <p:cNvSpPr txBox="1"/>
          <p:nvPr/>
        </p:nvSpPr>
        <p:spPr>
          <a:xfrm>
            <a:off x="11274552" y="6473952"/>
            <a:ext cx="320040" cy="201168"/>
          </a:xfrm>
          <a:prstGeom prst="rect">
            <a:avLst/>
          </a:prstGeom>
          <a:noFill/>
        </p:spPr>
        <p:txBody>
          <a:bodyPr wrap="square" anchor="t">
            <a:normAutofit/>
          </a:bodyPr>
          <a:lstStyle/>
          <a:p>
            <a:pPr algn="r"/>
            <a:r>
              <a:rPr sz="850" b="0">
                <a:solidFill>
                  <a:srgbClr val="586065"/>
                </a:solidFill>
                <a:latin typeface="Aptos"/>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