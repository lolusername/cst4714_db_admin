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702"/>
  </p:normalViewPr>
  <p:slideViewPr>
    <p:cSldViewPr snapToGrid="0" snapToObjects="1">
      <p:cViewPr varScale="1">
        <p:scale>
          <a:sx n="149" d="100"/>
          <a:sy n="149" d="100"/>
        </p:scale>
        <p:origin x="192" y="2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001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Today we are continuing MongoDB basics instead of pretending everyone is already ready for a harder topic jump. That is intentional. Last week introduced Atlas, documents, and beginner modeling, but we did not have enough time to make those ideas feel stable. So this week we are slowing down and making the foundation stronger. Our three goals are basic MQL, comfort inside Atlas Data Explorer, and clearer beginner modeling decisions. By the end of this week, I want you to be able to look at a document and explain its structure, read a simple query and say what it does, write a few beginner filters of your own, and compare one embedded model with one referenced model. This week is not about showing off complicated MongoDB features. It is about making the first layer of MongoDB feel normal enough that later topics will make sense. If you leave this week feeling much less intimidated by documents, nested fields, arrays, and basic queries, then the week did its job.</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explains why we are continuing the basics instead of jumping straight into a more advanced MongoDB topic. The simple answer is that the foundation still needs work. Students often think they understand MongoDB because they recognize words like collection, document, or embed, but that is not the same as being able to use the system confidently. Right now the priority is practical fluency. Students still need more repetition with reading document structure, identifying field types, writing basic filters, understanding the difference between output shaping and stored data, and making beginner modeling decisions without falling back into automatic SQL habits. If we move too quickly into aggregation, performance, or more advanced admin topics while the basics are still shaky, students tend to memorize isolated commands without understanding why they are doing them. So the pacing change is not a retreat. It is a quality control decision. We are building a better launch point so later MongoDB topics feel connected rather than random.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covers the three levels students must keep separate: database, collection, and document. A database is the named container at the broadest level. Inside a database, we have collections. Inside a collection, we have documents. A collection is somewhat table-like in purpose because it groups related records together, but the documents inside it are more flexible than relational rows. A document can contain nested objects, arrays, and different field structures more naturally than a flat row model. That is why the document is the most important level for beginners to really see. I want students to stop treating MongoDB data as abstract boxes and start reading the stored shape directly. If they can tell the difference between the overall database, the collection that groups related records, and the individual document that actually stores the data, they are already making progress. This distinction also matters later for modeling, because most MongoDB design decisions happen at the document boundary, not at the server or database boundary.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about document literacy. Before students can query well, they need to read documents well. Walk through the example carefully. Point out the top-level fields first, such as title, year, and runtime. Then point out the nested object, which here is </a:t>
            </a:r>
            <a:r>
              <a:rPr dirty="0" err="1"/>
              <a:t>imdb</a:t>
            </a:r>
            <a:r>
              <a:rPr dirty="0"/>
              <a:t>. Inside that nested object is the nested field </a:t>
            </a:r>
            <a:r>
              <a:rPr dirty="0" err="1"/>
              <a:t>imdb.rating</a:t>
            </a:r>
            <a:r>
              <a:rPr dirty="0"/>
              <a:t>. Then point out the array field genres, which stores more than one value. Finally, point out the _id field and explain that every document has a unique identifier. The key teaching goal here is to make the shape feel readable. I want students to look at a document and think, I know what I am looking at, rather than freezing because it looks like a block of JSON. Keep emphasizing that nested structure is normal in MongoDB. Students coming from SQL often expect every piece of information to be flattened or separated into another table. MongoDB documents do not work that way. The stored shape is already part of the design, and understanding that shape is the first step toward understanding both queries and modeling.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the mindset bridge from SQL to MongoDB. I do not want to frame this as a fight between systems or as if one is universally better. Instead, I want to show that the storage and query mindset is different. In a relational design, we often begin with normalized tables and rebuild the needed shape later through joins. In a document design, we often begin with the way the application reads and writes data and try to store related information in a way that fits that usage pattern. That does not mean everything belongs in one document. It means the stored shape is much more visible and deliberate. The easiest beginner question to keep asking is this: what data is usually viewed together? That question helps students move away from reflexively recreating SQL tables and toward thinking in terms of application-shaped documents. At the same time, keep them grounded: MongoDB still needs structure, still needs reasoning, and still involves tradeoffs. The goal is not to abandon discipline. The goal is to apply discipline differently.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shows the shape of a basic find query. I want students to learn how to read the whole query as a sentence. Start with the filter. Here, the filter says only keep documents whose </a:t>
            </a:r>
            <a:r>
              <a:rPr dirty="0" err="1"/>
              <a:t>imdb.rating</a:t>
            </a:r>
            <a:r>
              <a:rPr dirty="0"/>
              <a:t> is at least 8. Then explain the projection object. That part says only show the title, year, and genres fields in the result. Then explain sort. We are ordering by year descending, and adding _id as a tie-breaker for more stable ordering. Then explain limit. We only want five results. The biggest teaching point is that filter, projection, sort, and limit each answer a different question. Filter asks which documents match. Projection asks which fields to show. Sort asks in what order. Limit asks how many results we really need. This is a good place to remind students that a query can be logically correct but still hard to read if they do not understand what each part is responsible for. If they can narrate a find query in plain language, they are making real progress in MongoDB literacy.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focuses on the beginner filters that matter most right now. I do not want students overloaded with dozens of operators. Equality, comparison, and one logical operator are enough for a strong beginner week. Equality means the field must equal a value exactly. Comparison operators like greater than or greater than or equal to help answer questions about rating, year, quantity, or other measurable fields. Logical operators such as and or or help combine conditions. The teaching move here is simple but important: every time we show a filter, translate it into an English sentence. For example, this filter means find movies whose rating is at least 8. This one means return documents where at least one of these conditions is true. That repeated translation practice matters because students often copy syntax they do not yet really understand. The goal is not just operator recognition. The goal is query interpretation. If they can tell me what a filter means without reading code symbol by symbol, they are beginning to think with MQL instead of just staring at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covers two of the biggest MongoDB beginner pain points: nested fields and arrays. First, dot notation. Dot notation simply names a path inside a nested object. When we say </a:t>
            </a:r>
            <a:r>
              <a:rPr dirty="0" err="1"/>
              <a:t>imdb.rating</a:t>
            </a:r>
            <a:r>
              <a:rPr dirty="0"/>
              <a:t>, we mean the rating field inside the </a:t>
            </a:r>
            <a:r>
              <a:rPr dirty="0" err="1"/>
              <a:t>imdb</a:t>
            </a:r>
            <a:r>
              <a:rPr dirty="0"/>
              <a:t> object. Second, arrays. MongoDB can match an array field directly when we ask whether the array contains a value, like Drama in genres. That often feels strange at first to students coming from SQL, but it becomes natural quickly once they see a few examples. Then introduce </a:t>
            </a:r>
            <a:r>
              <a:rPr dirty="0" err="1"/>
              <a:t>elemMatch</a:t>
            </a:r>
            <a:r>
              <a:rPr dirty="0"/>
              <a:t> in a controlled way. Keep the explanation simple: </a:t>
            </a:r>
            <a:r>
              <a:rPr dirty="0" err="1"/>
              <a:t>elemMatch</a:t>
            </a:r>
            <a:r>
              <a:rPr dirty="0"/>
              <a:t> is useful when one array element must satisfy multiple conditions together. That is more precise than just checking whether the array contains separate pieces somewhere. I do not need students to master complex array querying this week, but I do need them to stop fearing nested and array structure. This is the moment where MongoDB begins to feel visibly different from flat rows, so take a little extra time here. If they understand dot notation and basic array matching, the rest of the week becomes much easier.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about projection, sort, and limit, and the most important correction here is conceptual: these shape the answer, but they do not change the stored document. Students confuse that all the time. Projection controls which fields appear in the returned result. Sort controls result order. Limit controls how many documents come back. Those are all result-shaping ideas. None of them modifies the stored data. So if you run a projection and hide a field, the field is still in the document in the database. It is just not shown in that specific query result. The same goes for sort and limit. They affect the returned view, not the underlying storage. This is a useful moment to connect back to SQL too, because students already know select columns, order by, and limit style ideas in a relational setting. MongoDB is different in many ways, but this part can feel familiar. I want students to leave this slide understanding that query output formatting and data mutation are different categories of actions. That distinction becomes very important once we start doing writes.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introduces document creation with </a:t>
            </a:r>
            <a:r>
              <a:rPr dirty="0" err="1"/>
              <a:t>insertOne</a:t>
            </a:r>
            <a:r>
              <a:rPr dirty="0"/>
              <a:t> and </a:t>
            </a:r>
            <a:r>
              <a:rPr dirty="0" err="1"/>
              <a:t>insertMany</a:t>
            </a:r>
            <a:r>
              <a:rPr dirty="0"/>
              <a:t>. Keep the examples small and readable. The first point to emphasize is that the shape of the inserted document matters. Whatever field names and nesting you choose now become the shape you later have to query and maintain. That is why writing documents is not just about getting data in; it is also an early modeling decision. The second point is that MongoDB gives each inserted document an _id if one is not provided. Third, explain the difference between </a:t>
            </a:r>
            <a:r>
              <a:rPr dirty="0" err="1"/>
              <a:t>insertOne</a:t>
            </a:r>
            <a:r>
              <a:rPr dirty="0"/>
              <a:t> and </a:t>
            </a:r>
            <a:r>
              <a:rPr dirty="0" err="1"/>
              <a:t>insertMany</a:t>
            </a:r>
            <a:r>
              <a:rPr dirty="0"/>
              <a:t> in plain language. </a:t>
            </a:r>
            <a:r>
              <a:rPr dirty="0" err="1"/>
              <a:t>InsertOne</a:t>
            </a:r>
            <a:r>
              <a:rPr dirty="0"/>
              <a:t> adds one document. </a:t>
            </a:r>
            <a:r>
              <a:rPr dirty="0" err="1"/>
              <a:t>InsertMany</a:t>
            </a:r>
            <a:r>
              <a:rPr dirty="0"/>
              <a:t> adds multiple documents in one call. This is also a good moment to tell students that collections are often created automatically when documents are first inserted, which feels different from a rigid SQL create table first workflow. But do not overplay that flexibility. Students should still choose field names and basic structure intentionally. The document they insert today becomes the document shape they will read, query, and update tomorrow. That is why even beginner insert examples are conceptually important.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covers update and delete basics, and the most important distinction here is between </a:t>
            </a:r>
            <a:r>
              <a:rPr dirty="0" err="1"/>
              <a:t>updateOne</a:t>
            </a:r>
            <a:r>
              <a:rPr dirty="0"/>
              <a:t> and </a:t>
            </a:r>
            <a:r>
              <a:rPr dirty="0" err="1"/>
              <a:t>replaceOne</a:t>
            </a:r>
            <a:r>
              <a:rPr dirty="0"/>
              <a:t>. </a:t>
            </a:r>
            <a:r>
              <a:rPr dirty="0" err="1"/>
              <a:t>UpdateOne</a:t>
            </a:r>
            <a:r>
              <a:rPr dirty="0"/>
              <a:t> with a set operator changes selected fields in a matched document. </a:t>
            </a:r>
            <a:r>
              <a:rPr dirty="0" err="1"/>
              <a:t>ReplaceOne</a:t>
            </a:r>
            <a:r>
              <a:rPr dirty="0"/>
              <a:t> replaces the whole matched document with a new one. That is a much bigger action, and students should be cautious with it. </a:t>
            </a:r>
            <a:r>
              <a:rPr dirty="0" err="1"/>
              <a:t>DeleteOne</a:t>
            </a:r>
            <a:r>
              <a:rPr dirty="0"/>
              <a:t> removes one matched document. I want to keep the examples simple because the conceptual boundary matters more than the syntax details right now. A very common beginner mistake is assuming that </a:t>
            </a:r>
            <a:r>
              <a:rPr dirty="0" err="1"/>
              <a:t>updateOne</a:t>
            </a:r>
            <a:r>
              <a:rPr dirty="0"/>
              <a:t> and </a:t>
            </a:r>
            <a:r>
              <a:rPr dirty="0" err="1"/>
              <a:t>replaceOne</a:t>
            </a:r>
            <a:r>
              <a:rPr dirty="0"/>
              <a:t> are basically the same thing. They are not. Set-based updates are partial. Replacement is full-document substitution. This is also a good place to remind students that MongoDB write operations are atomic at the single-document level. That idea will matter again when we talk about document boundaries and modeling. If students understand that a careful single-document update is a safe and normal MongoDB pattern, they start to see why storing related information together in one document can sometimes be useful.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explains why document boundaries matter. MongoDB CRUD documentation says write operations are atomic at the level of a single document. For teaching purposes, that means the document is not just a storage shape. It is also an update boundary. If related data is usually changed together, storing that data together can make practical sense. On the other hand, if shared information must stay consistent across many records, separating it may be cleaner. This is the first strong reason students should care about embed versus reference. The question is not just what looks convenient on a slide. The question is what changes together, what is read together, and what should stay in one source of truth. Keep that phrasing simple and repeat it. Students do not need a full transactions lecture here. They just need the idea that the document boundary is operationally meaningful. That gives beginner modeling a much more concrete basis than vague statements like MongoDB is flexible or MongoDB likes JSON. Flexibility matters, but update boundaries matter more.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the center of beginner modeling for the week. I want students to leave class remembering these three questions. First, what is read together? Second, what changes together? Third, what should stay in one source of truth? Those questions are more valuable right now than a long list of schema rules. If students start with workload, they make better MongoDB decisions. If they start by trying to copy SQL tables one for one, they often miss the point. Use a practical tone here. For example, if a student dashboard almost always shows one student plus that student’s current courses, storing some of that together may help. But if course information is reused by many students and needs clean centralized updates, that pushes toward separation. The point is not to memorize a slogan like always embed or always reference. The point is to reason from how the application behaves. If you keep repeating workload first, students will have a much stronger foundation for later MongoDB work.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compares embedded and referenced versions of related data. Walk through the two examples slowly. In the embedded version, the student and current courses live together in one main document. That can be useful when a common read wants those pieces together. In the referenced version, the student document stores course IDs and the course details live separately. That can be cleaner when course information is shared widely and should stay in one central source of truth. The main teaching goal here is to prevent students from turning this into a one-word answer question. I do not want them saying embed is MongoDB and reference is SQL. That is too shallow. Instead, I want them to say embedding usually helps when related data is read together and stays reasonably local, while referencing usually helps when data is shared, reused, or needs coordinated updates in one place. Keep the language beginner-friendly, but make the tradeoff real. This slide should make students feel that both choices are understandable and that workload is what decides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narrows relationship thinking to one-to-one and one-to-many because that is enough for this week. One-to-one is usually easier for beginners. For example, one student and one profile record are often simple to imagine, and if those pieces are usually read together, embedding may be natural. One-to-many is where tradeoffs become more visible. One student can have many courses, and one product can have many inventory events. Whether that many side should be embedded or referenced depends on size, update patterns, sharing, and read behavior. A useful beginner heuristic is to ask whether the many side is small and local or large and shared. If it is small and usually belongs to one parent, embedding may be reasonable. If it grows a lot, changes independently, or is shared by many records, referencing becomes more attractive. Keep this slide practical. The goal is recognition, not full schema taxonomy. Students should leave able to identify the relationship type and then ask the workload questions from the previous slide.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prepares students to watch the inventory-platform video with better MongoDB vocabulary than they had before. The reason we are reusing the same video is that it becomes much more useful once students have stronger beginner language for documents, relationships, and modeling choices. Before they watch, give them a clear job. Ask them to notice what kinds of documents or collections the application probably needs, what data seems like it is often read together, what information might be embedded, and what information might be better kept separate. Also ask them to think of one common question the application would probably ask the database. That moves the video away from buzzword summary and toward actual analysis. The purpose here is not to make them experts in event-driven systems. It is to help them connect beginner MongoDB ideas to a real application context. If they can use words like document, embed, reference, and common question accurately after the video, then the assignment is doing useful work.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final slide is only a preview of what comes next. I do not want students to think they must master aggregation or performance right now. I just want them to see where the MongoDB path is heading. Later, MongoDB can summarize data with aggregation stages such as match, group, and sort. Later, we can talk about whether a query is broad or targeted, whether indexes fit the workload, and how to reason about performance. But later topics only make sense if the basics are stable first. So the message of this slide is sequencing. Basic MQL, document structure, and beginner modeling come first because they support everything else. End by reminding students what success looks like this week: read documents confidently, explain simple queries in plain language, and compare one embedded and one referenced model with a real reason for each. If those three things happen, then Week 11 has done exactly what it was supposed to do.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685800" y="868680"/>
            <a:ext cx="10789920" cy="868680"/>
          </a:xfrm>
          <a:prstGeom prst="rect">
            <a:avLst/>
          </a:prstGeom>
          <a:noFill/>
        </p:spPr>
        <p:txBody>
          <a:bodyPr wrap="square">
            <a:spAutoFit/>
          </a:bodyPr>
          <a:lstStyle/>
          <a:p>
            <a:pPr algn="l">
              <a:defRPr sz="3000" b="1">
                <a:solidFill>
                  <a:srgbClr val="FFFFFF"/>
                </a:solidFill>
                <a:latin typeface="Aptos"/>
              </a:defRPr>
            </a:pPr>
            <a:r>
              <a:t>Week 11: MongoDB Basics Continued</a:t>
            </a:r>
          </a:p>
        </p:txBody>
      </p:sp>
      <p:sp>
        <p:nvSpPr>
          <p:cNvPr id="3" name="TextBox 2"/>
          <p:cNvSpPr txBox="1"/>
          <p:nvPr/>
        </p:nvSpPr>
        <p:spPr>
          <a:xfrm>
            <a:off x="731520" y="1737360"/>
            <a:ext cx="10241280" cy="502920"/>
          </a:xfrm>
          <a:prstGeom prst="rect">
            <a:avLst/>
          </a:prstGeom>
          <a:noFill/>
        </p:spPr>
        <p:txBody>
          <a:bodyPr wrap="square">
            <a:spAutoFit/>
          </a:bodyPr>
          <a:lstStyle/>
          <a:p>
            <a:pPr algn="l">
              <a:defRPr sz="1800" b="0">
                <a:solidFill>
                  <a:srgbClr val="BFDBFE"/>
                </a:solidFill>
                <a:latin typeface="Aptos"/>
              </a:defRPr>
            </a:pPr>
            <a:r>
              <a:t>Basic MQL | Atlas Data Explorer | beginner modeling | embed vs reference</a:t>
            </a:r>
          </a:p>
        </p:txBody>
      </p:sp>
      <p:sp>
        <p:nvSpPr>
          <p:cNvPr id="4" name="Rounded Rectangle 3"/>
          <p:cNvSpPr/>
          <p:nvPr/>
        </p:nvSpPr>
        <p:spPr>
          <a:xfrm>
            <a:off x="822960" y="2926080"/>
            <a:ext cx="3063240" cy="17830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3017520"/>
            <a:ext cx="2788920" cy="256032"/>
          </a:xfrm>
          <a:prstGeom prst="rect">
            <a:avLst/>
          </a:prstGeom>
          <a:noFill/>
        </p:spPr>
        <p:txBody>
          <a:bodyPr wrap="square">
            <a:spAutoFit/>
          </a:bodyPr>
          <a:lstStyle/>
          <a:p>
            <a:pPr algn="l">
              <a:defRPr sz="2000" b="1">
                <a:solidFill>
                  <a:srgbClr val="0D9488"/>
                </a:solidFill>
                <a:latin typeface="Aptos"/>
              </a:defRPr>
            </a:pPr>
            <a:r>
              <a:t>Reset</a:t>
            </a:r>
          </a:p>
        </p:txBody>
      </p:sp>
      <p:sp>
        <p:nvSpPr>
          <p:cNvPr id="6" name="TextBox 5"/>
          <p:cNvSpPr txBox="1"/>
          <p:nvPr/>
        </p:nvSpPr>
        <p:spPr>
          <a:xfrm>
            <a:off x="960120" y="3337560"/>
            <a:ext cx="2788920" cy="1280160"/>
          </a:xfrm>
          <a:prstGeom prst="rect">
            <a:avLst/>
          </a:prstGeom>
          <a:noFill/>
        </p:spPr>
        <p:txBody>
          <a:bodyPr wrap="square">
            <a:normAutofit/>
          </a:bodyPr>
          <a:lstStyle/>
          <a:p>
            <a:pPr>
              <a:defRPr sz="1500">
                <a:solidFill>
                  <a:srgbClr val="475569"/>
                </a:solidFill>
              </a:defRPr>
            </a:pPr>
            <a:r>
              <a:t>We are slowing down and finishing the foundation.</a:t>
            </a:r>
          </a:p>
        </p:txBody>
      </p:sp>
      <p:sp>
        <p:nvSpPr>
          <p:cNvPr id="7" name="Rounded Rectangle 6"/>
          <p:cNvSpPr/>
          <p:nvPr/>
        </p:nvSpPr>
        <p:spPr>
          <a:xfrm>
            <a:off x="4480560" y="2926080"/>
            <a:ext cx="3063240" cy="17830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3017520"/>
            <a:ext cx="2788920" cy="256032"/>
          </a:xfrm>
          <a:prstGeom prst="rect">
            <a:avLst/>
          </a:prstGeom>
          <a:noFill/>
        </p:spPr>
        <p:txBody>
          <a:bodyPr wrap="square">
            <a:spAutoFit/>
          </a:bodyPr>
          <a:lstStyle/>
          <a:p>
            <a:pPr algn="l">
              <a:defRPr sz="2000" b="1">
                <a:solidFill>
                  <a:srgbClr val="2563EB"/>
                </a:solidFill>
                <a:latin typeface="Aptos"/>
              </a:defRPr>
            </a:pPr>
            <a:r>
              <a:t>Read</a:t>
            </a:r>
          </a:p>
        </p:txBody>
      </p:sp>
      <p:sp>
        <p:nvSpPr>
          <p:cNvPr id="9" name="TextBox 8"/>
          <p:cNvSpPr txBox="1"/>
          <p:nvPr/>
        </p:nvSpPr>
        <p:spPr>
          <a:xfrm>
            <a:off x="4617720" y="3337560"/>
            <a:ext cx="2788920" cy="1280160"/>
          </a:xfrm>
          <a:prstGeom prst="rect">
            <a:avLst/>
          </a:prstGeom>
          <a:noFill/>
        </p:spPr>
        <p:txBody>
          <a:bodyPr wrap="square">
            <a:normAutofit/>
          </a:bodyPr>
          <a:lstStyle/>
          <a:p>
            <a:pPr>
              <a:defRPr sz="1500">
                <a:solidFill>
                  <a:srgbClr val="475569"/>
                </a:solidFill>
              </a:defRPr>
            </a:pPr>
            <a:r>
              <a:t>Students need more practice reading documents and filters.</a:t>
            </a:r>
          </a:p>
        </p:txBody>
      </p:sp>
      <p:sp>
        <p:nvSpPr>
          <p:cNvPr id="10" name="Rounded Rectangle 9"/>
          <p:cNvSpPr/>
          <p:nvPr/>
        </p:nvSpPr>
        <p:spPr>
          <a:xfrm>
            <a:off x="8138160" y="2926080"/>
            <a:ext cx="3063240" cy="178308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3017520"/>
            <a:ext cx="2788920" cy="256032"/>
          </a:xfrm>
          <a:prstGeom prst="rect">
            <a:avLst/>
          </a:prstGeom>
          <a:noFill/>
        </p:spPr>
        <p:txBody>
          <a:bodyPr wrap="square">
            <a:spAutoFit/>
          </a:bodyPr>
          <a:lstStyle/>
          <a:p>
            <a:pPr algn="l">
              <a:defRPr sz="2000" b="1">
                <a:solidFill>
                  <a:srgbClr val="EA580C"/>
                </a:solidFill>
                <a:latin typeface="Aptos"/>
              </a:defRPr>
            </a:pPr>
            <a:r>
              <a:t>Model</a:t>
            </a:r>
          </a:p>
        </p:txBody>
      </p:sp>
      <p:sp>
        <p:nvSpPr>
          <p:cNvPr id="12" name="TextBox 11"/>
          <p:cNvSpPr txBox="1"/>
          <p:nvPr/>
        </p:nvSpPr>
        <p:spPr>
          <a:xfrm>
            <a:off x="8275320" y="3337560"/>
            <a:ext cx="2788920" cy="1280160"/>
          </a:xfrm>
          <a:prstGeom prst="rect">
            <a:avLst/>
          </a:prstGeom>
          <a:noFill/>
        </p:spPr>
        <p:txBody>
          <a:bodyPr wrap="square">
            <a:normAutofit/>
          </a:bodyPr>
          <a:lstStyle/>
          <a:p>
            <a:pPr>
              <a:defRPr sz="1500">
                <a:solidFill>
                  <a:srgbClr val="475569"/>
                </a:solidFill>
              </a:defRPr>
            </a:pPr>
            <a:r>
              <a:t>Students still need clearer embed vs reference intuition.</a:t>
            </a:r>
          </a:p>
        </p:txBody>
      </p:sp>
      <p:sp>
        <p:nvSpPr>
          <p:cNvPr id="13" name="TextBox 12"/>
          <p:cNvSpPr txBox="1"/>
          <p:nvPr/>
        </p:nvSpPr>
        <p:spPr>
          <a:xfrm>
            <a:off x="777240" y="5669280"/>
            <a:ext cx="10241280" cy="365760"/>
          </a:xfrm>
          <a:prstGeom prst="rect">
            <a:avLst/>
          </a:prstGeom>
          <a:noFill/>
        </p:spPr>
        <p:txBody>
          <a:bodyPr wrap="square">
            <a:spAutoFit/>
          </a:bodyPr>
          <a:lstStyle/>
          <a:p>
            <a:pPr algn="l">
              <a:defRPr sz="1400" b="0">
                <a:solidFill>
                  <a:srgbClr val="CBD5E1"/>
                </a:solidFill>
                <a:latin typeface="Aptos"/>
              </a:defRPr>
            </a:pPr>
            <a:r>
              <a:t>This week continues Week 10 before moving deeper into harder MongoDB topics.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Why Week 11 Continues the Basics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We need a stable foundation before moving into harder MongoDB work</a:t>
            </a:r>
          </a:p>
        </p:txBody>
      </p:sp>
      <p:sp>
        <p:nvSpPr>
          <p:cNvPr id="4" name="Rounded Rectangle 3"/>
          <p:cNvSpPr/>
          <p:nvPr/>
        </p:nvSpPr>
        <p:spPr>
          <a:xfrm>
            <a:off x="640080" y="1554480"/>
            <a:ext cx="3566160" cy="173736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45920"/>
            <a:ext cx="3291840" cy="256032"/>
          </a:xfrm>
          <a:prstGeom prst="rect">
            <a:avLst/>
          </a:prstGeom>
          <a:noFill/>
        </p:spPr>
        <p:txBody>
          <a:bodyPr wrap="square">
            <a:spAutoFit/>
          </a:bodyPr>
          <a:lstStyle/>
          <a:p>
            <a:pPr algn="l">
              <a:defRPr sz="1800" b="1">
                <a:solidFill>
                  <a:srgbClr val="0D9488"/>
                </a:solidFill>
                <a:latin typeface="Aptos"/>
              </a:defRPr>
            </a:pPr>
            <a:r>
              <a:t>What students still need</a:t>
            </a:r>
          </a:p>
        </p:txBody>
      </p:sp>
      <p:sp>
        <p:nvSpPr>
          <p:cNvPr id="6" name="TextBox 5"/>
          <p:cNvSpPr txBox="1"/>
          <p:nvPr/>
        </p:nvSpPr>
        <p:spPr>
          <a:xfrm>
            <a:off x="777240" y="1965960"/>
            <a:ext cx="3291840" cy="1234440"/>
          </a:xfrm>
          <a:prstGeom prst="rect">
            <a:avLst/>
          </a:prstGeom>
          <a:noFill/>
        </p:spPr>
        <p:txBody>
          <a:bodyPr wrap="square">
            <a:normAutofit/>
          </a:bodyPr>
          <a:lstStyle/>
          <a:p>
            <a:pPr>
              <a:defRPr sz="1400">
                <a:solidFill>
                  <a:srgbClr val="475569"/>
                </a:solidFill>
              </a:defRPr>
            </a:pPr>
            <a:r>
              <a:t>More practice with documents, fields, arrays, filters, and simple CRUD actions.</a:t>
            </a:r>
          </a:p>
        </p:txBody>
      </p:sp>
      <p:sp>
        <p:nvSpPr>
          <p:cNvPr id="7" name="Rounded Rectangle 6"/>
          <p:cNvSpPr/>
          <p:nvPr/>
        </p:nvSpPr>
        <p:spPr>
          <a:xfrm>
            <a:off x="4343400" y="1554480"/>
            <a:ext cx="3566160" cy="1737360"/>
          </a:xfrm>
          <a:prstGeom prst="roundRect">
            <a:avLst/>
          </a:prstGeom>
          <a:solidFill>
            <a:srgbClr val="FFFFFF"/>
          </a:solidFill>
          <a:ln w="2286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1645920"/>
            <a:ext cx="3291840" cy="256032"/>
          </a:xfrm>
          <a:prstGeom prst="rect">
            <a:avLst/>
          </a:prstGeom>
          <a:noFill/>
        </p:spPr>
        <p:txBody>
          <a:bodyPr wrap="square">
            <a:spAutoFit/>
          </a:bodyPr>
          <a:lstStyle/>
          <a:p>
            <a:pPr algn="l">
              <a:defRPr sz="1800" b="1">
                <a:solidFill>
                  <a:srgbClr val="DC2626"/>
                </a:solidFill>
                <a:latin typeface="Aptos"/>
              </a:defRPr>
            </a:pPr>
            <a:r>
              <a:t>What would be too early</a:t>
            </a:r>
          </a:p>
        </p:txBody>
      </p:sp>
      <p:sp>
        <p:nvSpPr>
          <p:cNvPr id="9" name="TextBox 8"/>
          <p:cNvSpPr txBox="1"/>
          <p:nvPr/>
        </p:nvSpPr>
        <p:spPr>
          <a:xfrm>
            <a:off x="4480560" y="1965960"/>
            <a:ext cx="3291840" cy="1234440"/>
          </a:xfrm>
          <a:prstGeom prst="rect">
            <a:avLst/>
          </a:prstGeom>
          <a:noFill/>
        </p:spPr>
        <p:txBody>
          <a:bodyPr wrap="square">
            <a:normAutofit/>
          </a:bodyPr>
          <a:lstStyle/>
          <a:p>
            <a:pPr>
              <a:defRPr sz="1400">
                <a:solidFill>
                  <a:srgbClr val="475569"/>
                </a:solidFill>
              </a:defRPr>
            </a:pPr>
            <a:r>
              <a:t>A full jump into aggregation and performance without a strong MQL base.</a:t>
            </a:r>
          </a:p>
        </p:txBody>
      </p:sp>
      <p:sp>
        <p:nvSpPr>
          <p:cNvPr id="10" name="Rounded Rectangle 9"/>
          <p:cNvSpPr/>
          <p:nvPr/>
        </p:nvSpPr>
        <p:spPr>
          <a:xfrm>
            <a:off x="8046720" y="1554480"/>
            <a:ext cx="3474720" cy="173736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45920"/>
            <a:ext cx="3200400" cy="256032"/>
          </a:xfrm>
          <a:prstGeom prst="rect">
            <a:avLst/>
          </a:prstGeom>
          <a:noFill/>
        </p:spPr>
        <p:txBody>
          <a:bodyPr wrap="square">
            <a:spAutoFit/>
          </a:bodyPr>
          <a:lstStyle/>
          <a:p>
            <a:pPr algn="l">
              <a:defRPr sz="1800" b="1">
                <a:solidFill>
                  <a:srgbClr val="2563EB"/>
                </a:solidFill>
                <a:latin typeface="Aptos"/>
              </a:defRPr>
            </a:pPr>
            <a:r>
              <a:t>What this week does</a:t>
            </a:r>
          </a:p>
        </p:txBody>
      </p:sp>
      <p:sp>
        <p:nvSpPr>
          <p:cNvPr id="12" name="TextBox 11"/>
          <p:cNvSpPr txBox="1"/>
          <p:nvPr/>
        </p:nvSpPr>
        <p:spPr>
          <a:xfrm>
            <a:off x="8183880" y="1965960"/>
            <a:ext cx="3200400" cy="1234440"/>
          </a:xfrm>
          <a:prstGeom prst="rect">
            <a:avLst/>
          </a:prstGeom>
          <a:noFill/>
        </p:spPr>
        <p:txBody>
          <a:bodyPr wrap="square">
            <a:normAutofit/>
          </a:bodyPr>
          <a:lstStyle/>
          <a:p>
            <a:pPr>
              <a:defRPr sz="1400">
                <a:solidFill>
                  <a:srgbClr val="475569"/>
                </a:solidFill>
              </a:defRPr>
            </a:pPr>
            <a:r>
              <a:t>Strengthens query reading, Atlas use, and beginner modeling decisions.</a:t>
            </a:r>
          </a:p>
        </p:txBody>
      </p:sp>
      <p:sp>
        <p:nvSpPr>
          <p:cNvPr id="13" name="Rounded Rectangle 12"/>
          <p:cNvSpPr/>
          <p:nvPr/>
        </p:nvSpPr>
        <p:spPr>
          <a:xfrm>
            <a:off x="1005840" y="3886200"/>
            <a:ext cx="10149840" cy="15544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3995928"/>
            <a:ext cx="9875520" cy="228600"/>
          </a:xfrm>
          <a:prstGeom prst="rect">
            <a:avLst/>
          </a:prstGeom>
          <a:noFill/>
        </p:spPr>
        <p:txBody>
          <a:bodyPr wrap="square">
            <a:spAutoFit/>
          </a:bodyPr>
          <a:lstStyle/>
          <a:p>
            <a:pPr algn="l">
              <a:defRPr sz="1700" b="1">
                <a:solidFill>
                  <a:srgbClr val="F59E0B"/>
                </a:solidFill>
                <a:latin typeface="Aptos"/>
              </a:defRPr>
            </a:pPr>
            <a:r>
              <a:t>End-of-week goal</a:t>
            </a:r>
          </a:p>
        </p:txBody>
      </p:sp>
      <p:sp>
        <p:nvSpPr>
          <p:cNvPr id="15" name="TextBox 14"/>
          <p:cNvSpPr txBox="1"/>
          <p:nvPr/>
        </p:nvSpPr>
        <p:spPr>
          <a:xfrm>
            <a:off x="1152144" y="4270248"/>
            <a:ext cx="9857232" cy="1078992"/>
          </a:xfrm>
          <a:prstGeom prst="rect">
            <a:avLst/>
          </a:prstGeom>
          <a:noFill/>
        </p:spPr>
        <p:txBody>
          <a:bodyPr wrap="square">
            <a:normAutofit/>
          </a:bodyPr>
          <a:lstStyle/>
          <a:p>
            <a:pPr>
              <a:defRPr sz="1450">
                <a:solidFill>
                  <a:srgbClr val="475569"/>
                </a:solidFill>
              </a:defRPr>
            </a:pPr>
            <a:r>
              <a:t>Students can read a document and say what fields matter.</a:t>
            </a:r>
          </a:p>
          <a:p>
            <a:pPr>
              <a:defRPr sz="1450">
                <a:solidFill>
                  <a:srgbClr val="475569"/>
                </a:solidFill>
              </a:defRPr>
            </a:pPr>
            <a:r>
              <a:t>Students can write and explain simple MQL filters.</a:t>
            </a:r>
          </a:p>
          <a:p>
            <a:pPr>
              <a:defRPr sz="1450">
                <a:solidFill>
                  <a:srgbClr val="475569"/>
                </a:solidFill>
              </a:defRPr>
            </a:pPr>
            <a:r>
              <a:t>Students can compare one embedded and one referenced model.</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Database, Collection, Document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 three levels students must keep separate</a:t>
            </a:r>
          </a:p>
        </p:txBody>
      </p:sp>
      <p:sp>
        <p:nvSpPr>
          <p:cNvPr id="4" name="Rounded Rectangle 3"/>
          <p:cNvSpPr/>
          <p:nvPr/>
        </p:nvSpPr>
        <p:spPr>
          <a:xfrm>
            <a:off x="822960" y="1828800"/>
            <a:ext cx="2834640" cy="20116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920240"/>
            <a:ext cx="2560320" cy="256032"/>
          </a:xfrm>
          <a:prstGeom prst="rect">
            <a:avLst/>
          </a:prstGeom>
          <a:noFill/>
        </p:spPr>
        <p:txBody>
          <a:bodyPr wrap="square">
            <a:spAutoFit/>
          </a:bodyPr>
          <a:lstStyle/>
          <a:p>
            <a:pPr algn="l">
              <a:defRPr sz="1800" b="1">
                <a:solidFill>
                  <a:srgbClr val="2563EB"/>
                </a:solidFill>
                <a:latin typeface="Aptos"/>
              </a:defRPr>
            </a:pPr>
            <a:r>
              <a:t>Database</a:t>
            </a:r>
          </a:p>
        </p:txBody>
      </p:sp>
      <p:sp>
        <p:nvSpPr>
          <p:cNvPr id="6" name="TextBox 5"/>
          <p:cNvSpPr txBox="1"/>
          <p:nvPr/>
        </p:nvSpPr>
        <p:spPr>
          <a:xfrm>
            <a:off x="960120" y="2240280"/>
            <a:ext cx="2560320" cy="1508760"/>
          </a:xfrm>
          <a:prstGeom prst="rect">
            <a:avLst/>
          </a:prstGeom>
          <a:noFill/>
        </p:spPr>
        <p:txBody>
          <a:bodyPr wrap="square">
            <a:normAutofit/>
          </a:bodyPr>
          <a:lstStyle/>
          <a:p>
            <a:pPr>
              <a:defRPr sz="1400">
                <a:solidFill>
                  <a:srgbClr val="475569"/>
                </a:solidFill>
              </a:defRPr>
            </a:pPr>
            <a:r>
              <a:t>A named container that holds collections.</a:t>
            </a:r>
          </a:p>
        </p:txBody>
      </p:sp>
      <p:sp>
        <p:nvSpPr>
          <p:cNvPr id="7" name="Rounded Rectangle 6"/>
          <p:cNvSpPr/>
          <p:nvPr/>
        </p:nvSpPr>
        <p:spPr>
          <a:xfrm>
            <a:off x="4663440" y="1828800"/>
            <a:ext cx="2834640" cy="20116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0600" y="1920240"/>
            <a:ext cx="2560320" cy="256032"/>
          </a:xfrm>
          <a:prstGeom prst="rect">
            <a:avLst/>
          </a:prstGeom>
          <a:noFill/>
        </p:spPr>
        <p:txBody>
          <a:bodyPr wrap="square">
            <a:spAutoFit/>
          </a:bodyPr>
          <a:lstStyle/>
          <a:p>
            <a:pPr algn="l">
              <a:defRPr sz="1800" b="1">
                <a:solidFill>
                  <a:srgbClr val="0D9488"/>
                </a:solidFill>
                <a:latin typeface="Aptos"/>
              </a:defRPr>
            </a:pPr>
            <a:r>
              <a:t>Collection</a:t>
            </a:r>
          </a:p>
        </p:txBody>
      </p:sp>
      <p:sp>
        <p:nvSpPr>
          <p:cNvPr id="9" name="TextBox 8"/>
          <p:cNvSpPr txBox="1"/>
          <p:nvPr/>
        </p:nvSpPr>
        <p:spPr>
          <a:xfrm>
            <a:off x="4800600" y="2240280"/>
            <a:ext cx="2560320" cy="1508760"/>
          </a:xfrm>
          <a:prstGeom prst="rect">
            <a:avLst/>
          </a:prstGeom>
          <a:noFill/>
        </p:spPr>
        <p:txBody>
          <a:bodyPr wrap="square">
            <a:normAutofit/>
          </a:bodyPr>
          <a:lstStyle/>
          <a:p>
            <a:pPr>
              <a:defRPr sz="1400">
                <a:solidFill>
                  <a:srgbClr val="475569"/>
                </a:solidFill>
              </a:defRPr>
            </a:pPr>
            <a:r>
              <a:t>A group of related documents, somewhat like a table but more flexible.</a:t>
            </a:r>
          </a:p>
        </p:txBody>
      </p:sp>
      <p:sp>
        <p:nvSpPr>
          <p:cNvPr id="10" name="Rounded Rectangle 9"/>
          <p:cNvSpPr/>
          <p:nvPr/>
        </p:nvSpPr>
        <p:spPr>
          <a:xfrm>
            <a:off x="8458200" y="1828800"/>
            <a:ext cx="2834640" cy="201168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0" y="1920240"/>
            <a:ext cx="2560320" cy="256032"/>
          </a:xfrm>
          <a:prstGeom prst="rect">
            <a:avLst/>
          </a:prstGeom>
          <a:noFill/>
        </p:spPr>
        <p:txBody>
          <a:bodyPr wrap="square">
            <a:spAutoFit/>
          </a:bodyPr>
          <a:lstStyle/>
          <a:p>
            <a:pPr algn="l">
              <a:defRPr sz="1800" b="1">
                <a:solidFill>
                  <a:srgbClr val="EA580C"/>
                </a:solidFill>
                <a:latin typeface="Aptos"/>
              </a:defRPr>
            </a:pPr>
            <a:r>
              <a:t>Document</a:t>
            </a:r>
          </a:p>
        </p:txBody>
      </p:sp>
      <p:sp>
        <p:nvSpPr>
          <p:cNvPr id="12" name="TextBox 11"/>
          <p:cNvSpPr txBox="1"/>
          <p:nvPr/>
        </p:nvSpPr>
        <p:spPr>
          <a:xfrm>
            <a:off x="8595360" y="2240280"/>
            <a:ext cx="2560320" cy="1508760"/>
          </a:xfrm>
          <a:prstGeom prst="rect">
            <a:avLst/>
          </a:prstGeom>
          <a:noFill/>
        </p:spPr>
        <p:txBody>
          <a:bodyPr wrap="square">
            <a:normAutofit/>
          </a:bodyPr>
          <a:lstStyle/>
          <a:p>
            <a:pPr>
              <a:defRPr sz="1400">
                <a:solidFill>
                  <a:srgbClr val="475569"/>
                </a:solidFill>
              </a:defRPr>
            </a:pPr>
            <a:r>
              <a:t>One BSON record made of fields, nested objects, arrays, and values.</a:t>
            </a:r>
          </a:p>
        </p:txBody>
      </p:sp>
      <p:cxnSp>
        <p:nvCxnSpPr>
          <p:cNvPr id="13" name="Connector 12"/>
          <p:cNvCxnSpPr/>
          <p:nvPr/>
        </p:nvCxnSpPr>
        <p:spPr>
          <a:xfrm>
            <a:off x="3657600" y="2834640"/>
            <a:ext cx="91440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98079" y="2834640"/>
            <a:ext cx="868681"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4526280"/>
            <a:ext cx="10241280" cy="594360"/>
          </a:xfrm>
          <a:prstGeom prst="rect">
            <a:avLst/>
          </a:prstGeom>
          <a:noFill/>
        </p:spPr>
        <p:txBody>
          <a:bodyPr wrap="square">
            <a:spAutoFit/>
          </a:bodyPr>
          <a:lstStyle/>
          <a:p>
            <a:pPr algn="ctr">
              <a:defRPr sz="1900" b="0">
                <a:solidFill>
                  <a:srgbClr val="0F172A"/>
                </a:solidFill>
                <a:latin typeface="Aptos"/>
              </a:defRPr>
            </a:pPr>
            <a:r>
              <a:t>Useful comparison: a collection is table-like in purpose, but documents are not flat rows. They can contain nested structure directly.</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How to Read a MongoDB Document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Top-level fields, nested fields, arrays, and _id</a:t>
            </a:r>
          </a:p>
        </p:txBody>
      </p:sp>
      <p:sp>
        <p:nvSpPr>
          <p:cNvPr id="4" name="Rounded Rectangle 3"/>
          <p:cNvSpPr/>
          <p:nvPr/>
        </p:nvSpPr>
        <p:spPr>
          <a:xfrm>
            <a:off x="822960" y="1554480"/>
            <a:ext cx="3749039" cy="338328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1664208"/>
            <a:ext cx="3493007" cy="219456"/>
          </a:xfrm>
          <a:prstGeom prst="rect">
            <a:avLst/>
          </a:prstGeom>
          <a:noFill/>
        </p:spPr>
        <p:txBody>
          <a:bodyPr wrap="square">
            <a:spAutoFit/>
          </a:bodyPr>
          <a:lstStyle/>
          <a:p>
            <a:pPr algn="l">
              <a:defRPr sz="1500" b="1">
                <a:solidFill>
                  <a:srgbClr val="2563EB"/>
                </a:solidFill>
                <a:latin typeface="Aptos"/>
              </a:defRPr>
            </a:pPr>
            <a:r>
              <a:t>Example document</a:t>
            </a:r>
          </a:p>
        </p:txBody>
      </p:sp>
      <p:sp>
        <p:nvSpPr>
          <p:cNvPr id="6" name="TextBox 5"/>
          <p:cNvSpPr txBox="1"/>
          <p:nvPr/>
        </p:nvSpPr>
        <p:spPr>
          <a:xfrm>
            <a:off x="950976" y="1920240"/>
            <a:ext cx="3493007" cy="2907792"/>
          </a:xfrm>
          <a:prstGeom prst="rect">
            <a:avLst/>
          </a:prstGeom>
          <a:noFill/>
        </p:spPr>
        <p:txBody>
          <a:bodyPr wrap="square">
            <a:normAutofit/>
          </a:bodyPr>
          <a:lstStyle/>
          <a:p>
            <a:pPr>
              <a:defRPr sz="1300">
                <a:solidFill>
                  <a:srgbClr val="475569"/>
                </a:solidFill>
                <a:latin typeface="Consolas"/>
              </a:defRPr>
            </a:pPr>
            <a:r>
              <a:t>{</a:t>
            </a:r>
            <a:br/>
            <a:r>
              <a:t>  _id: ObjectId(...),</a:t>
            </a:r>
            <a:br/>
            <a:r>
              <a:t>  title: "The Matrix",</a:t>
            </a:r>
            <a:br/>
            <a:r>
              <a:t>  year: 1999,</a:t>
            </a:r>
            <a:br/>
            <a:r>
              <a:t>  imdb: { rating: 8.7, votes: 1800000 },</a:t>
            </a:r>
            <a:br/>
            <a:r>
              <a:t>  genres: ["Action", "Sci-Fi"],</a:t>
            </a:r>
            <a:br/>
            <a:r>
              <a:t>  runtime: 136</a:t>
            </a:r>
            <a:br/>
            <a:r>
              <a:t>}</a:t>
            </a:r>
          </a:p>
        </p:txBody>
      </p:sp>
      <p:sp>
        <p:nvSpPr>
          <p:cNvPr id="7" name="Rounded Rectangle 6"/>
          <p:cNvSpPr/>
          <p:nvPr/>
        </p:nvSpPr>
        <p:spPr>
          <a:xfrm>
            <a:off x="4892040" y="1554480"/>
            <a:ext cx="2834640"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0" y="1664208"/>
            <a:ext cx="2560320" cy="228600"/>
          </a:xfrm>
          <a:prstGeom prst="rect">
            <a:avLst/>
          </a:prstGeom>
          <a:noFill/>
        </p:spPr>
        <p:txBody>
          <a:bodyPr wrap="square">
            <a:spAutoFit/>
          </a:bodyPr>
          <a:lstStyle/>
          <a:p>
            <a:pPr algn="l">
              <a:defRPr sz="1700" b="1">
                <a:solidFill>
                  <a:srgbClr val="0D9488"/>
                </a:solidFill>
                <a:latin typeface="Aptos"/>
              </a:defRPr>
            </a:pPr>
            <a:r>
              <a:t>Top-level fields</a:t>
            </a:r>
          </a:p>
        </p:txBody>
      </p:sp>
      <p:sp>
        <p:nvSpPr>
          <p:cNvPr id="9" name="TextBox 8"/>
          <p:cNvSpPr txBox="1"/>
          <p:nvPr/>
        </p:nvSpPr>
        <p:spPr>
          <a:xfrm>
            <a:off x="5038344" y="1938528"/>
            <a:ext cx="2542032" cy="987552"/>
          </a:xfrm>
          <a:prstGeom prst="rect">
            <a:avLst/>
          </a:prstGeom>
          <a:noFill/>
        </p:spPr>
        <p:txBody>
          <a:bodyPr wrap="square">
            <a:normAutofit/>
          </a:bodyPr>
          <a:lstStyle/>
          <a:p>
            <a:pPr>
              <a:defRPr sz="1600">
                <a:solidFill>
                  <a:srgbClr val="475569"/>
                </a:solidFill>
              </a:defRPr>
            </a:pPr>
            <a:r>
              <a:t>`title`</a:t>
            </a:r>
          </a:p>
          <a:p>
            <a:pPr>
              <a:defRPr sz="1600">
                <a:solidFill>
                  <a:srgbClr val="475569"/>
                </a:solidFill>
              </a:defRPr>
            </a:pPr>
            <a:r>
              <a:t>`year`</a:t>
            </a:r>
          </a:p>
          <a:p>
            <a:pPr>
              <a:defRPr sz="1600">
                <a:solidFill>
                  <a:srgbClr val="475569"/>
                </a:solidFill>
              </a:defRPr>
            </a:pPr>
            <a:r>
              <a:t>`runtime`</a:t>
            </a:r>
          </a:p>
        </p:txBody>
      </p:sp>
      <p:sp>
        <p:nvSpPr>
          <p:cNvPr id="10" name="Rounded Rectangle 9"/>
          <p:cNvSpPr/>
          <p:nvPr/>
        </p:nvSpPr>
        <p:spPr>
          <a:xfrm>
            <a:off x="7909560" y="1554480"/>
            <a:ext cx="3291840" cy="14630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0" y="1664208"/>
            <a:ext cx="3017520" cy="228600"/>
          </a:xfrm>
          <a:prstGeom prst="rect">
            <a:avLst/>
          </a:prstGeom>
          <a:noFill/>
        </p:spPr>
        <p:txBody>
          <a:bodyPr wrap="square">
            <a:spAutoFit/>
          </a:bodyPr>
          <a:lstStyle/>
          <a:p>
            <a:pPr algn="l">
              <a:defRPr sz="1700" b="1">
                <a:solidFill>
                  <a:srgbClr val="EA580C"/>
                </a:solidFill>
                <a:latin typeface="Aptos"/>
              </a:defRPr>
            </a:pPr>
            <a:r>
              <a:t>Nested field path</a:t>
            </a:r>
          </a:p>
        </p:txBody>
      </p:sp>
      <p:sp>
        <p:nvSpPr>
          <p:cNvPr id="12" name="TextBox 11"/>
          <p:cNvSpPr txBox="1"/>
          <p:nvPr/>
        </p:nvSpPr>
        <p:spPr>
          <a:xfrm>
            <a:off x="8055864" y="1938528"/>
            <a:ext cx="2999232" cy="987552"/>
          </a:xfrm>
          <a:prstGeom prst="rect">
            <a:avLst/>
          </a:prstGeom>
          <a:noFill/>
        </p:spPr>
        <p:txBody>
          <a:bodyPr wrap="square">
            <a:normAutofit/>
          </a:bodyPr>
          <a:lstStyle/>
          <a:p>
            <a:pPr>
              <a:defRPr sz="1600">
                <a:solidFill>
                  <a:srgbClr val="475569"/>
                </a:solidFill>
              </a:defRPr>
            </a:pPr>
            <a:r>
              <a:t>`imdb.rating` means rating inside the imdb object`</a:t>
            </a:r>
          </a:p>
        </p:txBody>
      </p:sp>
      <p:sp>
        <p:nvSpPr>
          <p:cNvPr id="13" name="Rounded Rectangle 12"/>
          <p:cNvSpPr/>
          <p:nvPr/>
        </p:nvSpPr>
        <p:spPr>
          <a:xfrm>
            <a:off x="4892040" y="3246120"/>
            <a:ext cx="2834640" cy="1463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3355848"/>
            <a:ext cx="2560320" cy="228600"/>
          </a:xfrm>
          <a:prstGeom prst="rect">
            <a:avLst/>
          </a:prstGeom>
          <a:noFill/>
        </p:spPr>
        <p:txBody>
          <a:bodyPr wrap="square">
            <a:spAutoFit/>
          </a:bodyPr>
          <a:lstStyle/>
          <a:p>
            <a:pPr algn="l">
              <a:defRPr sz="1700" b="1">
                <a:solidFill>
                  <a:srgbClr val="7C3AED"/>
                </a:solidFill>
                <a:latin typeface="Aptos"/>
              </a:defRPr>
            </a:pPr>
            <a:r>
              <a:t>Array field</a:t>
            </a:r>
          </a:p>
        </p:txBody>
      </p:sp>
      <p:sp>
        <p:nvSpPr>
          <p:cNvPr id="15" name="TextBox 14"/>
          <p:cNvSpPr txBox="1"/>
          <p:nvPr/>
        </p:nvSpPr>
        <p:spPr>
          <a:xfrm>
            <a:off x="5038344" y="3630168"/>
            <a:ext cx="2542032" cy="987552"/>
          </a:xfrm>
          <a:prstGeom prst="rect">
            <a:avLst/>
          </a:prstGeom>
          <a:noFill/>
        </p:spPr>
        <p:txBody>
          <a:bodyPr wrap="square">
            <a:normAutofit/>
          </a:bodyPr>
          <a:lstStyle/>
          <a:p>
            <a:pPr>
              <a:defRPr sz="1600">
                <a:solidFill>
                  <a:srgbClr val="475569"/>
                </a:solidFill>
              </a:defRPr>
            </a:pPr>
            <a:r>
              <a:t>`genres` stores more than one value in order`</a:t>
            </a:r>
          </a:p>
        </p:txBody>
      </p:sp>
      <p:sp>
        <p:nvSpPr>
          <p:cNvPr id="16" name="Rounded Rectangle 15"/>
          <p:cNvSpPr/>
          <p:nvPr/>
        </p:nvSpPr>
        <p:spPr>
          <a:xfrm>
            <a:off x="7909560" y="3246120"/>
            <a:ext cx="3291840" cy="14630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0" y="3355848"/>
            <a:ext cx="3017520" cy="228600"/>
          </a:xfrm>
          <a:prstGeom prst="rect">
            <a:avLst/>
          </a:prstGeom>
          <a:noFill/>
        </p:spPr>
        <p:txBody>
          <a:bodyPr wrap="square">
            <a:spAutoFit/>
          </a:bodyPr>
          <a:lstStyle/>
          <a:p>
            <a:pPr algn="l">
              <a:defRPr sz="1700" b="1">
                <a:solidFill>
                  <a:srgbClr val="F59E0B"/>
                </a:solidFill>
                <a:latin typeface="Aptos"/>
              </a:defRPr>
            </a:pPr>
            <a:r>
              <a:t>_id</a:t>
            </a:r>
          </a:p>
        </p:txBody>
      </p:sp>
      <p:sp>
        <p:nvSpPr>
          <p:cNvPr id="18" name="TextBox 17"/>
          <p:cNvSpPr txBox="1"/>
          <p:nvPr/>
        </p:nvSpPr>
        <p:spPr>
          <a:xfrm>
            <a:off x="8055864" y="3630168"/>
            <a:ext cx="2999232" cy="987552"/>
          </a:xfrm>
          <a:prstGeom prst="rect">
            <a:avLst/>
          </a:prstGeom>
          <a:noFill/>
        </p:spPr>
        <p:txBody>
          <a:bodyPr wrap="square">
            <a:normAutofit/>
          </a:bodyPr>
          <a:lstStyle/>
          <a:p>
            <a:pPr>
              <a:defRPr sz="1600">
                <a:solidFill>
                  <a:srgbClr val="475569"/>
                </a:solidFill>
              </a:defRPr>
            </a:pPr>
            <a:r>
              <a:t>Every document has a unique `_id` field.`</a:t>
            </a:r>
          </a:p>
        </p:txBody>
      </p:sp>
      <p:sp>
        <p:nvSpPr>
          <p:cNvPr id="19" name="TextBox 18"/>
          <p:cNvSpPr txBox="1"/>
          <p:nvPr/>
        </p:nvSpPr>
        <p:spPr>
          <a:xfrm>
            <a:off x="868680" y="5303520"/>
            <a:ext cx="10332720" cy="411480"/>
          </a:xfrm>
          <a:prstGeom prst="rect">
            <a:avLst/>
          </a:prstGeom>
          <a:noFill/>
        </p:spPr>
        <p:txBody>
          <a:bodyPr wrap="square">
            <a:spAutoFit/>
          </a:bodyPr>
          <a:lstStyle/>
          <a:p>
            <a:pPr algn="ctr">
              <a:defRPr sz="2000" b="0">
                <a:solidFill>
                  <a:srgbClr val="0F172A"/>
                </a:solidFill>
                <a:latin typeface="Aptos"/>
              </a:defRPr>
            </a:pPr>
            <a:r>
              <a:t>Reading documents well is the first step to writing good queries.</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SQL Thinking vs MongoDB Thinking</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Not better or worse: different storage and query mental models</a:t>
            </a:r>
          </a:p>
        </p:txBody>
      </p:sp>
      <p:sp>
        <p:nvSpPr>
          <p:cNvPr id="4" name="Rounded Rectangle 3"/>
          <p:cNvSpPr/>
          <p:nvPr/>
        </p:nvSpPr>
        <p:spPr>
          <a:xfrm>
            <a:off x="685800" y="1645920"/>
            <a:ext cx="5212080" cy="33832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37360"/>
            <a:ext cx="4937760" cy="256032"/>
          </a:xfrm>
          <a:prstGeom prst="rect">
            <a:avLst/>
          </a:prstGeom>
          <a:noFill/>
        </p:spPr>
        <p:txBody>
          <a:bodyPr wrap="square">
            <a:spAutoFit/>
          </a:bodyPr>
          <a:lstStyle/>
          <a:p>
            <a:pPr algn="l">
              <a:defRPr sz="2000" b="1">
                <a:solidFill>
                  <a:srgbClr val="2563EB"/>
                </a:solidFill>
                <a:latin typeface="Aptos"/>
              </a:defRPr>
            </a:pPr>
            <a:r>
              <a:t>Relational instinct</a:t>
            </a:r>
          </a:p>
        </p:txBody>
      </p:sp>
      <p:sp>
        <p:nvSpPr>
          <p:cNvPr id="6" name="TextBox 5"/>
          <p:cNvSpPr txBox="1"/>
          <p:nvPr/>
        </p:nvSpPr>
        <p:spPr>
          <a:xfrm>
            <a:off x="822960" y="2057400"/>
            <a:ext cx="4937760" cy="2880360"/>
          </a:xfrm>
          <a:prstGeom prst="rect">
            <a:avLst/>
          </a:prstGeom>
          <a:noFill/>
        </p:spPr>
        <p:txBody>
          <a:bodyPr wrap="square">
            <a:normAutofit/>
          </a:bodyPr>
          <a:lstStyle/>
          <a:p>
            <a:pPr>
              <a:defRPr sz="1700">
                <a:solidFill>
                  <a:srgbClr val="475569"/>
                </a:solidFill>
              </a:defRPr>
            </a:pPr>
            <a:r>
              <a:t>Start with tables, rows, and normalized relationships. Queries often rebuild the needed shape with joins.</a:t>
            </a:r>
          </a:p>
        </p:txBody>
      </p:sp>
      <p:sp>
        <p:nvSpPr>
          <p:cNvPr id="7" name="Rounded Rectangle 6"/>
          <p:cNvSpPr/>
          <p:nvPr/>
        </p:nvSpPr>
        <p:spPr>
          <a:xfrm>
            <a:off x="6309360" y="1645920"/>
            <a:ext cx="5212080" cy="33832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737360"/>
            <a:ext cx="4937760" cy="256032"/>
          </a:xfrm>
          <a:prstGeom prst="rect">
            <a:avLst/>
          </a:prstGeom>
          <a:noFill/>
        </p:spPr>
        <p:txBody>
          <a:bodyPr wrap="square">
            <a:spAutoFit/>
          </a:bodyPr>
          <a:lstStyle/>
          <a:p>
            <a:pPr algn="l">
              <a:defRPr sz="2000" b="1">
                <a:solidFill>
                  <a:srgbClr val="0D9488"/>
                </a:solidFill>
                <a:latin typeface="Aptos"/>
              </a:defRPr>
            </a:pPr>
            <a:r>
              <a:t>Document instinct</a:t>
            </a:r>
          </a:p>
        </p:txBody>
      </p:sp>
      <p:sp>
        <p:nvSpPr>
          <p:cNvPr id="9" name="TextBox 8"/>
          <p:cNvSpPr txBox="1"/>
          <p:nvPr/>
        </p:nvSpPr>
        <p:spPr>
          <a:xfrm>
            <a:off x="6446520" y="2057400"/>
            <a:ext cx="4937760" cy="2880360"/>
          </a:xfrm>
          <a:prstGeom prst="rect">
            <a:avLst/>
          </a:prstGeom>
          <a:noFill/>
        </p:spPr>
        <p:txBody>
          <a:bodyPr wrap="square">
            <a:normAutofit/>
          </a:bodyPr>
          <a:lstStyle/>
          <a:p>
            <a:pPr>
              <a:defRPr sz="1700">
                <a:solidFill>
                  <a:srgbClr val="475569"/>
                </a:solidFill>
              </a:defRPr>
            </a:pPr>
            <a:r>
              <a:t>Start with the way the application reads and writes data. Store related information together when that improves the common workload.</a:t>
            </a:r>
          </a:p>
        </p:txBody>
      </p:sp>
      <p:sp>
        <p:nvSpPr>
          <p:cNvPr id="10" name="TextBox 9"/>
          <p:cNvSpPr txBox="1"/>
          <p:nvPr/>
        </p:nvSpPr>
        <p:spPr>
          <a:xfrm>
            <a:off x="914400" y="5440680"/>
            <a:ext cx="10058400" cy="411480"/>
          </a:xfrm>
          <a:prstGeom prst="rect">
            <a:avLst/>
          </a:prstGeom>
          <a:noFill/>
        </p:spPr>
        <p:txBody>
          <a:bodyPr wrap="square">
            <a:spAutoFit/>
          </a:bodyPr>
          <a:lstStyle/>
          <a:p>
            <a:pPr algn="ctr">
              <a:defRPr sz="2000" b="1">
                <a:solidFill>
                  <a:srgbClr val="0F172A"/>
                </a:solidFill>
                <a:latin typeface="Aptos"/>
              </a:defRPr>
            </a:pPr>
            <a:r>
              <a:t>Beginner question to ask: what data is usually viewed together?</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The Shape of a Basic find() Query</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Filter first, then optional result shaping</a:t>
            </a:r>
          </a:p>
        </p:txBody>
      </p:sp>
      <p:sp>
        <p:nvSpPr>
          <p:cNvPr id="4" name="Rounded Rectangle 3"/>
          <p:cNvSpPr/>
          <p:nvPr/>
        </p:nvSpPr>
        <p:spPr>
          <a:xfrm>
            <a:off x="777240" y="1508760"/>
            <a:ext cx="4754880" cy="2926080"/>
          </a:xfrm>
          <a:prstGeom prst="roundRect">
            <a:avLst/>
          </a:prstGeom>
          <a:solidFill>
            <a:srgbClr val="F8FA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1618488"/>
            <a:ext cx="4498848" cy="219456"/>
          </a:xfrm>
          <a:prstGeom prst="rect">
            <a:avLst/>
          </a:prstGeom>
          <a:noFill/>
        </p:spPr>
        <p:txBody>
          <a:bodyPr wrap="square">
            <a:spAutoFit/>
          </a:bodyPr>
          <a:lstStyle/>
          <a:p>
            <a:pPr algn="l">
              <a:defRPr sz="1500" b="1">
                <a:solidFill>
                  <a:srgbClr val="0F172A"/>
                </a:solidFill>
                <a:latin typeface="Aptos"/>
              </a:defRPr>
            </a:pPr>
            <a:r>
              <a:t>Example</a:t>
            </a:r>
          </a:p>
        </p:txBody>
      </p:sp>
      <p:sp>
        <p:nvSpPr>
          <p:cNvPr id="6" name="TextBox 5"/>
          <p:cNvSpPr txBox="1"/>
          <p:nvPr/>
        </p:nvSpPr>
        <p:spPr>
          <a:xfrm>
            <a:off x="905256" y="1874520"/>
            <a:ext cx="4498848" cy="2450592"/>
          </a:xfrm>
          <a:prstGeom prst="rect">
            <a:avLst/>
          </a:prstGeom>
          <a:noFill/>
        </p:spPr>
        <p:txBody>
          <a:bodyPr wrap="square">
            <a:normAutofit/>
          </a:bodyPr>
          <a:lstStyle/>
          <a:p>
            <a:pPr>
              <a:defRPr sz="1300">
                <a:solidFill>
                  <a:srgbClr val="475569"/>
                </a:solidFill>
                <a:latin typeface="Consolas"/>
              </a:defRPr>
            </a:pPr>
            <a:r>
              <a:t>db.movies.find(</a:t>
            </a:r>
            <a:br/>
            <a:r>
              <a:t>  { "imdb.rating": { $gte: 8 } },</a:t>
            </a:r>
            <a:br/>
            <a:r>
              <a:t>  { title: 1, year: 1, genres: 1 }</a:t>
            </a:r>
            <a:br/>
            <a:r>
              <a:t>).sort({ year: -1, _id: 1 }).limit(5)</a:t>
            </a:r>
          </a:p>
        </p:txBody>
      </p:sp>
      <p:sp>
        <p:nvSpPr>
          <p:cNvPr id="7" name="Rounded Rectangle 6"/>
          <p:cNvSpPr/>
          <p:nvPr/>
        </p:nvSpPr>
        <p:spPr>
          <a:xfrm>
            <a:off x="5806440" y="1554480"/>
            <a:ext cx="2560320" cy="1188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0" y="1664208"/>
            <a:ext cx="2286000" cy="228600"/>
          </a:xfrm>
          <a:prstGeom prst="rect">
            <a:avLst/>
          </a:prstGeom>
          <a:noFill/>
        </p:spPr>
        <p:txBody>
          <a:bodyPr wrap="square">
            <a:spAutoFit/>
          </a:bodyPr>
          <a:lstStyle/>
          <a:p>
            <a:pPr algn="l">
              <a:defRPr sz="1700" b="1">
                <a:solidFill>
                  <a:srgbClr val="0D9488"/>
                </a:solidFill>
                <a:latin typeface="Aptos"/>
              </a:defRPr>
            </a:pPr>
            <a:r>
              <a:t>Filter</a:t>
            </a:r>
          </a:p>
        </p:txBody>
      </p:sp>
      <p:sp>
        <p:nvSpPr>
          <p:cNvPr id="9" name="TextBox 8"/>
          <p:cNvSpPr txBox="1"/>
          <p:nvPr/>
        </p:nvSpPr>
        <p:spPr>
          <a:xfrm>
            <a:off x="5952744" y="1938528"/>
            <a:ext cx="2267712" cy="713232"/>
          </a:xfrm>
          <a:prstGeom prst="rect">
            <a:avLst/>
          </a:prstGeom>
          <a:noFill/>
        </p:spPr>
        <p:txBody>
          <a:bodyPr wrap="square">
            <a:normAutofit/>
          </a:bodyPr>
          <a:lstStyle/>
          <a:p>
            <a:pPr>
              <a:defRPr sz="1450">
                <a:solidFill>
                  <a:srgbClr val="475569"/>
                </a:solidFill>
              </a:defRPr>
            </a:pPr>
            <a:r>
              <a:t>Which documents match?</a:t>
            </a:r>
          </a:p>
        </p:txBody>
      </p:sp>
      <p:sp>
        <p:nvSpPr>
          <p:cNvPr id="10" name="Rounded Rectangle 9"/>
          <p:cNvSpPr/>
          <p:nvPr/>
        </p:nvSpPr>
        <p:spPr>
          <a:xfrm>
            <a:off x="8549640" y="1554480"/>
            <a:ext cx="2560320" cy="1188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0" y="1664208"/>
            <a:ext cx="2286000" cy="228600"/>
          </a:xfrm>
          <a:prstGeom prst="rect">
            <a:avLst/>
          </a:prstGeom>
          <a:noFill/>
        </p:spPr>
        <p:txBody>
          <a:bodyPr wrap="square">
            <a:spAutoFit/>
          </a:bodyPr>
          <a:lstStyle/>
          <a:p>
            <a:pPr algn="l">
              <a:defRPr sz="1700" b="1">
                <a:solidFill>
                  <a:srgbClr val="EA580C"/>
                </a:solidFill>
                <a:latin typeface="Aptos"/>
              </a:defRPr>
            </a:pPr>
            <a:r>
              <a:t>Projection</a:t>
            </a:r>
          </a:p>
        </p:txBody>
      </p:sp>
      <p:sp>
        <p:nvSpPr>
          <p:cNvPr id="12" name="TextBox 11"/>
          <p:cNvSpPr txBox="1"/>
          <p:nvPr/>
        </p:nvSpPr>
        <p:spPr>
          <a:xfrm>
            <a:off x="8695944" y="1938528"/>
            <a:ext cx="2267712" cy="713232"/>
          </a:xfrm>
          <a:prstGeom prst="rect">
            <a:avLst/>
          </a:prstGeom>
          <a:noFill/>
        </p:spPr>
        <p:txBody>
          <a:bodyPr wrap="square">
            <a:normAutofit/>
          </a:bodyPr>
          <a:lstStyle/>
          <a:p>
            <a:pPr>
              <a:defRPr sz="1450">
                <a:solidFill>
                  <a:srgbClr val="475569"/>
                </a:solidFill>
              </a:defRPr>
            </a:pPr>
            <a:r>
              <a:t>Which fields should be shown?</a:t>
            </a:r>
          </a:p>
        </p:txBody>
      </p:sp>
      <p:sp>
        <p:nvSpPr>
          <p:cNvPr id="13" name="Rounded Rectangle 12"/>
          <p:cNvSpPr/>
          <p:nvPr/>
        </p:nvSpPr>
        <p:spPr>
          <a:xfrm>
            <a:off x="5806440" y="2926080"/>
            <a:ext cx="2560320" cy="1188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0" y="3035808"/>
            <a:ext cx="2286000" cy="228600"/>
          </a:xfrm>
          <a:prstGeom prst="rect">
            <a:avLst/>
          </a:prstGeom>
          <a:noFill/>
        </p:spPr>
        <p:txBody>
          <a:bodyPr wrap="square">
            <a:spAutoFit/>
          </a:bodyPr>
          <a:lstStyle/>
          <a:p>
            <a:pPr algn="l">
              <a:defRPr sz="1700" b="1">
                <a:solidFill>
                  <a:srgbClr val="2563EB"/>
                </a:solidFill>
                <a:latin typeface="Aptos"/>
              </a:defRPr>
            </a:pPr>
            <a:r>
              <a:t>Sort</a:t>
            </a:r>
          </a:p>
        </p:txBody>
      </p:sp>
      <p:sp>
        <p:nvSpPr>
          <p:cNvPr id="15" name="TextBox 14"/>
          <p:cNvSpPr txBox="1"/>
          <p:nvPr/>
        </p:nvSpPr>
        <p:spPr>
          <a:xfrm>
            <a:off x="5952744" y="3310128"/>
            <a:ext cx="2267712" cy="713232"/>
          </a:xfrm>
          <a:prstGeom prst="rect">
            <a:avLst/>
          </a:prstGeom>
          <a:noFill/>
        </p:spPr>
        <p:txBody>
          <a:bodyPr wrap="square">
            <a:normAutofit/>
          </a:bodyPr>
          <a:lstStyle/>
          <a:p>
            <a:pPr>
              <a:defRPr sz="1450">
                <a:solidFill>
                  <a:srgbClr val="475569"/>
                </a:solidFill>
              </a:defRPr>
            </a:pPr>
            <a:r>
              <a:t>In what order should results appear?</a:t>
            </a:r>
          </a:p>
        </p:txBody>
      </p:sp>
      <p:sp>
        <p:nvSpPr>
          <p:cNvPr id="16" name="Rounded Rectangle 15"/>
          <p:cNvSpPr/>
          <p:nvPr/>
        </p:nvSpPr>
        <p:spPr>
          <a:xfrm>
            <a:off x="8549640" y="2926080"/>
            <a:ext cx="2560320" cy="11887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0" y="3035808"/>
            <a:ext cx="2286000" cy="228600"/>
          </a:xfrm>
          <a:prstGeom prst="rect">
            <a:avLst/>
          </a:prstGeom>
          <a:noFill/>
        </p:spPr>
        <p:txBody>
          <a:bodyPr wrap="square">
            <a:spAutoFit/>
          </a:bodyPr>
          <a:lstStyle/>
          <a:p>
            <a:pPr algn="l">
              <a:defRPr sz="1700" b="1">
                <a:solidFill>
                  <a:srgbClr val="F59E0B"/>
                </a:solidFill>
                <a:latin typeface="Aptos"/>
              </a:defRPr>
            </a:pPr>
            <a:r>
              <a:t>Limit</a:t>
            </a:r>
          </a:p>
        </p:txBody>
      </p:sp>
      <p:sp>
        <p:nvSpPr>
          <p:cNvPr id="18" name="TextBox 17"/>
          <p:cNvSpPr txBox="1"/>
          <p:nvPr/>
        </p:nvSpPr>
        <p:spPr>
          <a:xfrm>
            <a:off x="8695944" y="3310128"/>
            <a:ext cx="2267712" cy="713232"/>
          </a:xfrm>
          <a:prstGeom prst="rect">
            <a:avLst/>
          </a:prstGeom>
          <a:noFill/>
        </p:spPr>
        <p:txBody>
          <a:bodyPr wrap="square">
            <a:normAutofit/>
          </a:bodyPr>
          <a:lstStyle/>
          <a:p>
            <a:pPr>
              <a:defRPr sz="1450">
                <a:solidFill>
                  <a:srgbClr val="475569"/>
                </a:solidFill>
              </a:defRPr>
            </a:pPr>
            <a:r>
              <a:t>How many results do we really need?</a:t>
            </a:r>
          </a:p>
        </p:txBody>
      </p:sp>
      <p:sp>
        <p:nvSpPr>
          <p:cNvPr id="19" name="TextBox 18"/>
          <p:cNvSpPr txBox="1"/>
          <p:nvPr/>
        </p:nvSpPr>
        <p:spPr>
          <a:xfrm>
            <a:off x="822960" y="4983480"/>
            <a:ext cx="10332720" cy="502920"/>
          </a:xfrm>
          <a:prstGeom prst="rect">
            <a:avLst/>
          </a:prstGeom>
          <a:noFill/>
        </p:spPr>
        <p:txBody>
          <a:bodyPr wrap="square">
            <a:spAutoFit/>
          </a:bodyPr>
          <a:lstStyle/>
          <a:p>
            <a:pPr algn="ctr">
              <a:defRPr sz="1800" b="0">
                <a:solidFill>
                  <a:srgbClr val="0F172A"/>
                </a:solidFill>
                <a:latin typeface="Aptos"/>
              </a:defRPr>
            </a:pPr>
            <a:r>
              <a:t>High-level reading: find documents where rating is at least 8, show only a few fields, order newest first, and keep only 5 results.</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Beginner MQL Filters You Need First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Equality, comparison, and one logical operator go a long way</a:t>
            </a:r>
          </a:p>
        </p:txBody>
      </p:sp>
      <p:sp>
        <p:nvSpPr>
          <p:cNvPr id="4" name="Rounded Rectangle 3"/>
          <p:cNvSpPr/>
          <p:nvPr/>
        </p:nvSpPr>
        <p:spPr>
          <a:xfrm>
            <a:off x="731520" y="1463040"/>
            <a:ext cx="3566160" cy="137160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572768"/>
            <a:ext cx="3310128" cy="219456"/>
          </a:xfrm>
          <a:prstGeom prst="rect">
            <a:avLst/>
          </a:prstGeom>
          <a:noFill/>
        </p:spPr>
        <p:txBody>
          <a:bodyPr wrap="square">
            <a:spAutoFit/>
          </a:bodyPr>
          <a:lstStyle/>
          <a:p>
            <a:pPr algn="l">
              <a:defRPr sz="1500" b="1">
                <a:solidFill>
                  <a:srgbClr val="2563EB"/>
                </a:solidFill>
                <a:latin typeface="Aptos"/>
              </a:defRPr>
            </a:pPr>
            <a:r>
              <a:t>Equality</a:t>
            </a:r>
          </a:p>
        </p:txBody>
      </p:sp>
      <p:sp>
        <p:nvSpPr>
          <p:cNvPr id="6" name="TextBox 5"/>
          <p:cNvSpPr txBox="1"/>
          <p:nvPr/>
        </p:nvSpPr>
        <p:spPr>
          <a:xfrm>
            <a:off x="859536" y="1828800"/>
            <a:ext cx="3310128" cy="896112"/>
          </a:xfrm>
          <a:prstGeom prst="rect">
            <a:avLst/>
          </a:prstGeom>
          <a:noFill/>
        </p:spPr>
        <p:txBody>
          <a:bodyPr wrap="square">
            <a:normAutofit/>
          </a:bodyPr>
          <a:lstStyle/>
          <a:p>
            <a:pPr>
              <a:defRPr sz="1300">
                <a:solidFill>
                  <a:srgbClr val="475569"/>
                </a:solidFill>
                <a:latin typeface="Consolas"/>
              </a:defRPr>
            </a:pPr>
            <a:r>
              <a:t>{ title: "The Matrix" }</a:t>
            </a:r>
          </a:p>
        </p:txBody>
      </p:sp>
      <p:sp>
        <p:nvSpPr>
          <p:cNvPr id="7" name="Rounded Rectangle 6"/>
          <p:cNvSpPr/>
          <p:nvPr/>
        </p:nvSpPr>
        <p:spPr>
          <a:xfrm>
            <a:off x="4526280" y="1463040"/>
            <a:ext cx="3566160" cy="137160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54296" y="1572768"/>
            <a:ext cx="3310128" cy="219456"/>
          </a:xfrm>
          <a:prstGeom prst="rect">
            <a:avLst/>
          </a:prstGeom>
          <a:noFill/>
        </p:spPr>
        <p:txBody>
          <a:bodyPr wrap="square">
            <a:spAutoFit/>
          </a:bodyPr>
          <a:lstStyle/>
          <a:p>
            <a:pPr algn="l">
              <a:defRPr sz="1500" b="1">
                <a:solidFill>
                  <a:srgbClr val="0D9488"/>
                </a:solidFill>
                <a:latin typeface="Aptos"/>
              </a:defRPr>
            </a:pPr>
            <a:r>
              <a:t>Comparison</a:t>
            </a:r>
          </a:p>
        </p:txBody>
      </p:sp>
      <p:sp>
        <p:nvSpPr>
          <p:cNvPr id="9" name="TextBox 8"/>
          <p:cNvSpPr txBox="1"/>
          <p:nvPr/>
        </p:nvSpPr>
        <p:spPr>
          <a:xfrm>
            <a:off x="4654296" y="1828800"/>
            <a:ext cx="3310128" cy="896112"/>
          </a:xfrm>
          <a:prstGeom prst="rect">
            <a:avLst/>
          </a:prstGeom>
          <a:noFill/>
        </p:spPr>
        <p:txBody>
          <a:bodyPr wrap="square">
            <a:normAutofit/>
          </a:bodyPr>
          <a:lstStyle/>
          <a:p>
            <a:pPr>
              <a:defRPr sz="1300">
                <a:solidFill>
                  <a:srgbClr val="475569"/>
                </a:solidFill>
                <a:latin typeface="Consolas"/>
              </a:defRPr>
            </a:pPr>
            <a:r>
              <a:t>{ "imdb.rating": { $gte: 8 } }</a:t>
            </a:r>
          </a:p>
        </p:txBody>
      </p:sp>
      <p:sp>
        <p:nvSpPr>
          <p:cNvPr id="10" name="Rounded Rectangle 9"/>
          <p:cNvSpPr/>
          <p:nvPr/>
        </p:nvSpPr>
        <p:spPr>
          <a:xfrm>
            <a:off x="8321040" y="1463040"/>
            <a:ext cx="3108960" cy="137160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49056" y="1572768"/>
            <a:ext cx="2852928" cy="219456"/>
          </a:xfrm>
          <a:prstGeom prst="rect">
            <a:avLst/>
          </a:prstGeom>
          <a:noFill/>
        </p:spPr>
        <p:txBody>
          <a:bodyPr wrap="square">
            <a:spAutoFit/>
          </a:bodyPr>
          <a:lstStyle/>
          <a:p>
            <a:pPr algn="l">
              <a:defRPr sz="1500" b="1">
                <a:solidFill>
                  <a:srgbClr val="EA580C"/>
                </a:solidFill>
                <a:latin typeface="Aptos"/>
              </a:defRPr>
            </a:pPr>
            <a:r>
              <a:t>Logical</a:t>
            </a:r>
          </a:p>
        </p:txBody>
      </p:sp>
      <p:sp>
        <p:nvSpPr>
          <p:cNvPr id="12" name="TextBox 11"/>
          <p:cNvSpPr txBox="1"/>
          <p:nvPr/>
        </p:nvSpPr>
        <p:spPr>
          <a:xfrm>
            <a:off x="8449056" y="1828800"/>
            <a:ext cx="2852928" cy="896112"/>
          </a:xfrm>
          <a:prstGeom prst="rect">
            <a:avLst/>
          </a:prstGeom>
          <a:noFill/>
        </p:spPr>
        <p:txBody>
          <a:bodyPr wrap="square">
            <a:normAutofit/>
          </a:bodyPr>
          <a:lstStyle/>
          <a:p>
            <a:pPr>
              <a:defRPr sz="1300">
                <a:solidFill>
                  <a:srgbClr val="475569"/>
                </a:solidFill>
                <a:latin typeface="Consolas"/>
              </a:defRPr>
            </a:pPr>
            <a:r>
              <a:t>{ $or: [ ... ] }</a:t>
            </a:r>
          </a:p>
        </p:txBody>
      </p:sp>
      <p:sp>
        <p:nvSpPr>
          <p:cNvPr id="13" name="Rounded Rectangle 12"/>
          <p:cNvSpPr/>
          <p:nvPr/>
        </p:nvSpPr>
        <p:spPr>
          <a:xfrm>
            <a:off x="822960" y="3246120"/>
            <a:ext cx="3383280" cy="18288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355848"/>
            <a:ext cx="3108960" cy="228600"/>
          </a:xfrm>
          <a:prstGeom prst="rect">
            <a:avLst/>
          </a:prstGeom>
          <a:noFill/>
        </p:spPr>
        <p:txBody>
          <a:bodyPr wrap="square">
            <a:spAutoFit/>
          </a:bodyPr>
          <a:lstStyle/>
          <a:p>
            <a:pPr algn="l">
              <a:defRPr sz="1700" b="1">
                <a:solidFill>
                  <a:srgbClr val="0D9488"/>
                </a:solidFill>
                <a:latin typeface="Aptos"/>
              </a:defRPr>
            </a:pPr>
            <a:r>
              <a:t>Comparison operators</a:t>
            </a:r>
          </a:p>
        </p:txBody>
      </p:sp>
      <p:sp>
        <p:nvSpPr>
          <p:cNvPr id="15" name="TextBox 14"/>
          <p:cNvSpPr txBox="1"/>
          <p:nvPr/>
        </p:nvSpPr>
        <p:spPr>
          <a:xfrm>
            <a:off x="969264" y="3630168"/>
            <a:ext cx="3090672" cy="1353312"/>
          </a:xfrm>
          <a:prstGeom prst="rect">
            <a:avLst/>
          </a:prstGeom>
          <a:noFill/>
        </p:spPr>
        <p:txBody>
          <a:bodyPr wrap="square">
            <a:normAutofit/>
          </a:bodyPr>
          <a:lstStyle/>
          <a:p>
            <a:pPr>
              <a:defRPr sz="1450">
                <a:solidFill>
                  <a:srgbClr val="475569"/>
                </a:solidFill>
              </a:defRPr>
            </a:pPr>
            <a:r>
              <a:t>`$gt` greater than</a:t>
            </a:r>
          </a:p>
          <a:p>
            <a:pPr>
              <a:defRPr sz="1450">
                <a:solidFill>
                  <a:srgbClr val="475569"/>
                </a:solidFill>
              </a:defRPr>
            </a:pPr>
            <a:r>
              <a:t>`$gte` greater than or equal to</a:t>
            </a:r>
          </a:p>
          <a:p>
            <a:pPr>
              <a:defRPr sz="1450">
                <a:solidFill>
                  <a:srgbClr val="475569"/>
                </a:solidFill>
              </a:defRPr>
            </a:pPr>
            <a:r>
              <a:t>`$lt` less than</a:t>
            </a:r>
          </a:p>
          <a:p>
            <a:pPr>
              <a:defRPr sz="1450">
                <a:solidFill>
                  <a:srgbClr val="475569"/>
                </a:solidFill>
              </a:defRPr>
            </a:pPr>
            <a:r>
              <a:t>`$lte` less than or equal to</a:t>
            </a:r>
          </a:p>
        </p:txBody>
      </p:sp>
      <p:sp>
        <p:nvSpPr>
          <p:cNvPr id="16" name="Rounded Rectangle 15"/>
          <p:cNvSpPr/>
          <p:nvPr/>
        </p:nvSpPr>
        <p:spPr>
          <a:xfrm>
            <a:off x="4434840" y="3246120"/>
            <a:ext cx="3383280" cy="182880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3355848"/>
            <a:ext cx="3108960" cy="228600"/>
          </a:xfrm>
          <a:prstGeom prst="rect">
            <a:avLst/>
          </a:prstGeom>
          <a:noFill/>
        </p:spPr>
        <p:txBody>
          <a:bodyPr wrap="square">
            <a:spAutoFit/>
          </a:bodyPr>
          <a:lstStyle/>
          <a:p>
            <a:pPr algn="l">
              <a:defRPr sz="1700" b="1">
                <a:solidFill>
                  <a:srgbClr val="EA580C"/>
                </a:solidFill>
                <a:latin typeface="Aptos"/>
              </a:defRPr>
            </a:pPr>
            <a:r>
              <a:t>Logical operators</a:t>
            </a:r>
          </a:p>
        </p:txBody>
      </p:sp>
      <p:sp>
        <p:nvSpPr>
          <p:cNvPr id="18" name="TextBox 17"/>
          <p:cNvSpPr txBox="1"/>
          <p:nvPr/>
        </p:nvSpPr>
        <p:spPr>
          <a:xfrm>
            <a:off x="4581144" y="3630168"/>
            <a:ext cx="3090672" cy="1353312"/>
          </a:xfrm>
          <a:prstGeom prst="rect">
            <a:avLst/>
          </a:prstGeom>
          <a:noFill/>
        </p:spPr>
        <p:txBody>
          <a:bodyPr wrap="square">
            <a:normAutofit/>
          </a:bodyPr>
          <a:lstStyle/>
          <a:p>
            <a:pPr>
              <a:defRPr sz="1450">
                <a:solidFill>
                  <a:srgbClr val="475569"/>
                </a:solidFill>
              </a:defRPr>
            </a:pPr>
            <a:r>
              <a:t>`$and` all conditions must be true</a:t>
            </a:r>
          </a:p>
          <a:p>
            <a:pPr>
              <a:defRPr sz="1450">
                <a:solidFill>
                  <a:srgbClr val="475569"/>
                </a:solidFill>
              </a:defRPr>
            </a:pPr>
            <a:r>
              <a:t>`$or` at least one condition must be true</a:t>
            </a:r>
          </a:p>
        </p:txBody>
      </p:sp>
      <p:sp>
        <p:nvSpPr>
          <p:cNvPr id="19" name="Rounded Rectangle 18"/>
          <p:cNvSpPr/>
          <p:nvPr/>
        </p:nvSpPr>
        <p:spPr>
          <a:xfrm>
            <a:off x="8046720" y="3246120"/>
            <a:ext cx="3383280" cy="18288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83880" y="3355848"/>
            <a:ext cx="3108960" cy="228600"/>
          </a:xfrm>
          <a:prstGeom prst="rect">
            <a:avLst/>
          </a:prstGeom>
          <a:noFill/>
        </p:spPr>
        <p:txBody>
          <a:bodyPr wrap="square">
            <a:spAutoFit/>
          </a:bodyPr>
          <a:lstStyle/>
          <a:p>
            <a:pPr algn="l">
              <a:defRPr sz="1700" b="1">
                <a:solidFill>
                  <a:srgbClr val="F59E0B"/>
                </a:solidFill>
                <a:latin typeface="Aptos"/>
              </a:defRPr>
            </a:pPr>
            <a:r>
              <a:t>Teacher shortcut</a:t>
            </a:r>
          </a:p>
        </p:txBody>
      </p:sp>
      <p:sp>
        <p:nvSpPr>
          <p:cNvPr id="21" name="TextBox 20"/>
          <p:cNvSpPr txBox="1"/>
          <p:nvPr/>
        </p:nvSpPr>
        <p:spPr>
          <a:xfrm>
            <a:off x="8193024" y="3630168"/>
            <a:ext cx="3090672" cy="1353312"/>
          </a:xfrm>
          <a:prstGeom prst="rect">
            <a:avLst/>
          </a:prstGeom>
          <a:noFill/>
        </p:spPr>
        <p:txBody>
          <a:bodyPr wrap="square">
            <a:normAutofit/>
          </a:bodyPr>
          <a:lstStyle/>
          <a:p>
            <a:pPr>
              <a:defRPr sz="1450">
                <a:solidFill>
                  <a:srgbClr val="475569"/>
                </a:solidFill>
              </a:defRPr>
            </a:pPr>
            <a:r>
              <a:t>Have students translate each filter into a full English sentence.</a:t>
            </a:r>
          </a:p>
        </p:txBody>
      </p:sp>
      <p:cxnSp>
        <p:nvCxnSpPr>
          <p:cNvPr id="22" name="Connector 21"/>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Nested Fields and Arrays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Dot notation and simple array matching are essential MongoDB skills</a:t>
            </a:r>
          </a:p>
        </p:txBody>
      </p:sp>
      <p:sp>
        <p:nvSpPr>
          <p:cNvPr id="4" name="Rounded Rectangle 3"/>
          <p:cNvSpPr/>
          <p:nvPr/>
        </p:nvSpPr>
        <p:spPr>
          <a:xfrm>
            <a:off x="777240" y="1600200"/>
            <a:ext cx="3657600" cy="137160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05256" y="1709928"/>
            <a:ext cx="3401568" cy="219456"/>
          </a:xfrm>
          <a:prstGeom prst="rect">
            <a:avLst/>
          </a:prstGeom>
          <a:noFill/>
        </p:spPr>
        <p:txBody>
          <a:bodyPr wrap="square">
            <a:spAutoFit/>
          </a:bodyPr>
          <a:lstStyle/>
          <a:p>
            <a:pPr algn="l">
              <a:defRPr sz="1500" b="1">
                <a:solidFill>
                  <a:srgbClr val="0D9488"/>
                </a:solidFill>
                <a:latin typeface="Aptos"/>
              </a:defRPr>
            </a:pPr>
            <a:r>
              <a:t>Nested field with dot notation</a:t>
            </a:r>
          </a:p>
        </p:txBody>
      </p:sp>
      <p:sp>
        <p:nvSpPr>
          <p:cNvPr id="6" name="TextBox 5"/>
          <p:cNvSpPr txBox="1"/>
          <p:nvPr/>
        </p:nvSpPr>
        <p:spPr>
          <a:xfrm>
            <a:off x="905256" y="1965960"/>
            <a:ext cx="3401568" cy="896112"/>
          </a:xfrm>
          <a:prstGeom prst="rect">
            <a:avLst/>
          </a:prstGeom>
          <a:noFill/>
        </p:spPr>
        <p:txBody>
          <a:bodyPr wrap="square">
            <a:normAutofit/>
          </a:bodyPr>
          <a:lstStyle/>
          <a:p>
            <a:pPr>
              <a:defRPr sz="1300">
                <a:solidFill>
                  <a:srgbClr val="475569"/>
                </a:solidFill>
                <a:latin typeface="Consolas"/>
              </a:defRPr>
            </a:pPr>
            <a:r>
              <a:t>{ "imdb.rating": { $gte: 8 } }</a:t>
            </a:r>
          </a:p>
        </p:txBody>
      </p:sp>
      <p:sp>
        <p:nvSpPr>
          <p:cNvPr id="7" name="Rounded Rectangle 6"/>
          <p:cNvSpPr/>
          <p:nvPr/>
        </p:nvSpPr>
        <p:spPr>
          <a:xfrm>
            <a:off x="777240" y="3154680"/>
            <a:ext cx="3657600" cy="1371600"/>
          </a:xfrm>
          <a:prstGeom prst="roundRect">
            <a:avLst/>
          </a:prstGeom>
          <a:solidFill>
            <a:srgbClr val="F8FA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3264408"/>
            <a:ext cx="3401568" cy="219456"/>
          </a:xfrm>
          <a:prstGeom prst="rect">
            <a:avLst/>
          </a:prstGeom>
          <a:noFill/>
        </p:spPr>
        <p:txBody>
          <a:bodyPr wrap="square">
            <a:spAutoFit/>
          </a:bodyPr>
          <a:lstStyle/>
          <a:p>
            <a:pPr algn="l">
              <a:defRPr sz="1500" b="1">
                <a:solidFill>
                  <a:srgbClr val="7C3AED"/>
                </a:solidFill>
                <a:latin typeface="Aptos"/>
              </a:defRPr>
            </a:pPr>
            <a:r>
              <a:t>Array contains a value</a:t>
            </a:r>
          </a:p>
        </p:txBody>
      </p:sp>
      <p:sp>
        <p:nvSpPr>
          <p:cNvPr id="9" name="TextBox 8"/>
          <p:cNvSpPr txBox="1"/>
          <p:nvPr/>
        </p:nvSpPr>
        <p:spPr>
          <a:xfrm>
            <a:off x="905256" y="3520440"/>
            <a:ext cx="3401568" cy="896112"/>
          </a:xfrm>
          <a:prstGeom prst="rect">
            <a:avLst/>
          </a:prstGeom>
          <a:noFill/>
        </p:spPr>
        <p:txBody>
          <a:bodyPr wrap="square">
            <a:normAutofit/>
          </a:bodyPr>
          <a:lstStyle/>
          <a:p>
            <a:pPr>
              <a:defRPr sz="1300">
                <a:solidFill>
                  <a:srgbClr val="475569"/>
                </a:solidFill>
                <a:latin typeface="Consolas"/>
              </a:defRPr>
            </a:pPr>
            <a:r>
              <a:t>{ genres: "Drama" }</a:t>
            </a:r>
          </a:p>
        </p:txBody>
      </p:sp>
      <p:sp>
        <p:nvSpPr>
          <p:cNvPr id="10" name="Rounded Rectangle 9"/>
          <p:cNvSpPr/>
          <p:nvPr/>
        </p:nvSpPr>
        <p:spPr>
          <a:xfrm>
            <a:off x="4709160" y="1600200"/>
            <a:ext cx="6492240" cy="29260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37176" y="1709928"/>
            <a:ext cx="6236208" cy="219456"/>
          </a:xfrm>
          <a:prstGeom prst="rect">
            <a:avLst/>
          </a:prstGeom>
          <a:noFill/>
        </p:spPr>
        <p:txBody>
          <a:bodyPr wrap="square">
            <a:spAutoFit/>
          </a:bodyPr>
          <a:lstStyle/>
          <a:p>
            <a:pPr algn="l">
              <a:defRPr sz="1500" b="1">
                <a:solidFill>
                  <a:srgbClr val="EA580C"/>
                </a:solidFill>
                <a:latin typeface="Aptos"/>
              </a:defRPr>
            </a:pPr>
            <a:r>
              <a:t>Array of embedded documents</a:t>
            </a:r>
          </a:p>
        </p:txBody>
      </p:sp>
      <p:sp>
        <p:nvSpPr>
          <p:cNvPr id="12" name="TextBox 11"/>
          <p:cNvSpPr txBox="1"/>
          <p:nvPr/>
        </p:nvSpPr>
        <p:spPr>
          <a:xfrm>
            <a:off x="4837176" y="1965960"/>
            <a:ext cx="6236208" cy="2450592"/>
          </a:xfrm>
          <a:prstGeom prst="rect">
            <a:avLst/>
          </a:prstGeom>
          <a:noFill/>
        </p:spPr>
        <p:txBody>
          <a:bodyPr wrap="square">
            <a:normAutofit/>
          </a:bodyPr>
          <a:lstStyle/>
          <a:p>
            <a:pPr>
              <a:defRPr sz="1300">
                <a:solidFill>
                  <a:srgbClr val="475569"/>
                </a:solidFill>
                <a:latin typeface="Consolas"/>
              </a:defRPr>
            </a:pPr>
            <a:r>
              <a:t>{</a:t>
            </a:r>
            <a:br/>
            <a:r>
              <a:t>  items: {</a:t>
            </a:r>
            <a:br/>
            <a:r>
              <a:t>    $elemMatch: { name: "laptop", quantity: { $gte: 1 } }</a:t>
            </a:r>
            <a:br/>
            <a:r>
              <a:t>  }</a:t>
            </a:r>
            <a:br/>
            <a:r>
              <a:t>}</a:t>
            </a:r>
          </a:p>
        </p:txBody>
      </p:sp>
      <p:sp>
        <p:nvSpPr>
          <p:cNvPr id="13" name="TextBox 12"/>
          <p:cNvSpPr txBox="1"/>
          <p:nvPr/>
        </p:nvSpPr>
        <p:spPr>
          <a:xfrm>
            <a:off x="4846320" y="4800600"/>
            <a:ext cx="6126480" cy="502920"/>
          </a:xfrm>
          <a:prstGeom prst="rect">
            <a:avLst/>
          </a:prstGeom>
          <a:noFill/>
        </p:spPr>
        <p:txBody>
          <a:bodyPr wrap="square">
            <a:spAutoFit/>
          </a:bodyPr>
          <a:lstStyle/>
          <a:p>
            <a:pPr algn="l">
              <a:defRPr sz="1800" b="0">
                <a:solidFill>
                  <a:srgbClr val="0F172A"/>
                </a:solidFill>
                <a:latin typeface="Aptos"/>
              </a:defRPr>
            </a:pPr>
            <a:r>
              <a:t>`$elemMatch` is useful when one array element must satisfy multiple conditions together.</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Projection, Sort, and Limit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These shape the answer without changing the stored data</a:t>
            </a:r>
          </a:p>
        </p:txBody>
      </p:sp>
      <p:sp>
        <p:nvSpPr>
          <p:cNvPr id="4" name="Rounded Rectangle 3"/>
          <p:cNvSpPr/>
          <p:nvPr/>
        </p:nvSpPr>
        <p:spPr>
          <a:xfrm>
            <a:off x="731520" y="1554480"/>
            <a:ext cx="3474720" cy="128016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664208"/>
            <a:ext cx="3218688" cy="219456"/>
          </a:xfrm>
          <a:prstGeom prst="rect">
            <a:avLst/>
          </a:prstGeom>
          <a:noFill/>
        </p:spPr>
        <p:txBody>
          <a:bodyPr wrap="square">
            <a:spAutoFit/>
          </a:bodyPr>
          <a:lstStyle/>
          <a:p>
            <a:pPr algn="l">
              <a:defRPr sz="1500" b="1">
                <a:solidFill>
                  <a:srgbClr val="2563EB"/>
                </a:solidFill>
                <a:latin typeface="Aptos"/>
              </a:defRPr>
            </a:pPr>
            <a:r>
              <a:t>Projection</a:t>
            </a:r>
          </a:p>
        </p:txBody>
      </p:sp>
      <p:sp>
        <p:nvSpPr>
          <p:cNvPr id="6" name="TextBox 5"/>
          <p:cNvSpPr txBox="1"/>
          <p:nvPr/>
        </p:nvSpPr>
        <p:spPr>
          <a:xfrm>
            <a:off x="859536" y="1920240"/>
            <a:ext cx="3218688" cy="804672"/>
          </a:xfrm>
          <a:prstGeom prst="rect">
            <a:avLst/>
          </a:prstGeom>
          <a:noFill/>
        </p:spPr>
        <p:txBody>
          <a:bodyPr wrap="square">
            <a:normAutofit/>
          </a:bodyPr>
          <a:lstStyle/>
          <a:p>
            <a:pPr>
              <a:defRPr sz="1300">
                <a:solidFill>
                  <a:srgbClr val="475569"/>
                </a:solidFill>
                <a:latin typeface="Consolas"/>
              </a:defRPr>
            </a:pPr>
            <a:r>
              <a:t>{ title: 1, year: 1, genres: 1 }</a:t>
            </a:r>
          </a:p>
        </p:txBody>
      </p:sp>
      <p:sp>
        <p:nvSpPr>
          <p:cNvPr id="7" name="Rounded Rectangle 6"/>
          <p:cNvSpPr/>
          <p:nvPr/>
        </p:nvSpPr>
        <p:spPr>
          <a:xfrm>
            <a:off x="4389120" y="1554480"/>
            <a:ext cx="3474720" cy="128016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6" y="1664208"/>
            <a:ext cx="3218688" cy="219456"/>
          </a:xfrm>
          <a:prstGeom prst="rect">
            <a:avLst/>
          </a:prstGeom>
          <a:noFill/>
        </p:spPr>
        <p:txBody>
          <a:bodyPr wrap="square">
            <a:spAutoFit/>
          </a:bodyPr>
          <a:lstStyle/>
          <a:p>
            <a:pPr algn="l">
              <a:defRPr sz="1500" b="1">
                <a:solidFill>
                  <a:srgbClr val="0D9488"/>
                </a:solidFill>
                <a:latin typeface="Aptos"/>
              </a:defRPr>
            </a:pPr>
            <a:r>
              <a:t>Sort</a:t>
            </a:r>
          </a:p>
        </p:txBody>
      </p:sp>
      <p:sp>
        <p:nvSpPr>
          <p:cNvPr id="9" name="TextBox 8"/>
          <p:cNvSpPr txBox="1"/>
          <p:nvPr/>
        </p:nvSpPr>
        <p:spPr>
          <a:xfrm>
            <a:off x="4517136" y="1920240"/>
            <a:ext cx="3218688" cy="804672"/>
          </a:xfrm>
          <a:prstGeom prst="rect">
            <a:avLst/>
          </a:prstGeom>
          <a:noFill/>
        </p:spPr>
        <p:txBody>
          <a:bodyPr wrap="square">
            <a:normAutofit/>
          </a:bodyPr>
          <a:lstStyle/>
          <a:p>
            <a:pPr>
              <a:defRPr sz="1300">
                <a:solidFill>
                  <a:srgbClr val="475569"/>
                </a:solidFill>
                <a:latin typeface="Consolas"/>
              </a:defRPr>
            </a:pPr>
            <a:r>
              <a:t>.sort({ year: -1, _id: 1 })</a:t>
            </a:r>
          </a:p>
        </p:txBody>
      </p:sp>
      <p:sp>
        <p:nvSpPr>
          <p:cNvPr id="10" name="Rounded Rectangle 9"/>
          <p:cNvSpPr/>
          <p:nvPr/>
        </p:nvSpPr>
        <p:spPr>
          <a:xfrm>
            <a:off x="8046720" y="1554480"/>
            <a:ext cx="3474720" cy="1280160"/>
          </a:xfrm>
          <a:prstGeom prst="roundRect">
            <a:avLst/>
          </a:prstGeom>
          <a:solidFill>
            <a:srgbClr val="F8FA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1664208"/>
            <a:ext cx="3218688" cy="219456"/>
          </a:xfrm>
          <a:prstGeom prst="rect">
            <a:avLst/>
          </a:prstGeom>
          <a:noFill/>
        </p:spPr>
        <p:txBody>
          <a:bodyPr wrap="square">
            <a:spAutoFit/>
          </a:bodyPr>
          <a:lstStyle/>
          <a:p>
            <a:pPr algn="l">
              <a:defRPr sz="1500" b="1">
                <a:solidFill>
                  <a:srgbClr val="F59E0B"/>
                </a:solidFill>
                <a:latin typeface="Aptos"/>
              </a:defRPr>
            </a:pPr>
            <a:r>
              <a:t>Limit</a:t>
            </a:r>
          </a:p>
        </p:txBody>
      </p:sp>
      <p:sp>
        <p:nvSpPr>
          <p:cNvPr id="12" name="TextBox 11"/>
          <p:cNvSpPr txBox="1"/>
          <p:nvPr/>
        </p:nvSpPr>
        <p:spPr>
          <a:xfrm>
            <a:off x="8174736" y="1920240"/>
            <a:ext cx="3218688" cy="804672"/>
          </a:xfrm>
          <a:prstGeom prst="rect">
            <a:avLst/>
          </a:prstGeom>
          <a:noFill/>
        </p:spPr>
        <p:txBody>
          <a:bodyPr wrap="square">
            <a:normAutofit/>
          </a:bodyPr>
          <a:lstStyle/>
          <a:p>
            <a:pPr>
              <a:defRPr sz="1300">
                <a:solidFill>
                  <a:srgbClr val="475569"/>
                </a:solidFill>
                <a:latin typeface="Consolas"/>
              </a:defRPr>
            </a:pPr>
            <a:r>
              <a:t>.limit(5)</a:t>
            </a:r>
          </a:p>
        </p:txBody>
      </p:sp>
      <p:sp>
        <p:nvSpPr>
          <p:cNvPr id="13" name="Rounded Rectangle 12"/>
          <p:cNvSpPr/>
          <p:nvPr/>
        </p:nvSpPr>
        <p:spPr>
          <a:xfrm>
            <a:off x="914400" y="3246120"/>
            <a:ext cx="3108960" cy="1828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355848"/>
            <a:ext cx="2834640" cy="228600"/>
          </a:xfrm>
          <a:prstGeom prst="rect">
            <a:avLst/>
          </a:prstGeom>
          <a:noFill/>
        </p:spPr>
        <p:txBody>
          <a:bodyPr wrap="square">
            <a:spAutoFit/>
          </a:bodyPr>
          <a:lstStyle/>
          <a:p>
            <a:pPr algn="l">
              <a:defRPr sz="1700" b="1">
                <a:solidFill>
                  <a:srgbClr val="2563EB"/>
                </a:solidFill>
                <a:latin typeface="Aptos"/>
              </a:defRPr>
            </a:pPr>
            <a:r>
              <a:t>Projection means</a:t>
            </a:r>
          </a:p>
        </p:txBody>
      </p:sp>
      <p:sp>
        <p:nvSpPr>
          <p:cNvPr id="15" name="TextBox 14"/>
          <p:cNvSpPr txBox="1"/>
          <p:nvPr/>
        </p:nvSpPr>
        <p:spPr>
          <a:xfrm>
            <a:off x="1060704" y="3630168"/>
            <a:ext cx="2816352" cy="1353312"/>
          </a:xfrm>
          <a:prstGeom prst="rect">
            <a:avLst/>
          </a:prstGeom>
          <a:noFill/>
        </p:spPr>
        <p:txBody>
          <a:bodyPr wrap="square">
            <a:normAutofit/>
          </a:bodyPr>
          <a:lstStyle/>
          <a:p>
            <a:pPr>
              <a:defRPr sz="1450">
                <a:solidFill>
                  <a:srgbClr val="475569"/>
                </a:solidFill>
              </a:defRPr>
            </a:pPr>
            <a:r>
              <a:t>Show only fields you care about in the result.</a:t>
            </a:r>
          </a:p>
        </p:txBody>
      </p:sp>
      <p:sp>
        <p:nvSpPr>
          <p:cNvPr id="16" name="Rounded Rectangle 15"/>
          <p:cNvSpPr/>
          <p:nvPr/>
        </p:nvSpPr>
        <p:spPr>
          <a:xfrm>
            <a:off x="4526280" y="3246120"/>
            <a:ext cx="3108960" cy="18288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3355848"/>
            <a:ext cx="2834640" cy="228600"/>
          </a:xfrm>
          <a:prstGeom prst="rect">
            <a:avLst/>
          </a:prstGeom>
          <a:noFill/>
        </p:spPr>
        <p:txBody>
          <a:bodyPr wrap="square">
            <a:spAutoFit/>
          </a:bodyPr>
          <a:lstStyle/>
          <a:p>
            <a:pPr algn="l">
              <a:defRPr sz="1700" b="1">
                <a:solidFill>
                  <a:srgbClr val="0D9488"/>
                </a:solidFill>
                <a:latin typeface="Aptos"/>
              </a:defRPr>
            </a:pPr>
            <a:r>
              <a:t>Sort means</a:t>
            </a:r>
          </a:p>
        </p:txBody>
      </p:sp>
      <p:sp>
        <p:nvSpPr>
          <p:cNvPr id="18" name="TextBox 17"/>
          <p:cNvSpPr txBox="1"/>
          <p:nvPr/>
        </p:nvSpPr>
        <p:spPr>
          <a:xfrm>
            <a:off x="4672584" y="3630168"/>
            <a:ext cx="2816352" cy="1353312"/>
          </a:xfrm>
          <a:prstGeom prst="rect">
            <a:avLst/>
          </a:prstGeom>
          <a:noFill/>
        </p:spPr>
        <p:txBody>
          <a:bodyPr wrap="square">
            <a:normAutofit/>
          </a:bodyPr>
          <a:lstStyle/>
          <a:p>
            <a:pPr>
              <a:defRPr sz="1450">
                <a:solidFill>
                  <a:srgbClr val="475569"/>
                </a:solidFill>
              </a:defRPr>
            </a:pPr>
            <a:r>
              <a:t>Control result order. Add `_id` when ties matter.</a:t>
            </a:r>
          </a:p>
        </p:txBody>
      </p:sp>
      <p:sp>
        <p:nvSpPr>
          <p:cNvPr id="19" name="Rounded Rectangle 18"/>
          <p:cNvSpPr/>
          <p:nvPr/>
        </p:nvSpPr>
        <p:spPr>
          <a:xfrm>
            <a:off x="8138160" y="3246120"/>
            <a:ext cx="3108960" cy="18288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3355848"/>
            <a:ext cx="2834640" cy="228600"/>
          </a:xfrm>
          <a:prstGeom prst="rect">
            <a:avLst/>
          </a:prstGeom>
          <a:noFill/>
        </p:spPr>
        <p:txBody>
          <a:bodyPr wrap="square">
            <a:spAutoFit/>
          </a:bodyPr>
          <a:lstStyle/>
          <a:p>
            <a:pPr algn="l">
              <a:defRPr sz="1700" b="1">
                <a:solidFill>
                  <a:srgbClr val="F59E0B"/>
                </a:solidFill>
                <a:latin typeface="Aptos"/>
              </a:defRPr>
            </a:pPr>
            <a:r>
              <a:t>Limit means</a:t>
            </a:r>
          </a:p>
        </p:txBody>
      </p:sp>
      <p:sp>
        <p:nvSpPr>
          <p:cNvPr id="21" name="TextBox 20"/>
          <p:cNvSpPr txBox="1"/>
          <p:nvPr/>
        </p:nvSpPr>
        <p:spPr>
          <a:xfrm>
            <a:off x="8284464" y="3630168"/>
            <a:ext cx="2816352" cy="1353312"/>
          </a:xfrm>
          <a:prstGeom prst="rect">
            <a:avLst/>
          </a:prstGeom>
          <a:noFill/>
        </p:spPr>
        <p:txBody>
          <a:bodyPr wrap="square">
            <a:normAutofit/>
          </a:bodyPr>
          <a:lstStyle/>
          <a:p>
            <a:pPr>
              <a:defRPr sz="1450">
                <a:solidFill>
                  <a:srgbClr val="475569"/>
                </a:solidFill>
              </a:defRPr>
            </a:pPr>
            <a:r>
              <a:t>Keep the result small and focused.</a:t>
            </a:r>
          </a:p>
        </p:txBody>
      </p:sp>
      <p:sp>
        <p:nvSpPr>
          <p:cNvPr id="22" name="TextBox 21"/>
          <p:cNvSpPr txBox="1"/>
          <p:nvPr/>
        </p:nvSpPr>
        <p:spPr>
          <a:xfrm>
            <a:off x="1005840" y="5394960"/>
            <a:ext cx="10058400" cy="320040"/>
          </a:xfrm>
          <a:prstGeom prst="rect">
            <a:avLst/>
          </a:prstGeom>
          <a:noFill/>
        </p:spPr>
        <p:txBody>
          <a:bodyPr wrap="square">
            <a:spAutoFit/>
          </a:bodyPr>
          <a:lstStyle/>
          <a:p>
            <a:pPr algn="ctr">
              <a:defRPr sz="1900" b="1">
                <a:solidFill>
                  <a:srgbClr val="0F172A"/>
                </a:solidFill>
                <a:latin typeface="Aptos"/>
              </a:defRPr>
            </a:pPr>
            <a:r>
              <a:t>Important: these change what you see, not what is stored in the document.</a:t>
            </a:r>
          </a:p>
        </p:txBody>
      </p:sp>
      <p:cxnSp>
        <p:nvCxnSpPr>
          <p:cNvPr id="23" name="Connector 2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Create Documents: insertOne() and insertMany()</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 document shape you insert becomes the data shape you have to query later</a:t>
            </a:r>
          </a:p>
        </p:txBody>
      </p:sp>
      <p:sp>
        <p:nvSpPr>
          <p:cNvPr id="4" name="Rounded Rectangle 3"/>
          <p:cNvSpPr/>
          <p:nvPr/>
        </p:nvSpPr>
        <p:spPr>
          <a:xfrm>
            <a:off x="731520" y="1600200"/>
            <a:ext cx="4754880" cy="2148840"/>
          </a:xfrm>
          <a:prstGeom prst="roundRect">
            <a:avLst/>
          </a:prstGeom>
          <a:solidFill>
            <a:srgbClr val="F8FA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709928"/>
            <a:ext cx="4498848" cy="219456"/>
          </a:xfrm>
          <a:prstGeom prst="rect">
            <a:avLst/>
          </a:prstGeom>
          <a:noFill/>
        </p:spPr>
        <p:txBody>
          <a:bodyPr wrap="square">
            <a:spAutoFit/>
          </a:bodyPr>
          <a:lstStyle/>
          <a:p>
            <a:pPr algn="l">
              <a:defRPr sz="1500" b="1">
                <a:solidFill>
                  <a:srgbClr val="16A34A"/>
                </a:solidFill>
                <a:latin typeface="Aptos"/>
              </a:defRPr>
            </a:pPr>
            <a:r>
              <a:t>insertOne()</a:t>
            </a:r>
          </a:p>
        </p:txBody>
      </p:sp>
      <p:sp>
        <p:nvSpPr>
          <p:cNvPr id="6" name="TextBox 5"/>
          <p:cNvSpPr txBox="1"/>
          <p:nvPr/>
        </p:nvSpPr>
        <p:spPr>
          <a:xfrm>
            <a:off x="859536" y="1965960"/>
            <a:ext cx="4498848" cy="1673352"/>
          </a:xfrm>
          <a:prstGeom prst="rect">
            <a:avLst/>
          </a:prstGeom>
          <a:noFill/>
        </p:spPr>
        <p:txBody>
          <a:bodyPr wrap="square">
            <a:normAutofit/>
          </a:bodyPr>
          <a:lstStyle/>
          <a:p>
            <a:pPr>
              <a:defRPr sz="1300">
                <a:solidFill>
                  <a:srgbClr val="475569"/>
                </a:solidFill>
                <a:latin typeface="Consolas"/>
              </a:defRPr>
            </a:pPr>
            <a:r>
              <a:t>db.people.insertOne({</a:t>
            </a:r>
            <a:br/>
            <a:r>
              <a:t>  name: "Ava Lopez",</a:t>
            </a:r>
            <a:br/>
            <a:r>
              <a:t>  major: "IT",</a:t>
            </a:r>
            <a:br/>
            <a:r>
              <a:t>  completedLabs: ["atlas", "find"],</a:t>
            </a:r>
            <a:br/>
            <a:r>
              <a:t>  standing: "freshman"</a:t>
            </a:r>
            <a:br/>
            <a:r>
              <a:t>})</a:t>
            </a:r>
          </a:p>
        </p:txBody>
      </p:sp>
      <p:sp>
        <p:nvSpPr>
          <p:cNvPr id="7" name="Rounded Rectangle 6"/>
          <p:cNvSpPr/>
          <p:nvPr/>
        </p:nvSpPr>
        <p:spPr>
          <a:xfrm>
            <a:off x="5760720" y="1600200"/>
            <a:ext cx="5394960" cy="214884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88736" y="1709928"/>
            <a:ext cx="5138928" cy="219456"/>
          </a:xfrm>
          <a:prstGeom prst="rect">
            <a:avLst/>
          </a:prstGeom>
          <a:noFill/>
        </p:spPr>
        <p:txBody>
          <a:bodyPr wrap="square">
            <a:spAutoFit/>
          </a:bodyPr>
          <a:lstStyle/>
          <a:p>
            <a:pPr algn="l">
              <a:defRPr sz="1500" b="1">
                <a:solidFill>
                  <a:srgbClr val="2563EB"/>
                </a:solidFill>
                <a:latin typeface="Aptos"/>
              </a:defRPr>
            </a:pPr>
            <a:r>
              <a:t>insertMany()</a:t>
            </a:r>
          </a:p>
        </p:txBody>
      </p:sp>
      <p:sp>
        <p:nvSpPr>
          <p:cNvPr id="9" name="TextBox 8"/>
          <p:cNvSpPr txBox="1"/>
          <p:nvPr/>
        </p:nvSpPr>
        <p:spPr>
          <a:xfrm>
            <a:off x="5888736" y="1965960"/>
            <a:ext cx="5138928" cy="1673352"/>
          </a:xfrm>
          <a:prstGeom prst="rect">
            <a:avLst/>
          </a:prstGeom>
          <a:noFill/>
        </p:spPr>
        <p:txBody>
          <a:bodyPr wrap="square">
            <a:normAutofit/>
          </a:bodyPr>
          <a:lstStyle/>
          <a:p>
            <a:pPr>
              <a:defRPr sz="1300">
                <a:solidFill>
                  <a:srgbClr val="475569"/>
                </a:solidFill>
                <a:latin typeface="Consolas"/>
              </a:defRPr>
            </a:pPr>
            <a:r>
              <a:t>db.people.insertMany([</a:t>
            </a:r>
            <a:br/>
            <a:r>
              <a:t>  { name: "Ava Lopez", major: "IT" },</a:t>
            </a:r>
            <a:br/>
            <a:r>
              <a:t>  { name: "Luis Gomez", major: "CS" }</a:t>
            </a:r>
            <a:br/>
            <a:r>
              <a:t>])</a:t>
            </a:r>
          </a:p>
        </p:txBody>
      </p:sp>
      <p:sp>
        <p:nvSpPr>
          <p:cNvPr id="10" name="Rounded Rectangle 9"/>
          <p:cNvSpPr/>
          <p:nvPr/>
        </p:nvSpPr>
        <p:spPr>
          <a:xfrm>
            <a:off x="914400" y="4069080"/>
            <a:ext cx="10058400" cy="13716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178808"/>
            <a:ext cx="9784080" cy="228600"/>
          </a:xfrm>
          <a:prstGeom prst="rect">
            <a:avLst/>
          </a:prstGeom>
          <a:noFill/>
        </p:spPr>
        <p:txBody>
          <a:bodyPr wrap="square">
            <a:spAutoFit/>
          </a:bodyPr>
          <a:lstStyle/>
          <a:p>
            <a:pPr algn="l">
              <a:defRPr sz="1700" b="1">
                <a:solidFill>
                  <a:srgbClr val="F59E0B"/>
                </a:solidFill>
                <a:latin typeface="Aptos"/>
              </a:defRPr>
            </a:pPr>
            <a:r>
              <a:t>Teacher point</a:t>
            </a:r>
          </a:p>
        </p:txBody>
      </p:sp>
      <p:sp>
        <p:nvSpPr>
          <p:cNvPr id="12" name="TextBox 11"/>
          <p:cNvSpPr txBox="1"/>
          <p:nvPr/>
        </p:nvSpPr>
        <p:spPr>
          <a:xfrm>
            <a:off x="1060704" y="4453128"/>
            <a:ext cx="9765792" cy="896112"/>
          </a:xfrm>
          <a:prstGeom prst="rect">
            <a:avLst/>
          </a:prstGeom>
          <a:noFill/>
        </p:spPr>
        <p:txBody>
          <a:bodyPr wrap="square">
            <a:normAutofit/>
          </a:bodyPr>
          <a:lstStyle/>
          <a:p>
            <a:pPr>
              <a:defRPr sz="1450">
                <a:solidFill>
                  <a:srgbClr val="475569"/>
                </a:solidFill>
              </a:defRPr>
            </a:pPr>
            <a:r>
              <a:t>Every inserted document gets an `_id`. A collection is often created automatically on first insert if it does not already exist.</a:t>
            </a:r>
          </a:p>
        </p:txBody>
      </p:sp>
      <p:cxnSp>
        <p:nvCxnSpPr>
          <p:cNvPr id="13" name="Connector 1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Update and Delete Basics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Change one document deliberately before trying larger operations</a:t>
            </a:r>
          </a:p>
        </p:txBody>
      </p:sp>
      <p:sp>
        <p:nvSpPr>
          <p:cNvPr id="4" name="Rounded Rectangle 3"/>
          <p:cNvSpPr/>
          <p:nvPr/>
        </p:nvSpPr>
        <p:spPr>
          <a:xfrm>
            <a:off x="731520" y="1508760"/>
            <a:ext cx="3611880" cy="20116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618488"/>
            <a:ext cx="3355848" cy="219456"/>
          </a:xfrm>
          <a:prstGeom prst="rect">
            <a:avLst/>
          </a:prstGeom>
          <a:noFill/>
        </p:spPr>
        <p:txBody>
          <a:bodyPr wrap="square">
            <a:spAutoFit/>
          </a:bodyPr>
          <a:lstStyle/>
          <a:p>
            <a:pPr algn="l">
              <a:defRPr sz="1500" b="1">
                <a:solidFill>
                  <a:srgbClr val="EA580C"/>
                </a:solidFill>
                <a:latin typeface="Aptos"/>
              </a:defRPr>
            </a:pPr>
            <a:r>
              <a:t>updateOne()</a:t>
            </a:r>
          </a:p>
        </p:txBody>
      </p:sp>
      <p:sp>
        <p:nvSpPr>
          <p:cNvPr id="6" name="TextBox 5"/>
          <p:cNvSpPr txBox="1"/>
          <p:nvPr/>
        </p:nvSpPr>
        <p:spPr>
          <a:xfrm>
            <a:off x="859536" y="1874520"/>
            <a:ext cx="3355848" cy="1536192"/>
          </a:xfrm>
          <a:prstGeom prst="rect">
            <a:avLst/>
          </a:prstGeom>
          <a:noFill/>
        </p:spPr>
        <p:txBody>
          <a:bodyPr wrap="square">
            <a:normAutofit/>
          </a:bodyPr>
          <a:lstStyle/>
          <a:p>
            <a:pPr>
              <a:defRPr sz="1300">
                <a:solidFill>
                  <a:srgbClr val="475569"/>
                </a:solidFill>
                <a:latin typeface="Consolas"/>
              </a:defRPr>
            </a:pPr>
            <a:r>
              <a:t>db.people.updateOne(</a:t>
            </a:r>
            <a:br/>
            <a:r>
              <a:t>  { name: "Ava Lopez" },</a:t>
            </a:r>
            <a:br/>
            <a:r>
              <a:t>  { $set: { standing: "sophomore" } }</a:t>
            </a:r>
            <a:br/>
            <a:r>
              <a:t>)</a:t>
            </a:r>
          </a:p>
        </p:txBody>
      </p:sp>
      <p:sp>
        <p:nvSpPr>
          <p:cNvPr id="7" name="Rounded Rectangle 6"/>
          <p:cNvSpPr/>
          <p:nvPr/>
        </p:nvSpPr>
        <p:spPr>
          <a:xfrm>
            <a:off x="4526280" y="1508760"/>
            <a:ext cx="3611880" cy="2011680"/>
          </a:xfrm>
          <a:prstGeom prst="roundRect">
            <a:avLst/>
          </a:prstGeom>
          <a:solidFill>
            <a:srgbClr val="F8FA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54296" y="1618488"/>
            <a:ext cx="3355848" cy="219456"/>
          </a:xfrm>
          <a:prstGeom prst="rect">
            <a:avLst/>
          </a:prstGeom>
          <a:noFill/>
        </p:spPr>
        <p:txBody>
          <a:bodyPr wrap="square">
            <a:spAutoFit/>
          </a:bodyPr>
          <a:lstStyle/>
          <a:p>
            <a:pPr algn="l">
              <a:defRPr sz="1500" b="1">
                <a:solidFill>
                  <a:srgbClr val="DC2626"/>
                </a:solidFill>
                <a:latin typeface="Aptos"/>
              </a:defRPr>
            </a:pPr>
            <a:r>
              <a:t>replaceOne()</a:t>
            </a:r>
          </a:p>
        </p:txBody>
      </p:sp>
      <p:sp>
        <p:nvSpPr>
          <p:cNvPr id="9" name="TextBox 8"/>
          <p:cNvSpPr txBox="1"/>
          <p:nvPr/>
        </p:nvSpPr>
        <p:spPr>
          <a:xfrm>
            <a:off x="4654296" y="1874520"/>
            <a:ext cx="3355848" cy="1536192"/>
          </a:xfrm>
          <a:prstGeom prst="rect">
            <a:avLst/>
          </a:prstGeom>
          <a:noFill/>
        </p:spPr>
        <p:txBody>
          <a:bodyPr wrap="square">
            <a:normAutofit/>
          </a:bodyPr>
          <a:lstStyle/>
          <a:p>
            <a:pPr>
              <a:defRPr sz="1300">
                <a:solidFill>
                  <a:srgbClr val="475569"/>
                </a:solidFill>
                <a:latin typeface="Consolas"/>
              </a:defRPr>
            </a:pPr>
            <a:r>
              <a:t>db.people.replaceOne(</a:t>
            </a:r>
            <a:br/>
            <a:r>
              <a:t>  { name: "Ava Lopez" },</a:t>
            </a:r>
            <a:br/>
            <a:r>
              <a:t>  { name: "Ava Lopez", major: "IT" }</a:t>
            </a:r>
            <a:br/>
            <a:r>
              <a:t>)</a:t>
            </a:r>
          </a:p>
        </p:txBody>
      </p:sp>
      <p:sp>
        <p:nvSpPr>
          <p:cNvPr id="10" name="Rounded Rectangle 9"/>
          <p:cNvSpPr/>
          <p:nvPr/>
        </p:nvSpPr>
        <p:spPr>
          <a:xfrm>
            <a:off x="8321040" y="1508760"/>
            <a:ext cx="2743200" cy="2011680"/>
          </a:xfrm>
          <a:prstGeom prst="roundRect">
            <a:avLst/>
          </a:prstGeom>
          <a:solidFill>
            <a:srgbClr val="F8FA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49056" y="1618488"/>
            <a:ext cx="2487168" cy="219456"/>
          </a:xfrm>
          <a:prstGeom prst="rect">
            <a:avLst/>
          </a:prstGeom>
          <a:noFill/>
        </p:spPr>
        <p:txBody>
          <a:bodyPr wrap="square">
            <a:spAutoFit/>
          </a:bodyPr>
          <a:lstStyle/>
          <a:p>
            <a:pPr algn="l">
              <a:defRPr sz="1500" b="1">
                <a:solidFill>
                  <a:srgbClr val="0F172A"/>
                </a:solidFill>
                <a:latin typeface="Aptos"/>
              </a:defRPr>
            </a:pPr>
            <a:r>
              <a:t>deleteOne()</a:t>
            </a:r>
          </a:p>
        </p:txBody>
      </p:sp>
      <p:sp>
        <p:nvSpPr>
          <p:cNvPr id="12" name="TextBox 11"/>
          <p:cNvSpPr txBox="1"/>
          <p:nvPr/>
        </p:nvSpPr>
        <p:spPr>
          <a:xfrm>
            <a:off x="8449056" y="1874520"/>
            <a:ext cx="2487168" cy="1536192"/>
          </a:xfrm>
          <a:prstGeom prst="rect">
            <a:avLst/>
          </a:prstGeom>
          <a:noFill/>
        </p:spPr>
        <p:txBody>
          <a:bodyPr wrap="square">
            <a:normAutofit/>
          </a:bodyPr>
          <a:lstStyle/>
          <a:p>
            <a:pPr>
              <a:defRPr sz="1300">
                <a:solidFill>
                  <a:srgbClr val="475569"/>
                </a:solidFill>
                <a:latin typeface="Consolas"/>
              </a:defRPr>
            </a:pPr>
            <a:r>
              <a:t>db.people.deleteOne(</a:t>
            </a:r>
            <a:br/>
            <a:r>
              <a:t>  { name: "Ava Lopez" }</a:t>
            </a:r>
            <a:br/>
            <a:r>
              <a:t>)</a:t>
            </a:r>
          </a:p>
        </p:txBody>
      </p:sp>
      <p:sp>
        <p:nvSpPr>
          <p:cNvPr id="13" name="Rounded Rectangle 12"/>
          <p:cNvSpPr/>
          <p:nvPr/>
        </p:nvSpPr>
        <p:spPr>
          <a:xfrm>
            <a:off x="1097280" y="3886200"/>
            <a:ext cx="9875520" cy="15544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34440" y="3995928"/>
            <a:ext cx="9601200" cy="228600"/>
          </a:xfrm>
          <a:prstGeom prst="rect">
            <a:avLst/>
          </a:prstGeom>
          <a:noFill/>
        </p:spPr>
        <p:txBody>
          <a:bodyPr wrap="square">
            <a:spAutoFit/>
          </a:bodyPr>
          <a:lstStyle/>
          <a:p>
            <a:pPr algn="l">
              <a:defRPr sz="1700" b="1">
                <a:solidFill>
                  <a:srgbClr val="F59E0B"/>
                </a:solidFill>
                <a:latin typeface="Aptos"/>
              </a:defRPr>
            </a:pPr>
            <a:r>
              <a:t>Important distinction</a:t>
            </a:r>
          </a:p>
        </p:txBody>
      </p:sp>
      <p:sp>
        <p:nvSpPr>
          <p:cNvPr id="15" name="TextBox 14"/>
          <p:cNvSpPr txBox="1"/>
          <p:nvPr/>
        </p:nvSpPr>
        <p:spPr>
          <a:xfrm>
            <a:off x="1243584" y="4270248"/>
            <a:ext cx="9582912" cy="1078992"/>
          </a:xfrm>
          <a:prstGeom prst="rect">
            <a:avLst/>
          </a:prstGeom>
          <a:noFill/>
        </p:spPr>
        <p:txBody>
          <a:bodyPr wrap="square">
            <a:normAutofit/>
          </a:bodyPr>
          <a:lstStyle/>
          <a:p>
            <a:pPr>
              <a:defRPr sz="1450">
                <a:solidFill>
                  <a:srgbClr val="475569"/>
                </a:solidFill>
              </a:defRPr>
            </a:pPr>
            <a:r>
              <a:t>`$set` changes selected fields inside a document. `replaceOne()` swaps the whole document. `deleteOne()` removes the matched document.</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Why Document Boundaries Matter</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MongoDB write operations are atomic at the single-document level</a:t>
            </a:r>
          </a:p>
        </p:txBody>
      </p:sp>
      <p:sp>
        <p:nvSpPr>
          <p:cNvPr id="4" name="Rounded Rectangle 3"/>
          <p:cNvSpPr/>
          <p:nvPr/>
        </p:nvSpPr>
        <p:spPr>
          <a:xfrm>
            <a:off x="731520" y="1645920"/>
            <a:ext cx="3291840" cy="1920240"/>
          </a:xfrm>
          <a:prstGeom prst="roundRect">
            <a:avLst/>
          </a:prstGeom>
          <a:solidFill>
            <a:srgbClr val="FFFFFF"/>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737360"/>
            <a:ext cx="3017520" cy="256032"/>
          </a:xfrm>
          <a:prstGeom prst="rect">
            <a:avLst/>
          </a:prstGeom>
          <a:noFill/>
        </p:spPr>
        <p:txBody>
          <a:bodyPr wrap="square">
            <a:spAutoFit/>
          </a:bodyPr>
          <a:lstStyle/>
          <a:p>
            <a:pPr algn="l">
              <a:defRPr sz="1900" b="1">
                <a:solidFill>
                  <a:srgbClr val="16A34A"/>
                </a:solidFill>
                <a:latin typeface="Aptos"/>
              </a:defRPr>
            </a:pPr>
            <a:r>
              <a:rPr dirty="0"/>
              <a:t>Single-document atomicity</a:t>
            </a:r>
          </a:p>
        </p:txBody>
      </p:sp>
      <p:sp>
        <p:nvSpPr>
          <p:cNvPr id="6" name="TextBox 5"/>
          <p:cNvSpPr txBox="1"/>
          <p:nvPr/>
        </p:nvSpPr>
        <p:spPr>
          <a:xfrm>
            <a:off x="868680" y="2350092"/>
            <a:ext cx="3017520" cy="1124627"/>
          </a:xfrm>
          <a:prstGeom prst="rect">
            <a:avLst/>
          </a:prstGeom>
          <a:noFill/>
        </p:spPr>
        <p:txBody>
          <a:bodyPr wrap="square">
            <a:normAutofit/>
          </a:bodyPr>
          <a:lstStyle/>
          <a:p>
            <a:pPr>
              <a:defRPr sz="1500">
                <a:solidFill>
                  <a:srgbClr val="475569"/>
                </a:solidFill>
              </a:defRPr>
            </a:pPr>
            <a:r>
              <a:rPr dirty="0"/>
              <a:t>MongoDB CRUD docs say all write operations are atomic at the level of one document.</a:t>
            </a:r>
          </a:p>
        </p:txBody>
      </p:sp>
      <p:sp>
        <p:nvSpPr>
          <p:cNvPr id="7" name="Rounded Rectangle 6"/>
          <p:cNvSpPr/>
          <p:nvPr/>
        </p:nvSpPr>
        <p:spPr>
          <a:xfrm>
            <a:off x="4434840" y="1645920"/>
            <a:ext cx="3291840" cy="192024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737360"/>
            <a:ext cx="3017520" cy="256032"/>
          </a:xfrm>
          <a:prstGeom prst="rect">
            <a:avLst/>
          </a:prstGeom>
          <a:noFill/>
        </p:spPr>
        <p:txBody>
          <a:bodyPr wrap="square">
            <a:spAutoFit/>
          </a:bodyPr>
          <a:lstStyle/>
          <a:p>
            <a:pPr algn="l">
              <a:defRPr sz="1900" b="1">
                <a:solidFill>
                  <a:srgbClr val="0D9488"/>
                </a:solidFill>
                <a:latin typeface="Aptos"/>
              </a:defRPr>
            </a:pPr>
            <a:r>
              <a:t>What this suggests</a:t>
            </a:r>
          </a:p>
        </p:txBody>
      </p:sp>
      <p:sp>
        <p:nvSpPr>
          <p:cNvPr id="9" name="TextBox 8"/>
          <p:cNvSpPr txBox="1"/>
          <p:nvPr/>
        </p:nvSpPr>
        <p:spPr>
          <a:xfrm>
            <a:off x="4572000" y="2057400"/>
            <a:ext cx="3017520" cy="1417320"/>
          </a:xfrm>
          <a:prstGeom prst="rect">
            <a:avLst/>
          </a:prstGeom>
          <a:noFill/>
        </p:spPr>
        <p:txBody>
          <a:bodyPr wrap="square">
            <a:normAutofit/>
          </a:bodyPr>
          <a:lstStyle/>
          <a:p>
            <a:pPr>
              <a:defRPr sz="1500">
                <a:solidFill>
                  <a:srgbClr val="475569"/>
                </a:solidFill>
              </a:defRPr>
            </a:pPr>
            <a:r>
              <a:t>If related data changes together often, keeping it in one document can be useful.</a:t>
            </a:r>
          </a:p>
        </p:txBody>
      </p:sp>
      <p:sp>
        <p:nvSpPr>
          <p:cNvPr id="10" name="Rounded Rectangle 9"/>
          <p:cNvSpPr/>
          <p:nvPr/>
        </p:nvSpPr>
        <p:spPr>
          <a:xfrm>
            <a:off x="8138160" y="1645920"/>
            <a:ext cx="3291840" cy="192024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37360"/>
            <a:ext cx="3017520" cy="256032"/>
          </a:xfrm>
          <a:prstGeom prst="rect">
            <a:avLst/>
          </a:prstGeom>
          <a:noFill/>
        </p:spPr>
        <p:txBody>
          <a:bodyPr wrap="square">
            <a:spAutoFit/>
          </a:bodyPr>
          <a:lstStyle/>
          <a:p>
            <a:pPr algn="l">
              <a:defRPr sz="1900" b="1">
                <a:solidFill>
                  <a:srgbClr val="EA580C"/>
                </a:solidFill>
                <a:latin typeface="Aptos"/>
              </a:defRPr>
            </a:pPr>
            <a:r>
              <a:t>But not always</a:t>
            </a:r>
          </a:p>
        </p:txBody>
      </p:sp>
      <p:sp>
        <p:nvSpPr>
          <p:cNvPr id="12" name="TextBox 11"/>
          <p:cNvSpPr txBox="1"/>
          <p:nvPr/>
        </p:nvSpPr>
        <p:spPr>
          <a:xfrm>
            <a:off x="8275320" y="2057400"/>
            <a:ext cx="3017520" cy="1417320"/>
          </a:xfrm>
          <a:prstGeom prst="rect">
            <a:avLst/>
          </a:prstGeom>
          <a:noFill/>
        </p:spPr>
        <p:txBody>
          <a:bodyPr wrap="square">
            <a:normAutofit/>
          </a:bodyPr>
          <a:lstStyle/>
          <a:p>
            <a:pPr>
              <a:defRPr sz="1500">
                <a:solidFill>
                  <a:srgbClr val="475569"/>
                </a:solidFill>
              </a:defRPr>
            </a:pPr>
            <a:r>
              <a:t>Shared data that must stay consistent across many records may still belong in a separate collection.</a:t>
            </a:r>
          </a:p>
        </p:txBody>
      </p:sp>
      <p:sp>
        <p:nvSpPr>
          <p:cNvPr id="13" name="TextBox 12"/>
          <p:cNvSpPr txBox="1"/>
          <p:nvPr/>
        </p:nvSpPr>
        <p:spPr>
          <a:xfrm>
            <a:off x="914400" y="4160520"/>
            <a:ext cx="10149840" cy="914400"/>
          </a:xfrm>
          <a:prstGeom prst="rect">
            <a:avLst/>
          </a:prstGeom>
          <a:noFill/>
        </p:spPr>
        <p:txBody>
          <a:bodyPr wrap="square">
            <a:spAutoFit/>
          </a:bodyPr>
          <a:lstStyle/>
          <a:p>
            <a:pPr algn="ctr">
              <a:defRPr sz="2000" b="0">
                <a:solidFill>
                  <a:srgbClr val="0F172A"/>
                </a:solidFill>
                <a:latin typeface="Aptos"/>
              </a:defRPr>
            </a:pPr>
            <a:r>
              <a:rPr dirty="0"/>
              <a:t>This is one reason embed vs reference is a workload decision. The document boundary is also an update boundary.</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Beginner Modeling Rule: Start with the Workload</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MongoDB schema design begins with how the application actually uses data</a:t>
            </a:r>
          </a:p>
        </p:txBody>
      </p:sp>
      <p:sp>
        <p:nvSpPr>
          <p:cNvPr id="4" name="Rounded Rectangle 3"/>
          <p:cNvSpPr/>
          <p:nvPr/>
        </p:nvSpPr>
        <p:spPr>
          <a:xfrm>
            <a:off x="731520" y="1828800"/>
            <a:ext cx="3291840" cy="210312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920240"/>
            <a:ext cx="3017520" cy="256032"/>
          </a:xfrm>
          <a:prstGeom prst="rect">
            <a:avLst/>
          </a:prstGeom>
          <a:noFill/>
        </p:spPr>
        <p:txBody>
          <a:bodyPr wrap="square">
            <a:spAutoFit/>
          </a:bodyPr>
          <a:lstStyle/>
          <a:p>
            <a:pPr algn="l">
              <a:defRPr sz="1800" b="1">
                <a:solidFill>
                  <a:srgbClr val="0D9488"/>
                </a:solidFill>
                <a:latin typeface="Aptos"/>
              </a:defRPr>
            </a:pPr>
            <a:r>
              <a:t>1. What is read together?</a:t>
            </a:r>
          </a:p>
        </p:txBody>
      </p:sp>
      <p:sp>
        <p:nvSpPr>
          <p:cNvPr id="6" name="TextBox 5"/>
          <p:cNvSpPr txBox="1"/>
          <p:nvPr/>
        </p:nvSpPr>
        <p:spPr>
          <a:xfrm>
            <a:off x="868680" y="2240280"/>
            <a:ext cx="3017520" cy="1600200"/>
          </a:xfrm>
          <a:prstGeom prst="rect">
            <a:avLst/>
          </a:prstGeom>
          <a:noFill/>
        </p:spPr>
        <p:txBody>
          <a:bodyPr wrap="square">
            <a:normAutofit/>
          </a:bodyPr>
          <a:lstStyle/>
          <a:p>
            <a:pPr>
              <a:defRPr sz="1500">
                <a:solidFill>
                  <a:srgbClr val="475569"/>
                </a:solidFill>
              </a:defRPr>
            </a:pPr>
            <a:r>
              <a:t>What fields or related data appear on the same screen or API response?</a:t>
            </a:r>
          </a:p>
        </p:txBody>
      </p:sp>
      <p:sp>
        <p:nvSpPr>
          <p:cNvPr id="7" name="Rounded Rectangle 6"/>
          <p:cNvSpPr/>
          <p:nvPr/>
        </p:nvSpPr>
        <p:spPr>
          <a:xfrm>
            <a:off x="4480559" y="1828800"/>
            <a:ext cx="3291840" cy="210312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19" y="1920240"/>
            <a:ext cx="3017520" cy="256032"/>
          </a:xfrm>
          <a:prstGeom prst="rect">
            <a:avLst/>
          </a:prstGeom>
          <a:noFill/>
        </p:spPr>
        <p:txBody>
          <a:bodyPr wrap="square">
            <a:spAutoFit/>
          </a:bodyPr>
          <a:lstStyle/>
          <a:p>
            <a:pPr algn="l">
              <a:defRPr sz="1800" b="1">
                <a:solidFill>
                  <a:srgbClr val="2563EB"/>
                </a:solidFill>
                <a:latin typeface="Aptos"/>
              </a:defRPr>
            </a:pPr>
            <a:r>
              <a:t>2. What changes together?</a:t>
            </a:r>
          </a:p>
        </p:txBody>
      </p:sp>
      <p:sp>
        <p:nvSpPr>
          <p:cNvPr id="9" name="TextBox 8"/>
          <p:cNvSpPr txBox="1"/>
          <p:nvPr/>
        </p:nvSpPr>
        <p:spPr>
          <a:xfrm>
            <a:off x="4617719" y="2240280"/>
            <a:ext cx="3017520" cy="1600200"/>
          </a:xfrm>
          <a:prstGeom prst="rect">
            <a:avLst/>
          </a:prstGeom>
          <a:noFill/>
        </p:spPr>
        <p:txBody>
          <a:bodyPr wrap="square">
            <a:normAutofit/>
          </a:bodyPr>
          <a:lstStyle/>
          <a:p>
            <a:pPr>
              <a:defRPr sz="1500">
                <a:solidFill>
                  <a:srgbClr val="475569"/>
                </a:solidFill>
              </a:defRPr>
            </a:pPr>
            <a:r>
              <a:t>What values are updated in the same operation?</a:t>
            </a:r>
          </a:p>
        </p:txBody>
      </p:sp>
      <p:sp>
        <p:nvSpPr>
          <p:cNvPr id="10" name="Rounded Rectangle 9"/>
          <p:cNvSpPr/>
          <p:nvPr/>
        </p:nvSpPr>
        <p:spPr>
          <a:xfrm>
            <a:off x="8229600" y="1828800"/>
            <a:ext cx="3291840" cy="210312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6760" y="1920240"/>
            <a:ext cx="3017520" cy="256032"/>
          </a:xfrm>
          <a:prstGeom prst="rect">
            <a:avLst/>
          </a:prstGeom>
          <a:noFill/>
        </p:spPr>
        <p:txBody>
          <a:bodyPr wrap="square">
            <a:spAutoFit/>
          </a:bodyPr>
          <a:lstStyle/>
          <a:p>
            <a:pPr algn="l">
              <a:defRPr sz="1800" b="1">
                <a:solidFill>
                  <a:srgbClr val="EA580C"/>
                </a:solidFill>
                <a:latin typeface="Aptos"/>
              </a:defRPr>
            </a:pPr>
            <a:r>
              <a:t>3. What should stay in one source of truth?</a:t>
            </a:r>
          </a:p>
        </p:txBody>
      </p:sp>
      <p:sp>
        <p:nvSpPr>
          <p:cNvPr id="12" name="TextBox 11"/>
          <p:cNvSpPr txBox="1"/>
          <p:nvPr/>
        </p:nvSpPr>
        <p:spPr>
          <a:xfrm>
            <a:off x="8366760" y="2546646"/>
            <a:ext cx="3017520" cy="1293833"/>
          </a:xfrm>
          <a:prstGeom prst="rect">
            <a:avLst/>
          </a:prstGeom>
          <a:noFill/>
        </p:spPr>
        <p:txBody>
          <a:bodyPr wrap="square">
            <a:normAutofit/>
          </a:bodyPr>
          <a:lstStyle/>
          <a:p>
            <a:pPr>
              <a:defRPr sz="1500">
                <a:solidFill>
                  <a:srgbClr val="475569"/>
                </a:solidFill>
              </a:defRPr>
            </a:pPr>
            <a:r>
              <a:rPr dirty="0"/>
              <a:t>What data would be risky to duplicate everywhere?</a:t>
            </a:r>
          </a:p>
        </p:txBody>
      </p:sp>
      <p:sp>
        <p:nvSpPr>
          <p:cNvPr id="13" name="TextBox 12"/>
          <p:cNvSpPr txBox="1"/>
          <p:nvPr/>
        </p:nvSpPr>
        <p:spPr>
          <a:xfrm>
            <a:off x="1097280" y="4572000"/>
            <a:ext cx="9692640" cy="594360"/>
          </a:xfrm>
          <a:prstGeom prst="rect">
            <a:avLst/>
          </a:prstGeom>
          <a:noFill/>
        </p:spPr>
        <p:txBody>
          <a:bodyPr wrap="square">
            <a:spAutoFit/>
          </a:bodyPr>
          <a:lstStyle/>
          <a:p>
            <a:pPr algn="ctr">
              <a:defRPr sz="2000" b="0">
                <a:solidFill>
                  <a:srgbClr val="0F172A"/>
                </a:solidFill>
                <a:latin typeface="Aptos"/>
              </a:defRPr>
            </a:pPr>
            <a:r>
              <a:t>Good MongoDB modeling starts with application behavior, not with copying SQL tables one-for-one.</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Embed vs Reference</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Two common ways to represent related data in MongoDB</a:t>
            </a:r>
          </a:p>
        </p:txBody>
      </p:sp>
      <p:sp>
        <p:nvSpPr>
          <p:cNvPr id="4" name="Rounded Rectangle 3"/>
          <p:cNvSpPr/>
          <p:nvPr/>
        </p:nvSpPr>
        <p:spPr>
          <a:xfrm>
            <a:off x="685800" y="1554480"/>
            <a:ext cx="5029200" cy="292608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3816" y="1664208"/>
            <a:ext cx="4773168" cy="219456"/>
          </a:xfrm>
          <a:prstGeom prst="rect">
            <a:avLst/>
          </a:prstGeom>
          <a:noFill/>
        </p:spPr>
        <p:txBody>
          <a:bodyPr wrap="square">
            <a:spAutoFit/>
          </a:bodyPr>
          <a:lstStyle/>
          <a:p>
            <a:pPr algn="l">
              <a:defRPr sz="1500" b="1">
                <a:solidFill>
                  <a:srgbClr val="0D9488"/>
                </a:solidFill>
                <a:latin typeface="Aptos"/>
              </a:defRPr>
            </a:pPr>
            <a:r>
              <a:t>Embedded version</a:t>
            </a:r>
          </a:p>
        </p:txBody>
      </p:sp>
      <p:sp>
        <p:nvSpPr>
          <p:cNvPr id="6" name="TextBox 5"/>
          <p:cNvSpPr txBox="1"/>
          <p:nvPr/>
        </p:nvSpPr>
        <p:spPr>
          <a:xfrm>
            <a:off x="813816" y="1920240"/>
            <a:ext cx="4773168" cy="2450592"/>
          </a:xfrm>
          <a:prstGeom prst="rect">
            <a:avLst/>
          </a:prstGeom>
          <a:noFill/>
        </p:spPr>
        <p:txBody>
          <a:bodyPr wrap="square">
            <a:normAutofit/>
          </a:bodyPr>
          <a:lstStyle/>
          <a:p>
            <a:pPr>
              <a:defRPr sz="1300">
                <a:solidFill>
                  <a:srgbClr val="475569"/>
                </a:solidFill>
                <a:latin typeface="Consolas"/>
              </a:defRPr>
            </a:pPr>
            <a:r>
              <a:t>{</a:t>
            </a:r>
            <a:br/>
            <a:r>
              <a:t>  _id: 101,</a:t>
            </a:r>
            <a:br/>
            <a:r>
              <a:t>  studentName: "Ava Lopez",</a:t>
            </a:r>
            <a:br/>
            <a:r>
              <a:t>  currentCourses: [</a:t>
            </a:r>
            <a:br/>
            <a:r>
              <a:t>    { courseId: "CST4714", title: "Database Administration" },</a:t>
            </a:r>
            <a:br/>
            <a:r>
              <a:t>    { courseId: "CST3232", title: "Internet Programming" }</a:t>
            </a:r>
            <a:br/>
            <a:r>
              <a:t>  ]</a:t>
            </a:r>
            <a:br/>
            <a:r>
              <a:t>}</a:t>
            </a:r>
          </a:p>
        </p:txBody>
      </p:sp>
      <p:sp>
        <p:nvSpPr>
          <p:cNvPr id="7" name="Rounded Rectangle 6"/>
          <p:cNvSpPr/>
          <p:nvPr/>
        </p:nvSpPr>
        <p:spPr>
          <a:xfrm>
            <a:off x="6355080" y="1554480"/>
            <a:ext cx="5074920" cy="29260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3096" y="1664208"/>
            <a:ext cx="4818888" cy="219456"/>
          </a:xfrm>
          <a:prstGeom prst="rect">
            <a:avLst/>
          </a:prstGeom>
          <a:noFill/>
        </p:spPr>
        <p:txBody>
          <a:bodyPr wrap="square">
            <a:spAutoFit/>
          </a:bodyPr>
          <a:lstStyle/>
          <a:p>
            <a:pPr algn="l">
              <a:defRPr sz="1500" b="1">
                <a:solidFill>
                  <a:srgbClr val="EA580C"/>
                </a:solidFill>
                <a:latin typeface="Aptos"/>
              </a:defRPr>
            </a:pPr>
            <a:r>
              <a:t>Referenced version</a:t>
            </a:r>
          </a:p>
        </p:txBody>
      </p:sp>
      <p:sp>
        <p:nvSpPr>
          <p:cNvPr id="9" name="TextBox 8"/>
          <p:cNvSpPr txBox="1"/>
          <p:nvPr/>
        </p:nvSpPr>
        <p:spPr>
          <a:xfrm>
            <a:off x="6483096" y="1920240"/>
            <a:ext cx="4818888" cy="2450592"/>
          </a:xfrm>
          <a:prstGeom prst="rect">
            <a:avLst/>
          </a:prstGeom>
          <a:noFill/>
        </p:spPr>
        <p:txBody>
          <a:bodyPr wrap="square">
            <a:normAutofit/>
          </a:bodyPr>
          <a:lstStyle/>
          <a:p>
            <a:pPr>
              <a:defRPr sz="1300">
                <a:solidFill>
                  <a:srgbClr val="475569"/>
                </a:solidFill>
                <a:latin typeface="Consolas"/>
              </a:defRPr>
            </a:pPr>
            <a:r>
              <a:t>// students</a:t>
            </a:r>
            <a:br/>
            <a:r>
              <a:t>{ _id: 101, studentName: "Ava Lopez", courseIds: ["CST4714", "CST3232"] }</a:t>
            </a:r>
            <a:br/>
            <a:br/>
            <a:r>
              <a:t>// courses</a:t>
            </a:r>
            <a:br/>
            <a:r>
              <a:t>{ _id: "CST4714", title: "Database Administration" }</a:t>
            </a:r>
          </a:p>
        </p:txBody>
      </p:sp>
      <p:sp>
        <p:nvSpPr>
          <p:cNvPr id="10" name="Rounded Rectangle 9"/>
          <p:cNvSpPr/>
          <p:nvPr/>
        </p:nvSpPr>
        <p:spPr>
          <a:xfrm>
            <a:off x="868680" y="4754880"/>
            <a:ext cx="4754880" cy="1188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864608"/>
            <a:ext cx="4480560" cy="228600"/>
          </a:xfrm>
          <a:prstGeom prst="rect">
            <a:avLst/>
          </a:prstGeom>
          <a:noFill/>
        </p:spPr>
        <p:txBody>
          <a:bodyPr wrap="square">
            <a:spAutoFit/>
          </a:bodyPr>
          <a:lstStyle/>
          <a:p>
            <a:pPr algn="l">
              <a:defRPr sz="1700" b="1">
                <a:solidFill>
                  <a:srgbClr val="0D9488"/>
                </a:solidFill>
                <a:latin typeface="Aptos"/>
              </a:defRPr>
            </a:pPr>
            <a:r>
              <a:t>Embedding usually helps when</a:t>
            </a:r>
          </a:p>
        </p:txBody>
      </p:sp>
      <p:sp>
        <p:nvSpPr>
          <p:cNvPr id="12" name="TextBox 11"/>
          <p:cNvSpPr txBox="1"/>
          <p:nvPr/>
        </p:nvSpPr>
        <p:spPr>
          <a:xfrm>
            <a:off x="1014984" y="5138928"/>
            <a:ext cx="4462272" cy="713232"/>
          </a:xfrm>
          <a:prstGeom prst="rect">
            <a:avLst/>
          </a:prstGeom>
          <a:noFill/>
        </p:spPr>
        <p:txBody>
          <a:bodyPr wrap="square">
            <a:normAutofit/>
          </a:bodyPr>
          <a:lstStyle/>
          <a:p>
            <a:pPr>
              <a:defRPr sz="1450">
                <a:solidFill>
                  <a:srgbClr val="475569"/>
                </a:solidFill>
              </a:defRPr>
            </a:pPr>
            <a:r>
              <a:t>The data is read together and can reasonably live inside one main document.</a:t>
            </a:r>
          </a:p>
        </p:txBody>
      </p:sp>
      <p:sp>
        <p:nvSpPr>
          <p:cNvPr id="13" name="Rounded Rectangle 12"/>
          <p:cNvSpPr/>
          <p:nvPr/>
        </p:nvSpPr>
        <p:spPr>
          <a:xfrm>
            <a:off x="6446520" y="4754880"/>
            <a:ext cx="4754880" cy="1188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4864608"/>
            <a:ext cx="4480560" cy="228600"/>
          </a:xfrm>
          <a:prstGeom prst="rect">
            <a:avLst/>
          </a:prstGeom>
          <a:noFill/>
        </p:spPr>
        <p:txBody>
          <a:bodyPr wrap="square">
            <a:spAutoFit/>
          </a:bodyPr>
          <a:lstStyle/>
          <a:p>
            <a:pPr algn="l">
              <a:defRPr sz="1700" b="1">
                <a:solidFill>
                  <a:srgbClr val="EA580C"/>
                </a:solidFill>
                <a:latin typeface="Aptos"/>
              </a:defRPr>
            </a:pPr>
            <a:r>
              <a:t>Referencing usually helps when</a:t>
            </a:r>
          </a:p>
        </p:txBody>
      </p:sp>
      <p:sp>
        <p:nvSpPr>
          <p:cNvPr id="15" name="TextBox 14"/>
          <p:cNvSpPr txBox="1"/>
          <p:nvPr/>
        </p:nvSpPr>
        <p:spPr>
          <a:xfrm>
            <a:off x="6592824" y="5138928"/>
            <a:ext cx="4462272" cy="713232"/>
          </a:xfrm>
          <a:prstGeom prst="rect">
            <a:avLst/>
          </a:prstGeom>
          <a:noFill/>
        </p:spPr>
        <p:txBody>
          <a:bodyPr wrap="square">
            <a:normAutofit/>
          </a:bodyPr>
          <a:lstStyle/>
          <a:p>
            <a:pPr>
              <a:defRPr sz="1450">
                <a:solidFill>
                  <a:srgbClr val="475569"/>
                </a:solidFill>
              </a:defRPr>
            </a:pPr>
            <a:r>
              <a:t>The related data is shared widely or should stay clean in one source of truth.</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Relationship Types Students Should Recognize</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One-to-one and one-to-many are enough for this week</a:t>
            </a:r>
          </a:p>
        </p:txBody>
      </p:sp>
      <p:sp>
        <p:nvSpPr>
          <p:cNvPr id="4" name="Rounded Rectangle 3"/>
          <p:cNvSpPr/>
          <p:nvPr/>
        </p:nvSpPr>
        <p:spPr>
          <a:xfrm>
            <a:off x="822960" y="1737360"/>
            <a:ext cx="5120640" cy="214884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828800"/>
            <a:ext cx="4846320" cy="256032"/>
          </a:xfrm>
          <a:prstGeom prst="rect">
            <a:avLst/>
          </a:prstGeom>
          <a:noFill/>
        </p:spPr>
        <p:txBody>
          <a:bodyPr wrap="square">
            <a:spAutoFit/>
          </a:bodyPr>
          <a:lstStyle/>
          <a:p>
            <a:pPr algn="l">
              <a:defRPr sz="2000" b="1">
                <a:solidFill>
                  <a:srgbClr val="0D9488"/>
                </a:solidFill>
                <a:latin typeface="Aptos"/>
              </a:defRPr>
            </a:pPr>
            <a:r>
              <a:t>One-to-One</a:t>
            </a:r>
          </a:p>
        </p:txBody>
      </p:sp>
      <p:sp>
        <p:nvSpPr>
          <p:cNvPr id="6" name="TextBox 5"/>
          <p:cNvSpPr txBox="1"/>
          <p:nvPr/>
        </p:nvSpPr>
        <p:spPr>
          <a:xfrm>
            <a:off x="960120" y="2148840"/>
            <a:ext cx="4846320" cy="1645920"/>
          </a:xfrm>
          <a:prstGeom prst="rect">
            <a:avLst/>
          </a:prstGeom>
          <a:noFill/>
        </p:spPr>
        <p:txBody>
          <a:bodyPr wrap="square">
            <a:normAutofit/>
          </a:bodyPr>
          <a:lstStyle/>
          <a:p>
            <a:pPr>
              <a:defRPr sz="1600">
                <a:solidFill>
                  <a:srgbClr val="475569"/>
                </a:solidFill>
              </a:defRPr>
            </a:pPr>
            <a:r>
              <a:t>Example: one student and one profile record. This can often be embedded if the data is usually read together.</a:t>
            </a:r>
          </a:p>
        </p:txBody>
      </p:sp>
      <p:sp>
        <p:nvSpPr>
          <p:cNvPr id="7" name="Rounded Rectangle 6"/>
          <p:cNvSpPr/>
          <p:nvPr/>
        </p:nvSpPr>
        <p:spPr>
          <a:xfrm>
            <a:off x="6263640" y="1737360"/>
            <a:ext cx="5120640" cy="214884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828800"/>
            <a:ext cx="4846320" cy="256032"/>
          </a:xfrm>
          <a:prstGeom prst="rect">
            <a:avLst/>
          </a:prstGeom>
          <a:noFill/>
        </p:spPr>
        <p:txBody>
          <a:bodyPr wrap="square">
            <a:spAutoFit/>
          </a:bodyPr>
          <a:lstStyle/>
          <a:p>
            <a:pPr algn="l">
              <a:defRPr sz="2000" b="1">
                <a:solidFill>
                  <a:srgbClr val="2563EB"/>
                </a:solidFill>
                <a:latin typeface="Aptos"/>
              </a:defRPr>
            </a:pPr>
            <a:r>
              <a:t>One-to-Many</a:t>
            </a:r>
          </a:p>
        </p:txBody>
      </p:sp>
      <p:sp>
        <p:nvSpPr>
          <p:cNvPr id="9" name="TextBox 8"/>
          <p:cNvSpPr txBox="1"/>
          <p:nvPr/>
        </p:nvSpPr>
        <p:spPr>
          <a:xfrm>
            <a:off x="6400800" y="2148840"/>
            <a:ext cx="4846320" cy="1645920"/>
          </a:xfrm>
          <a:prstGeom prst="rect">
            <a:avLst/>
          </a:prstGeom>
          <a:noFill/>
        </p:spPr>
        <p:txBody>
          <a:bodyPr wrap="square">
            <a:normAutofit/>
          </a:bodyPr>
          <a:lstStyle/>
          <a:p>
            <a:pPr>
              <a:defRPr sz="1600">
                <a:solidFill>
                  <a:srgbClr val="475569"/>
                </a:solidFill>
              </a:defRPr>
            </a:pPr>
            <a:r>
              <a:t>Example: one student and many courses, or one product and many inventory events. This can be embedded or referenced depending on read and update patterns.</a:t>
            </a:r>
          </a:p>
        </p:txBody>
      </p:sp>
      <p:cxnSp>
        <p:nvCxnSpPr>
          <p:cNvPr id="13" name="Connector 1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Bridge to the Inventory-Platform Video</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Use the case study to watch MongoDB ideas happen in context</a:t>
            </a:r>
          </a:p>
        </p:txBody>
      </p:sp>
      <p:sp>
        <p:nvSpPr>
          <p:cNvPr id="4" name="Rounded Rectangle 3"/>
          <p:cNvSpPr/>
          <p:nvPr/>
        </p:nvSpPr>
        <p:spPr>
          <a:xfrm>
            <a:off x="731520" y="1600200"/>
            <a:ext cx="3474720" cy="182880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91640"/>
            <a:ext cx="3200400" cy="256032"/>
          </a:xfrm>
          <a:prstGeom prst="rect">
            <a:avLst/>
          </a:prstGeom>
          <a:noFill/>
        </p:spPr>
        <p:txBody>
          <a:bodyPr wrap="square">
            <a:spAutoFit/>
          </a:bodyPr>
          <a:lstStyle/>
          <a:p>
            <a:pPr algn="l">
              <a:defRPr sz="1800" b="1">
                <a:solidFill>
                  <a:srgbClr val="0D9488"/>
                </a:solidFill>
                <a:latin typeface="Aptos"/>
              </a:defRPr>
            </a:pPr>
            <a:r>
              <a:t>What students should notice</a:t>
            </a:r>
          </a:p>
        </p:txBody>
      </p:sp>
      <p:sp>
        <p:nvSpPr>
          <p:cNvPr id="6" name="TextBox 5"/>
          <p:cNvSpPr txBox="1"/>
          <p:nvPr/>
        </p:nvSpPr>
        <p:spPr>
          <a:xfrm>
            <a:off x="868680" y="2011680"/>
            <a:ext cx="3200400" cy="1325880"/>
          </a:xfrm>
          <a:prstGeom prst="rect">
            <a:avLst/>
          </a:prstGeom>
          <a:noFill/>
        </p:spPr>
        <p:txBody>
          <a:bodyPr wrap="square">
            <a:normAutofit/>
          </a:bodyPr>
          <a:lstStyle/>
          <a:p>
            <a:pPr>
              <a:defRPr sz="1400">
                <a:solidFill>
                  <a:srgbClr val="475569"/>
                </a:solidFill>
              </a:defRPr>
            </a:pPr>
            <a:r>
              <a:t>Documents, changing inventory data, relationships, and why one fixed table view is too narrow.</a:t>
            </a:r>
          </a:p>
        </p:txBody>
      </p:sp>
      <p:sp>
        <p:nvSpPr>
          <p:cNvPr id="7" name="Rounded Rectangle 6"/>
          <p:cNvSpPr/>
          <p:nvPr/>
        </p:nvSpPr>
        <p:spPr>
          <a:xfrm>
            <a:off x="4389120" y="1600200"/>
            <a:ext cx="3474720" cy="182880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691640"/>
            <a:ext cx="3200400" cy="256032"/>
          </a:xfrm>
          <a:prstGeom prst="rect">
            <a:avLst/>
          </a:prstGeom>
          <a:noFill/>
        </p:spPr>
        <p:txBody>
          <a:bodyPr wrap="square">
            <a:spAutoFit/>
          </a:bodyPr>
          <a:lstStyle/>
          <a:p>
            <a:pPr algn="l">
              <a:defRPr sz="1800" b="1">
                <a:solidFill>
                  <a:srgbClr val="EA580C"/>
                </a:solidFill>
                <a:latin typeface="Aptos"/>
              </a:defRPr>
            </a:pPr>
            <a:r>
              <a:t>Good Day 2 questions</a:t>
            </a:r>
          </a:p>
        </p:txBody>
      </p:sp>
      <p:sp>
        <p:nvSpPr>
          <p:cNvPr id="9" name="TextBox 8"/>
          <p:cNvSpPr txBox="1"/>
          <p:nvPr/>
        </p:nvSpPr>
        <p:spPr>
          <a:xfrm>
            <a:off x="4526280" y="2011680"/>
            <a:ext cx="3200400" cy="1325880"/>
          </a:xfrm>
          <a:prstGeom prst="rect">
            <a:avLst/>
          </a:prstGeom>
          <a:noFill/>
        </p:spPr>
        <p:txBody>
          <a:bodyPr wrap="square">
            <a:normAutofit/>
          </a:bodyPr>
          <a:lstStyle/>
          <a:p>
            <a:pPr>
              <a:defRPr sz="1400">
                <a:solidFill>
                  <a:srgbClr val="475569"/>
                </a:solidFill>
              </a:defRPr>
            </a:pPr>
            <a:r>
              <a:t>What data would be embedded? What would stay separate? What question would the application ask often?</a:t>
            </a:r>
          </a:p>
        </p:txBody>
      </p:sp>
      <p:sp>
        <p:nvSpPr>
          <p:cNvPr id="10" name="Rounded Rectangle 9"/>
          <p:cNvSpPr/>
          <p:nvPr/>
        </p:nvSpPr>
        <p:spPr>
          <a:xfrm>
            <a:off x="8046720" y="1600200"/>
            <a:ext cx="3383280" cy="182880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1691640"/>
            <a:ext cx="3108960" cy="256032"/>
          </a:xfrm>
          <a:prstGeom prst="rect">
            <a:avLst/>
          </a:prstGeom>
          <a:noFill/>
        </p:spPr>
        <p:txBody>
          <a:bodyPr wrap="square">
            <a:spAutoFit/>
          </a:bodyPr>
          <a:lstStyle/>
          <a:p>
            <a:pPr algn="l">
              <a:defRPr sz="1800" b="1">
                <a:solidFill>
                  <a:srgbClr val="2563EB"/>
                </a:solidFill>
                <a:latin typeface="Aptos"/>
              </a:defRPr>
            </a:pPr>
            <a:r>
              <a:t>Why reuse the video</a:t>
            </a:r>
          </a:p>
        </p:txBody>
      </p:sp>
      <p:sp>
        <p:nvSpPr>
          <p:cNvPr id="12" name="TextBox 11"/>
          <p:cNvSpPr txBox="1"/>
          <p:nvPr/>
        </p:nvSpPr>
        <p:spPr>
          <a:xfrm>
            <a:off x="8183880" y="2011680"/>
            <a:ext cx="3108960" cy="1325880"/>
          </a:xfrm>
          <a:prstGeom prst="rect">
            <a:avLst/>
          </a:prstGeom>
          <a:noFill/>
        </p:spPr>
        <p:txBody>
          <a:bodyPr wrap="square">
            <a:normAutofit/>
          </a:bodyPr>
          <a:lstStyle/>
          <a:p>
            <a:pPr>
              <a:defRPr sz="1400">
                <a:solidFill>
                  <a:srgbClr val="475569"/>
                </a:solidFill>
              </a:defRPr>
            </a:pPr>
            <a:r>
              <a:t>Students can now watch it with better basic vocabulary instead of hearing only buzzwords.</a:t>
            </a:r>
          </a:p>
        </p:txBody>
      </p:sp>
      <p:sp>
        <p:nvSpPr>
          <p:cNvPr id="13" name="TextBox 12"/>
          <p:cNvSpPr txBox="1"/>
          <p:nvPr/>
        </p:nvSpPr>
        <p:spPr>
          <a:xfrm>
            <a:off x="914400" y="4160520"/>
            <a:ext cx="10058400" cy="777240"/>
          </a:xfrm>
          <a:prstGeom prst="rect">
            <a:avLst/>
          </a:prstGeom>
          <a:noFill/>
        </p:spPr>
        <p:txBody>
          <a:bodyPr wrap="square">
            <a:spAutoFit/>
          </a:bodyPr>
          <a:lstStyle/>
          <a:p>
            <a:pPr algn="ctr">
              <a:defRPr sz="2000" b="0">
                <a:solidFill>
                  <a:srgbClr val="0F172A"/>
                </a:solidFill>
                <a:latin typeface="Aptos"/>
              </a:defRPr>
            </a:pPr>
            <a:r>
              <a:t>The same video works better now because students have more beginner MQL and modeling language to bring into it.</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A Small Preview of What Comes Next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Do not master this now; just see where MongoDB skills are heading</a:t>
            </a:r>
          </a:p>
        </p:txBody>
      </p:sp>
      <p:sp>
        <p:nvSpPr>
          <p:cNvPr id="4" name="Rounded Rectangle 3"/>
          <p:cNvSpPr/>
          <p:nvPr/>
        </p:nvSpPr>
        <p:spPr>
          <a:xfrm>
            <a:off x="777240" y="1600200"/>
            <a:ext cx="3474720" cy="2194560"/>
          </a:xfrm>
          <a:prstGeom prst="roundRect">
            <a:avLst/>
          </a:prstGeom>
          <a:solidFill>
            <a:srgbClr val="FFFFFF"/>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91640"/>
            <a:ext cx="3200400" cy="256032"/>
          </a:xfrm>
          <a:prstGeom prst="rect">
            <a:avLst/>
          </a:prstGeom>
          <a:noFill/>
        </p:spPr>
        <p:txBody>
          <a:bodyPr wrap="square">
            <a:spAutoFit/>
          </a:bodyPr>
          <a:lstStyle/>
          <a:p>
            <a:pPr algn="l">
              <a:defRPr sz="2000" b="1">
                <a:solidFill>
                  <a:srgbClr val="16A34A"/>
                </a:solidFill>
                <a:latin typeface="Aptos"/>
              </a:defRPr>
            </a:pPr>
            <a:r>
              <a:t>Aggregation</a:t>
            </a:r>
          </a:p>
        </p:txBody>
      </p:sp>
      <p:sp>
        <p:nvSpPr>
          <p:cNvPr id="6" name="TextBox 5"/>
          <p:cNvSpPr txBox="1"/>
          <p:nvPr/>
        </p:nvSpPr>
        <p:spPr>
          <a:xfrm>
            <a:off x="914400" y="2011680"/>
            <a:ext cx="3200400" cy="1691640"/>
          </a:xfrm>
          <a:prstGeom prst="rect">
            <a:avLst/>
          </a:prstGeom>
          <a:noFill/>
        </p:spPr>
        <p:txBody>
          <a:bodyPr wrap="square">
            <a:normAutofit/>
          </a:bodyPr>
          <a:lstStyle/>
          <a:p>
            <a:pPr>
              <a:defRPr sz="1600">
                <a:solidFill>
                  <a:srgbClr val="475569"/>
                </a:solidFill>
              </a:defRPr>
            </a:pPr>
            <a:r>
              <a:t>Later, MongoDB can summarize data with stages like `$match`, `$group`, and `$sort`.</a:t>
            </a:r>
          </a:p>
        </p:txBody>
      </p:sp>
      <p:sp>
        <p:nvSpPr>
          <p:cNvPr id="7" name="Rounded Rectangle 6"/>
          <p:cNvSpPr/>
          <p:nvPr/>
        </p:nvSpPr>
        <p:spPr>
          <a:xfrm>
            <a:off x="4389120" y="1600200"/>
            <a:ext cx="3474720" cy="219456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691640"/>
            <a:ext cx="3200400" cy="256032"/>
          </a:xfrm>
          <a:prstGeom prst="rect">
            <a:avLst/>
          </a:prstGeom>
          <a:noFill/>
        </p:spPr>
        <p:txBody>
          <a:bodyPr wrap="square">
            <a:spAutoFit/>
          </a:bodyPr>
          <a:lstStyle/>
          <a:p>
            <a:pPr algn="l">
              <a:defRPr sz="2000" b="1">
                <a:solidFill>
                  <a:srgbClr val="F59E0B"/>
                </a:solidFill>
                <a:latin typeface="Aptos"/>
              </a:defRPr>
            </a:pPr>
            <a:r>
              <a:t>Performance</a:t>
            </a:r>
          </a:p>
        </p:txBody>
      </p:sp>
      <p:sp>
        <p:nvSpPr>
          <p:cNvPr id="9" name="TextBox 8"/>
          <p:cNvSpPr txBox="1"/>
          <p:nvPr/>
        </p:nvSpPr>
        <p:spPr>
          <a:xfrm>
            <a:off x="4526280" y="2011680"/>
            <a:ext cx="3200400" cy="1691640"/>
          </a:xfrm>
          <a:prstGeom prst="rect">
            <a:avLst/>
          </a:prstGeom>
          <a:noFill/>
        </p:spPr>
        <p:txBody>
          <a:bodyPr wrap="square">
            <a:normAutofit/>
          </a:bodyPr>
          <a:lstStyle/>
          <a:p>
            <a:pPr>
              <a:defRPr sz="1600">
                <a:solidFill>
                  <a:srgbClr val="475569"/>
                </a:solidFill>
              </a:defRPr>
            </a:pPr>
            <a:r>
              <a:t>Later, we will inspect whether queries are broad or targeted and whether indexes support the workload well.</a:t>
            </a:r>
          </a:p>
        </p:txBody>
      </p:sp>
      <p:sp>
        <p:nvSpPr>
          <p:cNvPr id="10" name="Rounded Rectangle 9"/>
          <p:cNvSpPr/>
          <p:nvPr/>
        </p:nvSpPr>
        <p:spPr>
          <a:xfrm>
            <a:off x="8001000" y="1600200"/>
            <a:ext cx="3474720" cy="219456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691640"/>
            <a:ext cx="3200400" cy="256032"/>
          </a:xfrm>
          <a:prstGeom prst="rect">
            <a:avLst/>
          </a:prstGeom>
          <a:noFill/>
        </p:spPr>
        <p:txBody>
          <a:bodyPr wrap="square">
            <a:spAutoFit/>
          </a:bodyPr>
          <a:lstStyle/>
          <a:p>
            <a:pPr algn="l">
              <a:defRPr sz="2000" b="1">
                <a:solidFill>
                  <a:srgbClr val="2563EB"/>
                </a:solidFill>
                <a:latin typeface="Aptos"/>
              </a:defRPr>
            </a:pPr>
            <a:r>
              <a:t>Why basics come first</a:t>
            </a:r>
          </a:p>
        </p:txBody>
      </p:sp>
      <p:sp>
        <p:nvSpPr>
          <p:cNvPr id="12" name="TextBox 11"/>
          <p:cNvSpPr txBox="1"/>
          <p:nvPr/>
        </p:nvSpPr>
        <p:spPr>
          <a:xfrm>
            <a:off x="8138160" y="2011680"/>
            <a:ext cx="3200400" cy="1691640"/>
          </a:xfrm>
          <a:prstGeom prst="rect">
            <a:avLst/>
          </a:prstGeom>
          <a:noFill/>
        </p:spPr>
        <p:txBody>
          <a:bodyPr wrap="square">
            <a:normAutofit/>
          </a:bodyPr>
          <a:lstStyle/>
          <a:p>
            <a:pPr>
              <a:defRPr sz="1600">
                <a:solidFill>
                  <a:srgbClr val="475569"/>
                </a:solidFill>
              </a:defRPr>
            </a:pPr>
            <a:r>
              <a:t>You cannot reason about aggregation or performance well if basic queries and document shape are still fuzzy.</a:t>
            </a:r>
          </a:p>
        </p:txBody>
      </p:sp>
      <p:sp>
        <p:nvSpPr>
          <p:cNvPr id="13" name="TextBox 12"/>
          <p:cNvSpPr txBox="1"/>
          <p:nvPr/>
        </p:nvSpPr>
        <p:spPr>
          <a:xfrm>
            <a:off x="914400" y="4343400"/>
            <a:ext cx="10149840" cy="685800"/>
          </a:xfrm>
          <a:prstGeom prst="rect">
            <a:avLst/>
          </a:prstGeom>
          <a:noFill/>
        </p:spPr>
        <p:txBody>
          <a:bodyPr wrap="square">
            <a:spAutoFit/>
          </a:bodyPr>
          <a:lstStyle/>
          <a:p>
            <a:pPr algn="ctr">
              <a:defRPr sz="2000" b="0">
                <a:solidFill>
                  <a:srgbClr val="0F172A"/>
                </a:solidFill>
                <a:latin typeface="Aptos"/>
              </a:defRPr>
            </a:pPr>
            <a:r>
              <a:t>This week is about becoming comfortable enough with documents and MQL that later MongoDB topics make sense instead of feeling random.</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1530</TotalTime>
  <Words>5101</Words>
  <Application>Microsoft Macintosh PowerPoint</Application>
  <PresentationFormat>Widescreen</PresentationFormat>
  <Paragraphs>210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2026-04-22T23:27:50Z</dcterms:modified>
  <cp:category/>
</cp:coreProperties>
</file>