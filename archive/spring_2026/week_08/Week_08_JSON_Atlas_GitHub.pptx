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is intentionally lighter on commands and heavier on understanding. Before students touch MongoDB queries, they need three pieces of context. First, they need to know what Atlas is and why we will use it later. Second, they need a low-friction way to work with files, which is why GitHub browser editing matters. Third, they need to understand JSON as a data format, because MongoDB document thinking makes a lot more sense once JSON feels familiar.</a:t>
            </a:r>
          </a:p>
          <a:p/>
          <a:p>
            <a:r>
              <a:t>So the theme for today is simple: platform first, data format second, query language later. If students leave class knowing what Atlas is, what GitHub Student is, how to edit a file online, and how the same CSV data can become multiple valid JSON shapes, then the class is on track.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sets expectations. Students are not missing anything important by not writing queries today. In fact, this order is more sensible. If they try to learn Atlas, MongoDB, JSON, and query syntax all at once, they usually memorize commands without understanding what shape the data should take.</a:t>
            </a:r>
          </a:p>
          <a:p/>
          <a:p>
            <a:r>
              <a:t>So today the goals are narrower and stronger. We are learning what platforms we will use later, what JSON is, and how representation choices work. That is why the in-class activity uses CSV files and a text editor. The point is not to make the database do something. The point is to make students explain the shape of the data in a way another human can read and defend.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I say Atlas today, I do not need students to master the interface. I need them to stop hearing the name as something mysterious. Atlas is simply MongoDB’s cloud platform. That means later, when we create projects or use hosted MongoDB, the place we return to is Atlas.</a:t>
            </a:r>
          </a:p>
          <a:p/>
          <a:p>
            <a:r>
              <a:t>The key message is that today is orientation, not execution. They do not need to run queries or manage clusters yet. They just need to know that Atlas is where later MongoDB work will live, much like students earlier had to learn where PostgreSQL and Supabase work lived before they could use those tools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Students often hear about GitHub Student as just a coupon bundle. I want them to think about it more practically. It can unlock tools, make their GitHub account more useful, and reduce friction later when a class uses platforms tied to student benefits.</a:t>
            </a:r>
          </a:p>
          <a:p/>
          <a:p>
            <a:r>
              <a:t>The right message here is not that every student must become obsessed with the developer pack. The right message is that account setup is part of being ready to do technical work. If a student is eligible, it is worth applying early so they are not blocked later. If approval takes time, that is another reason not to wait until the day they actually need the benefit.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 practical. I want students to see that writing JSON does not require setting up a full local development environment. GitHub already gives them two lightweight options. The ordinary file editor is enough for small changes. github dot dev feels more like VS Code in the browser and is more comfortable for longer editing.</a:t>
            </a:r>
          </a:p>
          <a:p/>
          <a:p>
            <a:r>
              <a:t>The shortcut to remember is simple: when you are viewing a repository on GitHub, pressing the period key opens github dot dev. That is the fastest way to get students moving in class without turning the day into a local setup workshop.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JSON sounds technical the first time students hear it, but the core idea is not complicated. JSON is just a text format for structured data. It became famous because it gives us a readable way to express objects, arrays, and nested relationships without needing a heavy format.</a:t>
            </a:r>
          </a:p>
          <a:p/>
          <a:p>
            <a:r>
              <a:t>The most important language on this slide is object and array. If students understand those two ideas, the rest becomes manageable. An object is a collection of named fields. An array is an ordered list of values. Once they can read those two shapes, they can start seeing how data moves from CSV tables toward document-style thinking.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short history here matters because students should know why JSON ended up everywhere. JSON spread because it fit the web well. It was lighter than XML in many common cases, it worked naturally with JavaScript-era applications, and other languages could map it cleanly to dictionaries, objects, arrays, and lists.</a:t>
            </a:r>
          </a:p>
          <a:p/>
          <a:p>
            <a:r>
              <a:t>So the historical lesson is not that JSON won because it was philosophically superior. It won because it was practical. That same practicality is why we still see it all over APIs, configuration files, cloud platforms, and document databases today.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students to leave this slide with a few rules they can actually remember. Objects use curly braces. Arrays use square brackets. Keys use double quotes. JSON does not allow comments. Those four habits prevent a lot of confusion.</a:t>
            </a:r>
          </a:p>
          <a:p/>
          <a:p>
            <a:r>
              <a:t>It also helps to say out loud that JSON is stricter than students sometimes expect. They may be used to JavaScript objects, Python dictionaries, or config files with comments. JSON is less forgiving. That is why a plain text editor and careful reading matter for today’s activity.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conceptual slide of the deck. The same source data can be valid JSON in more than one shape. That means students should stop looking for a single correct answer and start defending choices.</a:t>
            </a:r>
          </a:p>
          <a:p/>
          <a:p>
            <a:r>
              <a:t>A table-like JSON version preserves the structure of the CSV files closely. A nested version starts thinking more like an application screen or a document model. Neither is automatically better. What matters is what the structure makes easy, what it repeats, and what view of the data it emphasizes. That is exactly the kind of thinking we want before students start MongoDB modeling later.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gives students one concrete nested example, but I do not want them to mistake example for answer key. The reason to show one example is to make the assignment feel possible. Once they see one nested structure, they can imagine other ones.</a:t>
            </a:r>
          </a:p>
          <a:p/>
          <a:p>
            <a:r>
              <a:t>I would explicitly say that another equally valid answer might group by course instead, or might keep separate arrays and references. The whole point is that JSON is flexible enough to let the author decide what the main view of the data should be.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assignment is intentionally simple in its tools and demanding in its thinking. Students open the CSV files, identify the relationships, then write one table-like JSON version and one different version. After that, they explain the tradeoffs in plain language.</a:t>
            </a:r>
          </a:p>
          <a:p/>
          <a:p>
            <a:r>
              <a:t>The reason I like this activity is that it slows students down. They cannot hide behind a query language. They have to decide what the structure means. That is exactly the type of reasoning we want before they touch document databases more deeply.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close by making the success criteria explicit. Students do not need to memorize MongoDB commands today. They should know what Atlas is for, where GitHub Student fits, how browser editing works, and why JSON structure is a design choice rather than a fixed template.</a:t>
            </a:r>
          </a:p>
          <a:p/>
          <a:p>
            <a:r>
              <a:t>If they can explain why one JSON version is more table-like and another is more application-friendly, then the class succeeded. That understanding will make later MongoDB modeling easier because students will already be thinking in terms of structure, not just syntax.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566928"/>
            <a:ext cx="1737360" cy="402336"/>
          </a:xfrm>
          <a:prstGeom prst="roundRect">
            <a:avLst/>
          </a:prstGeom>
          <a:solidFill>
            <a:srgbClr val="112D4E"/>
          </a:solidFill>
          <a:ln w="1524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7BE0D6"/>
                </a:solidFill>
                <a:latin typeface="Aptos"/>
              </a:defRPr>
            </a:pPr>
            <a:r>
              <a:t>Week 8</a:t>
            </a:r>
          </a:p>
        </p:txBody>
      </p:sp>
      <p:sp>
        <p:nvSpPr>
          <p:cNvPr id="5" name="TextBox 4"/>
          <p:cNvSpPr txBox="1"/>
          <p:nvPr/>
        </p:nvSpPr>
        <p:spPr>
          <a:xfrm>
            <a:off x="685800" y="1143000"/>
            <a:ext cx="9966960" cy="1325880"/>
          </a:xfrm>
          <a:prstGeom prst="rect">
            <a:avLst/>
          </a:prstGeom>
          <a:noFill/>
        </p:spPr>
        <p:txBody>
          <a:bodyPr wrap="none">
            <a:spAutoFit/>
          </a:bodyPr>
          <a:lstStyle/>
          <a:p>
            <a:pPr>
              <a:defRPr sz="3000" b="1">
                <a:solidFill>
                  <a:srgbClr val="F5F7FA"/>
                </a:solidFill>
                <a:latin typeface="Aptos Display"/>
              </a:defRPr>
            </a:pPr>
            <a:r>
              <a:t>Atlas, GitHub Student, and JSON</a:t>
            </a:r>
          </a:p>
        </p:txBody>
      </p:sp>
      <p:sp>
        <p:nvSpPr>
          <p:cNvPr id="6" name="TextBox 5"/>
          <p:cNvSpPr txBox="1"/>
          <p:nvPr/>
        </p:nvSpPr>
        <p:spPr>
          <a:xfrm>
            <a:off x="731520" y="2395728"/>
            <a:ext cx="8778240" cy="1143000"/>
          </a:xfrm>
          <a:prstGeom prst="rect">
            <a:avLst/>
          </a:prstGeom>
          <a:noFill/>
        </p:spPr>
        <p:txBody>
          <a:bodyPr wrap="none">
            <a:spAutoFit/>
          </a:bodyPr>
          <a:lstStyle/>
          <a:p>
            <a:pPr>
              <a:defRPr sz="2000">
                <a:solidFill>
                  <a:srgbClr val="C7D2E5"/>
                </a:solidFill>
                <a:latin typeface="Aptos"/>
              </a:defRPr>
            </a:pPr>
            <a:r>
              <a:t>Before we query anything, we need to understand the platform, the file format, and how data shape works.</a:t>
            </a:r>
          </a:p>
        </p:txBody>
      </p:sp>
      <p:sp>
        <p:nvSpPr>
          <p:cNvPr id="7" name="Rounded Rectangle 6"/>
          <p:cNvSpPr/>
          <p:nvPr/>
        </p:nvSpPr>
        <p:spPr>
          <a:xfrm>
            <a:off x="8183879" y="3493008"/>
            <a:ext cx="3063240" cy="1792224"/>
          </a:xfrm>
          <a:prstGeom prst="roundRect">
            <a:avLst/>
          </a:prstGeom>
          <a:solidFill>
            <a:srgbClr val="15375F"/>
          </a:solidFill>
          <a:ln w="1778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Today you will</a:t>
            </a:r>
          </a:p>
          <a:p>
            <a:pPr>
              <a:spcAft>
                <a:spcPts val="400"/>
              </a:spcAft>
              <a:defRPr sz="1500">
                <a:solidFill>
                  <a:srgbClr val="F5F7FA"/>
                </a:solidFill>
                <a:latin typeface="Aptos"/>
              </a:defRPr>
            </a:pPr>
            <a:r>
              <a:t>see Atlas and GitHub Student</a:t>
            </a:r>
          </a:p>
          <a:p>
            <a:pPr>
              <a:spcAft>
                <a:spcPts val="400"/>
              </a:spcAft>
              <a:defRPr sz="1500">
                <a:solidFill>
                  <a:srgbClr val="F5F7FA"/>
                </a:solidFill>
                <a:latin typeface="Aptos"/>
              </a:defRPr>
            </a:pPr>
            <a:r>
              <a:t>edit text in the browser</a:t>
            </a:r>
          </a:p>
          <a:p>
            <a:pPr>
              <a:spcAft>
                <a:spcPts val="400"/>
              </a:spcAft>
              <a:defRPr sz="1500">
                <a:solidFill>
                  <a:srgbClr val="F5F7FA"/>
                </a:solidFill>
                <a:latin typeface="Aptos"/>
              </a:defRPr>
            </a:pPr>
            <a:r>
              <a:t>turn CSV tables into JSON</a:t>
            </a:r>
          </a:p>
        </p:txBody>
      </p:sp>
      <p:sp>
        <p:nvSpPr>
          <p:cNvPr id="8" name="TextBox 7"/>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Week 8 starts with platform familiarity and JSON structure.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46304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Plan</a:t>
            </a:r>
          </a:p>
        </p:txBody>
      </p:sp>
      <p:sp>
        <p:nvSpPr>
          <p:cNvPr id="5" name="TextBox 4"/>
          <p:cNvSpPr txBox="1"/>
          <p:nvPr/>
        </p:nvSpPr>
        <p:spPr>
          <a:xfrm>
            <a:off x="685800" y="841248"/>
            <a:ext cx="9966960" cy="685800"/>
          </a:xfrm>
          <a:prstGeom prst="rect">
            <a:avLst/>
          </a:prstGeom>
          <a:noFill/>
        </p:spPr>
        <p:txBody>
          <a:bodyPr wrap="square">
            <a:spAutoFit/>
          </a:bodyPr>
          <a:lstStyle/>
          <a:p>
            <a:pPr>
              <a:defRPr sz="2600" b="1">
                <a:solidFill>
                  <a:srgbClr val="F5F7FA"/>
                </a:solidFill>
                <a:latin typeface="Aptos Display"/>
              </a:defRPr>
            </a:pPr>
            <a:r>
              <a:t>What We Are Doing Today</a:t>
            </a:r>
          </a:p>
        </p:txBody>
      </p:sp>
      <p:sp>
        <p:nvSpPr>
          <p:cNvPr id="6" name="TextBox 5"/>
          <p:cNvSpPr txBox="1"/>
          <p:nvPr/>
        </p:nvSpPr>
        <p:spPr>
          <a:xfrm>
            <a:off x="777240" y="1645920"/>
            <a:ext cx="6537960" cy="3794760"/>
          </a:xfrm>
          <a:prstGeom prst="rect">
            <a:avLst/>
          </a:prstGeom>
          <a:noFill/>
        </p:spPr>
        <p:txBody>
          <a:bodyPr wrap="square">
            <a:spAutoFit/>
          </a:bodyPr>
          <a:lstStyle/>
          <a:p>
            <a:pPr>
              <a:spcAft>
                <a:spcPts val="800"/>
              </a:spcAft>
              <a:defRPr sz="1900">
                <a:solidFill>
                  <a:srgbClr val="F5F7FA"/>
                </a:solidFill>
                <a:latin typeface="Aptos"/>
              </a:defRPr>
            </a:pPr>
            <a:r>
              <a:t>- Meet MongoDB Atlas and GitHub Student</a:t>
            </a:r>
          </a:p>
          <a:p>
            <a:pPr>
              <a:spcAft>
                <a:spcPts val="800"/>
              </a:spcAft>
              <a:defRPr sz="1900">
                <a:solidFill>
                  <a:srgbClr val="F5F7FA"/>
                </a:solidFill>
                <a:latin typeface="Aptos"/>
              </a:defRPr>
            </a:pPr>
            <a:r>
              <a:t>- See how GitHub browser editing works</a:t>
            </a:r>
          </a:p>
          <a:p>
            <a:pPr>
              <a:spcAft>
                <a:spcPts val="800"/>
              </a:spcAft>
              <a:defRPr sz="1900">
                <a:solidFill>
                  <a:srgbClr val="F5F7FA"/>
                </a:solidFill>
                <a:latin typeface="Aptos"/>
              </a:defRPr>
            </a:pPr>
            <a:r>
              <a:t>- Learn what JSON is and why it spread</a:t>
            </a:r>
          </a:p>
          <a:p>
            <a:pPr>
              <a:spcAft>
                <a:spcPts val="800"/>
              </a:spcAft>
              <a:defRPr sz="1900">
                <a:solidFill>
                  <a:srgbClr val="F5F7FA"/>
                </a:solidFill>
                <a:latin typeface="Aptos"/>
              </a:defRPr>
            </a:pPr>
            <a:r>
              <a:t>- Practice turning CSV tables into JSON</a:t>
            </a:r>
          </a:p>
        </p:txBody>
      </p:sp>
      <p:sp>
        <p:nvSpPr>
          <p:cNvPr id="7" name="Rounded Rectangle 6"/>
          <p:cNvSpPr/>
          <p:nvPr/>
        </p:nvSpPr>
        <p:spPr>
          <a:xfrm>
            <a:off x="8028431" y="1444752"/>
            <a:ext cx="3310128" cy="429768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400"/>
              </a:spcAft>
              <a:defRPr sz="1700">
                <a:solidFill>
                  <a:srgbClr val="F5F7FA"/>
                </a:solidFill>
                <a:latin typeface="Aptos"/>
              </a:defRPr>
            </a:pPr>
            <a:r>
              <a:t>Atlas</a:t>
            </a:r>
          </a:p>
          <a:p>
            <a:pPr>
              <a:spcAft>
                <a:spcPts val="400"/>
              </a:spcAft>
              <a:defRPr sz="1700">
                <a:solidFill>
                  <a:srgbClr val="F5F7FA"/>
                </a:solidFill>
                <a:latin typeface="Aptos"/>
              </a:defRPr>
            </a:pPr>
            <a:r>
              <a:t>GitHub Student</a:t>
            </a:r>
          </a:p>
          <a:p>
            <a:pPr>
              <a:spcAft>
                <a:spcPts val="400"/>
              </a:spcAft>
              <a:defRPr sz="1700">
                <a:solidFill>
                  <a:srgbClr val="F5F7FA"/>
                </a:solidFill>
                <a:latin typeface="Aptos"/>
              </a:defRPr>
            </a:pPr>
            <a:r>
              <a:t>github.dev</a:t>
            </a:r>
          </a:p>
          <a:p>
            <a:pPr>
              <a:spcAft>
                <a:spcPts val="400"/>
              </a:spcAft>
              <a:defRPr sz="1700">
                <a:solidFill>
                  <a:srgbClr val="F5F7FA"/>
                </a:solidFill>
                <a:latin typeface="Aptos"/>
              </a:defRPr>
            </a:pPr>
            <a:r>
              <a:t>JSON</a:t>
            </a:r>
          </a:p>
        </p:txBody>
      </p:sp>
      <p:sp>
        <p:nvSpPr>
          <p:cNvPr id="8" name="Rounded Rectangle 7"/>
          <p:cNvSpPr/>
          <p:nvPr/>
        </p:nvSpPr>
        <p:spPr>
          <a:xfrm>
            <a:off x="804672" y="5650992"/>
            <a:ext cx="10533888" cy="457200"/>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7FA"/>
                </a:solidFill>
                <a:latin typeface="Aptos"/>
              </a:defRPr>
            </a:pPr>
            <a:r>
              <a:t>No SQL. No MongoDB shell. No notebook.</a:t>
            </a:r>
          </a:p>
        </p:txBody>
      </p:sp>
      <p:sp>
        <p:nvSpPr>
          <p:cNvPr id="9" name="TextBox 8"/>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This is a structure week, not a query week.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Atlas</a:t>
            </a:r>
          </a:p>
        </p:txBody>
      </p:sp>
      <p:sp>
        <p:nvSpPr>
          <p:cNvPr id="5" name="TextBox 4"/>
          <p:cNvSpPr txBox="1"/>
          <p:nvPr/>
        </p:nvSpPr>
        <p:spPr>
          <a:xfrm>
            <a:off x="685800" y="841248"/>
            <a:ext cx="9966960" cy="685800"/>
          </a:xfrm>
          <a:prstGeom prst="rect">
            <a:avLst/>
          </a:prstGeom>
          <a:noFill/>
        </p:spPr>
        <p:txBody>
          <a:bodyPr wrap="square">
            <a:spAutoFit/>
          </a:bodyPr>
          <a:lstStyle/>
          <a:p>
            <a:pPr>
              <a:defRPr sz="2600" b="1">
                <a:solidFill>
                  <a:srgbClr val="F5F7FA"/>
                </a:solidFill>
                <a:latin typeface="Aptos Display"/>
              </a:defRPr>
            </a:pPr>
            <a:r>
              <a:t>What Atlas Is</a:t>
            </a:r>
          </a:p>
        </p:txBody>
      </p:sp>
      <p:sp>
        <p:nvSpPr>
          <p:cNvPr id="6" name="TextBox 5"/>
          <p:cNvSpPr txBox="1"/>
          <p:nvPr/>
        </p:nvSpPr>
        <p:spPr>
          <a:xfrm>
            <a:off x="777240" y="1645920"/>
            <a:ext cx="6537960" cy="3794760"/>
          </a:xfrm>
          <a:prstGeom prst="rect">
            <a:avLst/>
          </a:prstGeom>
          <a:noFill/>
        </p:spPr>
        <p:txBody>
          <a:bodyPr wrap="square">
            <a:spAutoFit/>
          </a:bodyPr>
          <a:lstStyle/>
          <a:p>
            <a:pPr>
              <a:spcAft>
                <a:spcPts val="800"/>
              </a:spcAft>
              <a:defRPr sz="1900">
                <a:solidFill>
                  <a:srgbClr val="F5F7FA"/>
                </a:solidFill>
                <a:latin typeface="Aptos"/>
              </a:defRPr>
            </a:pPr>
            <a:r>
              <a:t>- MongoDB Atlas is MongoDB’s cloud platform</a:t>
            </a:r>
          </a:p>
          <a:p>
            <a:pPr>
              <a:spcAft>
                <a:spcPts val="800"/>
              </a:spcAft>
              <a:defRPr sz="1900">
                <a:solidFill>
                  <a:srgbClr val="F5F7FA"/>
                </a:solidFill>
                <a:latin typeface="Aptos"/>
              </a:defRPr>
            </a:pPr>
            <a:r>
              <a:t>- Later work will live there instead of only on a local machine</a:t>
            </a:r>
          </a:p>
          <a:p>
            <a:pPr>
              <a:spcAft>
                <a:spcPts val="800"/>
              </a:spcAft>
              <a:defRPr sz="1900">
                <a:solidFill>
                  <a:srgbClr val="F5F7FA"/>
                </a:solidFill>
                <a:latin typeface="Aptos"/>
              </a:defRPr>
            </a:pPr>
            <a:r>
              <a:t>- Today you only need to recognize the dashboard and purpose</a:t>
            </a:r>
          </a:p>
          <a:p>
            <a:pPr>
              <a:spcAft>
                <a:spcPts val="800"/>
              </a:spcAft>
              <a:defRPr sz="1900">
                <a:solidFill>
                  <a:srgbClr val="F5F7FA"/>
                </a:solidFill>
                <a:latin typeface="Aptos"/>
              </a:defRPr>
            </a:pPr>
            <a:r>
              <a:t>- Think of Atlas as the home base for later MongoDB work</a:t>
            </a:r>
          </a:p>
        </p:txBody>
      </p:sp>
      <p:sp>
        <p:nvSpPr>
          <p:cNvPr id="7" name="Rounded Rectangle 6"/>
          <p:cNvSpPr/>
          <p:nvPr/>
        </p:nvSpPr>
        <p:spPr>
          <a:xfrm>
            <a:off x="8028431" y="1444752"/>
            <a:ext cx="3310128" cy="429768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400"/>
              </a:spcAft>
              <a:defRPr sz="1700">
                <a:solidFill>
                  <a:srgbClr val="F5F7FA"/>
                </a:solidFill>
                <a:latin typeface="Aptos"/>
              </a:defRPr>
            </a:pPr>
            <a:r>
              <a:t>cloud platform</a:t>
            </a:r>
          </a:p>
          <a:p>
            <a:pPr>
              <a:spcAft>
                <a:spcPts val="400"/>
              </a:spcAft>
              <a:defRPr sz="1700">
                <a:solidFill>
                  <a:srgbClr val="F5F7FA"/>
                </a:solidFill>
                <a:latin typeface="Aptos"/>
              </a:defRPr>
            </a:pPr>
            <a:r>
              <a:t>project</a:t>
            </a:r>
          </a:p>
          <a:p>
            <a:pPr>
              <a:spcAft>
                <a:spcPts val="400"/>
              </a:spcAft>
              <a:defRPr sz="1700">
                <a:solidFill>
                  <a:srgbClr val="F5F7FA"/>
                </a:solidFill>
                <a:latin typeface="Aptos"/>
              </a:defRPr>
            </a:pPr>
            <a:r>
              <a:t>cluster</a:t>
            </a:r>
          </a:p>
          <a:p>
            <a:pPr>
              <a:spcAft>
                <a:spcPts val="400"/>
              </a:spcAft>
              <a:defRPr sz="1700">
                <a:solidFill>
                  <a:srgbClr val="F5F7FA"/>
                </a:solidFill>
                <a:latin typeface="Aptos"/>
              </a:defRPr>
            </a:pPr>
            <a:r>
              <a:t>dashboard</a:t>
            </a:r>
          </a:p>
        </p:txBody>
      </p:sp>
      <p:sp>
        <p:nvSpPr>
          <p:cNvPr id="8" name="Rounded Rectangle 7"/>
          <p:cNvSpPr/>
          <p:nvPr/>
        </p:nvSpPr>
        <p:spPr>
          <a:xfrm>
            <a:off x="804672" y="5650992"/>
            <a:ext cx="10533888" cy="457200"/>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7FA"/>
                </a:solidFill>
                <a:latin typeface="Aptos"/>
              </a:defRPr>
            </a:pPr>
            <a:r>
              <a:t>Today is for orientation, not for query execution.</a:t>
            </a:r>
          </a:p>
        </p:txBody>
      </p:sp>
      <p:sp>
        <p:nvSpPr>
          <p:cNvPr id="9" name="TextBox 8"/>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Students should leave knowing what Atlas is for, even if they do not use it deeply yet.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746504"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Student</a:t>
            </a:r>
          </a:p>
        </p:txBody>
      </p:sp>
      <p:sp>
        <p:nvSpPr>
          <p:cNvPr id="5" name="TextBox 4"/>
          <p:cNvSpPr txBox="1"/>
          <p:nvPr/>
        </p:nvSpPr>
        <p:spPr>
          <a:xfrm>
            <a:off x="685800" y="841248"/>
            <a:ext cx="9966960" cy="685800"/>
          </a:xfrm>
          <a:prstGeom prst="rect">
            <a:avLst/>
          </a:prstGeom>
          <a:noFill/>
        </p:spPr>
        <p:txBody>
          <a:bodyPr wrap="square">
            <a:spAutoFit/>
          </a:bodyPr>
          <a:lstStyle/>
          <a:p>
            <a:pPr>
              <a:defRPr sz="2600" b="1">
                <a:solidFill>
                  <a:srgbClr val="F5F7FA"/>
                </a:solidFill>
                <a:latin typeface="Aptos Display"/>
              </a:defRPr>
            </a:pPr>
            <a:r>
              <a:t>Why GitHub Student Matters</a:t>
            </a:r>
          </a:p>
        </p:txBody>
      </p:sp>
      <p:sp>
        <p:nvSpPr>
          <p:cNvPr id="6" name="TextBox 5"/>
          <p:cNvSpPr txBox="1"/>
          <p:nvPr/>
        </p:nvSpPr>
        <p:spPr>
          <a:xfrm>
            <a:off x="777240" y="1645920"/>
            <a:ext cx="6537960" cy="3794760"/>
          </a:xfrm>
          <a:prstGeom prst="rect">
            <a:avLst/>
          </a:prstGeom>
          <a:noFill/>
        </p:spPr>
        <p:txBody>
          <a:bodyPr wrap="square">
            <a:spAutoFit/>
          </a:bodyPr>
          <a:lstStyle/>
          <a:p>
            <a:pPr>
              <a:spcAft>
                <a:spcPts val="800"/>
              </a:spcAft>
              <a:defRPr sz="1900">
                <a:solidFill>
                  <a:srgbClr val="F5F7FA"/>
                </a:solidFill>
                <a:latin typeface="Aptos"/>
              </a:defRPr>
            </a:pPr>
            <a:r>
              <a:t>- GitHub Student can unlock useful software benefits</a:t>
            </a:r>
          </a:p>
          <a:p>
            <a:pPr>
              <a:spcAft>
                <a:spcPts val="800"/>
              </a:spcAft>
              <a:defRPr sz="1900">
                <a:solidFill>
                  <a:srgbClr val="F5F7FA"/>
                </a:solidFill>
                <a:latin typeface="Aptos"/>
              </a:defRPr>
            </a:pPr>
            <a:r>
              <a:t>- It also makes your GitHub account more valuable for class work</a:t>
            </a:r>
          </a:p>
          <a:p>
            <a:pPr>
              <a:spcAft>
                <a:spcPts val="800"/>
              </a:spcAft>
              <a:defRPr sz="1900">
                <a:solidFill>
                  <a:srgbClr val="F5F7FA"/>
                </a:solidFill>
                <a:latin typeface="Aptos"/>
              </a:defRPr>
            </a:pPr>
            <a:r>
              <a:t>- MongoDB student resources connect to that ecosystem</a:t>
            </a:r>
          </a:p>
          <a:p>
            <a:pPr>
              <a:spcAft>
                <a:spcPts val="800"/>
              </a:spcAft>
              <a:defRPr sz="1900">
                <a:solidFill>
                  <a:srgbClr val="F5F7FA"/>
                </a:solidFill>
                <a:latin typeface="Aptos"/>
              </a:defRPr>
            </a:pPr>
            <a:r>
              <a:t>- Even if approval takes time, start the process early</a:t>
            </a:r>
          </a:p>
        </p:txBody>
      </p:sp>
      <p:sp>
        <p:nvSpPr>
          <p:cNvPr id="7" name="Rounded Rectangle 6"/>
          <p:cNvSpPr/>
          <p:nvPr/>
        </p:nvSpPr>
        <p:spPr>
          <a:xfrm>
            <a:off x="8028431" y="1444752"/>
            <a:ext cx="3310128" cy="429768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400"/>
              </a:spcAft>
              <a:defRPr sz="1700">
                <a:solidFill>
                  <a:srgbClr val="F5F7FA"/>
                </a:solidFill>
                <a:latin typeface="Aptos"/>
              </a:defRPr>
            </a:pPr>
            <a:r>
              <a:t>GitHub Education</a:t>
            </a:r>
          </a:p>
          <a:p>
            <a:pPr>
              <a:spcAft>
                <a:spcPts val="400"/>
              </a:spcAft>
              <a:defRPr sz="1700">
                <a:solidFill>
                  <a:srgbClr val="F5F7FA"/>
                </a:solidFill>
                <a:latin typeface="Aptos"/>
              </a:defRPr>
            </a:pPr>
            <a:r>
              <a:t>Student Pack</a:t>
            </a:r>
          </a:p>
          <a:p>
            <a:pPr>
              <a:spcAft>
                <a:spcPts val="400"/>
              </a:spcAft>
              <a:defRPr sz="1700">
                <a:solidFill>
                  <a:srgbClr val="F5F7FA"/>
                </a:solidFill>
                <a:latin typeface="Aptos"/>
              </a:defRPr>
            </a:pPr>
            <a:r>
              <a:t>account setup</a:t>
            </a:r>
          </a:p>
          <a:p>
            <a:pPr>
              <a:spcAft>
                <a:spcPts val="400"/>
              </a:spcAft>
              <a:defRPr sz="1700">
                <a:solidFill>
                  <a:srgbClr val="F5F7FA"/>
                </a:solidFill>
                <a:latin typeface="Aptos"/>
              </a:defRPr>
            </a:pPr>
            <a:r>
              <a:t>eligibility</a:t>
            </a:r>
          </a:p>
        </p:txBody>
      </p:sp>
      <p:sp>
        <p:nvSpPr>
          <p:cNvPr id="8" name="Rounded Rectangle 7"/>
          <p:cNvSpPr/>
          <p:nvPr/>
        </p:nvSpPr>
        <p:spPr>
          <a:xfrm>
            <a:off x="804672" y="5650992"/>
            <a:ext cx="10533888" cy="457200"/>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7FA"/>
                </a:solidFill>
                <a:latin typeface="Aptos"/>
              </a:defRPr>
            </a:pPr>
            <a:r>
              <a:t>The goal is not hype. The goal is smoother access to tools you may use this term.</a:t>
            </a:r>
          </a:p>
        </p:txBody>
      </p:sp>
      <p:sp>
        <p:nvSpPr>
          <p:cNvPr id="9" name="TextBox 8"/>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Students should know where to apply and why it matters.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746504"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Editing</a:t>
            </a:r>
          </a:p>
        </p:txBody>
      </p:sp>
      <p:sp>
        <p:nvSpPr>
          <p:cNvPr id="5" name="TextBox 4"/>
          <p:cNvSpPr txBox="1"/>
          <p:nvPr/>
        </p:nvSpPr>
        <p:spPr>
          <a:xfrm>
            <a:off x="685800" y="841248"/>
            <a:ext cx="10058400" cy="685800"/>
          </a:xfrm>
          <a:prstGeom prst="rect">
            <a:avLst/>
          </a:prstGeom>
          <a:noFill/>
        </p:spPr>
        <p:txBody>
          <a:bodyPr wrap="square">
            <a:spAutoFit/>
          </a:bodyPr>
          <a:lstStyle/>
          <a:p>
            <a:pPr>
              <a:defRPr sz="2600" b="1">
                <a:solidFill>
                  <a:srgbClr val="F5F7FA"/>
                </a:solidFill>
                <a:latin typeface="Aptos Display"/>
              </a:defRPr>
            </a:pPr>
            <a:r>
              <a:t>Two Easy Ways To Edit Files on GitHub</a:t>
            </a:r>
          </a:p>
        </p:txBody>
      </p:sp>
      <p:sp>
        <p:nvSpPr>
          <p:cNvPr id="6" name="Rounded Rectangle 5"/>
          <p:cNvSpPr/>
          <p:nvPr/>
        </p:nvSpPr>
        <p:spPr>
          <a:xfrm>
            <a:off x="777240" y="1664208"/>
            <a:ext cx="5212080" cy="3886200"/>
          </a:xfrm>
          <a:prstGeom prst="roundRect">
            <a:avLst/>
          </a:prstGeom>
          <a:solidFill>
            <a:srgbClr val="15375F"/>
          </a:solidFill>
          <a:ln w="1524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7BF56"/>
                </a:solidFill>
                <a:latin typeface="Aptos"/>
              </a:defRPr>
            </a:pPr>
            <a:r>
              <a:t>GitHub file editor</a:t>
            </a:r>
          </a:p>
          <a:p>
            <a:pPr>
              <a:spcAft>
                <a:spcPts val="700"/>
              </a:spcAft>
              <a:defRPr sz="1600">
                <a:solidFill>
                  <a:srgbClr val="F5F7FA"/>
                </a:solidFill>
                <a:latin typeface="Aptos"/>
              </a:defRPr>
            </a:pPr>
            <a:r>
              <a:t>- Open a file</a:t>
            </a:r>
          </a:p>
          <a:p>
            <a:pPr>
              <a:spcAft>
                <a:spcPts val="700"/>
              </a:spcAft>
              <a:defRPr sz="1600">
                <a:solidFill>
                  <a:srgbClr val="F5F7FA"/>
                </a:solidFill>
                <a:latin typeface="Aptos"/>
              </a:defRPr>
            </a:pPr>
            <a:r>
              <a:t>- Click the pencil icon</a:t>
            </a:r>
          </a:p>
          <a:p>
            <a:pPr>
              <a:spcAft>
                <a:spcPts val="700"/>
              </a:spcAft>
              <a:defRPr sz="1600">
                <a:solidFill>
                  <a:srgbClr val="F5F7FA"/>
                </a:solidFill>
                <a:latin typeface="Aptos"/>
              </a:defRPr>
            </a:pPr>
            <a:r>
              <a:t>- Edit, preview, and commit</a:t>
            </a:r>
          </a:p>
          <a:p>
            <a:pPr>
              <a:spcAft>
                <a:spcPts val="700"/>
              </a:spcAft>
              <a:defRPr sz="1600">
                <a:solidFill>
                  <a:srgbClr val="F5F7FA"/>
                </a:solidFill>
                <a:latin typeface="Aptos"/>
              </a:defRPr>
            </a:pPr>
            <a:r>
              <a:t>- Good for quick changes</a:t>
            </a:r>
          </a:p>
        </p:txBody>
      </p:sp>
      <p:sp>
        <p:nvSpPr>
          <p:cNvPr id="7" name="Rounded Rectangle 6"/>
          <p:cNvSpPr/>
          <p:nvPr/>
        </p:nvSpPr>
        <p:spPr>
          <a:xfrm>
            <a:off x="6199632" y="1664208"/>
            <a:ext cx="5212080" cy="3886200"/>
          </a:xfrm>
          <a:prstGeom prst="roundRect">
            <a:avLst/>
          </a:prstGeom>
          <a:solidFill>
            <a:srgbClr val="15375F"/>
          </a:solidFill>
          <a:ln w="1524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7BF56"/>
                </a:solidFill>
                <a:latin typeface="Aptos"/>
              </a:defRPr>
            </a:pPr>
            <a:r>
              <a:t>github.dev</a:t>
            </a:r>
          </a:p>
          <a:p>
            <a:pPr>
              <a:spcAft>
                <a:spcPts val="700"/>
              </a:spcAft>
              <a:defRPr sz="1600">
                <a:solidFill>
                  <a:srgbClr val="F5F7FA"/>
                </a:solidFill>
                <a:latin typeface="Aptos"/>
              </a:defRPr>
            </a:pPr>
            <a:r>
              <a:t>- Press . in a repository</a:t>
            </a:r>
          </a:p>
          <a:p>
            <a:pPr>
              <a:spcAft>
                <a:spcPts val="700"/>
              </a:spcAft>
              <a:defRPr sz="1600">
                <a:solidFill>
                  <a:srgbClr val="F5F7FA"/>
                </a:solidFill>
                <a:latin typeface="Aptos"/>
              </a:defRPr>
            </a:pPr>
            <a:r>
              <a:t>- Open a VS Code-like browser editor</a:t>
            </a:r>
          </a:p>
          <a:p>
            <a:pPr>
              <a:spcAft>
                <a:spcPts val="700"/>
              </a:spcAft>
              <a:defRPr sz="1600">
                <a:solidFill>
                  <a:srgbClr val="F5F7FA"/>
                </a:solidFill>
                <a:latin typeface="Aptos"/>
              </a:defRPr>
            </a:pPr>
            <a:r>
              <a:t>- Create or edit .json and .md files</a:t>
            </a:r>
          </a:p>
          <a:p>
            <a:pPr>
              <a:spcAft>
                <a:spcPts val="700"/>
              </a:spcAft>
              <a:defRPr sz="1600">
                <a:solidFill>
                  <a:srgbClr val="F5F7FA"/>
                </a:solidFill>
                <a:latin typeface="Aptos"/>
              </a:defRPr>
            </a:pPr>
            <a:r>
              <a:t>- Good for slightly bigger edits</a:t>
            </a:r>
          </a:p>
        </p:txBody>
      </p:sp>
      <p:sp>
        <p:nvSpPr>
          <p:cNvPr id="8" name="Rounded Rectangle 7"/>
          <p:cNvSpPr/>
          <p:nvPr/>
        </p:nvSpPr>
        <p:spPr>
          <a:xfrm>
            <a:off x="804672" y="5650992"/>
            <a:ext cx="10533888" cy="457200"/>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7FA"/>
                </a:solidFill>
                <a:latin typeface="Aptos"/>
              </a:defRPr>
            </a:pPr>
            <a:r>
              <a:t>This week, browser editing is enough. You do not need local database tools to complete the work.</a:t>
            </a:r>
          </a:p>
        </p:txBody>
      </p:sp>
      <p:sp>
        <p:nvSpPr>
          <p:cNvPr id="9" name="TextBox 8"/>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Students should know at least one browser-based editing path by the end of class.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46304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JSON</a:t>
            </a:r>
          </a:p>
        </p:txBody>
      </p:sp>
      <p:sp>
        <p:nvSpPr>
          <p:cNvPr id="5" name="TextBox 4"/>
          <p:cNvSpPr txBox="1"/>
          <p:nvPr/>
        </p:nvSpPr>
        <p:spPr>
          <a:xfrm>
            <a:off x="685800" y="841248"/>
            <a:ext cx="9966960" cy="685800"/>
          </a:xfrm>
          <a:prstGeom prst="rect">
            <a:avLst/>
          </a:prstGeom>
          <a:noFill/>
        </p:spPr>
        <p:txBody>
          <a:bodyPr wrap="square">
            <a:spAutoFit/>
          </a:bodyPr>
          <a:lstStyle/>
          <a:p>
            <a:pPr>
              <a:defRPr sz="2600" b="1">
                <a:solidFill>
                  <a:srgbClr val="F5F7FA"/>
                </a:solidFill>
                <a:latin typeface="Aptos Display"/>
              </a:defRPr>
            </a:pPr>
            <a:r>
              <a:t>What JSON Is</a:t>
            </a:r>
          </a:p>
        </p:txBody>
      </p:sp>
      <p:sp>
        <p:nvSpPr>
          <p:cNvPr id="6" name="TextBox 5"/>
          <p:cNvSpPr txBox="1"/>
          <p:nvPr/>
        </p:nvSpPr>
        <p:spPr>
          <a:xfrm>
            <a:off x="777240" y="1645920"/>
            <a:ext cx="6537960" cy="3794760"/>
          </a:xfrm>
          <a:prstGeom prst="rect">
            <a:avLst/>
          </a:prstGeom>
          <a:noFill/>
        </p:spPr>
        <p:txBody>
          <a:bodyPr wrap="square">
            <a:spAutoFit/>
          </a:bodyPr>
          <a:lstStyle/>
          <a:p>
            <a:pPr>
              <a:spcAft>
                <a:spcPts val="800"/>
              </a:spcAft>
              <a:defRPr sz="1900">
                <a:solidFill>
                  <a:srgbClr val="F5F7FA"/>
                </a:solidFill>
                <a:latin typeface="Aptos"/>
              </a:defRPr>
            </a:pPr>
            <a:r>
              <a:t>- JSON stands for JavaScript Object Notation</a:t>
            </a:r>
          </a:p>
          <a:p>
            <a:pPr>
              <a:spcAft>
                <a:spcPts val="800"/>
              </a:spcAft>
              <a:defRPr sz="1900">
                <a:solidFill>
                  <a:srgbClr val="F5F7FA"/>
                </a:solidFill>
                <a:latin typeface="Aptos"/>
              </a:defRPr>
            </a:pPr>
            <a:r>
              <a:t>- It is a text format for structured data</a:t>
            </a:r>
          </a:p>
          <a:p>
            <a:pPr>
              <a:spcAft>
                <a:spcPts val="800"/>
              </a:spcAft>
              <a:defRPr sz="1900">
                <a:solidFill>
                  <a:srgbClr val="F5F7FA"/>
                </a:solidFill>
                <a:latin typeface="Aptos"/>
              </a:defRPr>
            </a:pPr>
            <a:r>
              <a:t>- It uses objects and arrays as its main building blocks</a:t>
            </a:r>
          </a:p>
          <a:p>
            <a:pPr>
              <a:spcAft>
                <a:spcPts val="800"/>
              </a:spcAft>
              <a:defRPr sz="1900">
                <a:solidFill>
                  <a:srgbClr val="F5F7FA"/>
                </a:solidFill>
                <a:latin typeface="Aptos"/>
              </a:defRPr>
            </a:pPr>
            <a:r>
              <a:t>- It is common in APIs, configs, and document databases</a:t>
            </a:r>
          </a:p>
        </p:txBody>
      </p:sp>
      <p:sp>
        <p:nvSpPr>
          <p:cNvPr id="7" name="Rounded Rectangle 6"/>
          <p:cNvSpPr/>
          <p:nvPr/>
        </p:nvSpPr>
        <p:spPr>
          <a:xfrm>
            <a:off x="8028431" y="1444752"/>
            <a:ext cx="3310128" cy="429768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400"/>
              </a:spcAft>
              <a:defRPr sz="1700">
                <a:solidFill>
                  <a:srgbClr val="F5F7FA"/>
                </a:solidFill>
                <a:latin typeface="Aptos"/>
              </a:defRPr>
            </a:pPr>
            <a:r>
              <a:t>object</a:t>
            </a:r>
          </a:p>
          <a:p>
            <a:pPr>
              <a:spcAft>
                <a:spcPts val="400"/>
              </a:spcAft>
              <a:defRPr sz="1700">
                <a:solidFill>
                  <a:srgbClr val="F5F7FA"/>
                </a:solidFill>
                <a:latin typeface="Aptos"/>
              </a:defRPr>
            </a:pPr>
            <a:r>
              <a:t>array</a:t>
            </a:r>
          </a:p>
          <a:p>
            <a:pPr>
              <a:spcAft>
                <a:spcPts val="400"/>
              </a:spcAft>
              <a:defRPr sz="1700">
                <a:solidFill>
                  <a:srgbClr val="F5F7FA"/>
                </a:solidFill>
                <a:latin typeface="Aptos"/>
              </a:defRPr>
            </a:pPr>
            <a:r>
              <a:t>string</a:t>
            </a:r>
          </a:p>
          <a:p>
            <a:pPr>
              <a:spcAft>
                <a:spcPts val="400"/>
              </a:spcAft>
              <a:defRPr sz="1700">
                <a:solidFill>
                  <a:srgbClr val="F5F7FA"/>
                </a:solidFill>
                <a:latin typeface="Aptos"/>
              </a:defRPr>
            </a:pPr>
            <a:r>
              <a:t>number</a:t>
            </a:r>
          </a:p>
          <a:p>
            <a:pPr>
              <a:spcAft>
                <a:spcPts val="400"/>
              </a:spcAft>
              <a:defRPr sz="1700">
                <a:solidFill>
                  <a:srgbClr val="F5F7FA"/>
                </a:solidFill>
                <a:latin typeface="Aptos"/>
              </a:defRPr>
            </a:pPr>
            <a:r>
              <a:t>boolean</a:t>
            </a:r>
          </a:p>
          <a:p>
            <a:pPr>
              <a:spcAft>
                <a:spcPts val="400"/>
              </a:spcAft>
              <a:defRPr sz="1700">
                <a:solidFill>
                  <a:srgbClr val="F5F7FA"/>
                </a:solidFill>
                <a:latin typeface="Aptos"/>
              </a:defRPr>
            </a:pPr>
            <a:r>
              <a:t>null</a:t>
            </a:r>
          </a:p>
        </p:txBody>
      </p:sp>
      <p:sp>
        <p:nvSpPr>
          <p:cNvPr id="8" name="Rounded Rectangle 7"/>
          <p:cNvSpPr/>
          <p:nvPr/>
        </p:nvSpPr>
        <p:spPr>
          <a:xfrm>
            <a:off x="804672" y="5650992"/>
            <a:ext cx="10533888" cy="457200"/>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7FA"/>
                </a:solidFill>
                <a:latin typeface="Aptos"/>
              </a:defRPr>
            </a:pPr>
            <a:r>
              <a:t>JSON is simple enough to read quickly and flexible enough to model nested data.</a:t>
            </a:r>
          </a:p>
        </p:txBody>
      </p:sp>
      <p:sp>
        <p:nvSpPr>
          <p:cNvPr id="9" name="TextBox 8"/>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Students should leave with a clear definition, not just a vague association with JavaScript.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746504"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History</a:t>
            </a:r>
          </a:p>
        </p:txBody>
      </p:sp>
      <p:sp>
        <p:nvSpPr>
          <p:cNvPr id="5" name="TextBox 4"/>
          <p:cNvSpPr txBox="1"/>
          <p:nvPr/>
        </p:nvSpPr>
        <p:spPr>
          <a:xfrm>
            <a:off x="685800" y="841248"/>
            <a:ext cx="9966960" cy="685800"/>
          </a:xfrm>
          <a:prstGeom prst="rect">
            <a:avLst/>
          </a:prstGeom>
          <a:noFill/>
        </p:spPr>
        <p:txBody>
          <a:bodyPr wrap="square">
            <a:spAutoFit/>
          </a:bodyPr>
          <a:lstStyle/>
          <a:p>
            <a:pPr>
              <a:defRPr sz="2600" b="1">
                <a:solidFill>
                  <a:srgbClr val="F5F7FA"/>
                </a:solidFill>
                <a:latin typeface="Aptos Display"/>
              </a:defRPr>
            </a:pPr>
            <a:r>
              <a:t>Why JSON Became Popular</a:t>
            </a:r>
          </a:p>
        </p:txBody>
      </p:sp>
      <p:sp>
        <p:nvSpPr>
          <p:cNvPr id="6" name="TextBox 5"/>
          <p:cNvSpPr txBox="1"/>
          <p:nvPr/>
        </p:nvSpPr>
        <p:spPr>
          <a:xfrm>
            <a:off x="777240" y="1645920"/>
            <a:ext cx="6537960" cy="3794760"/>
          </a:xfrm>
          <a:prstGeom prst="rect">
            <a:avLst/>
          </a:prstGeom>
          <a:noFill/>
        </p:spPr>
        <p:txBody>
          <a:bodyPr wrap="square">
            <a:spAutoFit/>
          </a:bodyPr>
          <a:lstStyle/>
          <a:p>
            <a:pPr>
              <a:spcAft>
                <a:spcPts val="800"/>
              </a:spcAft>
              <a:defRPr sz="1900">
                <a:solidFill>
                  <a:srgbClr val="F5F7FA"/>
                </a:solidFill>
                <a:latin typeface="Aptos"/>
              </a:defRPr>
            </a:pPr>
            <a:r>
              <a:t>- It fit web development very well</a:t>
            </a:r>
          </a:p>
          <a:p>
            <a:pPr>
              <a:spcAft>
                <a:spcPts val="800"/>
              </a:spcAft>
              <a:defRPr sz="1900">
                <a:solidFill>
                  <a:srgbClr val="F5F7FA"/>
                </a:solidFill>
                <a:latin typeface="Aptos"/>
              </a:defRPr>
            </a:pPr>
            <a:r>
              <a:t>- It was lighter than XML for many tasks</a:t>
            </a:r>
          </a:p>
          <a:p>
            <a:pPr>
              <a:spcAft>
                <a:spcPts val="800"/>
              </a:spcAft>
              <a:defRPr sz="1900">
                <a:solidFill>
                  <a:srgbClr val="F5F7FA"/>
                </a:solidFill>
                <a:latin typeface="Aptos"/>
              </a:defRPr>
            </a:pPr>
            <a:r>
              <a:t>- It mapped cleanly to programming objects and lists</a:t>
            </a:r>
          </a:p>
          <a:p>
            <a:pPr>
              <a:spcAft>
                <a:spcPts val="800"/>
              </a:spcAft>
              <a:defRPr sz="1900">
                <a:solidFill>
                  <a:srgbClr val="F5F7FA"/>
                </a:solidFill>
                <a:latin typeface="Aptos"/>
              </a:defRPr>
            </a:pPr>
            <a:r>
              <a:t>- It was easy for humans to read and machines to parse</a:t>
            </a:r>
          </a:p>
        </p:txBody>
      </p:sp>
      <p:sp>
        <p:nvSpPr>
          <p:cNvPr id="7" name="Rounded Rectangle 6"/>
          <p:cNvSpPr/>
          <p:nvPr/>
        </p:nvSpPr>
        <p:spPr>
          <a:xfrm>
            <a:off x="8028431" y="1444752"/>
            <a:ext cx="3310128" cy="429768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400"/>
              </a:spcAft>
              <a:defRPr sz="1700">
                <a:solidFill>
                  <a:srgbClr val="F5F7FA"/>
                </a:solidFill>
                <a:latin typeface="Aptos"/>
              </a:defRPr>
            </a:pPr>
            <a:r>
              <a:t>web APIs</a:t>
            </a:r>
          </a:p>
          <a:p>
            <a:pPr>
              <a:spcAft>
                <a:spcPts val="400"/>
              </a:spcAft>
              <a:defRPr sz="1700">
                <a:solidFill>
                  <a:srgbClr val="F5F7FA"/>
                </a:solidFill>
                <a:latin typeface="Aptos"/>
              </a:defRPr>
            </a:pPr>
            <a:r>
              <a:t>XML</a:t>
            </a:r>
          </a:p>
          <a:p>
            <a:pPr>
              <a:spcAft>
                <a:spcPts val="400"/>
              </a:spcAft>
              <a:defRPr sz="1700">
                <a:solidFill>
                  <a:srgbClr val="F5F7FA"/>
                </a:solidFill>
                <a:latin typeface="Aptos"/>
              </a:defRPr>
            </a:pPr>
            <a:r>
              <a:t>lightweight</a:t>
            </a:r>
          </a:p>
          <a:p>
            <a:pPr>
              <a:spcAft>
                <a:spcPts val="400"/>
              </a:spcAft>
              <a:defRPr sz="1700">
                <a:solidFill>
                  <a:srgbClr val="F5F7FA"/>
                </a:solidFill>
                <a:latin typeface="Aptos"/>
              </a:defRPr>
            </a:pPr>
            <a:r>
              <a:t>cross-language</a:t>
            </a:r>
          </a:p>
        </p:txBody>
      </p:sp>
      <p:sp>
        <p:nvSpPr>
          <p:cNvPr id="8" name="Rounded Rectangle 7"/>
          <p:cNvSpPr/>
          <p:nvPr/>
        </p:nvSpPr>
        <p:spPr>
          <a:xfrm>
            <a:off x="804672" y="5650992"/>
            <a:ext cx="10533888" cy="457200"/>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7FA"/>
                </a:solidFill>
                <a:latin typeface="Aptos"/>
              </a:defRPr>
            </a:pPr>
            <a:r>
              <a:t>JSON spread because it was practical, not because it was magical.</a:t>
            </a:r>
          </a:p>
        </p:txBody>
      </p:sp>
      <p:sp>
        <p:nvSpPr>
          <p:cNvPr id="9" name="TextBox 8"/>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This is the history students need: practical usefulness, not trivia.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627632"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Syntax</a:t>
            </a:r>
          </a:p>
        </p:txBody>
      </p:sp>
      <p:sp>
        <p:nvSpPr>
          <p:cNvPr id="5" name="TextBox 4"/>
          <p:cNvSpPr txBox="1"/>
          <p:nvPr/>
        </p:nvSpPr>
        <p:spPr>
          <a:xfrm>
            <a:off x="685800" y="841248"/>
            <a:ext cx="9966960" cy="685800"/>
          </a:xfrm>
          <a:prstGeom prst="rect">
            <a:avLst/>
          </a:prstGeom>
          <a:noFill/>
        </p:spPr>
        <p:txBody>
          <a:bodyPr wrap="square">
            <a:spAutoFit/>
          </a:bodyPr>
          <a:lstStyle/>
          <a:p>
            <a:pPr>
              <a:defRPr sz="2600" b="1">
                <a:solidFill>
                  <a:srgbClr val="F5F7FA"/>
                </a:solidFill>
                <a:latin typeface="Aptos Display"/>
              </a:defRPr>
            </a:pPr>
            <a:r>
              <a:t>JSON Syntax Basics</a:t>
            </a:r>
          </a:p>
        </p:txBody>
      </p:sp>
      <p:sp>
        <p:nvSpPr>
          <p:cNvPr id="6" name="TextBox 5"/>
          <p:cNvSpPr txBox="1"/>
          <p:nvPr/>
        </p:nvSpPr>
        <p:spPr>
          <a:xfrm>
            <a:off x="777240" y="1645920"/>
            <a:ext cx="3977639" cy="3886200"/>
          </a:xfrm>
          <a:prstGeom prst="rect">
            <a:avLst/>
          </a:prstGeom>
          <a:noFill/>
        </p:spPr>
        <p:txBody>
          <a:bodyPr wrap="square">
            <a:spAutoFit/>
          </a:bodyPr>
          <a:lstStyle/>
          <a:p>
            <a:pPr>
              <a:spcAft>
                <a:spcPts val="800"/>
              </a:spcAft>
              <a:defRPr sz="1800">
                <a:solidFill>
                  <a:srgbClr val="F5F7FA"/>
                </a:solidFill>
                <a:latin typeface="Aptos"/>
              </a:defRPr>
            </a:pPr>
            <a:r>
              <a:t>- Objects use { }</a:t>
            </a:r>
          </a:p>
          <a:p>
            <a:pPr>
              <a:spcAft>
                <a:spcPts val="800"/>
              </a:spcAft>
              <a:defRPr sz="1800">
                <a:solidFill>
                  <a:srgbClr val="F5F7FA"/>
                </a:solidFill>
                <a:latin typeface="Aptos"/>
              </a:defRPr>
            </a:pPr>
            <a:r>
              <a:t>- Arrays use [ ]</a:t>
            </a:r>
          </a:p>
          <a:p>
            <a:pPr>
              <a:spcAft>
                <a:spcPts val="800"/>
              </a:spcAft>
              <a:defRPr sz="1800">
                <a:solidFill>
                  <a:srgbClr val="F5F7FA"/>
                </a:solidFill>
                <a:latin typeface="Aptos"/>
              </a:defRPr>
            </a:pPr>
            <a:r>
              <a:t>- Keys use double quotes</a:t>
            </a:r>
          </a:p>
          <a:p>
            <a:pPr>
              <a:spcAft>
                <a:spcPts val="800"/>
              </a:spcAft>
              <a:defRPr sz="1800">
                <a:solidFill>
                  <a:srgbClr val="F5F7FA"/>
                </a:solidFill>
                <a:latin typeface="Aptos"/>
              </a:defRPr>
            </a:pPr>
            <a:r>
              <a:t>- JSON does not allow comments</a:t>
            </a:r>
          </a:p>
        </p:txBody>
      </p:sp>
      <p:sp>
        <p:nvSpPr>
          <p:cNvPr id="7" name="Rounded Rectangle 6"/>
          <p:cNvSpPr/>
          <p:nvPr/>
        </p:nvSpPr>
        <p:spPr>
          <a:xfrm>
            <a:off x="4937760" y="1572768"/>
            <a:ext cx="6309360" cy="4160520"/>
          </a:xfrm>
          <a:prstGeom prst="roundRect">
            <a:avLst/>
          </a:prstGeom>
          <a:solidFill>
            <a:srgbClr val="15375F"/>
          </a:solidFill>
          <a:ln w="1524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7BE0D6"/>
                </a:solidFill>
                <a:latin typeface="Aptos"/>
              </a:defRPr>
            </a:pPr>
            <a:r>
              <a:t>Valid JSON object</a:t>
            </a:r>
          </a:p>
          <a:p>
            <a:pPr>
              <a:defRPr sz="1400">
                <a:solidFill>
                  <a:srgbClr val="F5F7FA"/>
                </a:solidFill>
                <a:latin typeface="Courier New"/>
              </a:defRPr>
            </a:pPr>
            <a:r>
              <a:t>{</a:t>
            </a:r>
            <a:br/>
            <a:r>
              <a:t>  "student_id": 1,</a:t>
            </a:r>
            <a:br/>
            <a:r>
              <a:t>  "student_name": "Ava Lee",</a:t>
            </a:r>
            <a:br/>
            <a:r>
              <a:t>  "active": true,</a:t>
            </a:r>
            <a:br/>
            <a:r>
              <a:t>  "advisor": null</a:t>
            </a:r>
            <a:br/>
            <a:r>
              <a:t>}</a:t>
            </a:r>
          </a:p>
        </p:txBody>
      </p:sp>
      <p:sp>
        <p:nvSpPr>
          <p:cNvPr id="8" name="TextBox 7"/>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Keep the syntax rules small and concrete.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746504"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Choices</a:t>
            </a:r>
          </a:p>
        </p:txBody>
      </p:sp>
      <p:sp>
        <p:nvSpPr>
          <p:cNvPr id="5" name="TextBox 4"/>
          <p:cNvSpPr txBox="1"/>
          <p:nvPr/>
        </p:nvSpPr>
        <p:spPr>
          <a:xfrm>
            <a:off x="685800" y="841248"/>
            <a:ext cx="10058400" cy="685800"/>
          </a:xfrm>
          <a:prstGeom prst="rect">
            <a:avLst/>
          </a:prstGeom>
          <a:noFill/>
        </p:spPr>
        <p:txBody>
          <a:bodyPr wrap="square">
            <a:spAutoFit/>
          </a:bodyPr>
          <a:lstStyle/>
          <a:p>
            <a:pPr>
              <a:defRPr sz="2600" b="1">
                <a:solidFill>
                  <a:srgbClr val="F5F7FA"/>
                </a:solidFill>
                <a:latin typeface="Aptos Display"/>
              </a:defRPr>
            </a:pPr>
            <a:r>
              <a:t>The Same CSV Data Can Become Different JSON</a:t>
            </a:r>
          </a:p>
        </p:txBody>
      </p:sp>
      <p:sp>
        <p:nvSpPr>
          <p:cNvPr id="6" name="Rounded Rectangle 5"/>
          <p:cNvSpPr/>
          <p:nvPr/>
        </p:nvSpPr>
        <p:spPr>
          <a:xfrm>
            <a:off x="777240" y="1664208"/>
            <a:ext cx="5212080" cy="3886200"/>
          </a:xfrm>
          <a:prstGeom prst="roundRect">
            <a:avLst/>
          </a:prstGeom>
          <a:solidFill>
            <a:srgbClr val="15375F"/>
          </a:solidFill>
          <a:ln w="1524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7BF56"/>
                </a:solidFill>
                <a:latin typeface="Aptos"/>
              </a:defRPr>
            </a:pPr>
            <a:r>
              <a:t>Option A: table-like</a:t>
            </a:r>
          </a:p>
          <a:p>
            <a:pPr>
              <a:spcAft>
                <a:spcPts val="700"/>
              </a:spcAft>
              <a:defRPr sz="1600">
                <a:solidFill>
                  <a:srgbClr val="F5F7FA"/>
                </a:solidFill>
                <a:latin typeface="Aptos"/>
              </a:defRPr>
            </a:pPr>
            <a:r>
              <a:t>- Keep one array per CSV</a:t>
            </a:r>
          </a:p>
          <a:p>
            <a:pPr>
              <a:spcAft>
                <a:spcPts val="700"/>
              </a:spcAft>
              <a:defRPr sz="1600">
                <a:solidFill>
                  <a:srgbClr val="F5F7FA"/>
                </a:solidFill>
                <a:latin typeface="Aptos"/>
              </a:defRPr>
            </a:pPr>
            <a:r>
              <a:t>- Feels close to table thinking</a:t>
            </a:r>
          </a:p>
          <a:p>
            <a:pPr>
              <a:spcAft>
                <a:spcPts val="700"/>
              </a:spcAft>
              <a:defRPr sz="1600">
                <a:solidFill>
                  <a:srgbClr val="F5F7FA"/>
                </a:solidFill>
                <a:latin typeface="Aptos"/>
              </a:defRPr>
            </a:pPr>
            <a:r>
              <a:t>- Easy to trace back to the source files</a:t>
            </a:r>
          </a:p>
          <a:p>
            <a:pPr>
              <a:spcAft>
                <a:spcPts val="700"/>
              </a:spcAft>
              <a:defRPr sz="1600">
                <a:solidFill>
                  <a:srgbClr val="F5F7FA"/>
                </a:solidFill>
                <a:latin typeface="Aptos"/>
              </a:defRPr>
            </a:pPr>
            <a:r>
              <a:t>- Good when preserving source structure matters</a:t>
            </a:r>
          </a:p>
        </p:txBody>
      </p:sp>
      <p:sp>
        <p:nvSpPr>
          <p:cNvPr id="7" name="Rounded Rectangle 6"/>
          <p:cNvSpPr/>
          <p:nvPr/>
        </p:nvSpPr>
        <p:spPr>
          <a:xfrm>
            <a:off x="6199632" y="1664208"/>
            <a:ext cx="5212080" cy="3886200"/>
          </a:xfrm>
          <a:prstGeom prst="roundRect">
            <a:avLst/>
          </a:prstGeom>
          <a:solidFill>
            <a:srgbClr val="15375F"/>
          </a:solidFill>
          <a:ln w="1524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800" b="1">
                <a:solidFill>
                  <a:srgbClr val="F7BF56"/>
                </a:solidFill>
                <a:latin typeface="Aptos"/>
              </a:defRPr>
            </a:pPr>
            <a:r>
              <a:t>Option B: nested</a:t>
            </a:r>
          </a:p>
          <a:p>
            <a:pPr>
              <a:spcAft>
                <a:spcPts val="700"/>
              </a:spcAft>
              <a:defRPr sz="1600">
                <a:solidFill>
                  <a:srgbClr val="F5F7FA"/>
                </a:solidFill>
                <a:latin typeface="Aptos"/>
              </a:defRPr>
            </a:pPr>
            <a:r>
              <a:t>- Group by student or by course</a:t>
            </a:r>
          </a:p>
          <a:p>
            <a:pPr>
              <a:spcAft>
                <a:spcPts val="700"/>
              </a:spcAft>
              <a:defRPr sz="1600">
                <a:solidFill>
                  <a:srgbClr val="F5F7FA"/>
                </a:solidFill>
                <a:latin typeface="Aptos"/>
              </a:defRPr>
            </a:pPr>
            <a:r>
              <a:t>- Feels closer to an application view</a:t>
            </a:r>
          </a:p>
          <a:p>
            <a:pPr>
              <a:spcAft>
                <a:spcPts val="700"/>
              </a:spcAft>
              <a:defRPr sz="1600">
                <a:solidFill>
                  <a:srgbClr val="F5F7FA"/>
                </a:solidFill>
                <a:latin typeface="Aptos"/>
              </a:defRPr>
            </a:pPr>
            <a:r>
              <a:t>- May repeat some information</a:t>
            </a:r>
          </a:p>
          <a:p>
            <a:pPr>
              <a:spcAft>
                <a:spcPts val="700"/>
              </a:spcAft>
              <a:defRPr sz="1600">
                <a:solidFill>
                  <a:srgbClr val="F5F7FA"/>
                </a:solidFill>
                <a:latin typeface="Aptos"/>
              </a:defRPr>
            </a:pPr>
            <a:r>
              <a:t>- Good when one screen reads related data together</a:t>
            </a:r>
          </a:p>
        </p:txBody>
      </p:sp>
      <p:sp>
        <p:nvSpPr>
          <p:cNvPr id="8" name="Rounded Rectangle 7"/>
          <p:cNvSpPr/>
          <p:nvPr/>
        </p:nvSpPr>
        <p:spPr>
          <a:xfrm>
            <a:off x="804672" y="5650992"/>
            <a:ext cx="10533888" cy="457200"/>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7FA"/>
                </a:solidFill>
                <a:latin typeface="Aptos"/>
              </a:defRPr>
            </a:pPr>
            <a:r>
              <a:t>There are many right answers. The right question is: what does this structure make easy to read?</a:t>
            </a:r>
          </a:p>
        </p:txBody>
      </p:sp>
      <p:sp>
        <p:nvSpPr>
          <p:cNvPr id="9" name="TextBox 8"/>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This is the bridge from CSV tables to document thinking.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746504"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Example</a:t>
            </a:r>
          </a:p>
        </p:txBody>
      </p:sp>
      <p:sp>
        <p:nvSpPr>
          <p:cNvPr id="5" name="TextBox 4"/>
          <p:cNvSpPr txBox="1"/>
          <p:nvPr/>
        </p:nvSpPr>
        <p:spPr>
          <a:xfrm>
            <a:off x="685800" y="841248"/>
            <a:ext cx="9966960" cy="685800"/>
          </a:xfrm>
          <a:prstGeom prst="rect">
            <a:avLst/>
          </a:prstGeom>
          <a:noFill/>
        </p:spPr>
        <p:txBody>
          <a:bodyPr wrap="square">
            <a:spAutoFit/>
          </a:bodyPr>
          <a:lstStyle/>
          <a:p>
            <a:pPr>
              <a:defRPr sz="2600" b="1">
                <a:solidFill>
                  <a:srgbClr val="F5F7FA"/>
                </a:solidFill>
                <a:latin typeface="Aptos Display"/>
              </a:defRPr>
            </a:pPr>
            <a:r>
              <a:t>One Valid Nested Example</a:t>
            </a:r>
          </a:p>
        </p:txBody>
      </p:sp>
      <p:sp>
        <p:nvSpPr>
          <p:cNvPr id="6" name="TextBox 5"/>
          <p:cNvSpPr txBox="1"/>
          <p:nvPr/>
        </p:nvSpPr>
        <p:spPr>
          <a:xfrm>
            <a:off x="777240" y="1645920"/>
            <a:ext cx="3977639" cy="3886200"/>
          </a:xfrm>
          <a:prstGeom prst="rect">
            <a:avLst/>
          </a:prstGeom>
          <a:noFill/>
        </p:spPr>
        <p:txBody>
          <a:bodyPr wrap="square">
            <a:spAutoFit/>
          </a:bodyPr>
          <a:lstStyle/>
          <a:p>
            <a:pPr>
              <a:spcAft>
                <a:spcPts val="800"/>
              </a:spcAft>
              <a:defRPr sz="1800">
                <a:solidFill>
                  <a:srgbClr val="F5F7FA"/>
                </a:solidFill>
                <a:latin typeface="Aptos"/>
              </a:defRPr>
            </a:pPr>
            <a:r>
              <a:t>- This version groups by student</a:t>
            </a:r>
          </a:p>
          <a:p>
            <a:pPr>
              <a:spcAft>
                <a:spcPts val="800"/>
              </a:spcAft>
              <a:defRPr sz="1800">
                <a:solidFill>
                  <a:srgbClr val="F5F7FA"/>
                </a:solidFill>
                <a:latin typeface="Aptos"/>
              </a:defRPr>
            </a:pPr>
            <a:r>
              <a:t>- Enrollments are nested under each student</a:t>
            </a:r>
          </a:p>
          <a:p>
            <a:pPr>
              <a:spcAft>
                <a:spcPts val="800"/>
              </a:spcAft>
              <a:defRPr sz="1800">
                <a:solidFill>
                  <a:srgbClr val="F5F7FA"/>
                </a:solidFill>
                <a:latin typeface="Aptos"/>
              </a:defRPr>
            </a:pPr>
            <a:r>
              <a:t>- Course information can be repeated if useful</a:t>
            </a:r>
          </a:p>
          <a:p>
            <a:pPr>
              <a:spcAft>
                <a:spcPts val="800"/>
              </a:spcAft>
              <a:defRPr sz="1800">
                <a:solidFill>
                  <a:srgbClr val="F5F7FA"/>
                </a:solidFill>
                <a:latin typeface="Aptos"/>
              </a:defRPr>
            </a:pPr>
            <a:r>
              <a:t>- Another valid answer could group by course instead</a:t>
            </a:r>
          </a:p>
        </p:txBody>
      </p:sp>
      <p:sp>
        <p:nvSpPr>
          <p:cNvPr id="7" name="Rounded Rectangle 6"/>
          <p:cNvSpPr/>
          <p:nvPr/>
        </p:nvSpPr>
        <p:spPr>
          <a:xfrm>
            <a:off x="4937760" y="1572768"/>
            <a:ext cx="6309360" cy="4160520"/>
          </a:xfrm>
          <a:prstGeom prst="roundRect">
            <a:avLst/>
          </a:prstGeom>
          <a:solidFill>
            <a:srgbClr val="15375F"/>
          </a:solidFill>
          <a:ln w="1524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600" b="1">
                <a:solidFill>
                  <a:srgbClr val="7BE0D6"/>
                </a:solidFill>
                <a:latin typeface="Aptos"/>
              </a:defRPr>
            </a:pPr>
            <a:r>
              <a:t>Nested by student</a:t>
            </a:r>
          </a:p>
          <a:p>
            <a:pPr>
              <a:defRPr sz="1400">
                <a:solidFill>
                  <a:srgbClr val="F5F7FA"/>
                </a:solidFill>
                <a:latin typeface="Courier New"/>
              </a:defRPr>
            </a:pPr>
            <a:r>
              <a:t>[</a:t>
            </a:r>
            <a:br/>
            <a:r>
              <a:t>  {</a:t>
            </a:r>
            <a:br/>
            <a:r>
              <a:t>    "student_id": 1,</a:t>
            </a:r>
            <a:br/>
            <a:r>
              <a:t>    "student_name": "Ava Lee",</a:t>
            </a:r>
            <a:br/>
            <a:r>
              <a:t>    "enrollments": [</a:t>
            </a:r>
            <a:br/>
            <a:r>
              <a:t>      {</a:t>
            </a:r>
            <a:br/>
            <a:r>
              <a:t>        "course_id": "CST4714",</a:t>
            </a:r>
            <a:br/>
            <a:r>
              <a:t>        "course_title": "Database Administration"</a:t>
            </a:r>
            <a:br/>
            <a:r>
              <a:t>      }</a:t>
            </a:r>
            <a:br/>
            <a:r>
              <a:t>    ]</a:t>
            </a:r>
            <a:br/>
            <a:r>
              <a:t>  }</a:t>
            </a:r>
            <a:br/>
            <a:r>
              <a:t>]</a:t>
            </a:r>
          </a:p>
        </p:txBody>
      </p:sp>
      <p:sp>
        <p:nvSpPr>
          <p:cNvPr id="8" name="TextBox 7"/>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Show one concrete model, then remind students that it is only one option.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46304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Task</a:t>
            </a:r>
          </a:p>
        </p:txBody>
      </p:sp>
      <p:sp>
        <p:nvSpPr>
          <p:cNvPr id="5" name="TextBox 4"/>
          <p:cNvSpPr txBox="1"/>
          <p:nvPr/>
        </p:nvSpPr>
        <p:spPr>
          <a:xfrm>
            <a:off x="685800" y="841248"/>
            <a:ext cx="9966960" cy="685800"/>
          </a:xfrm>
          <a:prstGeom prst="rect">
            <a:avLst/>
          </a:prstGeom>
          <a:noFill/>
        </p:spPr>
        <p:txBody>
          <a:bodyPr wrap="square">
            <a:spAutoFit/>
          </a:bodyPr>
          <a:lstStyle/>
          <a:p>
            <a:pPr>
              <a:defRPr sz="2600" b="1">
                <a:solidFill>
                  <a:srgbClr val="F5F7FA"/>
                </a:solidFill>
                <a:latin typeface="Aptos Display"/>
              </a:defRPr>
            </a:pPr>
            <a:r>
              <a:t>What You Will Do In Class</a:t>
            </a:r>
          </a:p>
        </p:txBody>
      </p:sp>
      <p:sp>
        <p:nvSpPr>
          <p:cNvPr id="6" name="TextBox 5"/>
          <p:cNvSpPr txBox="1"/>
          <p:nvPr/>
        </p:nvSpPr>
        <p:spPr>
          <a:xfrm>
            <a:off x="777240" y="1645920"/>
            <a:ext cx="6537960" cy="3794760"/>
          </a:xfrm>
          <a:prstGeom prst="rect">
            <a:avLst/>
          </a:prstGeom>
          <a:noFill/>
        </p:spPr>
        <p:txBody>
          <a:bodyPr wrap="square">
            <a:spAutoFit/>
          </a:bodyPr>
          <a:lstStyle/>
          <a:p>
            <a:pPr>
              <a:spcAft>
                <a:spcPts val="800"/>
              </a:spcAft>
              <a:defRPr sz="1900">
                <a:solidFill>
                  <a:srgbClr val="F5F7FA"/>
                </a:solidFill>
                <a:latin typeface="Aptos"/>
              </a:defRPr>
            </a:pPr>
            <a:r>
              <a:t>- Open the three CSV files</a:t>
            </a:r>
          </a:p>
          <a:p>
            <a:pPr>
              <a:spcAft>
                <a:spcPts val="800"/>
              </a:spcAft>
              <a:defRPr sz="1900">
                <a:solidFill>
                  <a:srgbClr val="F5F7FA"/>
                </a:solidFill>
                <a:latin typeface="Aptos"/>
              </a:defRPr>
            </a:pPr>
            <a:r>
              <a:t>- Write one table-like JSON version</a:t>
            </a:r>
          </a:p>
          <a:p>
            <a:pPr>
              <a:spcAft>
                <a:spcPts val="800"/>
              </a:spcAft>
              <a:defRPr sz="1900">
                <a:solidFill>
                  <a:srgbClr val="F5F7FA"/>
                </a:solidFill>
                <a:latin typeface="Aptos"/>
              </a:defRPr>
            </a:pPr>
            <a:r>
              <a:t>- Write one different JSON version</a:t>
            </a:r>
          </a:p>
          <a:p>
            <a:pPr>
              <a:spcAft>
                <a:spcPts val="800"/>
              </a:spcAft>
              <a:defRPr sz="1900">
                <a:solidFill>
                  <a:srgbClr val="F5F7FA"/>
                </a:solidFill>
                <a:latin typeface="Aptos"/>
              </a:defRPr>
            </a:pPr>
            <a:r>
              <a:t>- Explain the tradeoffs in plain language</a:t>
            </a:r>
          </a:p>
        </p:txBody>
      </p:sp>
      <p:sp>
        <p:nvSpPr>
          <p:cNvPr id="7" name="Rounded Rectangle 6"/>
          <p:cNvSpPr/>
          <p:nvPr/>
        </p:nvSpPr>
        <p:spPr>
          <a:xfrm>
            <a:off x="8028431" y="1444752"/>
            <a:ext cx="3310128" cy="429768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400"/>
              </a:spcAft>
              <a:defRPr sz="1700">
                <a:solidFill>
                  <a:srgbClr val="F5F7FA"/>
                </a:solidFill>
                <a:latin typeface="Aptos"/>
              </a:defRPr>
            </a:pPr>
            <a:r>
              <a:t>read</a:t>
            </a:r>
          </a:p>
          <a:p>
            <a:pPr>
              <a:spcAft>
                <a:spcPts val="400"/>
              </a:spcAft>
              <a:defRPr sz="1700">
                <a:solidFill>
                  <a:srgbClr val="F5F7FA"/>
                </a:solidFill>
                <a:latin typeface="Aptos"/>
              </a:defRPr>
            </a:pPr>
            <a:r>
              <a:t>represent</a:t>
            </a:r>
          </a:p>
          <a:p>
            <a:pPr>
              <a:spcAft>
                <a:spcPts val="400"/>
              </a:spcAft>
              <a:defRPr sz="1700">
                <a:solidFill>
                  <a:srgbClr val="F5F7FA"/>
                </a:solidFill>
                <a:latin typeface="Aptos"/>
              </a:defRPr>
            </a:pPr>
            <a:r>
              <a:t>justify</a:t>
            </a:r>
          </a:p>
          <a:p>
            <a:pPr>
              <a:spcAft>
                <a:spcPts val="400"/>
              </a:spcAft>
              <a:defRPr sz="1700">
                <a:solidFill>
                  <a:srgbClr val="F5F7FA"/>
                </a:solidFill>
                <a:latin typeface="Aptos"/>
              </a:defRPr>
            </a:pPr>
            <a:r>
              <a:t>plain text editor</a:t>
            </a:r>
          </a:p>
        </p:txBody>
      </p:sp>
      <p:sp>
        <p:nvSpPr>
          <p:cNvPr id="8" name="Rounded Rectangle 7"/>
          <p:cNvSpPr/>
          <p:nvPr/>
        </p:nvSpPr>
        <p:spPr>
          <a:xfrm>
            <a:off x="804672" y="5650992"/>
            <a:ext cx="10533888" cy="457200"/>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7FA"/>
                </a:solidFill>
                <a:latin typeface="Aptos"/>
              </a:defRPr>
            </a:pPr>
            <a:r>
              <a:t>Use a text editor or GitHub browser editor only.</a:t>
            </a:r>
          </a:p>
        </p:txBody>
      </p:sp>
      <p:sp>
        <p:nvSpPr>
          <p:cNvPr id="9" name="TextBox 8"/>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The assignment is about representation choices, not about writing queries.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91527"/>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F7B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8321040" y="384048"/>
            <a:ext cx="3200400" cy="420624"/>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85800" y="411480"/>
            <a:ext cx="1508760" cy="347472"/>
          </a:xfrm>
          <a:prstGeom prst="roundRect">
            <a:avLst/>
          </a:prstGeom>
          <a:solidFill>
            <a:srgbClr val="112D4E"/>
          </a:solidFill>
          <a:ln w="12700">
            <a:solidFill>
              <a:srgbClr val="7BE0D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7BE0D6"/>
                </a:solidFill>
                <a:latin typeface="Aptos"/>
              </a:defRPr>
            </a:pPr>
            <a:r>
              <a:t>Close</a:t>
            </a:r>
          </a:p>
        </p:txBody>
      </p:sp>
      <p:sp>
        <p:nvSpPr>
          <p:cNvPr id="5" name="TextBox 4"/>
          <p:cNvSpPr txBox="1"/>
          <p:nvPr/>
        </p:nvSpPr>
        <p:spPr>
          <a:xfrm>
            <a:off x="685800" y="841248"/>
            <a:ext cx="9966960" cy="685800"/>
          </a:xfrm>
          <a:prstGeom prst="rect">
            <a:avLst/>
          </a:prstGeom>
          <a:noFill/>
        </p:spPr>
        <p:txBody>
          <a:bodyPr wrap="square">
            <a:spAutoFit/>
          </a:bodyPr>
          <a:lstStyle/>
          <a:p>
            <a:pPr>
              <a:defRPr sz="2600" b="1">
                <a:solidFill>
                  <a:srgbClr val="F5F7FA"/>
                </a:solidFill>
                <a:latin typeface="Aptos Display"/>
              </a:defRPr>
            </a:pPr>
            <a:r>
              <a:t>What You Should Leave With</a:t>
            </a:r>
          </a:p>
        </p:txBody>
      </p:sp>
      <p:sp>
        <p:nvSpPr>
          <p:cNvPr id="6" name="TextBox 5"/>
          <p:cNvSpPr txBox="1"/>
          <p:nvPr/>
        </p:nvSpPr>
        <p:spPr>
          <a:xfrm>
            <a:off x="777240" y="1645920"/>
            <a:ext cx="6537960" cy="3794760"/>
          </a:xfrm>
          <a:prstGeom prst="rect">
            <a:avLst/>
          </a:prstGeom>
          <a:noFill/>
        </p:spPr>
        <p:txBody>
          <a:bodyPr wrap="square">
            <a:spAutoFit/>
          </a:bodyPr>
          <a:lstStyle/>
          <a:p>
            <a:pPr>
              <a:spcAft>
                <a:spcPts val="800"/>
              </a:spcAft>
              <a:defRPr sz="1900">
                <a:solidFill>
                  <a:srgbClr val="F5F7FA"/>
                </a:solidFill>
                <a:latin typeface="Aptos"/>
              </a:defRPr>
            </a:pPr>
            <a:r>
              <a:t>- You know what Atlas is for</a:t>
            </a:r>
          </a:p>
          <a:p>
            <a:pPr>
              <a:spcAft>
                <a:spcPts val="800"/>
              </a:spcAft>
              <a:defRPr sz="1900">
                <a:solidFill>
                  <a:srgbClr val="F5F7FA"/>
                </a:solidFill>
                <a:latin typeface="Aptos"/>
              </a:defRPr>
            </a:pPr>
            <a:r>
              <a:t>- You know where GitHub Student fits</a:t>
            </a:r>
          </a:p>
          <a:p>
            <a:pPr>
              <a:spcAft>
                <a:spcPts val="800"/>
              </a:spcAft>
              <a:defRPr sz="1900">
                <a:solidFill>
                  <a:srgbClr val="F5F7FA"/>
                </a:solidFill>
                <a:latin typeface="Aptos"/>
              </a:defRPr>
            </a:pPr>
            <a:r>
              <a:t>- You can edit JSON in the browser</a:t>
            </a:r>
          </a:p>
          <a:p>
            <a:pPr>
              <a:spcAft>
                <a:spcPts val="800"/>
              </a:spcAft>
              <a:defRPr sz="1900">
                <a:solidFill>
                  <a:srgbClr val="F5F7FA"/>
                </a:solidFill>
                <a:latin typeface="Aptos"/>
              </a:defRPr>
            </a:pPr>
            <a:r>
              <a:t>- You can defend more than one JSON shape</a:t>
            </a:r>
          </a:p>
        </p:txBody>
      </p:sp>
      <p:sp>
        <p:nvSpPr>
          <p:cNvPr id="7" name="Rounded Rectangle 6"/>
          <p:cNvSpPr/>
          <p:nvPr/>
        </p:nvSpPr>
        <p:spPr>
          <a:xfrm>
            <a:off x="8028431" y="1444752"/>
            <a:ext cx="3310128" cy="4297680"/>
          </a:xfrm>
          <a:prstGeom prst="roundRect">
            <a:avLst/>
          </a:prstGeom>
          <a:solidFill>
            <a:srgbClr val="15375F"/>
          </a:solidFill>
          <a:ln w="16510">
            <a:solidFill>
              <a:srgbClr val="F7BF5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7BF56"/>
                </a:solidFill>
                <a:latin typeface="Aptos"/>
              </a:defRPr>
            </a:pPr>
            <a:r>
              <a:t>Key terms</a:t>
            </a:r>
          </a:p>
          <a:p>
            <a:pPr>
              <a:spcAft>
                <a:spcPts val="400"/>
              </a:spcAft>
              <a:defRPr sz="1700">
                <a:solidFill>
                  <a:srgbClr val="F5F7FA"/>
                </a:solidFill>
                <a:latin typeface="Aptos"/>
              </a:defRPr>
            </a:pPr>
            <a:r>
              <a:t>Atlas</a:t>
            </a:r>
          </a:p>
          <a:p>
            <a:pPr>
              <a:spcAft>
                <a:spcPts val="400"/>
              </a:spcAft>
              <a:defRPr sz="1700">
                <a:solidFill>
                  <a:srgbClr val="F5F7FA"/>
                </a:solidFill>
                <a:latin typeface="Aptos"/>
              </a:defRPr>
            </a:pPr>
            <a:r>
              <a:t>GitHub Student</a:t>
            </a:r>
          </a:p>
          <a:p>
            <a:pPr>
              <a:spcAft>
                <a:spcPts val="400"/>
              </a:spcAft>
              <a:defRPr sz="1700">
                <a:solidFill>
                  <a:srgbClr val="F5F7FA"/>
                </a:solidFill>
                <a:latin typeface="Aptos"/>
              </a:defRPr>
            </a:pPr>
            <a:r>
              <a:t>JSON</a:t>
            </a:r>
          </a:p>
          <a:p>
            <a:pPr>
              <a:spcAft>
                <a:spcPts val="400"/>
              </a:spcAft>
              <a:defRPr sz="1700">
                <a:solidFill>
                  <a:srgbClr val="F5F7FA"/>
                </a:solidFill>
                <a:latin typeface="Aptos"/>
              </a:defRPr>
            </a:pPr>
            <a:r>
              <a:t>multiple valid answers</a:t>
            </a:r>
          </a:p>
        </p:txBody>
      </p:sp>
      <p:sp>
        <p:nvSpPr>
          <p:cNvPr id="8" name="Rounded Rectangle 7"/>
          <p:cNvSpPr/>
          <p:nvPr/>
        </p:nvSpPr>
        <p:spPr>
          <a:xfrm>
            <a:off x="804672" y="5650992"/>
            <a:ext cx="10533888" cy="457200"/>
          </a:xfrm>
          <a:prstGeom prst="roundRect">
            <a:avLst/>
          </a:prstGeom>
          <a:solidFill>
            <a:srgbClr val="112D4E"/>
          </a:solidFill>
          <a:ln w="15240">
            <a:solidFill>
              <a:srgbClr val="FFCCB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7FA"/>
                </a:solidFill>
                <a:latin typeface="Aptos"/>
              </a:defRPr>
            </a:pPr>
            <a:r>
              <a:t>If you can explain your JSON choices clearly, MongoDB will make much more sense later.</a:t>
            </a:r>
          </a:p>
        </p:txBody>
      </p:sp>
      <p:sp>
        <p:nvSpPr>
          <p:cNvPr id="9" name="TextBox 8"/>
          <p:cNvSpPr txBox="1"/>
          <p:nvPr/>
        </p:nvSpPr>
        <p:spPr>
          <a:xfrm>
            <a:off x="685800" y="6400800"/>
            <a:ext cx="10789920" cy="237744"/>
          </a:xfrm>
          <a:prstGeom prst="rect">
            <a:avLst/>
          </a:prstGeom>
          <a:noFill/>
        </p:spPr>
        <p:txBody>
          <a:bodyPr wrap="none">
            <a:spAutoFit/>
          </a:bodyPr>
          <a:lstStyle/>
          <a:p>
            <a:pPr>
              <a:defRPr sz="1000">
                <a:solidFill>
                  <a:srgbClr val="C7D2E5"/>
                </a:solidFill>
                <a:latin typeface="Aptos"/>
              </a:defRPr>
            </a:pPr>
            <a:r>
              <a:t>End the class by connecting JSON structure to later document modeling.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