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66928"/>
            <a:ext cx="1737360" cy="402336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BE0D6"/>
                </a:solidFill>
                <a:latin typeface="Aptos"/>
              </a:defRPr>
            </a:pPr>
            <a:r>
              <a:t>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70432"/>
            <a:ext cx="9875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MongoDB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95728"/>
            <a:ext cx="8961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7D2E5"/>
                </a:solidFill>
                <a:latin typeface="Aptos"/>
              </a:defRPr>
            </a:pPr>
            <a:r>
              <a:t>Week 8 picks up after the Week 7 NoSQL bridge and focuses on MongoDB-specific modeling, querying, trade-offs, and administration.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3493008"/>
            <a:ext cx="3063240" cy="1792224"/>
          </a:xfrm>
          <a:prstGeom prst="roundRect">
            <a:avLst/>
          </a:prstGeom>
          <a:solidFill>
            <a:srgbClr val="15375F"/>
          </a:solidFill>
          <a:ln w="1778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Teaching focus</a:t>
            </a:r>
          </a:p>
          <a:p>
            <a:pPr>
              <a:spcAft>
                <a:spcPts val="4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Quick recap from Week 7</a:t>
            </a:r>
          </a:p>
          <a:p>
            <a:pPr>
              <a:spcAft>
                <a:spcPts val="4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MongoDB modeling decisions</a:t>
            </a:r>
          </a:p>
          <a:p>
            <a:pPr>
              <a:spcAft>
                <a:spcPts val="4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CRUD, aggregation, and admin trade-offs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Week 7 now carries the broad NoSQL bridge; Week 8 narrows to MongoDB itself.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60020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What Carries Over From the Week 7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720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NoSQL re-emerged because some web-scale and cloud workloads stressed relational defaults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The four major families are key-value, document, column-family, and graph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MongoDB is the document-database example for this unit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We still choose databases by workload fit, not by fashion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The DBA mindset carries forward even when the data model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44752"/>
            <a:ext cx="3310128" cy="4480560"/>
          </a:xfrm>
          <a:prstGeom prst="roundRect">
            <a:avLst/>
          </a:prstGeom>
          <a:solidFill>
            <a:srgbClr val="15375F"/>
          </a:solidFill>
          <a:ln w="1651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Key terms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NoSQL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document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polyglot persistence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workload fit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DBA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Use this as a 3-5 minute reconnect, not as a second full history lecture.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The broad NoSQL bridge now happens in Week 7 so Week 8 can move faster.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46304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Where MongoDB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16052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A MongoDB server holds databases, databases hold collections, and collections hold documents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Documents are BSON records: JSON-like, but with richer native types such as ObjectId and Date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MongoDB is strongest when the application naturally reads and writes related data together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Flexible structure does not remove governance; validation, indexes, and backups still matter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1572768"/>
            <a:ext cx="6126480" cy="4480560"/>
          </a:xfrm>
          <a:prstGeom prst="roundRect">
            <a:avLst/>
          </a:prstGeom>
          <a:solidFill>
            <a:srgbClr val="15375F"/>
          </a:solidFill>
          <a:ln w="1524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7BE0D6"/>
                </a:solidFill>
                <a:latin typeface="Aptos"/>
              </a:defRPr>
            </a:pPr>
            <a:r>
              <a:t>Sample order document</a:t>
            </a:r>
          </a:p>
          <a:p>
            <a:pPr>
              <a:defRPr sz="1300">
                <a:solidFill>
                  <a:srgbClr val="F5F7FA"/>
                </a:solidFill>
                <a:latin typeface="Courier New"/>
              </a:defRPr>
            </a:pPr>
            <a:r>
              <a:t>{</a:t>
            </a:r>
            <a:br/>
            <a:r>
              <a:t>  _id: ObjectId("65fb..."),</a:t>
            </a:r>
            <a:br/>
            <a:r>
              <a:t>  customerId: 42,</a:t>
            </a:r>
            <a:br/>
            <a:r>
              <a:t>  customerName: "A. Rivera",</a:t>
            </a:r>
            <a:br/>
            <a:r>
              <a:t>  status: "shipped",</a:t>
            </a:r>
            <a:br/>
            <a:r>
              <a:t>  shippingCity: "Tampa",</a:t>
            </a:r>
            <a:br/>
            <a:r>
              <a:t>  lineItems: [</a:t>
            </a:r>
            <a:br/>
            <a:r>
              <a:t>    { sku: "SSD-1TB", qty: 1, price: 89.99 },</a:t>
            </a:r>
            <a:br/>
            <a:r>
              <a:t>    { sku: "USB-C-HUB", qty: 2, price: 24.50 }</a:t>
            </a:r>
            <a:br/>
            <a:r>
              <a:t>  ],</a:t>
            </a:r>
            <a:br/>
            <a:r>
              <a:t>  orderedAt: ISODate("2026-03-10T14:22:00Z")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MongoDB's document model mirrors application objects more directly than a fully normalized schema.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50876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Relational Thinking vs Document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5212080" cy="4160520"/>
          </a:xfrm>
          <a:prstGeom prst="roundRect">
            <a:avLst/>
          </a:prstGeom>
          <a:solidFill>
            <a:srgbClr val="15375F"/>
          </a:solidFill>
          <a:ln w="1524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F7BF56"/>
                </a:solidFill>
                <a:latin typeface="Aptos"/>
              </a:defRPr>
            </a:pPr>
            <a:r>
              <a:t>Relational approach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Separate `customers`, `orders`, and `order_items` tables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Rebuild the order view with joins when the app needs a complete screen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Minimize duplication and enforce shared facts centrally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Best when related facts change independently or support many cross-entity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64208"/>
            <a:ext cx="5120640" cy="4160520"/>
          </a:xfrm>
          <a:prstGeom prst="roundRect">
            <a:avLst/>
          </a:prstGeom>
          <a:solidFill>
            <a:srgbClr val="15375F"/>
          </a:solidFill>
          <a:ln w="1524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F7BF56"/>
                </a:solidFill>
                <a:latin typeface="Aptos"/>
              </a:defRPr>
            </a:pPr>
            <a:r>
              <a:t>Document approach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Store an `orders` document with embedded line items and shipping snapshot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Read the whole order screen with fewer joins and fewer round trips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Accept intentional duplication if it improves the dominant read path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Best when the aggregate is usually created, read, and updated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The design question is not 'Which is modern?' It is 'Which shape matches the workload?'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Same business domain, different storage shape because the dominant queries differ.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50876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Embed or Reference?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5212080" cy="4160520"/>
          </a:xfrm>
          <a:prstGeom prst="roundRect">
            <a:avLst/>
          </a:prstGeom>
          <a:solidFill>
            <a:srgbClr val="15375F"/>
          </a:solidFill>
          <a:ln w="1524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F7BF56"/>
                </a:solidFill>
                <a:latin typeface="Aptos"/>
              </a:defRPr>
            </a:pPr>
            <a:r>
              <a:t>Embed when...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The child data is read with the parent almost every time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The relationship is one-to-few and size stays bounded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Updates happen as one business unit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Duplication is acceptable or even desirable for historical snapshots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64208"/>
            <a:ext cx="5120640" cy="4160520"/>
          </a:xfrm>
          <a:prstGeom prst="roundRect">
            <a:avLst/>
          </a:prstGeom>
          <a:solidFill>
            <a:srgbClr val="15375F"/>
          </a:solidFill>
          <a:ln w="1524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F7BF56"/>
                </a:solidFill>
                <a:latin typeface="Aptos"/>
              </a:defRPr>
            </a:pPr>
            <a:r>
              <a:t>Reference when...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The child data has an independent lifecycle or many parents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Arrays can grow without a safe bound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The workload needs separate updates, ownership, or sharing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- Many-to-many relationships would create large duplicated structures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Quick rule: bounded and read-together leans embed; shared or unbounded leans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Good MongoDB design starts with honest read/write patterns, not with maximum nesting.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46304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MongoDB CRUD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16052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`insertOne` and `insertMany` create documents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`find` uses filters and projections to return just the fields you need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`updateOne` and `updateMany` use operators like `$set`, `$inc`, and `$addToSet`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Single-document writes are atomic by default, so document boundaries matter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Always write filters carefully so updates and deletes stay targeted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1572768"/>
            <a:ext cx="6126480" cy="4480560"/>
          </a:xfrm>
          <a:prstGeom prst="roundRect">
            <a:avLst/>
          </a:prstGeom>
          <a:solidFill>
            <a:srgbClr val="15375F"/>
          </a:solidFill>
          <a:ln w="1524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7BE0D6"/>
                </a:solidFill>
                <a:latin typeface="Aptos"/>
              </a:defRPr>
            </a:pPr>
            <a:r>
              <a:t>mongosh examples</a:t>
            </a:r>
          </a:p>
          <a:p>
            <a:pPr>
              <a:defRPr sz="1300">
                <a:solidFill>
                  <a:srgbClr val="F5F7FA"/>
                </a:solidFill>
                <a:latin typeface="Courier New"/>
              </a:defRPr>
            </a:pPr>
            <a:r>
              <a:t>db.orders.insertOne({</a:t>
            </a:r>
            <a:br/>
            <a:r>
              <a:t>  customerId: 42,</a:t>
            </a:r>
            <a:br/>
            <a:r>
              <a:t>  status: "pending",</a:t>
            </a:r>
            <a:br/>
            <a:r>
              <a:t>  total: 138.99</a:t>
            </a:r>
            <a:br/>
            <a:r>
              <a:t>});</a:t>
            </a:r>
            <a:br/>
            <a:br/>
            <a:r>
              <a:t>db.orders.find(</a:t>
            </a:r>
            <a:br/>
            <a:r>
              <a:t>  { status: "pending", total: { $gte: 100 } },</a:t>
            </a:r>
            <a:br/>
            <a:r>
              <a:t>  { customerId: 1, total: 1, _id: 0 }</a:t>
            </a:r>
            <a:br/>
            <a:r>
              <a:t>);</a:t>
            </a:r>
            <a:br/>
            <a:br/>
            <a:r>
              <a:t>db.orders.updateOne(</a:t>
            </a:r>
            <a:br/>
            <a:r>
              <a:t>  { customerId: 42, status: "pending" },</a:t>
            </a:r>
            <a:br/>
            <a:r>
              <a:t>  { $set: { status: "paid" }, $inc: { retryCount: 1 } }</a:t>
            </a:r>
            <a:br/>
            <a:r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Teach students to read the filter first, then the projection or update operator.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46304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How To Think About the Aggregation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16052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Aggregation transforms documents stage by stage instead of returning raw rows only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A common mental model is: filter, reshape, group, sort, project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Ask for the business question first, then pick the stages needed to answer it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Stages like `$unwind` can multiply work, so be cautious with large arrays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Index the early match and sort fields that narrow the pipeline fastest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1572768"/>
            <a:ext cx="6126480" cy="4480560"/>
          </a:xfrm>
          <a:prstGeom prst="roundRect">
            <a:avLst/>
          </a:prstGeom>
          <a:solidFill>
            <a:srgbClr val="15375F"/>
          </a:solidFill>
          <a:ln w="1524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7BE0D6"/>
                </a:solidFill>
                <a:latin typeface="Aptos"/>
              </a:defRPr>
            </a:pPr>
            <a:r>
              <a:t>Revenue by customer</a:t>
            </a:r>
          </a:p>
          <a:p>
            <a:pPr>
              <a:defRPr sz="1300">
                <a:solidFill>
                  <a:srgbClr val="F5F7FA"/>
                </a:solidFill>
                <a:latin typeface="Courier New"/>
              </a:defRPr>
            </a:pPr>
            <a:r>
              <a:t>db.orders.aggregate([</a:t>
            </a:r>
            <a:br/>
            <a:r>
              <a:t>  { $match: { status: "shipped" } },</a:t>
            </a:r>
            <a:br/>
            <a:r>
              <a:t>  { $unwind: "$lineItems" },</a:t>
            </a:r>
            <a:br/>
            <a:r>
              <a:t>  {</a:t>
            </a:r>
            <a:br/>
            <a:r>
              <a:t>    $group: {</a:t>
            </a:r>
            <a:br/>
            <a:r>
              <a:t>      _id: "$customerId",</a:t>
            </a:r>
            <a:br/>
            <a:r>
              <a:t>      totalRevenue: {</a:t>
            </a:r>
            <a:br/>
            <a:r>
              <a:t>        $sum: { $multiply: ["$lineItems.qty", "$lineItems.price"] }</a:t>
            </a:r>
            <a:br/>
            <a:r>
              <a:t>      }</a:t>
            </a:r>
            <a:br/>
            <a:r>
              <a:t>    }</a:t>
            </a:r>
            <a:br/>
            <a:r>
              <a:t>  },</a:t>
            </a:r>
            <a:br/>
            <a:r>
              <a:t>  { $sort: { totalRevenue: -1 } },</a:t>
            </a:r>
            <a:br/>
            <a:r>
              <a:t>  { $limit: 5 }</a:t>
            </a:r>
            <a:br/>
            <a:r>
              <a:t>]);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Aggregation is easier to teach when every stage answers a visible business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60020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When MongoDB Helps and When Relational Still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720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MongoDB shines for evolving, nested, product-like, profile-like, or content-heavy data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PostgreSQL still wins for complex ad hoc joins, rigid integrity, and mature relational analytics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Denormalization can speed reads, but it creates synchronization risk when shared facts change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MongoDB supports multi-document transactions, but needing them everywhere can signal a poor fit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Choose the database by workload fit, not by the fashion of the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44752"/>
            <a:ext cx="3310128" cy="4480560"/>
          </a:xfrm>
          <a:prstGeom prst="roundRect">
            <a:avLst/>
          </a:prstGeom>
          <a:solidFill>
            <a:srgbClr val="15375F"/>
          </a:solidFill>
          <a:ln w="1651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Key terms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denormalization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transaction boundary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join-heavy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consistency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workload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Best tool for the job: the right answer is often PostgreSQL plus MongoDB, not PostgreSQL or MongoDB.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Trade-off literacy matters more than memorizing a vendor feature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60020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DBA Responsibilities Do Not Disappear in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720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Turn rules into validators, unique indexes, role boundaries, and disciplined review processes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Design indexes from actual query patterns instead of indexing every field 'just in case'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Monitor memory, page faults, replication lag, disk growth, slow queries, and connection pressure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Test backup, restore, and failover paths instead of only trusting that backups exist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Secure the cluster with authentication, network controls, TLS, and least privilege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44752"/>
            <a:ext cx="3310128" cy="4480560"/>
          </a:xfrm>
          <a:prstGeom prst="roundRect">
            <a:avLst/>
          </a:prstGeom>
          <a:solidFill>
            <a:srgbClr val="15375F"/>
          </a:solidFill>
          <a:ln w="1651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Key terms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validator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replication lag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restore test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RBAC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slow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Flexible schema moves enforcement work; it does not eliminate enforcement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Administration shifts shape, but the DBA mindset of correctness and recovery stays the same.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60020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Common Misconceptions and Anti-Patterns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720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NoSQL does not mean no schema; uncontrolled schema drift is still a real problem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Giant documents and unbounded arrays can become performance and maintenance hazards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Horizontal scale is architecture work, not a magic setting you flip on later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Using MongoDB for every relationship-heavy workflow can recreate join pain in new forms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If every feature needs broad cross-document transactions, revisit the data model choice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44752"/>
            <a:ext cx="3310128" cy="4480560"/>
          </a:xfrm>
          <a:prstGeom prst="roundRect">
            <a:avLst/>
          </a:prstGeom>
          <a:solidFill>
            <a:srgbClr val="15375F"/>
          </a:solidFill>
          <a:ln w="1651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Key terms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schema drift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unbounded array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hotspot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anti-pattern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Bad modeling in MongoDB does not disappear. It just fails differently than bad SQL modeling.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Teach students to avoid hype-driven design and to notice where document models can go wrong.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60020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Classify the Workload Before Naming a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720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Shopping catalog with variable product attributes and rich product pages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Session store that needs extremely fast key-based lookups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Fraud detection across accounts, devices, emails, and shared addresses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Sensor telemetry written continuously and queried by recent time windows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For each scenario, choose a model family and name one admin concern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44752"/>
            <a:ext cx="3310128" cy="4480560"/>
          </a:xfrm>
          <a:prstGeom prst="roundRect">
            <a:avLst/>
          </a:prstGeom>
          <a:solidFill>
            <a:srgbClr val="15375F"/>
          </a:solidFill>
          <a:ln w="1651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Key terms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document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key-value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graph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column-family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SLA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Require answers in this form: workload, query shape, consistency need, then database family.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This is where students prove they can reason about database fit instead of reciting definitions.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60020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Exit Ticket and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720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In one sentence, explain why NoSQL became prominent again in the 2000s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Name the four major NoSQL families and one fitting workload for each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Choose whether your current project idea is more relational or document-shaped and defend it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Write one embed-versus-reference decision you would make in MongoDB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Use `mongodb_nosql_review_packet.md` for retrieval practice after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44752"/>
            <a:ext cx="3310128" cy="4480560"/>
          </a:xfrm>
          <a:prstGeom prst="roundRect">
            <a:avLst/>
          </a:prstGeom>
          <a:solidFill>
            <a:srgbClr val="15375F"/>
          </a:solidFill>
          <a:ln w="1651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Key terms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retrieval practice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project fit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embed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reference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trade-off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The fastest way to forget a lecture is to only reread it. Retrieval practice forces understanding.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Close the session by forcing recall, comparison, and a concrete modeling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