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1969"/>
  </p:normalViewPr>
  <p:slideViewPr>
    <p:cSldViewPr snapToGrid="0" snapToObjects="1">
      <p:cViewPr varScale="1">
        <p:scale>
          <a:sx n="107" d="100"/>
          <a:sy n="107" d="100"/>
        </p:scale>
        <p:origin x="23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753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evcenter.heroku.com/articles/postgresql-concurrency#:~:text=Because%20different%20transactions%20have%20visibility,no%20new%20transactions%20would%20have"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www.postgresql.org/docs/current/runtime-config-vacuum.html#:~:text=%60autovacuum_vacuum_threshold%60%20%28%60integer%60%29%20%20" TargetMode="External"/><Relationship Id="rId5" Type="http://schemas.openxmlformats.org/officeDocument/2006/relationships/hyperlink" Target="https://www.postgresql.org/docs/current/sql-vacuum.html#:~:text=Description" TargetMode="External"/><Relationship Id="rId4" Type="http://schemas.openxmlformats.org/officeDocument/2006/relationships/hyperlink" Target="https://rachbelaid.com/introduction-to-postgres-physical-storage/#:~:text=The%20structure%20used%20to%20store,is%20stored%20on%20a%20page"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evcenter.heroku.com/articles/postgresql-concurrency#:~:text=One%20of%20the%20big%20selling,solution%20to%20a%20hard%20proble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evcenter.heroku.com/articles/postgresql-concurrency#:~:text=Postgres%20basically%20supports%20two%20models,update%20any%20rows%20at%20al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evcenter.heroku.com/articles/postgresql-concurrency#:~:text=One%20of%20the%20big%20selling,solution%20to%20a%20hard%20proble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evcenter.heroku.com/articles/postgresql-concurrency#:~:text=Because%20different%20transactions%20have%20visibility,no%20new%20transactions%20would%20have"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rachbelaid.com/introduction-to-postgres-physical-storage/#:~:text=The%20structure%20used%20to%20store,is%20stored%20on%20a%20page"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rachbelaid.com/introduction-to-postgres-physical-storage/#:~:text=PostgreSQL%20uses%20a%20fixed%20page,is%20implemented%2C%20most%20TOAST%27able%20column" TargetMode="External"/><Relationship Id="rId4" Type="http://schemas.openxmlformats.org/officeDocument/2006/relationships/hyperlink" Target="https://rachbelaid.com/introduction-to-postgres-physical-storage/#:~:text=The%20freespace%20map%20is%20updated,must%20then%20be%20reclaimed%20for"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postgresql.org/docs/current/sql-vacuum.html#:~:text=Description"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devcenter.heroku.com/articles/postgresql-concurrency#:~:text=Because%20different%20transactions%20have%20visibility,no%20new%20transactions%20would%20have" TargetMode="External"/><Relationship Id="rId5" Type="http://schemas.openxmlformats.org/officeDocument/2006/relationships/hyperlink" Target="https://www.postgresql.org/docs/current/sql-vacuum.html#:~:text=We%20recommend%20that%20all%20databases,about%20automatic%20and%20manual%20vacuuming" TargetMode="External"/><Relationship Id="rId4" Type="http://schemas.openxmlformats.org/officeDocument/2006/relationships/hyperlink" Target="https://www.postgresql.org/docs/current/sql-vacuum.html#:~:text=table%20into%20a%20new%20disk,while%20it%20is%20being%20processed"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postgresql.org/docs/current/sql-vacuum.html#:~:text=Normally%2C%20,software%20issue%20causing%20database%20corruption"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www.postgresql.org/docs/current/sql-vacuum.html#:~:text=Description" TargetMode="External"/><Relationship Id="rId5" Type="http://schemas.openxmlformats.org/officeDocument/2006/relationships/hyperlink" Target="https://www.postgresql.org/docs/current/sql-vacuum.html#:~:text=table%20into%20a%20new%20disk,while%20it%20is%20being%20processed" TargetMode="External"/><Relationship Id="rId4" Type="http://schemas.openxmlformats.org/officeDocument/2006/relationships/hyperlink" Target="https://www.postgresql.org/docs/current/sql-vacuum.html#:~:text=We%20recommend%20that%20all%20databases,about%20automatic%20and%20manual%20vacuuming"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postgresql.org/docs/current/runtime-config-vacuum.html#:~:text=%60autovacuum%60%20%28%60boolean%60%29%20%20"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s://www.postgresql.org/docs/current/runtime-config-vacuum.html#:~:text=%60autovacuum_vacuum_threshold%60%20%28%60integer%60%29%20%20" TargetMode="External"/><Relationship Id="rId4" Type="http://schemas.openxmlformats.org/officeDocument/2006/relationships/hyperlink" Target="https://www.postgresql.org/docs/current/runtime-config-vacuum.html#:~:text=Note%20that%20even%20when%20this,5%20for%20more%20information"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evcenter.heroku.com/articles/postgresql-concurrency#:~:text=Because%20different%20transactions%20have%20visibility,no%20new%20transactions%20would%20have"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rachbelaid.com/introduction-to-postgres-physical-storage/#:~:text=The%20freespace%20map%20is%20updated,must%20then%20be%20reclaimed%20for"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rachbelaid.com/introduction-to-postgres-physical-storage/#:~:text=PostgreSQL%20uses%20a%20fixed%20page,is%20implemented%2C%20most%20TOAST%27able%20column"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postgresql.org/docs/7.1/mvcc.html#:~:text=%3E%20Multi,provided%20the%20implementation%20for%20Postgres"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devcenter.heroku.com/articles/postgresql-concurrency#:~:text=One%20of%20the%20big%20selling,solution%20to%20a%20hard%20problem"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evcenter.heroku.com/articles/postgresql-concurrency#:~:text=One%20of%20the%20big%20selling,solution%20to%20a%20hard%20problem" TargetMode="External"/><Relationship Id="rId2" Type="http://schemas.openxmlformats.org/officeDocument/2006/relationships/slide" Target="../slides/slide19.xml"/><Relationship Id="rId1" Type="http://schemas.openxmlformats.org/officeDocument/2006/relationships/notesMaster" Target="../notesMasters/notesMaster1.xml"/><Relationship Id="rId5" Type="http://schemas.openxmlformats.org/officeDocument/2006/relationships/hyperlink" Target="https://devcenter.heroku.com/articles/postgresql-concurrency#:~:text=Because%20different%20transactions%20have%20visibility,no%20new%20transactions%20would%20have" TargetMode="External"/><Relationship Id="rId4" Type="http://schemas.openxmlformats.org/officeDocument/2006/relationships/hyperlink" Target="https://www.postgresql.org/docs/current/runtime-config-vacuum.html#:~:text=%60autovacuum_vacuum_threshold%60%20%28%60integer%60%29%20%20"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rachbelaid.com/introduction-to-postgres-physical-storage/#:~:text=The%20structure%20used%20to%20store,is%20stored%20on%20a%20page" TargetMode="External"/><Relationship Id="rId7" Type="http://schemas.openxmlformats.org/officeDocument/2006/relationships/hyperlink" Target="https://rachbelaid.com/introduction-to-postgres-physical-storage/#:~:text=The%20freespace%20map%20is%20updated,must%20then%20be%20reclaimed%20for"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www.postgresql.org/docs/current/runtime-config-vacuum.html#:~:text=%60autovacuum_vacuum_threshold%60%20%28%60integer%60%29%20%20" TargetMode="External"/><Relationship Id="rId5" Type="http://schemas.openxmlformats.org/officeDocument/2006/relationships/hyperlink" Target="https://www.postgresql.org/docs/current/runtime-config-vacuum.html#:~:text=%60autovacuum%60%20%28%60boolean%60%29%20%20" TargetMode="External"/><Relationship Id="rId4" Type="http://schemas.openxmlformats.org/officeDocument/2006/relationships/hyperlink" Target="https://www.postgresql.org/docs/current/sql-vacuum.html#:~:text=Description"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This opening slide sets the stage for an in‑depth exploration of how PostgreSQL’s multi‑version concurrency control (MVCC) and vacuuming mechanisms work together to support high levels of concurrency without sacrificing data consistency.  At the heart of every database management system is the need to allow many users to read and write the same data simultaneously.  Without a robust concurrency control mechanism, one user’s change could block others or, worse, cause them to see inconsistent data.  To appreciate why MVCC matters, think about a busy e‑commerce site where dozens of customers are placing orders at once.  Each order must be recorded immediately, and other customers must see accurate information about product availability.  Traditional locking schemes can ensure correctness but often at the cost of throughput: if one transaction locks a row for writing, another transaction that needs to read or update the same row must wait.  Those waits can cascade, degrading application performance and user experience.  MVCC offers a different approach by maintaining multiple physical versions of each logical record.  When a transaction inserts, updates, or deletes data, the system does not overwrite the existing row; instead it creates a new version and tags the old one with metadata indicating it is no longer current.  Other transactions continue to read the old version until they are ready to see the new one.  This simple idea allows readers and writers to proceed concurrently, breaking the deadlock between them.  </a:t>
            </a:r>
          </a:p>
          <a:p>
            <a:endParaRPr/>
          </a:p>
          <a:p>
            <a:r>
              <a:t>In the slides that follow, we will build up a comprehensive understanding of MVCC from first principles.  We will start by examining what concurrency control means and why MVCC has become the dominant technique in relational databases, including PostgreSQL.  We will then look at the characteristics of database transactions and the various isolation levels defined by the SQL standard so that you can understand the trade‑offs between consistency and performance.  From there we will dive into the details of how PostgreSQL assigns transaction identifiers to statements and uses hidden columns in every table—`xmin` and `xmax`—to track which transaction created and invalidated each row.  You will learn how version chains work and how the system determines which version of a row is visible to a particular transaction.  We will also explore the physical layout of heap tables, pages and item pointers so you know how data is stored on disk.  This knowledge will set the stage for understanding what dead tuples are and why the system needs to periodically reclaim space occupied by obsolete versions.  We will see how vacuuming, both manual and automatic, cleans up dead rows and freezes old transaction identifiers to prevent wraparound.  Finally, we will discuss best practices for tuning autovacuum, monitoring MVCC statistics, and avoiding common pitfalls.  </a:t>
            </a:r>
          </a:p>
          <a:p>
            <a:endParaRPr/>
          </a:p>
          <a:p>
            <a:r>
              <a:t>As you work through this talk, remember that the bullets on the slides are only signposts.  The notes accompanying each slide provide a narrative that goes deeper than the headings.  These notes are intended to help you teach the material, offering background, examples and explanations that fill at least five minutes of lecture time per slide.  Feel free to adapt the pacing to your audience’s level of expertise.  Our journey begins with an overview of the topics we will cover, but before that, pause and think about your own experience with concurrent systems.  When have you encountered contention for shared resources?  How might multiple versions of data help alleviate those bottlenecks?  Keep those questions in mind as we embark on this exploration of MVCC and vacuuming.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The agenda slide lays out the roadmap for today’s deep dive into PostgreSQL’s MVCC and vacuuming internals.  The goal is to build a narrative that progresses from fundamental concepts to the practical considerations of maintaining a healthy database.  We begin by defining MVCC and motivating its use in modern relational systems.  Although MVCC originated decades ago, it has become the standard concurrency control scheme in nearly every new DBMS because it allows readers and writers to operate without blocking each other.  We will discuss how this works conceptually before examining the specific details of PostgreSQL’s implementation.  </a:t>
            </a:r>
          </a:p>
          <a:p>
            <a:endParaRPr/>
          </a:p>
          <a:p>
            <a:r>
              <a:t>Next, we turn to transactions and isolation levels.  Transactions form the basic unit of work in a database.  They allow multiple operations to be grouped into an atomic, consistent, isolated and durable (ACID) unit.  But there are trade‑offs between guaranteeing isolation and achieving high concurrency.  The SQL standard defines several isolation levels—READ UNCOMMITTED, READ COMMITTED, REPEATABLE READ and SERIALIZABLE—and PostgreSQL implements these using snapshot isolation.  We will discuss the differences between them, why PostgreSQL defaults to READ COMMITTED, and how snapshot isolation works under the hood.  </a:t>
            </a:r>
          </a:p>
          <a:p>
            <a:endParaRPr/>
          </a:p>
          <a:p>
            <a:r>
              <a:t>After laying that groundwork, we will explore tuple versioning.  PostgreSQL assigns a transaction identifier (XID) to each statement and stores it in hidden columns (`xmin` and `xmax`) on every row.  When an UPDATE occurs, the old row is not overwritten; instead it is marked obsolete and a new row is inserted.  This chain of versions forms a linked list, and the system uses the snapshot of active XIDs taken at the start of a transaction to decide which version is visible.  We will examine different storage schemes (append‑only, time‑travel and delta storage) and discuss how indexes point to the head of the version chain.  </a:t>
            </a:r>
          </a:p>
          <a:p>
            <a:endParaRPr/>
          </a:p>
          <a:p>
            <a:r>
              <a:t>With a solid understanding of versioning, we will study row visibility and the concept of transaction space.  Because transaction identifiers are 32‑bit numbers, there are only about 4 billion possible XIDs.  PostgreSQL treats this space as circular; roughly half the range represents the past and half represents the future.  You will learn the rules the system applies to determine whether a row is visible: the row’s `xmin` must be less than the current transaction’s XID and committed, and its `xmax` must either be zero (meaning not deleted) or greater than the current transaction’s XID and not yet committed.  We will also discuss wraparound and why long‑running transactions can prevent the system from reclaiming space</a:t>
            </a:r>
            <a:r>
              <a:rPr u="sng">
                <a:solidFill>
                  <a:schemeClr val="accent6"/>
                </a:solidFill>
                <a:hlinkClick r:id="rId3"/>
              </a:rPr>
              <a:t>(devcenter.heroku.com)</a:t>
            </a:r>
            <a:r>
              <a:t>.  </a:t>
            </a:r>
          </a:p>
          <a:p>
            <a:endParaRPr/>
          </a:p>
          <a:p>
            <a:r>
              <a:t>The next two sections move from logical to physical storage.  We will introduce the heap storage model used by PostgreSQL.  Tables are stored as arrays of 8 KB pages, each containing an array of item pointers and the tuples themselves.  Data is appended to the end of the heap, and there is no concept of a clustered index.  This layout has important implications for performance and maintenance</a:t>
            </a:r>
            <a:r>
              <a:rPr u="sng">
                <a:solidFill>
                  <a:schemeClr val="accent6"/>
                </a:solidFill>
                <a:hlinkClick r:id="rId4"/>
              </a:rPr>
              <a:t>(rachbelaid.com)</a:t>
            </a:r>
            <a:r>
              <a:t>.  We will then discuss dead tuples—row versions that are no longer visible to any transaction—and how they accumulate over time.  As dead tuples grow, they waste space and force the system to scan more pages to satisfy a query.  We will explain how vacuuming addresses this issue.  </a:t>
            </a:r>
          </a:p>
          <a:p>
            <a:endParaRPr/>
          </a:p>
          <a:p>
            <a:r>
              <a:t>Vacuuming is the process of reclaiming storage occupied by dead tuples.  It updates the free space map, marks tuples and pages as frozen and, in the case of a full vacuum, returns unused space to the operating system</a:t>
            </a:r>
            <a:r>
              <a:rPr u="sng">
                <a:solidFill>
                  <a:schemeClr val="accent6"/>
                </a:solidFill>
                <a:hlinkClick r:id="rId5"/>
              </a:rPr>
              <a:t>(www.postgresql.org)</a:t>
            </a:r>
            <a:r>
              <a:t>.  We will explore vacuum mechanics, including the difference between plain and full vacuum, and how vacuum interacts with indexes and parallelism.  After understanding manual vacuum, we will introduce autovacuum, the background daemon that automates routine maintenance.  We will review the configuration parameters that control when autovacuum runs, how many worker processes it can use, and how to tune it for heavy‑update tables</a:t>
            </a:r>
            <a:r>
              <a:rPr u="sng">
                <a:solidFill>
                  <a:schemeClr val="accent6"/>
                </a:solidFill>
                <a:hlinkClick r:id="rId6"/>
              </a:rPr>
              <a:t>(www.postgresql.org)</a:t>
            </a:r>
            <a:r>
              <a:t>.  </a:t>
            </a:r>
          </a:p>
          <a:p>
            <a:endParaRPr/>
          </a:p>
          <a:p>
            <a:r>
              <a:t>Finally, we will consider the benefits and challenges of MVCC, look at how other databases implement versioning, discuss monitoring and metrics you can use to track MVCC health, and reflect on community resources for further study.  Each of these topics will be expanded upon in its own slide.  As we move through the material, remember that understanding the theory is essential for diagnosing performance issues and making informed tuning decisions.  The journey will be detailed, but by the end you will have a holistic view of MVCC in PostgreSQL and feel confident teaching others about this foundational technology.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dirty="0"/>
              <a:t>Multi‑Version Concurrency Control (MVCC) is a concurrency control technique that maintains multiple physical versions of each logical record to avoid locking conflicts.  When a transaction writes to a row, the database creates a new version of that row rather than overwriting the old one; when a transaction reads a row, it reads the version that was current at the time the transaction started.  The core benefit is that readers do not block writers and writers do not block readers: a transaction can read a consistent snapshot of the data without being affected by concurrent updates, while another transaction can update the same row without waiting for the reader to finish.  This contrasts with traditional two‑phase locking, where a write lock held by one transaction forces others to wait until the lock is released.  </a:t>
            </a:r>
          </a:p>
          <a:p>
            <a:endParaRPr dirty="0"/>
          </a:p>
          <a:p>
            <a:r>
              <a:rPr dirty="0"/>
              <a:t>The idea of storing multiple versions of data goes beyond the simple avoidance of locks; it touches many aspects of database design.  In a typical MVCC system, every table has hidden metadata that tracks the transaction identifier (XID) of the transaction that created each version and the XID of the transaction that invalidated it.  In PostgreSQL, these fields are `</a:t>
            </a:r>
            <a:r>
              <a:rPr dirty="0" err="1"/>
              <a:t>xmin</a:t>
            </a:r>
            <a:r>
              <a:rPr dirty="0"/>
              <a:t>` and `</a:t>
            </a:r>
            <a:r>
              <a:rPr dirty="0" err="1"/>
              <a:t>xmax</a:t>
            </a:r>
            <a:r>
              <a:rPr dirty="0"/>
              <a:t>`.  When you insert a row, PostgreSQL sets `</a:t>
            </a:r>
            <a:r>
              <a:rPr dirty="0" err="1"/>
              <a:t>xmin</a:t>
            </a:r>
            <a:r>
              <a:rPr dirty="0"/>
              <a:t>` to the current XID and `</a:t>
            </a:r>
            <a:r>
              <a:rPr dirty="0" err="1"/>
              <a:t>xmax</a:t>
            </a:r>
            <a:r>
              <a:rPr dirty="0"/>
              <a:t>` to zero.  When you update or delete the row, PostgreSQL sets `</a:t>
            </a:r>
            <a:r>
              <a:rPr dirty="0" err="1"/>
              <a:t>xmax</a:t>
            </a:r>
            <a:r>
              <a:rPr dirty="0"/>
              <a:t>` to the current XID and inserts a new row with a fresh `</a:t>
            </a:r>
            <a:r>
              <a:rPr dirty="0" err="1"/>
              <a:t>xmin</a:t>
            </a:r>
            <a:r>
              <a:rPr dirty="0"/>
              <a:t>`</a:t>
            </a:r>
            <a:r>
              <a:rPr u="sng" dirty="0">
                <a:solidFill>
                  <a:schemeClr val="accent6"/>
                </a:solidFill>
                <a:hlinkClick r:id="rId3"/>
              </a:rPr>
              <a:t>(devcenter.heroku.com)</a:t>
            </a:r>
            <a:r>
              <a:rPr dirty="0"/>
              <a:t>.  </a:t>
            </a:r>
          </a:p>
          <a:p>
            <a:endParaRPr dirty="0"/>
          </a:p>
          <a:p>
            <a:r>
              <a:rPr dirty="0"/>
              <a:t>Because multiple versions of the same logical record may exist simultaneously, the system must decide which version is visible to each transaction.  At the start of a transaction, PostgreSQL copies the state of the transaction status table into its snapshot.  The snapshot records the set of currently active XIDs; any row whose `</a:t>
            </a:r>
            <a:r>
              <a:rPr dirty="0" err="1"/>
              <a:t>xmin</a:t>
            </a:r>
            <a:r>
              <a:rPr dirty="0"/>
              <a:t>` is less than the current XID and committed is visible unless its `</a:t>
            </a:r>
            <a:r>
              <a:rPr dirty="0" err="1"/>
              <a:t>xmax</a:t>
            </a:r>
            <a:r>
              <a:rPr dirty="0"/>
              <a:t>` has been set by a transaction that also committed before the snapshot.  If the `</a:t>
            </a:r>
            <a:r>
              <a:rPr dirty="0" err="1"/>
              <a:t>xmax</a:t>
            </a:r>
            <a:r>
              <a:rPr dirty="0"/>
              <a:t>` is zero or greater than the current XID, the row is still visible.  This snapshot mechanism ensures that each transaction sees a consistent view of the database.  </a:t>
            </a:r>
          </a:p>
          <a:p>
            <a:endParaRPr dirty="0"/>
          </a:p>
          <a:p>
            <a:r>
              <a:rPr dirty="0"/>
              <a:t>Designing an MVCC system requires careful decisions in four areas: the concurrency control protocol, version storage, garbage collection and index management.  PostgreSQL uses snapshot isolation as its concurrency protocol; other databases may choose optimistic concurrency or two‑phase locking.  For version storage, PostgreSQL uses an append‑only approach within each heap table: new versions of a tuple are appended to the same table space, and the version chain is linked through item pointers.  Other systems, such as Oracle and SQL Server, may use undo logs or separate version stores.  Garbage collection is necessary because old versions must eventually be removed.  PostgreSQL accomplishes this through vacuuming, while systems like Oracle use background processes to advance the high watermark and reuse space.  Finally, index management must point to the correct version of a record.  In PostgreSQL, indexes point to the head of the version chain, and the system traverses the chain to find the visible version; other designs may store logical pointers and map them to physical locations.  </a:t>
            </a:r>
          </a:p>
          <a:p>
            <a:endParaRPr dirty="0"/>
          </a:p>
          <a:p>
            <a:r>
              <a:rPr dirty="0"/>
              <a:t>MVCC also enables features such as time‑travel queries and auditing.  Because old versions are kept until they are garbage collected, a database can answer queries about its state at an earlier time.  This capability is especially useful for forensic investigations and historical analytics.  However, keeping multiple versions introduces overhead: more storage is used, and the system must maintain metadata and occasionally visit dead versions to clean them up.  Understanding these trade‑offs is essential for designing effective schemas and maintenance strategies.  In the sections that follow, we will see how these theoretical ideas are realized in PostgreSQL and how they influence practical database operations.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dirty="0"/>
              <a:t>To appreciate MVCC in practice, you need to understand the basics of transactions and isolation levels.  A transaction is a sequence of operations that forms a single logical unit of work.  The ACID properties—Atomicity, Consistency, Isolation and Durability—ensure that either all operations succeed together or none of them do, that the database remains in a consistent state, that concurrent transactions do not interfere with each other, and that committed changes persist even in the event of failures.  Isolation is the property most affected by concurrency control.  Without adequate isolation, transactions could see partially committed data from other transactions, leading to anomalies such as dirty reads, non‑repeatable reads, phantom reads or write skew.  The SQL standard defines four isolation levels: READ UNCOMMITTED, READ COMMITTED, REPEATABLE READ and SERIALIZABLE.  In practice, READ UNCOMMITTED allows dirty reads, where a transaction can see uncommitted changes; PostgreSQL does not support this level, and attempts to set it simply alias to READ COMMITTED.  </a:t>
            </a:r>
          </a:p>
          <a:p>
            <a:endParaRPr dirty="0"/>
          </a:p>
          <a:p>
            <a:r>
              <a:rPr dirty="0"/>
              <a:t>PostgreSQL’s default isolation level is READ COMMITTED.  In this mode, every statement within a transaction sees a snapshot of the database as of the start of that statement, not the start of the transaction</a:t>
            </a:r>
            <a:r>
              <a:rPr u="sng" dirty="0">
                <a:solidFill>
                  <a:schemeClr val="accent6"/>
                </a:solidFill>
                <a:hlinkClick r:id="rId3"/>
              </a:rPr>
              <a:t>(devcenter.heroku.com)</a:t>
            </a:r>
            <a:r>
              <a:rPr dirty="0"/>
              <a:t>.  This means that if you run multiple SELECTs within a single transaction without committing, each SELECT sees the committed changes made by other transactions up to that point.  The database may repeat your WHERE clause after each commit to ensure that you operate on current data.  For example, if two transactions try to update the same row under READ COMMITTED, PostgreSQL will make the second one wait until the first commits and then re‑evaluate its predicate.  If the predicate no longer matches, the second update silently does nothing.  </a:t>
            </a:r>
          </a:p>
          <a:p>
            <a:endParaRPr dirty="0"/>
          </a:p>
          <a:p>
            <a:r>
              <a:rPr dirty="0"/>
              <a:t>The next isolation level, REPEATABLE READ, ensures that all statements within a transaction see the same snapshot taken at the start of the transaction.  This prevents non‑repeatable reads: once you read a row, you will see the same values if you read it again later in the same transaction, even if another transaction has updated it in the meantime.  However, REPEATABLE READ still allows certain anomalies.  The classic example is write skew: two concurrent transactions each verify a condition on different rows and then update one of those rows in a way that breaks the condition when combined.  Under snapshot isolation, both transactions can commit and the resulting state violates the intended constraint.  To avoid such anomalies, you must use the SERIALIZABLE isolation level, which emulates serial execution by aborting transactions that might lead to conflicts.  SERIALIZABLE is more restrictive and can result in more transaction aborts, but it provides the strongest guarantees.  </a:t>
            </a:r>
          </a:p>
          <a:p>
            <a:endParaRPr dirty="0"/>
          </a:p>
          <a:p>
            <a:r>
              <a:rPr dirty="0"/>
              <a:t>In addition to the SQL standard levels, PostgreSQL provides snapshot isolation semantics for READ COMMITTED and REPEATABLE READ.  Under snapshot isolation, every transaction works with a consistent snapshot of the committed data at the time the snapshot is taken.  Uncommitted changes are invisible; committed changes made by concurrent transactions become visible when a new snapshot is acquired.  This approach allows high concurrency and is ideal for read‑heavy workloads.  It also means that write conflicts are resolved at commit time rather than at the moment a statement runs: if two transactions update the same row under snapshot isolation, the first commit wins and the second fails with a serialization error or, in READ COMMITTED, quietly does nothing.  Understanding isolation levels helps you choose the right balance between consistency and concurrency.  In later slides we will see how MVCC’s versioning scheme works in concert with these isolation rules to present each transaction with the appropriate view of the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At the heart of MVCC is the idea of tuple versioning.  When a transaction inserts, updates or deletes a row in PostgreSQL, the system does not modify the existing physical row in place; instead it creates a new version and marks the old version as obsolete.  This is why an UPDATE in PostgreSQL is essentially a DELETE followed by an INSERT.  Every physical row in a table has two hidden columns: `xmin`, which stores the XID of the transaction that created the row, and `xmax`, which stores the XID of the transaction that expired (deleted or updated) it</a:t>
            </a:r>
            <a:r>
              <a:rPr u="sng">
                <a:solidFill>
                  <a:schemeClr val="accent6"/>
                </a:solidFill>
                <a:hlinkClick r:id="rId3"/>
              </a:rPr>
              <a:t>(devcenter.heroku.com)</a:t>
            </a:r>
            <a:r>
              <a:t>.  A new row has `xmax = 0`, indicating that it is currently visible to new transactions.  When a row is updated, the original row’s `xmax` is set to the current XID, and a fresh row with a new `xmin` and `xmax = 0` is inserted.  Similarly, when a row is deleted, its `xmax` is set to the current XID, but the physical row remains in the table until vacuuming removes it.  </a:t>
            </a:r>
          </a:p>
          <a:p>
            <a:endParaRPr/>
          </a:p>
          <a:p>
            <a:r>
              <a:t>These version chains are organized as linked lists.  Each logical record can have multiple physical versions, each with its own `xmin` and `xmax`.  The database maintains a pointer in each row that links to the next version.  Indexes point to the “head” of the chain, which can be either the newest or the oldest version depending on implementation.  When a transaction needs to access a row, it follows the version chain to find the version that is visible in its snapshot.  In PostgreSQL, the version chain is traversed from the newest to older versions until the first visible version is found.  This design avoids the need to update index entries for every update; the index continues to point to the head of the chain.  Other MVCC systems implement version storage differently.  In append‑only storage, all versions reside in the same table space, and updates simply append new versions.  In time‑travel storage, old versions are moved to a separate time‑travel table and pointers from the main table refer back to them.  In delta storage, only the differences between versions are stored, and older versions can be reconstructed by applying the deltas.  These designs represent trade‑offs between write amplification and read overhead.  </a:t>
            </a:r>
          </a:p>
          <a:p>
            <a:endParaRPr/>
          </a:p>
          <a:p>
            <a:r>
              <a:t>Versioning also influences how rows are identified.  Because the physical location of a row can change when it is updated, PostgreSQL uses logical primary keys for data integrity and physical pointers (ctids) for internal reference.  The ctids identify the page and item index of a row version, but they are not stable identifiers; a subsequent update will produce a new ctid for the new version.  Applications should rely on a natural or surrogate primary key to identify records logically.  The versioning scheme also implies that updates of indexed columns may require index maintenance.  When you update a primary key column or a column in a secondary index, the index must point to the new version.  An optimization called HOT (heap‑only tuple) allows certain updates that do not modify indexed columns to avoid touching the index at all.  In such cases, the new version can reside in the same page, and the index continues to point to the old location while the version chain within the page links to the new version.  HOT reduces index bloat and improves update performance, but it only applies when the updated columns are not indexed and there is enough space in the page.  </a:t>
            </a:r>
          </a:p>
          <a:p>
            <a:endParaRPr/>
          </a:p>
          <a:p>
            <a:r>
              <a:t>Understanding tuple versioning is essential for diagnosing space usage and query performance.  Each UPDATE consumes additional space because the old version remains until it is vacuumed.  Frequent updates can lead to table bloat if autovacuum is not keeping up.  Indexes can also become bloated because dead index entries are not removed until vacuuming.  In the next slide, we will explore how PostgreSQL decides which version of a row is visible to a transaction and how it manages the finite transaction identifier space.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Row visibility is the mechanism that tells PostgreSQL which version of a row should be returned to a particular transaction.  It relies on the snapshot taken at the start of the transaction (or statement) and the `xmin` and `xmax` values stored on each tuple.  When a transaction reads a row, the system checks whether the row’s `xmin` is less than the transaction’s current XID and whether the creating transaction has committed.  If these conditions are met, the row is potentially visible.  The system then examines the `xmax`.  If `xmax` is zero, the row has not been updated or deleted and is fully visible.  If `xmax` is non‑zero, the system compares it to the current XID: if the `xmax` is greater than the current XID, or if the transaction that set `xmax` is still active at the time of the snapshot, then the row is still visible because the update has not yet committed.  Otherwise, the row is invisible because a committed transaction has invalidated it.  </a:t>
            </a:r>
          </a:p>
          <a:p>
            <a:endParaRPr/>
          </a:p>
          <a:p>
            <a:r>
              <a:t>Because transaction identifiers are 32‑bit integers, they wrap around every 4,294,967,296 transactions.  To manage this limited space, PostgreSQL treats the XID space as circular and maintains the concept of a “transaction horizon.”  At any moment, half of the identifier space represents transactions in the past and half represents transactions in the future.  When the database advances the oldest frozen XID—essentially the oldest XID that can still appear in any row—it frees up identifiers in the past half for reuse.  Long‑running transactions hold back this horizon because any row they could see must remain visible.  Therefore, a transaction that stays open for hours or days can prevent vacuum from removing rows whose XIDs are older than its snapshot.  This is why you should avoid leaving transactions idle or uncommitted for long periods.  The autovacuum daemon monitors the age of tables in terms of transactions and triggers a freeze operation when necessary to avoid wraparound</a:t>
            </a:r>
            <a:r>
              <a:rPr u="sng">
                <a:solidFill>
                  <a:schemeClr val="accent6"/>
                </a:solidFill>
                <a:hlinkClick r:id="rId3"/>
              </a:rPr>
              <a:t>(devcenter.heroku.com)</a:t>
            </a:r>
            <a:r>
              <a:t>.  </a:t>
            </a:r>
          </a:p>
          <a:p>
            <a:endParaRPr/>
          </a:p>
          <a:p>
            <a:r>
              <a:t>Visibility also depends on the selected isolation level.  Under READ COMMITTED, each statement obtains a new snapshot and thus sees changes committed between statements.  Under REPEATABLE READ and SERIALIZABLE, the snapshot is taken at the start of the transaction, so a long transaction might not see updates committed by others until it finishes.  Postgres tracks the set of in‑progress XIDs at the time of the snapshot and treats any rows modified by those transactions as invisible.  The visibility rules interact with version chains: when traversing a chain to find a visible version, the database stops at the first version whose `xmin` is committed and visible and whose `xmax` is either zero or uncommitted or greater than the snapshot horizon.  </a:t>
            </a:r>
          </a:p>
          <a:p>
            <a:endParaRPr/>
          </a:p>
          <a:p>
            <a:r>
              <a:t>Another subtlety is the difference between statement‑level and transaction‑level snapshots.  In the default READ COMMITTED mode, a new snapshot is taken for each statement.  This approach increases concurrency because long transactions still see up‑to‑date data for each statement but may result in surprising behavior if you expect to see the same rows across multiple statements.  In contrast, REPEATABLE READ uses a single snapshot for the entire transaction, ensuring consistent results but potentially leading to serialization failures if concurrent transactions update the same rows.  SERIALIZABLE mode adds conflict detection to prevent anomalies by forcing transactions to abort and restart when necessary.  </a:t>
            </a:r>
          </a:p>
          <a:p>
            <a:endParaRPr/>
          </a:p>
          <a:p>
            <a:r>
              <a:t>Understanding visibility rules will help you interpret query plans and diagnose performance problems.  For example, a query that scans a large table might have to skip many dead tuples if vacuuming has not yet reclaimed them.  Similarly, a query that uses an index may still need to traverse version chains to find a visible version, so the number of dead versions can affect index performance.  In the next section we will delve into the physical storage model—the heap—so that you can see how these logical rules are implemented on disk.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PostgreSQL stores table data in a heap, which is a collection of pages containing tuples in arbitrary order.  Unlike databases that maintain a clustered index to determine where rows are stored on disk, PostgreSQL simply appends new rows to the end of the heap.  Each table is backed by one or more files, where each file is divided into 8 KB pages.  The heap file is a list of unordered records of variable size</a:t>
            </a:r>
            <a:r>
              <a:rPr u="sng">
                <a:solidFill>
                  <a:schemeClr val="accent6"/>
                </a:solidFill>
                <a:hlinkClick r:id="rId3"/>
              </a:rPr>
              <a:t>(rachbelaid.com)</a:t>
            </a:r>
            <a:r>
              <a:t>.  A single logical table may consist of thousands or millions of such pages, but the storage structure within each page is the same.  Understanding this layout helps you reason about how data is read and written and why updates generate new versions rather than modifying rows in place.  </a:t>
            </a:r>
          </a:p>
          <a:p>
            <a:endParaRPr/>
          </a:p>
          <a:p>
            <a:r>
              <a:t>Within a page, the first portion is the page header.  The header contains metadata such as the LSN (log sequence number) indicating the last WAL record that modified the page, the location of the start and end of free space, and flags used by the visibility map.  After the header comes an array of item identifiers (also called line pointers or item pointers).  Each item identifier contains an offset and length that point to the actual location of a row within the page.  The tuples themselves are stored starting from the end of the page and grow toward the beginning.  When a new row is inserted into the page, PostgreSQL adds a new item pointer in the array and places the tuple at the end of the free space.  This design means that item pointers do not move once assigned; if a row is updated and no longer fits in the space available in the page, PostgreSQL inserts the new version into a different page and updates the version chain.  The item pointer for the old version remains in place until vacuuming frees it.  </a:t>
            </a:r>
          </a:p>
          <a:p>
            <a:endParaRPr/>
          </a:p>
          <a:p>
            <a:r>
              <a:t>Because page numbers and item indexes form the ctids used internally to identify tuples, the logical row identifier (primary key) must be separate from the physical location.  CTIDs are useful for internal housekeeping—for example, an index entry stores the ctid of the row version it points to—but they are not stable across updates.  A row’s ctid changes when it is updated because the new version resides at a different location.  The physical layout also explains why PostgreSQL is referred to as a heap‑only database: there is no predetermined order within a table; rather, indexes provide ordered access paths when needed.  If an index is not used, the planner may choose a sequential scan that reads every page in the heap.  For small tables, a sequential scan can be faster than using an index because it avoids many random I/O operations.  However, as tables grow and accumulate dead tuples, sequential scans become more expensive.  </a:t>
            </a:r>
          </a:p>
          <a:p>
            <a:endParaRPr/>
          </a:p>
          <a:p>
            <a:r>
              <a:t>Understanding heap storage also illuminates why fragmentation occurs.  When a tuple is deleted or updated, the space it occupied in the page becomes free, but the item pointer remains.  Over time, a page may accumulate many dead tuples and free space interleaved with live tuples.  To allocate space for new rows efficiently, PostgreSQL maintains a free space map that tracks how much free space each page has.  The free space map is updated by vacuuming because only vacuum knows which dead tuples can be removed</a:t>
            </a:r>
            <a:r>
              <a:rPr u="sng">
                <a:solidFill>
                  <a:schemeClr val="accent6"/>
                </a:solidFill>
                <a:hlinkClick r:id="rId4"/>
              </a:rPr>
              <a:t>(rachbelaid.com)</a:t>
            </a:r>
            <a:r>
              <a:t>.  Another auxiliary structure, the visibility map, tracks which pages contain only frozen tuples (which are visible to all transactions).  Pages marked as fully visible can be skipped by vacuum and by index-only scans, reducing I/O.  </a:t>
            </a:r>
          </a:p>
          <a:p>
            <a:endParaRPr/>
          </a:p>
          <a:p>
            <a:r>
              <a:t>Finally, note that PostgreSQL cannot allow a single tuple to span multiple pages.  If a row’s values exceed the page size, the system uses a technique called TOAST (The Oversized‑Attribute Storage Technique) to store large column values in a separate overflow table.  TOAST breaks large attributes into 2 KB chunks and stores them separately, leaving the main table with small pointers to the chunks</a:t>
            </a:r>
            <a:r>
              <a:rPr u="sng">
                <a:solidFill>
                  <a:schemeClr val="accent6"/>
                </a:solidFill>
                <a:hlinkClick r:id="rId5"/>
              </a:rPr>
              <a:t>(rachbelaid.com)</a:t>
            </a:r>
            <a:r>
              <a:t>.  This arrangement keeps the main heap compact and improves cache efficiency.  Understanding these details will help you make informed decisions about table design, indexing and maintenance.  In the next slide we will discuss what happens when rows are updated or deleted and how the accumulation of dead tuples affects performance.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As tuples are updated and deleted, they leave behind obsolete versions that PostgreSQL calls dead tuples.  A dead tuple is a row version whose `xmax` field has been set to a committed transaction ID.  Although the version is no longer visible to any current or future transaction, it cannot be physically removed until the system is sure that no transaction could still see it.  Dead tuples accumulate for two reasons: first, the database must preserve them long enough to support snapshot isolation; second, the system delays removing them until the maintenance process can safely free the space.  When dead tuples accumulate, they consume disk space and cause performance issues.  For example, a sequential scan must examine every item pointer in a page to determine whether the corresponding tuple is visible.  If many tuples are dead, the scan wastes time skipping over them.  Likewise, index scans may have to follow version chains through dead entries to find a visible version.  Dead tuples also contribute to table bloat: the physical size of the table grows even if the number of logical rows stays roughly constant.  </a:t>
            </a:r>
          </a:p>
          <a:p>
            <a:endParaRPr/>
          </a:p>
          <a:p>
            <a:r>
              <a:t>PostgreSQL uses two primary access methods to read table data: sequential scans and index scans.  A sequential scan reads each page in the heap in physical order.  When the planner estimates that a sequential scan will be cheaper than using an index (for example, when a large fraction of the table’s rows are expected to match the query predicate), it chooses this path.  As pages are read, PostgreSQL checks each item pointer.  If the tuple is dead or its `xmin` or `xmax` makes it invisible to the current snapshot, the tuple is skipped.  The cost of scanning increases with the number of pages and the number of dead tuples.  In an index scan, the index provides a list of item pointers that may match the query predicate.  However, PostgreSQL still must follow each index entry to the heap to ensure that the pointed‑to tuple is visible.  If the index entry points to a dead tuple, or if the version chain includes dead versions, the system must traverse until it finds a visible version or determine that none exists.  HOT updates can mitigate index bloat by keeping version chains within a single page, but dead tuples still accrue until vacuuming.  </a:t>
            </a:r>
          </a:p>
          <a:p>
            <a:endParaRPr/>
          </a:p>
          <a:p>
            <a:r>
              <a:t>The free space map and visibility map help the system manage dead tuples.  The free space map records pages with enough free space to accept new tuples.  However, free space is not immediately updated when a tuple is invalidated; vacuuming or pruning must run to update the map.  The visibility map indicates whether all tuples in a page are visible to all transactions.  If so, the page can be skipped during a vacuum, and index-only scans can read the page without consulting the heap.  When dead tuples exist in a page, the visibility map marks it as not all-visible, requiring more frequent maintenance.  </a:t>
            </a:r>
          </a:p>
          <a:p>
            <a:endParaRPr/>
          </a:p>
          <a:p>
            <a:r>
              <a:t>Understanding dead tuples is key to understanding why vacuuming exists and why it must run regularly.  In the following slides we will explore how vacuuming reclaims space, what options are available for manual vacuum, and how autovacuum automates the process.  We will also discuss strategies for reducing the accumulation of dead tuples, such as batching updates to reduce version churn and avoiding unnecessary updates (for example, updating a row only if the new value differs from the old one).  Proper application design and maintenance can significantly reduce the performance impact of dead tuples.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Vacuuming is PostgreSQL’s mechanism for reclaiming space occupied by dead tuples and ensuring that transaction IDs do not wrap around.  In normal operation, an UPDATE or DELETE does not physically remove a row; it merely marks the old version obsolete by setting `xmax` to the current XID.  Without intervention, obsolete versions would remain forever, causing unbounded disk growth and forcing queries to wade through ever larger heaps.  The `VACUUM` command scans a table, identifies dead tuples that are no longer visible to any transaction, and either marks their space as reusable (plain vacuum) or compacts the table to return space to the operating system (vacuum full).  According to the official documentation, a plain `VACUUM` simply reclaims space and makes it available for re‑use</a:t>
            </a:r>
            <a:r>
              <a:rPr u="sng">
                <a:solidFill>
                  <a:schemeClr val="accent6"/>
                </a:solidFill>
                <a:hlinkClick r:id="rId3"/>
              </a:rPr>
              <a:t>(www.postgresql.org)</a:t>
            </a:r>
            <a:r>
              <a:t>.  It does not return space to the OS unless it can truncate the table at the end.  A plain vacuum runs in parallel with normal read and write operations and does not require an exclusive lock.  </a:t>
            </a:r>
          </a:p>
          <a:p>
            <a:endParaRPr/>
          </a:p>
          <a:p>
            <a:r>
              <a:t>A full vacuum, invoked with `VACUUM FULL`, rewrites the entire table into a new file without dead space and returns unused space to the operating system</a:t>
            </a:r>
            <a:r>
              <a:rPr u="sng">
                <a:solidFill>
                  <a:schemeClr val="accent6"/>
                </a:solidFill>
                <a:hlinkClick r:id="rId4"/>
              </a:rPr>
              <a:t>(www.postgresql.org)</a:t>
            </a:r>
            <a:r>
              <a:t>.  Because it must copy all live tuples, it takes significantly longer and requires an `ACCESS EXCLUSIVE` lock on the table.  `VACUUM FULL` is typically used after bulk deletions or when a table has grown much larger than necessary.  Between these extremes, the `VACUUM` command supports options such as `FREEZE` to aggressively freeze tuples (we will explain freezing shortly), `VERBOSE` to print progress information, and `ANALYZE` to update planner statistics.  The `VERBOSE` and `ANALYZE` options can be combined with plain or full vacuum.  </a:t>
            </a:r>
          </a:p>
          <a:p>
            <a:endParaRPr/>
          </a:p>
          <a:p>
            <a:r>
              <a:t>Vacuuming performs several tasks in sequence.  First, it builds a list of dead tuples by scanning the table and checking each tuple’s visibility.  It uses the visibility map to skip pages known to have only frozen tuples.  Second, it cleans up dead index entries.  If a dead tuple is pointed to by index entries, the vacuum process removes those entries.  This step prevents index bloat and ensures that future index scans do not visit dead tuples unnecessarily.  Third, vacuum updates the free space map and the visibility map, marking pages that have newly available space or that are entirely all‑visible.  Finally, if freezing is requested or if autovacuum has determined that the table is approaching the transaction ID wraparound horizon, vacuum replaces the `xmin` values of old tuples with a special frozen XID (usually 2) so that these tuples remain visible even after the transaction ID counter wraps around</a:t>
            </a:r>
            <a:r>
              <a:rPr u="sng">
                <a:solidFill>
                  <a:schemeClr val="accent6"/>
                </a:solidFill>
                <a:hlinkClick r:id="rId5"/>
              </a:rPr>
              <a:t>(www.postgresql.org)</a:t>
            </a:r>
            <a:r>
              <a:t>.  </a:t>
            </a:r>
          </a:p>
          <a:p>
            <a:endParaRPr/>
          </a:p>
          <a:p>
            <a:r>
              <a:t>Vacuuming must be performed regularly.  For heavily updated tables, failing to vacuum frequently enough can lead to table bloat and transaction ID wraparound.  The wraparound problem arises because XIDs are 32‑bit integers that eventually wrap back to zero; if a table still contains tuples with `xmin` or `xmax` values within the future part of the XID space, wraparound causes those rows to appear as if they were created in the future and thus invisible, effectively locking out new transactions</a:t>
            </a:r>
            <a:r>
              <a:rPr u="sng">
                <a:solidFill>
                  <a:schemeClr val="accent6"/>
                </a:solidFill>
                <a:hlinkClick r:id="rId6"/>
              </a:rPr>
              <a:t>(devcenter.heroku.com)</a:t>
            </a:r>
            <a:r>
              <a:t>.  To avoid this, autovacuum monitors the age of tuples (in terms of XIDs) and triggers freeze operations well before the counter overflows.  When you run a manual vacuum, you should consider whether a plain or full vacuum is appropriate, whether you need to update statistics, and whether you need to freeze old tuples.  In the next slide we will introduce the autovacuum daemon that automates these decisions.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Vacuuming is PostgreSQL’s mechanism for reclaiming space occupied by dead tuples and ensuring that transaction IDs do not wrap around.  It consists of multiple phases that work together to clean up the table, update index structures, and maintain metadata.  In the first phase, vacuum scans the heap to identify dead tuples.  It uses the visibility map to skip pages that are entirely frozen or all-visible, which reduces I/O.  For pages that need to be scanned, vacuum checks each tuple’s `xmin` and `xmax` against the oldest XID that is still potentially visible.  Tuples that are older than this cutoff and are no longer visible to any transaction are candidates for removal.  </a:t>
            </a:r>
          </a:p>
          <a:p>
            <a:endParaRPr/>
          </a:p>
          <a:p>
            <a:r>
              <a:t>In the second phase, vacuum processes the indexes associated with the table.  It removes index entries that point to dead tuples.  Index vacuuming can be expensive because each index must be scanned to find dead entries.  In PostgreSQL versions prior to 13, vacuum always cleaned indexes, but newer versions include an `INDEX_CLEANUP` option that allows vacuum to skip index cleanup when there are few dead tuples</a:t>
            </a:r>
            <a:r>
              <a:rPr u="sng">
                <a:solidFill>
                  <a:schemeClr val="accent6"/>
                </a:solidFill>
                <a:hlinkClick r:id="rId3"/>
              </a:rPr>
              <a:t>(www.postgresql.org)</a:t>
            </a:r>
            <a:r>
              <a:t>.  You can control index cleanup using the `INDEX_CLEANUP` option to trade between faster vacuum runs and more immediate reclaiming of index space.  </a:t>
            </a:r>
          </a:p>
          <a:p>
            <a:endParaRPr/>
          </a:p>
          <a:p>
            <a:r>
              <a:t>Next, vacuum updates the free space map (FSM) and visibility map (VM).  The FSM records how much free space is available in each page; vacuum updates this map to reflect the removal of dead tuples.  The VM tracks which pages contain only all-visible or all-frozen tuples.  Pages marked as all-visible can be skipped by future vacuum runs and used by index-only scans, while pages marked as all-frozen no longer need their tuples’ `xmin` values to be considered when determining visibility.  When vacuum replaces `xmin` values with a frozen XID, it sets the all-frozen flag in the VM.  </a:t>
            </a:r>
          </a:p>
          <a:p>
            <a:endParaRPr/>
          </a:p>
          <a:p>
            <a:r>
              <a:t>A key aspect of vacuum is freezing.  A frozen tuple has its `xmin` replaced with a special XID (typically 2), indicating that it is always visible, even after transaction IDs wrap around.  Vacuum uses the parameters `vacuum_freeze_min_age`, `vacuum_freeze_table_age` and `vacuum_freeze_max_age` to determine when to freeze tuples.  Freezing too early incurs overhead; freezing too late risks wraparound.  Autovacuum automatically initiates freezing when necessary</a:t>
            </a:r>
            <a:r>
              <a:rPr u="sng">
                <a:solidFill>
                  <a:schemeClr val="accent6"/>
                </a:solidFill>
                <a:hlinkClick r:id="rId4"/>
              </a:rPr>
              <a:t>(www.postgresql.org)</a:t>
            </a:r>
            <a:r>
              <a:t>.  In aggressive vacuums, all eligible tuples are frozen in a single pass.  </a:t>
            </a:r>
          </a:p>
          <a:p>
            <a:endParaRPr/>
          </a:p>
          <a:p>
            <a:r>
              <a:t>In contrast to plain vacuum, `VACUUM FULL` rewrites the entire table into a new file with no free space, thereby returning unused space to the operating system</a:t>
            </a:r>
            <a:r>
              <a:rPr u="sng">
                <a:solidFill>
                  <a:schemeClr val="accent6"/>
                </a:solidFill>
                <a:hlinkClick r:id="rId5"/>
              </a:rPr>
              <a:t>(www.postgresql.org)</a:t>
            </a:r>
            <a:r>
              <a:t>.  Vacuum full acquires an `ACCESS EXCLUSIVE` lock on the table, blocking other operations until it completes.  It is useful after massive deletions or when a table has grown significantly larger than its steady-state size.  Because `VACUUM FULL` copies all live tuples, it requires temporary disk space.  Another command, `CLUSTER`, also rewrites the table but orders the rows according to an index, improving locality for certain queries.  </a:t>
            </a:r>
          </a:p>
          <a:p>
            <a:endParaRPr/>
          </a:p>
          <a:p>
            <a:r>
              <a:t>Parallel vacuuming is available in newer PostgreSQL versions.  When enabled, vacuum uses multiple worker processes to process indexes in parallel, reducing the time needed for large tables.  The `PARALLEL` option lets you specify the number of workers.  Parallel vacuum is not used for small tables because the overhead would outweigh the benefit.  Understanding vacuum mechanics helps you choose the appropriate vacuum options and schedule maintenance tasks effectively.  In the next slide we will discuss the autovacuum daemon and how it automates many of these decisions.</a:t>
            </a:r>
            <a:r>
              <a:rPr u="sng">
                <a:solidFill>
                  <a:schemeClr val="accent6"/>
                </a:solidFill>
                <a:hlinkClick r:id="rId6"/>
              </a:rPr>
              <a:t>(www.postgresql.org)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Automated vacuuming is handled by the autovacuum daemon, a background process that periodically examines each table in the database and issues `VACUUM` and `ANALYZE` commands as needed.  The autovacuum launcher process sleeps for a configurable interval (`autovacuum_naptime`, default one minute) and then wakes up to start worker processes.  Each worker process can vacuum or analyze one table at a time, and the number of simultaneous workers is controlled by `autovacuum_max_workers`.  These parameters, along with several thresholds and scale factors, determine how aggressively autovacuum will run.  Autovacuum is enabled by default, but it can be disabled globally or per table; disabling it is strongly discouraged because it prevents routine garbage collection and freeze operations.  According to the PostgreSQL documentation, autovacuum is controlled by the `autovacuum` parameter and requires `track_counts` to be enabled</a:t>
            </a:r>
            <a:r>
              <a:rPr u="sng">
                <a:solidFill>
                  <a:schemeClr val="accent6"/>
                </a:solidFill>
                <a:hlinkClick r:id="rId3"/>
              </a:rPr>
              <a:t>(www.postgresql.org)</a:t>
            </a:r>
            <a:r>
              <a:t>.  Even if autovacuum is turned off, PostgreSQL will still launch emergency autovacuum processes to prevent transaction ID wraparound</a:t>
            </a:r>
            <a:r>
              <a:rPr u="sng">
                <a:solidFill>
                  <a:schemeClr val="accent6"/>
                </a:solidFill>
                <a:hlinkClick r:id="rId4"/>
              </a:rPr>
              <a:t>(www.postgresql.org)</a:t>
            </a:r>
            <a:r>
              <a:t>.  </a:t>
            </a:r>
          </a:p>
          <a:p>
            <a:endParaRPr/>
          </a:p>
          <a:p>
            <a:r>
              <a:t>Autovacuum decides when to vacuum or analyze a table based on two components: a fixed threshold and a scale factor.  The parameter `autovacuum_vacuum_threshold` specifies the minimum number of updated or deleted tuples that must accumulate before a vacuum is triggered, and `autovacuum_vacuum_scale_factor` specifies a fraction of the table size to add to this threshold</a:t>
            </a:r>
            <a:r>
              <a:rPr u="sng">
                <a:solidFill>
                  <a:schemeClr val="accent6"/>
                </a:solidFill>
                <a:hlinkClick r:id="rId5"/>
              </a:rPr>
              <a:t>(www.postgresql.org)</a:t>
            </a:r>
            <a:r>
              <a:t>.  For example, with the default threshold of 50 tuples and scale factor of 0.2, a table with 1 million tuples will trigger a vacuum after 50 + 200,000 = 200,050 dead tuples accumulate.  This proportional approach means that larger tables are vacuumed less frequently in percentage terms, which may not be desirable if updates are concentrated in a small region of the table.  PostgreSQL 13 introduced `autovacuum_vacuum_insert_threshold` and `autovacuum_vacuum_insert_scale_factor` to trigger vacuum based on inserts, ensuring that heap bloat caused by many inserts is also managed.  Similar parameters control when `ANALYZE` runs: `autovacuum_analyze_threshold` and `autovacuum_analyze_scale_factor`.  The analyze process updates planner statistics used by the query optimizer.  </a:t>
            </a:r>
          </a:p>
          <a:p>
            <a:endParaRPr/>
          </a:p>
          <a:p>
            <a:r>
              <a:t>Autovacuum workers also respect cost-based delay settings.  Vacuuming generates I/O and CPU load; to prevent it from impacting foreground workloads, the system can limit the number of I/O operations a vacuum worker performs before sleeping for a short period.  Parameters such as `vacuum_cost_delay`, `vacuum_cost_limit`, `autovacuum_vacuum_cost_delay` and `autovacuum_vacuum_cost_limit` control this behavior.  The default delays are conservative, but if your system can handle more I/O, you can reduce the delay or increase the cost limit to allow autovacuum to complete faster.  On the other hand, if autovacuum competes with critical workloads, you can increase the delay to slow it down.  Another important parameter is `autovacuum_freeze_max_age`, which determines when autovacuum initiates a freeze to prevent transaction ID wraparound.  Setting this too high risks emergency autovacuum runs that block other activity; setting it too low causes unnecessary freeze operations.  </a:t>
            </a:r>
          </a:p>
          <a:p>
            <a:endParaRPr/>
          </a:p>
          <a:p>
            <a:r>
              <a:t>You can adjust autovacuum settings on a per-table basis by specifying storage parameters at table creation time or with the `ALTER TABLE ... SET (autovacuum_vacuum_threshold = ..., autovacuum_vacuum_scale_factor = ...)` syntax.  This is especially useful for tables that receive frequent updates or inserts.  Reducing the scale factor or threshold for such tables causes autovacuum to run more frequently, keeping dead tuples under control.  Conversely, you can increase the values for tables that are rarely modified to avoid unnecessary vacuuming.  Per-table settings override the global settings.  While tuning autovacuum, remember that vacuum also updates the free space and visibility maps, so running it more often than necessary can incur overhead.  The key is to find a balance that keeps tables from bloating or hitting wraparound while not monopolizing system resources.  In the next slide we will discuss how to fine‑tune these parameters and what other maintenance settings you may need to adjust.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dirty="0" err="1"/>
              <a:t>Autovacuum</a:t>
            </a:r>
            <a:r>
              <a:rPr dirty="0"/>
              <a:t> tuning involves balancing resource usage against the need to remove dead tuples and freeze old transaction IDs.  PostgreSQL provides a rich set of parameters to adjust </a:t>
            </a:r>
            <a:r>
              <a:rPr dirty="0" err="1"/>
              <a:t>autovacuum’s</a:t>
            </a:r>
            <a:r>
              <a:rPr dirty="0"/>
              <a:t> behavior.  In addition to the thresholds and scale factors discussed previously, you should be aware of the freeze-related settings: `</a:t>
            </a:r>
            <a:r>
              <a:rPr dirty="0" err="1"/>
              <a:t>vacuum_freeze_min_age</a:t>
            </a:r>
            <a:r>
              <a:rPr dirty="0"/>
              <a:t>`, `</a:t>
            </a:r>
            <a:r>
              <a:rPr dirty="0" err="1"/>
              <a:t>vacuum_freeze_table_age</a:t>
            </a:r>
            <a:r>
              <a:rPr dirty="0"/>
              <a:t>` and `</a:t>
            </a:r>
            <a:r>
              <a:rPr dirty="0" err="1"/>
              <a:t>autovacuum_freeze_max_age</a:t>
            </a:r>
            <a:r>
              <a:rPr dirty="0"/>
              <a:t>`.  A tuple’s age is the difference between the current XID and its `</a:t>
            </a:r>
            <a:r>
              <a:rPr dirty="0" err="1"/>
              <a:t>xmin</a:t>
            </a:r>
            <a:r>
              <a:rPr dirty="0"/>
              <a:t>`.  When a tuple’s age exceeds `</a:t>
            </a:r>
            <a:r>
              <a:rPr dirty="0" err="1"/>
              <a:t>vacuum_freeze_min_age</a:t>
            </a:r>
            <a:r>
              <a:rPr dirty="0"/>
              <a:t>`, vacuum is allowed to replace its `</a:t>
            </a:r>
            <a:r>
              <a:rPr dirty="0" err="1"/>
              <a:t>xmin</a:t>
            </a:r>
            <a:r>
              <a:rPr dirty="0"/>
              <a:t>` with a special frozen XID; when all tuples in a page are frozen, vacuum can mark the page as all-visible in the visibility map.  If a table’s `</a:t>
            </a:r>
            <a:r>
              <a:rPr dirty="0" err="1"/>
              <a:t>relfrozenxid</a:t>
            </a:r>
            <a:r>
              <a:rPr dirty="0"/>
              <a:t>` (the oldest `</a:t>
            </a:r>
            <a:r>
              <a:rPr dirty="0" err="1"/>
              <a:t>xmin</a:t>
            </a:r>
            <a:r>
              <a:rPr dirty="0"/>
              <a:t>` of any tuple in the table) approaches `</a:t>
            </a:r>
            <a:r>
              <a:rPr dirty="0" err="1"/>
              <a:t>autovacuum_freeze_max_age</a:t>
            </a:r>
            <a:r>
              <a:rPr dirty="0"/>
              <a:t>`, </a:t>
            </a:r>
            <a:r>
              <a:rPr dirty="0" err="1"/>
              <a:t>autovacuum</a:t>
            </a:r>
            <a:r>
              <a:rPr dirty="0"/>
              <a:t> will perform an aggressive vacuum to freeze tuples and advance `</a:t>
            </a:r>
            <a:r>
              <a:rPr dirty="0" err="1"/>
              <a:t>relfrozenxid</a:t>
            </a:r>
            <a:r>
              <a:rPr dirty="0"/>
              <a:t>`.  If this parameter is set too high and vacuum falls behind, PostgreSQL will eventually stop accepting new transactions to avoid wraparound.  Therefore, you should monitor `</a:t>
            </a:r>
            <a:r>
              <a:rPr dirty="0" err="1"/>
              <a:t>pg_database.datfrozenxid</a:t>
            </a:r>
            <a:r>
              <a:rPr dirty="0"/>
              <a:t>` and `</a:t>
            </a:r>
            <a:r>
              <a:rPr dirty="0" err="1"/>
              <a:t>pg_class.relfrozenxid</a:t>
            </a:r>
            <a:r>
              <a:rPr dirty="0"/>
              <a:t>` to ensure that tables do not approach the wraparound threshold.  </a:t>
            </a:r>
          </a:p>
          <a:p>
            <a:endParaRPr dirty="0"/>
          </a:p>
          <a:p>
            <a:r>
              <a:rPr dirty="0"/>
              <a:t>Another key setting is `</a:t>
            </a:r>
            <a:r>
              <a:rPr dirty="0" err="1"/>
              <a:t>maintenance_work_mem</a:t>
            </a:r>
            <a:r>
              <a:rPr dirty="0"/>
              <a:t>`, which determines the amount of memory available for maintenance operations such as vacuum, index creation and replication slot synchronization.  Plain vacuum uses this memory to build arrays of dead tuples and perform index cleanup; increasing `</a:t>
            </a:r>
            <a:r>
              <a:rPr dirty="0" err="1"/>
              <a:t>maintenance_work_mem</a:t>
            </a:r>
            <a:r>
              <a:rPr dirty="0"/>
              <a:t>` allows vacuum to process more dead tuples in memory before writing to temporary files, which can speed up the operation.  </a:t>
            </a:r>
            <a:r>
              <a:rPr dirty="0" err="1"/>
              <a:t>Autovacuum</a:t>
            </a:r>
            <a:r>
              <a:rPr dirty="0"/>
              <a:t> workers share this resource, so you should ensure that enough memory is available when multiple workers run concurrently.  If vacuum operations are spilling to disk, consider increasing this setting to improve performance.  </a:t>
            </a:r>
          </a:p>
          <a:p>
            <a:endParaRPr dirty="0"/>
          </a:p>
          <a:p>
            <a:r>
              <a:rPr dirty="0"/>
              <a:t>Cost-based delay parameters control how aggressively vacuum uses I/O.  The parameters `</a:t>
            </a:r>
            <a:r>
              <a:rPr dirty="0" err="1"/>
              <a:t>vacuum_cost_limit</a:t>
            </a:r>
            <a:r>
              <a:rPr dirty="0"/>
              <a:t>` and `</a:t>
            </a:r>
            <a:r>
              <a:rPr dirty="0" err="1"/>
              <a:t>vacuum_cost_delay</a:t>
            </a:r>
            <a:r>
              <a:rPr dirty="0"/>
              <a:t>` define a budget of cost units and a delay period once that budget is exhausted.  Each page I/O costs one unit by default.  When a vacuum worker’s cost counter reaches the limit, it sleeps for the delay period and then resumes.  Separate parameters allow you to set different values for </a:t>
            </a:r>
            <a:r>
              <a:rPr dirty="0" err="1"/>
              <a:t>autovacuum</a:t>
            </a:r>
            <a:r>
              <a:rPr dirty="0"/>
              <a:t> workers (`</a:t>
            </a:r>
            <a:r>
              <a:rPr dirty="0" err="1"/>
              <a:t>autovacuum_vacuum_cost_limit</a:t>
            </a:r>
            <a:r>
              <a:rPr dirty="0"/>
              <a:t>` and `</a:t>
            </a:r>
            <a:r>
              <a:rPr dirty="0" err="1"/>
              <a:t>autovacuum_vacuum_cost_delay</a:t>
            </a:r>
            <a:r>
              <a:rPr dirty="0"/>
              <a:t>`).  Tuning these parameters involves understanding your system’s I/O capacity: on a lightly loaded system with fast disks, you can raise the cost limit and lower the delay to let vacuum finish quickly.  On a heavily loaded system, especially one with spinning disks, you may need higher delays to minimize interference.  </a:t>
            </a:r>
          </a:p>
          <a:p>
            <a:endParaRPr dirty="0"/>
          </a:p>
          <a:p>
            <a:r>
              <a:rPr dirty="0"/>
              <a:t>Per-table settings provide another lever.  If you have a table that experiences frequent updates or inserts—such as a queue or a high‑volume logging table—you should lower its `</a:t>
            </a:r>
            <a:r>
              <a:rPr dirty="0" err="1"/>
              <a:t>autovacuum_vacuum_threshold</a:t>
            </a:r>
            <a:r>
              <a:rPr dirty="0"/>
              <a:t>` and `</a:t>
            </a:r>
            <a:r>
              <a:rPr dirty="0" err="1"/>
              <a:t>autovacuum_vacuum_scale_factor</a:t>
            </a:r>
            <a:r>
              <a:rPr dirty="0"/>
              <a:t>` to vacuum it more often.  Conversely, for a large, mostly insert‑only table, you might focus on `</a:t>
            </a:r>
            <a:r>
              <a:rPr dirty="0" err="1"/>
              <a:t>autovacuum_vacuum_insert_threshold</a:t>
            </a:r>
            <a:r>
              <a:rPr dirty="0"/>
              <a:t>` and `</a:t>
            </a:r>
            <a:r>
              <a:rPr dirty="0" err="1"/>
              <a:t>autovacuum_vacuum_insert_scale_factor</a:t>
            </a:r>
            <a:r>
              <a:rPr dirty="0"/>
              <a:t>`.  Remember that </a:t>
            </a:r>
            <a:r>
              <a:rPr dirty="0" err="1"/>
              <a:t>autovacuum</a:t>
            </a:r>
            <a:r>
              <a:rPr dirty="0"/>
              <a:t> scheduling is per table; if you have many tables, workers may lag behind if thresholds are too low.  Monitoring </a:t>
            </a:r>
            <a:r>
              <a:rPr dirty="0" err="1"/>
              <a:t>autovacuum</a:t>
            </a:r>
            <a:r>
              <a:rPr dirty="0"/>
              <a:t> activity using `</a:t>
            </a:r>
            <a:r>
              <a:rPr dirty="0" err="1"/>
              <a:t>pg_stat_user_tables</a:t>
            </a:r>
            <a:r>
              <a:rPr dirty="0"/>
              <a:t>` and `</a:t>
            </a:r>
            <a:r>
              <a:rPr dirty="0" err="1"/>
              <a:t>pg_stat_progress_vacuum</a:t>
            </a:r>
            <a:r>
              <a:rPr dirty="0"/>
              <a:t>` helps you determine whether workers are keeping up.  </a:t>
            </a:r>
          </a:p>
          <a:p>
            <a:endParaRPr dirty="0"/>
          </a:p>
          <a:p>
            <a:r>
              <a:rPr dirty="0"/>
              <a:t>Finally, note that </a:t>
            </a:r>
            <a:r>
              <a:rPr dirty="0" err="1"/>
              <a:t>autovacuum</a:t>
            </a:r>
            <a:r>
              <a:rPr dirty="0"/>
              <a:t> does not replace manual maintenance.  You may still need to run `VACUUM FULL` or `CLUSTER` periodically to reclaim space after bulk deletions or to reorder tables according to an index.  </a:t>
            </a:r>
            <a:r>
              <a:rPr dirty="0" err="1"/>
              <a:t>Autovacuum</a:t>
            </a:r>
            <a:r>
              <a:rPr dirty="0"/>
              <a:t> also does not analyze all tables frequently enough for some workloads; you can run `ANALYZE` manually or schedule it via </a:t>
            </a:r>
            <a:r>
              <a:rPr dirty="0" err="1"/>
              <a:t>cron</a:t>
            </a:r>
            <a:r>
              <a:rPr dirty="0"/>
              <a:t> to ensure that planner statistics stay current.  In later slides we will discuss the benefits of MVCC and the trade‑offs you must consider when tuning your system.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With a firm understanding of MVCC and maintenance, we can discuss why this approach is favored in modern database systems.  The primary benefit of MVCC is that readers and writers operate without blocking each other.  Because each transaction works with its own snapshot, read‑only queries never have to wait for writers, and writes do not have to wait for reads to complete.  This property improves throughput and responsiveness, especially in read‑heavy workloads.  Another major advantage is that MVCC supports consistent snapshots for long‑running analytical queries.  A reporting query can run for minutes or hours and still see a consistent view of the data as of the time it started, even while the system continues to process writes.  </a:t>
            </a:r>
          </a:p>
          <a:p>
            <a:endParaRPr/>
          </a:p>
          <a:p>
            <a:r>
              <a:t>MVCC also enables time‑travel queries and auditing.  Because old versions of rows are retained until vacuuming removes them, a database can reconstruct its state at a previous point in time.  This feature is valuable for forensic investigations, debugging, and compliance.  PostgreSQL does not provide time‑travel queries out of the box, but you can implement them by keeping your own history tables or using extensions.  Other systems, such as Oracle, have built‑in flashback queries that leverage the underlying MVCC mechanism.  </a:t>
            </a:r>
          </a:p>
          <a:p>
            <a:endParaRPr/>
          </a:p>
          <a:p>
            <a:r>
              <a:t>Another benefit is improved fairness in multi‑tenant environments.  In a lock‑based system, a single long transaction can block a critical update, causing a backlog of waiting transactions.  With MVCC, the update can proceed and the old version remains visible to the long transaction.  This decoupling increases concurrency and reduces variance in response times.  MVCC also simplifies conflict resolution because write conflicts are detected at commit time rather than during execution.  Under snapshot isolation, if two transactions update the same row, the first commit succeeds and the second fails.  In contrast, a lock‑based system might block the second transaction until the first commits, leading to unpredictable wait times.  </a:t>
            </a:r>
          </a:p>
          <a:p>
            <a:endParaRPr/>
          </a:p>
          <a:p>
            <a:r>
              <a:t>MVCC’s design scales well on modern hardware.  Multi‑core processors and SSDs favor workloads with many concurrent operations and random I/O, both of which MVCC accommodates.  Because each transaction reads from its own snapshot, the system can spread reads across multiple cores without centralized locking.  Similarly, writes append new versions rather than rewriting existing rows, which reduces contention on hot pages.  </a:t>
            </a:r>
          </a:p>
          <a:p>
            <a:endParaRPr/>
          </a:p>
          <a:p>
            <a:r>
              <a:t>Finally, MVCC provides strong isolation when configured appropriately.  Although snapshot isolation permits anomalies like write skew, PostgreSQL supports a SERIALIZABLE isolation level that adds predicate locking and conflict detection to prevent such anomalies.  In combination with the ability to define application‑level constraints and triggers, MVCC can meet strict consistency requirements.  Understanding the trade‑offs allows you to choose the right isolation level for each workload.  In the following slide, we will examine the challenges and drawbacks associated with MVCC so that you can weigh its benefits against its costs.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Despite its many advantages, MVCC introduces several challenges.  The most obvious is storage overhead: each update or delete generates a new version, so tables and indexes grow faster than in a system that overwrites rows.  Without regular vacuuming, dead tuples accumulate, causing table bloat and degraded performance.  Even with autovacuum, there is a trade‑off between cleaning up dead tuples promptly and consuming resources to do so.  Vacuuming itself generates I/O and CPU load, and aggressive autovacuum settings can interfere with user queries.  On the other hand, conservative settings allow dead tuples to pile up, slowing down queries and increasing storage costs.  </a:t>
            </a:r>
          </a:p>
          <a:p>
            <a:endParaRPr/>
          </a:p>
          <a:p>
            <a:r>
              <a:t>Another challenge is index bloat.  When an indexed row is updated, new index entries are created pointing to the new version, but the old index entries remain until vacuum removes them.  Frequent updates to indexed columns can cause indexes to grow rapidly.  HOT updates mitigate this problem by avoiding index changes when non‑indexed columns are updated, but HOT only applies under certain conditions: the updated columns must not be indexed, and there must be enough space in the page to store the new version.  If these conditions are not met, the update falls back to a normal update that adds a new version to a different page and inserts new index entries.  Over time, index bloat can degrade performance by making index scans slower and increasing memory usage.  Periodically reindexing a table or using the `REINDEX` command can reclaim space, but this operation requires locks and additional disk space.  </a:t>
            </a:r>
          </a:p>
          <a:p>
            <a:endParaRPr/>
          </a:p>
          <a:p>
            <a:r>
              <a:t>MVCC can also complicate application logic.  Because different transactions may see different versions of the same row, concurrent operations can produce unexpected outcomes.  The write skew anomaly mentioned earlier is a classic example: two concurrent transactions both check a condition and then update rows in a way that violates the condition when combined.  Avoiding write skew requires either a stricter isolation level (SERIALIZABLE) or explicit locking on the rows involved.  Developers must understand these anomalies to write correct concurrent code.  </a:t>
            </a:r>
          </a:p>
          <a:p>
            <a:endParaRPr/>
          </a:p>
          <a:p>
            <a:r>
              <a:t>Transaction ID wraparound is another potential pitfall.  XIDs are 32‑bit integers that eventually wrap back to zero.  If the system does not freeze old tuples, wraparound can make those tuples appear to be from a future transaction, causing them to be invisible and preventing any new transactions from committing</a:t>
            </a:r>
            <a:r>
              <a:rPr u="sng">
                <a:solidFill>
                  <a:schemeClr val="accent6"/>
                </a:solidFill>
                <a:hlinkClick r:id="rId3"/>
              </a:rPr>
              <a:t>(devcenter.heroku.com)</a:t>
            </a:r>
            <a:r>
              <a:t>.  To avoid this, autovacuum must perform freeze operations well before wraparound.  If long‑running transactions or disabled autovacuum delay freezing, PostgreSQL can enter a “stop the world” state where no new transactions can start until vacuuming catches up.  </a:t>
            </a:r>
          </a:p>
          <a:p>
            <a:endParaRPr/>
          </a:p>
          <a:p>
            <a:r>
              <a:t>Finally, MVCC’s complexity can make it harder to reason about system behavior.  Tuning autovacuum involves a plethora of parameters with interactions that are not always obvious.  Monitoring metrics like dead tuple counts, freeze ages and autovacuum activity requires familiarity with system catalogs and monitoring tools.  When performance problems arise, diagnosing them often involves looking at query plans, examining version chains, checking visibility maps, and analyzing I/O patterns.  Nevertheless, the benefits of MVCC usually outweigh the costs, especially when you understand these challenges and adopt best practices for maintenance and tuning.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This slide delves deeper into PostgreSQL’s heap storage and its associated components.  As we discussed earlier, each table is composed of 8 KB pages containing an array of item pointers and the tuple data itself.  The item pointers store a pair of integers: an offset into the page and the length of the tuple at that offset.  Because item pointers do not move unless they are freed, their positions are stable while the table is in use.  This stability allows indexes to rely on ctids (page number + item index) to locate tuples.  The page header includes a transaction ID called `pd_prune_xid`, which marks the oldest XID that might still have pointers to tuples on the page.  Vacuuming uses this field to decide whether it is safe to prune dead tuples.  The header also includes flags for the visibility map and the location of the start of free space, which grows forward as item pointers are added and grows backward as tuples are inserted.  </a:t>
            </a:r>
          </a:p>
          <a:p>
            <a:endParaRPr/>
          </a:p>
          <a:p>
            <a:r>
              <a:t>One important optimization in PostgreSQL’s heap storage is the HOT (heap‑only tuple) mechanism, introduced to mitigate index bloat.  When you update a row but do not change any indexed columns, PostgreSQL tries to insert the new version into the same page as the old version and links the two via the item pointer array.  Because the index entry still points to the old location, no new index entry is needed.  When a query using the index finds the old version, it follows the internal HOT chain to the new version.  HOT reduces the number of index entries created for updates and thus reduces index bloat.  However, HOT only works when there is enough free space on the page to accommodate the new version; otherwise, PostgreSQL must insert the new version into another page, and the index bloat remains.  Tuning page fill factors and monitoring HOT update ratios can help you maintain efficient storage.  </a:t>
            </a:r>
          </a:p>
          <a:p>
            <a:endParaRPr/>
          </a:p>
          <a:p>
            <a:r>
              <a:t>Beyond the heap itself, PostgreSQL uses auxiliary structures to manage free space and visibility.  The free space map (FSM) tracks how much free space is available in each page.  When inserting new tuples, the system consults the FSM to find a page with enough space, thus avoiding the need to scan the entire heap.  The visibility map (VM) records whether all tuples in a page are visible to all transactions.  A page marked as all-visible can be skipped by vacuum and can be served by index-only scans, reducing heap accesses.  Both FSM and VM files are stored on disk alongside the heap.  Vacuuming updates these maps as it removes dead tuples and freezes old versions</a:t>
            </a:r>
            <a:r>
              <a:rPr u="sng">
                <a:solidFill>
                  <a:schemeClr val="accent6"/>
                </a:solidFill>
                <a:hlinkClick r:id="rId3"/>
              </a:rPr>
              <a:t>(rachbelaid.com)</a:t>
            </a:r>
            <a:r>
              <a:t>.  </a:t>
            </a:r>
          </a:p>
          <a:p>
            <a:endParaRPr/>
          </a:p>
          <a:p>
            <a:r>
              <a:t>Another consideration is how PostgreSQL handles large rows.  The TOAST mechanism stores large column values out of line in a separate table.  Each table with TOASTed columns has its own TOAST table, which holds chunks of the large value.  The main table stores a small pointer to the TOAST table entry.  When you fetch the row, PostgreSQL reconstructs the large value by joining the chunks.  TOAST keeps the heap compact and ensures that most queries do not incur the cost of reading large values</a:t>
            </a:r>
            <a:r>
              <a:rPr u="sng">
                <a:solidFill>
                  <a:schemeClr val="accent6"/>
                </a:solidFill>
                <a:hlinkClick r:id="rId4"/>
              </a:rPr>
              <a:t>(rachbelaid.com)</a:t>
            </a:r>
            <a:r>
              <a:t>.  </a:t>
            </a:r>
          </a:p>
          <a:p>
            <a:endParaRPr/>
          </a:p>
          <a:p>
            <a:r>
              <a:t>Lastly, it is worth noting that while PostgreSQL stores table data in a heap, it also supports the `CLUSTER` command, which physically reorders the heap according to an index.  CLUSTER rewrites the table so that rows with similar keys are stored together, improving locality for certain queries.  However, the ordering is not maintained as new rows are inserted, so clustering must be repeated periodically.  The `VACUUM FULL` command also rewrites the table but does so purely to remove dead space.  Understanding the intricacies of heap storage and its supporting mechanisms helps you make informed choices about index design, table design and maintenance strategies.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Although this session focuses on PostgreSQL, MVCC is used in many other database systems.  Oracle, MySQL’s InnoDB engine, CockroachDB, CouchDB and others implement variants of MVCC.  Each system makes different design choices regarding version storage, garbage collection and index management.  For example, Oracle stores old versions in rollback segments (also called undo logs).  When you update a row, Oracle writes the old version to the undo log and keeps only the latest version in the table.  Reads use the undo log to reconstruct older versions as needed.  In contrast, PostgreSQL keeps multiple versions inline in the heap and links them together.  MySQL’s InnoDB uses a combination of undo logs and a clustered index; each table is stored as a B‑tree ordered by the primary key, and undo log records are used to reconstruct older versions.  CockroachDB uses MVCC keys in its distributed key–value store; each version of a key is stored separately, and garbage collection runs in the background based on configurable thresholds.  </a:t>
            </a:r>
          </a:p>
          <a:p>
            <a:endParaRPr/>
          </a:p>
          <a:p>
            <a:r>
              <a:t>Different databases also use MVCC to support different features.  Oracle’s flashback queries allow you to run queries against a past state of the database, leveraging the undo segments.  Some NoSQL databases, like CouchDB, use MVCC at the document level to allow offline edits to be synchronized without conflicts.  In these systems, conflicts are resolved during replication rather than at the time of the update.  MVCC is not limited to relational databases; it is used in distributed file systems and key–value stores to allow concurrent reads and writes.  Understanding how other systems implement MVCC can help you choose the right database for a particular workload and appreciate the trade‑offs each design makes.  </a:t>
            </a:r>
          </a:p>
          <a:p>
            <a:endParaRPr/>
          </a:p>
          <a:p>
            <a:r>
              <a:t>MVCC shines in workloads that require high concurrency and predictable response times.  Web applications with many simultaneous reads and writes benefit from MVCC because reads do not block writes and vice versa.  Analytical workloads that need consistent snapshots of data over long periods also benefit.  For example, a financial reporting system can run a long query to compute quarterly totals while transactional workloads continue unabated.  Systems that must audit changes or support time‑based queries can use MVCC to reconstruct historical states.  Multi‑tenant applications, where different clients access the same tables concurrently, gain fairness because long‑running analytical queries do not block short transactional updates.  </a:t>
            </a:r>
          </a:p>
          <a:p>
            <a:endParaRPr/>
          </a:p>
          <a:p>
            <a:r>
              <a:t>In addition to cross-database implementations, real‑world case studies illustrate how MVCC works in practice.  Consider a high‑traffic e‑commerce application where customers place orders and inventory levels must be updated promptly.  Without MVCC, concurrent updates to the same inventory rows would require exclusive locks, causing transactions to queue up.  With MVCC, each order creates a new version of the inventory row while preserving older versions for in‑flight reads.  Read‑only queries, such as those used by the product catalog, see a consistent snapshot of inventory that does not fluctuate mid‑query.  Once the updating transaction commits, subsequent transactions read the new version.  Similarly, in a social media platform, users might update their profiles or post comments while others are browsing their feeds.  MVCC allows the feed reader to see a consistent state of the social graph while updates occur.  </a:t>
            </a:r>
          </a:p>
          <a:p>
            <a:endParaRPr/>
          </a:p>
          <a:p>
            <a:r>
              <a:t>Another example comes from financial services.  Trading systems must record transactions quickly and accurately while supporting long‑running analytic queries to detect patterns or fraud.  MVCC allows analytic processes to run without blocking transactional inserts.  For instance, a regulatory report that aggregates trades over the past hour can execute under snapshot isolation, seeing exactly the data committed during that period, while new trades continue to be recorded.  In healthcare, electronic medical record systems must manage concurrent updates from doctors, nurses and pharmacists while ensuring that each practitioner sees a consistent view of a patient’s chart.  MVCC provides that consistency and supports auditing by retaining old versions of records until they are vacuumed.  Lessons from these case studies highlight best practices: keep transactions short, design schemas to minimize contention, tune autovacuum appropriately, avoid unnecessary updates, and test under realistic concurrency patterns.  </a:t>
            </a:r>
          </a:p>
          <a:p>
            <a:endParaRPr/>
          </a:p>
          <a:p>
            <a:r>
              <a:t>When evaluating MVCC systems, consider the cost of garbage collection and the space overhead of version storage.  Some systems, like PostgreSQL, require manual tuning of autovacuum and occasional full vacuum.  Others, like MySQL’s InnoDB, rely on purge threads to clean up undo logs.  The choice of database engine often depends on factors beyond concurrency control, such as partitioning, sharding and availability features.  Nevertheless, understanding the commonalities and differences in MVCC implementations helps you design portable applications and anticipate how your queries will behave on different systems.  In the next section we will discuss how to monitor MVCC behavior and interpret the metrics that PostgreSQL exposes.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Effective monitoring is essential for maintaining a healthy MVCC environment.  PostgreSQL exposes a wealth of statistics through system catalogs and views.  The `pg_stat_user_tables` and `pg_stat_all_tables` views report information such as the number of inserted (`n_tup_ins`), updated (`n_tup_upd`), deleted (`n_tup_del`) and dead (`n_dead_tup`) tuples in each table.  You can query these views to find tables with high dead tuple counts, indicating that vacuum may be necessary.  The `pg_stat_database` view reports cumulative statistics per database, including the number of deadlocks and the total time spent in vacuum.  Monitoring these metrics over time helps you detect trends.  </a:t>
            </a:r>
          </a:p>
          <a:p>
            <a:endParaRPr/>
          </a:p>
          <a:p>
            <a:r>
              <a:t>The `pg_stat_activity` view shows active sessions and their states.  Long‑running transactions appear here, and you can see the XID age of each backend.  Transactions that have been open for a long time delay the advancement of the transaction horizon, so spotting and terminating idle transactions helps prevent wraparound.  The `pg_stat_progress_vacuum` view reports the progress of ongoing vacuum operations, including the number of heap blocks scanned and the number of dead tuples removed.  This view is invaluable for understanding how quickly vacuum is proceeding and whether it might block other operations.  </a:t>
            </a:r>
          </a:p>
          <a:p>
            <a:endParaRPr/>
          </a:p>
          <a:p>
            <a:r>
              <a:t>You can also use functions like `txid_current()` to obtain the current XID and `pg_database.datfrozenxid` to see how close the database is to wraparound.  If the difference between the current XID and a table’s `relfrozenxid` approaches `autovacuum_freeze_max_age`, an emergency vacuum will be triggered.  The `pg_xact_commit_timestamp()` function allows you to see when a transaction committed, which can be useful for auditing.  </a:t>
            </a:r>
          </a:p>
          <a:p>
            <a:endParaRPr/>
          </a:p>
          <a:p>
            <a:r>
              <a:t>External monitoring tools, such as pg_stat_monitor, pg_stat_kcache, `pg_freespace`, and third‑party solutions like Redgate Monitor, can provide more detailed insights.  These tools can alert you when tables exceed dead tuple thresholds, when autovacuum is falling behind, or when vacuum is consuming excessive resources.  Integrating PostgreSQL metrics into centralized observability platforms lets you correlate database health with application performance.  </a:t>
            </a:r>
          </a:p>
          <a:p>
            <a:endParaRPr/>
          </a:p>
          <a:p>
            <a:r>
              <a:t>When interpreting metrics, remember that absolute numbers do not tell the whole story.  A table with a large number of dead tuples may not need immediate attention if the table is huge and autovacuum is keeping up.  Conversely, a moderate number of dead tuples in a small table may indicate a problem.  Track ratios, such as dead tuples to total tuples, and monitor changes over time.  When you plan maintenance windows, use statistics to prioritize tables that need manual vacuum or reindex operations.  </a:t>
            </a:r>
          </a:p>
          <a:p>
            <a:endParaRPr/>
          </a:p>
          <a:p>
            <a:r>
              <a:t>Finally, log settings influence how much information you have about autovacuum.  Setting `log_autovacuum_min_duration` to a non‑negative value causes PostgreSQL to log autovacuum operations that run longer than the specified duration.  Reviewing these logs helps you understand how often autovacuum runs and how long it takes.  Logging `vacuum` commands and analyzing them over time can reveal patterns and help tune autovacuum for your workload.  In the next slide we will reflect on the broader community surrounding PostgreSQL and point you to resources for deepening your understanding of MVCC and vacuuming.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PostgreSQL’s strength lies not only in its robust technical foundations but also in its vibrant community.  The MVCC implementation we have explored evolved over decades of development and collaboration.  For example, the multi‑version model was designed by Vadim Mikheev and implemented in the late 1990s</a:t>
            </a:r>
            <a:r>
              <a:rPr u="sng">
                <a:solidFill>
                  <a:schemeClr val="accent6"/>
                </a:solidFill>
                <a:hlinkClick r:id="rId3"/>
              </a:rPr>
              <a:t>(www.postgresql.org)</a:t>
            </a:r>
            <a:r>
              <a:t>, and subsequent contributors added features like HOT updates, visibility maps and parallel vacuum.  Bruce Momjian, a core team member, regularly gives talks about MVCC and vacuuming, and his presentations are freely available under a Creative Commons license.  Watching these talks and reading the official documentation will reinforce the concepts we have covered.  Community conferences such as the Postgres Conference and PgConf.EU feature sessions on MVCC, performance tuning and internals.  Participating in these events helps you stay current with new developments and learn from experts.  </a:t>
            </a:r>
          </a:p>
          <a:p>
            <a:endParaRPr/>
          </a:p>
          <a:p>
            <a:r>
              <a:t>Beyond core developers, many authors publish blog posts and tutorials on MVCC and vacuuming.  Articles such as the Heroku Dev Center’s “PostgreSQL Concurrency with MVCC” explain the basics of XIDs and isolation levels</a:t>
            </a:r>
            <a:r>
              <a:rPr u="sng">
                <a:solidFill>
                  <a:schemeClr val="accent6"/>
                </a:solidFill>
                <a:hlinkClick r:id="rId4"/>
              </a:rPr>
              <a:t>(devcenter.heroku.com)</a:t>
            </a:r>
            <a:r>
              <a:t>, while deeper dives like the Carnegie Mellon lecture notes outline the four major design decisions in MVCC systems.  The Redgate Hub hosts webinars and blog posts, and companies like EDB, Crunchy Data and AWS publish best practices for autovacuum tuning.  Engaging with these resources will broaden your understanding.  </a:t>
            </a:r>
          </a:p>
          <a:p>
            <a:endParaRPr/>
          </a:p>
          <a:p>
            <a:r>
              <a:t>The PostgreSQL mailing lists are another avenue for learning.  Developers and users discuss bugs, propose features and share tuning advice.  The “pgsql-performance” list often features discussions about autovacuum behavior, dead tuples and wraparound.  Reading archived threads can reveal how practitioners diagnose and solve real-world problems.  On the “pgsql-hackers” list, you can follow the development of new features and contribute to discussions.  The community values respectful, thoughtful contributions.  </a:t>
            </a:r>
          </a:p>
          <a:p>
            <a:endParaRPr/>
          </a:p>
          <a:p>
            <a:r>
              <a:t>Finally, remember that learning does not stop with this talk.  MVCC touches many parts of PostgreSQL: locking, indexing, query planning, crash recovery and replication.  The more you experiment—by setting up test environments, writing concurrent workloads, and monitoring system catalogs—the deeper your intuition will become.  Join local user groups, attend meetups, and collaborate with peers.  As you share your knowledge, you reinforce your understanding and contribute back to the community that makes PostgreSQL thrive.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The Q&amp;A portion of our session provides an opportunity to address common questions and clarify nuances.  One frequent question concerns the relationship between autocommit and MVCC.  In PostgreSQL, most client libraries enable autocommit mode, meaning that each SQL statement runs in its own transaction and commits automatically.  Autocommit does not disable MVCC; every statement still gets its own XID and snapshot, and updates still create new versions.  You can explicitly manage transactions with `BEGIN` and `COMMIT` to group statements, but you cannot bypass versioning</a:t>
            </a:r>
            <a:r>
              <a:rPr u="sng">
                <a:solidFill>
                  <a:schemeClr val="accent6"/>
                </a:solidFill>
                <a:hlinkClick r:id="rId3"/>
              </a:rPr>
              <a:t>(devcenter.heroku.com)</a:t>
            </a:r>
            <a:r>
              <a:t>.  Another question is whether a multi‑statement transaction sees its own changes.  Under READ COMMITTED, each statement starts a new subtransaction and therefore sees the effects of prior statements within the same outer transaction.  Under REPEATABLE READ and SERIALIZABLE, the snapshot is taken at the start of the transaction, so you may need to use `SELECT ... FOR UPDATE` or other locks to see your own uncommitted changes.  </a:t>
            </a:r>
          </a:p>
          <a:p>
            <a:endParaRPr/>
          </a:p>
          <a:p>
            <a:r>
              <a:t>Users also ask how vacuum relates to autovacuum and when to run manual vacuum.  Autovacuum handles routine maintenance based on thresholds and scale factors</a:t>
            </a:r>
            <a:r>
              <a:rPr u="sng">
                <a:solidFill>
                  <a:schemeClr val="accent6"/>
                </a:solidFill>
                <a:hlinkClick r:id="rId4"/>
              </a:rPr>
              <a:t>(www.postgresql.org)</a:t>
            </a:r>
            <a:r>
              <a:t>.  Manual `VACUUM` is appropriate when you have bulk deleted or updated data, when autovacuum is disabled for a table, or when you want to run a full vacuum to shrink a table.  It is also important to run `VACUUM` before making a backup with `pg_dump` to avoid backing up dead tuples.  </a:t>
            </a:r>
          </a:p>
          <a:p>
            <a:endParaRPr/>
          </a:p>
          <a:p>
            <a:r>
              <a:t>Another common question is whether MVCC slows down queries.  There is some overhead: the system must maintain version chains and check visibility, and vacuum must run periodically.  However, the benefits of non-blocking reads and writes usually outweigh the costs.  Query performance problems are more often caused by poor indexing, inefficient queries or misconfigured autovacuum.  Monitoring metrics such as dead tuple counts and autovacuum activity helps identify whether MVCC-related overhead is the bottleneck.  </a:t>
            </a:r>
          </a:p>
          <a:p>
            <a:endParaRPr/>
          </a:p>
          <a:p>
            <a:r>
              <a:t>People also ask about transaction ID wraparound and freeze.  Transaction IDs wrap every 4 billion transactions, so the system must mark old tuples as frozen before wraparound.  Autovacuum normally handles this automatically, but if a table has not been vacuumed in a long time or if long‑running transactions prevent freezing, the database may block writes until a vacuum completes</a:t>
            </a:r>
            <a:r>
              <a:rPr u="sng">
                <a:solidFill>
                  <a:schemeClr val="accent6"/>
                </a:solidFill>
                <a:hlinkClick r:id="rId5"/>
              </a:rPr>
              <a:t>(devcenter.heroku.com)</a:t>
            </a:r>
            <a:r>
              <a:t>.  Monitoring `pg_class.relfrozenxid` and `pg_database.datfrozenxid` helps you spot this issue before it becomes critical.  </a:t>
            </a:r>
          </a:p>
          <a:p>
            <a:endParaRPr/>
          </a:p>
          <a:p>
            <a:r>
              <a:t>Finally, questions often arise about how to design applications for MVCC.  Best practices include keeping transactions short to avoid delaying vacuum, batching related updates into a single transaction to minimize version churn, avoiding unnecessary updates (for example, only updating a row if a column actually changes), and using appropriate isolation levels.  When in doubt, start with the default READ COMMITTED and monitor performance.  Move to REPEATABLE READ or SERIALIZABLE only when needed, and be prepared to handle serialization errors.  Use explicit locking when necessary to prevent anomalies.  By understanding the principles we have discussed, you can answer these and other questions with confidence.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As we conclude this deep dive into PostgreSQL’s MVCC and vacuuming architecture, take a moment to reflect on the key ideas we have covered.  We began by motivating the need for concurrency control in databases and introducing the MVCC approach, which allows readers and writers to proceed without blocking each other by maintaining multiple versions of data.  We explored how transactions and isolation levels determine what data is visible to each transaction, and we examined how PostgreSQL stores versioning metadata in hidden columns and manages version chains within heap pages.  We dug into row visibility rules, the finite transaction ID space, and the implications of wraparound, emphasizing the importance of keeping transactions short and vacuuming regularly【845870650695190†L288-L297】.  </a:t>
            </a:r>
          </a:p>
          <a:p>
            <a:endParaRPr/>
          </a:p>
          <a:p>
            <a:r>
              <a:t>On the physical side, we learned how heap storage works: tables are stored as arrays of pages containing item pointers and tuples, with no inherent ordering</a:t>
            </a:r>
            <a:r>
              <a:rPr u="sng">
                <a:solidFill>
                  <a:schemeClr val="accent6"/>
                </a:solidFill>
                <a:hlinkClick r:id="rId3"/>
              </a:rPr>
              <a:t>(rachbelaid.com)</a:t>
            </a:r>
            <a:r>
              <a:t>.  We saw how dead tuples accumulate as updates and deletes occur and how vacuuming reclaims space, cleans up index entries, updates the free space and visibility maps, and freezes tuples to prevent transaction ID wraparound</a:t>
            </a:r>
            <a:r>
              <a:rPr u="sng">
                <a:solidFill>
                  <a:schemeClr val="accent6"/>
                </a:solidFill>
                <a:hlinkClick r:id="rId4"/>
              </a:rPr>
              <a:t>(www.postgresql.org)</a:t>
            </a:r>
            <a:r>
              <a:t>.  We discussed the mechanics of vacuuming, the differences between plain and full vacuum, and the role of autovacuum in automating maintenance</a:t>
            </a:r>
            <a:r>
              <a:rPr u="sng">
                <a:solidFill>
                  <a:schemeClr val="accent6"/>
                </a:solidFill>
                <a:hlinkClick r:id="rId5"/>
              </a:rPr>
              <a:t>(www.postgresql.org)</a:t>
            </a:r>
            <a:r>
              <a:t>.  We explored tuning autovacuum, including thresholds, scale factors and freeze ages</a:t>
            </a:r>
            <a:r>
              <a:rPr u="sng">
                <a:solidFill>
                  <a:schemeClr val="accent6"/>
                </a:solidFill>
                <a:hlinkClick r:id="rId6"/>
              </a:rPr>
              <a:t>(www.postgresql.org)</a:t>
            </a:r>
            <a:r>
              <a:t>, and we weighed the benefits of MVCC against its costs, such as storage overhead, index bloat and added complexity.  We examined the structure of heap pages, including HOT updates, TOAST storage and auxiliary structures like the free space map and visibility map</a:t>
            </a:r>
            <a:r>
              <a:rPr u="sng">
                <a:solidFill>
                  <a:schemeClr val="accent6"/>
                </a:solidFill>
                <a:hlinkClick r:id="rId7"/>
              </a:rPr>
              <a:t>(rachbelaid.com)</a:t>
            </a:r>
            <a:r>
              <a:t>.  We also considered MVCC implementations in other databases and the kinds of workloads that benefit most from this approach.  </a:t>
            </a:r>
          </a:p>
          <a:p>
            <a:endParaRPr/>
          </a:p>
          <a:p>
            <a:r>
              <a:t>In the end, effective use of MVCC and vacuuming comes down to understanding how your workloads interact with the versioning system.  Keep transactions short to allow autovacuum to clean up old versions.  Monitor dead tuple counts, autovacuum activity and wraparound risk using PostgreSQL’s system catalogs and external tools.  Tune autovacuum thresholds and cost parameters based on the update and insert patterns of each table.  Periodically run manual `VACUUM` or `VACUUM FULL` when necessary, and consider reindexing or clustering tables to combat bloat.  Finally, continue learning by reading the official documentation, following community discussions, and experimenting with test workloads.  The more you understand how MVCC works, the better you can design schemas, write efficient queries and maintain your database for peak performance.  Thank you for taking the time to engage deeply with this material.  I hope the knowledge you have gained will help you teach others and apply these principles in your own projects.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Multiversion_concurrency_control"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www.geeksforgeeks.org/dbms/what-is-multi-version-concurrency-control-mvcc-in-dbms/#:~:text=Multi,time%20without%20blocking%20each%20other"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Multiversion_concurrency_contro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ww.theserverside.com/blog/Coffee-Talk-Java-News-Stories-and-Opinions/What-is-MVCC-How-does-Multiversion-Concurrencty-Control-work#:~:text=What%20is%20MVCC%3F%20,control"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courses.cs.cmu.edu/spring2023/notes/18-multiversioning.pdf"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dbms/what-is-multi-version-concurrency-control-mvcc-in-dbms/#:~:text=How%20MVCC%20Work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postgresql.org/docs/current/mvcc-intro.html#:~:text=PostgreSQL%20provides%20a%20rich%20set,reasonable%20performance%20in%20multiuser%20environment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en.wikipedia.org/wiki/Multiversion_concurrency_control"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dbms/what-is-multi-version-concurrency-control-mvcc-in-dbms/#:~:text=How%20MVCC%20Work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courses.cs.cmu.edu/spring2023/notes/18-multiversioning.pdf"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dbms/what-is-multi-version-concurrency-control-mvcc-in-dbms/#:~:text=Advantages%20of%20Multi,in%20DBM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www.theserverside.com/blog/Coffee-Talk-Java-News-Stories-and-Opinions/What-is-MVCC-How-does-Multiversion-Concurrencty-Control-work#:~:text=What%20are%20the%20benefits%20of,MVCC"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theserverside.com/blog/Coffee-Talk-Java-News-Stories-and-Opinions/What-is-MVCC-How-does-Multiversion-Concurrencty-Control-work#:~:text=What%20are%20the%20drawbacks%20to,MVCC"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celerdata.com/glossary/multiversion-concurrency-control#:~:text=Multiversion%20Concurrency%20Control%20,changes%20without%20disturbing%20those%20readers"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theserverside.com/blog/Coffee-Talk-Java-News-Stories-and-Opinions/What-is-MVCC-How-does-Multiversion-Concurrencty-Control-work#:~:text=What%20is%20MVCC%3F%20,control"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www.postgresql.org/docs/current/mvcc-intro.html#:~:text=PostgreSQL%20provides%20a%20rich%20set,reasonable%20performance%20in%20multiuser%20environments"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Multiversion_concurrency_control"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postgresql.org/docs/current/mvcc-intro.html#:~:text=PostgreSQL%20provides%20a%20rich%20set,reasonable%20performance%20in%20multiuser%20environments"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rachbelaid.com/introduction-to-postgres-physical-storage/#:~:text=The%20structure%20used%20to%20store,is%20stored%20on%20a%20pag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age.apache.org/blog/2024-04-25-discovering-the-inner-workings-of-postgresqls-data-allocation/#:~:text=PostgreSQL%20stores%20data%20in%20heap,your%20thoughts%20in%20chronological%20order"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dbms/what-is-multi-version-concurrency-control-mvcc-in-dbms/#:~:text=How%20MVCC%20Works"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celerdata.com/glossary/multiversion-concurrency-control#:~:text=Multiversion%20Concurrency%20Control%20,changes%20without%20disturbing%20those%20reader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celerdata.com/glossary/multiversion-concurrency-control#:~:text=Multiversion%20Concurrency%20Control%20,changes%20without%20disturbing%20those%20readers"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courses.cs.cmu.edu/spring2023/notes/18-multiversioning.pdf"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dbms/what-is-multi-version-concurrency-control-mvcc-in-dbms/#:~:text=Advantages%20of%20Multi,in%20DBMS"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theserverside.com/blog/Coffee-Talk-Java-News-Stories-and-Opinions/What-is-MVCC-How-does-Multiversion-Concurrencty-Control-work#:~:text=What%20is%20MVCC%3F%20,control"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60000"/>
            </a:srgbClr>
          </a:solidFill>
          <a:ln w="12700">
            <a:solidFill>
              <a:srgbClr val="000000"/>
            </a:solidFill>
            <a:prstDash val="solid"/>
          </a:ln>
        </p:spPr>
        <p:txBody>
          <a:bodyPr/>
          <a:lstStyle/>
          <a:p>
            <a:endParaRPr/>
          </a:p>
        </p:txBody>
      </p:sp>
      <p:sp>
        <p:nvSpPr>
          <p:cNvPr id="4" name="Text 1"/>
          <p:cNvSpPr/>
          <p:nvPr/>
        </p:nvSpPr>
        <p:spPr>
          <a:xfrm>
            <a:off x="457200" y="1920240"/>
            <a:ext cx="8229600" cy="914400"/>
          </a:xfrm>
          <a:prstGeom prst="rect">
            <a:avLst/>
          </a:prstGeom>
          <a:noFill/>
          <a:ln/>
        </p:spPr>
        <p:txBody>
          <a:bodyPr wrap="square" rtlCol="0" anchor="ctr"/>
          <a:lstStyle/>
          <a:p>
            <a:pPr marL="0" indent="0" algn="ctr">
              <a:buNone/>
            </a:pPr>
            <a:r>
              <a:rPr lang="en-US" sz="3600" b="1" dirty="0">
                <a:solidFill>
                  <a:srgbClr val="FFFFFF"/>
                </a:solidFill>
              </a:rPr>
              <a:t>PostgreSQL MVCC &amp; Vacuuming</a:t>
            </a:r>
            <a:endParaRPr lang="en-US" sz="3600" dirty="0"/>
          </a:p>
        </p:txBody>
      </p:sp>
      <p:sp>
        <p:nvSpPr>
          <p:cNvPr id="5" name="Text 2"/>
          <p:cNvSpPr/>
          <p:nvPr/>
        </p:nvSpPr>
        <p:spPr>
          <a:xfrm>
            <a:off x="457200" y="3017520"/>
            <a:ext cx="8229600" cy="731520"/>
          </a:xfrm>
          <a:prstGeom prst="rect">
            <a:avLst/>
          </a:prstGeom>
          <a:noFill/>
          <a:ln/>
        </p:spPr>
        <p:txBody>
          <a:bodyPr wrap="square" rtlCol="0" anchor="ctr"/>
          <a:lstStyle/>
          <a:p>
            <a:pPr marL="0" indent="0" algn="ctr">
              <a:buNone/>
            </a:pPr>
            <a:r>
              <a:rPr lang="en-US" sz="1600" i="1" dirty="0">
                <a:solidFill>
                  <a:srgbClr val="DDE9F5"/>
                </a:solidFill>
              </a:rPr>
              <a:t>Understanding concurrency, heap storage &amp; maintenance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Agenda</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Overview of concurrency control concepts
• Heap storage and tuples in PostgreSQL
• Vacuuming process and autovacuum
• Tuning &amp; monitoring vacuuming
• Discussion and next steps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What is MVCC?</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MVCC = Multiversion Concurrency Control
• Readers never block writers; writers rarely block readers
• Implemented via hidden xmin/xmax columns storing transaction IDs</a:t>
            </a:r>
            <a:endParaRPr lang="en-US" sz="1400" dirty="0"/>
          </a:p>
        </p:txBody>
      </p:sp>
      <p:sp>
        <p:nvSpPr>
          <p:cNvPr id="6" name="Shape 4"/>
          <p:cNvSpPr/>
          <p:nvPr/>
        </p:nvSpPr>
        <p:spPr>
          <a:xfrm>
            <a:off x="6035040" y="1645920"/>
            <a:ext cx="502920" cy="914400"/>
          </a:xfrm>
          <a:prstGeom prst="roundRect">
            <a:avLst>
              <a:gd name="adj" fmla="val 9091"/>
            </a:avLst>
          </a:prstGeom>
          <a:solidFill>
            <a:srgbClr val="004080"/>
          </a:solidFill>
          <a:ln w="12700">
            <a:solidFill>
              <a:srgbClr val="004080"/>
            </a:solidFill>
            <a:prstDash val="solid"/>
          </a:ln>
        </p:spPr>
        <p:txBody>
          <a:bodyPr/>
          <a:lstStyle/>
          <a:p>
            <a:endParaRPr/>
          </a:p>
        </p:txBody>
      </p:sp>
      <p:sp>
        <p:nvSpPr>
          <p:cNvPr id="7" name="Text 5"/>
          <p:cNvSpPr/>
          <p:nvPr/>
        </p:nvSpPr>
        <p:spPr>
          <a:xfrm>
            <a:off x="6035040" y="1645920"/>
            <a:ext cx="502920" cy="914400"/>
          </a:xfrm>
          <a:prstGeom prst="rect">
            <a:avLst/>
          </a:prstGeom>
          <a:noFill/>
          <a:ln/>
        </p:spPr>
        <p:txBody>
          <a:bodyPr wrap="square" rtlCol="0" anchor="ctr"/>
          <a:lstStyle/>
          <a:p>
            <a:pPr marL="0" indent="0" algn="ctr">
              <a:buNone/>
            </a:pPr>
            <a:r>
              <a:rPr lang="en-US" sz="1000" b="1" dirty="0">
                <a:solidFill>
                  <a:srgbClr val="FFFFFF"/>
                </a:solidFill>
              </a:rPr>
              <a:t>v1</a:t>
            </a:r>
            <a:endParaRPr lang="en-US" sz="1000" dirty="0"/>
          </a:p>
        </p:txBody>
      </p:sp>
      <p:sp>
        <p:nvSpPr>
          <p:cNvPr id="8" name="Shape 6"/>
          <p:cNvSpPr/>
          <p:nvPr/>
        </p:nvSpPr>
        <p:spPr>
          <a:xfrm>
            <a:off x="6492240" y="2057400"/>
            <a:ext cx="274320" cy="91440"/>
          </a:xfrm>
          <a:prstGeom prst="rightArrow">
            <a:avLst/>
          </a:prstGeom>
          <a:solidFill>
            <a:srgbClr val="1A3B5D"/>
          </a:solidFill>
          <a:ln w="12700">
            <a:solidFill>
              <a:srgbClr val="1A3B5D"/>
            </a:solidFill>
            <a:prstDash val="solid"/>
          </a:ln>
        </p:spPr>
        <p:txBody>
          <a:bodyPr/>
          <a:lstStyle/>
          <a:p>
            <a:endParaRPr/>
          </a:p>
        </p:txBody>
      </p:sp>
      <p:sp>
        <p:nvSpPr>
          <p:cNvPr id="9" name="Shape 7"/>
          <p:cNvSpPr/>
          <p:nvPr/>
        </p:nvSpPr>
        <p:spPr>
          <a:xfrm>
            <a:off x="6720840" y="1645920"/>
            <a:ext cx="502920" cy="914400"/>
          </a:xfrm>
          <a:prstGeom prst="roundRect">
            <a:avLst>
              <a:gd name="adj" fmla="val 9091"/>
            </a:avLst>
          </a:prstGeom>
          <a:solidFill>
            <a:srgbClr val="004080"/>
          </a:solidFill>
          <a:ln w="12700">
            <a:solidFill>
              <a:srgbClr val="004080"/>
            </a:solidFill>
            <a:prstDash val="solid"/>
          </a:ln>
        </p:spPr>
        <p:txBody>
          <a:bodyPr/>
          <a:lstStyle/>
          <a:p>
            <a:endParaRPr/>
          </a:p>
        </p:txBody>
      </p:sp>
      <p:sp>
        <p:nvSpPr>
          <p:cNvPr id="10" name="Text 8"/>
          <p:cNvSpPr/>
          <p:nvPr/>
        </p:nvSpPr>
        <p:spPr>
          <a:xfrm>
            <a:off x="6720840" y="1645920"/>
            <a:ext cx="502920" cy="914400"/>
          </a:xfrm>
          <a:prstGeom prst="rect">
            <a:avLst/>
          </a:prstGeom>
          <a:noFill/>
          <a:ln/>
        </p:spPr>
        <p:txBody>
          <a:bodyPr wrap="square" rtlCol="0" anchor="ctr"/>
          <a:lstStyle/>
          <a:p>
            <a:pPr marL="0" indent="0" algn="ctr">
              <a:buNone/>
            </a:pPr>
            <a:r>
              <a:rPr lang="en-US" sz="1000" b="1" dirty="0">
                <a:solidFill>
                  <a:srgbClr val="FFFFFF"/>
                </a:solidFill>
              </a:rPr>
              <a:t>v2</a:t>
            </a:r>
            <a:endParaRPr lang="en-US" sz="1000" dirty="0"/>
          </a:p>
        </p:txBody>
      </p:sp>
      <p:sp>
        <p:nvSpPr>
          <p:cNvPr id="11" name="Shape 9"/>
          <p:cNvSpPr/>
          <p:nvPr/>
        </p:nvSpPr>
        <p:spPr>
          <a:xfrm>
            <a:off x="7178040" y="2057400"/>
            <a:ext cx="274320" cy="91440"/>
          </a:xfrm>
          <a:prstGeom prst="rightArrow">
            <a:avLst/>
          </a:prstGeom>
          <a:solidFill>
            <a:srgbClr val="1A3B5D"/>
          </a:solidFill>
          <a:ln w="12700">
            <a:solidFill>
              <a:srgbClr val="1A3B5D"/>
            </a:solidFill>
            <a:prstDash val="solid"/>
          </a:ln>
        </p:spPr>
        <p:txBody>
          <a:bodyPr/>
          <a:lstStyle/>
          <a:p>
            <a:endParaRPr/>
          </a:p>
        </p:txBody>
      </p:sp>
      <p:sp>
        <p:nvSpPr>
          <p:cNvPr id="12" name="Shape 10"/>
          <p:cNvSpPr/>
          <p:nvPr/>
        </p:nvSpPr>
        <p:spPr>
          <a:xfrm>
            <a:off x="7406640" y="1645920"/>
            <a:ext cx="502920" cy="914400"/>
          </a:xfrm>
          <a:prstGeom prst="roundRect">
            <a:avLst>
              <a:gd name="adj" fmla="val 9091"/>
            </a:avLst>
          </a:prstGeom>
          <a:solidFill>
            <a:srgbClr val="004080"/>
          </a:solidFill>
          <a:ln w="12700">
            <a:solidFill>
              <a:srgbClr val="004080"/>
            </a:solidFill>
            <a:prstDash val="solid"/>
          </a:ln>
        </p:spPr>
        <p:txBody>
          <a:bodyPr/>
          <a:lstStyle/>
          <a:p>
            <a:endParaRPr/>
          </a:p>
        </p:txBody>
      </p:sp>
      <p:sp>
        <p:nvSpPr>
          <p:cNvPr id="13" name="Text 11"/>
          <p:cNvSpPr/>
          <p:nvPr/>
        </p:nvSpPr>
        <p:spPr>
          <a:xfrm>
            <a:off x="7406640" y="1645920"/>
            <a:ext cx="502920" cy="914400"/>
          </a:xfrm>
          <a:prstGeom prst="rect">
            <a:avLst/>
          </a:prstGeom>
          <a:noFill/>
          <a:ln/>
        </p:spPr>
        <p:txBody>
          <a:bodyPr wrap="square" rtlCol="0" anchor="ctr"/>
          <a:lstStyle/>
          <a:p>
            <a:pPr marL="0" indent="0" algn="ctr">
              <a:buNone/>
            </a:pPr>
            <a:r>
              <a:rPr lang="en-US" sz="1000" b="1" dirty="0">
                <a:solidFill>
                  <a:srgbClr val="FFFFFF"/>
                </a:solidFill>
              </a:rPr>
              <a:t>v3</a:t>
            </a:r>
            <a:endParaRPr lang="en-US" sz="1000" dirty="0"/>
          </a:p>
        </p:txBody>
      </p:sp>
      <p:sp>
        <p:nvSpPr>
          <p:cNvPr id="14" name="Shape 12"/>
          <p:cNvSpPr/>
          <p:nvPr/>
        </p:nvSpPr>
        <p:spPr>
          <a:xfrm>
            <a:off x="7863840" y="2057400"/>
            <a:ext cx="274320" cy="91440"/>
          </a:xfrm>
          <a:prstGeom prst="rightArrow">
            <a:avLst/>
          </a:prstGeom>
          <a:solidFill>
            <a:srgbClr val="1A3B5D"/>
          </a:solidFill>
          <a:ln w="12700">
            <a:solidFill>
              <a:srgbClr val="1A3B5D"/>
            </a:solidFill>
            <a:prstDash val="solid"/>
          </a:ln>
        </p:spPr>
        <p:txBody>
          <a:bodyPr/>
          <a:lstStyle/>
          <a:p>
            <a:endParaRPr/>
          </a:p>
        </p:txBody>
      </p:sp>
      <p:sp>
        <p:nvSpPr>
          <p:cNvPr id="15" name="Shape 13"/>
          <p:cNvSpPr/>
          <p:nvPr/>
        </p:nvSpPr>
        <p:spPr>
          <a:xfrm>
            <a:off x="8092440" y="1645920"/>
            <a:ext cx="502920" cy="914400"/>
          </a:xfrm>
          <a:prstGeom prst="roundRect">
            <a:avLst>
              <a:gd name="adj" fmla="val 9091"/>
            </a:avLst>
          </a:prstGeom>
          <a:solidFill>
            <a:srgbClr val="004080"/>
          </a:solidFill>
          <a:ln w="12700">
            <a:solidFill>
              <a:srgbClr val="004080"/>
            </a:solidFill>
            <a:prstDash val="solid"/>
          </a:ln>
        </p:spPr>
        <p:txBody>
          <a:bodyPr/>
          <a:lstStyle/>
          <a:p>
            <a:endParaRPr/>
          </a:p>
        </p:txBody>
      </p:sp>
      <p:sp>
        <p:nvSpPr>
          <p:cNvPr id="16" name="Text 14"/>
          <p:cNvSpPr/>
          <p:nvPr/>
        </p:nvSpPr>
        <p:spPr>
          <a:xfrm>
            <a:off x="8092440" y="1645920"/>
            <a:ext cx="502920" cy="914400"/>
          </a:xfrm>
          <a:prstGeom prst="rect">
            <a:avLst/>
          </a:prstGeom>
          <a:noFill/>
          <a:ln/>
        </p:spPr>
        <p:txBody>
          <a:bodyPr wrap="square" rtlCol="0" anchor="ctr"/>
          <a:lstStyle/>
          <a:p>
            <a:pPr marL="0" indent="0" algn="ctr">
              <a:buNone/>
            </a:pPr>
            <a:r>
              <a:rPr lang="en-US" sz="1000" b="1" dirty="0">
                <a:solidFill>
                  <a:srgbClr val="FFFFFF"/>
                </a:solidFill>
              </a:rPr>
              <a:t>v4</a:t>
            </a:r>
            <a:endParaRPr lang="en-US" sz="1000" dirty="0"/>
          </a:p>
        </p:txBody>
      </p:sp>
      <p:sp>
        <p:nvSpPr>
          <p:cNvPr id="17" name="Text 15"/>
          <p:cNvSpPr/>
          <p:nvPr/>
        </p:nvSpPr>
        <p:spPr>
          <a:xfrm>
            <a:off x="6035040" y="2743200"/>
            <a:ext cx="2743200" cy="274320"/>
          </a:xfrm>
          <a:prstGeom prst="rect">
            <a:avLst/>
          </a:prstGeom>
          <a:noFill/>
          <a:ln/>
        </p:spPr>
        <p:txBody>
          <a:bodyPr wrap="square" rtlCol="0" anchor="ctr"/>
          <a:lstStyle/>
          <a:p>
            <a:pPr marL="0" indent="0" algn="ctr">
              <a:buNone/>
            </a:pPr>
            <a:r>
              <a:rPr lang="en-US" sz="800" i="1" dirty="0">
                <a:solidFill>
                  <a:srgbClr val="1A3B5D"/>
                </a:solidFill>
              </a:rPr>
              <a:t>Version chain (newest → oldest)</a:t>
            </a:r>
            <a:endParaRPr lang="en-US" sz="800" dirty="0"/>
          </a:p>
        </p:txBody>
      </p:sp>
      <p:sp>
        <p:nvSpPr>
          <p:cNvPr id="18" name="Text 16"/>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[1]</a:t>
            </a:r>
            <a:r>
              <a:rPr lang="en-US" sz="600" dirty="0">
                <a:solidFill>
                  <a:srgbClr val="000000"/>
                </a:solidFill>
              </a:rPr>
              <a:t>   </a:t>
            </a:r>
            <a:r>
              <a:rPr lang="en-US" sz="600" u="sng" dirty="0">
                <a:solidFill>
                  <a:srgbClr val="004080"/>
                </a:solidFill>
                <a:hlinkClick r:id="rId4"/>
              </a:rPr>
              <a:t>[2]</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Transactions &amp; Isolation Levels</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Transaction IDs assigned when a statement begins
• Read committed is the default isolation level
• PostgreSQL aliases READ UNCOMMITTED to READ COMMITTED</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[3]</a:t>
            </a:r>
            <a:r>
              <a:rPr lang="en-US" sz="600" dirty="0">
                <a:solidFill>
                  <a:srgbClr val="000000"/>
                </a:solidFill>
              </a:rPr>
              <a:t>   </a:t>
            </a:r>
            <a:r>
              <a:rPr lang="en-US" sz="600" u="sng" dirty="0">
                <a:solidFill>
                  <a:srgbClr val="004080"/>
                </a:solidFill>
                <a:hlinkClick r:id="rId4"/>
              </a:rPr>
              <a:t>[4]</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Tuple Versioning</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Each row stores creation (xmin) and expiration (xmax) transaction IDs
• Deletes and updates mark rows as expired (dead tuples)
• Updates are implemented as delete + insert to preserve snapshots</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[5]</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Row Visibility &amp; Transaction Space</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A row is visible if its xmin is committed and ≤ your transaction ID
• Rows with future xmin or uncommitted xmin are invisible
• Transaction ID space is circular (≈4B values, half past, half future)</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[6]</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Heap Storage Basics</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PostgreSQL tables are heap‑organized with no clustered index
• Data pages are 8 KB and appended sequentially as tables grow
• Item pointers map index entries to the latest tuple version</a:t>
            </a:r>
            <a:endParaRPr lang="en-US" sz="1400" dirty="0"/>
          </a:p>
        </p:txBody>
      </p:sp>
      <p:sp>
        <p:nvSpPr>
          <p:cNvPr id="6" name="Shape 4"/>
          <p:cNvSpPr/>
          <p:nvPr/>
        </p:nvSpPr>
        <p:spPr>
          <a:xfrm>
            <a:off x="6035040" y="1188720"/>
            <a:ext cx="2743200" cy="1828800"/>
          </a:xfrm>
          <a:prstGeom prst="rect">
            <a:avLst/>
          </a:prstGeom>
          <a:solidFill>
            <a:srgbClr val="F5F9FC"/>
          </a:solidFill>
          <a:ln w="12700">
            <a:solidFill>
              <a:srgbClr val="809FC0"/>
            </a:solidFill>
            <a:prstDash val="solid"/>
          </a:ln>
        </p:spPr>
        <p:txBody>
          <a:bodyPr/>
          <a:lstStyle/>
          <a:p>
            <a:endParaRPr/>
          </a:p>
        </p:txBody>
      </p:sp>
      <p:sp>
        <p:nvSpPr>
          <p:cNvPr id="7" name="Shape 5"/>
          <p:cNvSpPr/>
          <p:nvPr/>
        </p:nvSpPr>
        <p:spPr>
          <a:xfrm>
            <a:off x="6035040" y="1188720"/>
            <a:ext cx="2743200" cy="274320"/>
          </a:xfrm>
          <a:prstGeom prst="rect">
            <a:avLst/>
          </a:prstGeom>
          <a:solidFill>
            <a:srgbClr val="004080"/>
          </a:solidFill>
          <a:ln w="12700">
            <a:solidFill>
              <a:srgbClr val="004080"/>
            </a:solidFill>
            <a:prstDash val="solid"/>
          </a:ln>
        </p:spPr>
        <p:txBody>
          <a:bodyPr/>
          <a:lstStyle/>
          <a:p>
            <a:endParaRPr/>
          </a:p>
        </p:txBody>
      </p:sp>
      <p:sp>
        <p:nvSpPr>
          <p:cNvPr id="8" name="Text 6"/>
          <p:cNvSpPr/>
          <p:nvPr/>
        </p:nvSpPr>
        <p:spPr>
          <a:xfrm>
            <a:off x="6080760" y="1207008"/>
            <a:ext cx="1371600" cy="237744"/>
          </a:xfrm>
          <a:prstGeom prst="rect">
            <a:avLst/>
          </a:prstGeom>
          <a:noFill/>
          <a:ln/>
        </p:spPr>
        <p:txBody>
          <a:bodyPr wrap="square" rtlCol="0" anchor="ctr"/>
          <a:lstStyle/>
          <a:p>
            <a:pPr marL="0" indent="0">
              <a:buNone/>
            </a:pPr>
            <a:r>
              <a:rPr lang="en-US" sz="700" dirty="0">
                <a:solidFill>
                  <a:srgbClr val="FFFFFF"/>
                </a:solidFill>
              </a:rPr>
              <a:t>Page Header</a:t>
            </a:r>
            <a:endParaRPr lang="en-US" sz="700" dirty="0"/>
          </a:p>
        </p:txBody>
      </p:sp>
      <p:sp>
        <p:nvSpPr>
          <p:cNvPr id="9" name="Shape 7"/>
          <p:cNvSpPr/>
          <p:nvPr/>
        </p:nvSpPr>
        <p:spPr>
          <a:xfrm>
            <a:off x="6080760" y="1504188"/>
            <a:ext cx="274320" cy="192024"/>
          </a:xfrm>
          <a:prstGeom prst="rect">
            <a:avLst/>
          </a:prstGeom>
          <a:solidFill>
            <a:srgbClr val="809FC0"/>
          </a:solidFill>
          <a:ln w="12700">
            <a:solidFill>
              <a:srgbClr val="809FC0"/>
            </a:solidFill>
            <a:prstDash val="solid"/>
          </a:ln>
        </p:spPr>
        <p:txBody>
          <a:bodyPr/>
          <a:lstStyle/>
          <a:p>
            <a:endParaRPr/>
          </a:p>
        </p:txBody>
      </p:sp>
      <p:sp>
        <p:nvSpPr>
          <p:cNvPr id="10" name="Text 8"/>
          <p:cNvSpPr/>
          <p:nvPr/>
        </p:nvSpPr>
        <p:spPr>
          <a:xfrm>
            <a:off x="6080760" y="1504188"/>
            <a:ext cx="274320" cy="192024"/>
          </a:xfrm>
          <a:prstGeom prst="rect">
            <a:avLst/>
          </a:prstGeom>
          <a:noFill/>
          <a:ln/>
        </p:spPr>
        <p:txBody>
          <a:bodyPr wrap="square" rtlCol="0" anchor="ctr"/>
          <a:lstStyle/>
          <a:p>
            <a:pPr marL="0" indent="0" algn="ctr">
              <a:buNone/>
            </a:pPr>
            <a:r>
              <a:rPr lang="en-US" sz="700" dirty="0">
                <a:solidFill>
                  <a:srgbClr val="FFFFFF"/>
                </a:solidFill>
              </a:rPr>
              <a:t>1</a:t>
            </a:r>
            <a:endParaRPr lang="en-US" sz="700" dirty="0"/>
          </a:p>
        </p:txBody>
      </p:sp>
      <p:sp>
        <p:nvSpPr>
          <p:cNvPr id="11" name="Shape 9"/>
          <p:cNvSpPr/>
          <p:nvPr/>
        </p:nvSpPr>
        <p:spPr>
          <a:xfrm>
            <a:off x="6355080" y="1600200"/>
            <a:ext cx="548640" cy="0"/>
          </a:xfrm>
          <a:prstGeom prst="line">
            <a:avLst/>
          </a:prstGeom>
          <a:noFill/>
          <a:ln w="12700">
            <a:solidFill>
              <a:srgbClr val="1A3B5D"/>
            </a:solidFill>
            <a:prstDash val="solid"/>
          </a:ln>
        </p:spPr>
        <p:txBody>
          <a:bodyPr/>
          <a:lstStyle/>
          <a:p>
            <a:endParaRPr/>
          </a:p>
        </p:txBody>
      </p:sp>
      <p:sp>
        <p:nvSpPr>
          <p:cNvPr id="12" name="Shape 10"/>
          <p:cNvSpPr/>
          <p:nvPr/>
        </p:nvSpPr>
        <p:spPr>
          <a:xfrm>
            <a:off x="6949440" y="1476756"/>
            <a:ext cx="1737360" cy="219456"/>
          </a:xfrm>
          <a:prstGeom prst="rect">
            <a:avLst/>
          </a:prstGeom>
          <a:solidFill>
            <a:srgbClr val="FFFFFF"/>
          </a:solidFill>
          <a:ln w="12700">
            <a:solidFill>
              <a:srgbClr val="809FC0"/>
            </a:solidFill>
            <a:prstDash val="solid"/>
          </a:ln>
        </p:spPr>
        <p:txBody>
          <a:bodyPr/>
          <a:lstStyle/>
          <a:p>
            <a:endParaRPr/>
          </a:p>
        </p:txBody>
      </p:sp>
      <p:sp>
        <p:nvSpPr>
          <p:cNvPr id="13" name="Shape 11"/>
          <p:cNvSpPr/>
          <p:nvPr/>
        </p:nvSpPr>
        <p:spPr>
          <a:xfrm>
            <a:off x="6080760" y="1778508"/>
            <a:ext cx="274320" cy="192024"/>
          </a:xfrm>
          <a:prstGeom prst="rect">
            <a:avLst/>
          </a:prstGeom>
          <a:solidFill>
            <a:srgbClr val="809FC0"/>
          </a:solidFill>
          <a:ln w="12700">
            <a:solidFill>
              <a:srgbClr val="809FC0"/>
            </a:solidFill>
            <a:prstDash val="solid"/>
          </a:ln>
        </p:spPr>
        <p:txBody>
          <a:bodyPr/>
          <a:lstStyle/>
          <a:p>
            <a:endParaRPr/>
          </a:p>
        </p:txBody>
      </p:sp>
      <p:sp>
        <p:nvSpPr>
          <p:cNvPr id="14" name="Text 12"/>
          <p:cNvSpPr/>
          <p:nvPr/>
        </p:nvSpPr>
        <p:spPr>
          <a:xfrm>
            <a:off x="6080760" y="1778508"/>
            <a:ext cx="274320" cy="192024"/>
          </a:xfrm>
          <a:prstGeom prst="rect">
            <a:avLst/>
          </a:prstGeom>
          <a:noFill/>
          <a:ln/>
        </p:spPr>
        <p:txBody>
          <a:bodyPr wrap="square" rtlCol="0" anchor="ctr"/>
          <a:lstStyle/>
          <a:p>
            <a:pPr marL="0" indent="0" algn="ctr">
              <a:buNone/>
            </a:pPr>
            <a:r>
              <a:rPr lang="en-US" sz="700" dirty="0">
                <a:solidFill>
                  <a:srgbClr val="FFFFFF"/>
                </a:solidFill>
              </a:rPr>
              <a:t>2</a:t>
            </a:r>
            <a:endParaRPr lang="en-US" sz="700" dirty="0"/>
          </a:p>
        </p:txBody>
      </p:sp>
      <p:sp>
        <p:nvSpPr>
          <p:cNvPr id="15" name="Shape 13"/>
          <p:cNvSpPr/>
          <p:nvPr/>
        </p:nvSpPr>
        <p:spPr>
          <a:xfrm>
            <a:off x="6355080" y="1874520"/>
            <a:ext cx="548640" cy="0"/>
          </a:xfrm>
          <a:prstGeom prst="line">
            <a:avLst/>
          </a:prstGeom>
          <a:noFill/>
          <a:ln w="12700">
            <a:solidFill>
              <a:srgbClr val="1A3B5D"/>
            </a:solidFill>
            <a:prstDash val="solid"/>
          </a:ln>
        </p:spPr>
        <p:txBody>
          <a:bodyPr/>
          <a:lstStyle/>
          <a:p>
            <a:endParaRPr/>
          </a:p>
        </p:txBody>
      </p:sp>
      <p:sp>
        <p:nvSpPr>
          <p:cNvPr id="16" name="Shape 14"/>
          <p:cNvSpPr/>
          <p:nvPr/>
        </p:nvSpPr>
        <p:spPr>
          <a:xfrm>
            <a:off x="6949440" y="1751076"/>
            <a:ext cx="1737360" cy="219456"/>
          </a:xfrm>
          <a:prstGeom prst="rect">
            <a:avLst/>
          </a:prstGeom>
          <a:solidFill>
            <a:srgbClr val="FFFFFF"/>
          </a:solidFill>
          <a:ln w="12700">
            <a:solidFill>
              <a:srgbClr val="809FC0"/>
            </a:solidFill>
            <a:prstDash val="solid"/>
          </a:ln>
        </p:spPr>
        <p:txBody>
          <a:bodyPr/>
          <a:lstStyle/>
          <a:p>
            <a:endParaRPr/>
          </a:p>
        </p:txBody>
      </p:sp>
      <p:sp>
        <p:nvSpPr>
          <p:cNvPr id="17" name="Shape 15"/>
          <p:cNvSpPr/>
          <p:nvPr/>
        </p:nvSpPr>
        <p:spPr>
          <a:xfrm>
            <a:off x="6080760" y="2052828"/>
            <a:ext cx="274320" cy="192024"/>
          </a:xfrm>
          <a:prstGeom prst="rect">
            <a:avLst/>
          </a:prstGeom>
          <a:solidFill>
            <a:srgbClr val="809FC0"/>
          </a:solidFill>
          <a:ln w="12700">
            <a:solidFill>
              <a:srgbClr val="809FC0"/>
            </a:solidFill>
            <a:prstDash val="solid"/>
          </a:ln>
        </p:spPr>
        <p:txBody>
          <a:bodyPr/>
          <a:lstStyle/>
          <a:p>
            <a:endParaRPr/>
          </a:p>
        </p:txBody>
      </p:sp>
      <p:sp>
        <p:nvSpPr>
          <p:cNvPr id="18" name="Text 16"/>
          <p:cNvSpPr/>
          <p:nvPr/>
        </p:nvSpPr>
        <p:spPr>
          <a:xfrm>
            <a:off x="6080760" y="2052828"/>
            <a:ext cx="274320" cy="192024"/>
          </a:xfrm>
          <a:prstGeom prst="rect">
            <a:avLst/>
          </a:prstGeom>
          <a:noFill/>
          <a:ln/>
        </p:spPr>
        <p:txBody>
          <a:bodyPr wrap="square" rtlCol="0" anchor="ctr"/>
          <a:lstStyle/>
          <a:p>
            <a:pPr marL="0" indent="0" algn="ctr">
              <a:buNone/>
            </a:pPr>
            <a:r>
              <a:rPr lang="en-US" sz="700" dirty="0">
                <a:solidFill>
                  <a:srgbClr val="FFFFFF"/>
                </a:solidFill>
              </a:rPr>
              <a:t>3</a:t>
            </a:r>
            <a:endParaRPr lang="en-US" sz="700" dirty="0"/>
          </a:p>
        </p:txBody>
      </p:sp>
      <p:sp>
        <p:nvSpPr>
          <p:cNvPr id="19" name="Shape 17"/>
          <p:cNvSpPr/>
          <p:nvPr/>
        </p:nvSpPr>
        <p:spPr>
          <a:xfrm>
            <a:off x="6355080" y="2148840"/>
            <a:ext cx="548640" cy="0"/>
          </a:xfrm>
          <a:prstGeom prst="line">
            <a:avLst/>
          </a:prstGeom>
          <a:noFill/>
          <a:ln w="12700">
            <a:solidFill>
              <a:srgbClr val="1A3B5D"/>
            </a:solidFill>
            <a:prstDash val="solid"/>
          </a:ln>
        </p:spPr>
        <p:txBody>
          <a:bodyPr/>
          <a:lstStyle/>
          <a:p>
            <a:endParaRPr/>
          </a:p>
        </p:txBody>
      </p:sp>
      <p:sp>
        <p:nvSpPr>
          <p:cNvPr id="20" name="Shape 18"/>
          <p:cNvSpPr/>
          <p:nvPr/>
        </p:nvSpPr>
        <p:spPr>
          <a:xfrm>
            <a:off x="6949440" y="2025396"/>
            <a:ext cx="1737360" cy="219456"/>
          </a:xfrm>
          <a:prstGeom prst="rect">
            <a:avLst/>
          </a:prstGeom>
          <a:solidFill>
            <a:srgbClr val="FFFFFF"/>
          </a:solidFill>
          <a:ln w="12700">
            <a:solidFill>
              <a:srgbClr val="809FC0"/>
            </a:solidFill>
            <a:prstDash val="solid"/>
          </a:ln>
        </p:spPr>
        <p:txBody>
          <a:bodyPr/>
          <a:lstStyle/>
          <a:p>
            <a:endParaRPr/>
          </a:p>
        </p:txBody>
      </p:sp>
      <p:sp>
        <p:nvSpPr>
          <p:cNvPr id="21" name="Shape 19"/>
          <p:cNvSpPr/>
          <p:nvPr/>
        </p:nvSpPr>
        <p:spPr>
          <a:xfrm>
            <a:off x="6080760" y="2327148"/>
            <a:ext cx="274320" cy="192024"/>
          </a:xfrm>
          <a:prstGeom prst="rect">
            <a:avLst/>
          </a:prstGeom>
          <a:solidFill>
            <a:srgbClr val="809FC0"/>
          </a:solidFill>
          <a:ln w="12700">
            <a:solidFill>
              <a:srgbClr val="809FC0"/>
            </a:solidFill>
            <a:prstDash val="solid"/>
          </a:ln>
        </p:spPr>
        <p:txBody>
          <a:bodyPr/>
          <a:lstStyle/>
          <a:p>
            <a:endParaRPr/>
          </a:p>
        </p:txBody>
      </p:sp>
      <p:sp>
        <p:nvSpPr>
          <p:cNvPr id="22" name="Text 20"/>
          <p:cNvSpPr/>
          <p:nvPr/>
        </p:nvSpPr>
        <p:spPr>
          <a:xfrm>
            <a:off x="6080760" y="2327148"/>
            <a:ext cx="274320" cy="192024"/>
          </a:xfrm>
          <a:prstGeom prst="rect">
            <a:avLst/>
          </a:prstGeom>
          <a:noFill/>
          <a:ln/>
        </p:spPr>
        <p:txBody>
          <a:bodyPr wrap="square" rtlCol="0" anchor="ctr"/>
          <a:lstStyle/>
          <a:p>
            <a:pPr marL="0" indent="0" algn="ctr">
              <a:buNone/>
            </a:pPr>
            <a:r>
              <a:rPr lang="en-US" sz="700" dirty="0">
                <a:solidFill>
                  <a:srgbClr val="FFFFFF"/>
                </a:solidFill>
              </a:rPr>
              <a:t>4</a:t>
            </a:r>
            <a:endParaRPr lang="en-US" sz="700" dirty="0"/>
          </a:p>
        </p:txBody>
      </p:sp>
      <p:sp>
        <p:nvSpPr>
          <p:cNvPr id="23" name="Shape 21"/>
          <p:cNvSpPr/>
          <p:nvPr/>
        </p:nvSpPr>
        <p:spPr>
          <a:xfrm>
            <a:off x="6355080" y="2423160"/>
            <a:ext cx="548640" cy="0"/>
          </a:xfrm>
          <a:prstGeom prst="line">
            <a:avLst/>
          </a:prstGeom>
          <a:noFill/>
          <a:ln w="12700">
            <a:solidFill>
              <a:srgbClr val="1A3B5D"/>
            </a:solidFill>
            <a:prstDash val="solid"/>
          </a:ln>
        </p:spPr>
        <p:txBody>
          <a:bodyPr/>
          <a:lstStyle/>
          <a:p>
            <a:endParaRPr/>
          </a:p>
        </p:txBody>
      </p:sp>
      <p:sp>
        <p:nvSpPr>
          <p:cNvPr id="24" name="Shape 22"/>
          <p:cNvSpPr/>
          <p:nvPr/>
        </p:nvSpPr>
        <p:spPr>
          <a:xfrm>
            <a:off x="6949440" y="2299716"/>
            <a:ext cx="1737360" cy="219456"/>
          </a:xfrm>
          <a:prstGeom prst="rect">
            <a:avLst/>
          </a:prstGeom>
          <a:solidFill>
            <a:srgbClr val="FFFFFF"/>
          </a:solidFill>
          <a:ln w="12700">
            <a:solidFill>
              <a:srgbClr val="809FC0"/>
            </a:solidFill>
            <a:prstDash val="solid"/>
          </a:ln>
        </p:spPr>
        <p:txBody>
          <a:bodyPr/>
          <a:lstStyle/>
          <a:p>
            <a:endParaRPr/>
          </a:p>
        </p:txBody>
      </p:sp>
      <p:sp>
        <p:nvSpPr>
          <p:cNvPr id="25" name="Shape 23"/>
          <p:cNvSpPr/>
          <p:nvPr/>
        </p:nvSpPr>
        <p:spPr>
          <a:xfrm>
            <a:off x="6080760" y="2601468"/>
            <a:ext cx="274320" cy="192024"/>
          </a:xfrm>
          <a:prstGeom prst="rect">
            <a:avLst/>
          </a:prstGeom>
          <a:solidFill>
            <a:srgbClr val="809FC0"/>
          </a:solidFill>
          <a:ln w="12700">
            <a:solidFill>
              <a:srgbClr val="809FC0"/>
            </a:solidFill>
            <a:prstDash val="solid"/>
          </a:ln>
        </p:spPr>
        <p:txBody>
          <a:bodyPr/>
          <a:lstStyle/>
          <a:p>
            <a:endParaRPr/>
          </a:p>
        </p:txBody>
      </p:sp>
      <p:sp>
        <p:nvSpPr>
          <p:cNvPr id="26" name="Text 24"/>
          <p:cNvSpPr/>
          <p:nvPr/>
        </p:nvSpPr>
        <p:spPr>
          <a:xfrm>
            <a:off x="6080760" y="2601468"/>
            <a:ext cx="274320" cy="192024"/>
          </a:xfrm>
          <a:prstGeom prst="rect">
            <a:avLst/>
          </a:prstGeom>
          <a:noFill/>
          <a:ln/>
        </p:spPr>
        <p:txBody>
          <a:bodyPr wrap="square" rtlCol="0" anchor="ctr"/>
          <a:lstStyle/>
          <a:p>
            <a:pPr marL="0" indent="0" algn="ctr">
              <a:buNone/>
            </a:pPr>
            <a:r>
              <a:rPr lang="en-US" sz="700" dirty="0">
                <a:solidFill>
                  <a:srgbClr val="FFFFFF"/>
                </a:solidFill>
              </a:rPr>
              <a:t>5</a:t>
            </a:r>
            <a:endParaRPr lang="en-US" sz="700" dirty="0"/>
          </a:p>
        </p:txBody>
      </p:sp>
      <p:sp>
        <p:nvSpPr>
          <p:cNvPr id="27" name="Shape 25"/>
          <p:cNvSpPr/>
          <p:nvPr/>
        </p:nvSpPr>
        <p:spPr>
          <a:xfrm>
            <a:off x="6355080" y="2697480"/>
            <a:ext cx="548640" cy="0"/>
          </a:xfrm>
          <a:prstGeom prst="line">
            <a:avLst/>
          </a:prstGeom>
          <a:noFill/>
          <a:ln w="12700">
            <a:solidFill>
              <a:srgbClr val="1A3B5D"/>
            </a:solidFill>
            <a:prstDash val="solid"/>
          </a:ln>
        </p:spPr>
        <p:txBody>
          <a:bodyPr/>
          <a:lstStyle/>
          <a:p>
            <a:endParaRPr/>
          </a:p>
        </p:txBody>
      </p:sp>
      <p:sp>
        <p:nvSpPr>
          <p:cNvPr id="28" name="Shape 26"/>
          <p:cNvSpPr/>
          <p:nvPr/>
        </p:nvSpPr>
        <p:spPr>
          <a:xfrm>
            <a:off x="6949440" y="2574036"/>
            <a:ext cx="1737360" cy="219456"/>
          </a:xfrm>
          <a:prstGeom prst="rect">
            <a:avLst/>
          </a:prstGeom>
          <a:solidFill>
            <a:srgbClr val="FFFFFF"/>
          </a:solidFill>
          <a:ln w="12700">
            <a:solidFill>
              <a:srgbClr val="809FC0"/>
            </a:solidFill>
            <a:prstDash val="solid"/>
          </a:ln>
        </p:spPr>
        <p:txBody>
          <a:bodyPr/>
          <a:lstStyle/>
          <a:p>
            <a:endParaRPr/>
          </a:p>
        </p:txBody>
      </p:sp>
      <p:sp>
        <p:nvSpPr>
          <p:cNvPr id="29" name="Text 27"/>
          <p:cNvSpPr/>
          <p:nvPr/>
        </p:nvSpPr>
        <p:spPr>
          <a:xfrm>
            <a:off x="6035040" y="2788920"/>
            <a:ext cx="2743200" cy="228600"/>
          </a:xfrm>
          <a:prstGeom prst="rect">
            <a:avLst/>
          </a:prstGeom>
          <a:noFill/>
          <a:ln/>
        </p:spPr>
        <p:txBody>
          <a:bodyPr wrap="square" rtlCol="0" anchor="ctr"/>
          <a:lstStyle/>
          <a:p>
            <a:pPr marL="0" indent="0" algn="ctr">
              <a:buNone/>
            </a:pPr>
            <a:r>
              <a:rPr lang="en-US" sz="700" i="1" dirty="0">
                <a:solidFill>
                  <a:srgbClr val="1A3B5D"/>
                </a:solidFill>
              </a:rPr>
              <a:t>Heap page: header, item pointers &amp; tuples</a:t>
            </a:r>
            <a:endParaRPr lang="en-US" sz="700" dirty="0"/>
          </a:p>
        </p:txBody>
      </p:sp>
      <p:sp>
        <p:nvSpPr>
          <p:cNvPr id="30" name="Text 28"/>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[7]</a:t>
            </a:r>
            <a:r>
              <a:rPr lang="en-US" sz="600" dirty="0">
                <a:solidFill>
                  <a:srgbClr val="000000"/>
                </a:solidFill>
              </a:rPr>
              <a:t>   </a:t>
            </a:r>
            <a:r>
              <a:rPr lang="en-US" sz="600" u="sng" dirty="0">
                <a:solidFill>
                  <a:srgbClr val="004080"/>
                </a:solidFill>
                <a:hlinkClick r:id="rId4"/>
              </a:rPr>
              <a:t>[8]</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Dead Tuples &amp; Scanning</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Dead tuples accumulate when rows are updated or deleted
• Sequential scans must skip dead tuples, increasing I/O
• PostgreSQL may choose sequential scans for small tables</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[9]</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Why Vacuum?</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Reclaims space used by dead tuples so it can be reused
• Marks very old rows (and pages) as frozen to speed up scans
• Updates visibility maps and indexes to reflect deleted rows</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[10]</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Vacuum Mechanics</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Clears references to expired tuples and compacts space
• Unused item pointers remain for reuse (reduces fragmentation)
• Dead tuple counts can be monitored to evaluate health</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[11]</a:t>
            </a:r>
            <a:r>
              <a:rPr lang="en-US" sz="600" dirty="0">
                <a:solidFill>
                  <a:srgbClr val="000000"/>
                </a:solidFill>
              </a:rPr>
              <a:t>   </a:t>
            </a:r>
            <a:r>
              <a:rPr lang="en-US" sz="600" u="sng" dirty="0">
                <a:solidFill>
                  <a:srgbClr val="004080"/>
                </a:solidFill>
                <a:hlinkClick r:id="rId4"/>
              </a:rPr>
              <a:t>[12]</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Autovacuum Overview</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Background process automatically triggers vacuum &amp; analyze
• Uses scale factor (%) and threshold (rows) to decide when to run
• Auto analyze updates statistics for the planner</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[13]</a:t>
            </a:r>
            <a:r>
              <a:rPr lang="en-US" sz="600" dirty="0">
                <a:solidFill>
                  <a:srgbClr val="000000"/>
                </a:solidFill>
              </a:rPr>
              <a:t>   </a:t>
            </a:r>
            <a:r>
              <a:rPr lang="en-US" sz="600" u="sng" dirty="0">
                <a:solidFill>
                  <a:srgbClr val="004080"/>
                </a:solidFill>
                <a:hlinkClick r:id="rId4"/>
              </a:rPr>
              <a:t>[14]</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Tuning Autovacuum</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Scale factor and threshold can be adjusted per table
• Lower values make vacuum run more often on write‑heavy tables
• Maintenance work mem controls memory used for vacuum</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[15]</a:t>
            </a:r>
            <a:r>
              <a:rPr lang="en-US" sz="600" dirty="0">
                <a:solidFill>
                  <a:srgbClr val="000000"/>
                </a:solidFill>
              </a:rPr>
              <a:t>   </a:t>
            </a:r>
            <a:r>
              <a:rPr lang="en-US" sz="600" u="sng" dirty="0">
                <a:solidFill>
                  <a:srgbClr val="004080"/>
                </a:solidFill>
                <a:hlinkClick r:id="rId4"/>
              </a:rPr>
              <a:t>[16]</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Benefits of MVCC</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High concurrency with minimal blocking
• Supports long‑running read queries without interfering with writes
• Enables consistent snapshots for transactions</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[17]</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Challenges &amp; Drawbacks</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Dead tuple accumulation increases disk usage
• Requires regular vacuuming and monitoring
• Transaction ID wraparound if vacuuming is neglected</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[18]</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Heap Storage Detailed</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Heap files are unordered sequences of pages containing tuples
• New rows are appended sequentially to heap pages
• Indexes point to item pointers; pointers redirect to latest tuple</a:t>
            </a:r>
            <a:endParaRPr lang="en-US" sz="1400" dirty="0"/>
          </a:p>
        </p:txBody>
      </p:sp>
      <p:sp>
        <p:nvSpPr>
          <p:cNvPr id="6" name="Shape 4"/>
          <p:cNvSpPr/>
          <p:nvPr/>
        </p:nvSpPr>
        <p:spPr>
          <a:xfrm>
            <a:off x="6035040" y="1188720"/>
            <a:ext cx="2743200" cy="1828800"/>
          </a:xfrm>
          <a:prstGeom prst="rect">
            <a:avLst/>
          </a:prstGeom>
          <a:solidFill>
            <a:srgbClr val="F5F9FC"/>
          </a:solidFill>
          <a:ln w="12700">
            <a:solidFill>
              <a:srgbClr val="809FC0"/>
            </a:solidFill>
            <a:prstDash val="solid"/>
          </a:ln>
        </p:spPr>
        <p:txBody>
          <a:bodyPr/>
          <a:lstStyle/>
          <a:p>
            <a:endParaRPr/>
          </a:p>
        </p:txBody>
      </p:sp>
      <p:sp>
        <p:nvSpPr>
          <p:cNvPr id="7" name="Shape 5"/>
          <p:cNvSpPr/>
          <p:nvPr/>
        </p:nvSpPr>
        <p:spPr>
          <a:xfrm>
            <a:off x="6035040" y="1188720"/>
            <a:ext cx="2743200" cy="274320"/>
          </a:xfrm>
          <a:prstGeom prst="rect">
            <a:avLst/>
          </a:prstGeom>
          <a:solidFill>
            <a:srgbClr val="004080"/>
          </a:solidFill>
          <a:ln w="12700">
            <a:solidFill>
              <a:srgbClr val="004080"/>
            </a:solidFill>
            <a:prstDash val="solid"/>
          </a:ln>
        </p:spPr>
        <p:txBody>
          <a:bodyPr/>
          <a:lstStyle/>
          <a:p>
            <a:endParaRPr/>
          </a:p>
        </p:txBody>
      </p:sp>
      <p:sp>
        <p:nvSpPr>
          <p:cNvPr id="8" name="Text 6"/>
          <p:cNvSpPr/>
          <p:nvPr/>
        </p:nvSpPr>
        <p:spPr>
          <a:xfrm>
            <a:off x="6080760" y="1207008"/>
            <a:ext cx="1371600" cy="237744"/>
          </a:xfrm>
          <a:prstGeom prst="rect">
            <a:avLst/>
          </a:prstGeom>
          <a:noFill/>
          <a:ln/>
        </p:spPr>
        <p:txBody>
          <a:bodyPr wrap="square" rtlCol="0" anchor="ctr"/>
          <a:lstStyle/>
          <a:p>
            <a:pPr marL="0" indent="0">
              <a:buNone/>
            </a:pPr>
            <a:r>
              <a:rPr lang="en-US" sz="700" dirty="0">
                <a:solidFill>
                  <a:srgbClr val="FFFFFF"/>
                </a:solidFill>
              </a:rPr>
              <a:t>Page Header</a:t>
            </a:r>
            <a:endParaRPr lang="en-US" sz="700" dirty="0"/>
          </a:p>
        </p:txBody>
      </p:sp>
      <p:sp>
        <p:nvSpPr>
          <p:cNvPr id="9" name="Shape 7"/>
          <p:cNvSpPr/>
          <p:nvPr/>
        </p:nvSpPr>
        <p:spPr>
          <a:xfrm>
            <a:off x="6080760" y="1504188"/>
            <a:ext cx="274320" cy="192024"/>
          </a:xfrm>
          <a:prstGeom prst="rect">
            <a:avLst/>
          </a:prstGeom>
          <a:solidFill>
            <a:srgbClr val="809FC0"/>
          </a:solidFill>
          <a:ln w="12700">
            <a:solidFill>
              <a:srgbClr val="809FC0"/>
            </a:solidFill>
            <a:prstDash val="solid"/>
          </a:ln>
        </p:spPr>
        <p:txBody>
          <a:bodyPr/>
          <a:lstStyle/>
          <a:p>
            <a:endParaRPr/>
          </a:p>
        </p:txBody>
      </p:sp>
      <p:sp>
        <p:nvSpPr>
          <p:cNvPr id="10" name="Text 8"/>
          <p:cNvSpPr/>
          <p:nvPr/>
        </p:nvSpPr>
        <p:spPr>
          <a:xfrm>
            <a:off x="6080760" y="1504188"/>
            <a:ext cx="274320" cy="192024"/>
          </a:xfrm>
          <a:prstGeom prst="rect">
            <a:avLst/>
          </a:prstGeom>
          <a:noFill/>
          <a:ln/>
        </p:spPr>
        <p:txBody>
          <a:bodyPr wrap="square" rtlCol="0" anchor="ctr"/>
          <a:lstStyle/>
          <a:p>
            <a:pPr marL="0" indent="0" algn="ctr">
              <a:buNone/>
            </a:pPr>
            <a:r>
              <a:rPr lang="en-US" sz="700" dirty="0">
                <a:solidFill>
                  <a:srgbClr val="FFFFFF"/>
                </a:solidFill>
              </a:rPr>
              <a:t>1</a:t>
            </a:r>
            <a:endParaRPr lang="en-US" sz="700" dirty="0"/>
          </a:p>
        </p:txBody>
      </p:sp>
      <p:sp>
        <p:nvSpPr>
          <p:cNvPr id="11" name="Shape 9"/>
          <p:cNvSpPr/>
          <p:nvPr/>
        </p:nvSpPr>
        <p:spPr>
          <a:xfrm>
            <a:off x="6355080" y="1600200"/>
            <a:ext cx="548640" cy="0"/>
          </a:xfrm>
          <a:prstGeom prst="line">
            <a:avLst/>
          </a:prstGeom>
          <a:noFill/>
          <a:ln w="12700">
            <a:solidFill>
              <a:srgbClr val="1A3B5D"/>
            </a:solidFill>
            <a:prstDash val="solid"/>
          </a:ln>
        </p:spPr>
        <p:txBody>
          <a:bodyPr/>
          <a:lstStyle/>
          <a:p>
            <a:endParaRPr/>
          </a:p>
        </p:txBody>
      </p:sp>
      <p:sp>
        <p:nvSpPr>
          <p:cNvPr id="12" name="Shape 10"/>
          <p:cNvSpPr/>
          <p:nvPr/>
        </p:nvSpPr>
        <p:spPr>
          <a:xfrm>
            <a:off x="6949440" y="1476756"/>
            <a:ext cx="1737360" cy="219456"/>
          </a:xfrm>
          <a:prstGeom prst="rect">
            <a:avLst/>
          </a:prstGeom>
          <a:solidFill>
            <a:srgbClr val="FFFFFF"/>
          </a:solidFill>
          <a:ln w="12700">
            <a:solidFill>
              <a:srgbClr val="809FC0"/>
            </a:solidFill>
            <a:prstDash val="solid"/>
          </a:ln>
        </p:spPr>
        <p:txBody>
          <a:bodyPr/>
          <a:lstStyle/>
          <a:p>
            <a:endParaRPr/>
          </a:p>
        </p:txBody>
      </p:sp>
      <p:sp>
        <p:nvSpPr>
          <p:cNvPr id="13" name="Shape 11"/>
          <p:cNvSpPr/>
          <p:nvPr/>
        </p:nvSpPr>
        <p:spPr>
          <a:xfrm>
            <a:off x="6080760" y="1778508"/>
            <a:ext cx="274320" cy="192024"/>
          </a:xfrm>
          <a:prstGeom prst="rect">
            <a:avLst/>
          </a:prstGeom>
          <a:solidFill>
            <a:srgbClr val="809FC0"/>
          </a:solidFill>
          <a:ln w="12700">
            <a:solidFill>
              <a:srgbClr val="809FC0"/>
            </a:solidFill>
            <a:prstDash val="solid"/>
          </a:ln>
        </p:spPr>
        <p:txBody>
          <a:bodyPr/>
          <a:lstStyle/>
          <a:p>
            <a:endParaRPr/>
          </a:p>
        </p:txBody>
      </p:sp>
      <p:sp>
        <p:nvSpPr>
          <p:cNvPr id="14" name="Text 12"/>
          <p:cNvSpPr/>
          <p:nvPr/>
        </p:nvSpPr>
        <p:spPr>
          <a:xfrm>
            <a:off x="6080760" y="1778508"/>
            <a:ext cx="274320" cy="192024"/>
          </a:xfrm>
          <a:prstGeom prst="rect">
            <a:avLst/>
          </a:prstGeom>
          <a:noFill/>
          <a:ln/>
        </p:spPr>
        <p:txBody>
          <a:bodyPr wrap="square" rtlCol="0" anchor="ctr"/>
          <a:lstStyle/>
          <a:p>
            <a:pPr marL="0" indent="0" algn="ctr">
              <a:buNone/>
            </a:pPr>
            <a:r>
              <a:rPr lang="en-US" sz="700" dirty="0">
                <a:solidFill>
                  <a:srgbClr val="FFFFFF"/>
                </a:solidFill>
              </a:rPr>
              <a:t>2</a:t>
            </a:r>
            <a:endParaRPr lang="en-US" sz="700" dirty="0"/>
          </a:p>
        </p:txBody>
      </p:sp>
      <p:sp>
        <p:nvSpPr>
          <p:cNvPr id="15" name="Shape 13"/>
          <p:cNvSpPr/>
          <p:nvPr/>
        </p:nvSpPr>
        <p:spPr>
          <a:xfrm>
            <a:off x="6355080" y="1874520"/>
            <a:ext cx="548640" cy="0"/>
          </a:xfrm>
          <a:prstGeom prst="line">
            <a:avLst/>
          </a:prstGeom>
          <a:noFill/>
          <a:ln w="12700">
            <a:solidFill>
              <a:srgbClr val="1A3B5D"/>
            </a:solidFill>
            <a:prstDash val="solid"/>
          </a:ln>
        </p:spPr>
        <p:txBody>
          <a:bodyPr/>
          <a:lstStyle/>
          <a:p>
            <a:endParaRPr/>
          </a:p>
        </p:txBody>
      </p:sp>
      <p:sp>
        <p:nvSpPr>
          <p:cNvPr id="16" name="Shape 14"/>
          <p:cNvSpPr/>
          <p:nvPr/>
        </p:nvSpPr>
        <p:spPr>
          <a:xfrm>
            <a:off x="6949440" y="1751076"/>
            <a:ext cx="1737360" cy="219456"/>
          </a:xfrm>
          <a:prstGeom prst="rect">
            <a:avLst/>
          </a:prstGeom>
          <a:solidFill>
            <a:srgbClr val="FFFFFF"/>
          </a:solidFill>
          <a:ln w="12700">
            <a:solidFill>
              <a:srgbClr val="809FC0"/>
            </a:solidFill>
            <a:prstDash val="solid"/>
          </a:ln>
        </p:spPr>
        <p:txBody>
          <a:bodyPr/>
          <a:lstStyle/>
          <a:p>
            <a:endParaRPr/>
          </a:p>
        </p:txBody>
      </p:sp>
      <p:sp>
        <p:nvSpPr>
          <p:cNvPr id="17" name="Shape 15"/>
          <p:cNvSpPr/>
          <p:nvPr/>
        </p:nvSpPr>
        <p:spPr>
          <a:xfrm>
            <a:off x="6080760" y="2052828"/>
            <a:ext cx="274320" cy="192024"/>
          </a:xfrm>
          <a:prstGeom prst="rect">
            <a:avLst/>
          </a:prstGeom>
          <a:solidFill>
            <a:srgbClr val="809FC0"/>
          </a:solidFill>
          <a:ln w="12700">
            <a:solidFill>
              <a:srgbClr val="809FC0"/>
            </a:solidFill>
            <a:prstDash val="solid"/>
          </a:ln>
        </p:spPr>
        <p:txBody>
          <a:bodyPr/>
          <a:lstStyle/>
          <a:p>
            <a:endParaRPr/>
          </a:p>
        </p:txBody>
      </p:sp>
      <p:sp>
        <p:nvSpPr>
          <p:cNvPr id="18" name="Text 16"/>
          <p:cNvSpPr/>
          <p:nvPr/>
        </p:nvSpPr>
        <p:spPr>
          <a:xfrm>
            <a:off x="6080760" y="2052828"/>
            <a:ext cx="274320" cy="192024"/>
          </a:xfrm>
          <a:prstGeom prst="rect">
            <a:avLst/>
          </a:prstGeom>
          <a:noFill/>
          <a:ln/>
        </p:spPr>
        <p:txBody>
          <a:bodyPr wrap="square" rtlCol="0" anchor="ctr"/>
          <a:lstStyle/>
          <a:p>
            <a:pPr marL="0" indent="0" algn="ctr">
              <a:buNone/>
            </a:pPr>
            <a:r>
              <a:rPr lang="en-US" sz="700" dirty="0">
                <a:solidFill>
                  <a:srgbClr val="FFFFFF"/>
                </a:solidFill>
              </a:rPr>
              <a:t>3</a:t>
            </a:r>
            <a:endParaRPr lang="en-US" sz="700" dirty="0"/>
          </a:p>
        </p:txBody>
      </p:sp>
      <p:sp>
        <p:nvSpPr>
          <p:cNvPr id="19" name="Shape 17"/>
          <p:cNvSpPr/>
          <p:nvPr/>
        </p:nvSpPr>
        <p:spPr>
          <a:xfrm>
            <a:off x="6355080" y="2148840"/>
            <a:ext cx="548640" cy="0"/>
          </a:xfrm>
          <a:prstGeom prst="line">
            <a:avLst/>
          </a:prstGeom>
          <a:noFill/>
          <a:ln w="12700">
            <a:solidFill>
              <a:srgbClr val="1A3B5D"/>
            </a:solidFill>
            <a:prstDash val="solid"/>
          </a:ln>
        </p:spPr>
        <p:txBody>
          <a:bodyPr/>
          <a:lstStyle/>
          <a:p>
            <a:endParaRPr/>
          </a:p>
        </p:txBody>
      </p:sp>
      <p:sp>
        <p:nvSpPr>
          <p:cNvPr id="20" name="Shape 18"/>
          <p:cNvSpPr/>
          <p:nvPr/>
        </p:nvSpPr>
        <p:spPr>
          <a:xfrm>
            <a:off x="6949440" y="2025396"/>
            <a:ext cx="1737360" cy="219456"/>
          </a:xfrm>
          <a:prstGeom prst="rect">
            <a:avLst/>
          </a:prstGeom>
          <a:solidFill>
            <a:srgbClr val="FFFFFF"/>
          </a:solidFill>
          <a:ln w="12700">
            <a:solidFill>
              <a:srgbClr val="809FC0"/>
            </a:solidFill>
            <a:prstDash val="solid"/>
          </a:ln>
        </p:spPr>
        <p:txBody>
          <a:bodyPr/>
          <a:lstStyle/>
          <a:p>
            <a:endParaRPr/>
          </a:p>
        </p:txBody>
      </p:sp>
      <p:sp>
        <p:nvSpPr>
          <p:cNvPr id="21" name="Shape 19"/>
          <p:cNvSpPr/>
          <p:nvPr/>
        </p:nvSpPr>
        <p:spPr>
          <a:xfrm>
            <a:off x="6080760" y="2327148"/>
            <a:ext cx="274320" cy="192024"/>
          </a:xfrm>
          <a:prstGeom prst="rect">
            <a:avLst/>
          </a:prstGeom>
          <a:solidFill>
            <a:srgbClr val="809FC0"/>
          </a:solidFill>
          <a:ln w="12700">
            <a:solidFill>
              <a:srgbClr val="809FC0"/>
            </a:solidFill>
            <a:prstDash val="solid"/>
          </a:ln>
        </p:spPr>
        <p:txBody>
          <a:bodyPr/>
          <a:lstStyle/>
          <a:p>
            <a:endParaRPr/>
          </a:p>
        </p:txBody>
      </p:sp>
      <p:sp>
        <p:nvSpPr>
          <p:cNvPr id="22" name="Text 20"/>
          <p:cNvSpPr/>
          <p:nvPr/>
        </p:nvSpPr>
        <p:spPr>
          <a:xfrm>
            <a:off x="6080760" y="2327148"/>
            <a:ext cx="274320" cy="192024"/>
          </a:xfrm>
          <a:prstGeom prst="rect">
            <a:avLst/>
          </a:prstGeom>
          <a:noFill/>
          <a:ln/>
        </p:spPr>
        <p:txBody>
          <a:bodyPr wrap="square" rtlCol="0" anchor="ctr"/>
          <a:lstStyle/>
          <a:p>
            <a:pPr marL="0" indent="0" algn="ctr">
              <a:buNone/>
            </a:pPr>
            <a:r>
              <a:rPr lang="en-US" sz="700" dirty="0">
                <a:solidFill>
                  <a:srgbClr val="FFFFFF"/>
                </a:solidFill>
              </a:rPr>
              <a:t>4</a:t>
            </a:r>
            <a:endParaRPr lang="en-US" sz="700" dirty="0"/>
          </a:p>
        </p:txBody>
      </p:sp>
      <p:sp>
        <p:nvSpPr>
          <p:cNvPr id="23" name="Shape 21"/>
          <p:cNvSpPr/>
          <p:nvPr/>
        </p:nvSpPr>
        <p:spPr>
          <a:xfrm>
            <a:off x="6355080" y="2423160"/>
            <a:ext cx="548640" cy="0"/>
          </a:xfrm>
          <a:prstGeom prst="line">
            <a:avLst/>
          </a:prstGeom>
          <a:noFill/>
          <a:ln w="12700">
            <a:solidFill>
              <a:srgbClr val="1A3B5D"/>
            </a:solidFill>
            <a:prstDash val="solid"/>
          </a:ln>
        </p:spPr>
        <p:txBody>
          <a:bodyPr/>
          <a:lstStyle/>
          <a:p>
            <a:endParaRPr/>
          </a:p>
        </p:txBody>
      </p:sp>
      <p:sp>
        <p:nvSpPr>
          <p:cNvPr id="24" name="Shape 22"/>
          <p:cNvSpPr/>
          <p:nvPr/>
        </p:nvSpPr>
        <p:spPr>
          <a:xfrm>
            <a:off x="6949440" y="2299716"/>
            <a:ext cx="1737360" cy="219456"/>
          </a:xfrm>
          <a:prstGeom prst="rect">
            <a:avLst/>
          </a:prstGeom>
          <a:solidFill>
            <a:srgbClr val="FFFFFF"/>
          </a:solidFill>
          <a:ln w="12700">
            <a:solidFill>
              <a:srgbClr val="809FC0"/>
            </a:solidFill>
            <a:prstDash val="solid"/>
          </a:ln>
        </p:spPr>
        <p:txBody>
          <a:bodyPr/>
          <a:lstStyle/>
          <a:p>
            <a:endParaRPr/>
          </a:p>
        </p:txBody>
      </p:sp>
      <p:sp>
        <p:nvSpPr>
          <p:cNvPr id="25" name="Shape 23"/>
          <p:cNvSpPr/>
          <p:nvPr/>
        </p:nvSpPr>
        <p:spPr>
          <a:xfrm>
            <a:off x="6080760" y="2601468"/>
            <a:ext cx="274320" cy="192024"/>
          </a:xfrm>
          <a:prstGeom prst="rect">
            <a:avLst/>
          </a:prstGeom>
          <a:solidFill>
            <a:srgbClr val="809FC0"/>
          </a:solidFill>
          <a:ln w="12700">
            <a:solidFill>
              <a:srgbClr val="809FC0"/>
            </a:solidFill>
            <a:prstDash val="solid"/>
          </a:ln>
        </p:spPr>
        <p:txBody>
          <a:bodyPr/>
          <a:lstStyle/>
          <a:p>
            <a:endParaRPr/>
          </a:p>
        </p:txBody>
      </p:sp>
      <p:sp>
        <p:nvSpPr>
          <p:cNvPr id="26" name="Text 24"/>
          <p:cNvSpPr/>
          <p:nvPr/>
        </p:nvSpPr>
        <p:spPr>
          <a:xfrm>
            <a:off x="6080760" y="2601468"/>
            <a:ext cx="274320" cy="192024"/>
          </a:xfrm>
          <a:prstGeom prst="rect">
            <a:avLst/>
          </a:prstGeom>
          <a:noFill/>
          <a:ln/>
        </p:spPr>
        <p:txBody>
          <a:bodyPr wrap="square" rtlCol="0" anchor="ctr"/>
          <a:lstStyle/>
          <a:p>
            <a:pPr marL="0" indent="0" algn="ctr">
              <a:buNone/>
            </a:pPr>
            <a:r>
              <a:rPr lang="en-US" sz="700" dirty="0">
                <a:solidFill>
                  <a:srgbClr val="FFFFFF"/>
                </a:solidFill>
              </a:rPr>
              <a:t>5</a:t>
            </a:r>
            <a:endParaRPr lang="en-US" sz="700" dirty="0"/>
          </a:p>
        </p:txBody>
      </p:sp>
      <p:sp>
        <p:nvSpPr>
          <p:cNvPr id="27" name="Shape 25"/>
          <p:cNvSpPr/>
          <p:nvPr/>
        </p:nvSpPr>
        <p:spPr>
          <a:xfrm>
            <a:off x="6355080" y="2697480"/>
            <a:ext cx="548640" cy="0"/>
          </a:xfrm>
          <a:prstGeom prst="line">
            <a:avLst/>
          </a:prstGeom>
          <a:noFill/>
          <a:ln w="12700">
            <a:solidFill>
              <a:srgbClr val="1A3B5D"/>
            </a:solidFill>
            <a:prstDash val="solid"/>
          </a:ln>
        </p:spPr>
        <p:txBody>
          <a:bodyPr/>
          <a:lstStyle/>
          <a:p>
            <a:endParaRPr/>
          </a:p>
        </p:txBody>
      </p:sp>
      <p:sp>
        <p:nvSpPr>
          <p:cNvPr id="28" name="Shape 26"/>
          <p:cNvSpPr/>
          <p:nvPr/>
        </p:nvSpPr>
        <p:spPr>
          <a:xfrm>
            <a:off x="6949440" y="2574036"/>
            <a:ext cx="1737360" cy="219456"/>
          </a:xfrm>
          <a:prstGeom prst="rect">
            <a:avLst/>
          </a:prstGeom>
          <a:solidFill>
            <a:srgbClr val="FFFFFF"/>
          </a:solidFill>
          <a:ln w="12700">
            <a:solidFill>
              <a:srgbClr val="809FC0"/>
            </a:solidFill>
            <a:prstDash val="solid"/>
          </a:ln>
        </p:spPr>
        <p:txBody>
          <a:bodyPr/>
          <a:lstStyle/>
          <a:p>
            <a:endParaRPr/>
          </a:p>
        </p:txBody>
      </p:sp>
      <p:sp>
        <p:nvSpPr>
          <p:cNvPr id="29" name="Text 27"/>
          <p:cNvSpPr/>
          <p:nvPr/>
        </p:nvSpPr>
        <p:spPr>
          <a:xfrm>
            <a:off x="6035040" y="2788920"/>
            <a:ext cx="2743200" cy="228600"/>
          </a:xfrm>
          <a:prstGeom prst="rect">
            <a:avLst/>
          </a:prstGeom>
          <a:noFill/>
          <a:ln/>
        </p:spPr>
        <p:txBody>
          <a:bodyPr wrap="square" rtlCol="0" anchor="ctr"/>
          <a:lstStyle/>
          <a:p>
            <a:pPr marL="0" indent="0" algn="ctr">
              <a:buNone/>
            </a:pPr>
            <a:r>
              <a:rPr lang="en-US" sz="700" i="1" dirty="0">
                <a:solidFill>
                  <a:srgbClr val="1A3B5D"/>
                </a:solidFill>
              </a:rPr>
              <a:t>Heap page: header, item pointers &amp; tuples</a:t>
            </a:r>
            <a:endParaRPr lang="en-US" sz="700" dirty="0"/>
          </a:p>
        </p:txBody>
      </p:sp>
      <p:sp>
        <p:nvSpPr>
          <p:cNvPr id="30" name="Text 28"/>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[24]</a:t>
            </a:r>
            <a:r>
              <a:rPr lang="en-US" sz="600" dirty="0">
                <a:solidFill>
                  <a:srgbClr val="000000"/>
                </a:solidFill>
              </a:rPr>
              <a:t>   </a:t>
            </a:r>
            <a:r>
              <a:rPr lang="en-US" sz="600" u="sng" dirty="0">
                <a:solidFill>
                  <a:srgbClr val="004080"/>
                </a:solidFill>
                <a:hlinkClick r:id="rId4"/>
              </a:rPr>
              <a:t>[25]</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MVCC Systems &amp; Use Cases</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Implemented by PostgreSQL, Oracle, MySQL InnoDB and others
• Ideal for OLTP workloads with high concurrency
• Also beneficial for mixed analytical &amp; transactional systems</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[19]</a:t>
            </a:r>
            <a:r>
              <a:rPr lang="en-US" sz="600" dirty="0">
                <a:solidFill>
                  <a:srgbClr val="000000"/>
                </a:solidFill>
              </a:rPr>
              <a:t>   </a:t>
            </a:r>
            <a:r>
              <a:rPr lang="en-US" sz="600" u="sng" dirty="0">
                <a:solidFill>
                  <a:srgbClr val="004080"/>
                </a:solidFill>
                <a:hlinkClick r:id="rId4"/>
              </a:rPr>
              <a:t>[20]</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Monitoring &amp; Metrics</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Watch dead tuple counts, pg_stat_user_tables and relpages
• Check freeze age to avoid transaction wraparound
• Use built‑in views &amp; tools (pg_stat_activity, autovacuum logs)</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[21]</a:t>
            </a:r>
            <a:r>
              <a:rPr lang="en-US" sz="600" dirty="0">
                <a:solidFill>
                  <a:srgbClr val="000000"/>
                </a:solidFill>
              </a:rPr>
              <a:t>   </a:t>
            </a:r>
            <a:r>
              <a:rPr lang="en-US" sz="600" u="sng" dirty="0">
                <a:solidFill>
                  <a:srgbClr val="004080"/>
                </a:solidFill>
                <a:hlinkClick r:id="rId4"/>
              </a:rPr>
              <a:t>[22]</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Reflections &amp; Community</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MVCC and vacuuming are critical to PostgreSQL’s longevity
• Tune autovacuum rather than disabling it
• Community resources: Bruce Momjian’s talks, internals website</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[23]</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F3651"/>
          </a:solidFill>
          <a:ln w="12700">
            <a:solidFill>
              <a:srgbClr val="0F3651"/>
            </a:solidFill>
            <a:prstDash val="solid"/>
          </a:ln>
        </p:spPr>
        <p:txBody>
          <a:bodyPr/>
          <a:lstStyle/>
          <a:p>
            <a:endParaRPr/>
          </a:p>
        </p:txBody>
      </p:sp>
      <p:sp>
        <p:nvSpPr>
          <p:cNvPr id="3" name="Text 1"/>
          <p:cNvSpPr/>
          <p:nvPr/>
        </p:nvSpPr>
        <p:spPr>
          <a:xfrm>
            <a:off x="274320" y="91440"/>
            <a:ext cx="8595360" cy="365760"/>
          </a:xfrm>
          <a:prstGeom prst="rect">
            <a:avLst/>
          </a:prstGeom>
          <a:noFill/>
          <a:ln/>
        </p:spPr>
        <p:txBody>
          <a:bodyPr wrap="square" rtlCol="0" anchor="ctr"/>
          <a:lstStyle/>
          <a:p>
            <a:pPr marL="0" indent="0">
              <a:buNone/>
            </a:pPr>
            <a:r>
              <a:rPr lang="en-US" sz="1600" b="1" dirty="0">
                <a:solidFill>
                  <a:srgbClr val="FFFFFF"/>
                </a:solidFill>
              </a:rPr>
              <a:t>Q&amp;A &amp; Discussion</a:t>
            </a:r>
            <a:endParaRPr lang="en-US" sz="1600" dirty="0"/>
          </a:p>
        </p:txBody>
      </p:sp>
      <p:sp>
        <p:nvSpPr>
          <p:cNvPr id="4" name="Shape 2"/>
          <p:cNvSpPr/>
          <p:nvPr/>
        </p:nvSpPr>
        <p:spPr>
          <a:xfrm>
            <a:off x="0" y="457200"/>
            <a:ext cx="9144000" cy="4389120"/>
          </a:xfrm>
          <a:prstGeom prst="rect">
            <a:avLst/>
          </a:prstGeom>
          <a:solidFill>
            <a:srgbClr val="F5F9FC"/>
          </a:solidFill>
          <a:ln w="12700">
            <a:solidFill>
              <a:srgbClr val="F5F9FC"/>
            </a:solidFill>
            <a:prstDash val="solid"/>
          </a:ln>
        </p:spPr>
        <p:txBody>
          <a:bodyPr/>
          <a:lstStyle/>
          <a:p>
            <a:endParaRPr/>
          </a:p>
        </p:txBody>
      </p:sp>
      <p:sp>
        <p:nvSpPr>
          <p:cNvPr id="5" name="Text 3"/>
          <p:cNvSpPr/>
          <p:nvPr/>
        </p:nvSpPr>
        <p:spPr>
          <a:xfrm>
            <a:off x="457200" y="731520"/>
            <a:ext cx="5303520" cy="3291840"/>
          </a:xfrm>
          <a:prstGeom prst="rect">
            <a:avLst/>
          </a:prstGeom>
          <a:noFill/>
          <a:ln/>
        </p:spPr>
        <p:txBody>
          <a:bodyPr wrap="square" lIns="1270" tIns="1270" rIns="1270" bIns="1270" rtlCol="0" anchor="ctr"/>
          <a:lstStyle/>
          <a:p>
            <a:pPr marL="0" indent="0">
              <a:buNone/>
            </a:pPr>
            <a:r>
              <a:rPr lang="en-US" sz="1400" dirty="0">
                <a:solidFill>
                  <a:srgbClr val="1A3B5D"/>
                </a:solidFill>
              </a:rPr>
              <a:t>• Review questions on autocommit, autovacuum versions and performance
• Benchmark databases carefully: results depend on schema and workload
• Stay curious: explore official docs and community blogs</a:t>
            </a:r>
            <a:endParaRPr lang="en-US" sz="1400" dirty="0"/>
          </a:p>
        </p:txBody>
      </p:sp>
      <p:sp>
        <p:nvSpPr>
          <p:cNvPr id="6" name="Text 4"/>
          <p:cNvSpPr/>
          <p:nvPr/>
        </p:nvSpPr>
        <p:spPr>
          <a:xfrm>
            <a:off x="457200" y="4709160"/>
            <a:ext cx="8229600" cy="274320"/>
          </a:xfrm>
          <a:prstGeom prst="rect">
            <a:avLst/>
          </a:prstGeom>
          <a:noFill/>
          <a:ln/>
        </p:spPr>
        <p:txBody>
          <a:bodyPr wrap="square" lIns="0" tIns="0" rIns="0" bIns="0" rtlCol="0" anchor="ctr"/>
          <a:lstStyle/>
          <a:p>
            <a:pPr marL="0" indent="0">
              <a:buNone/>
            </a:pPr>
            <a:r>
              <a:rPr lang="en-US" sz="600" u="sng" dirty="0">
                <a:solidFill>
                  <a:srgbClr val="004080"/>
                </a:solidFill>
                <a:hlinkClick r:id="rId3"/>
              </a:rPr>
              <a:t>[26]</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60000"/>
            </a:srgbClr>
          </a:solidFill>
          <a:ln w="12700">
            <a:solidFill>
              <a:srgbClr val="000000"/>
            </a:solidFill>
            <a:prstDash val="solid"/>
          </a:ln>
        </p:spPr>
        <p:txBody>
          <a:bodyPr/>
          <a:lstStyle/>
          <a:p>
            <a:endParaRPr/>
          </a:p>
        </p:txBody>
      </p:sp>
      <p:sp>
        <p:nvSpPr>
          <p:cNvPr id="4" name="Text 1"/>
          <p:cNvSpPr/>
          <p:nvPr/>
        </p:nvSpPr>
        <p:spPr>
          <a:xfrm>
            <a:off x="457200" y="548640"/>
            <a:ext cx="8229600" cy="731520"/>
          </a:xfrm>
          <a:prstGeom prst="rect">
            <a:avLst/>
          </a:prstGeom>
          <a:noFill/>
          <a:ln/>
        </p:spPr>
        <p:txBody>
          <a:bodyPr wrap="square" rtlCol="0" anchor="ctr"/>
          <a:lstStyle/>
          <a:p>
            <a:pPr marL="0" indent="0" algn="ctr">
              <a:buNone/>
            </a:pPr>
            <a:r>
              <a:rPr lang="en-US" sz="2800" b="1" dirty="0">
                <a:solidFill>
                  <a:srgbClr val="FFFFFF"/>
                </a:solidFill>
              </a:rPr>
              <a:t>Conclusion &amp; Next Steps</a:t>
            </a:r>
            <a:endParaRPr lang="en-US" sz="2800" dirty="0"/>
          </a:p>
        </p:txBody>
      </p:sp>
      <p:sp>
        <p:nvSpPr>
          <p:cNvPr id="5" name="Text 2"/>
          <p:cNvSpPr/>
          <p:nvPr/>
        </p:nvSpPr>
        <p:spPr>
          <a:xfrm>
            <a:off x="914400" y="1828800"/>
            <a:ext cx="7315200" cy="2286000"/>
          </a:xfrm>
          <a:prstGeom prst="rect">
            <a:avLst/>
          </a:prstGeom>
          <a:noFill/>
          <a:ln/>
        </p:spPr>
        <p:txBody>
          <a:bodyPr wrap="square" rtlCol="0" anchor="ctr"/>
          <a:lstStyle/>
          <a:p>
            <a:pPr marL="0" indent="0" algn="l">
              <a:buNone/>
            </a:pPr>
            <a:r>
              <a:rPr lang="en-US" sz="1400" dirty="0">
                <a:solidFill>
                  <a:srgbClr val="F5F9FC"/>
                </a:solidFill>
              </a:rPr>
              <a:t>• Recap: MVCC ensures concurrency; heap storage organizes data; vacuum keeps tables healthy
• Continue learning through practice and reading
• Join upcoming webinars and engage with the PostgreSQL community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14396</Words>
  <Application>Microsoft Macintosh PowerPoint</Application>
  <PresentationFormat>On-screen Show (16:9)</PresentationFormat>
  <Paragraphs>266</Paragraphs>
  <Slides>20</Slides>
  <Notes>20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Atilio Barreda</cp:lastModifiedBy>
  <cp:revision>1</cp:revision>
  <dcterms:created xsi:type="dcterms:W3CDTF">2026-03-03T06:01:13Z</dcterms:created>
  <dcterms:modified xsi:type="dcterms:W3CDTF">2026-03-03T06:29:47Z</dcterms:modified>
</cp:coreProperties>
</file>