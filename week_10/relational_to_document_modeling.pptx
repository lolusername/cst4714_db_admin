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and welcome back to CST4714. Go ahead and settle in, open your laptops, and pull up the shared Week 10 folder so we can stay on the same page. Today we are dedicating the entire block to making a very intentional leap: translating the relational schemas you already know how to design into MongoDB document structures that respect real workloads. This is not just another lecture—by the end of today you will know exactly how to earn the MongoDB Relational to Document Model skill badge, and you will understand why it is the capstone credential for the second half of this course.</a:t>
            </a:r>
          </a:p>
          <a:p>
            <a:r>
              <a:t>Start by reminding yourself of the bigger picture. Over the last nine weeks we have surfaced the fact that administrators no longer manage a single technology; you are asked to evaluate trade-offs, stitch together heterogeneous systems, and lead conversations about why a document model might win over a third normal form. That is why we are treating this badge as a required deliverable: it is external validation that you can do more than talk about MongoDB—you can model with it, govern it, and justify it to stakeholders. As I walk through this session, imagine you are already in front of a team explaining why their trusted join-heavy schema needs to evolve.</a:t>
            </a:r>
          </a:p>
          <a:p>
            <a:r>
              <a:t>Let me outline how the next 170 minutes will flow so you can pace yourselves. We will begin with a quick bridge from Week 9, surfacing the CAP and automation insights that make today feel like a continuation rather than a hard pivot. Then we will unpack MongoDB's five-step modeling methodology in detail. After that, we will stay grounded by comparing embedded and referenced relationships, using real application scenarios, not just toy diagrams. A big portion of our time will be spent on the SQL-to-Mongo walkthrough, where we will literally migrate a familiar join into an aggregation pipeline and evaluate the trade-offs together.</a:t>
            </a:r>
          </a:p>
          <a:p>
            <a:r>
              <a:t>Midway through class we will look closely at the lab script that you will customize for your project. I will show you exactly how the sample data is structured, how the transformations happen, and how you can extend it without breaking the validation rules. We will pause to talk governance, because modeling without validation and lifecycle planning is like designing tables without primary keys. Finally, we will close by launching the credential timeline: when you will enroll, how you will study, and what proof you must upload to Brightspace.</a:t>
            </a:r>
          </a:p>
          <a:p>
            <a:r>
              <a:t>While I am speaking, jot down questions that come to mind. If you already know a table in your project that feels awkward in MongoDB, write the table name in the margin now. Our job today is to give you words and patterns you can use to explain your decisions in that conversion. I will also be explicit about what happens live in class versus what becomes homework so there is no mystery when you leave.</a:t>
            </a:r>
          </a:p>
          <a:p>
            <a:r>
              <a:t>Remember, the expectation here is mastery, not memorization. When you sit for the MongoDB skill check you will be asked scenario questions. Your ability to answer those scenarios hinges on understanding the stories we tell today. So listen for the insight behind every example. Ask yourself, 'Why does co-locating data in a document matter for this workload?' or 'What consistency promise do I lose if I denormalize this way?' Those are the lines of reasoning the badge exam is measuring.</a:t>
            </a:r>
          </a:p>
          <a:p>
            <a:r>
              <a:t>If you are feeling anxious about adding a credential requirement, take a breath. We are building everything you need into the next three weeks. Today's deck is structured so you can practically read the notes aloud when you study. The lab script is intentionally concise so you can own it quickly. The assignment instructions in Brightspace are short on purpose: enroll, complete, prove it. You are not doing this alone—your classmates and I are resources.</a:t>
            </a:r>
          </a:p>
          <a:p>
            <a:r>
              <a:t>Here is how I want you to engage today. Keep your notebook open, but also keep a blank document ready where you can sketch document shapes. When we call out an example, sketch it. Visual memory is powerful, and the badge exams often present diagrams. I will ask you to share one of those sketches at the end of class so we can crowdsource best practices. Also, if you hear a term you do not recognize, underline it and circle it. We will pause periodically for vocabulary check-ins.</a:t>
            </a:r>
          </a:p>
          <a:p>
            <a:r>
              <a:t>You should also know how participation will work. Throughout the session I will cold-call a handful of you to narrate what you see on the screen or to explain a decision back to the group. This is not to catch you off guard; it is to simulate the kind of impromptu explanations you will give in real design reviews. If that makes you nervous, consider it practice under friendly conditions.</a:t>
            </a:r>
          </a:p>
          <a:p>
            <a:r>
              <a:t>One more administrative note while we are on the title slide: the Brightspace assignment for this week is already live. It only asks for your badge proof, but do not let that simplicity lull you into complacency. You must build the habits we cover today to knock out the badge efficiently. Mark the due date in your calendar now; I will remind you again later, but proactive tracking is part of a DBA's job.</a:t>
            </a:r>
          </a:p>
          <a:p>
            <a:r>
              <a:t>With that framing in mind, let's jump to the next slide and reconnect to where we left off last week. As we do that, keep the word 'continuity' in your head. The habits we practiced with CAP, automation, and Atlas access are the same habits we will rely on when we start reshaping data models today. Take a deep breath, settle into the rhythm of the session, and let's build on the foundation you have already laid.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into new content, let's make sure we harvest everything useful from Week 9. Think back to the CAP theorem exercise where we debated what should happen when a region drops. That wasn't just a theoretical warm-up—it taught us to assess the operational consequences of our modeling choices. Say out loud with me: 'If I embed data, I need to understand availability, consistency, and partition behaviors.' That awareness is what keeps our document designs honest.</a:t>
            </a:r>
          </a:p>
          <a:p>
            <a:r>
              <a:t>Now recall the automation script we ran in Week 9. You watched a Node-based workflow create collections, enforce validation, and seed data directly into Atlas. That script was a signal: MongoDB expects administrators to script their environments, not click around the UI. Today, when we modify the lab script, we will use the same automation muscle. You are already comfortable running `mongosh --file` and interpreting the output—that is the foundation for today's hands-on work.</a:t>
            </a:r>
          </a:p>
          <a:p>
            <a:r>
              <a:t>The third memory jog is the consistency notebook. You toggled read preferences, played with write concerns, and saw the effects on latency. Why does that matter for today? Because embedding and referencing are not just structural decisions; they directly influence how quickly clients see writes and how many round-trips your application needs to assemble a response. Keep that notebook open mentally. As you evaluate document shapes, ask yourself how the workload's consistency expectations map to the model.</a:t>
            </a:r>
          </a:p>
          <a:p>
            <a:r>
              <a:t>I also want you to reflect on the discussion we had about NoSQL families. We built a mental table of Redis, MongoDB, Cassandra, and Neo4j. That conversation pushed you to articulate why a system chooses the trade-offs it chooses. Today we are narrowing in on MongoDB, but we are carrying that compare-and-contrast mindset with us. If your application has workloads that still scream 'column-family,' admit that tension. Good administrators do not force-fit everything into BSON—they justify the fit.</a:t>
            </a:r>
          </a:p>
          <a:p>
            <a:r>
              <a:t>Take thirty seconds and think of one insight from Week 9 that surprised you or challenged a belief you held about NoSQL systems. Maybe it was discovering how tunable consistency is in MongoDB, or realizing that schema evolution feels more like DevOps than classic DB change tickets. Whatever it is, hold it front-of-mind. We are about to expand on those exact threads.</a:t>
            </a:r>
          </a:p>
          <a:p>
            <a:r>
              <a:t>Share what you remember with the person next to you. Give them one sentence that starts with 'Last week I realized...' This grounding exercise does two things: it primes your brain to connect new info to existing memories, and it gives you a language partner for the rest of class. When we hit a heavy concept later, you will have already broken the ice.</a:t>
            </a:r>
          </a:p>
          <a:p>
            <a:r>
              <a:t>Let me highlight a few Week 9 demos that directly feed today's work. Remember when we compared Atlas failover behaviors at different read preferences? That exact insight will surface when we decide whether to embed or reference subdocuments. Embedded data might make failover simpler because reads are local; referenced data might require more cross-node coordination. Keep that cause-and-effect in mind.</a:t>
            </a:r>
          </a:p>
          <a:p>
            <a:r>
              <a:t>Call back the lively debate we had about eventual consistency. Some of you argued that your users would tolerate a few seconds of staleness. Others said their domains demanded strict consistency. That conversation foreshadows the moment in today's lab where you will choose whether to stage read-heavy aggregates inside a document. Your tolerance for staleness will influence your model.</a:t>
            </a:r>
          </a:p>
          <a:p>
            <a:r>
              <a:t>Also, remember the spreadsheets you filled out where you mapped queries to consistency requirements? Pull that spreadsheet up if you have it—it will make today's note-taking faster. The badge exam will ask similar scenario questions. Think of this as pre-studying.</a:t>
            </a:r>
          </a:p>
          <a:p>
            <a:r>
              <a:t>Finally, remind yourself of the energy in the room when we talked about Atlas automation failing because of IP allowlists or credential mismatches. Those friction points are part of real-world administration. As we tackle the modeling lab today, we will once again bump into configuration details, and I want you to treat them as learning opportunities, not annoyances.</a:t>
            </a:r>
          </a:p>
          <a:p>
            <a:r>
              <a:t>To close this bridge slide, I want you to write three bullet points in your notebook titled 'Week 9 anchors.' Underneath, write CAP, automation, and consistency. For each, jot a sentence explaining how it influences modeling. You will reference those anchors later when you justify your design choices in the badge reflection. Alright, with that refresher in place, let's move into the methodology slide.</a:t>
            </a:r>
          </a:p>
          <a:p>
            <a:r>
              <a:t>Take another moment and recall the CAP triangle sketch you drew. If you still have it, glance at where you placed MongoDB. Today we will demonstrate how modeling choices can push MongoDB closer to the CP or AP corners depending on read and write concerns. Saying that out loud helps you internalize that the database is tunable. Also, whisper to yourself the definition of Consistency, Availability, and Partition tolerance. The skill check loves to test that vocabulary in subtle ways.</a:t>
            </a:r>
          </a:p>
          <a:p>
            <a:r>
              <a:t>One more callback: the micro debate we had about caching strategies and how Redis compares to MongoDB for session storage. That matters right now because when you decide to embed data, you are effectively building a cache layer inside MongoDB. If you are comfortable explaining why you might still keep Redis around, you are thinking like an architect. Make a note if you want to revisit that topic during office hours.</a:t>
            </a:r>
          </a:p>
          <a:p>
            <a:r>
              <a:t>Finally, set an intention for today. Say to your neighbor, 'By the end of this slide deck I will be able to explain ________.' Fill in the blank with something concrete like 'how to justify embedding decisions' or 'how to brief my manager on the badge requirement.' Speaking your intention increases the odds you will achieve it, and it frames your listening for the next two hours.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heart of today's lecture. MongoDB's modeling methodology might sound like another checklist, but it is a disciplined way to make sure you are not just shoving tables into documents. I am going to walk through each step slowly, layer stories on top, and ask you to annotate your own project as we go. By the time we leave this slide, you should be able to explain the methodology to someone who has never touched MongoDB before.</a:t>
            </a:r>
          </a:p>
          <a:p>
            <a:r>
              <a:t>Step one: profile the workload actors. In relational land we often say 'users' or 'roles,' but MongoDB's documentation is deliberate about calling them actors. That includes human users, automated processes, ETL jobs, alerting systems—any agent that issues reads or writes. Right now, jot down every actor that touches your application. Don't just write 'customer'—think about the internal support rep, the overnight batch job, the analytics dashboard that runs heavy aggregations at 2 a.m. Knowing who touches your data determines how you model it.</a:t>
            </a:r>
          </a:p>
          <a:p>
            <a:r>
              <a:t>Dig a little deeper. For each actor, note whether they are read-heavy, write-heavy, or balanced. The mobile app might read heavily but write infrequently. The settlement process might write large batches at night. These characteristics influence whether you optimize for read locality or write isolation. If an actor is prone to spikes, underline it—spiky actors often deserve their own collections or queueing strategies.</a:t>
            </a:r>
          </a:p>
          <a:p>
            <a:r>
              <a:t>Step two: list the application queries. MongoDB wants you to be explicit about fields, filters, frequency, and service-level expectations. Think of this like writing the `EXPLAIN` plan before you build the table. On your notes, create a two-column list: left column for the query description, right column for notes on how often it fires and how fast it must be. For example, 'Retrieve customer profile with last five orders—called on every login—must respond under 200 ms.' The point is to keep the workload concrete.</a:t>
            </a:r>
          </a:p>
          <a:p>
            <a:r>
              <a:t>Ask yourself which queries are mission-critical, which are occasional, and which are heavy analytics. Mission-critical reads often benefit from embedding. Heavy analytics might justify exporting to a warehouse. Do not gloss over this step; the badge exam will give you a workload description and expect you to apply it.</a:t>
            </a:r>
          </a:p>
          <a:p>
            <a:r>
              <a:t>Step three is the famous embedding versus referencing decision. But notice it comes after the workload analysis. MongoDB is not asking you to pick a philosophy, it's asking you to map relationships to access patterns. Ask yourself: 'When we serve the dashboard, do we always need the child documents?' If the answer is yes, embedding might be the safer bet. If the children churn independently, referencing might give us more flexibility. Capture your reasoning in words, not just arrows, so you can defend it later.</a:t>
            </a:r>
          </a:p>
          <a:p>
            <a:r>
              <a:t>When you document your decision, include the risks. For embedding, the risk might be document growth or duplication. For referencing, the risk might be increased latency or transactional complexity. Writing down the risk trains you to monitor it later.</a:t>
            </a:r>
          </a:p>
          <a:p>
            <a:r>
              <a:t>Step four is to design indexes alongside the model. This is where relational designers sometimes slip, because in SQL we often normalize first and index later. In MongoDB, index design happens in the same conversation as schema design. If you embed orders inside a customer document, do you need a compound index on `orders.orderDate` plus `orders.metrics.subtotal`? If you reference orders in another collection, should you index the `customerId` field and maybe a partial index on `status`? Write down the indexes you anticipate; it will make your future tuning sessions faster.</a:t>
            </a:r>
          </a:p>
          <a:p>
            <a:r>
              <a:t>Also plan for TTL, partial, and sparse indexes where appropriate. If you have documents that should expire, note it now. Schema and indexing strategy are joined at the hip in MongoDB because of the document structure.</a:t>
            </a:r>
          </a:p>
          <a:p>
            <a:r>
              <a:t>Step five is governance. Plan how you will enforce validation, manage schema versions, and migrate data when the model evolves. In relational systems we lean on database constraints, migration scripts, and change advisory boards. In MongoDB we add `jsonSchema` validators, embed version fields like `schemaVersion`, and prepare automation to transform documents when the structure changes. For your project, draft an idea of what versioning strategy makes sense: maybe `schemaVersion: 1` for your initial release, then bump it when you change embedded array structures.</a:t>
            </a:r>
          </a:p>
          <a:p>
            <a:r>
              <a:t>Let me give you an example that ties all five steps together. Imagine we are modeling an online tutoring platform. Actors include students, tutors, scheduling bots, and billing jobs. Queries include 'show upcoming sessions for a student,' 'lookup tutor rating history,' and 'generate nightly invoices.' For the session view, students need embedded session details, so we might embed upcoming appointments directly inside the student document. For ratings, we might reference a separate collection because ratings arrive asynchronously from surveys. Indexes would cover `sessions.startTime`, `ratings.tutorId`, and `invoices.status`. Governance would include schema validation to ensure every session has a start time, an end time, and a status from an approved enum. You can feel how the model grows organically from the workload profile.</a:t>
            </a:r>
          </a:p>
          <a:p>
            <a:r>
              <a:t>Contrast that with a streaming media app. Actors include viewers, recommendation engines, and analytics pipelines. Queries include 'resume playback where the user left off,' 'recommend next episodes,' and 'aggregate daily view counts.' Resume playback might require embedding the last-played timestamp directly in the user document. Recommendations might store references to content documents with sparse indexes. Analytics might push data to a warehouse. See how the methodology scales? Different domain, same steps.</a:t>
            </a:r>
          </a:p>
          <a:p>
            <a:r>
              <a:t>Pause for a moment and highlight on your notes which step feels strongest for you and which feels weakest. If you are confident about query analysis but nervous about governance, star that fifth bullet. That's where you should focus extra attention in the lab and in the badge prep.</a:t>
            </a:r>
          </a:p>
          <a:p>
            <a:r>
              <a:t>To round out this slide, I want you to rehearse how you would explain the methodology to a teammate. Turn to a partner and, in under one minute, summarize the five steps without looking at the slide. This rehearsal is real prep for the badge: the skill check expects you to recall the methodology under mild time pressure. Once you've shared, jot down any steps that felt awkward to articulate so you know what to review tonight.</a:t>
            </a:r>
          </a:p>
          <a:p>
            <a:r>
              <a:t>As we transition to the next slide, keep this methodology in view. We are about to apply it to concrete scenarios—embedding vs referencing decisions—but whenever you feel lost, come back to these five steps. They will anchor your reasoning and keep your modeling choices defensible.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are, the classic debate: embed or reference. I want to spend real time here because each row represents hours of conversation in real projects. We'll work through each scenario slowly, pulling in your experiences, and we'll connect back to both the methodology and the CAP insights.</a:t>
            </a:r>
          </a:p>
          <a:p>
            <a:r>
              <a:t>First scenario: high-read aggregates. Picture a dashboard that loads customer data plus the five most recent orders every single time. If you embed those orders, you satisfy the read in one round-trip, you avoid `$lookup`, and you leverage MongoDB's strength: co-locating related data. But ask yourself, what is the cost? Embedded documents can grow large. If your embedded array grows to more than 16 MB, you hit the document size limit. Discuss with your neighbor: in your project, do you have any read-heavy patterns that would benefit from embedding?</a:t>
            </a:r>
          </a:p>
          <a:p>
            <a:r>
              <a:t>Now contrast that with referencing. If we chose not to embed, we'd need to issue separate queries or use `$lookup` with an aggregation pipeline every time we render that page. That adds latency because you push more work to the server and potentially increase client complexity. Write down in your notes: 'embedding wins when reads dominate and document size stays manageable.' That's your test.</a:t>
            </a:r>
          </a:p>
          <a:p>
            <a:r>
              <a:t>Second scenario: volatile child entities. Think about IoT sensor readings flowing in every second. If you embed all readings in a single device document, that document will balloon and trigger frequent rewrites. Worse, if you need to update one reading, you rewrite the entire parent document. In that case, referencing is the safer route: keep the device document lean and store readings in a separate collection with a foreign key-like reference. Turn to a partner and list two entities in your project that change frequently. Those might be prime candidates for referencing.</a:t>
            </a:r>
          </a:p>
          <a:p>
            <a:r>
              <a:t>Third scenario: many-to-many intersections. In relational design we rely on join tables like `students_courses`. In MongoDB, you have choices. You can embed summary arrays, like storing a list of course IDs inside the student document for quick display, and simultaneously keep a referenced `enrollments` collection with the full detail. That hybrid approach is powerful: the embedded summary gives you fast reads, while the referenced collection keeps history and metadata. Make a note of how you might mirror that pattern in your project. Do you have tags, memberships, or permissions that follow a similar shape?</a:t>
            </a:r>
          </a:p>
          <a:p>
            <a:r>
              <a:t>Fourth scenario: audit and compliance. Auditors often require immutable histories. Embedding snapshots can work if each record is small and the total log stays manageable. But in regulated industries, referencing an immutable audit collection is often safer. That way you never risk overwriting history, and you can apply TTL indexes or archival policies separately. Think about your project: is there any data that must remain immutable? If so, referencing with append-only writes might be the way to go.</a:t>
            </a:r>
          </a:p>
          <a:p>
            <a:r>
              <a:t>Let's add a fifth scenario: global catalogs. Imagine a product catalog that must be localized and frequently updated. Embedding all localized descriptions in the product document might simplify reads but could create massive documents. Referencing a separate `product_descriptions` collection keyed by locale might be more efficient. Alternatively, you could embed the top two languages and reference the rest. This hybrid strategy is common. Write down which languages or regional variations your project might need and how you could balance embedding and referencing.</a:t>
            </a:r>
          </a:p>
          <a:p>
            <a:r>
              <a:t>Another scenario: personalization. Suppose each user has a long list of recommendations that change daily. Embedding thousands of IDs could blow up the document. Instead, reference a `recommendations` collection keyed by user, and embed only the top five items for the home screen. This keeps the user document lightweight while still supporting instant reads for the most important content.</a:t>
            </a:r>
          </a:p>
          <a:p>
            <a:r>
              <a:t>Notice what we are doing here. We are not memorizing rules; we are contextualizing decisions. Whenever you face a modeling choice, ask three questions: What is the workload? What are the size and update characteristics? What governance or compliance constraints exist? The answers point you toward embedding or referencing.</a:t>
            </a:r>
          </a:p>
          <a:p>
            <a:r>
              <a:t>To make this real, I want you to do a quick writing exercise. In your notebook, create two columns labeled 'Embed when...' and 'Reference when...' Under each column, list at least three conditions relevant to your project. For example, 'Embed when the user profile screen needs the data instantly' or 'Reference when attachment files exceed document size limits.' This personalized checklist will be invaluable when you sit down to customize the lab script.</a:t>
            </a:r>
          </a:p>
          <a:p>
            <a:r>
              <a:t>Before we move on, write in your notes one embedding decision you plan to make this week and the risk you will monitor. Maybe it's 'Embed cart items inside the cart document; monitor document size.' Then write one referencing decision, like 'Reference support tickets from the user document; monitor lookup latency.' Those sentences will become the seeds of your reflection when you submit the assignment.</a:t>
            </a:r>
          </a:p>
          <a:p>
            <a:r>
              <a:t>Ready to see how this plays out in code? Let's head to the SQL-versus-Mongo slide and narrate a live translation.</a:t>
            </a:r>
          </a:p>
          <a:p>
            <a:r>
              <a:t>Before we move on, consider how data growth affects backups and restores. Embedded documents make backups easier because related data travels together, but they can lengthen restore times if the documents are huge. Referenced models might increase the number of collections you manage but can simplify targeted restores. Add a note to your chart: 'Backup footprint?' next to each option. Operational teams will ask you that question.</a:t>
            </a:r>
          </a:p>
          <a:p>
            <a:r>
              <a:t>I also want you to think about organizational boundaries. Sometimes compliance requires that certain data lives in a separate collection with restricted access. In that case referencing is not just a performance decision—it is a policy decision. Maybe personally identifiable information must be isolated with extra auditing. Capture that nuance so you can raise it in stakeholder meetings.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we prove that the theory actually works. On the left, you see a plain SQL query joining customers, orders, and order items, calculating totals, and grouping by customer. On the right, you see the MongoDB aggregation pipeline that gets us to the same answer. I am going to walk through both slowly, line by line, and show you how the modeling decisions we just discussed determine how expensive or painless this translation is.</a:t>
            </a:r>
          </a:p>
          <a:p>
            <a:r>
              <a:t>Start with the SQL query. We select the customer ID and the sum of each order item's quantity times unit price. We join `customers` to `orders` on `customer_id`, and `orders` to `order_items` on `order_id`. We apply a date filter so we only consider orders from the last 30 days, then we group and sort. This is the bread-and-butter query of many transactional systems, and you all have written something like it in previous classes or jobs.</a:t>
            </a:r>
          </a:p>
          <a:p>
            <a:r>
              <a:t>Now imagine we decided to embed orders inside customer documents. How does that change our translation? In MongoDB, we use `$unwind` to explode the embedded `orders` array, giving us one pipeline document per order. We then `$match` on the order date using an ISODate comparison. That filter is fast because the orders are already co-located with the customer, and the date is indexed. Next, we `$group` by the customer `_id` and accumulate the subtotal we precomputed in the embedded document. Notice the big payoff: we already computed `subtotal` inside the document when we inserted it, so our pipeline does not have to multiply quantities and prices on the fly.</a:t>
            </a:r>
          </a:p>
          <a:p>
            <a:r>
              <a:t>I want you to notice two things. First, when we embed, we often precompute metrics like subtotals and order counts. That is because MongoDB encourages you to store the shape your reads require. Second, the pipeline is shorter because the heavy lifting happened at write time in our modeling script.</a:t>
            </a:r>
          </a:p>
          <a:p>
            <a:r>
              <a:t>But what if we referenced orders in a separate collection? We would then need to issue a pipeline against `orders_unfolded`, perhaps join to customers using `$lookup`, and then perform similar grouping. That is absolutely doable, and sometimes necessary. The point is to understand the trade-off: embedding pushes work to writes and shrinks read complexity; referencing keeps writes lighter but pushes more work onto reads.</a:t>
            </a:r>
          </a:p>
          <a:p>
            <a:r>
              <a:t>Let's narrate the right-hand pipeline. `$unwind` is like a join in reverse—it takes the nested array and turns it into individual documents. `$match` filters on a date. `$group` sums totals. If we needed details per order, we could add `$project` stages to shape the output further. Write down in your notes which pipeline stage corresponds to which SQL clause. For example, `$match` after `$unwind` is similar to the SQL `WHERE` clause. `$group` maps to the SQL `GROUP BY` plus aggregate functions.</a:t>
            </a:r>
          </a:p>
          <a:p>
            <a:r>
              <a:t>Consider variations. If you needed to filter by status as well, you'd add another `$match` stage, just like adding another condition in SQL. If you wanted the top N customers, you'd append `$sort` and `$limit`. Draw a line connecting each stage to its SQL counterpart. This mapping will become muscle memory if you practice it.</a:t>
            </a:r>
          </a:p>
          <a:p>
            <a:r>
              <a:t>Now, let's zoom out. What does this translation teach us about modeling? It tells us that if we expect to run heavy aggregations often, precomputing metrics inside the document saves time later. It also tells us that the shape of our documents dictates the complexity of our pipelines. If we embed deeply nested arrays, our pipelines might require multiple `$unwind` stages. If we reference, we might lean on `$lookup` and `$graphLookup`.</a:t>
            </a:r>
          </a:p>
          <a:p>
            <a:r>
              <a:t>Before we flip to the lab slide, take one minute and, with your neighbor, verbally explain the MongoDB pipeline as if you were teaching a teammate. Teaching it aloud cements your understanding and exposes gaps. If you trip on a stage, mark it in your notes so you can practice it again during the badge course.</a:t>
            </a:r>
          </a:p>
          <a:p>
            <a:r>
              <a:t>Finally, capture one sentence in your notebook: 'When porting SQL joins to MongoDB, I should...' and complete it with your own insight. Maybe it's 'ensure my documents include the data the query expects' or 'design aggregations that mirror my indexes.' That personalized mantra will help you resist the temptation to blindly translate SQL without considering document design.</a:t>
            </a:r>
          </a:p>
          <a:p>
            <a:r>
              <a:t>Let me add one more translation example. Suppose your SQL query includes a window function, like calculating a running total. In MongoDB you would reach for `$setWindowFields`. If your model embeds the relevant data, you can apply the window function directly within the document context. If your model references data across collections, you'll need to `$lookup` before applying the window function. Knowing how to handle advanced SQL features will impress interviewers and will appear in the badge's scenario pool.</a:t>
            </a:r>
          </a:p>
          <a:p>
            <a:r>
              <a:t>Also, listen to the verbs you use. When you describe the pipeline, say 'unwind,' 'match,' 'group,' 'project,' and 'sort.' Using MongoDB's language reinforces the mental mapping. When you practice for the badge, read pipelines aloud. It might feel odd, but hearing the stages helps you memorize their order and arguments.</a:t>
            </a:r>
          </a:p>
          <a:p>
            <a:r>
              <a:t>Before leaving this slide, write down any SQL features you rely on heavily—maybe `HAVING` clauses, subqueries, or window functions. Later, research the MongoDB equivalents so you have an answer ready when the badge throws those scenarios at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your roadmap for the lab we will run together and then extend on your own. I will narrate each bullet slowly, talk about the automation script's structure, and warn you about the common mistakes that trip students up.</a:t>
            </a:r>
          </a:p>
          <a:p>
            <a:r>
              <a:t>First, the command. You will run `mongosh 'mongodb+srv://&lt;cluster&gt;/&lt;db&gt;' --username &lt;user&gt; --file week_10/relational_to_document_lab.js`. Replace the placeholders with your connection details. Because we practiced this last week, you already know that the password prompt appears after the command executes. Double-check that you are pointing at a disposable or sandbox database so you do not accidentally collide with production-like environments.</a:t>
            </a:r>
          </a:p>
          <a:p>
            <a:r>
              <a:t>When the script runs, it seeds an embedded `customers` collection with order history. I will open the script on screen and point out the arrays that simulate relational tables: `customersRel`, `ordersRel`, and `orderItemsRel`. Pay attention to how we reduce the order items into line totals and how we compute subtotals up front. I will ask you to call out which lines correspond to the embedding vs referencing decisions we just discussed. The script uses `NumberInt` for quantities to keep the validator happy—watch for that detail because mixing numeric types is a common source of errors in MongoDB.</a:t>
            </a:r>
          </a:p>
          <a:p>
            <a:r>
              <a:t>Next, the script builds a referenced `orders_unfolded` view. That collection mirrors a classic fact table: each document represents an order, referencing the customer by ID, with items and metrics stored alongside. We also create indexes on `customerId`, `orderDate`, and `status`. Remember from the methodology slide: indexes and schema go hand in hand. When you customize the script for your project, you must revisit those indexes to match your workload.</a:t>
            </a:r>
          </a:p>
          <a:p>
            <a:r>
              <a:t>The lab invites you to experiment with `$lookup` and `$unwind`. After the script writes data, it runs an aggregation that joins `orders_unfolded` back to `customers` to rebuild a relational-style view. Pay attention to the projection stage where we shape the final output. This is your playground. Swap fields, add metrics, change the sort order. The more you experiment, the more confident you will be when the badge scenario presents a similar task.</a:t>
            </a:r>
          </a:p>
          <a:p>
            <a:r>
              <a:t>I also want you to notice the validation block in the script. We create the `customers` collection with a `jsonSchema` validator that enforces required fields, enum values, and nested numeric constraints. When you modify the script, you must decide whether to tighten or relax those rules. Think of it as the MongoDB equivalent of adjusting `CHECK` constraints. If you run into validation errors, practice reading the error message carefully—it pinpoints exactly which field violates the schema.</a:t>
            </a:r>
          </a:p>
          <a:p>
            <a:r>
              <a:t>We have seen students stumble when they forget to drop collections before re-inserting data. The script handles this by dropping `customers` and `orders_unfolded` if they exist. If you adapt the script, keep that guard in place or you'll end up with duplicate documents and confusing results. Also, be mindful of where your connection string points; creating indexes on a production cluster by accident is a real risk if you reuse credentials indiscriminately.</a:t>
            </a:r>
          </a:p>
          <a:p>
            <a:r>
              <a:t>As you execute the script later, narrate to yourself what is happening. Say out loud, 'We are dropping collections to avoid duplication; we are inserting embedded documents; we are creating indexes; we are running aggregations.' That self-talk reinforces the methodology and prepares you for the badge's performance-based questions.</a:t>
            </a:r>
          </a:p>
          <a:p>
            <a:r>
              <a:t>If you want to push further, consider adding logging or timing output to the script. You could measure how long the aggregation takes before and after adjusting indexes. You could write an additional pipeline that calculates average order value per loyalty tier. These experiments deepen your intuition.</a:t>
            </a:r>
          </a:p>
          <a:p>
            <a:r>
              <a:t>Before we move on, write one customization idea in your notebook. Maybe it's 'Replace books with insurance policies,' or 'Add a schema version bump when the order structure changes.' Having an idea ready will let you dive straight into the homework without losing momentum.</a:t>
            </a:r>
          </a:p>
          <a:p>
            <a:r>
              <a:t>With that orientation, let's talk governance—because a model without guardrails is a liability.</a:t>
            </a:r>
          </a:p>
          <a:p>
            <a:r>
              <a:t>As you plan your customization, map the script's sections to the methodology steps from earlier. The arrays at the top represent your relational source. The reduction logic mirrors your embedding decision. The validator enforces governance. The indexes implement workload tuning. Saying that out loud cements the workflow: analyze, model, validate, index, test.</a:t>
            </a:r>
          </a:p>
          <a:p>
            <a:r>
              <a:t>If you want extra practice, duplicate the script and tweak it to simulate an incremental migration. For example, first run a version that only creates the referenced collection. Then gradually introduce embedding and compare performance. Taking that iterative approach will teach you how to plan phased rollouts in real projects.</a:t>
            </a:r>
          </a:p>
          <a:p>
            <a:r>
              <a:t>Carve out time today to rehearse narrating the script to yourself. Read a section aloud while executing the corresponding commands. Pay attention to your pacing, the emphasis you place on key fields, and the troubleshooting steps you mention. This rehearsal becomes your muscle memory during the badge exam when you are asked how to migrate data.</a:t>
            </a:r>
          </a:p>
          <a:p>
            <a:r>
              <a:t>Also, plan a validation failure on purpose. Change a quantity to zero, rerun the script, and observe the error. Practice explaining that error in plain language: 'MongoDB blocked the insert because the validator requires quantity to be at least one.' Getting comfortable with failure messages will make you sound confident when you present your final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the differentiator between a clever proof of concept and a production-ready database. On this slide I want to dig deep into each tool listed and show you how, as administrators, you wield them to keep your document models trustworthy.</a:t>
            </a:r>
          </a:p>
          <a:p>
            <a:r>
              <a:t>First up: `jsonSchema` validators. These allow you to express required fields, data types, regex patterns, and nested constraints. When you design a schema, you should always ask, 'What absolutely must be present for this document to be considered valid?' In our lab, we made sure every order has at least one item, that quantities are positive integers, and that loyalty tiers are among 'Silver', 'Gold', or 'Platinum'. Walk through your project in your head and identify the fields you would enforce. Maybe it's `status`, maybe it's `createdAt`. Write those down now.</a:t>
            </a:r>
          </a:p>
          <a:p>
            <a:r>
              <a:t>Second: schema version tagging. Add a `schemaVersion` field to your documents. Start at 1. When you change the document structure—say you embed delivery preferences or add a `paymentMethod` object—increment the version. Why? Because applications and migration scripts need to handle mixed versions gracefully. Without a version field, you are guessing which documents have the new shape. With a version field, you can query and transform with precision. In relational systems we version tables via migrations; here we version documents themselves.</a:t>
            </a:r>
          </a:p>
          <a:p>
            <a:r>
              <a:t>Third: `collMod`, the command for modifying collection options. This is your friend when you need to evolve validation rules or adjust settings without dropping data. Suppose you realize you forgot to enforce that `orders.metrics.subtotal` must be non-negative. You can issue `collMod` with an updated validator, and MongoDB will enforce it on new writes. Practice this command so you are comfortable tightening rules as your model matures.</a:t>
            </a:r>
          </a:p>
          <a:p>
            <a:r>
              <a:t>Fourth: automated audits. MongoDB Atlas offers triggers; you can also deploy scheduled scripts. The idea is to run periodic checks that ensure documents still align with expectations. Maybe you schedule a nightly job that queries for documents where `schemaVersion` is less than the current value, alerting the team to run migration scripts. Maybe you log when validation failures occur so you can trace rogue clients.</a:t>
            </a:r>
          </a:p>
          <a:p>
            <a:r>
              <a:t>A governance mindset also means planning for rollback and monitoring. If you tighten a validator and clients start failing, you need to know immediately. Use monitoring dashboards or even simple alerting scripts to track write errors, index usage, and document growth. Remember the CAP discussion: if you adjust validators in a distributed setup, coordinate the rollout to avoid surprise partitions.</a:t>
            </a:r>
          </a:p>
          <a:p>
            <a:r>
              <a:t>To make this practical, let's walk through a mini-scenario. Suppose your company adds a loyalty program tier called 'Diamond'. You need to update the validator to allow that value, bump the schema version, and communicate the change to the application team. Draft the steps you would take: run `collMod`, update the application code, deploy migrations if needed, monitor for errors. This disciplined approach prevents chaos when schemas evolve.</a:t>
            </a:r>
          </a:p>
          <a:p>
            <a:r>
              <a:t>Spend a minute jotting down which governance tool you have used before and which one is new. If `jsonSchema` is familiar but `collMod` is not, star `collMod` and commit to practicing it this week. Your badge exam will expect you to know when and why to enforce validation rules.</a:t>
            </a:r>
          </a:p>
          <a:p>
            <a:r>
              <a:t>Before we move on, turn to a partner and describe a time—or imagine a scenario—where lack of governance caused issues. Maybe it was duplicate keys sneaking into a collection, or a document missing a required field that broke reporting. Sharing these stories reinforces why governance matters.</a:t>
            </a:r>
          </a:p>
          <a:p>
            <a:r>
              <a:t>Next, we will look at the credential slide to connect these practices to the badge requirements. But pause here and ask a quick question if anything feels fuzzy. Governance is the backbone of reliable models, and we want no uncertainty before we move on.</a:t>
            </a:r>
          </a:p>
          <a:p>
            <a:r>
              <a:t>Two more governance tools deserve mention. Change streams allow you to react to document changes in real time. You can attach a change stream that watches for schema anomalies—maybe a document missing a required field—and trigger an alert. Atlas also supports Realm triggers that can enforce business rules immediately after writes. Mentioning these tools in meetings signals that you are thinking beyond static schemas.</a:t>
            </a:r>
          </a:p>
          <a:p>
            <a:r>
              <a:t>Also, governance includes documentation. Make sure every collection has a living README describing its schema, indexes, and data ownership. Store these documents alongside your infrastructure code. When auditors ask who is responsible for a collection, you can answer confidently. The badge may not ask about documentation explicitly, but employers will.</a:t>
            </a:r>
          </a:p>
          <a:p>
            <a:r>
              <a:t>Remember that governance is not a one-time setup. Schedule recurring reviews—maybe quarterly—where you audit validators, review index usage stats, and ensure schema versions align with application releases. Create a checklist now so future you can execute it without reinventing the process. This level of rigor is what hiring managers look for when they ask about database governance.</a:t>
            </a:r>
          </a:p>
          <a:p>
            <a:r>
              <a:t>Finally, think about disaster recovery scenarios. If a bad deploy introduces malformed documents, how quickly can you detect and remediate them? Document a playbook that references your validators, change streams, and backups. Share that playbook with your teammates. Resilience is a collective effort.</a:t>
            </a:r>
          </a:p>
          <a:p>
            <a:r>
              <a:t>Before you leave this slide, circle the governance tool you will learn more about tonight. Saying it out loud—'I will master change streams' or 'I will document our validators'—locks in your commitment. Governance is the unsung hero of database administration; give it the attention it deserves.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your credential. Earning the Relational to Document Model badge is not busywork—it signals to employers that you can adapt relational thinking to a modern document-first mindset. I will give you the elevator pitch you can use when you talk to recruiters, and I will walk you through the course structure so you know exactly what to expect.</a:t>
            </a:r>
          </a:p>
          <a:p>
            <a:r>
              <a:t>The badge is issued through Credly, which means you can add it to LinkedIn and your resume instantly. When someone clicks the badge, they see verified evidence that you completed a skill check covering modeling methodology, relationships, validation, and workload mapping. Imagine being in an interview and saying, 'Yes, I redesigned our order management schema in MongoDB, and here's a badge from MongoDB University that confirms my capability.' That is the posture we want for you.</a:t>
            </a:r>
          </a:p>
          <a:p>
            <a:r>
              <a:t>The MongoDB University course is self-paced and about 1.25 hours of core content, but plan for more time because you will pause, replay, and replicate the labs. The modules align with today's themes: moving from tables to documents, modeling one-to-one and one-to-many relationships, handling many-to-many designs, and enforcing schema validation. Each module ends with a knowledge check. The final skill check is scenario-based; expect questions like, 'Given this workload, should we embed or reference?' or 'How would you design validation rules for this document?'</a:t>
            </a:r>
          </a:p>
          <a:p>
            <a:r>
              <a:t>I strongly recommend you watch the videos with the transcript open and take notes in the same notebook you are using right now. Cross-reference the slides and script from today so concepts reinforce each other. After each module, run the labs in your own Atlas cluster. Do not just watch the instructor click through—type the commands, inspect the results, and intentionally break something to see the error messages.</a:t>
            </a:r>
          </a:p>
          <a:p>
            <a:r>
              <a:t>When you reach the skill check, treat it like a professional certification. Find a quiet space, block 45 minutes, and take it seriously. If you don't pass on the first attempt, reflect on which questions stumped you and revisit those modules. The goal is mastery, not speed.</a:t>
            </a:r>
          </a:p>
          <a:p>
            <a:r>
              <a:t>Once you pass, you'll receive a digital certificate and a badge on your MongoDB University dashboard as well as in Credly. Screenshot the completion screen with your name and the badge clearly visible. That screenshot is the only artifact we require for the assignment. We'll also ask for a short reflection on how you applied the concepts to your project, but the screenshot is the proof of completion.</a:t>
            </a:r>
          </a:p>
          <a:p>
            <a:r>
              <a:t>Before we move to the timeline slide, take a moment to identify any obstacles that might prevent you from finishing the badge on time. Maybe it's a heavy work week, maybe it's unfamiliar tooling. Write those obstacles down and next to each one jot a mitigation plan. For example, 'Busy work week—schedule badge study sessions on Saturday morning.' When you plan proactively, the badge becomes a manageable goal instead of a last-minute scramble.</a:t>
            </a:r>
          </a:p>
          <a:p>
            <a:r>
              <a:t>One more thought: share your progress publicly. Post in our Brightspace discussion when you finish a module. Celebrate small wins. Community accountability will keep you on track. If you learn a trick or stumble on a confusing lab step, document it for the group. Teaching others is the fastest way to solidify your own understanding.</a:t>
            </a:r>
          </a:p>
          <a:p>
            <a:r>
              <a:t>With that enthusiasm in mind, let's look at how we will pace the work week by week.</a:t>
            </a:r>
          </a:p>
          <a:p>
            <a:r>
              <a:t>Let me demystify the skill check format a bit more. You will see roughly twenty multiple-choice questions, each framed as a scenario. Some include short code snippets or JSON documents. Others ask you to choose the best modeling approach given constraints. There may also be drag-and-drop sequences where you order steps in a migration plan. Knowing this upfront lets you study strategically.</a:t>
            </a:r>
          </a:p>
          <a:p>
            <a:r>
              <a:t>Create a study calendar tonight. Assign specific modules to specific days. When you finish a segment, reward yourself. The badge journey should feel motivating, not exhausting. And remember, once you have the badge, you can reference it in future job applications and performance reviews. It is a lasting credential.</a:t>
            </a:r>
          </a:p>
          <a:p>
            <a:r>
              <a:t>Another benefit of the badge: it opens the door to higher-level MongoDB certifications down the line. If you enjoy this process, the Associate DBA or Developer certifications become attainable next steps. Mentioning that trajectory in performance reviews shows initiative. So while you focus on this badge, keep an eye on the broader certification roadmap.</a:t>
            </a:r>
          </a:p>
          <a:p>
            <a:r>
              <a:t>When you talk to employers or mentors about the badge, frame it as a bridge between theory and practice. Explain that it required you to assess workloads, choose modeling strategies, and justify trade-offs—all skills that translate directly to industry roles.</a:t>
            </a:r>
          </a:p>
          <a:p>
            <a:r>
              <a:t>Let me share a sample study script. Begin each module by previewing the learning objectives. Pause the video whenever a new diagram appears and redraw it in your notes. After the lab demonstrations, replicate them immediately. Then, close the video and try to explain the concept without looking. If you stumble, rewind and review. This deliberate practice locks the knowledge in long-term memory and prepares you for the scenario-based questions.</a:t>
            </a:r>
          </a:p>
          <a:p>
            <a:r>
              <a:t>Set a personal benchmark for success. Maybe you aim to score at least 85 percent on the skill check. Having a numeric goal makes your preparation purposeful. If your practice quizzes fall short, analyze which topic you misunderstood—was it schema validation syntax, or did you misread a workload description? Focus your review accordingly.</a:t>
            </a:r>
          </a:p>
          <a:p>
            <a:r>
              <a:t>Finally, line up your support network. Identify one classmate to check in with every few days, and let a friend or family member know you are pursuing the badge so they can encourage you. Learning is social. Even when the assessment is individual, a supportive environment makes a difference.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get concrete about timing. This slide lays out how we will pace badge completion and the related deliverables over the next month. I will narrate each week and explain what 'done' looks like so there are no surprises.</a:t>
            </a:r>
          </a:p>
          <a:p>
            <a:r>
              <a:t>Week 10—this week. Your job is to enroll in the MongoDB course, finish Module 1, and replicate the class lab with your own tweaks. That means editing `relational_to_document_lab.js` so it reflects a slice of your project. Maybe you swap the sample data for your own domain, adjust validators, and rerun the aggregations. Capture screenshots or notes so you can refer back to them when studying for the skill check.</a:t>
            </a:r>
          </a:p>
          <a:p>
            <a:r>
              <a:t>Week 11. By our next session, complete the remaining modules in the MongoDB course. That typically includes sections on modeling different relationship types and practicing schema validation. While you watch, document how each concept maps to your project. For example, jot down 'Use referencing for support tickets; embed recent comments for quick reads.' This documentation will feed directly into your final project write-up.</a:t>
            </a:r>
          </a:p>
          <a:p>
            <a:r>
              <a:t>Week 12. This is when you sit for the skill check. Schedule it early in the week to give yourself buffer time in case you need a second attempt. Once you pass, immediately capture the completion screenshot. Upload it to Brightspace even if the assignment due date is later—you want that proof locked in. Begin drafting a short reflection on how the badge content influenced your modeling decisions. Outline talking points you can bring to office hours if you hit snags.</a:t>
            </a:r>
          </a:p>
          <a:p>
            <a:r>
              <a:t>Week 13. Integrate badge insights into your final project artifact. That could mean embedding the screenshot in an appendix, referencing specific modeling patterns you adopted, or citing the badge in your executive summary. The point is to show evaluators that your work is backed by verifiable training.</a:t>
            </a:r>
          </a:p>
          <a:p>
            <a:r>
              <a:t>As you listen, write down the exact day you plan to take the skill check. Commit to a concrete date, not just 'sometime in Week 12.' Share that date with a classmate or drop it in the discussion board for accountability. Also, note when you will do your lab customizations and when you'll post questions. This timeline is generous if you start now; it becomes brutal if you procrastinate.</a:t>
            </a:r>
          </a:p>
          <a:p>
            <a:r>
              <a:t>For students balancing work, family, and other classes, here is a suggested cadence: spend 30 minutes tonight enrolling and scanning Module 1. Set aside two one-hour blocks next week to tackle the remaining modules. Reserve a 45-minute block in Week 12 for the skill check. Use office hours or the discussion board as checkpoints. If you fall behind, let me know immediately so we can create a catch-up plan.</a:t>
            </a:r>
          </a:p>
          <a:p>
            <a:r>
              <a:t>Remember, your grade is not just about passing the skill check. It is about demonstrating deliberate practice. Document your progress, reflect on your design choices, and bring questions to class. That process will make your final project stronger.</a:t>
            </a:r>
          </a:p>
          <a:p>
            <a:r>
              <a:t>With the timeline clear, let's spell out the immediate action items so you leave class knowing exactly what to do tonight.</a:t>
            </a:r>
          </a:p>
          <a:p>
            <a:r>
              <a:t>If you anticipate travel, exams in other classes, or major deadlines at work, block time now for the badge. Think in terms of risk management. Ask yourself, 'What could derail my plan?' Then write a mitigation next to it. Maybe you pre-record office hour questions or schedule a backup study session with a classmate. Treat this timeline like a project plan—you are the project manager.</a:t>
            </a:r>
          </a:p>
          <a:p>
            <a:r>
              <a:t>For accountability, I will ask for a quick pulse check at the start of Week 11. Be ready to report which module you completed and whether you have booked your skill check. That mini-standup keeps everyone honest and mirrors agile ceremonies many of you will encounter in industry.</a:t>
            </a:r>
          </a:p>
          <a:p>
            <a:r>
              <a:t>Keep in mind that the timeline is flexible enough to accommodate iterative feedback. If you complete Module 1 and realize your project approach needs adjustment, schedule a quick check-in with me before Week 11. Early pivot beats late panic. Build that reflection loop into your plan—after each study session, jot down what went well and what still feels murky.</a:t>
            </a:r>
          </a:p>
          <a:p>
            <a:r>
              <a:t>Also, layer the badge work with your final project milestones. When you learn a modeling pattern in the course, immediately apply it to your project draft. This dual use of your time makes the workload lighter and the learning stickier. Integrated work beats siloed tasks.</a:t>
            </a:r>
          </a:p>
          <a:p>
            <a:r>
              <a:t>Outline your weekly commitments right now: list class sessions, work shifts, family obligations, and downtime. Next to that list, pencil in badge work. Even fifteen-minute bursts can be effective if you plan them. Treat those blocks as non-negotiable appointments with your future self.</a:t>
            </a:r>
          </a:p>
          <a:p>
            <a:r>
              <a:t>Build contingency plans. If you miss a session, when will you make it up? If a technical issue blocks you, who will you contact? Capture those answers now. Resilience is built through preparation, not improvisation.</a:t>
            </a:r>
          </a:p>
          <a:p>
            <a:r>
              <a:t>As soon as we finish class, take two minutes to review this timeline slide and rewrite it in your own words in your notebook. Translating the plan into your voice makes it easier to follow.</a:t>
            </a:r>
          </a:p>
          <a:p>
            <a:r>
              <a:t>One practical technique: after each week, email yourself a short summary of what you accomplished toward the badge. The act of writing reinforces retention and creates a timestamped trail of progress. Those emails become useful evidence if you ever need to demonstrate continuous learning to an employer or scholarship committee.</a:t>
            </a:r>
          </a:p>
          <a:p>
            <a:r>
              <a:t>Also schedule reflection checkpoints. On Sunday evenings, ask yourself three questions: What did I learn? Where did I get stuck? What is my first action on Monday? Answering those questions keeps the momentum alive and prevents the badge from becoming an abstract someday project.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clear marching orders. I am going to read each action item slowly and give you concrete examples so you can begin the work as soon as class ends.</a:t>
            </a:r>
          </a:p>
          <a:p>
            <a:r>
              <a:t>Action item one: customize the lab script before next class. Open `week_10/relational_to_document_lab.js`, replace the sample domain with one from your project, and rerun it against your Atlas sandbox. If your project is a university registration system, swap in students, courses, and enrollments. If it's an e-commerce platform, use your actual product categories. After running the script, verify the embedded and referenced collections and rerun the aggregations. Capture the output so you can compare later when you adjust indexes. When you hit friction, note it—those notes will feed your reflection and inform your badge study sessions.</a:t>
            </a:r>
          </a:p>
          <a:p>
            <a:r>
              <a:t>Action item two: drop your badge questions where the community can help—either in the Brightspace discussion thread or during office hours. Do not stew on confusion alone. If you are unsure about a modeling pattern, post a snippet of your schema and ask for feedback. The badge course has forums too; use them. Collaboration accelerates learning, and you will encounter fewer roadblocks if you speak up early.</a:t>
            </a:r>
          </a:p>
          <a:p>
            <a:r>
              <a:t>Action item three: bring one workload that still feels 'too relational' to our next check-in. Maybe it's a report that relies on a heavy join chain, or a transaction that touches multiple tables with strict constraints. Write down the workload description tonight. Next week we will workshop it together and decide whether to embed, reference, or even leave it in a relational system. This exercise will sharpen your instincts and help you articulate trade-offs in your final project presentation.</a:t>
            </a:r>
          </a:p>
          <a:p>
            <a:r>
              <a:t>Bonus action item: schedule your skill check. Open your calendar right now, pick a date in Week 12, and mark it with an alert. If you make it real on the calendar, you reduce the chance of pushing it off until finals week.</a:t>
            </a:r>
          </a:p>
          <a:p>
            <a:r>
              <a:t>As you pack up after class, do not wait to enroll in the badge course. Open the link, click enroll, and bookmark the dashboard. Momentum matters. Your future self will thank you for starting today.</a:t>
            </a:r>
          </a:p>
          <a:p>
            <a:r>
              <a:t>Alright, that's our roadmap. Let's circle back to any questions, then transition into the hands-on portion so you can start customizing that script while the concepts are fresh. Remember: the badge is not optional, but your preparation today makes it absolutely achievable.</a:t>
            </a:r>
          </a:p>
          <a:p>
            <a:r>
              <a:t>Here is a conversational script you can use when you reach out for help: 'Hey team, I'm customizing the MongoDB lab and I'm deciding whether to embed our analytics snapshots. Here's the structure I'm considering—what do you think?' Practicing that language now makes it easier to ask for assistance later. The badge community is friendly; take advantage of it.</a:t>
            </a:r>
          </a:p>
          <a:p>
            <a:r>
              <a:t>As you close your notebook, read your action items out loud. Hearing your own voice commit to the tasks reinforces accountability. Then, before you stand up, check that you have captured the date for the skill check and any partner names for the relational workload exercise. We are finished with the lecture portion—take a quick stretch, reset your screens, and get ready for the hands-on work.</a:t>
            </a:r>
          </a:p>
          <a:p>
            <a:r>
              <a:t>One last encouragement: celebrate incremental progress. When you finish customizing the lab, post a screenshot. When you book the skill check, tell a friend. When you pass, share the badge. Positive reinforcement keeps momentum high, especially in the middle of the semester when energy dips.</a:t>
            </a:r>
          </a:p>
          <a:p>
            <a:r>
              <a:t>Now take a deep breath, close your eyes for five seconds, and visualize yourself presenting a polished MongoDB model backed by a fresh credential. Open your eyes, smile, and let us switch into the lab portion with purpose.</a:t>
            </a:r>
          </a:p>
          <a:p>
            <a:r>
              <a:t>I will stay in the room during the lab portion, so flag me down with any obstacles. Remember, struggling in the lab today is far better than struggling alone the night before the badge deadline. Use this time to surface every question, from connection string quirks to validator syntax. No question is too small.</a:t>
            </a:r>
          </a:p>
          <a:p>
            <a:r>
              <a:t>When you leave class, give yourself a quick win: enroll in the badge course before you walk out the door. That single action shifts you from intention to execution. Momentum, even small, beats perfection.</a:t>
            </a:r>
          </a:p>
          <a:p>
            <a:r>
              <a:t>Before we switch into hands-on mode, let's rehearse the transition. I will say, 'Open the lab script now,' and you will respond by opening your editor, connecting to your Atlas cluster, and running the initial insert. Keep your notes open beside your terminal so you can cross-reference the talking points we rehearsed. If you want to record the session for later review, press record on your device once we start.</a:t>
            </a:r>
          </a:p>
          <a:p>
            <a:r>
              <a:t>Finally, thank yourself for showing up ready to work. This is a demanding course, and you are investing in skills that employers crave. Say quietly, 'I can do this.' Then let's dive into the lab together.</a:t>
            </a:r>
          </a:p>
          <a:p>
            <a:r>
              <a:t>As we begin, take one more glance at the title of your action list. Underline it twice. That simple act tells your brain this matters. Then give a thumbs up to your neighbor—we are in this together. Alright, laptops up, mongosh ready, let's execute.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Week 10 — Relational → Document Modeling</a:t>
            </a:r>
          </a:p>
        </p:txBody>
      </p:sp>
      <p:sp>
        <p:nvSpPr>
          <p:cNvPr id="3" name="Subtitle 2"/>
          <p:cNvSpPr>
            <a:spLocks noGrp="1"/>
          </p:cNvSpPr>
          <p:nvPr>
            <p:ph type="subTitle" idx="1"/>
          </p:nvPr>
        </p:nvSpPr>
        <p:spPr/>
        <p:txBody>
          <a:bodyPr/>
          <a:lstStyle/>
          <a:p>
            <a:r>
              <a:t>CST4714 Database Administration | MongoDB Skill Badge Launch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Bridge from Week 9</a:t>
            </a:r>
          </a:p>
        </p:txBody>
      </p:sp>
      <p:sp>
        <p:nvSpPr>
          <p:cNvPr id="3" name="Content Placeholder 2"/>
          <p:cNvSpPr>
            <a:spLocks noGrp="1"/>
          </p:cNvSpPr>
          <p:nvPr>
            <p:ph idx="1"/>
          </p:nvPr>
        </p:nvSpPr>
        <p:spPr/>
        <p:txBody>
          <a:bodyPr/>
          <a:lstStyle/>
          <a:p>
            <a:pPr>
              <a:defRPr sz="1800"/>
            </a:pPr>
            <a:r>
              <a:t>Carry forward last week's takeaways:</a:t>
            </a:r>
          </a:p>
          <a:p>
            <a:pPr lvl="1"/>
            <a:r>
              <a:t>CAP trade-offs guide when denormalizing is safe.</a:t>
            </a:r>
          </a:p>
          <a:p>
            <a:pPr lvl="1"/>
            <a:r>
              <a:t>Atlas automation scripts reminded us how to seed and govern data.</a:t>
            </a:r>
          </a:p>
          <a:p>
            <a:pPr lvl="1"/>
            <a:r>
              <a:t>Consistency lab explained read/write concerns we must respect.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MongoDB Modeling Methodology</a:t>
            </a:r>
          </a:p>
        </p:txBody>
      </p:sp>
      <p:sp>
        <p:nvSpPr>
          <p:cNvPr id="3" name="Content Placeholder 2"/>
          <p:cNvSpPr>
            <a:spLocks noGrp="1"/>
          </p:cNvSpPr>
          <p:nvPr>
            <p:ph idx="1"/>
          </p:nvPr>
        </p:nvSpPr>
        <p:spPr/>
        <p:txBody>
          <a:bodyPr/>
          <a:lstStyle/>
          <a:p>
            <a:r>
              <a:t>Profile workload actors (readers, writers, automation).</a:t>
            </a:r>
          </a:p>
          <a:p>
            <a:r>
              <a:t>List application queries: fields, filters, frequency, SLAs.</a:t>
            </a:r>
          </a:p>
          <a:p>
            <a:r>
              <a:t>Choose embedding vs referencing for each relationship.</a:t>
            </a:r>
          </a:p>
          <a:p>
            <a:r>
              <a:t>Design indexes and access patterns together.</a:t>
            </a:r>
          </a:p>
          <a:p>
            <a:r>
              <a:t>Plan governance: validation, migrations, schema versioning.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vs Referencing</a:t>
            </a:r>
          </a:p>
        </p:txBody>
      </p:sp>
      <p:graphicFrame>
        <p:nvGraphicFramePr>
          <p:cNvPr id="3" name="Table 2"/>
          <p:cNvGraphicFramePr>
            <a:graphicFrameLocks noGrp="1"/>
          </p:cNvGraphicFramePr>
          <p:nvPr/>
        </p:nvGraphicFramePr>
        <p:xfrm>
          <a:off x="457200" y="1371600"/>
          <a:ext cx="8229600" cy="3200400"/>
        </p:xfrm>
        <a:graphic>
          <a:graphicData uri="http://schemas.openxmlformats.org/drawingml/2006/table">
            <a:tbl>
              <a:tblPr firstRow="1" bandRow="1">
                <a:tableStyleId>{5C22544A-7EE6-4342-B048-85BDC9FD1C3A}</a:tableStyleId>
              </a:tblPr>
              <a:tblGrid>
                <a:gridCol w="2743200"/>
                <a:gridCol w="2743200"/>
                <a:gridCol w="2743200"/>
              </a:tblGrid>
              <a:tr h="640080">
                <a:tc>
                  <a:txBody>
                    <a:bodyPr/>
                    <a:lstStyle/>
                    <a:p>
                      <a:pPr>
                        <a:defRPr b="1"/>
                      </a:pPr>
                      <a:r>
                        <a:t>Scenario</a:t>
                      </a:r>
                    </a:p>
                  </a:txBody>
                  <a:tcPr/>
                </a:tc>
                <a:tc>
                  <a:txBody>
                    <a:bodyPr/>
                    <a:lstStyle/>
                    <a:p>
                      <a:pPr>
                        <a:defRPr b="1"/>
                      </a:pPr>
                      <a:r>
                        <a:t>Embed Lean</a:t>
                      </a:r>
                    </a:p>
                  </a:txBody>
                  <a:tcPr/>
                </a:tc>
                <a:tc>
                  <a:txBody>
                    <a:bodyPr/>
                    <a:lstStyle/>
                    <a:p>
                      <a:pPr>
                        <a:defRPr b="1"/>
                      </a:pPr>
                      <a:r>
                        <a:t>Reference Lean</a:t>
                      </a:r>
                    </a:p>
                  </a:txBody>
                  <a:tcPr/>
                </a:tc>
              </a:tr>
              <a:tr h="640080">
                <a:tc>
                  <a:txBody>
                    <a:bodyPr/>
                    <a:lstStyle/>
                    <a:p>
                      <a:r>
                        <a:t>High-read aggregates</a:t>
                      </a:r>
                    </a:p>
                  </a:txBody>
                  <a:tcPr/>
                </a:tc>
                <a:tc>
                  <a:txBody>
                    <a:bodyPr/>
                    <a:lstStyle/>
                    <a:p>
                      <a:r>
                        <a:t>Embed to keep data read together in the same document.</a:t>
                      </a:r>
                    </a:p>
                  </a:txBody>
                  <a:tcPr/>
                </a:tc>
                <a:tc>
                  <a:txBody>
                    <a:bodyPr/>
                    <a:lstStyle/>
                    <a:p>
                      <a:r>
                        <a:t>$lookup every time adds latency.</a:t>
                      </a:r>
                    </a:p>
                  </a:txBody>
                  <a:tcPr/>
                </a:tc>
              </a:tr>
              <a:tr h="640080">
                <a:tc>
                  <a:txBody>
                    <a:bodyPr/>
                    <a:lstStyle/>
                    <a:p>
                      <a:r>
                        <a:t>Volatile child entities</a:t>
                      </a:r>
                    </a:p>
                  </a:txBody>
                  <a:tcPr/>
                </a:tc>
                <a:tc>
                  <a:txBody>
                    <a:bodyPr/>
                    <a:lstStyle/>
                    <a:p>
                      <a:r>
                        <a:t>Embedding causes rewrites and potential doc bloat.</a:t>
                      </a:r>
                    </a:p>
                  </a:txBody>
                  <a:tcPr/>
                </a:tc>
                <a:tc>
                  <a:txBody>
                    <a:bodyPr/>
                    <a:lstStyle/>
                    <a:p>
                      <a:r>
                        <a:t>Reference so children evolve independently.</a:t>
                      </a:r>
                    </a:p>
                  </a:txBody>
                  <a:tcPr/>
                </a:tc>
              </a:tr>
              <a:tr h="640080">
                <a:tc>
                  <a:txBody>
                    <a:bodyPr/>
                    <a:lstStyle/>
                    <a:p>
                      <a:r>
                        <a:t>N:M intersections</a:t>
                      </a:r>
                    </a:p>
                  </a:txBody>
                  <a:tcPr/>
                </a:tc>
                <a:tc>
                  <a:txBody>
                    <a:bodyPr/>
                    <a:lstStyle/>
                    <a:p>
                      <a:r>
                        <a:t>Embed summary lists for quick lookups.</a:t>
                      </a:r>
                    </a:p>
                  </a:txBody>
                  <a:tcPr/>
                </a:tc>
                <a:tc>
                  <a:txBody>
                    <a:bodyPr/>
                    <a:lstStyle/>
                    <a:p>
                      <a:r>
                        <a:t>Reference full intersection rows for detail queries.</a:t>
                      </a:r>
                    </a:p>
                  </a:txBody>
                  <a:tcPr/>
                </a:tc>
              </a:tr>
              <a:tr h="640080">
                <a:tc>
                  <a:txBody>
                    <a:bodyPr/>
                    <a:lstStyle/>
                    <a:p>
                      <a:r>
                        <a:t>Audit/compliance</a:t>
                      </a:r>
                    </a:p>
                  </a:txBody>
                  <a:tcPr/>
                </a:tc>
                <a:tc>
                  <a:txBody>
                    <a:bodyPr/>
                    <a:lstStyle/>
                    <a:p>
                      <a:r>
                        <a:t>Embed snapshots when size is manageable.</a:t>
                      </a:r>
                    </a:p>
                  </a:txBody>
                  <a:tcPr/>
                </a:tc>
                <a:tc>
                  <a:txBody>
                    <a:bodyPr/>
                    <a:lstStyle/>
                    <a:p>
                      <a:r>
                        <a:t>Reference immutable audit collections for retention.</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SQL → MongoDB Query Shape</a:t>
            </a:r>
          </a:p>
        </p:txBody>
      </p:sp>
      <p:sp>
        <p:nvSpPr>
          <p:cNvPr id="3" name="TextBox 2"/>
          <p:cNvSpPr txBox="1"/>
          <p:nvPr/>
        </p:nvSpPr>
        <p:spPr>
          <a:xfrm>
            <a:off x="457200" y="1280160"/>
            <a:ext cx="8229600" cy="457200"/>
          </a:xfrm>
          <a:prstGeom prst="rect">
            <a:avLst/>
          </a:prstGeom>
          <a:noFill/>
        </p:spPr>
        <p:txBody>
          <a:bodyPr wrap="none">
            <a:spAutoFit/>
          </a:bodyPr>
          <a:lstStyle/>
          <a:p>
            <a:pPr>
              <a:defRPr sz="1600" b="1"/>
            </a:pPr>
            <a:r>
              <a:t>Relational aggregate vs equivalent aggregation pipeline</a:t>
            </a:r>
          </a:p>
        </p:txBody>
      </p:sp>
      <p:sp>
        <p:nvSpPr>
          <p:cNvPr id="4" name="TextBox 3"/>
          <p:cNvSpPr txBox="1"/>
          <p:nvPr/>
        </p:nvSpPr>
        <p:spPr>
          <a:xfrm>
            <a:off x="457200" y="1828800"/>
            <a:ext cx="4023360" cy="2926080"/>
          </a:xfrm>
          <a:prstGeom prst="rect">
            <a:avLst/>
          </a:prstGeom>
          <a:noFill/>
        </p:spPr>
        <p:txBody>
          <a:bodyPr wrap="none">
            <a:spAutoFit/>
          </a:bodyPr>
          <a:lstStyle/>
          <a:p>
            <a:pPr>
              <a:defRPr sz="1200">
                <a:latin typeface="Consolas"/>
              </a:defRPr>
            </a:pPr>
            <a:r>
              <a:t>SELECT c.customer_id, SUM(oi.quantity * oi.unit_price) AS total</a:t>
            </a:r>
          </a:p>
          <a:p>
            <a:pPr>
              <a:defRPr sz="1200">
                <a:latin typeface="Consolas"/>
              </a:defRPr>
            </a:pPr>
            <a:r>
              <a:t>FROM customers c</a:t>
            </a:r>
          </a:p>
          <a:p>
            <a:pPr>
              <a:defRPr sz="1200">
                <a:latin typeface="Consolas"/>
              </a:defRPr>
            </a:pPr>
            <a:r>
              <a:t>JOIN orders o ON c.customer_id = o.customer_id</a:t>
            </a:r>
          </a:p>
          <a:p>
            <a:pPr>
              <a:defRPr sz="1200">
                <a:latin typeface="Consolas"/>
              </a:defRPr>
            </a:pPr>
            <a:r>
              <a:t>JOIN order_items oi ON o.order_id = oi.order_id</a:t>
            </a:r>
          </a:p>
          <a:p>
            <a:pPr>
              <a:defRPr sz="1200">
                <a:latin typeface="Consolas"/>
              </a:defRPr>
            </a:pPr>
            <a:r>
              <a:t>WHERE o.order_date &gt;= CURRENT_DATE - INTERVAL '30 days'</a:t>
            </a:r>
          </a:p>
          <a:p>
            <a:pPr>
              <a:defRPr sz="1200">
                <a:latin typeface="Consolas"/>
              </a:defRPr>
            </a:pPr>
            <a:r>
              <a:t>GROUP BY c.customer_id;</a:t>
            </a:r>
          </a:p>
        </p:txBody>
      </p:sp>
      <p:sp>
        <p:nvSpPr>
          <p:cNvPr id="5" name="TextBox 4"/>
          <p:cNvSpPr txBox="1"/>
          <p:nvPr/>
        </p:nvSpPr>
        <p:spPr>
          <a:xfrm>
            <a:off x="4663440" y="1828800"/>
            <a:ext cx="4023360" cy="2926080"/>
          </a:xfrm>
          <a:prstGeom prst="rect">
            <a:avLst/>
          </a:prstGeom>
          <a:noFill/>
        </p:spPr>
        <p:txBody>
          <a:bodyPr wrap="none">
            <a:spAutoFit/>
          </a:bodyPr>
          <a:lstStyle/>
          <a:p>
            <a:pPr>
              <a:defRPr sz="1200">
                <a:latin typeface="Consolas"/>
              </a:defRPr>
            </a:pPr>
            <a:r>
              <a:t>db.customers.aggregate([</a:t>
            </a:r>
          </a:p>
          <a:p>
            <a:pPr>
              <a:defRPr sz="1200">
                <a:latin typeface="Consolas"/>
              </a:defRPr>
            </a:pPr>
            <a:r>
              <a:t>  {$unwind: '$orders'},</a:t>
            </a:r>
          </a:p>
          <a:p>
            <a:pPr>
              <a:defRPr sz="1200">
                <a:latin typeface="Consolas"/>
              </a:defRPr>
            </a:pPr>
            <a:r>
              <a:t>  {$match: {'orders.orderDate': {$gte: ISODate('2025-02-01')}}},</a:t>
            </a:r>
          </a:p>
          <a:p>
            <a:pPr>
              <a:defRPr sz="1200">
                <a:latin typeface="Consolas"/>
              </a:defRPr>
            </a:pPr>
            <a:r>
              <a:t>  {$group: {_id: '$_id', total: {$sum: '$orders.metrics.subtotal'}}}</a:t>
            </a:r>
          </a:p>
          <a:p>
            <a:pPr>
              <a:defRPr sz="1200">
                <a:latin typeface="Consolas"/>
              </a:defRPr>
            </a:pP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Focus</a:t>
            </a:r>
          </a:p>
        </p:txBody>
      </p:sp>
      <p:sp>
        <p:nvSpPr>
          <p:cNvPr id="3" name="TextBox 2"/>
          <p:cNvSpPr txBox="1"/>
          <p:nvPr/>
        </p:nvSpPr>
        <p:spPr>
          <a:xfrm>
            <a:off x="457200" y="1463040"/>
            <a:ext cx="8229600" cy="3383280"/>
          </a:xfrm>
          <a:prstGeom prst="rect">
            <a:avLst/>
          </a:prstGeom>
          <a:noFill/>
        </p:spPr>
        <p:txBody>
          <a:bodyPr wrap="none">
            <a:spAutoFit/>
          </a:bodyPr>
          <a:lstStyle/>
          <a:p>
            <a:pPr>
              <a:defRPr sz="1400" b="1">
                <a:latin typeface="Consolas"/>
              </a:defRPr>
            </a:pPr>
            <a:r>
              <a:t>Run: mongosh 'mongodb+srv://&lt;cluster&gt;/&lt;db&gt;' --username &lt;user&gt; --file week_10/relational_to_document_lab.js</a:t>
            </a:r>
          </a:p>
          <a:p>
            <a:pPr lvl="1"/>
            <a:r>
              <a:t>Seed embedded customers with order history for read-heavy workloads.</a:t>
            </a:r>
          </a:p>
          <a:p>
            <a:pPr lvl="1"/>
            <a:r>
              <a:t>Build a referenced `orders_unfolded` view to compare access paths.</a:t>
            </a:r>
          </a:p>
          <a:p>
            <a:pPr lvl="1"/>
            <a:r>
              <a:t>Experiment with `$lookup` and `$unwind` to rebuild relational perspectives.</a:t>
            </a:r>
          </a:p>
          <a:p>
            <a:pPr lvl="1"/>
            <a:r>
              <a:t>Adjust sample arrays to mirror your own schema before the assignment.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Schema Governance Toolkit</a:t>
            </a:r>
          </a:p>
        </p:txBody>
      </p:sp>
      <p:sp>
        <p:nvSpPr>
          <p:cNvPr id="3" name="Content Placeholder 2"/>
          <p:cNvSpPr>
            <a:spLocks noGrp="1"/>
          </p:cNvSpPr>
          <p:nvPr>
            <p:ph idx="1"/>
          </p:nvPr>
        </p:nvSpPr>
        <p:spPr/>
        <p:txBody>
          <a:bodyPr/>
          <a:lstStyle/>
          <a:p>
            <a:r>
              <a:t>jsonSchema validators with required fields, enums, and numeric bounds.</a:t>
            </a:r>
          </a:p>
          <a:p>
            <a:r>
              <a:t>Schema version tagging to coordinate application releases.</a:t>
            </a:r>
          </a:p>
          <a:p>
            <a:r>
              <a:t>collMod for tightening rules without downtime.</a:t>
            </a:r>
          </a:p>
          <a:p>
            <a:r>
              <a:t>Automated audits via scripts, triggers, or scheduled pipelines.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Relational to Document Model Skill Badge</a:t>
            </a:r>
          </a:p>
        </p:txBody>
      </p:sp>
      <p:sp>
        <p:nvSpPr>
          <p:cNvPr id="3" name="Content Placeholder 2"/>
          <p:cNvSpPr>
            <a:spLocks noGrp="1"/>
          </p:cNvSpPr>
          <p:nvPr>
            <p:ph idx="1"/>
          </p:nvPr>
        </p:nvSpPr>
        <p:spPr/>
        <p:txBody>
          <a:bodyPr/>
          <a:lstStyle/>
          <a:p>
            <a:r>
              <a:t>Credly badge verifying SQL-to-MongoDB modeling skills.</a:t>
            </a:r>
          </a:p>
          <a:p>
            <a:r>
              <a:t>Labs cover relationships, validation, and workload mapping.</a:t>
            </a:r>
          </a:p>
          <a:p>
            <a:r>
              <a:t>Skill check mirrors real design trade-offs and terminology.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Timeline &amp; Deliverables</a:t>
            </a:r>
          </a:p>
        </p:txBody>
      </p:sp>
      <p:sp>
        <p:nvSpPr>
          <p:cNvPr id="3" name="Content Placeholder 2"/>
          <p:cNvSpPr>
            <a:spLocks noGrp="1"/>
          </p:cNvSpPr>
          <p:nvPr>
            <p:ph idx="1"/>
          </p:nvPr>
        </p:nvSpPr>
        <p:spPr/>
        <p:txBody>
          <a:bodyPr/>
          <a:lstStyle/>
          <a:p>
            <a:r>
              <a:t>Week 10: Enroll, finish Module 1, replicate class lab with edits.</a:t>
            </a:r>
          </a:p>
          <a:p>
            <a:r>
              <a:t>Week 11: Complete course content, document schema comparisons.</a:t>
            </a:r>
          </a:p>
          <a:p>
            <a:r>
              <a:t>Week 12: Take the skill check, capture certificate screenshot.</a:t>
            </a:r>
          </a:p>
          <a:p>
            <a:r>
              <a:t>Week 13: Reference badge insights in your final project.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Customize the lab script with your dataset before next class.</a:t>
            </a:r>
          </a:p>
          <a:p>
            <a:r>
              <a:t>Drop badge questions in the discussion thread or office hours.</a:t>
            </a:r>
          </a:p>
          <a:p>
            <a:r>
              <a:t>Bring one “still relational” workload to discuss during check-ins.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