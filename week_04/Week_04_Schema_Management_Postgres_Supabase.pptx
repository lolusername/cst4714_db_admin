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Week 4. Today we move from basic database structures into schema management discipline.</a:t>
            </a:r>
          </a:p>
          <a:p>
            <a:r>
              <a:t>The goal is not just to know SQL syntax. The goal is to control database structure safely as systems grow.</a:t>
            </a:r>
          </a:p>
          <a:p>
            <a:r>
              <a:t>We will focus on four pillars: views, sequences and identity columns, constraints, and introspection.</a:t>
            </a:r>
          </a:p>
          <a:p>
            <a:r>
              <a:t>You already learned in Week 3 that operations means controlled change, verification, and recovery readiness.</a:t>
            </a:r>
          </a:p>
          <a:p>
            <a:r>
              <a:t>Week 4 applies that same operational mindset to structural design decisions.</a:t>
            </a:r>
          </a:p>
          <a:p>
            <a:r>
              <a:t>By the end of this lecture, you should be able to explain not only how to create these objects, but why each design choice matters in reliability, performance,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 matters because schema quality determines how stable the system feels six weeks from now.</a:t>
            </a:r>
          </a:p>
          <a:p>
            <a:r>
              <a:t>When schemas are clear, constrained, and observable, teams move faster and break fewer things.</a:t>
            </a:r>
          </a:p>
          <a:p>
            <a:r>
              <a:t>When schemas are inconsistent, unconstrained, and undocumented, every change becomes risky.</a:t>
            </a:r>
          </a:p>
          <a:p>
            <a:r>
              <a:t>In production, many incidents are not caused by hardware failure. They are caused by weak structural assumptions.</a:t>
            </a:r>
          </a:p>
          <a:p>
            <a:r>
              <a:t>Today we build the habits that prevent those incidents.</a:t>
            </a:r>
          </a:p>
          <a:p>
            <a:r>
              <a:t>Think of schema management as architecture plus operations, not just DDL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outcomes define what success looks like today.</a:t>
            </a:r>
          </a:p>
          <a:p>
            <a:r>
              <a:t>You should be able to model data access with views, key generation with identity or sequence strategies, and data integrity with constraints.</a:t>
            </a:r>
          </a:p>
          <a:p>
            <a:r>
              <a:t>You should also be able to inspect live database metadata and explain what the system is actually enforcing.</a:t>
            </a:r>
          </a:p>
          <a:p>
            <a:r>
              <a:t>Most importantly, you should be able to justify choices.</a:t>
            </a:r>
          </a:p>
          <a:p>
            <a:r>
              <a:t>An expert answer is not only a command. An expert answer is command plus rationale plus tradeoff awareness.</a:t>
            </a:r>
          </a:p>
          <a:p>
            <a:r>
              <a:t>That is exactly what we are practicing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session is intentionally simplified and paced for a little over one hour.</a:t>
            </a:r>
          </a:p>
          <a:p>
            <a:r>
              <a:t>We focus on core concepts you can execute confidently today, then optional depth later.</a:t>
            </a:r>
          </a:p>
          <a:p>
            <a:r>
              <a:t>We start with structure, then creation patterns, then verification.</a:t>
            </a:r>
          </a:p>
          <a:p>
            <a:r>
              <a:t>As we go, capture concrete queries and checklists you can reuse in your projects.</a:t>
            </a:r>
          </a:p>
          <a:p>
            <a:r>
              <a:t>By the end of class, you should have a practical playbook you can run without getting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we focused on running Postgres reliably in Supabase operations.</a:t>
            </a:r>
          </a:p>
          <a:p>
            <a:r>
              <a:t>This week we focus on what we are operating: the schema itself.</a:t>
            </a:r>
          </a:p>
          <a:p>
            <a:r>
              <a:t>The lifecycle does not change. We still plan, migrate, verify, observe, and recover.</a:t>
            </a:r>
          </a:p>
          <a:p>
            <a:r>
              <a:t>What changes is the object of attention.</a:t>
            </a:r>
          </a:p>
          <a:p>
            <a:r>
              <a:t>Instead of general platform controls, we now examine structure: views, constraints, keys, dependencies, and metadata.</a:t>
            </a:r>
          </a:p>
          <a:p>
            <a:r>
              <a:t>A team that masters both weeks can run a database service with professional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central idea today is that schema is policy.</a:t>
            </a:r>
          </a:p>
          <a:p>
            <a:r>
              <a:t>A schema is not just storage layout. It is a machine-enforced statement of what data can exist and how data can be accessed.</a:t>
            </a:r>
          </a:p>
          <a:p>
            <a:r>
              <a:t>When you add a constraint, you are writing policy.</a:t>
            </a:r>
          </a:p>
          <a:p>
            <a:r>
              <a:t>When you define a view, you are defining an interface contract.</a:t>
            </a:r>
          </a:p>
          <a:p>
            <a:r>
              <a:t>When you choose identity strategy, you are choosing concurrency behavior under write load.</a:t>
            </a:r>
          </a:p>
          <a:p>
            <a:r>
              <a:t>This mindset makes your design decisions intentional and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management without migrations becomes untraceable very quickly.</a:t>
            </a:r>
          </a:p>
          <a:p>
            <a:r>
              <a:t>If you cannot explain exactly which migration introduced a structural behavior, you cannot debug confidently.</a:t>
            </a:r>
          </a:p>
          <a:p>
            <a:r>
              <a:t>Each migration should include intent, safe ordering, and verification steps.</a:t>
            </a:r>
          </a:p>
          <a:p>
            <a:r>
              <a:t>This is especially important with constraints and views because they directly impact application queries and writes.</a:t>
            </a:r>
          </a:p>
          <a:p>
            <a:r>
              <a:t>Reliable teams use migrations as executable documentation.</a:t>
            </a:r>
          </a:p>
          <a:p>
            <a:r>
              <a:t>That is the operating standard we apply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section we focus on views.</a:t>
            </a:r>
          </a:p>
          <a:p>
            <a:r>
              <a:t>A strong view strategy improves readability, security boundaries, and analytics consistency.</a:t>
            </a:r>
          </a:p>
          <a:p>
            <a:r>
              <a:t>A weak view strategy creates confusion and hidden performance surprises.</a:t>
            </a:r>
          </a:p>
          <a:p>
            <a:r>
              <a:t>We will cover both standard and materialized views, then discuss when each is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standard view is essentially a named query.</a:t>
            </a:r>
          </a:p>
          <a:p>
            <a:r>
              <a:t>It does not store data by itself.</a:t>
            </a:r>
          </a:p>
          <a:p>
            <a:r>
              <a:t>Instead, it provides a stable interface that can hide join complexity or enforce column selection boundaries.</a:t>
            </a:r>
          </a:p>
          <a:p>
            <a:r>
              <a:t>This is useful when many consumers need the same derived representation.</a:t>
            </a:r>
          </a:p>
          <a:p>
            <a:r>
              <a:t>By centralizing logic in a view, you reduce copy-paste SQL drift and make changes easier to coordinate.</a:t>
            </a:r>
          </a:p>
          <a:p>
            <a:r>
              <a:t>Views should be treated like API contracts for data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views when you want consistency and abstraction.</a:t>
            </a:r>
          </a:p>
          <a:p>
            <a:r>
              <a:t>A classic use case is repeated join logic that appears across dashboards and services.</a:t>
            </a:r>
          </a:p>
          <a:p>
            <a:r>
              <a:t>Another use case is controlled exposure, where consumers need a subset of data but not the full base tables.</a:t>
            </a:r>
          </a:p>
          <a:p>
            <a:r>
              <a:t>Views also help during refactors by preserving old interface shapes while internal tables evolve.</a:t>
            </a:r>
          </a:p>
          <a:p>
            <a:r>
              <a:t>When used intentionally, views improve maintainability and reduce breakage during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robust create-view pattern starts with explicitness.</a:t>
            </a:r>
          </a:p>
          <a:p>
            <a:r>
              <a:t>Always list columns intentionally so future base-table changes do not silently alter the view interface.</a:t>
            </a:r>
          </a:p>
          <a:p>
            <a:r>
              <a:t>Use clear names like reporting_member_activity instead of vague names like temp_view_1.</a:t>
            </a:r>
          </a:p>
          <a:p>
            <a:r>
              <a:t>Schema-qualify references so object resolution is deterministic.</a:t>
            </a:r>
          </a:p>
          <a:p>
            <a:r>
              <a:t>For breaking changes, use versioned view names and deprecate old versions gradually.</a:t>
            </a:r>
          </a:p>
          <a:p>
            <a:r>
              <a:t>This avoids sudden consumer failures during migration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all views are read-only.</a:t>
            </a:r>
          </a:p>
          <a:p>
            <a:r>
              <a:t>Simple single-table views can sometimes pass writes to base tables.</a:t>
            </a:r>
          </a:p>
          <a:p>
            <a:r>
              <a:t>However, once view definitions become complex, updatability often disappears.</a:t>
            </a:r>
          </a:p>
          <a:p>
            <a:r>
              <a:t>WITH CHECK OPTION is important when you allow writes through a filtered view, because it prevents writes that would violate the view condition.</a:t>
            </a:r>
          </a:p>
          <a:p>
            <a:r>
              <a:t>If you choose this pattern, write explicit tests for insert and update behavior.</a:t>
            </a:r>
          </a:p>
          <a:p>
            <a:r>
              <a:t>Ambiguous write paths are a common source of data quality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Supabase environments, views and RLS should be designed together.</a:t>
            </a:r>
          </a:p>
          <a:p>
            <a:r>
              <a:t>A view can hide sensitive columns and provide safer interfaces.</a:t>
            </a:r>
          </a:p>
          <a:p>
            <a:r>
              <a:t>RLS still controls which rows are accessible based on role and claims.</a:t>
            </a:r>
          </a:p>
          <a:p>
            <a:r>
              <a:t>Grants on views add another useful control layer for who can query the interface.</a:t>
            </a:r>
          </a:p>
          <a:p>
            <a:r>
              <a:t>The key is alignment: column exposure, row policy, and role grants must point to the same security intent.</a:t>
            </a:r>
          </a:p>
          <a:p>
            <a:r>
              <a:t>Misalignment creates accidental leaks or confusing access denials.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materialized view differs from a standard view because it stores result data.</a:t>
            </a:r>
          </a:p>
          <a:p>
            <a:r>
              <a:t>That makes reads faster for heavy aggregation workloads.</a:t>
            </a:r>
          </a:p>
          <a:p>
            <a:r>
              <a:t>The tradeoff is freshness.</a:t>
            </a:r>
          </a:p>
          <a:p>
            <a:r>
              <a:t>Data reflects the last refresh, not the latest base-table writes.</a:t>
            </a:r>
          </a:p>
          <a:p>
            <a:r>
              <a:t>This pattern is valuable for reporting and analytics where slight staleness is acceptable.</a:t>
            </a:r>
          </a:p>
          <a:p>
            <a:r>
              <a:t>To use materialized views safely, define refresh cadence and freshness expectations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 strategy is where materialized views become operational.</a:t>
            </a:r>
          </a:p>
          <a:p>
            <a:r>
              <a:t>If refresh is too frequent, you may overload compute.</a:t>
            </a:r>
          </a:p>
          <a:p>
            <a:r>
              <a:t>If refresh is too rare, consumers act on stale information.</a:t>
            </a:r>
          </a:p>
          <a:p>
            <a:r>
              <a:t>CONCURRENTLY helps reduce blocking but has prerequisites and cost considerations.</a:t>
            </a:r>
          </a:p>
          <a:p>
            <a:r>
              <a:t>Plan refresh windows intentionally and monitor runtime impact.</a:t>
            </a:r>
          </a:p>
          <a:p>
            <a:r>
              <a:t>A materialized view without refresh governance is a future incident waiting to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Dependency management is critical in mature schemas.</a:t>
            </a:r>
          </a:p>
          <a:p>
            <a:r>
              <a:t>A small base-table change can break many downstream views and reports.</a:t>
            </a:r>
          </a:p>
          <a:p>
            <a:r>
              <a:t>Before applying structural migrations, inspect dependency trees and identify impact.</a:t>
            </a:r>
          </a:p>
          <a:p>
            <a:r>
              <a:t>Compatibility views let you preserve old contracts while rolling out new structures.</a:t>
            </a:r>
          </a:p>
          <a:p>
            <a:r>
              <a:t>This approach lowers outage risk and gives consumers time to migrate safely.</a:t>
            </a:r>
          </a:p>
          <a:p>
            <a:r>
              <a:t>Versioned interface transitions are a hallmark of disciplined database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key generation and sequencing behavior.</a:t>
            </a:r>
          </a:p>
          <a:p>
            <a:r>
              <a:t>This is an area where many developers memorize syntax but misunderstand behavior under rollback and concurrency.</a:t>
            </a:r>
          </a:p>
          <a:p>
            <a:r>
              <a:t>We will make that behavior explicit so you can explain it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Sequences solve uniqueness for generated numeric identifiers.</a:t>
            </a:r>
          </a:p>
          <a:p>
            <a:r>
              <a:t>They do not guarantee contiguous numbering.</a:t>
            </a:r>
          </a:p>
          <a:p>
            <a:r>
              <a:t>Because nextval is not rolled back, aborted transactions still consume numbers.</a:t>
            </a:r>
          </a:p>
          <a:p>
            <a:r>
              <a:t>Students often think gaps mean corruption, but gaps are expected.</a:t>
            </a:r>
          </a:p>
          <a:p>
            <a:r>
              <a:t>The right mental model is that sequences optimize safe uniqueness under concurrency, not accounting-style continuity.</a:t>
            </a:r>
          </a:p>
          <a:p>
            <a:r>
              <a:t>This distinction prevents many false alarms in production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modern Postgres design, identity columns are preferred over serial shorthand.</a:t>
            </a:r>
          </a:p>
          <a:p>
            <a:r>
              <a:t>Identity syntax makes intent explicit and aligns better with standards.</a:t>
            </a:r>
          </a:p>
          <a:p>
            <a:r>
              <a:t>GENERATED ALWAYS is stricter and better for many production IDs.</a:t>
            </a:r>
          </a:p>
          <a:p>
            <a:r>
              <a:t>GENERATED BY DEFAULT is useful when controlled manual values are occasionally necessary.</a:t>
            </a:r>
          </a:p>
          <a:p>
            <a:r>
              <a:t>Either way, understand the underlying sequence behavior and ownership.</a:t>
            </a:r>
          </a:p>
          <a:p>
            <a:r>
              <a:t>That understanding is what matters during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functions appear frequently in support tasks.</a:t>
            </a:r>
          </a:p>
          <a:p>
            <a:r>
              <a:t>nextval consumes a value and moves the sequence forward.</a:t>
            </a:r>
          </a:p>
          <a:p>
            <a:r>
              <a:t>currval and lastval depend on session behavior and can confuse people if no nextval occurred in session.</a:t>
            </a:r>
          </a:p>
          <a:p>
            <a:r>
              <a:t>setval is the repair tool when sequence position drifts from table max ID after manual data operations.</a:t>
            </a:r>
          </a:p>
          <a:p>
            <a:r>
              <a:t>When using setval, always confirm expected next generated value with a controlled test insert.</a:t>
            </a:r>
          </a:p>
          <a:p>
            <a:r>
              <a:t>Careless setval usage can produce duplicate key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Correcting sequence myths is important for student confidence.</a:t>
            </a:r>
          </a:p>
          <a:p>
            <a:r>
              <a:t>Gaps are expected and harmless in most systems.</a:t>
            </a:r>
          </a:p>
          <a:p>
            <a:r>
              <a:t>Also, sequence order does not always equal business event order under concurrency.</a:t>
            </a:r>
          </a:p>
          <a:p>
            <a:r>
              <a:t>If a business process requires strict temporal ordering, use explicit timestamp or event sequencing logic.</a:t>
            </a:r>
          </a:p>
          <a:p>
            <a:r>
              <a:t>Do not infer business timeline from surrogate ID values alone.</a:t>
            </a:r>
          </a:p>
          <a:p>
            <a:r>
              <a:t>This clarification helps prevent flawed analytics and audit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drift is a practical issue after data loads and migrations.</a:t>
            </a:r>
          </a:p>
          <a:p>
            <a:r>
              <a:t>A standard repair workflow is: inspect max ID, inspect sequence state, then set sequence safely.</a:t>
            </a:r>
          </a:p>
          <a:p>
            <a:r>
              <a:t>Ownership metadata matters because it helps schema tools manage object lifecycle correctly.</a:t>
            </a:r>
          </a:p>
          <a:p>
            <a:r>
              <a:t>After repair, run a test insert and verify no duplicate key violation occurs.</a:t>
            </a:r>
          </a:p>
          <a:p>
            <a:r>
              <a:t>This is an easy place to teach disciplined verification after maintenance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ask whether numeric IDs or UUIDs are better.</a:t>
            </a:r>
          </a:p>
          <a:p>
            <a:r>
              <a:t>The right answer is contextual.</a:t>
            </a:r>
          </a:p>
          <a:p>
            <a:r>
              <a:t>Identity keys are efficient and easy to inspect.</a:t>
            </a:r>
          </a:p>
          <a:p>
            <a:r>
              <a:t>UUIDs help with globally distributed generation and can reduce key guessability in external APIs.</a:t>
            </a:r>
          </a:p>
          <a:p>
            <a:r>
              <a:t>Both choices involve tradeoffs in index behavior, storage, and debugging ergonomics.</a:t>
            </a:r>
          </a:p>
          <a:p>
            <a:r>
              <a:t>An expert answer compares workload needs, not preferences.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Supabase projects, key design often intersects with API exposure decisions.</a:t>
            </a:r>
          </a:p>
          <a:p>
            <a:r>
              <a:t>If identifiers are visible in client-facing APIs, many teams prefer UUID-like public identifiers.</a:t>
            </a:r>
          </a:p>
          <a:p>
            <a:r>
              <a:t>Internally, compact surrogate keys can still be valuable for joins and indexing.</a:t>
            </a:r>
          </a:p>
          <a:p>
            <a:r>
              <a:t>What matters most is consistent semantics and clear documentation.</a:t>
            </a:r>
          </a:p>
          <a:p>
            <a:r>
              <a:t>Teams should know which key is internal, which key is external, and which key is stable for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move to constraints.</a:t>
            </a:r>
          </a:p>
          <a:p>
            <a:r>
              <a:t>Constraints are one of the strongest tools a DBA has for preventing invalid states.</a:t>
            </a:r>
          </a:p>
          <a:p>
            <a:r>
              <a:t>They encode business rules where they are hardest to bypass: inside the database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Application-layer checks are important, but they are not enough by themselves.</a:t>
            </a:r>
          </a:p>
          <a:p>
            <a:r>
              <a:t>Multiple services, scripts, and tools can write to a database over time.</a:t>
            </a:r>
          </a:p>
          <a:p>
            <a:r>
              <a:t>Constraints provide a final, authoritative safety layer.</a:t>
            </a:r>
          </a:p>
          <a:p>
            <a:r>
              <a:t>They also improve debugging by failing fast with clear error context.</a:t>
            </a:r>
          </a:p>
          <a:p>
            <a:r>
              <a:t>A system without meaningful constraints usually pays later through cleanup scripts and difficult incident investigations.</a:t>
            </a:r>
          </a:p>
          <a:p>
            <a:r>
              <a:t>Treat constraints as core reliability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key rules are straightforward, but unique constraints have important null semantics.</a:t>
            </a:r>
          </a:p>
          <a:p>
            <a:r>
              <a:t>In Postgres, unique constraints treat null values as distinct, which can surprise students.</a:t>
            </a:r>
          </a:p>
          <a:p>
            <a:r>
              <a:t>If null should not be allowed, add not null explicitly.</a:t>
            </a:r>
          </a:p>
          <a:p>
            <a:r>
              <a:t>Constraint naming also matters in practice because constraint names appear in error messages.</a:t>
            </a:r>
          </a:p>
          <a:p>
            <a:r>
              <a:t>Clear names speed triage during testing and incident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Foreign keys protect relational meaning.</a:t>
            </a:r>
          </a:p>
          <a:p>
            <a:r>
              <a:t>Without them, orphaned rows appear and analytics trust declines.</a:t>
            </a:r>
          </a:p>
          <a:p>
            <a:r>
              <a:t>Action clauses should reflect business behavior intentionally.</a:t>
            </a:r>
          </a:p>
          <a:p>
            <a:r>
              <a:t>For example, cascade may be correct for dependent detail rows but dangerous for high-value business records.</a:t>
            </a:r>
          </a:p>
          <a:p>
            <a:r>
              <a:t>Performance also matters: child foreign key columns often need indexes to avoid heavy scans during parent updates or deletes.</a:t>
            </a:r>
          </a:p>
          <a:p>
            <a:r>
              <a:t>Design integrity and performance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constraints are ideal for row-level invariants like nonnegative quantities, valid ranges, or limited state sets.</a:t>
            </a:r>
          </a:p>
          <a:p>
            <a:r>
              <a:t>Keep expressions readable so future maintainers understand the rule quickly.</a:t>
            </a:r>
          </a:p>
          <a:p>
            <a:r>
              <a:t>Avoid hidden complexity that depends on mutable external behavior.</a:t>
            </a:r>
          </a:p>
          <a:p>
            <a:r>
              <a:t>When a check constraint fails, that error should be informative and expected.</a:t>
            </a:r>
          </a:p>
          <a:p>
            <a:r>
              <a:t>A well-designed check constraint protects integrity without becoming maintenance mystery.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topic is useful but optional for this week.</a:t>
            </a:r>
          </a:p>
          <a:p>
            <a:r>
              <a:t>Exclusion constraints allow rules like preventing overlapping reservations for the same resource.</a:t>
            </a:r>
          </a:p>
          <a:p>
            <a:r>
              <a:t>That is a classic scheduling integrity problem where ordinary unique constraints are not enough.</a:t>
            </a:r>
          </a:p>
          <a:p>
            <a:r>
              <a:t>For Week 4, students only need to understand the concept at a high level.</a:t>
            </a:r>
          </a:p>
          <a:p>
            <a:r>
              <a:t>If time allows, demonstrate one example; otherwise, reserve this for an advanced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Deferrable constraints are important, but this is optional depth for Week 4.</a:t>
            </a:r>
          </a:p>
          <a:p>
            <a:r>
              <a:t>The core idea is that some checks can be postponed until transaction commit.</a:t>
            </a:r>
          </a:p>
          <a:p>
            <a:r>
              <a:t>This helps certain multi-step workflows, but it adds reasoning complexity.</a:t>
            </a:r>
          </a:p>
          <a:p>
            <a:r>
              <a:t>Students should recognize the concept and when it might matter.</a:t>
            </a:r>
          </a:p>
          <a:p>
            <a:r>
              <a:t>Detailed use can be postponed until the transactions and isolation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large production-like tables, immediate full constraint validation can be disruptive.</a:t>
            </a:r>
          </a:p>
          <a:p>
            <a:r>
              <a:t>The not-valid workflow allows safer rollout.</a:t>
            </a:r>
          </a:p>
          <a:p>
            <a:r>
              <a:t>You add the constraint first, enforce new writes, then validate historical data in a planned step.</a:t>
            </a:r>
          </a:p>
          <a:p>
            <a:r>
              <a:t>This is a practical zero-downtime style pattern many teams use.</a:t>
            </a:r>
          </a:p>
          <a:p>
            <a:r>
              <a:t>It balances integrity improvement with operational stability.</a:t>
            </a:r>
          </a:p>
          <a:p>
            <a:r>
              <a:t>Students should learn this pattern early because it appears often in real migrations.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section we focus on introspection.</a:t>
            </a:r>
          </a:p>
          <a:p>
            <a:r>
              <a:t>Introspection is how we confirm what the database is truly enforcing right now.</a:t>
            </a:r>
          </a:p>
          <a:p>
            <a:r>
              <a:t>It is the antidote to documentation drift and memory-based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metadata layers are important.</a:t>
            </a:r>
          </a:p>
          <a:p>
            <a:r>
              <a:t>information_schema is cleaner and portable, which is useful for broad introspection queries.</a:t>
            </a:r>
          </a:p>
          <a:p>
            <a:r>
              <a:t>pg_catalog contains richer Postgres-specific detail and is often required for advanced diagnostics.</a:t>
            </a:r>
          </a:p>
          <a:p>
            <a:r>
              <a:t>An expert workflow uses both layers appropriately.</a:t>
            </a:r>
          </a:p>
          <a:p>
            <a:r>
              <a:t>Start simple with information_schema, then dive into pg_catalog when you need precise engine-level detail.</a:t>
            </a:r>
          </a:p>
          <a:p>
            <a:r>
              <a:t>This layered approach keeps queries readable without losing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mature team keeps a standard introspection query pack.</a:t>
            </a:r>
          </a:p>
          <a:p>
            <a:r>
              <a:t>This pack is used during onboarding, incident triage, and release verification.</a:t>
            </a:r>
          </a:p>
          <a:p>
            <a:r>
              <a:t>The idea is simple: never guess structure when you can query metadata directly.</a:t>
            </a:r>
          </a:p>
          <a:p>
            <a:r>
              <a:t>In your projects, build a small reusable SQL file for these checks.</a:t>
            </a:r>
          </a:p>
          <a:p>
            <a:r>
              <a:t>That file will save significant time whenever something seems inconsistent across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introspection is a practical maintenance skill.</a:t>
            </a:r>
          </a:p>
          <a:p>
            <a:r>
              <a:t>When duplicate key errors appear unexpectedly, sequence drift is a common cause.</a:t>
            </a:r>
          </a:p>
          <a:p>
            <a:r>
              <a:t>A good diagnostic query compares table max IDs with sequence position and ownership metadata.</a:t>
            </a:r>
          </a:p>
          <a:p>
            <a:r>
              <a:t>This gives immediate evidence for whether repair is needed.</a:t>
            </a:r>
          </a:p>
          <a:p>
            <a:r>
              <a:t>Make sequence audits part of post-import and post-migration validation routines.</a:t>
            </a:r>
          </a:p>
          <a:p>
            <a:r>
              <a:t>That preventive habit avoids avoidable production disruptions.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 introspection is not only about query text.</a:t>
            </a:r>
          </a:p>
          <a:p>
            <a:r>
              <a:t>It is also about security and dependency impact.</a:t>
            </a:r>
          </a:p>
          <a:p>
            <a:r>
              <a:t>You should regularly review whether views expose columns that should remain restricted.</a:t>
            </a:r>
          </a:p>
          <a:p>
            <a:r>
              <a:t>You should also verify grants and RLS interactions match intended access boundaries.</a:t>
            </a:r>
          </a:p>
          <a:p>
            <a:r>
              <a:t>Before altering a widely used view, inspect downstream dependencies to avoid consumer breakage.</a:t>
            </a:r>
          </a:p>
          <a:p>
            <a:r>
              <a:t>This is where metadata literacy directly prevents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drift is one of the most common team-scale database problems.</a:t>
            </a:r>
          </a:p>
          <a:p>
            <a:r>
              <a:t>It appears when live environments diverge from migration history.</a:t>
            </a:r>
          </a:p>
          <a:p>
            <a:r>
              <a:t>The fix is disciplined drift detection before promotion.</a:t>
            </a:r>
          </a:p>
          <a:p>
            <a:r>
              <a:t>Compare expected object state from migrations with live metadata queries.</a:t>
            </a:r>
          </a:p>
          <a:p>
            <a:r>
              <a:t>If differences appear, resolve them explicitly instead of pushing forward blindly.</a:t>
            </a:r>
          </a:p>
          <a:p>
            <a:r>
              <a:t>Drift ignored today becomes outage risk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just write joins everywhere, answer that views centralize logic and stabilize consumer interfaces.</a:t>
            </a:r>
          </a:p>
          <a:p>
            <a:r>
              <a:t>If asked about ID gaps, answer that sequence uniqueness is guaranteed but contiguity is not, especially with rollback and caching.</a:t>
            </a:r>
          </a:p>
          <a:p>
            <a:r>
              <a:t>If asked about deferrable constraints, answer that they support multi-step transaction workflows where temporary intermediate states occur.</a:t>
            </a:r>
          </a:p>
          <a:p>
            <a:r>
              <a:t>If asked about safe large-table constraints, answer with the not-valid then validate pattern.</a:t>
            </a:r>
          </a:p>
          <a:p>
            <a:r>
              <a:t>If asked about proving schema correctness, answer with metadata introspection plus migration-history reconciliation.</a:t>
            </a:r>
          </a:p>
          <a:p>
            <a:r>
              <a:t>These answers show command of both mechanics and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transition from lecture concepts to applied coursework.</a:t>
            </a:r>
          </a:p>
          <a:p>
            <a:r>
              <a:t>The lab will force full-cycle schema management practice.</a:t>
            </a:r>
          </a:p>
          <a:p>
            <a:r>
              <a:t>The reading response will test conceptual reasoning and your ability to explain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is now intentionally less advanced and more guided.</a:t>
            </a:r>
          </a:p>
          <a:p>
            <a:r>
              <a:t>Students will work from existing data in Supabase and focus on core schema management actions.</a:t>
            </a:r>
          </a:p>
          <a:p>
            <a:r>
              <a:t>The objective is confident execution, not advanced edge-case mastery.</a:t>
            </a:r>
          </a:p>
          <a:p>
            <a:r>
              <a:t>Every task is directly taught in this lesson before the lab begins.</a:t>
            </a:r>
          </a:p>
          <a:p>
            <a:r>
              <a:t>Students should finish with clean evidence and working SQL they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these phases in order and capture outputs as you go.</a:t>
            </a:r>
          </a:p>
          <a:p>
            <a:r>
              <a:t>Each phase has a clear success check so students can self-correct quickly.</a:t>
            </a:r>
          </a:p>
          <a:p>
            <a:r>
              <a:t>Deliverables are intentionally lighter: short write-up, SQL file, and screenshots.</a:t>
            </a:r>
          </a:p>
          <a:p>
            <a:r>
              <a:t>The focus is proving understanding with evidence, not producing heavy documentation.</a:t>
            </a:r>
          </a:p>
          <a:p>
            <a:r>
              <a:t>This keeps workload appropriate while still building professional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first step prevents most lab confusion.</a:t>
            </a:r>
          </a:p>
          <a:p>
            <a:r>
              <a:t>Students should not create a new schema or a new project model today.</a:t>
            </a:r>
          </a:p>
          <a:p>
            <a:r>
              <a:t>They should start from the existing class dataset in Supabase.</a:t>
            </a:r>
          </a:p>
          <a:p>
            <a:r>
              <a:t>Run quick row-count checks to confirm data is available and visible.</a:t>
            </a:r>
          </a:p>
          <a:p>
            <a:r>
              <a:t>If tables are missing, fix setup first, then continue.</a:t>
            </a:r>
          </a:p>
          <a:p>
            <a:r>
              <a:t>Once baseline is confirmed, move to view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students create two standard views on existing data.</a:t>
            </a:r>
          </a:p>
          <a:p>
            <a:r>
              <a:t>The first view should provide detailed booking context.</a:t>
            </a:r>
          </a:p>
          <a:p>
            <a:r>
              <a:t>The second should summarize bookings at member level.</a:t>
            </a:r>
          </a:p>
          <a:p>
            <a:r>
              <a:t>Remind students to list columns explicitly and to validate output quality.</a:t>
            </a:r>
          </a:p>
          <a:p>
            <a:r>
              <a:t>This builds the interface-design habit without introducing extra schema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step teaches the difference between standard and materialized views.</a:t>
            </a:r>
          </a:p>
          <a:p>
            <a:r>
              <a:t>Students create one materialized view and refresh it explicitly.</a:t>
            </a:r>
          </a:p>
          <a:p>
            <a:r>
              <a:t>Then they compare materialized output with direct aggregation from base tables.</a:t>
            </a:r>
          </a:p>
          <a:p>
            <a:r>
              <a:t>The objective is understanding when cached results are helpful and when refresh is required.</a:t>
            </a:r>
          </a:p>
          <a:p>
            <a:r>
              <a:t>Keep this concrete and avoid advanced refresh edge cases in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constraint exercise is intentionally lightweight.</a:t>
            </a:r>
          </a:p>
          <a:p>
            <a:r>
              <a:t>By using a temporary table, students can practice constraints safely without altering core class tables.</a:t>
            </a:r>
          </a:p>
          <a:p>
            <a:r>
              <a:t>The required learning is simple: constraints reject bad data and allow corrected data.</a:t>
            </a:r>
          </a:p>
          <a:p>
            <a:r>
              <a:t>One failure case plus one success case is enough for this week.</a:t>
            </a:r>
          </a:p>
          <a:p>
            <a:r>
              <a:t>We can introduce advanced not-valid rollout patterns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final step closes the loop with evidence.</a:t>
            </a:r>
          </a:p>
          <a:p>
            <a:r>
              <a:t>Students should prove object state using introspection and capture screenshots of outcomes.</a:t>
            </a:r>
          </a:p>
          <a:p>
            <a:r>
              <a:t>All SQL should be saved in one file so the workflow is reproducible.</a:t>
            </a:r>
          </a:p>
          <a:p>
            <a:r>
              <a:t>The brief write-up should describe what they built and one issue they solved.</a:t>
            </a:r>
          </a:p>
          <a:p>
            <a:r>
              <a:t>That is enough evidence for this week without overloading documentation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starter pack directly so students can execute without syntax confusion.</a:t>
            </a:r>
          </a:p>
          <a:p>
            <a:r>
              <a:t>All examples target existing class data and avoid new-schema setup complexity.</a:t>
            </a:r>
          </a:p>
          <a:p>
            <a:r>
              <a:t>Students can adapt names, but the pattern should stay the same.</a:t>
            </a:r>
          </a:p>
          <a:p>
            <a:r>
              <a:t>Require query verification after each block.</a:t>
            </a:r>
          </a:p>
          <a:p>
            <a:r>
              <a:t>The goal is steady progress with clear evidence, not advanced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reading response is now shorter and more focused.</a:t>
            </a:r>
          </a:p>
          <a:p>
            <a:r>
              <a:t>Students only answer three practical prompts tied directly to today’s core topics.</a:t>
            </a:r>
          </a:p>
          <a:p>
            <a:r>
              <a:t>The grading priority is clear explanation in their own words with simple citation support.</a:t>
            </a:r>
          </a:p>
          <a:p>
            <a:r>
              <a:t>This keeps the activity useful without making it heavy.</a:t>
            </a:r>
          </a:p>
          <a:p>
            <a:r>
              <a:t>The purpose is still documentation fluency and confident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most likely failure patterns this week.</a:t>
            </a:r>
          </a:p>
          <a:p>
            <a:r>
              <a:t>When views misbehave, inspect definition and base join cardinality first.</a:t>
            </a:r>
          </a:p>
          <a:p>
            <a:r>
              <a:t>When materialized view data is stale, run refresh and verify source query assumptions.</a:t>
            </a:r>
          </a:p>
          <a:p>
            <a:r>
              <a:t>When constraints fail unexpectedly, inspect rule definitions and the row values being inserted.</a:t>
            </a:r>
          </a:p>
          <a:p>
            <a:r>
              <a:t>When temporary table writes fail, show the exact error and then correct the input.</a:t>
            </a:r>
          </a:p>
          <a:p>
            <a:r>
              <a:t>When environments differ, run drift detection queries before further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checklist as a self-test.</a:t>
            </a:r>
          </a:p>
          <a:p>
            <a:r>
              <a:t>If any item is weak, focus your study there before the next class.</a:t>
            </a:r>
          </a:p>
          <a:p>
            <a:r>
              <a:t>The goal is not perfection today. The goal is confidence built on repeatable methods.</a:t>
            </a:r>
          </a:p>
          <a:p>
            <a:r>
              <a:t>By now you should notice a pattern across this course: structure plus operations plus verification.</a:t>
            </a:r>
          </a:p>
          <a:p>
            <a:r>
              <a:t>That pattern is what makes database work reliable and professional.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deeper study, use primary docs first.</a:t>
            </a:r>
          </a:p>
          <a:p>
            <a:r>
              <a:t>Read the CREATE VIEW and CREATE MATERIALIZED VIEW sections closely, then review identity columns and constraints in the official Postgres docs.</a:t>
            </a:r>
          </a:p>
          <a:p>
            <a:r>
              <a:t>Use information_schema and pg_catalog references to strengthen introspection skills.</a:t>
            </a:r>
          </a:p>
          <a:p>
            <a:r>
              <a:t>For Supabase context, review migration and security documentation alongside monitoring guidance.</a:t>
            </a:r>
          </a:p>
          <a:p>
            <a:r>
              <a:t>Next week we build directly on this foundation by entering transaction behavior, isolation levels, and locking symptoms.</a:t>
            </a:r>
          </a:p>
          <a:p>
            <a:r>
              <a:t>That transition will make more sense if your Week 4 schema concepts are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4: Schema Management in PostgreSQL + Supabase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Views, sequences, constraints, and introspection with production-grade discipline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Week 4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Schema decisions become operational debt or operational leverage.</a:t>
            </a:r>
          </a:p>
          <a:p>
            <a:pPr>
              <a:defRPr sz="2100"/>
            </a:pPr>
            <a:r>
              <a:t>Good structure lowers bug rates and speeds debugging.</a:t>
            </a:r>
          </a:p>
          <a:p>
            <a:pPr>
              <a:defRPr sz="2100"/>
            </a:pPr>
            <a:r>
              <a:t>Poor structure causes outages, bad analytics, and security gaps.</a:t>
            </a:r>
          </a:p>
          <a:p>
            <a:pPr>
              <a:defRPr sz="2100"/>
            </a:pPr>
            <a:r>
              <a:t>Managed platforms still require strong schema ownership.</a:t>
            </a:r>
          </a:p>
          <a:p>
            <a:pPr>
              <a:defRPr sz="2100"/>
            </a:pPr>
            <a:r>
              <a:t>This week directly supports your midterm project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Design and explain practical view strategies in Postgres.</a:t>
            </a:r>
          </a:p>
          <a:p>
            <a:pPr>
              <a:defRPr sz="2100"/>
            </a:pPr>
            <a:r>
              <a:t>Use sequences and identity columns without common failure modes.</a:t>
            </a:r>
          </a:p>
          <a:p>
            <a:pPr>
              <a:defRPr sz="2100"/>
            </a:pPr>
            <a:r>
              <a:t>Apply constraints as explicit data quality contracts.</a:t>
            </a:r>
          </a:p>
          <a:p>
            <a:pPr>
              <a:defRPr sz="2100"/>
            </a:pPr>
            <a:r>
              <a:t>Introspect metadata to audit and troubleshoot schema state.</a:t>
            </a:r>
          </a:p>
          <a:p>
            <a:pPr>
              <a:defRPr sz="2100"/>
            </a:pPr>
            <a:r>
              <a:t>Ship schema changes using migration-first, verification-first workflow.</a:t>
            </a:r>
          </a:p>
          <a:p>
            <a:pPr>
              <a:defRPr sz="2100"/>
            </a:pPr>
            <a:r>
              <a:t>Defend design decisions during technical Q and 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(75+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0-10: Week 3 recap and schema management mental model.</a:t>
            </a:r>
          </a:p>
          <a:p>
            <a:pPr>
              <a:defRPr sz="2100"/>
            </a:pPr>
            <a:r>
              <a:t>10-25: Views basics + practical creation patterns.</a:t>
            </a:r>
          </a:p>
          <a:p>
            <a:pPr>
              <a:defRPr sz="2100"/>
            </a:pPr>
            <a:r>
              <a:t>25-35: Identity/sequence essentials (no deep edge cases).</a:t>
            </a:r>
          </a:p>
          <a:p>
            <a:pPr>
              <a:defRPr sz="2100"/>
            </a:pPr>
            <a:r>
              <a:t>35-50: Constraint basics and common mistakes.</a:t>
            </a:r>
          </a:p>
          <a:p>
            <a:pPr>
              <a:defRPr sz="2100"/>
            </a:pPr>
            <a:r>
              <a:t>50-60: Introspection essentials for verification.</a:t>
            </a:r>
          </a:p>
          <a:p>
            <a:pPr>
              <a:defRPr sz="2100"/>
            </a:pPr>
            <a:r>
              <a:t>60-75+: Guided lab start + reading response setup.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to Week 4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Week 3 taught shared responsibility and ops workflow discipline.</a:t>
            </a:r>
          </a:p>
          <a:p>
            <a:pPr>
              <a:defRPr sz="2100"/>
            </a:pPr>
            <a:r>
              <a:t>Week 4 applies that discipline to structural schema quality.</a:t>
            </a:r>
          </a:p>
          <a:p>
            <a:pPr>
              <a:defRPr sz="2100"/>
            </a:pPr>
            <a:r>
              <a:t>Same lifecycle: plan, migrate, verify, observe, recover.</a:t>
            </a:r>
          </a:p>
          <a:p>
            <a:pPr>
              <a:defRPr sz="2100"/>
            </a:pPr>
            <a:r>
              <a:t>New focus: model clarity, integrity guarantees, introspection literacy.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Schema Management 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Structure is policy: schema encodes business truth and allowed states.</a:t>
            </a:r>
          </a:p>
          <a:p>
            <a:pPr>
              <a:defRPr sz="2100"/>
            </a:pPr>
            <a:r>
              <a:t>Every table and constraint is a contract with applications.</a:t>
            </a:r>
          </a:p>
          <a:p>
            <a:pPr>
              <a:defRPr sz="2100"/>
            </a:pPr>
            <a:r>
              <a:t>Every view is an interface boundary for query consumers.</a:t>
            </a:r>
          </a:p>
          <a:p>
            <a:pPr>
              <a:defRPr sz="2100"/>
            </a:pPr>
            <a:r>
              <a:t>Every sequence/identity decision affects write behavior and scaling.</a:t>
            </a:r>
          </a:p>
          <a:p>
            <a:pPr>
              <a:defRPr sz="2100"/>
            </a:pPr>
            <a:r>
              <a:t>Metadata introspection is how we verify reality, not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Migration-First Discipline for Week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Never make structural changes only in the dashboard UI.</a:t>
            </a:r>
          </a:p>
          <a:p>
            <a:pPr>
              <a:defRPr sz="2100"/>
            </a:pPr>
            <a:r>
              <a:t>Capture each DDL change in a named migration file.</a:t>
            </a:r>
          </a:p>
          <a:p>
            <a:pPr>
              <a:defRPr sz="2100"/>
            </a:pPr>
            <a:r>
              <a:t>Require pre-checks and post-checks in SQL.</a:t>
            </a:r>
          </a:p>
          <a:p>
            <a:pPr>
              <a:defRPr sz="2100"/>
            </a:pPr>
            <a:r>
              <a:t>Treat constraint and view edits as release-risk changes.</a:t>
            </a:r>
          </a:p>
          <a:p>
            <a:pPr>
              <a:defRPr sz="2100"/>
            </a:pPr>
            <a:r>
              <a:t>Keep rollback options explicit before production promotion.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Views as stable data interfaces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View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 view stores a query definition, not physical rows.</a:t>
            </a:r>
          </a:p>
          <a:p>
            <a:pPr>
              <a:defRPr sz="2100"/>
            </a:pPr>
            <a:r>
              <a:t>It exposes a virtual table interface to consumers.</a:t>
            </a:r>
          </a:p>
          <a:p>
            <a:pPr>
              <a:defRPr sz="2100"/>
            </a:pPr>
            <a:r>
              <a:t>Underlying table changes appear through the view definition.</a:t>
            </a:r>
          </a:p>
          <a:p>
            <a:pPr>
              <a:defRPr sz="2100"/>
            </a:pPr>
            <a:r>
              <a:t>Views centralize business logic used by many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Simplify repeated joins and filtering logic.</a:t>
            </a:r>
          </a:p>
          <a:p>
            <a:pPr>
              <a:defRPr sz="2100"/>
            </a:pPr>
            <a:r>
              <a:t>Expose only necessary columns to analysts or apps.</a:t>
            </a:r>
          </a:p>
          <a:p>
            <a:pPr>
              <a:defRPr sz="2100"/>
            </a:pPr>
            <a:r>
              <a:t>Create compatibility layers during schema refactors.</a:t>
            </a:r>
          </a:p>
          <a:p>
            <a:pPr>
              <a:defRPr sz="2100"/>
            </a:pPr>
            <a:r>
              <a:t>Standardize calculated fields and business definitions.</a:t>
            </a:r>
          </a:p>
          <a:p>
            <a:pPr>
              <a:defRPr sz="2100"/>
            </a:pPr>
            <a:r>
              <a:t>Reduce accidental direct-table coupling in clients.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VIEW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Start with explicit column lists to avoid fragile SELECT * behavior.</a:t>
            </a:r>
          </a:p>
          <a:p>
            <a:pPr>
              <a:defRPr sz="2100"/>
            </a:pPr>
            <a:r>
              <a:t>Name views by purpose, not by developer shorthand.</a:t>
            </a:r>
          </a:p>
          <a:p>
            <a:pPr>
              <a:defRPr sz="2100"/>
            </a:pPr>
            <a:r>
              <a:t>Schema-qualify base tables for clarity and safety.</a:t>
            </a:r>
          </a:p>
          <a:p>
            <a:pPr>
              <a:defRPr sz="2100"/>
            </a:pPr>
            <a:r>
              <a:t>Version high-impact views when contracts must change.</a:t>
            </a:r>
          </a:p>
          <a:p>
            <a:pPr>
              <a:defRPr sz="2100"/>
            </a:pPr>
            <a:r>
              <a:t>Comment views so intent is inspectable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Updatable Views and WITH CHECK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Some simple views allow INSERT/UPDATE/DELETE passthrough.</a:t>
            </a:r>
          </a:p>
          <a:p>
            <a:pPr>
              <a:defRPr sz="2100"/>
            </a:pPr>
            <a:r>
              <a:t>Complex joins or aggregates usually make views non-updatable.</a:t>
            </a:r>
          </a:p>
          <a:p>
            <a:pPr>
              <a:defRPr sz="2100"/>
            </a:pPr>
            <a:r>
              <a:t>WITH CHECK OPTION enforces the view predicate on writes.</a:t>
            </a:r>
          </a:p>
          <a:p>
            <a:pPr>
              <a:defRPr sz="2100"/>
            </a:pPr>
            <a:r>
              <a:t>Use cautiously, and test write semantics explicitly.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Views, Security, and Supabase 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Views can reduce exposure to sensitive base-table columns.</a:t>
            </a:r>
          </a:p>
          <a:p>
            <a:pPr>
              <a:defRPr sz="2100"/>
            </a:pPr>
            <a:r>
              <a:t>RLS still governs row-level access on underlying tables.</a:t>
            </a:r>
          </a:p>
          <a:p>
            <a:pPr>
              <a:defRPr sz="2100"/>
            </a:pPr>
            <a:r>
              <a:t>Use grants on views to shape consumer access boundaries.</a:t>
            </a:r>
          </a:p>
          <a:p>
            <a:pPr>
              <a:defRPr sz="2100"/>
            </a:pPr>
            <a:r>
              <a:t>Document whether views are for internal or external clients.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Materialized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Materialized views store query results physically.</a:t>
            </a:r>
          </a:p>
          <a:p>
            <a:pPr>
              <a:defRPr sz="2100"/>
            </a:pPr>
            <a:r>
              <a:t>They trade freshness for read speed and stability.</a:t>
            </a:r>
          </a:p>
          <a:p>
            <a:pPr>
              <a:defRPr sz="2100"/>
            </a:pPr>
            <a:r>
              <a:t>Useful for expensive aggregations and reporting workloads.</a:t>
            </a:r>
          </a:p>
          <a:p>
            <a:pPr>
              <a:defRPr sz="2100"/>
            </a:pPr>
            <a:r>
              <a:t>Data must be refreshed explicitly or on schedule.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Refresh Strategy and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REFRESH MATERIALIZED VIEW recomputes stored results.</a:t>
            </a:r>
          </a:p>
          <a:p>
            <a:pPr>
              <a:defRPr sz="2100"/>
            </a:pPr>
            <a:r>
              <a:t>CONCURRENTLY option can reduce read blocking with requirements.</a:t>
            </a:r>
          </a:p>
          <a:p>
            <a:pPr>
              <a:defRPr sz="2100"/>
            </a:pPr>
            <a:r>
              <a:t>Define acceptable staleness windows per consumer.</a:t>
            </a:r>
          </a:p>
          <a:p>
            <a:pPr>
              <a:defRPr sz="2100"/>
            </a:pPr>
            <a:r>
              <a:t>Monitor refresh cost and schedule outside peak load when possible.</a:t>
            </a:r>
          </a:p>
          <a:p>
            <a:pPr>
              <a:defRPr sz="2100"/>
            </a:pPr>
            <a:r>
              <a:t>Treat refresh jobs as operational dependencies.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View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Views depend on base tables and sometimes other views.</a:t>
            </a:r>
          </a:p>
          <a:p>
            <a:pPr>
              <a:defRPr sz="2100"/>
            </a:pPr>
            <a:r>
              <a:t>Altering base columns can break dependent views.</a:t>
            </a:r>
          </a:p>
          <a:p>
            <a:pPr>
              <a:defRPr sz="2100"/>
            </a:pPr>
            <a:r>
              <a:t>Use dependency introspection before structural migrations.</a:t>
            </a:r>
          </a:p>
          <a:p>
            <a:pPr>
              <a:defRPr sz="2100"/>
            </a:pPr>
            <a:r>
              <a:t>Stage breaking changes with compatibility views.</a:t>
            </a:r>
          </a:p>
          <a:p>
            <a:pPr>
              <a:defRPr sz="2100"/>
            </a:pPr>
            <a:r>
              <a:t>Deprecate interfaces gradually, not abruptly.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Sequences and identity columns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 sequence is an independent incrementing number generator.</a:t>
            </a:r>
          </a:p>
          <a:p>
            <a:pPr>
              <a:defRPr sz="2100"/>
            </a:pPr>
            <a:r>
              <a:t>It is not the same thing as table row count.</a:t>
            </a:r>
          </a:p>
          <a:p>
            <a:pPr>
              <a:defRPr sz="2100"/>
            </a:pPr>
            <a:r>
              <a:t>nextval advances globally and is not rolled back.</a:t>
            </a:r>
          </a:p>
          <a:p>
            <a:pPr>
              <a:defRPr sz="2100"/>
            </a:pPr>
            <a:r>
              <a:t>Gaps in generated values are normal behavior.</a:t>
            </a:r>
          </a:p>
          <a:p>
            <a:pPr>
              <a:defRPr sz="2100"/>
            </a:pPr>
            <a:r>
              <a:t>Sequences are built for uniqueness, not contiguity.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 vs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SERIAL is legacy shorthand that creates sequence + default.</a:t>
            </a:r>
          </a:p>
          <a:p>
            <a:pPr>
              <a:defRPr sz="2100"/>
            </a:pPr>
            <a:r>
              <a:t>IDENTITY is SQL-standard and clearer in modern schemas.</a:t>
            </a:r>
          </a:p>
          <a:p>
            <a:pPr>
              <a:defRPr sz="2100"/>
            </a:pPr>
            <a:r>
              <a:t>GENERATED ALWAYS enforces system-generated values.</a:t>
            </a:r>
          </a:p>
          <a:p>
            <a:pPr>
              <a:defRPr sz="2100"/>
            </a:pPr>
            <a:r>
              <a:t>GENERATED BY DEFAULT allows explicit override when needed.</a:t>
            </a:r>
          </a:p>
          <a:p>
            <a:pPr>
              <a:defRPr sz="2100"/>
            </a:pPr>
            <a:r>
              <a:t>Prefer IDENTITY for new table design.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Sequence Functions You Must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nextval('seq'): advance and return new value.</a:t>
            </a:r>
          </a:p>
          <a:p>
            <a:pPr>
              <a:defRPr sz="2100"/>
            </a:pPr>
            <a:r>
              <a:t>currval('seq'): current session's last obtained value.</a:t>
            </a:r>
          </a:p>
          <a:p>
            <a:pPr>
              <a:defRPr sz="2100"/>
            </a:pPr>
            <a:r>
              <a:t>lastval(): last sequence value obtained in session.</a:t>
            </a:r>
          </a:p>
          <a:p>
            <a:pPr>
              <a:defRPr sz="2100"/>
            </a:pPr>
            <a:r>
              <a:t>setval('seq', n, is_called): adjust sequence position.</a:t>
            </a:r>
          </a:p>
          <a:p>
            <a:pPr>
              <a:defRPr sz="2100"/>
            </a:pPr>
            <a:r>
              <a:t>Use setval carefully after bulk imports or manual inserts.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Myths and Real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Myth: sequence values should have no gaps.</a:t>
            </a:r>
          </a:p>
          <a:p>
            <a:pPr>
              <a:defRPr sz="2100"/>
            </a:pPr>
            <a:r>
              <a:t>Reality: rollbacks and caching naturally create gaps.</a:t>
            </a:r>
          </a:p>
          <a:p>
            <a:pPr>
              <a:defRPr sz="2100"/>
            </a:pPr>
            <a:r>
              <a:t>Myth: IDs always represent insertion order exactly.</a:t>
            </a:r>
          </a:p>
          <a:p>
            <a:pPr>
              <a:defRPr sz="2100"/>
            </a:pPr>
            <a:r>
              <a:t>Reality: concurrency can interleave transactions unpredictably.</a:t>
            </a:r>
          </a:p>
          <a:p>
            <a:pPr>
              <a:defRPr sz="2100"/>
            </a:pPr>
            <a:r>
              <a:t>Do not use sequence IDs alone as business chronology.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Ownership and Repair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Tie sequences to columns with OWNED BY where appropriate.</a:t>
            </a:r>
          </a:p>
          <a:p>
            <a:pPr>
              <a:defRPr sz="2100"/>
            </a:pPr>
            <a:r>
              <a:t>After imports, compare max(id) with sequence position.</a:t>
            </a:r>
          </a:p>
          <a:p>
            <a:pPr>
              <a:defRPr sz="2100"/>
            </a:pPr>
            <a:r>
              <a:t>Repair drift using setval to max(id)+1 behavior.</a:t>
            </a:r>
          </a:p>
          <a:p>
            <a:pPr>
              <a:defRPr sz="2100"/>
            </a:pPr>
            <a:r>
              <a:t>Automate drift checks in maintenance scripts for safety.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Strategy: Identity vs UUID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Identity keys are compact, fast, and human-debuggable.</a:t>
            </a:r>
          </a:p>
          <a:p>
            <a:pPr>
              <a:defRPr sz="2100"/>
            </a:pPr>
            <a:r>
              <a:t>UUID keys improve decentralization and external exposure safety.</a:t>
            </a:r>
          </a:p>
          <a:p>
            <a:pPr>
              <a:defRPr sz="2100"/>
            </a:pPr>
            <a:r>
              <a:t>Index and storage behavior differ between key types.</a:t>
            </a:r>
          </a:p>
          <a:p>
            <a:pPr>
              <a:defRPr sz="2100"/>
            </a:pPr>
            <a:r>
              <a:t>Choose by workload, architecture, and integration constraints.</a:t>
            </a:r>
          </a:p>
          <a:p>
            <a:pPr>
              <a:defRPr sz="2100"/>
            </a:pPr>
            <a:r>
              <a:t>Do not treat one strategy as universally superior.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Considerations for Key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Supabase Postgres supports identity and UUID patterns.</a:t>
            </a:r>
          </a:p>
          <a:p>
            <a:pPr>
              <a:defRPr sz="2100"/>
            </a:pPr>
            <a:r>
              <a:t>Public API exposure often favors non-guessable identifiers.</a:t>
            </a:r>
          </a:p>
          <a:p>
            <a:pPr>
              <a:defRPr sz="2100"/>
            </a:pPr>
            <a:r>
              <a:t>Internal joins can still use compact surrogate keys.</a:t>
            </a:r>
          </a:p>
          <a:p>
            <a:pPr>
              <a:defRPr sz="2100"/>
            </a:pPr>
            <a:r>
              <a:t>Document key semantics early for app and analytics teams.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Constraints as data integrity contracts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Constraints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Constraints prevent invalid data at write time.</a:t>
            </a:r>
          </a:p>
          <a:p>
            <a:pPr>
              <a:defRPr sz="2100"/>
            </a:pPr>
            <a:r>
              <a:t>They reduce downstream cleanup and analytics confusion.</a:t>
            </a:r>
          </a:p>
          <a:p>
            <a:pPr>
              <a:defRPr sz="2100"/>
            </a:pPr>
            <a:r>
              <a:t>They formalize business rules in executable form.</a:t>
            </a:r>
          </a:p>
          <a:p>
            <a:pPr>
              <a:defRPr sz="2100"/>
            </a:pPr>
            <a:r>
              <a:t>They turn silent corruption into explicit errors.</a:t>
            </a:r>
          </a:p>
          <a:p>
            <a:pPr>
              <a:defRPr sz="2100"/>
            </a:pPr>
            <a:r>
              <a:t>They are easier to trust than app-only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and Unique Constraint Nuance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Primary key implies unique + not null.</a:t>
            </a:r>
          </a:p>
          <a:p>
            <a:pPr>
              <a:defRPr sz="2100"/>
            </a:pPr>
            <a:r>
              <a:t>Unique constraints allow one or more nulls by default semantics.</a:t>
            </a:r>
          </a:p>
          <a:p>
            <a:pPr>
              <a:defRPr sz="2100"/>
            </a:pPr>
            <a:r>
              <a:t>Use explicit not null where null is not meaningful.</a:t>
            </a:r>
          </a:p>
          <a:p>
            <a:pPr>
              <a:defRPr sz="2100"/>
            </a:pPr>
            <a:r>
              <a:t>Name constraints clearly for error readability.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Foreign Keys and Referential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Foreign keys enforce parent-child consistency.</a:t>
            </a:r>
          </a:p>
          <a:p>
            <a:pPr>
              <a:defRPr sz="2100"/>
            </a:pPr>
            <a:r>
              <a:t>ON DELETE/UPDATE actions define mutation behavior.</a:t>
            </a:r>
          </a:p>
          <a:p>
            <a:pPr>
              <a:defRPr sz="2100"/>
            </a:pPr>
            <a:r>
              <a:t>Common actions: RESTRICT, NO ACTION, CASCADE, SET NULL.</a:t>
            </a:r>
          </a:p>
          <a:p>
            <a:pPr>
              <a:defRPr sz="2100"/>
            </a:pPr>
            <a:r>
              <a:t>Choose actions to match business semantics, not convenience.</a:t>
            </a:r>
          </a:p>
          <a:p>
            <a:pPr>
              <a:defRPr sz="2100"/>
            </a:pPr>
            <a:r>
              <a:t>Index child-side key columns for performance.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Constraints and Expression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CHECK enforces boolean rules per row.</a:t>
            </a:r>
          </a:p>
          <a:p>
            <a:pPr>
              <a:defRPr sz="2100"/>
            </a:pPr>
            <a:r>
              <a:t>Use for domain boundaries and simple invariants.</a:t>
            </a:r>
          </a:p>
          <a:p>
            <a:pPr>
              <a:defRPr sz="2100"/>
            </a:pPr>
            <a:r>
              <a:t>Prefer immutable logic inside check expressions.</a:t>
            </a:r>
          </a:p>
          <a:p>
            <a:pPr>
              <a:defRPr sz="2100"/>
            </a:pPr>
            <a:r>
              <a:t>Keep checks understandable and testable.</a:t>
            </a:r>
          </a:p>
          <a:p>
            <a:pPr>
              <a:defRPr sz="2100"/>
            </a:pPr>
            <a:r>
              <a:t>Document business meaning of non-obvious checks.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Extension: Exclusion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Exclusion constraints prevent overlapping conditions.</a:t>
            </a:r>
          </a:p>
          <a:p>
            <a:pPr>
              <a:defRPr sz="2100"/>
            </a:pPr>
            <a:r>
              <a:t>Useful for bookings, scheduling, and range conflicts.</a:t>
            </a:r>
          </a:p>
          <a:p>
            <a:pPr>
              <a:defRPr sz="2100"/>
            </a:pPr>
            <a:r>
              <a:t>Often paired with GiST indexes and range types.</a:t>
            </a:r>
          </a:p>
          <a:p>
            <a:pPr>
              <a:defRPr sz="2100"/>
            </a:pPr>
            <a:r>
              <a:t>Treat as advanced follow-up, not core Week 4 requirement.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 Extension: Deferrable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DEFERRABLE constraints can be checked at commit time.</a:t>
            </a:r>
          </a:p>
          <a:p>
            <a:pPr>
              <a:defRPr sz="2100"/>
            </a:pPr>
            <a:r>
              <a:t>Useful for multi-step writes with temporary intermediate states.</a:t>
            </a:r>
          </a:p>
          <a:p>
            <a:pPr>
              <a:defRPr sz="2100"/>
            </a:pPr>
            <a:r>
              <a:t>SET CONSTRAINTS can adjust timing within transaction.</a:t>
            </a:r>
          </a:p>
          <a:p>
            <a:pPr>
              <a:defRPr sz="2100"/>
            </a:pPr>
            <a:r>
              <a:t>Keep this optional for students new to transaction internals.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Constraint Migrations (NOT VALID)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Add new constraints with NOT VALID for large existing tables.</a:t>
            </a:r>
          </a:p>
          <a:p>
            <a:pPr>
              <a:defRPr sz="2100"/>
            </a:pPr>
            <a:r>
              <a:t>New writes are checked; old rows can be validated later.</a:t>
            </a:r>
          </a:p>
          <a:p>
            <a:pPr>
              <a:defRPr sz="2100"/>
            </a:pPr>
            <a:r>
              <a:t>Run VALIDATE CONSTRAINT in controlled window.</a:t>
            </a:r>
          </a:p>
          <a:p>
            <a:pPr>
              <a:defRPr sz="2100"/>
            </a:pPr>
            <a:r>
              <a:t>Use this pattern to reduce migration lock risk.</a:t>
            </a:r>
          </a:p>
          <a:p>
            <a:pPr>
              <a:defRPr sz="2100"/>
            </a:pPr>
            <a:r>
              <a:t>Always report validation outcome as deployment evidence.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Introspection and metadata auditing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information_schema vs pg_catalog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information_schema is portable and standards-oriented.</a:t>
            </a:r>
          </a:p>
          <a:p>
            <a:pPr>
              <a:defRPr sz="2100"/>
            </a:pPr>
            <a:r>
              <a:t>pg_catalog is PostgreSQL-specific and more detailed.</a:t>
            </a:r>
          </a:p>
          <a:p>
            <a:pPr>
              <a:defRPr sz="2100"/>
            </a:pPr>
            <a:r>
              <a:t>Use information_schema for generic audits and teaching clarity.</a:t>
            </a:r>
          </a:p>
          <a:p>
            <a:pPr>
              <a:defRPr sz="2100"/>
            </a:pPr>
            <a:r>
              <a:t>Use pg_catalog for deep diagnostics and dependency tracing.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Introspection Query Pack: Core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List tables and schemas with ownership context.</a:t>
            </a:r>
          </a:p>
          <a:p>
            <a:pPr>
              <a:defRPr sz="2100"/>
            </a:pPr>
            <a:r>
              <a:t>List columns with defaults and nullability.</a:t>
            </a:r>
          </a:p>
          <a:p>
            <a:pPr>
              <a:defRPr sz="2100"/>
            </a:pPr>
            <a:r>
              <a:t>List constraints by type and table.</a:t>
            </a:r>
          </a:p>
          <a:p>
            <a:pPr>
              <a:defRPr sz="2100"/>
            </a:pPr>
            <a:r>
              <a:t>List indexes and indexed columns.</a:t>
            </a:r>
          </a:p>
          <a:p>
            <a:pPr>
              <a:defRPr sz="2100"/>
            </a:pPr>
            <a:r>
              <a:t>List view definitions and dependencies.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Introspecting Sequences and Identity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Find sequence-backed columns in current schema.</a:t>
            </a:r>
          </a:p>
          <a:p>
            <a:pPr>
              <a:defRPr sz="2100"/>
            </a:pPr>
            <a:r>
              <a:t>Compare max(table id) to sequence last_value.</a:t>
            </a:r>
          </a:p>
          <a:p>
            <a:pPr>
              <a:defRPr sz="2100"/>
            </a:pPr>
            <a:r>
              <a:t>Detect potential drift after imports.</a:t>
            </a:r>
          </a:p>
          <a:p>
            <a:pPr>
              <a:defRPr sz="2100"/>
            </a:pPr>
            <a:r>
              <a:t>Report ownership and default-expression linkage.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Introspecting Views and Security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Audit view definitions for sensitive column exposure.</a:t>
            </a:r>
          </a:p>
          <a:p>
            <a:pPr>
              <a:defRPr sz="2100"/>
            </a:pPr>
            <a:r>
              <a:t>Check grants on views and underlying tables.</a:t>
            </a:r>
          </a:p>
          <a:p>
            <a:pPr>
              <a:defRPr sz="2100"/>
            </a:pPr>
            <a:r>
              <a:t>Confirm RLS assumptions align with view usage.</a:t>
            </a:r>
          </a:p>
          <a:p>
            <a:pPr>
              <a:defRPr sz="2100"/>
            </a:pPr>
            <a:r>
              <a:t>Identify downstream dependencies before altering views.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Drift Detection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Compare migration history against live metadata state.</a:t>
            </a:r>
          </a:p>
          <a:p>
            <a:pPr>
              <a:defRPr sz="2100"/>
            </a:pPr>
            <a:r>
              <a:t>Flag objects created outside migration pipeline.</a:t>
            </a:r>
          </a:p>
          <a:p>
            <a:pPr>
              <a:defRPr sz="2100"/>
            </a:pPr>
            <a:r>
              <a:t>Detect unexpected default or constraint differences.</a:t>
            </a:r>
          </a:p>
          <a:p>
            <a:pPr>
              <a:defRPr sz="2100"/>
            </a:pPr>
            <a:r>
              <a:t>Run drift checks before every environment promotion.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Questions and Expert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Why use a view instead of just writing joins everywhere?</a:t>
            </a:r>
          </a:p>
          <a:p>
            <a:pPr>
              <a:defRPr sz="2100"/>
            </a:pPr>
            <a:r>
              <a:t>Why are there gaps in ID values after rollback?</a:t>
            </a:r>
          </a:p>
          <a:p>
            <a:pPr>
              <a:defRPr sz="2100"/>
            </a:pPr>
            <a:r>
              <a:t>When should constraint checks be deferred?</a:t>
            </a:r>
          </a:p>
          <a:p>
            <a:pPr>
              <a:defRPr sz="2100"/>
            </a:pPr>
            <a:r>
              <a:t>How do I add constraints safely on large existing tables?</a:t>
            </a:r>
          </a:p>
          <a:p>
            <a:pPr>
              <a:defRPr sz="2100"/>
            </a:pPr>
            <a:r>
              <a:t>How do I prove production schema matches migrations?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 4 applied work: lab and reading response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Lab Activity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 existing Supabase public tables (no new schema creation).</a:t>
            </a:r>
          </a:p>
          <a:p>
            <a:pPr>
              <a:defRPr sz="2100"/>
            </a:pPr>
            <a:r>
              <a:t>Build two practical views from existing dataset tables.</a:t>
            </a:r>
          </a:p>
          <a:p>
            <a:pPr>
              <a:defRPr sz="2100"/>
            </a:pPr>
            <a:r>
              <a:t>Build one materialized view and run refresh.</a:t>
            </a:r>
          </a:p>
          <a:p>
            <a:pPr>
              <a:defRPr sz="2100"/>
            </a:pPr>
            <a:r>
              <a:t>Practice constraints with a temporary in-session table.</a:t>
            </a:r>
          </a:p>
          <a:p>
            <a:pPr>
              <a:defRPr sz="2100"/>
            </a:pPr>
            <a:r>
              <a:t>Run introspection checks and capture evidence.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Phases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Phase A: baseline data check on existing tables.</a:t>
            </a:r>
          </a:p>
          <a:p>
            <a:pPr>
              <a:defRPr sz="2100"/>
            </a:pPr>
            <a:r>
              <a:t>Phase B: create and test two standard views.</a:t>
            </a:r>
          </a:p>
          <a:p>
            <a:pPr>
              <a:defRPr sz="2100"/>
            </a:pPr>
            <a:r>
              <a:t>Phase C: create and refresh one materialized view.</a:t>
            </a:r>
          </a:p>
          <a:p>
            <a:pPr>
              <a:defRPr sz="2100"/>
            </a:pPr>
            <a:r>
              <a:t>Phase D: temporary-table constraint practice + introspection.</a:t>
            </a:r>
          </a:p>
          <a:p>
            <a:pPr>
              <a:defRPr sz="2100"/>
            </a:pPr>
            <a:r>
              <a:t>Submit: brief write-up, SQL queries used, and screenshots.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Walkthrough Step 1: Baseline Check (Do This 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Confirm existing tables are present in public schema.</a:t>
            </a:r>
          </a:p>
          <a:p>
            <a:pPr>
              <a:defRPr sz="2100"/>
            </a:pPr>
            <a:r>
              <a:t>Expected core dataset: members, facilities, bookings.</a:t>
            </a:r>
          </a:p>
          <a:p>
            <a:pPr>
              <a:defRPr sz="2100"/>
            </a:pPr>
            <a:r>
              <a:t>Run row-count checks on all three tables.</a:t>
            </a:r>
          </a:p>
          <a:p>
            <a:pPr>
              <a:defRPr sz="2100"/>
            </a:pPr>
            <a:r>
              <a:t>If missing, import the class dataset before continuing.</a:t>
            </a:r>
          </a:p>
          <a:p>
            <a:pPr>
              <a:defRPr sz="2100"/>
            </a:pPr>
            <a:r>
              <a:t>Capture one screenshot proving baseline state.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Walkthrough Step 2: Views and Materialized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Create view public.v_booking_details from bookings joins.</a:t>
            </a:r>
          </a:p>
          <a:p>
            <a:pPr>
              <a:defRPr sz="2100"/>
            </a:pPr>
            <a:r>
              <a:t>Create view public.v_member_booking_summary with grouped counts.</a:t>
            </a:r>
          </a:p>
          <a:p>
            <a:pPr>
              <a:defRPr sz="2100"/>
            </a:pPr>
            <a:r>
              <a:t>Use explicit column lists; do not use SELECT *.</a:t>
            </a:r>
          </a:p>
          <a:p>
            <a:pPr>
              <a:defRPr sz="2100"/>
            </a:pPr>
            <a:r>
              <a:t>Query both views and verify expected output shape.</a:t>
            </a:r>
          </a:p>
          <a:p>
            <a:pPr>
              <a:defRPr sz="2100"/>
            </a:pPr>
            <a:r>
              <a:t>Capture one screenshot per view query result.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Walkthrough Step 3: Materialized View Refresh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Create public.mv_facility_usage with aggregate query.</a:t>
            </a:r>
          </a:p>
          <a:p>
            <a:pPr>
              <a:defRPr sz="2100"/>
            </a:pPr>
            <a:r>
              <a:t>Run REFRESH MATERIALIZED VIEW public.mv_facility_usage.</a:t>
            </a:r>
          </a:p>
          <a:p>
            <a:pPr>
              <a:defRPr sz="2100"/>
            </a:pPr>
            <a:r>
              <a:t>Query matview and compare with base-table aggregate query.</a:t>
            </a:r>
          </a:p>
          <a:p>
            <a:pPr>
              <a:defRPr sz="2100"/>
            </a:pPr>
            <a:r>
              <a:t>Explain freshness vs performance in one sentence.</a:t>
            </a:r>
          </a:p>
          <a:p>
            <a:pPr>
              <a:defRPr sz="2100"/>
            </a:pPr>
            <a:r>
              <a:t>Capture screenshot of refresh + result query.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Walkthrough Step 4: Constraint Practice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Create TEMP TABLE constraint_practice in SQL session.</a:t>
            </a:r>
          </a:p>
          <a:p>
            <a:pPr>
              <a:defRPr sz="2100"/>
            </a:pPr>
            <a:r>
              <a:t>Add one CHECK and one UNIQUE constraint.</a:t>
            </a:r>
          </a:p>
          <a:p>
            <a:pPr>
              <a:defRPr sz="2100"/>
            </a:pPr>
            <a:r>
              <a:t>Run one failing insert and one corrected insert.</a:t>
            </a:r>
          </a:p>
          <a:p>
            <a:pPr>
              <a:defRPr sz="2100"/>
            </a:pPr>
            <a:r>
              <a:t>Query table to confirm valid rows only.</a:t>
            </a:r>
          </a:p>
          <a:p>
            <a:pPr>
              <a:defRPr sz="2100"/>
            </a:pPr>
            <a:r>
              <a:t>Capture error screenshot and success screenshot.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Walkthrough Step 5: Introspection and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Run metadata queries for views and constraints created today.</a:t>
            </a:r>
          </a:p>
          <a:p>
            <a:pPr>
              <a:defRPr sz="2100"/>
            </a:pPr>
            <a:r>
              <a:t>Confirm object names, definitions, and schema locations.</a:t>
            </a:r>
          </a:p>
          <a:p>
            <a:pPr>
              <a:defRPr sz="2100"/>
            </a:pPr>
            <a:r>
              <a:t>Capture 4-6 screenshots of successful outputs.</a:t>
            </a:r>
          </a:p>
          <a:p>
            <a:pPr>
              <a:defRPr sz="2100"/>
            </a:pPr>
            <a:r>
              <a:t>Save all SQL used in one .sql file.</a:t>
            </a:r>
          </a:p>
          <a:p>
            <a:pPr>
              <a:defRPr sz="2100"/>
            </a:pPr>
            <a:r>
              <a:t>Write a brief summary of what worked and what failed first.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SQL Starter Pack (Use in Class)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SELECT counts from members/facilities/bookings to confirm baseline.</a:t>
            </a:r>
          </a:p>
          <a:p>
            <a:pPr>
              <a:defRPr sz="2100"/>
            </a:pPr>
            <a:r>
              <a:t>CREATE VIEW public.v_booking_details AS SELECT ...</a:t>
            </a:r>
          </a:p>
          <a:p>
            <a:pPr>
              <a:defRPr sz="2100"/>
            </a:pPr>
            <a:r>
              <a:t>CREATE VIEW public.v_member_booking_summary AS SELECT ...</a:t>
            </a:r>
          </a:p>
          <a:p>
            <a:pPr>
              <a:defRPr sz="2100"/>
            </a:pPr>
            <a:r>
              <a:t>CREATE MATERIALIZED VIEW public.mv_facility_usage AS SELECT ...</a:t>
            </a:r>
          </a:p>
          <a:p>
            <a:pPr>
              <a:defRPr sz="2100"/>
            </a:pPr>
            <a:r>
              <a:t>CREATE TEMP TABLE constraint_practice (...) with CHECK/UNIQUE.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Reading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Read short PostgreSQL sections on views, identity, and constraints.</a:t>
            </a:r>
          </a:p>
          <a:p>
            <a:pPr>
              <a:defRPr sz="2100"/>
            </a:pPr>
            <a:r>
              <a:t>Answer three short prompts in your own words.</a:t>
            </a:r>
          </a:p>
          <a:p>
            <a:pPr>
              <a:defRPr sz="2100"/>
            </a:pPr>
            <a:r>
              <a:t>Keep each answer practical and documentation-based.</a:t>
            </a:r>
          </a:p>
          <a:p>
            <a:pPr>
              <a:defRPr sz="2100"/>
            </a:pPr>
            <a:r>
              <a:t>Include one citation line per prompt.</a:t>
            </a:r>
          </a:p>
          <a:p>
            <a:pPr>
              <a:defRPr sz="2100"/>
            </a:pPr>
            <a:r>
              <a:t>Submit before class ends for participation credit.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Patterns for Week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View returns unexpected columns or duplicates.</a:t>
            </a:r>
          </a:p>
          <a:p>
            <a:pPr>
              <a:defRPr sz="2100"/>
            </a:pPr>
            <a:r>
              <a:t>Materialized view appears stale after base-table changes.</a:t>
            </a:r>
          </a:p>
          <a:p>
            <a:pPr>
              <a:defRPr sz="2100"/>
            </a:pPr>
            <a:r>
              <a:t>Constraint blocks write unexpectedly after migration.</a:t>
            </a:r>
          </a:p>
          <a:p>
            <a:pPr>
              <a:defRPr sz="2100"/>
            </a:pPr>
            <a:r>
              <a:t>Temporary constraint table errors due to duplicate or invalid values.</a:t>
            </a:r>
          </a:p>
          <a:p>
            <a:pPr>
              <a:defRPr sz="2100"/>
            </a:pPr>
            <a:r>
              <a:t>Metadata differs between local and Supabase environments.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Checklist Before You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I can explain view vs materialized view tradeoffs clearly.</a:t>
            </a:r>
          </a:p>
          <a:p>
            <a:pPr>
              <a:defRPr sz="2100"/>
            </a:pPr>
            <a:r>
              <a:t>I can choose identity or sequence strategy with rationale.</a:t>
            </a:r>
          </a:p>
          <a:p>
            <a:pPr>
              <a:defRPr sz="2100"/>
            </a:pPr>
            <a:r>
              <a:t>I can implement and migrate constraints safely.</a:t>
            </a:r>
          </a:p>
          <a:p>
            <a:pPr>
              <a:defRPr sz="2100"/>
            </a:pPr>
            <a:r>
              <a:t>I can introspect live schema state without guessing.</a:t>
            </a:r>
          </a:p>
          <a:p>
            <a:pPr>
              <a:defRPr sz="2100"/>
            </a:pPr>
            <a:r>
              <a:t>I can defend my design with evidence and references.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and Week 5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PostgreSQL docs: CREATE VIEW, CREATE MATERIALIZED VIEW, constraints, identity columns.</a:t>
            </a:r>
          </a:p>
          <a:p>
            <a:pPr>
              <a:defRPr sz="2100"/>
            </a:pPr>
            <a:r>
              <a:t>PostgreSQL docs: information_schema and pg_catalog reference sections.</a:t>
            </a:r>
          </a:p>
          <a:p>
            <a:pPr>
              <a:defRPr sz="2100"/>
            </a:pPr>
            <a:r>
              <a:t>Supabase docs: migrations, roles, RLS, and inspect/monitoring workflows.</a:t>
            </a:r>
          </a:p>
          <a:p>
            <a:pPr>
              <a:defRPr sz="2100"/>
            </a:pPr>
            <a:r>
              <a:t>Next week: transactions, isolation, and locking symptoms under concurrency.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