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4 Day 2: Indexed Analytics &amp;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CST4714 Database Administration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Reset the lab dataset and confirm the schema</a:t>
            </a:r>
          </a:p>
          <a:p>
            <a:pPr>
              <a:defRPr sz="1600"/>
            </a:pPr>
            <a:r>
              <a:t>Benchmark one query before and after an index</a:t>
            </a:r>
          </a:p>
          <a:p>
            <a:pPr>
              <a:defRPr sz="1600"/>
            </a:pPr>
            <a:r>
              <a:t>Learn window functions in three short passes</a:t>
            </a:r>
          </a:p>
          <a:p>
            <a:pPr>
              <a:defRPr sz="1600"/>
            </a:pPr>
            <a:r>
              <a:t>Save the query as a view and share it safely</a:t>
            </a:r>
          </a:p>
          <a:p>
            <a:pPr>
              <a:defRPr sz="1600"/>
            </a:pPr>
            <a:r>
              <a:t>Refresh summary data with a simple trigger</a:t>
            </a:r>
          </a:p>
          <a:p>
            <a:pPr>
              <a:defRPr sz="1600"/>
            </a:pPr>
            <a:r>
              <a:t>Build an advisor-friendly function from the pieces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Resetting the Lab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Run `psql -f week_4/week4_day2_lab.sql` to rebuild the `week4_day2` schema.</a:t>
            </a:r>
          </a:p>
          <a:p>
            <a:pPr>
              <a:defRPr sz="1600"/>
            </a:pPr>
            <a:r>
              <a:t>Only lab tables are dropped; anything in `public` stays untouched.</a:t>
            </a:r>
          </a:p>
          <a:p>
            <a:pPr>
              <a:defRPr sz="1600"/>
            </a:pPr>
            <a:r>
              <a:t>Running it before class guarantees consistent row counts and plans.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`students` – roster of 60 learners with majors and entry terms.</a:t>
            </a:r>
          </a:p>
          <a:p>
            <a:pPr>
              <a:defRPr sz="1600"/>
            </a:pPr>
            <a:r>
              <a:t>`courses` + `course_offerings` – what runs each term and who teaches it.</a:t>
            </a:r>
          </a:p>
          <a:p>
            <a:pPr>
              <a:defRPr sz="1600"/>
            </a:pPr>
            <a:r>
              <a:t>`enrollments` – status, grade points, credits attempted/earned.</a:t>
            </a:r>
          </a:p>
          <a:p>
            <a:pPr>
              <a:defRPr sz="1600"/>
            </a:pPr>
            <a:r>
              <a:t>`term_credit_summary` + `enrollment_audit` – start empty for automation demos.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Constraints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Credit goals stay reasonable thanks to a CHECK on `students`.</a:t>
            </a:r>
          </a:p>
          <a:p>
            <a:pPr>
              <a:defRPr sz="1600"/>
            </a:pPr>
            <a:r>
              <a:t>`enforce_completed_grade` blocks a completed row without a grade.</a:t>
            </a:r>
          </a:p>
          <a:p>
            <a:pPr>
              <a:defRPr sz="1600"/>
            </a:pPr>
            <a:r>
              <a:t>Foreign keys guarantee enrollments always point to real students/offers.</a:t>
            </a:r>
          </a:p>
          <a:p>
            <a:pPr>
              <a:defRPr sz="1600"/>
            </a:pPr>
            <a:r>
              <a:t>Trustworthy constraints make the analytics believable.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Data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`generate_series` + name arrays produce varied full names.</a:t>
            </a:r>
          </a:p>
          <a:p>
            <a:pPr>
              <a:defRPr sz="1600"/>
            </a:pPr>
            <a:r>
              <a:t>Four consecutive terms give each student a transcript story.</a:t>
            </a:r>
          </a:p>
          <a:p>
            <a:pPr>
              <a:defRPr sz="1600"/>
            </a:pPr>
            <a:r>
              <a:t>Modular arithmetic sprinkles in completed, enrolled, and dropped rows.</a:t>
            </a:r>
          </a:p>
          <a:p>
            <a:pPr>
              <a:defRPr sz="1600"/>
            </a:pPr>
            <a:r>
              <a:t>Completed rows include grade points so GPA math works right away.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Query: Feel the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EXPLAIN (ANALYZE, BUFFERS)</a:t>
            </a:r>
            <a:br/>
            <a:r>
              <a:t>SELECT *</a:t>
            </a:r>
            <a:br/>
            <a:r>
              <a:t>FROM week4_day2.enrollments</a:t>
            </a:r>
            <a:br/>
            <a:r>
              <a:t>WHERE offering_id = 18 AND status = 'completed';</a:t>
            </a:r>
          </a:p>
          <a:p>
            <a:pPr>
              <a:defRPr sz="1600"/>
            </a:pPr>
            <a:r>
              <a:t>Expect a sequential scan, high buffer hits, and slower timing.</a:t>
            </a:r>
          </a:p>
          <a:p>
            <a:pPr>
              <a:defRPr sz="1600"/>
            </a:pPr>
            <a:r>
              <a:t>Screenshot this plan—it becomes the “before” artifact for the lab.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the Covering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CREATE INDEX CONCURRENTLY IF NOT EXISTS week4_day2_enrollments_offering_status_idx</a:t>
            </a:r>
            <a:br/>
            <a:r>
              <a:t>    ON week4_day2.enrollments (offering_id, status);</a:t>
            </a:r>
          </a:p>
          <a:p>
            <a:pPr>
              <a:defRPr sz="1600"/>
            </a:pPr>
            <a:r>
              <a:t>Follow with `ANALYZE week4_day2.enrollments;` to refresh statistics.</a:t>
            </a:r>
          </a:p>
          <a:p>
            <a:pPr>
              <a:defRPr sz="1600"/>
            </a:pPr>
            <a:r>
              <a:t>Explain why `CONCURRENTLY` matters even in a demo (no write lock).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Rerun 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same query should now show an Index or Bitmap Heap Scan.</a:t>
            </a:r>
          </a:p>
          <a:p>
            <a:pPr>
              <a:defRPr sz="1600"/>
            </a:pPr>
            <a:r>
              <a:t>Point out the reduced timing and buffer counts.</a:t>
            </a:r>
          </a:p>
          <a:p>
            <a:pPr>
              <a:defRPr sz="1600"/>
            </a:pPr>
            <a:r>
              <a:t>SELECT relname, idx_scan</a:t>
            </a:r>
            <a:br/>
            <a:r>
              <a:t>FROM pg_stat_user_indexes</a:t>
            </a:r>
            <a:br/>
            <a:r>
              <a:t>WHERE schemaname = 'week4_day2'</a:t>
            </a:r>
            <a:br/>
            <a:r>
              <a:t>  AND relname = 'week4_day2_enrollments_offering_status_idx';</a:t>
            </a:r>
          </a:p>
          <a:p>
            <a:pPr>
              <a:defRPr sz="1600"/>
            </a:pPr>
            <a:r>
              <a:t>Use the catalog query to prove PostgreSQL actually used the index.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the Planner Informed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Lab environments may need manual `ANALYZE`.</a:t>
            </a:r>
          </a:p>
          <a:p>
            <a:pPr>
              <a:defRPr sz="1600"/>
            </a:pPr>
            <a:r>
              <a:t>SELECT attname, n_distinct</a:t>
            </a:r>
            <a:br/>
            <a:r>
              <a:t>FROM pg_stats</a:t>
            </a:r>
            <a:br/>
            <a:r>
              <a:t>WHERE schemaname = 'week4_day2' AND tablename = 'enrollments';</a:t>
            </a:r>
          </a:p>
          <a:p>
            <a:pPr>
              <a:defRPr sz="1600"/>
            </a:pPr>
            <a:r>
              <a:t>Share on the midterm proposal which indexes and stats you rely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 Functions: Big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Start with a normal GROUP BY, then layer “bonus columns.”</a:t>
            </a:r>
          </a:p>
          <a:p>
            <a:pPr>
              <a:defRPr sz="1600"/>
            </a:pPr>
            <a:r>
              <a:t>`PARTITION BY` resets the calculation for each group you choose.</a:t>
            </a:r>
          </a:p>
          <a:p>
            <a:pPr>
              <a:defRPr sz="1600"/>
            </a:pPr>
            <a:r>
              <a:t>`ORDER BY` inside the window controls the sequence of rows.</a:t>
            </a:r>
          </a:p>
          <a:p>
            <a:pPr>
              <a:defRPr sz="1600"/>
            </a:pPr>
            <a:r>
              <a:t>Our bonus columns: ranking plus credits earned so far.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 1 – Plain Aggregate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SELECT s.full_name,</a:t>
            </a:r>
            <a:br/>
            <a:r>
              <a:t>       o.term,</a:t>
            </a:r>
            <a:br/>
            <a:r>
              <a:t>       SUM(e.grade_points * e.credits_attempted) / NULLIF(SUM(e.credits_attempted), 0) AS term_gpa,</a:t>
            </a:r>
            <a:br/>
            <a:r>
              <a:t>       SUM(e.credits_earned) AS term_credits</a:t>
            </a:r>
            <a:br/>
            <a:r>
              <a:t>FROM week4_day2.enrollments e</a:t>
            </a:r>
            <a:br/>
            <a:r>
              <a:t>JOIN week4_day2.course_offerings o ON o.offering_id = e.offering_id</a:t>
            </a:r>
            <a:br/>
            <a:r>
              <a:t>JOIN week4_day2.students s        ON s.student_id = e.student_id</a:t>
            </a:r>
            <a:br/>
            <a:r>
              <a:t>WHERE e.status = 'completed'</a:t>
            </a:r>
            <a:br/>
            <a:r>
              <a:t>GROUP BY s.full_name, o.term</a:t>
            </a:r>
            <a:br/>
            <a:r>
              <a:t>ORDER BY o.term, term_gpa DESC;</a:t>
            </a:r>
          </a:p>
          <a:p>
            <a:pPr>
              <a:defRPr sz="1600"/>
            </a:pPr>
            <a:r>
              <a:t>Describe this as the term scoreboard for each student.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 2 – Add a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WITH per_term AS (</a:t>
            </a:r>
            <a:br/>
            <a:r>
              <a:t>    -- use Pass 1 query here</a:t>
            </a:r>
            <a:br/>
            <a:r>
              <a:t>)</a:t>
            </a:r>
            <a:br/>
            <a:r>
              <a:t>SELECT *,</a:t>
            </a:r>
            <a:br/>
            <a:r>
              <a:t>       ROW_NUMBER() OVER (PARTITION BY term ORDER BY term_gpa DESC) AS term_rank</a:t>
            </a:r>
            <a:br/>
            <a:r>
              <a:t>FROM per_term</a:t>
            </a:r>
            <a:br/>
            <a:r>
              <a:t>ORDER BY term, term_rank;</a:t>
            </a:r>
          </a:p>
          <a:p>
            <a:pPr>
              <a:defRPr sz="1600"/>
            </a:pPr>
            <a:r>
              <a:t>Message: PARTITION BY term simply restarts the numbering every term.</a:t>
            </a:r>
          </a:p>
          <a:p>
            <a:pPr>
              <a:defRPr sz="1600"/>
            </a:pPr>
            <a:r>
              <a:t>Encourage students to read the result aloud to cement the idea.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 3 – Running Credits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WITH per_term AS (</a:t>
            </a:r>
            <a:br/>
            <a:r>
              <a:t>    -- same Pass 1 query</a:t>
            </a:r>
            <a:br/>
            <a:r>
              <a:t>)</a:t>
            </a:r>
            <a:br/>
            <a:r>
              <a:t>SELECT full_name,</a:t>
            </a:r>
            <a:br/>
            <a:r>
              <a:t>       term,</a:t>
            </a:r>
            <a:br/>
            <a:r>
              <a:t>       term_gpa,</a:t>
            </a:r>
            <a:br/>
            <a:r>
              <a:t>       term_rank,</a:t>
            </a:r>
            <a:br/>
            <a:r>
              <a:t>       SUM(term_credits)</a:t>
            </a:r>
            <a:br/>
            <a:r>
              <a:t>           OVER (PARTITION BY full_name ORDER BY term</a:t>
            </a:r>
            <a:br/>
            <a:r>
              <a:t>                 ROWS BETWEEN UNBOUNDED PRECEDING AND CURRENT ROW) AS credits_so_far</a:t>
            </a:r>
            <a:br/>
            <a:r>
              <a:t>FROM per_term</a:t>
            </a:r>
            <a:br/>
            <a:r>
              <a:t>ORDER BY term, term_rank;</a:t>
            </a:r>
          </a:p>
          <a:p>
            <a:pPr>
              <a:defRPr sz="1600"/>
            </a:pPr>
            <a:r>
              <a:t>Explain the window in plain English: “For this student, add earlier rows.”</a:t>
            </a:r>
          </a:p>
          <a:p>
            <a:pPr>
              <a:defRPr sz="1600"/>
            </a:pPr>
            <a:r>
              <a:t>Show a 3–4 row sample so everyone can visualise the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full_name | term | term_gpa | term_rank | credits_so_far</a:t>
            </a:r>
          </a:p>
          <a:p>
            <a:pPr>
              <a:defRPr sz="1600"/>
            </a:pPr>
            <a:r>
              <a:t>Andrea Flores | 2023-Fall | 3.67 | 1 | 12</a:t>
            </a:r>
          </a:p>
          <a:p>
            <a:pPr>
              <a:defRPr sz="1600"/>
            </a:pPr>
            <a:r>
              <a:t>Brian Kim | 2023-Fall | 3.20 | 2 | 9</a:t>
            </a:r>
          </a:p>
          <a:p>
            <a:pPr>
              <a:defRPr sz="1600"/>
            </a:pPr>
            <a:r>
              <a:t>Use a screenshot or reading exercise so students connect the dots.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 It as a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CREATE OR REPLACE VIEW week4_day2.vw_student_term_progress AS</a:t>
            </a:r>
            <a:br/>
            <a:r>
              <a:t>&lt;pass 3 query&gt;;</a:t>
            </a:r>
          </a:p>
          <a:p>
            <a:pPr>
              <a:defRPr sz="1600"/>
            </a:pPr>
            <a:r>
              <a:t>Views are just saved SELECT statements—nothing mysterious.</a:t>
            </a:r>
          </a:p>
          <a:p>
            <a:pPr>
              <a:defRPr sz="1600"/>
            </a:pPr>
            <a:r>
              <a:t>Mention optional comments and simple grants for future you.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 the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GRANT SELECT ON week4_day2.vw_student_term_progress</a:t>
            </a:r>
            <a:br/>
            <a:r>
              <a:t>    TO reporting_role;</a:t>
            </a:r>
          </a:p>
          <a:p>
            <a:pPr>
              <a:defRPr sz="1600"/>
            </a:pPr>
            <a:r>
              <a:t>Hand analysts the view, not the raw tables.</a:t>
            </a:r>
          </a:p>
          <a:p>
            <a:pPr>
              <a:defRPr sz="1600"/>
            </a:pPr>
            <a:r>
              <a:t>If needed later, add `security_barrier = true` for stricter filtering.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Goal: whenever a grade changes, refresh the summary table.</a:t>
            </a:r>
          </a:p>
          <a:p>
            <a:pPr>
              <a:defRPr sz="1600"/>
            </a:pPr>
            <a:r>
              <a:t>Attach an `AFTER INSERT OR UPDATE` trigger to enrollments.</a:t>
            </a:r>
          </a:p>
          <a:p>
            <a:pPr>
              <a:defRPr sz="1600"/>
            </a:pPr>
            <a:r>
              <a:t>If the trigger fails, the original UPDATE is rolled back automatically.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Simpler update_term_summary()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CREATE OR REPLACE FUNCTION week4_day2.update_term_summary()</a:t>
            </a:r>
            <a:br/>
            <a:r>
              <a:t>RETURNS trigger</a:t>
            </a:r>
            <a:br/>
            <a:r>
              <a:t>LANGUAGE plpgsql AS $$</a:t>
            </a:r>
            <a:br/>
            <a:r>
              <a:t>DECLARE</a:t>
            </a:r>
            <a:br/>
            <a:r>
              <a:t>    v_term text;</a:t>
            </a:r>
            <a:br/>
            <a:r>
              <a:t>    v_attempted int;</a:t>
            </a:r>
            <a:br/>
            <a:r>
              <a:t>    v_earned int;</a:t>
            </a:r>
            <a:br/>
            <a:r>
              <a:t>    v_quality numeric(10,2);</a:t>
            </a:r>
            <a:br/>
            <a:r>
              <a:t>BEGIN</a:t>
            </a:r>
            <a:br/>
            <a:r>
              <a:t>    SELECT term INTO v_term</a:t>
            </a:r>
            <a:br/>
            <a:r>
              <a:t>    FROM week4_day2.course_offerings</a:t>
            </a:r>
            <a:br/>
            <a:r>
              <a:t>    WHERE offering_id = NEW.offering_id;</a:t>
            </a:r>
            <a:br/>
            <a:br/>
            <a:r>
              <a:t>    SELECT COALESCE(SUM(e.credits_attempted), 0),</a:t>
            </a:r>
            <a:br/>
            <a:r>
              <a:t>           COALESCE(SUM(e.credits_earned), 0),</a:t>
            </a:r>
            <a:br/>
            <a:r>
              <a:t>           COALESCE(SUM(COALESCE(e.grade_points, 0) * e.credits_attempted), 0)</a:t>
            </a:r>
            <a:br/>
            <a:r>
              <a:t>    INTO v_attempted, v_earned, v_quality</a:t>
            </a:r>
            <a:br/>
            <a:r>
              <a:t>    FROM week4_day2.enrollments e</a:t>
            </a:r>
            <a:br/>
            <a:r>
              <a:t>    JOIN week4_day2.course_offerings o ON o.offering_id = e.offering_id</a:t>
            </a:r>
            <a:br/>
            <a:r>
              <a:t>    WHERE e.student_id = NEW.student_id</a:t>
            </a:r>
            <a:br/>
            <a:r>
              <a:t>      AND o.term = v_term</a:t>
            </a:r>
            <a:br/>
            <a:r>
              <a:t>      AND e.status = 'completed';</a:t>
            </a:r>
            <a:br/>
            <a:br/>
            <a:r>
              <a:t>    INSERT INTO week4_day2.term_credit_summary (...)</a:t>
            </a:r>
            <a:br/>
            <a:r>
              <a:t>    VALUES (...)</a:t>
            </a:r>
            <a:br/>
            <a:r>
              <a:t>    ON CONFLICT (...) DO UPDATE ...;</a:t>
            </a:r>
            <a:br/>
            <a:r>
              <a:t>    RETURN NEW;</a:t>
            </a:r>
            <a:br/>
            <a:r>
              <a:t>END;</a:t>
            </a:r>
            <a:br/>
            <a:r>
              <a:t>$$;</a:t>
            </a:r>
          </a:p>
          <a:p>
            <a:pPr>
              <a:defRPr sz="1600"/>
            </a:pPr>
            <a:r>
              <a:t>Talk through the structure: find the term, aggregate once, upsert once.</a:t>
            </a:r>
          </a:p>
          <a:p>
            <a:pPr>
              <a:defRPr sz="1600"/>
            </a:pPr>
            <a:r>
              <a:t>Fill in the ellipses live so students see the final code.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Attach the Trigger &amp;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CREATE TRIGGER enrollment_finalize_summary</a:t>
            </a:r>
            <a:br/>
            <a:r>
              <a:t>AFTER INSERT OR UPDATE OF status, grade_points, credits_earned</a:t>
            </a:r>
            <a:br/>
            <a:r>
              <a:t>ON week4_day2.enrollments</a:t>
            </a:r>
            <a:br/>
            <a:r>
              <a:t>FOR EACH ROW EXECUTE FUNCTION week4_day2.update_term_summary();</a:t>
            </a:r>
          </a:p>
          <a:p>
            <a:pPr>
              <a:defRPr sz="1600"/>
            </a:pPr>
            <a:r>
              <a:t>Demo: mark enrollment 25 as completed, then query the summary table.</a:t>
            </a:r>
          </a:p>
          <a:p>
            <a:pPr>
              <a:defRPr sz="1600"/>
            </a:pPr>
            <a:r>
              <a:t>Optional stretch: insert into `enrollment_audit` for change history.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Advisor Helper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CREATE OR REPLACE FUNCTION week4_day2.fn_flag_at_risk(</a:t>
            </a:r>
            <a:br/>
            <a:r>
              <a:t>    p_term text,</a:t>
            </a:r>
            <a:br/>
            <a:r>
              <a:t>    p_min_gpa numeric,</a:t>
            </a:r>
            <a:br/>
            <a:r>
              <a:t>    p_min_credits int)</a:t>
            </a:r>
            <a:br/>
            <a:r>
              <a:t>RETURNS TABLE (</a:t>
            </a:r>
            <a:br/>
            <a:r>
              <a:t>    student_id uuid,</a:t>
            </a:r>
            <a:br/>
            <a:r>
              <a:t>    full_name text,</a:t>
            </a:r>
            <a:br/>
            <a:r>
              <a:t>    term text,</a:t>
            </a:r>
            <a:br/>
            <a:r>
              <a:t>    term_gpa numeric,</a:t>
            </a:r>
            <a:br/>
            <a:r>
              <a:t>    credits_so_far int)</a:t>
            </a:r>
            <a:br/>
            <a:r>
              <a:t>LANGUAGE sql AS $$</a:t>
            </a:r>
            <a:br/>
            <a:r>
              <a:t>    SELECT v.student_id,</a:t>
            </a:r>
            <a:br/>
            <a:r>
              <a:t>           v.full_name,</a:t>
            </a:r>
            <a:br/>
            <a:r>
              <a:t>           v.term,</a:t>
            </a:r>
            <a:br/>
            <a:r>
              <a:t>           v.term_gpa,</a:t>
            </a:r>
            <a:br/>
            <a:r>
              <a:t>           t.credits_earned AS credits_so_far</a:t>
            </a:r>
            <a:br/>
            <a:r>
              <a:t>    FROM week4_day2.vw_student_term_progress v</a:t>
            </a:r>
            <a:br/>
            <a:r>
              <a:t>    JOIN week4_day2.term_credit_summary t</a:t>
            </a:r>
            <a:br/>
            <a:r>
              <a:t>      ON t.student_id = v.student_id AND t.term = v.term</a:t>
            </a:r>
            <a:br/>
            <a:r>
              <a:t>    WHERE v.term = p_term</a:t>
            </a:r>
            <a:br/>
            <a:r>
              <a:t>      AND (v.term_gpa &lt; p_min_gpa OR t.credits_earned &lt; p_min_credits)</a:t>
            </a:r>
            <a:br/>
            <a:r>
              <a:t>    ORDER BY v.term_gpa;</a:t>
            </a:r>
            <a:br/>
            <a:r>
              <a:t>$$;</a:t>
            </a:r>
          </a:p>
          <a:p>
            <a:pPr>
              <a:defRPr sz="1600"/>
            </a:pPr>
            <a:r>
              <a:t>Call it with `SELECT * FROM week4_day2.fn_flag_at_risk('2024-Spring', 2.5, 9);`.</a:t>
            </a:r>
          </a:p>
          <a:p>
            <a:pPr>
              <a:defRPr sz="1600"/>
            </a:pPr>
            <a:r>
              <a:t>Read the results aloud like an advisor checklist.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Before/after `EXPLAIN` screenshots for the indexing step.</a:t>
            </a:r>
          </a:p>
          <a:p>
            <a:pPr>
              <a:defRPr sz="1600"/>
            </a:pPr>
            <a:r>
              <a:t>Query output from the window-function view.</a:t>
            </a:r>
          </a:p>
          <a:p>
            <a:pPr>
              <a:defRPr sz="1600"/>
            </a:pPr>
            <a:r>
              <a:t>Rows from `term_credit_summary` after running the trigger test.</a:t>
            </a:r>
          </a:p>
          <a:p>
            <a:pPr>
              <a:defRPr sz="1600"/>
            </a:pPr>
            <a:r>
              <a:t>Results from the advisor helper function with your thresholds.</a:t>
            </a:r>
          </a:p>
          <a:p>
            <a:pPr>
              <a:defRPr sz="1600"/>
            </a:pPr>
            <a:r>
              <a:t>Reflection prompt: “Indexing mattered most when ____.”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Double-check trigger math and audit rows before submitting the lab.</a:t>
            </a:r>
          </a:p>
          <a:p>
            <a:pPr>
              <a:defRPr sz="1600"/>
            </a:pPr>
            <a:r>
              <a:t>Document the index, view, trigger, and function for the midterm proposal.</a:t>
            </a:r>
          </a:p>
          <a:p>
            <a:pPr>
              <a:defRPr sz="1600"/>
            </a:pPr>
            <a:r>
              <a:t>Experiment with new thresholds or extra columns if time remains.</a:t>
            </a:r>
          </a:p>
          <a:p>
            <a:pPr>
              <a:defRPr sz="1600"/>
            </a:pPr>
            <a:r>
              <a:t>Bring any open questions to the proposal workshop.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