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Week 4 — Advanced SQL &amp; Transaction Management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>
                <a:solidFill>
                  <a:srgbClr val="222222"/>
                </a:solidFill>
              </a:defRPr>
            </a:pPr>
            <a:r>
              <a:t>CST4714 Database Administration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Functions, views, triggers, constraints, and ACID guarantees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22222"/>
                </a:solidFill>
              </a:defRPr>
            </a:pPr>
            <a:r>
              <a:t>Review advanced SQL building blocks and server-side programming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Deep dive on constraints, triggers, and enforcing business rules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Transaction processing: ACID properties and isolation levels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Hands-on lab preview: create views/triggers, test constraints, manage transactions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Kick off midterm project proposal planning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Advanced SQL Building Blocks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22222"/>
                </a:solidFill>
              </a:defRPr>
            </a:pPr>
            <a:r>
              <a:t>Functions: reusable logic executed on the server, authored in SQL or PL/pgSQL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Views: saved query abstractions that secure and simplify data access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Triggers: event-driven hooks invoking functions before/after DML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Constraints: declarative guards ensuring structural and business integrity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Transactions: atomic units of work that maintain database consistency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User-Defined Functions Overview</a:t>
            </a:r>
          </a:p>
          <a:p/>
          <a:p>
            <a:pPr>
              <a:defRPr sz="1400">
                <a:latin typeface="Courier New"/>
              </a:defRPr>
            </a:pPr>
            <a:r>
              <a:t>-- SQL vs PL/pgSQL function creation</a:t>
            </a:r>
            <a:br/>
            <a:r>
              <a:t>CREATE FUNCTION util.add_tax(amount numeric)</a:t>
            </a:r>
            <a:br/>
            <a:r>
              <a:t>RETURNS numeric LANGUAGE sql AS</a:t>
            </a:r>
            <a:br/>
            <a:r>
              <a:t>$$ SELECT amount * 1.08875; $$;</a:t>
            </a:r>
            <a:br/>
            <a:br/>
            <a:r>
              <a:t>CREATE OR REPLACE FUNCTION audit.log_change()</a:t>
            </a:r>
            <a:br/>
            <a:r>
              <a:t>RETURNS trigger LANGUAGE plpgsql AS $$</a:t>
            </a:r>
            <a:br/>
            <a:r>
              <a:t>BEGIN</a:t>
            </a:r>
            <a:br/>
            <a:r>
              <a:t>  INSERT INTO audit.log(table_name, payload)</a:t>
            </a:r>
            <a:br/>
            <a:r>
              <a:t>  VALUES (TG_TABLE_NAME, row_to_json(NEW));</a:t>
            </a:r>
            <a:br/>
            <a:r>
              <a:t>  RETURN NEW;</a:t>
            </a:r>
            <a:br/>
            <a:r>
              <a:t>END;</a:t>
            </a:r>
            <a:br/>
            <a:r>
              <a:t>$$;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22222"/>
                </a:solidFill>
              </a:defRPr>
            </a:pPr>
            <a:r>
              <a:t>Languages: SQL for simple expressions, PL/pgSQL for procedural logic, extensions for Python/JavaScript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Volatility categories control planner assumptions (`IMMUTABLE`, `STABLE`, `VOLATILE`)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Parameter mode support (`IN`, `OUT`, `VARIADIC`) and default values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Security context: `SECURITY INVOKER` (default) vs `SECURITY DEFINER` for elevated tasks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Creating PL/pgSQL Functions</a:t>
            </a:r>
          </a:p>
          <a:p/>
          <a:p>
            <a:pPr>
              <a:defRPr sz="1400">
                <a:latin typeface="Courier New"/>
              </a:defRPr>
            </a:pPr>
            <a:r>
              <a:t>CREATE OR REPLACE FUNCTION finance.apply_discount(</a:t>
            </a:r>
            <a:br/>
            <a:r>
              <a:t>    order_id uuid,</a:t>
            </a:r>
            <a:br/>
            <a:r>
              <a:t>    pct numeric</a:t>
            </a:r>
            <a:br/>
            <a:r>
              <a:t>) RETURNS VOID</a:t>
            </a:r>
            <a:br/>
            <a:r>
              <a:t>LANGUAGE plpgsql</a:t>
            </a:r>
            <a:br/>
            <a:r>
              <a:t>AS $$</a:t>
            </a:r>
            <a:br/>
            <a:r>
              <a:t>BEGIN</a:t>
            </a:r>
            <a:br/>
            <a:r>
              <a:t>  UPDATE orders</a:t>
            </a:r>
            <a:br/>
            <a:r>
              <a:t>     SET order_total = order_total * (1 - pct)</a:t>
            </a:r>
            <a:br/>
            <a:r>
              <a:t>   WHERE id = order_id;</a:t>
            </a:r>
            <a:br/>
            <a:r>
              <a:t>  PERFORM pg_notify('pricing', order_id::text);</a:t>
            </a:r>
            <a:br/>
            <a:r>
              <a:t>END;</a:t>
            </a:r>
            <a:br/>
            <a:r>
              <a:t>$$;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22222"/>
                </a:solidFill>
              </a:defRPr>
            </a:pPr>
            <a:r>
              <a:t>Definition pattern: `CREATE OR REPLACE FUNCTION schema.fn(args) RETURNS type LANGUAGE plpgsql AS $$ ... $$;`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Use `DECLARE` block for variables and `BEGIN ... END` for logic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Return scalars, sets (`RETURNS TABLE`), or `SETOF` composite types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Add unit tests with `DO $$` blocks or extension frameworks (pgTAP) to validate behaviour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Views &amp; Materialized Views</a:t>
            </a:r>
          </a:p>
          <a:p/>
          <a:p>
            <a:pPr>
              <a:defRPr sz="1400">
                <a:latin typeface="Courier New"/>
              </a:defRPr>
            </a:pPr>
            <a:r>
              <a:t>CREATE VIEW reporting.active_customers AS</a:t>
            </a:r>
            <a:br/>
            <a:r>
              <a:t>SELECT id, full_name, email</a:t>
            </a:r>
            <a:br/>
            <a:r>
              <a:t>  FROM customers</a:t>
            </a:r>
            <a:br/>
            <a:r>
              <a:t> WHERE status = 'active';</a:t>
            </a:r>
            <a:br/>
            <a:br/>
            <a:r>
              <a:t>grant select ON reporting.active_customers TO analyst;</a:t>
            </a:r>
            <a:br/>
            <a:br/>
            <a:r>
              <a:t>CREATE MATERIALIZED VIEW reporting.monthly_sales AS</a:t>
            </a:r>
            <a:br/>
            <a:r>
              <a:t>SELECT date_trunc('month', created_at) AS month,</a:t>
            </a:r>
            <a:br/>
            <a:r>
              <a:t>       SUM(order_total) AS revenue</a:t>
            </a:r>
            <a:br/>
            <a:r>
              <a:t>  FROM orders</a:t>
            </a:r>
            <a:br/>
            <a:r>
              <a:t> GROUP BY 1;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22222"/>
                </a:solidFill>
              </a:defRPr>
            </a:pPr>
            <a:r>
              <a:t>`CREATE VIEW` stores query definitions; security barrier ensures predicate pushdown safety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Use views to expose curated subsets, hide join complexity, and enforce row-level permissions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Materialized views persist results; require `REFRESH MATERIALIZED VIEW` to stay current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Consider indexes on materialized view columns for reporting workloads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Designing Robust Views</a:t>
            </a:r>
          </a:p>
          <a:p/>
          <a:p>
            <a:pPr>
              <a:defRPr sz="1400">
                <a:latin typeface="Courier New"/>
              </a:defRPr>
            </a:pPr>
            <a:r>
              <a:t>CREATE VIEW sales.premium_orders AS</a:t>
            </a:r>
            <a:br/>
            <a:r>
              <a:t>SELECT * FROM orders WHERE order_total &gt; 500</a:t>
            </a:r>
            <a:br/>
            <a:r>
              <a:t>WITH CHECK OPTION;</a:t>
            </a:r>
            <a:br/>
            <a:br/>
            <a:r>
              <a:t>ALTER VIEW sales.premium_orders SET (security_barrier = true);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22222"/>
                </a:solidFill>
              </a:defRPr>
            </a:pPr>
            <a:r>
              <a:t>Apply column aliases and document semantics to improve discoverability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Use `WITH CHECK OPTION` to prevent updates that violate view filters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Leverage `security_barrier = on` for views used in security-sensitive contexts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Version control view definitions alongside migrations to track schema evolution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Constraint Toolbox</a:t>
            </a:r>
          </a:p>
          <a:p/>
          <a:p>
            <a:pPr>
              <a:defRPr sz="1400">
                <a:latin typeface="Courier New"/>
              </a:defRPr>
            </a:pPr>
            <a:r>
              <a:t>CREATE TABLE reservations (</a:t>
            </a:r>
            <a:br/>
            <a:r>
              <a:t>    id serial PRIMARY KEY,</a:t>
            </a:r>
            <a:br/>
            <a:r>
              <a:t>    room_id int NOT NULL,</a:t>
            </a:r>
            <a:br/>
            <a:r>
              <a:t>    starts_at tstzrange NOT NULL,</a:t>
            </a:r>
            <a:br/>
            <a:r>
              <a:t>    CONSTRAINT no_overlap</a:t>
            </a:r>
            <a:br/>
            <a:r>
              <a:t>      EXCLUDE USING gist (room_id WITH =, starts_at WITH &amp;&amp;)</a:t>
            </a:r>
            <a:br/>
            <a:r>
              <a:t>);</a:t>
            </a:r>
            <a:br/>
            <a:br/>
            <a:r>
              <a:t>ALTER TABLE bookings</a:t>
            </a:r>
            <a:br/>
            <a:r>
              <a:t>  ADD CONSTRAINT price_positive CHECK (total &gt;= 0);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22222"/>
                </a:solidFill>
              </a:defRPr>
            </a:pPr>
            <a:r>
              <a:t>Structural: `PRIMARY KEY`, `UNIQUE`, `NOT NULL`, `FOREIGN KEY` maintain relational integrity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Business logic: `CHECK` constraints evaluate expressions per row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Exclusion constraints (`USING gist`) prevent conflicting ranges or schedules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Domain constraints let you define reusable typed validations across tables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Advanced Constraint Management</a:t>
            </a:r>
          </a:p>
          <a:p/>
          <a:p>
            <a:pPr>
              <a:defRPr sz="1400">
                <a:latin typeface="Courier New"/>
              </a:defRPr>
            </a:pPr>
            <a:r>
              <a:t>ALTER TABLE orders</a:t>
            </a:r>
            <a:br/>
            <a:r>
              <a:t>  ADD CONSTRAINT fk_customer</a:t>
            </a:r>
            <a:br/>
            <a:r>
              <a:t>  FOREIGN KEY (customer_id)</a:t>
            </a:r>
            <a:br/>
            <a:r>
              <a:t>  REFERENCES customers(id)</a:t>
            </a:r>
            <a:br/>
            <a:r>
              <a:t>  ON DELETE RESTRICT;</a:t>
            </a:r>
            <a:br/>
            <a:br/>
            <a:r>
              <a:t>ALTER TABLE invoices</a:t>
            </a:r>
            <a:br/>
            <a:r>
              <a:t>  ADD CONSTRAINT invoices_unique</a:t>
            </a:r>
            <a:br/>
            <a:r>
              <a:t>  UNIQUE (invoice_number) DEFERRABLE INITIALLY DEFERRED;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22222"/>
                </a:solidFill>
              </a:defRPr>
            </a:pPr>
            <a:r>
              <a:t>Deferrable constraints postpone enforcement until transaction commit (`DEFERRABLE INITIALLY DEFERRED`)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Use `ALTER TABLE ... VALIDATE CONSTRAINT` when backfilling large datasets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Document cascading behaviours for foreign keys (`ON DELETE CASCADE/SET NULL/RESTRICT`)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Prefer declarative constraints over trigger-based validation when possible for planner awareness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Trigger Fundamentals</a:t>
            </a:r>
          </a:p>
          <a:p/>
          <a:p>
            <a:pPr>
              <a:defRPr sz="1400">
                <a:latin typeface="Courier New"/>
              </a:defRPr>
            </a:pPr>
            <a:r>
              <a:t>CREATE OR REPLACE FUNCTION audit.order_history()</a:t>
            </a:r>
            <a:br/>
            <a:r>
              <a:t>RETURNS trigger LANGUAGE plpgsql AS $$</a:t>
            </a:r>
            <a:br/>
            <a:r>
              <a:t>BEGIN</a:t>
            </a:r>
            <a:br/>
            <a:r>
              <a:t>  INSERT INTO audit.orders(order_id, payload, changed_at)</a:t>
            </a:r>
            <a:br/>
            <a:r>
              <a:t>  VALUES (NEW.id, row_to_json(NEW), now());</a:t>
            </a:r>
            <a:br/>
            <a:r>
              <a:t>  RETURN NEW;</a:t>
            </a:r>
            <a:br/>
            <a:r>
              <a:t>END;</a:t>
            </a:r>
            <a:br/>
            <a:r>
              <a:t>$$;</a:t>
            </a:r>
            <a:br/>
            <a:br/>
            <a:r>
              <a:t>CREATE TRIGGER orders_after_update</a:t>
            </a:r>
            <a:br/>
            <a:r>
              <a:t>AFTER UPDATE ON orders</a:t>
            </a:r>
            <a:br/>
            <a:r>
              <a:t>FOR EACH ROW EXECUTE FUNCTION audit.order_history();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22222"/>
                </a:solidFill>
              </a:defRPr>
            </a:pPr>
            <a:r>
              <a:t>Triggers fire on table events: `INSERT`, `UPDATE`, `DELETE`, `TRUNCATE`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Timing: `BEFORE` for validation/mutation, `AFTER` for logging or side effects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Statement vs row-level triggers based on workload characteristics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Executed function must return appropriate record (`NEW`/`OLD`) for row-level triggers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Trigger Design Patterns</a:t>
            </a:r>
          </a:p>
          <a:p/>
          <a:p>
            <a:pPr>
              <a:defRPr sz="1400">
                <a:latin typeface="Courier New"/>
              </a:defRPr>
            </a:pPr>
            <a:r>
              <a:t>-- Denormalised counter update</a:t>
            </a:r>
            <a:br/>
            <a:r>
              <a:t>CREATE TRIGGER decrement_inventory</a:t>
            </a:r>
            <a:br/>
            <a:r>
              <a:t>AFTER INSERT ON order_items</a:t>
            </a:r>
            <a:br/>
            <a:r>
              <a:t>FOR EACH ROW EXECUTE FUNCTION inventory.log_sale();</a:t>
            </a:r>
            <a:br/>
            <a:br/>
            <a:r>
              <a:t>-- Guard rail</a:t>
            </a:r>
            <a:br/>
            <a:r>
              <a:t>CREATE TRIGGER prevent_negative_balance</a:t>
            </a:r>
            <a:br/>
            <a:r>
              <a:t>BEFORE UPDATE ON accounts</a:t>
            </a:r>
            <a:br/>
            <a:r>
              <a:t>FOR EACH ROW</a:t>
            </a:r>
            <a:br/>
            <a:r>
              <a:t>WHEN (NEW.balance &lt; 0)</a:t>
            </a:r>
            <a:br/>
            <a:r>
              <a:t>EXECUTE FUNCTION util.raise_if_negative();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22222"/>
                </a:solidFill>
              </a:defRPr>
            </a:pPr>
            <a:r>
              <a:t>Audit trail: insert into history table capturing `OLD`, `NEW`, actor, timestamp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Denormalisation: maintain summary table counters after writes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Data sanitisation: enforce case formatting, derived columns before insert/update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Guard rails: raise exceptions when business rules are violated instead of silent corrections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Transactions &amp; ACID</a:t>
            </a:r>
          </a:p>
          <a:p/>
          <a:p>
            <a:pPr>
              <a:defRPr sz="1400">
                <a:latin typeface="Courier New"/>
              </a:defRPr>
            </a:pPr>
            <a:r>
              <a:t>BEGIN;</a:t>
            </a:r>
            <a:br/>
            <a:r>
              <a:t>UPDATE accounts SET balance = balance - 100 WHERE id = 1;</a:t>
            </a:r>
            <a:br/>
            <a:r>
              <a:t>UPDATE accounts SET balance = balance + 100 WHERE id = 2;</a:t>
            </a:r>
            <a:br/>
            <a:r>
              <a:t>COMMIT;  -- ROLLBACK if any statement fails</a:t>
            </a:r>
            <a:br/>
            <a:br/>
            <a:r>
              <a:t>SET SESSION CHARACTERISTICS AS TRANSACTION ISOLATION LEVEL SERIALIZABLE;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22222"/>
                </a:solidFill>
              </a:defRPr>
            </a:pPr>
            <a:r>
              <a:t>Atomicity: all statements succeed or none persist (`BEGIN ... COMMIT` / `ROLLBACK`)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Consistency: constraints and triggers maintain valid database states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Isolation: concurrent transactions behave as if executed serially depending on level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Durability: committed changes survive crashes via WAL and checkpoints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Isolation Levels &amp; Concurrency</a:t>
            </a:r>
          </a:p>
          <a:p/>
          <a:p>
            <a:pPr>
              <a:defRPr sz="1400">
                <a:latin typeface="Courier New"/>
              </a:defRPr>
            </a:pPr>
            <a:r>
              <a:rPr/>
              <a:t>-- Lock a row for transfer</a:t>
            </a:r>
            <a:br/>
            <a:r>
              <a:rPr/>
              <a:t>BEGIN;</a:t>
            </a:r>
            <a:br/>
            <a:r>
              <a:rPr/>
              <a:t>SET TRANSACTION ISOLATION LEVEL REPEATABLE READ;</a:t>
            </a:r>
            <a:br/>
            <a:r>
              <a:rPr/>
              <a:t>SELECT balance FROM accounts WHERE id = 1 FOR UPDATE;</a:t>
            </a:r>
            <a:br/>
            <a:r>
              <a:rPr/>
              <a:t>-- perform business logic</a:t>
            </a:r>
            <a:br/>
            <a:r>
              <a:rPr/>
              <a:t>COMMIT;</a:t>
            </a:r>
            <a:br/>
            <a:br/>
            <a:r>
              <a:rPr/>
              <a:t>SELECT pid, wait_event, locktype</a:t>
            </a:r>
            <a:br/>
            <a:r>
              <a:rPr/>
              <a:t>  FROM pg_locks JOIN pg_stat_activity USING (pid)</a:t>
            </a:r>
            <a:br/>
            <a:r>
              <a:rPr/>
              <a:t> WHERE wait_event IS NOT NULL;</a:t>
            </a:r>
          </a:p>
          <a:p>
            <a:pPr>
              <a:defRPr sz="1400">
                <a:latin typeface="Courier New"/>
              </a:defRPr>
            </a:pPr>
            <a:r>
              <a:t>BEGIN;</a:t>
            </a:r>
            <a:br/>
            <a:r>
              <a:t>SET TRANSACTION ISOLATION LEVEL REPEATABLE READ;</a:t>
            </a:r>
            <a:br/>
            <a:r>
              <a:t>SELECT balance FROM accounts WHERE id = 1 FOR UPDATE;</a:t>
            </a:r>
            <a:br/>
            <a:r>
              <a:t>-- business logic here</a:t>
            </a:r>
            <a:br/>
            <a:r>
              <a:t>COMMIT;</a:t>
            </a:r>
            <a:br/>
            <a:br/>
            <a:r>
              <a:t>SELECT pid, locktype, mode</a:t>
            </a:r>
            <a:br/>
            <a:r>
              <a:t>  FROM pg_locks</a:t>
            </a:r>
            <a:br/>
            <a:r>
              <a:t> WHERE granted = false;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22222"/>
                </a:solidFill>
              </a:defRPr>
            </a:pPr>
            <a:r>
              <a:t>PostgreSQL defaults to `READ COMMITTED`; `REPEATABLE READ` and `SERIALIZABLE` increase safety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Phenomena: dirty reads, non-repeatable reads, phantom reads, write skew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Use explicit locking (`SELECT ... FOR UPDATE`) or advisory locks for coordination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Monitor conflicts with `pg_stat_activity`, `pg_locks`, and server logs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Transaction Troubleshooting</a:t>
            </a:r>
          </a:p>
          <a:p/>
          <a:p>
            <a:pPr>
              <a:defRPr sz="1400">
                <a:latin typeface="Courier New"/>
              </a:defRPr>
            </a:pPr>
            <a:r>
              <a:rPr/>
              <a:t>-- Investigate deadlock victims</a:t>
            </a:r>
            <a:br/>
            <a:r>
              <a:rPr/>
              <a:t>SELECT log_time, pid, query</a:t>
            </a:r>
            <a:br/>
            <a:r>
              <a:rPr/>
              <a:t>  FROM pg_logical_slot_peek_changes('pg_logical', NULL, NULL)</a:t>
            </a:r>
            <a:br/>
            <a:r>
              <a:rPr/>
              <a:t> WHERE message LIKE '%deadlock%';</a:t>
            </a:r>
            <a:br/>
            <a:br/>
            <a:r>
              <a:rPr/>
              <a:t>SET lock_timeout = '3s';</a:t>
            </a:r>
            <a:br/>
            <a:r>
              <a:rPr/>
              <a:t>SAVEPOINT before_large_batch;</a:t>
            </a:r>
            <a:br/>
            <a:r>
              <a:rPr/>
              <a:t>-- risky statement</a:t>
            </a:r>
            <a:br/>
            <a:r>
              <a:rPr/>
              <a:t>ROLLBACK TO SAVEPOINT before_large_batch;</a:t>
            </a:r>
          </a:p>
          <a:p>
            <a:pPr>
              <a:defRPr sz="1400">
                <a:latin typeface="Courier New"/>
              </a:defRPr>
            </a:pPr>
            <a:r>
              <a:t>-- Watch for long-running statements</a:t>
            </a:r>
            <a:br/>
            <a:r>
              <a:t>SELECT pid, wait_event_type, wait_event, query</a:t>
            </a:r>
            <a:br/>
            <a:r>
              <a:t>  FROM pg_stat_activity</a:t>
            </a:r>
            <a:br/>
            <a:r>
              <a:t> WHERE state = 'active';</a:t>
            </a:r>
            <a:br/>
            <a:br/>
            <a:r>
              <a:t>-- Guard against blocking</a:t>
            </a:r>
            <a:br/>
            <a:r>
              <a:t>SET lock_timeout = '3s';</a:t>
            </a:r>
            <a:br/>
            <a:r>
              <a:t>SAVEPOINT before_batch;</a:t>
            </a:r>
            <a:br/>
            <a:r>
              <a:t>-- risky statement here</a:t>
            </a:r>
            <a:br/>
            <a:r>
              <a:t>ROLLBACK TO SAVEPOINT before_batch;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22222"/>
                </a:solidFill>
              </a:defRPr>
            </a:pPr>
            <a:r>
              <a:t>Detect deadlocks via server logs (`ERROR: deadlock detected`) and review lock graph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Keep transactions short to reduce contention; avoid waiting on user input mid-transaction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Leverage savepoints for partial rollbacks in complex workflows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Instrument applications with retry logic for serialization failures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&amp; Midterm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22222"/>
                </a:solidFill>
              </a:defRPr>
            </a:pPr>
            <a:r>
              <a:t>Lab: create reporting views, enforce constraints, build trigger-based audit history, and experiment with rollbacks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Deliver notebook outputs plus SQL scripts for reproducibility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Proposal kickoff: define project dataset, target users, preliminary ERD, and risk register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Next week: feedback on proposals and deeper dive into performance tuning prerequisites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