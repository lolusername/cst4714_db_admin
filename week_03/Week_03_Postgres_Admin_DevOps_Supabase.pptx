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52"/>
    <p:restoredTop sz="62086"/>
  </p:normalViewPr>
  <p:slideViewPr>
    <p:cSldViewPr snapToGrid="0" snapToObjects="1">
      <p:cViewPr>
        <p:scale>
          <a:sx n="114" d="100"/>
          <a:sy n="114" d="100"/>
        </p:scale>
        <p:origin x="1528" y="-400"/>
      </p:cViewPr>
      <p:guideLst>
        <p:guide orient="horz" pos="2160"/>
        <p:guide pos="2880"/>
      </p:guideLst>
    </p:cSldViewPr>
  </p:slideViewPr>
  <p:notesTextViewPr>
    <p:cViewPr>
      <p:scale>
        <a:sx n="170" d="100"/>
        <a:sy n="17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76097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Good session everyone. Today is Week 3, and our topic is PostgreSQL administration and DevOps operations in Supabase.</a:t>
            </a:r>
          </a:p>
          <a:p>
            <a:r>
              <a:t>In Week 2, we built operational confidence by running Postgres locally with Docker, connecting through tools, loading datasets, and practicing dump and restore.</a:t>
            </a:r>
          </a:p>
          <a:p>
            <a:r>
              <a:t>Today we move from setup mechanics into production-style operating behavior.</a:t>
            </a:r>
          </a:p>
          <a:p>
            <a:r>
              <a:t>Our focus is simple: we will manage database change safely, verify database state with evidence, secure data with role and policy controls, and prepare recovery paths before incidents happen.</a:t>
            </a:r>
          </a:p>
          <a:p>
            <a:r>
              <a:t>As we go, we will treat Supabase as managed Postgres, not as a black box.</a:t>
            </a:r>
          </a:p>
          <a:p>
            <a:r>
              <a:t>That means the database fundamentals still apply exactly: schema quality, transaction behavior, indexing, locking, permissions, and backups.</a:t>
            </a:r>
          </a:p>
          <a:p>
            <a:r>
              <a:t>By the end of this lecture, everyone in this room can explain what we own operationally, what the platform owns, and what shared boundary decisions still require judgment.</a:t>
            </a:r>
          </a:p>
          <a:p>
            <a:r>
              <a:t>Everything in this deck is designed to be reused during the midterm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These are the outcomes we are targeting today.</a:t>
            </a:r>
          </a:p>
          <a:p>
            <a:r>
              <a:t>First, you will explain the DBA responsibilities that remain in managed Postgres.</a:t>
            </a:r>
          </a:p>
          <a:p>
            <a:r>
              <a:t>Second, you will navigate Supabase admin surfaces as an operator, not just as a beginner user.</a:t>
            </a:r>
          </a:p>
          <a:p>
            <a:r>
              <a:t>Third, you will apply a migration-first workflow so schema changes remain traceable and reversible.</a:t>
            </a:r>
          </a:p>
          <a:p>
            <a:r>
              <a:t>Fourth, you will triage performance and locking symptoms with a repeatable method.</a:t>
            </a:r>
          </a:p>
          <a:p>
            <a:r>
              <a:t>Fifth, you will apply least-privilege security using roles, grants, and row-level security.</a:t>
            </a:r>
          </a:p>
          <a:p>
            <a:r>
              <a:t>Finally, you will practice restore-first operations so backup claims are verified by evidence.</a:t>
            </a:r>
          </a:p>
          <a:p>
            <a:r>
              <a:t>As you listen, map each outcome to one artifact you can produce.</a:t>
            </a:r>
          </a:p>
          <a:p>
            <a:r>
              <a:t>In operations work, proof matters more than intent.</a:t>
            </a:r>
          </a:p>
          <a:p>
            <a:r>
              <a:t>If you can show the migration, the query plan, the policy test, and the restore check, you are operating like a real database administrator.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Here is our ninety-minute plan.</a:t>
            </a:r>
          </a:p>
          <a:p>
            <a:r>
              <a:t>We begin with a short recap and responsibility model.</a:t>
            </a:r>
          </a:p>
          <a:p>
            <a:r>
              <a:t>Then we spend focused time inside Supabase admin surfaces, because interface literacy is part of operational literacy.</a:t>
            </a:r>
          </a:p>
          <a:p>
            <a:r>
              <a:t>After that, we move into core Postgres workflows: schema control, indexing, query plan triage, maintenance, and security.</a:t>
            </a:r>
          </a:p>
          <a:p>
            <a:r>
              <a:t>Then we cover the DevOps layer: migrations, environment promotion, CI checks, and incident response.</a:t>
            </a:r>
          </a:p>
          <a:p>
            <a:r>
              <a:t>We close by launching the Week 3 lab with clear deliverables.</a:t>
            </a:r>
          </a:p>
          <a:p>
            <a:r>
              <a:t>While we move through this agenda, keep a running operations log.</a:t>
            </a:r>
          </a:p>
          <a:p>
            <a:r>
              <a:t>Write down what action happened, why it happened, and how you verified success.</a:t>
            </a:r>
          </a:p>
          <a:p>
            <a:r>
              <a:t>That habit will improve your debugging speed, and it will make your midterm report much stronger.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Let’s connect this directly to last week.</a:t>
            </a:r>
          </a:p>
          <a:p>
            <a:r>
              <a:t>Week 2 gave us infrastructure fluency: stand up Postgres, connect, import data, export data, and restore data.</a:t>
            </a:r>
          </a:p>
          <a:p>
            <a:r>
              <a:t>Week 3 raises the bar.</a:t>
            </a:r>
          </a:p>
          <a:p>
            <a:r>
              <a:t>Now we care about change control, policy correctness, performance evidence, and recovery readiness.</a:t>
            </a:r>
          </a:p>
          <a:p>
            <a:r>
              <a:t>The technical tools are similar, but the mindset is different.</a:t>
            </a:r>
          </a:p>
          <a:p>
            <a:r>
              <a:t>Instead of asking, “Can I make this query run,” we ask, “Can I make this change safely, prove it worked, and recover if it fails?”</a:t>
            </a:r>
          </a:p>
          <a:p>
            <a:r>
              <a:t>That shift is the difference between classroom SQL practice and real operational responsibility.</a:t>
            </a:r>
          </a:p>
          <a:p>
            <a:r>
              <a:t>From this point forward in the course, we assume every change includes validation steps and rollback awareness.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Managed Postgres changes the operating surface, but it does not remove ownership.</a:t>
            </a:r>
          </a:p>
          <a:p>
            <a:r>
              <a:t>Supabase manages infrastructure layers such as base hosting and many platform services.</a:t>
            </a:r>
          </a:p>
          <a:p>
            <a:r>
              <a:t>You still own schema correctness, query efficiency, permissions, policy logic, migration quality, and data integrity.</a:t>
            </a:r>
          </a:p>
          <a:p>
            <a:r>
              <a:t>If a bad migration drops needed data, the platform did not cause that.</a:t>
            </a:r>
          </a:p>
          <a:p>
            <a:r>
              <a:t>If a weak policy leaks rows, the platform did not cause that.</a:t>
            </a:r>
          </a:p>
          <a:p>
            <a:r>
              <a:t>If a missing index turns a fast endpoint into a slow one, the platform did not cause that.</a:t>
            </a:r>
          </a:p>
          <a:p>
            <a:r>
              <a:t>Managed service means fewer server chores, not less accountability.</a:t>
            </a:r>
          </a:p>
          <a:p>
            <a:r>
              <a:t>The most reliable way to work in this model is to treat every database change as an engineering release with explicit checks before and after.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This responsibility split is important.</a:t>
            </a:r>
          </a:p>
          <a:p>
            <a:r>
              <a:rPr dirty="0"/>
              <a:t>Platform ownership usually includes base availability, patching layers, and core managed backup mechanisms.</a:t>
            </a:r>
          </a:p>
          <a:p>
            <a:r>
              <a:rPr dirty="0"/>
              <a:t>Your team ownership includes schema evolution, SQL quality, role design, policy enforcement, and operational verification.</a:t>
            </a:r>
          </a:p>
          <a:p>
            <a:r>
              <a:rPr dirty="0"/>
              <a:t>There is also a shared zone: interpreting metrics, planning capacity, and timing high-impact changes.</a:t>
            </a:r>
          </a:p>
          <a:p>
            <a:r>
              <a:rPr dirty="0"/>
              <a:t>Whenever an incident happens, begin by classifying the owner for each failure point.</a:t>
            </a:r>
          </a:p>
          <a:p>
            <a:r>
              <a:rPr dirty="0"/>
              <a:t>That classification removes confusion and speeds escalation.</a:t>
            </a:r>
          </a:p>
          <a:p>
            <a:r>
              <a:rPr dirty="0"/>
              <a:t>In team settings, vague ownership causes delays and repeated mistakes.</a:t>
            </a:r>
          </a:p>
          <a:p>
            <a:r>
              <a:rPr dirty="0"/>
              <a:t>Clear ownership lets us act fast while still learning from the event.</a:t>
            </a:r>
          </a:p>
          <a:p>
            <a:r>
              <a:rPr dirty="0"/>
              <a:t>Keep this model in mind for every task in today’s lab.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Operationally, Supabase is still centered on PostgreSQL.</a:t>
            </a:r>
          </a:p>
          <a:p>
            <a:r>
              <a:rPr dirty="0"/>
              <a:t>Around that core, Supabase adds useful services such as authentication, storage, API layers, and </a:t>
            </a:r>
            <a:r>
              <a:rPr dirty="0" err="1"/>
              <a:t>realtime</a:t>
            </a:r>
            <a:r>
              <a:rPr dirty="0"/>
              <a:t> features.</a:t>
            </a:r>
          </a:p>
          <a:p>
            <a:r>
              <a:rPr dirty="0"/>
              <a:t>For us, the key admin surfaces are SQL execution, settings, logs, reports, and backup/recovery controls.</a:t>
            </a:r>
          </a:p>
          <a:p>
            <a:r>
              <a:rPr dirty="0"/>
              <a:t>When something breaks, we diagnose through those surfaces and map symptoms back to Postgres behavior.</a:t>
            </a:r>
          </a:p>
          <a:p>
            <a:r>
              <a:rPr dirty="0"/>
              <a:t>For example, an API timeout may still be a slow SQL plan.</a:t>
            </a:r>
          </a:p>
          <a:p>
            <a:r>
              <a:rPr dirty="0"/>
              <a:t>An auth complaint may still be a policy issue on data access.</a:t>
            </a:r>
          </a:p>
          <a:p>
            <a:r>
              <a:rPr dirty="0"/>
              <a:t>A deployment incident may still be migration ordering.</a:t>
            </a:r>
          </a:p>
          <a:p>
            <a:r>
              <a:rPr dirty="0"/>
              <a:t>So keep this mental model: services around the database are important, but Postgres remains the center of correctness.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 are grounding today’s workflows in three textbook streams.</a:t>
            </a:r>
          </a:p>
          <a:p>
            <a:r>
              <a:t>From Molina, Ullman, and Widom, we take the deep foundations of transactions, locking, logging, and recovery.</a:t>
            </a:r>
          </a:p>
          <a:p>
            <a:r>
              <a:t>From Obe and Hsu’s PostgreSQL text, we take practical administration mechanics: roles, privileges, configuration habits, backup and restore, and performance tuning workflow.</a:t>
            </a:r>
          </a:p>
          <a:p>
            <a:r>
              <a:t>From PostgreSQL 16 Cookbook, we take modern operational patterns such as WAL awareness, autovacuum behavior, replication context, backup strategy, and recovery operations.</a:t>
            </a:r>
          </a:p>
          <a:p>
            <a:r>
              <a:t>The point is not to memorize isolated facts from each source.</a:t>
            </a:r>
          </a:p>
          <a:p>
            <a:r>
              <a:t>The point is to integrate theory and operations into decisions you can execute with confidence.</a:t>
            </a:r>
          </a:p>
          <a:p>
            <a:r>
              <a:t>Today’s lab asks you to do exactly that.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 are now entering Part A: the Supabase console walkthrough.</a:t>
            </a:r>
          </a:p>
          <a:p>
            <a:r>
              <a:t>I want us to view each screen as an operational control point.</a:t>
            </a:r>
          </a:p>
          <a:p>
            <a:r>
              <a:t>For every screen, we ask three questions.</a:t>
            </a:r>
          </a:p>
          <a:p>
            <a:r>
              <a:t>What state can I change here?</a:t>
            </a:r>
          </a:p>
          <a:p>
            <a:r>
              <a:t>What state can I verify here?</a:t>
            </a:r>
          </a:p>
          <a:p>
            <a:r>
              <a:t>What evidence can I capture here after a change or incident?</a:t>
            </a:r>
          </a:p>
          <a:p>
            <a:r>
              <a:t>If you can answer those three questions on each surface, you can operate the platform with discipline.</a:t>
            </a:r>
          </a:p>
          <a:p>
            <a:r>
              <a:t>If you cannot answer them, you are relying on luck.</a:t>
            </a:r>
          </a:p>
          <a:p>
            <a:r>
              <a:t>Let’s go screen by screen and make this practical.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On this dashboard view, start with environment certainty.</a:t>
            </a:r>
          </a:p>
          <a:p>
            <a:r>
              <a:t>Confirm project identity, project reference, and region before any action.</a:t>
            </a:r>
          </a:p>
          <a:p>
            <a:r>
              <a:t>Wrong-environment mistakes are common and expensive.</a:t>
            </a:r>
          </a:p>
          <a:p>
            <a:r>
              <a:t>Next, read status signals and recent activity indicators.</a:t>
            </a:r>
          </a:p>
          <a:p>
            <a:r>
              <a:t>These clues often reveal trouble before users report issues.</a:t>
            </a:r>
          </a:p>
          <a:p>
            <a:r>
              <a:t>From here, identify fast paths to SQL, logs, and settings.</a:t>
            </a:r>
          </a:p>
          <a:p>
            <a:r>
              <a:t>In live operations, time to navigation matters.</a:t>
            </a:r>
          </a:p>
          <a:p>
            <a:r>
              <a:t>When pressure rises, we go directly to the right surface for diagnosis and mitigation.</a:t>
            </a:r>
          </a:p>
          <a:p>
            <a:r>
              <a:t>Capture this screen in lab evidence so the report proves the correct project was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settings screen is where connection discipline starts.</a:t>
            </a:r>
          </a:p>
          <a:p>
            <a:r>
              <a:t>Review direct connection details and pooler endpoint details.</a:t>
            </a:r>
          </a:p>
          <a:p>
            <a:r>
              <a:t>Identify which client type uses which endpoint.</a:t>
            </a:r>
          </a:p>
          <a:p>
            <a:r>
              <a:t>Check port and SSL expectations.</a:t>
            </a:r>
          </a:p>
          <a:p>
            <a:r>
              <a:t>Most avoidable connection failures come from stale credentials, SSL mismatch, or wrong endpoint selection.</a:t>
            </a:r>
          </a:p>
          <a:p>
            <a:r>
              <a:t>Also note where password rotation is performed.</a:t>
            </a:r>
          </a:p>
          <a:p>
            <a:r>
              <a:t>Credential rotation is not just a click; it is an operational event coordinated with deployment.</a:t>
            </a:r>
          </a:p>
          <a:p>
            <a:r>
              <a:t>If credentials change but application secrets do not, an outage follows.</a:t>
            </a:r>
          </a:p>
          <a:p>
            <a:r>
              <a:t>In your notes, record the connection source of truth for this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SQL editor is your controlled execution surface for diagnostics and small operational tasks.</a:t>
            </a:r>
          </a:p>
          <a:p>
            <a:r>
              <a:t>Use saved queries for repeatability.</a:t>
            </a:r>
          </a:p>
          <a:p>
            <a:r>
              <a:t>If a query is important enough to run during incidents, it is important enough to save with a clear name.</a:t>
            </a:r>
          </a:p>
          <a:p>
            <a:r>
              <a:t>Always read result metadata: row counts, execution timing, and errors.</a:t>
            </a:r>
          </a:p>
          <a:p>
            <a:r>
              <a:t>Those details are operational evidence.</a:t>
            </a:r>
          </a:p>
          <a:p>
            <a:r>
              <a:t>For risky statements, prepare checks before execution and verification queries after execution.</a:t>
            </a:r>
          </a:p>
          <a:p>
            <a:r>
              <a:t>Never rely on memory alone.</a:t>
            </a:r>
          </a:p>
          <a:p>
            <a:r>
              <a:t>In your lab deliverable, include at least one query output that proves state before change and state after change.</a:t>
            </a:r>
          </a:p>
          <a:p>
            <a:r>
              <a:t>That is how we demonstrate reliable operations.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table and schema browser is excellent for inspection and fast orientation.</a:t>
            </a:r>
          </a:p>
          <a:p>
            <a:r>
              <a:t>Use it to understand object layout, constraints, and table structure.</a:t>
            </a:r>
          </a:p>
          <a:p>
            <a:r>
              <a:t>However, do not treat UI edits as the primary change mechanism.</a:t>
            </a:r>
          </a:p>
          <a:p>
            <a:r>
              <a:t>Structural changes go into migration files so they are reviewable, replayable, and auditable.</a:t>
            </a:r>
          </a:p>
          <a:p>
            <a:r>
              <a:t>If environments drift because of ad hoc UI edits, debugging becomes painful and releases become risky.</a:t>
            </a:r>
          </a:p>
          <a:p>
            <a:r>
              <a:t>Use this interface for visibility and verification.</a:t>
            </a:r>
          </a:p>
          <a:p>
            <a:r>
              <a:t>Use migration files for durable change history.</a:t>
            </a:r>
          </a:p>
          <a:p>
            <a:r>
              <a:t>That split gives speed and control at the same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Extensions are operational dependencies and must be introduced deliberately.</a:t>
            </a:r>
          </a:p>
          <a:p>
            <a:r>
              <a:t>Before enabling an extension, define the problem it solves.</a:t>
            </a:r>
          </a:p>
          <a:p>
            <a:r>
              <a:t>Then confirm compatibility, privilege requirements, and expected maintenance impact.</a:t>
            </a:r>
          </a:p>
          <a:p>
            <a:r>
              <a:t>In managed environments, extension availability and permissions can differ from local self-managed installs.</a:t>
            </a:r>
          </a:p>
          <a:p>
            <a:r>
              <a:t>So validate first, then enable.</a:t>
            </a:r>
          </a:p>
          <a:p>
            <a:r>
              <a:t>Record extension decisions in the runbook, including why the extension exists and which feature depends on it.</a:t>
            </a:r>
          </a:p>
          <a:p>
            <a:r>
              <a:t>That documentation helps future teammates and protects the team during incident review.</a:t>
            </a:r>
          </a:p>
          <a:p>
            <a:r>
              <a:t>If no clear use case exists, leave extension surface area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Logs Explorer is one of the highest-value operational tools in this entire platform.</a:t>
            </a:r>
          </a:p>
          <a:p>
            <a:r>
              <a:t>When diagnosing an issue, narrow by time range first.</a:t>
            </a:r>
          </a:p>
          <a:p>
            <a:r>
              <a:t>Then filter by signal source so you avoid noise.</a:t>
            </a:r>
          </a:p>
          <a:p>
            <a:r>
              <a:t>From there, inspect concrete events and correlate with change history.</a:t>
            </a:r>
          </a:p>
          <a:p>
            <a:r>
              <a:t>Did errors begin right after a migration?</a:t>
            </a:r>
          </a:p>
          <a:p>
            <a:r>
              <a:t>Did auth failures rise after policy changes?</a:t>
            </a:r>
          </a:p>
          <a:p>
            <a:r>
              <a:t>Did API timeouts align with slow query events?</a:t>
            </a:r>
          </a:p>
          <a:p>
            <a:r>
              <a:t>Use logs to build a timeline, not guesses.</a:t>
            </a:r>
          </a:p>
          <a:p>
            <a:r>
              <a:t>The faster you can produce a clean timeline, the faster you can decide mitigation safely.</a:t>
            </a:r>
          </a:p>
          <a:p>
            <a:r>
              <a:t>Include at least one log event in your lab evidence with a short interpretation.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Reports and observability views convert raw activity into patterns.</a:t>
            </a:r>
          </a:p>
          <a:p>
            <a:r>
              <a:t>Use these screens to identify heavy queries, unusual connection behavior, and resource spikes.</a:t>
            </a:r>
          </a:p>
          <a:p>
            <a:r>
              <a:t>A chart alone is not the outcome.</a:t>
            </a:r>
          </a:p>
          <a:p>
            <a:r>
              <a:t>The outcome is an operational decision.</a:t>
            </a:r>
          </a:p>
          <a:p>
            <a:r>
              <a:t>For example, you might add an index, rewrite a query, or reduce connection churn.</a:t>
            </a:r>
          </a:p>
          <a:p>
            <a:r>
              <a:t>Always attach a proposed action to the metric you highlight.</a:t>
            </a:r>
          </a:p>
          <a:p>
            <a:r>
              <a:t>When you submit lab work, do not just paste graphs.</a:t>
            </a:r>
          </a:p>
          <a:p>
            <a:r>
              <a:t>State what the graph indicates and what change you would test next.</a:t>
            </a:r>
          </a:p>
          <a:p>
            <a:r>
              <a:t>That practice demonstrates engineering judgment.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Now we are on backups and point-in-time recovery controls.</a:t>
            </a:r>
          </a:p>
          <a:p>
            <a:r>
              <a:t>Treat this screen as a reliability contract.</a:t>
            </a:r>
          </a:p>
          <a:p>
            <a:r>
              <a:t>A backup setting is a promise about what recovery may be possible.</a:t>
            </a:r>
          </a:p>
          <a:p>
            <a:r>
              <a:t>You need to know retention windows, restore options, and practical limitations.</a:t>
            </a:r>
          </a:p>
          <a:p>
            <a:r>
              <a:t>Then you need to verify that recovery works in a controlled drill.</a:t>
            </a:r>
          </a:p>
          <a:p>
            <a:r>
              <a:t>In real incidents, untested recovery paths fail when you need them most.</a:t>
            </a:r>
          </a:p>
          <a:p>
            <a:r>
              <a:t>So we operate with a restore-first mindset.</a:t>
            </a:r>
          </a:p>
          <a:p>
            <a:r>
              <a:t>If we cannot restore and validate, we are not actually safe.</a:t>
            </a:r>
          </a:p>
          <a:p>
            <a:r>
              <a:t>Your lab must include recovery verification evidence, not only backup configuration screenshots.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auth and policy surface is where data access control becomes real.</a:t>
            </a:r>
          </a:p>
          <a:p>
            <a:r>
              <a:t>Enabling RLS is the start, not the finish.</a:t>
            </a:r>
          </a:p>
          <a:p>
            <a:r>
              <a:t>Policy logic must be tested with both allowed and denied scenarios.</a:t>
            </a:r>
          </a:p>
          <a:p>
            <a:r>
              <a:t>A policy that looks correct can still leak data when claim assumptions are wrong.</a:t>
            </a:r>
          </a:p>
          <a:p>
            <a:r>
              <a:t>So validate with concrete principals and clear expected outcomes.</a:t>
            </a:r>
          </a:p>
          <a:p>
            <a:r>
              <a:t>Also review role boundaries and make sure privileges are minimal.</a:t>
            </a:r>
          </a:p>
          <a:p>
            <a:r>
              <a:t>Security failures usually come from excessive permission or weak policy conditions.</a:t>
            </a:r>
          </a:p>
          <a:p>
            <a:r>
              <a:t>In your lab, include one policy test that proves correct denial behavior.</a:t>
            </a:r>
          </a:p>
          <a:p>
            <a:r>
              <a:t>That is critical evidence for secure operations.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 are now entering Part B: core PostgreSQL administration workflows in Supabase.</a:t>
            </a:r>
          </a:p>
          <a:p>
            <a:r>
              <a:t>This is where we shift from interface walkthrough to daily operating mechanics.</a:t>
            </a:r>
          </a:p>
          <a:p>
            <a:r>
              <a:t>The pattern is always the same.</a:t>
            </a:r>
          </a:p>
          <a:p>
            <a:r>
              <a:t>Plan the change.</a:t>
            </a:r>
          </a:p>
          <a:p>
            <a:r>
              <a:t>Apply the change in a controlled way.</a:t>
            </a:r>
          </a:p>
          <a:p>
            <a:r>
              <a:t>Verify the result with evidence.</a:t>
            </a:r>
          </a:p>
          <a:p>
            <a:r>
              <a:t>Observe system behavior for regression.</a:t>
            </a:r>
          </a:p>
          <a:p>
            <a:r>
              <a:t>If needed, recover using a prepared path.</a:t>
            </a:r>
          </a:p>
          <a:p>
            <a:r>
              <a:t>That cycle is the heartbeat of database operations.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Schema governance keeps systems understandable as they grow.</a:t>
            </a:r>
          </a:p>
          <a:p>
            <a:r>
              <a:t>Use consistent naming for tables, constraints, indexes, and related objects.</a:t>
            </a:r>
          </a:p>
          <a:p>
            <a:r>
              <a:t>Organize schemas intentionally so purpose is clear.</a:t>
            </a:r>
          </a:p>
          <a:p>
            <a:r>
              <a:t>When object names are predictable, troubleshooting is faster and less error-prone.</a:t>
            </a:r>
          </a:p>
          <a:p>
            <a:r>
              <a:t>Every DDL change includes a migration entry and a short changelog note.</a:t>
            </a:r>
          </a:p>
          <a:p>
            <a:r>
              <a:t>That history matters during audits, rollbacks, and post-incident analysis.</a:t>
            </a:r>
          </a:p>
          <a:p>
            <a:r>
              <a:t>The goal is not bureaucracy.</a:t>
            </a:r>
          </a:p>
          <a:p>
            <a:r>
              <a:t>The goal is lower debugging cost and better collaboration.</a:t>
            </a:r>
          </a:p>
          <a:p>
            <a:r>
              <a:t>Good governance now prevents confusion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Index strategy begins with observed workload, not assumptions.</a:t>
            </a:r>
          </a:p>
          <a:p>
            <a:r>
              <a:t>Identify high-frequency filters, joins, and sorts that drive latency.</a:t>
            </a:r>
          </a:p>
          <a:p>
            <a:r>
              <a:t>Choose index types based on access patterns and data characteristics.</a:t>
            </a:r>
          </a:p>
          <a:p>
            <a:r>
              <a:t>Remember that indexes improve reads and add write and maintenance cost.</a:t>
            </a:r>
          </a:p>
          <a:p>
            <a:r>
              <a:t>So each index justifies its existence with evidence.</a:t>
            </a:r>
          </a:p>
          <a:p>
            <a:r>
              <a:t>After creating an index, compare plan behavior before and after.</a:t>
            </a:r>
          </a:p>
          <a:p>
            <a:r>
              <a:t>If the plan does not improve materially, reconsider the change.</a:t>
            </a:r>
          </a:p>
          <a:p>
            <a:r>
              <a:t>In operations, every performance change is evidence-driven and reversible.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Query plan triage follows a repeatable sequence.</a:t>
            </a:r>
          </a:p>
          <a:p>
            <a:r>
              <a:t>First, capture baseline execution details.</a:t>
            </a:r>
          </a:p>
          <a:p>
            <a:r>
              <a:t>Second, inspect scan choices, cardinality estimates, and join methods.</a:t>
            </a:r>
          </a:p>
          <a:p>
            <a:r>
              <a:t>Third, identify the highest-probability bottleneck.</a:t>
            </a:r>
          </a:p>
          <a:p>
            <a:r>
              <a:t>Fourth, apply one targeted change.</a:t>
            </a:r>
          </a:p>
          <a:p>
            <a:r>
              <a:t>Fifth, re-measure and compare.</a:t>
            </a:r>
          </a:p>
          <a:p>
            <a:r>
              <a:t>Avoid making multiple changes at once because causality becomes unclear.</a:t>
            </a:r>
          </a:p>
          <a:p>
            <a:r>
              <a:t>This discipline saves time and reduces risk.</a:t>
            </a:r>
          </a:p>
          <a:p>
            <a:r>
              <a:t>In performance write-ups, show baseline, intervention, and measured outcome.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Vacuum and analyze are central to long-term PostgreSQL health.</a:t>
            </a:r>
          </a:p>
          <a:p>
            <a:r>
              <a:t>Because of MVCC, dead tuples accumulate and statistics become stale over time.</a:t>
            </a:r>
          </a:p>
          <a:p>
            <a:r>
              <a:t>Autovacuum helps, but you still need to monitor behavior and identify gaps.</a:t>
            </a:r>
          </a:p>
          <a:p>
            <a:r>
              <a:t>After significant data shifts, planner statistics may need refresh through analyze.</a:t>
            </a:r>
          </a:p>
          <a:p>
            <a:r>
              <a:t>If maintenance is ignored, query quality declines and storage bloat grows.</a:t>
            </a:r>
          </a:p>
          <a:p>
            <a:r>
              <a:t>So treat maintenance as normal operations, not emergency cleanup.</a:t>
            </a:r>
          </a:p>
          <a:p>
            <a:r>
              <a:t>A healthy system is maintained continuously.</a:t>
            </a:r>
          </a:p>
          <a:p>
            <a:r>
              <a:t>A neglected system eventually forces reactive firefighting.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Locking issues often appear as high latency even when CPU looks moderate.</a:t>
            </a:r>
          </a:p>
          <a:p>
            <a:r>
              <a:t>When this pattern appears, inspect active sessions and lock wait chains.</a:t>
            </a:r>
          </a:p>
          <a:p>
            <a:r>
              <a:t>Identify blocker transactions and understand which object they are holding.</a:t>
            </a:r>
          </a:p>
          <a:p>
            <a:r>
              <a:t>Then decide the least risky corrective action.</a:t>
            </a:r>
          </a:p>
          <a:p>
            <a:r>
              <a:t>Terminating a session may restore service quickly, but it is not the first habit.</a:t>
            </a:r>
          </a:p>
          <a:p>
            <a:r>
              <a:t>The better long-term fix is transaction design: shorter transactions, safer sequencing, and reduced contention.</a:t>
            </a:r>
          </a:p>
          <a:p>
            <a:r>
              <a:t>Capture a timeline whenever locking incidents occur.</a:t>
            </a:r>
          </a:p>
          <a:p>
            <a:r>
              <a:t>That timeline helps fix root cause instead of repeating emergency actions.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Role design is one of the strongest safety controls you have.</a:t>
            </a:r>
          </a:p>
          <a:p>
            <a:r>
              <a:t>Define clear role tiers for ownership, application writes, and read-only analytics.</a:t>
            </a:r>
          </a:p>
          <a:p>
            <a:r>
              <a:t>Grant only needed privileges, and avoid broad default access.</a:t>
            </a:r>
          </a:p>
          <a:p>
            <a:r>
              <a:t>Set default privilege behavior intentionally so future objects do not drift into unsafe exposure.</a:t>
            </a:r>
          </a:p>
          <a:p>
            <a:r>
              <a:t>Then periodically audit grants to confirm policy still matches architecture.</a:t>
            </a:r>
          </a:p>
          <a:p>
            <a:r>
              <a:t>Least privilege reduces blast radius and prevents accidental damage.</a:t>
            </a:r>
          </a:p>
          <a:p>
            <a:r>
              <a:t>It also makes incident investigation cleaner because rights are explicit.</a:t>
            </a:r>
          </a:p>
          <a:p>
            <a:r>
              <a:t>Strong privilege structure is not optional in production-minded systems.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Row Level Security controls which rows each principal can access.</a:t>
            </a:r>
          </a:p>
          <a:p>
            <a:r>
              <a:t>That makes it critical for multi-user applications and shared datasets.</a:t>
            </a:r>
          </a:p>
          <a:p>
            <a:r>
              <a:t>Write policies explicitly for each relevant action path: select, insert, update, and delete.</a:t>
            </a:r>
          </a:p>
          <a:p>
            <a:r>
              <a:t>Validate policy behavior with realistic identity claims.</a:t>
            </a:r>
          </a:p>
          <a:p>
            <a:r>
              <a:t>Never assume policy logic is correct until tested for both allow and deny cases.</a:t>
            </a:r>
          </a:p>
          <a:p>
            <a:r>
              <a:t>A single weak condition can expose sensitive data silently.</a:t>
            </a:r>
          </a:p>
          <a:p>
            <a:r>
              <a:t>Include policy tests in migration verification.</a:t>
            </a:r>
          </a:p>
          <a:p>
            <a:r>
              <a:t>Security that is not tested is security that is not trusted.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Now we enter Part C: DevOps workflow for Supabase Postgres.</a:t>
            </a:r>
          </a:p>
          <a:p>
            <a:r>
              <a:t>In this section we connect database administration to release engineering.</a:t>
            </a:r>
          </a:p>
          <a:p>
            <a:r>
              <a:t>Our objective is predictable deployment with low regression risk and fast recovery options.</a:t>
            </a:r>
          </a:p>
          <a:p>
            <a:r>
              <a:t>The core rule is simple.</a:t>
            </a:r>
          </a:p>
          <a:p>
            <a:r>
              <a:t>If a change cannot be versioned, reviewed, tested, and rolled back, it is not ready for production-style environments.</a:t>
            </a:r>
          </a:p>
          <a:p>
            <a:r>
              <a:t>Let’s walk through that release discipline step by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migration-first workflow keeps schema history durable and auditable.</a:t>
            </a:r>
          </a:p>
          <a:p>
            <a:r>
              <a:t>Initialize and link your project context.</a:t>
            </a:r>
          </a:p>
          <a:p>
            <a:r>
              <a:t>Pull baseline state when needed.</a:t>
            </a:r>
          </a:p>
          <a:p>
            <a:r>
              <a:t>Create migration files for each structural change.</a:t>
            </a:r>
          </a:p>
          <a:p>
            <a:r>
              <a:t>Push changes through controlled commands, then run verification SQL immediately.</a:t>
            </a:r>
          </a:p>
          <a:p>
            <a:r>
              <a:t>Never treat migration execution as complete without validation queries.</a:t>
            </a:r>
          </a:p>
          <a:p>
            <a:r>
              <a:t>In team workflows, migration files are reviewable contracts.</a:t>
            </a:r>
          </a:p>
          <a:p>
            <a:r>
              <a:t>They carry intent, order, and rollback context.</a:t>
            </a:r>
          </a:p>
          <a:p>
            <a:r>
              <a:t>That is exactly what ad hoc manual changes fail to provide.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Use environment promotion intentionally.</a:t>
            </a:r>
          </a:p>
          <a:p>
            <a:r>
              <a:t>Local is for fast experimentation and destructive learning.</a:t>
            </a:r>
          </a:p>
          <a:p>
            <a:r>
              <a:t>Staging is for realistic rehearsal and integration checks.</a:t>
            </a:r>
          </a:p>
          <a:p>
            <a:r>
              <a:t>Production is for approved, traceable changes only.</a:t>
            </a:r>
          </a:p>
          <a:p>
            <a:r>
              <a:t>Promotion requires gates: passing checks, stable metrics, and a recovery path.</a:t>
            </a:r>
          </a:p>
          <a:p>
            <a:r>
              <a:t>This discipline prevents accidental rollout of untested behavior.</a:t>
            </a:r>
          </a:p>
          <a:p>
            <a:r>
              <a:t>It also reduces pressure because the team knows what qualifies a change for promotion.</a:t>
            </a:r>
          </a:p>
          <a:p>
            <a:r>
              <a:t>Structured promotion is one of the highest-value habits we build early.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A practical CI/CD pipeline makes database releases safer.</a:t>
            </a:r>
          </a:p>
          <a:p>
            <a:r>
              <a:rPr dirty="0"/>
              <a:t>On pull requests, run static checks, migration checks, and essential SQL tests.</a:t>
            </a:r>
          </a:p>
          <a:p>
            <a:r>
              <a:rPr dirty="0"/>
              <a:t>On merge, deploy to staging and run smoke verification.</a:t>
            </a:r>
          </a:p>
          <a:p>
            <a:r>
              <a:rPr dirty="0"/>
              <a:t>Use explicit approval before production migration steps.</a:t>
            </a:r>
          </a:p>
          <a:p>
            <a:r>
              <a:rPr dirty="0"/>
              <a:t>After deployment, monitor logs and performance indicators for regression signals.</a:t>
            </a:r>
          </a:p>
          <a:p>
            <a:r>
              <a:rPr dirty="0"/>
              <a:t>Automation does not remove judgment; it removes skipped steps.</a:t>
            </a:r>
          </a:p>
          <a:p>
            <a:r>
              <a:rPr dirty="0"/>
              <a:t>That is the real benefit.</a:t>
            </a:r>
          </a:p>
          <a:p>
            <a:r>
              <a:rPr dirty="0"/>
              <a:t>Consistent automation plus clear gates produces reliable releases over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runbook mindset is essential.</a:t>
            </a:r>
          </a:p>
          <a:p>
            <a:r>
              <a:t>Use platform-managed backups, but also maintain logical exports when portability is needed.</a:t>
            </a:r>
          </a:p>
          <a:p>
            <a:r>
              <a:t>Schedule restore drills in isolated targets.</a:t>
            </a:r>
          </a:p>
          <a:p>
            <a:r>
              <a:t>Define recovery objectives clearly, then verify that your process can meet them.</a:t>
            </a:r>
          </a:p>
          <a:p>
            <a:r>
              <a:t>After restore, run structural and data checks: tables, counts, constraints, and critical query behavior.</a:t>
            </a:r>
          </a:p>
          <a:p>
            <a:r>
              <a:t>Without post-restore verification, recovery is incomplete.</a:t>
            </a:r>
          </a:p>
          <a:p>
            <a:r>
              <a:t>The goal is confidence backed by evidence, not confidence based on assumptions.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When incidents occur, follow a calm sequence.</a:t>
            </a:r>
          </a:p>
          <a:p>
            <a:r>
              <a:t>Declare the incident and pause nonessential change.</a:t>
            </a:r>
          </a:p>
          <a:p>
            <a:r>
              <a:t>Scope the impact clearly.</a:t>
            </a:r>
          </a:p>
          <a:p>
            <a:r>
              <a:t>Correlate symptoms with recent releases, migrations, and logs.</a:t>
            </a:r>
          </a:p>
          <a:p>
            <a:r>
              <a:t>Apply the smallest safe mitigation first.</a:t>
            </a:r>
          </a:p>
          <a:p>
            <a:r>
              <a:t>Then verify service restoration with concrete checks.</a:t>
            </a:r>
          </a:p>
          <a:p>
            <a:r>
              <a:t>After stabilization, document root cause and prevention actions.</a:t>
            </a:r>
          </a:p>
          <a:p>
            <a:r>
              <a:t>This process shortens outages and improves future reliability.</a:t>
            </a:r>
          </a:p>
          <a:p>
            <a:r>
              <a:t>Incident response is a skill built through consistent structure.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We are now in Part D, the Week 3 lab launch.</a:t>
            </a:r>
          </a:p>
          <a:p>
            <a:r>
              <a:rPr dirty="0"/>
              <a:t>This lab is designed to force complete operational loops, not partial activity.</a:t>
            </a:r>
          </a:p>
          <a:p>
            <a:r>
              <a:rPr dirty="0"/>
              <a:t>You will capture operational surfaces, execute controlled changes, validate outcomes, and produce evidence.</a:t>
            </a:r>
          </a:p>
          <a:p>
            <a:r>
              <a:rPr dirty="0"/>
              <a:t>The goal is to demonstrate that you can operate a managed Postgres environment with discipline.</a:t>
            </a:r>
          </a:p>
          <a:p>
            <a:r>
              <a:t>Process quality matters as much as query correctness.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Here are your core lab tasks.</a:t>
            </a:r>
          </a:p>
          <a:p>
            <a:r>
              <a:t>Capture the required Supabase admin screenshots.</a:t>
            </a:r>
          </a:p>
          <a:p>
            <a:r>
              <a:t>Create and apply a migration that introduces a meaningful index.</a:t>
            </a:r>
          </a:p>
          <a:p>
            <a:r>
              <a:t>Measure performance before and after with explain analyze evidence.</a:t>
            </a:r>
          </a:p>
          <a:p>
            <a:r>
              <a:t>Implement at least one role and one RLS policy test.</a:t>
            </a:r>
          </a:p>
          <a:p>
            <a:r>
              <a:t>Produce a short backup and restore verification record.</a:t>
            </a:r>
          </a:p>
          <a:p>
            <a:r>
              <a:t>For each task, include what you changed, why you changed it, and how you confirmed the result.</a:t>
            </a:r>
          </a:p>
          <a:p>
            <a:r>
              <a:t>That structure is how operations work is evaluated professionally.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Your submission needs to be evidence-rich and clear.</a:t>
            </a:r>
          </a:p>
          <a:p>
            <a:r>
              <a:t>Include screenshots with short annotations, migration SQL, verification SQL, performance comparison notes, and security outcome notes.</a:t>
            </a:r>
          </a:p>
          <a:p>
            <a:r>
              <a:t>Add a short reflection that explains the first failure you encountered and how you fixed it.</a:t>
            </a:r>
          </a:p>
          <a:p>
            <a:r>
              <a:t>I care about the debugging process, not just polished final output.</a:t>
            </a:r>
          </a:p>
          <a:p>
            <a:r>
              <a:t>If you encountered no issues, explain what checks you ran to establish confidence.</a:t>
            </a:r>
          </a:p>
          <a:p>
            <a:r>
              <a:t>Operational maturity means proving reliability, not claiming reliability.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Use this troubleshooting matrix as your first-pass triage guide.</a:t>
            </a:r>
          </a:p>
          <a:p>
            <a:r>
              <a:t>For auth issues, inspect credentials, provider status, and policy logic.</a:t>
            </a:r>
          </a:p>
          <a:p>
            <a:r>
              <a:t>For migration issues, inspect order dependencies and object existence.</a:t>
            </a:r>
          </a:p>
          <a:p>
            <a:r>
              <a:t>For slow queries, inspect execution plans and statistics quality.</a:t>
            </a:r>
          </a:p>
          <a:p>
            <a:r>
              <a:t>For connection spikes, inspect pooling usage and client behavior.</a:t>
            </a:r>
          </a:p>
          <a:p>
            <a:r>
              <a:t>For restore mismatches, verify target selection and backup source integrity.</a:t>
            </a:r>
          </a:p>
          <a:p>
            <a:r>
              <a:t>Categorizing by failure layer reduces random trial-and-error and speeds resolution.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To close, Week 3 is about operational discipline in managed Postgres.</a:t>
            </a:r>
          </a:p>
          <a:p>
            <a:r>
              <a:t>You now have a framework for secure change, performance triage, policy enforcement, and recovery verification.</a:t>
            </a:r>
          </a:p>
          <a:p>
            <a:r>
              <a:t>In Week 4 we deepen schema management and introspection, but the operating cycle stays the same: plan, change, verify, observe, and recover.</a:t>
            </a:r>
          </a:p>
          <a:p>
            <a:r>
              <a:t>Carry this mindset into every assignment.</a:t>
            </a:r>
          </a:p>
          <a:p>
            <a:r>
              <a:t>Reliable systems are built by consistent, evidence-based habits.</a:t>
            </a:r>
          </a:p>
          <a:p>
            <a:r>
              <a:t>That is the professional standard we are practicing in this course.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43CAA20-3569-4189-9E48-239A229A8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451381"/>
            <a:ext cx="10512552" cy="4066540"/>
          </a:xfrm>
        </p:spPr>
        <p:txBody>
          <a:bodyPr anchor="b">
            <a:normAutofit/>
          </a:bodyPr>
          <a:lstStyle/>
          <a:p>
            <a:pPr algn="l"/>
            <a:r>
              <a:rPr lang="en-US" sz="6600"/>
              <a:t>Week 3: Postgres Admin + DevOps in Supabase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199" y="4983276"/>
            <a:ext cx="10512552" cy="1126680"/>
          </a:xfrm>
        </p:spPr>
        <p:txBody>
          <a:bodyPr>
            <a:normAutofit/>
          </a:bodyPr>
          <a:lstStyle/>
          <a:p>
            <a:pPr algn="l"/>
            <a:r>
              <a:t>CST4714 Database Administration | Detailed lecture script in speaker notes</a:t>
            </a:r>
            <a:endParaRPr lang="en-US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A542B6D-E775-4832-91DC-2D20F8578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4718595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/>
              <a:t>Learning Outcomes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>
              <a:defRPr sz="2200"/>
            </a:pPr>
            <a:r>
              <a:rPr lang="en-US" sz="2200"/>
              <a:t>Explain shared DBA responsibilities in managed Postgres (Supabase).</a:t>
            </a:r>
          </a:p>
          <a:p>
            <a:pPr>
              <a:defRPr sz="2200"/>
            </a:pPr>
            <a:r>
              <a:rPr lang="en-US" sz="2200"/>
              <a:t>Navigate Supabase admin surfaces used for day-to-day operations.</a:t>
            </a:r>
          </a:p>
          <a:p>
            <a:pPr>
              <a:defRPr sz="2200"/>
            </a:pPr>
            <a:r>
              <a:rPr lang="en-US" sz="2200"/>
              <a:t>Design schema/index changes with migration-first discipline.</a:t>
            </a:r>
          </a:p>
          <a:p>
            <a:pPr>
              <a:defRPr sz="2200"/>
            </a:pPr>
            <a:r>
              <a:rPr lang="en-US" sz="2200"/>
              <a:t>Diagnose performance and locking issues with concrete workflows.</a:t>
            </a:r>
          </a:p>
          <a:p>
            <a:pPr>
              <a:defRPr sz="2200"/>
            </a:pPr>
            <a:r>
              <a:rPr lang="en-US" sz="2200"/>
              <a:t>Apply role/privilege/RLS controls using least-privilege principles.</a:t>
            </a:r>
          </a:p>
          <a:p>
            <a:pPr>
              <a:defRPr sz="2200"/>
            </a:pPr>
            <a:r>
              <a:rPr lang="en-US" sz="2200"/>
              <a:t>Execute restore-first backup and incident response runbooks.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000"/>
              <a:t>Agenda and Time Budget (90 minutes)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>
              <a:defRPr sz="2200"/>
            </a:pPr>
            <a:r>
              <a:rPr lang="en-US" sz="2200"/>
              <a:t>0-10 min: Week 2 recap and managed Postgres responsibility model.</a:t>
            </a:r>
          </a:p>
          <a:p>
            <a:pPr>
              <a:defRPr sz="2200"/>
            </a:pPr>
            <a:r>
              <a:rPr lang="en-US" sz="2200"/>
              <a:t>10-35 min: Guided Supabase admin console walkthrough (screenshots).</a:t>
            </a:r>
          </a:p>
          <a:p>
            <a:pPr>
              <a:defRPr sz="2200"/>
            </a:pPr>
            <a:r>
              <a:rPr lang="en-US" sz="2200"/>
              <a:t>35-60 min: Core Postgres admin workflows in Supabase.</a:t>
            </a:r>
          </a:p>
          <a:p>
            <a:pPr>
              <a:defRPr sz="2200"/>
            </a:pPr>
            <a:r>
              <a:rPr lang="en-US" sz="2200"/>
              <a:t>60-80 min: DevOps pipeline, migrations, and recovery drills.</a:t>
            </a:r>
          </a:p>
          <a:p>
            <a:pPr>
              <a:defRPr sz="2200"/>
            </a:pPr>
            <a:r>
              <a:rPr lang="en-US" sz="2200"/>
              <a:t>80-90 min: In-class lab launch, deliverables, and troubleshooting.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/>
              <a:t>From Week 2 to Week 3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>
              <a:defRPr sz="2200"/>
            </a:pPr>
            <a:r>
              <a:rPr lang="en-US" sz="2200"/>
              <a:t>Week 2 baseline: local Docker Postgres, pgAdmin, pg_dump/restore, Supabase import.</a:t>
            </a:r>
          </a:p>
          <a:p>
            <a:pPr>
              <a:defRPr sz="2200"/>
            </a:pPr>
            <a:r>
              <a:rPr lang="en-US" sz="2200"/>
              <a:t>Week 3 expansion: platform operations, observability, and controlled change.</a:t>
            </a:r>
          </a:p>
          <a:p>
            <a:pPr>
              <a:defRPr sz="2200"/>
            </a:pPr>
            <a:r>
              <a:rPr lang="en-US" sz="2200"/>
              <a:t>Same data discipline, higher operational rigor.</a:t>
            </a:r>
          </a:p>
          <a:p>
            <a:pPr>
              <a:defRPr sz="2200"/>
            </a:pPr>
            <a:r>
              <a:rPr lang="en-US" sz="2200"/>
              <a:t>Every change must include validation and rollback planning.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600"/>
              <a:t>DBA + DevOps in Supabase: What Changes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>
              <a:defRPr sz="2200"/>
            </a:pPr>
            <a:r>
              <a:rPr lang="en-US" sz="2200"/>
              <a:t>Supabase manages infrastructure layers, but you own schema/data/access quality.</a:t>
            </a:r>
          </a:p>
          <a:p>
            <a:pPr>
              <a:defRPr sz="2200"/>
            </a:pPr>
            <a:r>
              <a:rPr lang="en-US" sz="2200"/>
              <a:t>You still tune queries, indexes, and privileges.</a:t>
            </a:r>
          </a:p>
          <a:p>
            <a:pPr>
              <a:defRPr sz="2200"/>
            </a:pPr>
            <a:r>
              <a:rPr lang="en-US" sz="2200"/>
              <a:t>You still design backup verification and restore drills.</a:t>
            </a:r>
          </a:p>
          <a:p>
            <a:pPr>
              <a:defRPr sz="2200"/>
            </a:pPr>
            <a:r>
              <a:rPr lang="en-US" sz="2200"/>
              <a:t>You still own migration sequencing, release safety, and incident response.</a:t>
            </a:r>
          </a:p>
          <a:p>
            <a:pPr>
              <a:defRPr sz="2200"/>
            </a:pPr>
            <a:r>
              <a:rPr lang="en-US" sz="2200"/>
              <a:t>Managed platform means fewer server chores, not fewer accountability points.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/>
              <a:t>Shared Responsibility Model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>
              <a:defRPr sz="2200"/>
            </a:pPr>
            <a:r>
              <a:rPr lang="en-US" sz="2200"/>
              <a:t>Platform side: host uptime, managed backups, core patching, base networking.</a:t>
            </a:r>
          </a:p>
          <a:p>
            <a:pPr>
              <a:defRPr sz="2200"/>
            </a:pPr>
            <a:r>
              <a:rPr lang="en-US" sz="2200"/>
              <a:t>Team side: schema design, SQL quality, roles/grants/RLS, migration safety.</a:t>
            </a:r>
          </a:p>
          <a:p>
            <a:pPr>
              <a:defRPr sz="2200"/>
            </a:pPr>
            <a:r>
              <a:rPr lang="en-US" sz="2200"/>
              <a:t>Joint side: observability interpretation and capacity planning decisions.</a:t>
            </a:r>
          </a:p>
          <a:p>
            <a:pPr>
              <a:defRPr sz="2200"/>
            </a:pPr>
            <a:r>
              <a:rPr lang="en-US" sz="2200"/>
              <a:t>Class rule: always document who owns each operational task.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000"/>
              <a:t>Supabase Architecture for Postgres Ops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>
              <a:defRPr sz="2200"/>
            </a:pPr>
            <a:r>
              <a:rPr lang="en-US" sz="2200"/>
              <a:t>Core Postgres database remains the system of record.</a:t>
            </a:r>
          </a:p>
          <a:p>
            <a:pPr>
              <a:defRPr sz="2200"/>
            </a:pPr>
            <a:r>
              <a:rPr lang="en-US" sz="2200"/>
              <a:t>Supabase services add Auth, Storage, APIs, and realtime integrations.</a:t>
            </a:r>
          </a:p>
          <a:p>
            <a:pPr>
              <a:defRPr sz="2200"/>
            </a:pPr>
            <a:r>
              <a:rPr lang="en-US" sz="2200"/>
              <a:t>Operationally relevant surfaces: SQL Editor, Logs, Reports, Backups, Settings.</a:t>
            </a:r>
          </a:p>
          <a:p>
            <a:pPr>
              <a:defRPr sz="2200"/>
            </a:pPr>
            <a:r>
              <a:rPr lang="en-US" sz="2200"/>
              <a:t>Treat platform services as operational dependencies around your SQL core.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/>
              <a:t>Textbook Integration Map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>
              <a:defRPr sz="2200"/>
            </a:pPr>
            <a:r>
              <a:rPr lang="en-US" sz="2200"/>
              <a:t>Molina/Ullman/Widom: logging, recovery, serializability, locking, deadlocks.</a:t>
            </a:r>
          </a:p>
          <a:p>
            <a:pPr>
              <a:defRPr sz="2200"/>
            </a:pPr>
            <a:r>
              <a:rPr lang="en-US" sz="2200"/>
              <a:t>Obe/Hsu (Up and Running): config, roles, privileges, backup/restore, tuning.</a:t>
            </a:r>
          </a:p>
          <a:p>
            <a:pPr>
              <a:defRPr sz="2200"/>
            </a:pPr>
            <a:r>
              <a:rPr lang="en-US" sz="2200"/>
              <a:t>PostgreSQL 16 Cookbook: WAL, autovacuum, HA patterns, backup automation.</a:t>
            </a:r>
          </a:p>
          <a:p>
            <a:pPr>
              <a:defRPr sz="2200"/>
            </a:pPr>
            <a:r>
              <a:rPr lang="en-US" sz="2200"/>
              <a:t>Week 3 applies these ideas directly inside Supabase operational workflows.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43CAA20-3569-4189-9E48-239A229A8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51381"/>
            <a:ext cx="10512552" cy="4066540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Part 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199" y="4983276"/>
            <a:ext cx="10512552" cy="1126680"/>
          </a:xfr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lnSpc>
                <a:spcPct val="90000"/>
              </a:lnSpc>
              <a:spcBef>
                <a:spcPts val="1000"/>
              </a:spcBef>
            </a:pPr>
            <a:r>
              <a:rPr 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Supabase Admin Console Walkthrough (capture these screenshots)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A542B6D-E775-4832-91DC-2D20F8578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4718595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Screenshot 1: Project Dashboard Overview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630936" y="2660904"/>
            <a:ext cx="4818888" cy="354787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200" b="1"/>
            </a:pPr>
            <a:r>
              <a:rPr lang="en-US" sz="2200"/>
              <a:t>Capture checklist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700"/>
            </a:pPr>
            <a:r>
              <a:rPr lang="en-US" sz="2200"/>
              <a:t>- Show project name/ref and region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700"/>
            </a:pPr>
            <a:r>
              <a:rPr lang="en-US" sz="2200"/>
              <a:t>- Capture health/status indicators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700"/>
            </a:pPr>
            <a:r>
              <a:rPr lang="en-US" sz="2200"/>
              <a:t>- Include quick navigation to SQL/logs/settings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700"/>
            </a:pPr>
            <a:r>
              <a:rPr lang="en-US" sz="2200"/>
              <a:t>- Hide sensitive tokens or secrets</a:t>
            </a:r>
          </a:p>
        </p:txBody>
      </p:sp>
      <p:pic>
        <p:nvPicPr>
          <p:cNvPr id="3" name="Picture 2" descr="dashboard_over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9048" y="1893666"/>
            <a:ext cx="5458968" cy="307066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Screenshot 2: Database Settings and Connections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630936" y="2660904"/>
            <a:ext cx="4818888" cy="354787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200" b="1"/>
            </a:pPr>
            <a:r>
              <a:rPr lang="en-US" sz="2200"/>
              <a:t>Capture checklist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700"/>
            </a:pPr>
            <a:r>
              <a:rPr lang="en-US" sz="2200"/>
              <a:t>- Show direct + pooler connection options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700"/>
            </a:pPr>
            <a:r>
              <a:rPr lang="en-US" sz="2200"/>
              <a:t>- Show SSL requirement and ports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700"/>
            </a:pPr>
            <a:r>
              <a:rPr lang="en-US" sz="2200"/>
              <a:t>- Highlight password rotation controls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700"/>
            </a:pPr>
            <a:r>
              <a:rPr lang="en-US" sz="2200"/>
              <a:t>- Record where connection strings are obtained</a:t>
            </a:r>
          </a:p>
        </p:txBody>
      </p:sp>
      <p:pic>
        <p:nvPicPr>
          <p:cNvPr id="3" name="Picture 2" descr="database_settin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9048" y="1893666"/>
            <a:ext cx="5458968" cy="307066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5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Screenshot 3: SQL Editor Workflow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630936" y="2660904"/>
            <a:ext cx="4818888" cy="354787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200" b="1"/>
            </a:pPr>
            <a:r>
              <a:rPr lang="en-US" sz="2200"/>
              <a:t>Capture checklist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700"/>
            </a:pPr>
            <a:r>
              <a:rPr lang="en-US" sz="2200"/>
              <a:t>- Show a saved admin query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700"/>
            </a:pPr>
            <a:r>
              <a:rPr lang="en-US" sz="2200"/>
              <a:t>- Run a verification SELECT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700"/>
            </a:pPr>
            <a:r>
              <a:rPr lang="en-US" sz="2200"/>
              <a:t>- Include execution result metadata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700"/>
            </a:pPr>
            <a:r>
              <a:rPr lang="en-US" sz="2200"/>
              <a:t>- Capture execution history if visible</a:t>
            </a:r>
          </a:p>
        </p:txBody>
      </p:sp>
      <p:pic>
        <p:nvPicPr>
          <p:cNvPr id="3" name="Picture 2" descr="sql_edit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9048" y="1893666"/>
            <a:ext cx="5458968" cy="307066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Screenshot 4: Table Editor and Schema Browser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630936" y="2660904"/>
            <a:ext cx="4818888" cy="354787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200" b="1"/>
            </a:pPr>
            <a:r>
              <a:rPr lang="en-US" sz="2200"/>
              <a:t>Capture checklist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700"/>
            </a:pPr>
            <a:r>
              <a:rPr lang="en-US" sz="2200"/>
              <a:t>- Show schema list and table inventory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700"/>
            </a:pPr>
            <a:r>
              <a:rPr lang="en-US" sz="2200"/>
              <a:t>- Capture one table with constraints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700"/>
            </a:pPr>
            <a:r>
              <a:rPr lang="en-US" sz="2200"/>
              <a:t>- Show index visibility if available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700"/>
            </a:pPr>
            <a:r>
              <a:rPr lang="en-US" sz="2200"/>
              <a:t>- Note where DDL should still come from migrations</a:t>
            </a:r>
          </a:p>
        </p:txBody>
      </p:sp>
      <p:pic>
        <p:nvPicPr>
          <p:cNvPr id="3" name="Picture 2" descr="table_editor_sche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9048" y="1893666"/>
            <a:ext cx="5458968" cy="307066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Screenshot 5: Extensions Management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630936" y="2660904"/>
            <a:ext cx="4818888" cy="354787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200" b="1"/>
            </a:pPr>
            <a:r>
              <a:rPr lang="en-US" sz="2200"/>
              <a:t>Capture checklist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700"/>
            </a:pPr>
            <a:r>
              <a:rPr lang="en-US" sz="2200"/>
              <a:t>- Show installed extension list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700"/>
            </a:pPr>
            <a:r>
              <a:rPr lang="en-US" sz="2200"/>
              <a:t>- Show searchable extension catalog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700"/>
            </a:pPr>
            <a:r>
              <a:rPr lang="en-US" sz="2200"/>
              <a:t>- Capture enable flow for one extension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700"/>
            </a:pPr>
            <a:r>
              <a:rPr lang="en-US" sz="2200"/>
              <a:t>- Document extension rationale in notes</a:t>
            </a:r>
          </a:p>
        </p:txBody>
      </p:sp>
      <p:pic>
        <p:nvPicPr>
          <p:cNvPr id="3" name="Picture 2" descr="extens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9048" y="1893666"/>
            <a:ext cx="5458968" cy="307066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5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Screenshot 6: Logs Explorer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630936" y="2660904"/>
            <a:ext cx="4818888" cy="354787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200" b="1"/>
            </a:pPr>
            <a:r>
              <a:rPr lang="en-US" sz="2200"/>
              <a:t>Capture checklist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700"/>
            </a:pPr>
            <a:r>
              <a:rPr lang="en-US" sz="2200"/>
              <a:t>- Filter by source (Postgres/Auth/API)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700"/>
            </a:pPr>
            <a:r>
              <a:rPr lang="en-US" sz="2200"/>
              <a:t>- Set a narrow incident time window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700"/>
            </a:pPr>
            <a:r>
              <a:rPr lang="en-US" sz="2200"/>
              <a:t>- Capture one real error event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700"/>
            </a:pPr>
            <a:r>
              <a:rPr lang="en-US" sz="2200"/>
              <a:t>- Show how to copy event details</a:t>
            </a:r>
          </a:p>
        </p:txBody>
      </p:sp>
      <p:pic>
        <p:nvPicPr>
          <p:cNvPr id="3" name="Picture 2" descr="logs_explor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9048" y="1893666"/>
            <a:ext cx="5458968" cy="307066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Screenshot 7: Database Reports / Observability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630936" y="2660904"/>
            <a:ext cx="4818888" cy="354787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200" b="1"/>
            </a:pPr>
            <a:r>
              <a:rPr lang="en-US" sz="2200"/>
              <a:t>Capture checklist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700"/>
            </a:pPr>
            <a:r>
              <a:rPr lang="en-US" sz="2200"/>
              <a:t>- Capture load and connection trends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700"/>
            </a:pPr>
            <a:r>
              <a:rPr lang="en-US" sz="2200"/>
              <a:t>- Show top query or resource-heavy query insight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700"/>
            </a:pPr>
            <a:r>
              <a:rPr lang="en-US" sz="2200"/>
              <a:t>- Include any alert/recommendation card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700"/>
            </a:pPr>
            <a:r>
              <a:rPr lang="en-US" sz="2200"/>
              <a:t>- Record one optimization candidate</a:t>
            </a:r>
          </a:p>
        </p:txBody>
      </p:sp>
      <p:pic>
        <p:nvPicPr>
          <p:cNvPr id="3" name="Picture 2" descr="repor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9048" y="1893666"/>
            <a:ext cx="5458968" cy="307066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Screenshot 8: Backups and Point-in-Time Recovery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630936" y="2660904"/>
            <a:ext cx="4818888" cy="354787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200" b="1"/>
            </a:pPr>
            <a:r>
              <a:rPr lang="en-US" sz="2200"/>
              <a:t>Capture checklist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700"/>
            </a:pPr>
            <a:r>
              <a:rPr lang="en-US" sz="2200"/>
              <a:t>- Show retention configuration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700"/>
            </a:pPr>
            <a:r>
              <a:rPr lang="en-US" sz="2200"/>
              <a:t>- Show restore target selection controls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700"/>
            </a:pPr>
            <a:r>
              <a:rPr lang="en-US" sz="2200"/>
              <a:t>- Capture warnings/confirmation flow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700"/>
            </a:pPr>
            <a:r>
              <a:rPr lang="en-US" sz="2200"/>
              <a:t>- Document expected recovery objective</a:t>
            </a:r>
          </a:p>
        </p:txBody>
      </p:sp>
      <p:pic>
        <p:nvPicPr>
          <p:cNvPr id="3" name="Picture 2" descr="backups_pit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9048" y="1893666"/>
            <a:ext cx="5458968" cy="307066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Screenshot 9: Auth + RLS Operational Surface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630936" y="2660904"/>
            <a:ext cx="4818888" cy="354787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200" b="1"/>
            </a:pPr>
            <a:r>
              <a:rPr lang="en-US" sz="2200"/>
              <a:t>Capture checklist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700"/>
            </a:pPr>
            <a:r>
              <a:rPr lang="en-US" sz="2200"/>
              <a:t>- Show Auth users/providers screen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700"/>
            </a:pPr>
            <a:r>
              <a:rPr lang="en-US" sz="2200"/>
              <a:t>- Show policies for one table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700"/>
            </a:pPr>
            <a:r>
              <a:rPr lang="en-US" sz="2200"/>
              <a:t>- Capture policy expression example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700"/>
            </a:pPr>
            <a:r>
              <a:rPr lang="en-US" sz="2200"/>
              <a:t>- Demonstrate policy test query</a:t>
            </a:r>
          </a:p>
        </p:txBody>
      </p:sp>
      <p:pic>
        <p:nvPicPr>
          <p:cNvPr id="3" name="Picture 2" descr="auth_r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9048" y="1893666"/>
            <a:ext cx="5458968" cy="307066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43CAA20-3569-4189-9E48-239A229A8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51381"/>
            <a:ext cx="10512552" cy="4066540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Part B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199" y="4983276"/>
            <a:ext cx="10512552" cy="1126680"/>
          </a:xfr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lnSpc>
                <a:spcPct val="90000"/>
              </a:lnSpc>
              <a:spcBef>
                <a:spcPts val="1000"/>
              </a:spcBef>
            </a:pPr>
            <a:r>
              <a:rPr 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Postgres Administration Workflows in Supabase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A542B6D-E775-4832-91DC-2D20F8578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4718595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/>
              <a:t>Schema Governance Standards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>
              <a:defRPr sz="2200"/>
            </a:pPr>
            <a:r>
              <a:rPr lang="en-US" sz="2200"/>
              <a:t>Use explicit schema naming and ownership conventions.</a:t>
            </a:r>
          </a:p>
          <a:p>
            <a:pPr>
              <a:defRPr sz="2200"/>
            </a:pPr>
            <a:r>
              <a:rPr lang="en-US" sz="2200"/>
              <a:t>Separate operational tables from application domain tables where useful.</a:t>
            </a:r>
          </a:p>
          <a:p>
            <a:pPr>
              <a:defRPr sz="2200"/>
            </a:pPr>
            <a:r>
              <a:rPr lang="en-US" sz="2200"/>
              <a:t>Name constraints/indexes consistently for debugging clarity.</a:t>
            </a:r>
          </a:p>
          <a:p>
            <a:pPr>
              <a:defRPr sz="2200"/>
            </a:pPr>
            <a:r>
              <a:rPr lang="en-US" sz="2200"/>
              <a:t>Document every DDL change in a migration and changelog entry.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600"/>
              <a:t>Index Strategy for Operational Workloads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>
              <a:defRPr sz="2200"/>
            </a:pPr>
            <a:r>
              <a:rPr lang="en-US" sz="2200"/>
              <a:t>Start with workload evidence, not guesswork.</a:t>
            </a:r>
          </a:p>
          <a:p>
            <a:pPr>
              <a:defRPr sz="2200"/>
            </a:pPr>
            <a:r>
              <a:rPr lang="en-US" sz="2200"/>
              <a:t>Prefer B-tree for equality/range filters; use GIN/GiST where data type demands.</a:t>
            </a:r>
          </a:p>
          <a:p>
            <a:pPr>
              <a:defRPr sz="2200"/>
            </a:pPr>
            <a:r>
              <a:rPr lang="en-US" sz="2200"/>
              <a:t>Use partial indexes when predicate selectivity is stable.</a:t>
            </a:r>
          </a:p>
          <a:p>
            <a:pPr>
              <a:defRPr sz="2200"/>
            </a:pPr>
            <a:r>
              <a:rPr lang="en-US" sz="2200"/>
              <a:t>Re-check plan changes after every schema or query revision.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/>
              <a:t>Query Plan Triage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>
              <a:defRPr sz="2200"/>
            </a:pPr>
            <a:r>
              <a:rPr lang="en-US" sz="2200"/>
              <a:t>Capture baseline with EXPLAIN (ANALYZE, BUFFERS) for slow statements.</a:t>
            </a:r>
          </a:p>
          <a:p>
            <a:pPr>
              <a:defRPr sz="2200"/>
            </a:pPr>
            <a:r>
              <a:rPr lang="en-US" sz="2200"/>
              <a:t>Check scan type, row estimate errors, and join strategy.</a:t>
            </a:r>
          </a:p>
          <a:p>
            <a:pPr>
              <a:defRPr sz="2200"/>
            </a:pPr>
            <a:r>
              <a:rPr lang="en-US" sz="2200"/>
              <a:t>Inspect pg_stat_statements-style views via SQL/Inspect workflows.</a:t>
            </a:r>
          </a:p>
          <a:p>
            <a:pPr>
              <a:defRPr sz="2200"/>
            </a:pPr>
            <a:r>
              <a:rPr lang="en-US" sz="2200"/>
              <a:t>Apply one optimization at a time and compare before/after evidence.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600"/>
              <a:t>VACUUM, ANALYZE, and Storage Hygiene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>
              <a:defRPr sz="2200"/>
            </a:pPr>
            <a:r>
              <a:rPr lang="en-US" sz="2200"/>
              <a:t>Understand MVCC bloat and why vacuuming matters.</a:t>
            </a:r>
          </a:p>
          <a:p>
            <a:pPr>
              <a:defRPr sz="2200"/>
            </a:pPr>
            <a:r>
              <a:rPr lang="en-US" sz="2200"/>
              <a:t>Monitor autovacuum behavior and blocked maintenance events.</a:t>
            </a:r>
          </a:p>
          <a:p>
            <a:pPr>
              <a:defRPr sz="2200"/>
            </a:pPr>
            <a:r>
              <a:rPr lang="en-US" sz="2200"/>
              <a:t>Use ANALYZE to refresh planner statistics after major data shifts.</a:t>
            </a:r>
          </a:p>
          <a:p>
            <a:pPr>
              <a:defRPr sz="2200"/>
            </a:pPr>
            <a:r>
              <a:rPr lang="en-US" sz="2200"/>
              <a:t>Treat maintenance windows as operational design, not afterthought.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/>
              <a:t>Locking and Blocking Diagnosis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>
              <a:defRPr sz="2200"/>
            </a:pPr>
            <a:r>
              <a:rPr lang="en-US" sz="2200"/>
              <a:t>Symptom: rising latency with low CPU can indicate lock contention.</a:t>
            </a:r>
          </a:p>
          <a:p>
            <a:pPr>
              <a:defRPr sz="2200"/>
            </a:pPr>
            <a:r>
              <a:rPr lang="en-US" sz="2200"/>
              <a:t>Use lock/active-session queries to identify blocker and wait chain.</a:t>
            </a:r>
          </a:p>
          <a:p>
            <a:pPr>
              <a:defRPr sz="2200"/>
            </a:pPr>
            <a:r>
              <a:rPr lang="en-US" sz="2200"/>
              <a:t>Kill only as last resort; prefer safe transaction design fixes.</a:t>
            </a:r>
          </a:p>
          <a:p>
            <a:pPr>
              <a:defRPr sz="2200"/>
            </a:pPr>
            <a:r>
              <a:rPr lang="en-US" sz="2200"/>
              <a:t>Capture incident timeline for root-cause review.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/>
              <a:t>Roles, Grants, and Least Privilege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>
              <a:defRPr sz="2200"/>
            </a:pPr>
            <a:r>
              <a:rPr lang="en-US" sz="2200"/>
              <a:t>Create role tiers: owner/admin, app writer, read-only analyst.</a:t>
            </a:r>
          </a:p>
          <a:p>
            <a:pPr>
              <a:defRPr sz="2200"/>
            </a:pPr>
            <a:r>
              <a:rPr lang="en-US" sz="2200"/>
              <a:t>Grant explicit privileges; avoid broad grants to PUBLIC.</a:t>
            </a:r>
          </a:p>
          <a:p>
            <a:pPr>
              <a:defRPr sz="2200"/>
            </a:pPr>
            <a:r>
              <a:rPr lang="en-US" sz="2200"/>
              <a:t>Set default privileges to prevent future drift.</a:t>
            </a:r>
          </a:p>
          <a:p>
            <a:pPr>
              <a:defRPr sz="2200"/>
            </a:pPr>
            <a:r>
              <a:rPr lang="en-US" sz="2200"/>
              <a:t>Audit privilege map regularly and during releases.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/>
              <a:t>Row Level Security Pattern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>
              <a:defRPr sz="2200"/>
            </a:pPr>
            <a:r>
              <a:rPr lang="en-US" sz="2200"/>
              <a:t>Enable RLS on exposed tables before shipping client-facing features.</a:t>
            </a:r>
          </a:p>
          <a:p>
            <a:pPr>
              <a:defRPr sz="2200"/>
            </a:pPr>
            <a:r>
              <a:rPr lang="en-US" sz="2200"/>
              <a:t>Write separate SELECT/INSERT/UPDATE/DELETE policies where needed.</a:t>
            </a:r>
          </a:p>
          <a:p>
            <a:pPr>
              <a:defRPr sz="2200"/>
            </a:pPr>
            <a:r>
              <a:rPr lang="en-US" sz="2200"/>
              <a:t>Bind policies to verified user identity/claims, not assumptions.</a:t>
            </a:r>
          </a:p>
          <a:p>
            <a:pPr>
              <a:defRPr sz="2200"/>
            </a:pPr>
            <a:r>
              <a:rPr lang="en-US" sz="2200"/>
              <a:t>Add policy tests to migration verification checklist.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43CAA20-3569-4189-9E48-239A229A8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51381"/>
            <a:ext cx="10512552" cy="4066540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Part C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199" y="4983276"/>
            <a:ext cx="10512552" cy="1126680"/>
          </a:xfr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lnSpc>
                <a:spcPct val="90000"/>
              </a:lnSpc>
              <a:spcBef>
                <a:spcPts val="1000"/>
              </a:spcBef>
            </a:pPr>
            <a:r>
              <a:rPr 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DevOps Workflow for Supabase Postgres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A542B6D-E775-4832-91DC-2D20F8578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4718595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600"/>
              <a:t>Migration-First Workflow (Supabase CLI)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>
              <a:defRPr sz="2200"/>
            </a:pPr>
            <a:r>
              <a:rPr lang="en-US" sz="2200"/>
              <a:t>Initialize/link: supabase init, supabase link --project-ref &lt;ref&gt;</a:t>
            </a:r>
          </a:p>
          <a:p>
            <a:pPr>
              <a:defRPr sz="2200"/>
            </a:pPr>
            <a:r>
              <a:rPr lang="en-US" sz="2200"/>
              <a:t>Sync baseline: supabase db pull</a:t>
            </a:r>
          </a:p>
          <a:p>
            <a:pPr>
              <a:defRPr sz="2200"/>
            </a:pPr>
            <a:r>
              <a:rPr lang="en-US" sz="2200"/>
              <a:t>Create change file: supabase migration new &lt;name&gt;</a:t>
            </a:r>
          </a:p>
          <a:p>
            <a:pPr>
              <a:defRPr sz="2200"/>
            </a:pPr>
            <a:r>
              <a:rPr lang="en-US" sz="2200"/>
              <a:t>Apply safely: supabase db push</a:t>
            </a:r>
          </a:p>
          <a:p>
            <a:pPr>
              <a:defRPr sz="2200"/>
            </a:pPr>
            <a:r>
              <a:rPr lang="en-US" sz="2200"/>
              <a:t>Verify with SQL checks and policy tests after push.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/>
              <a:t>Environment Promotion Model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>
              <a:defRPr sz="2200"/>
            </a:pPr>
            <a:r>
              <a:rPr lang="en-US" sz="2200"/>
              <a:t>Local development for rapid iteration and destructive tests.</a:t>
            </a:r>
          </a:p>
          <a:p>
            <a:pPr>
              <a:defRPr sz="2200"/>
            </a:pPr>
            <a:r>
              <a:rPr lang="en-US" sz="2200"/>
              <a:t>Staging environment for integration and migration rehearsal.</a:t>
            </a:r>
          </a:p>
          <a:p>
            <a:pPr>
              <a:defRPr sz="2200"/>
            </a:pPr>
            <a:r>
              <a:rPr lang="en-US" sz="2200"/>
              <a:t>Production environment for approved, reviewed migrations only.</a:t>
            </a:r>
          </a:p>
          <a:p>
            <a:pPr>
              <a:defRPr sz="2200"/>
            </a:pPr>
            <a:r>
              <a:rPr lang="en-US" sz="2200"/>
              <a:t>Promotion gate requires: tests pass, metrics stable, rollback ready.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200"/>
              <a:t>CI/CD Pipeline Example (GitHub + Supabase)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>
              <a:defRPr sz="2200"/>
            </a:pPr>
            <a:r>
              <a:rPr lang="en-US" sz="2200"/>
              <a:t>On pull request: lint SQL, run schema drift checks, run test queries.</a:t>
            </a:r>
          </a:p>
          <a:p>
            <a:pPr>
              <a:defRPr sz="2200"/>
            </a:pPr>
            <a:r>
              <a:rPr lang="en-US" sz="2200"/>
              <a:t>On merge to main: apply migrations to staging automatically.</a:t>
            </a:r>
          </a:p>
          <a:p>
            <a:pPr>
              <a:defRPr sz="2200"/>
            </a:pPr>
            <a:r>
              <a:rPr lang="en-US" sz="2200"/>
              <a:t>Manual approval gate before production migration push.</a:t>
            </a:r>
          </a:p>
          <a:p>
            <a:pPr>
              <a:defRPr sz="2200"/>
            </a:pPr>
            <a:r>
              <a:rPr lang="en-US" sz="2200"/>
              <a:t>Post-deploy: run smoke tests + monitor logs/reports for regressions.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/>
              <a:t>Backup and Restore Runbook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>
              <a:defRPr sz="2200"/>
            </a:pPr>
            <a:r>
              <a:rPr lang="en-US" sz="2200"/>
              <a:t>Use platform-managed backups plus periodic logical exports (pg_dump).</a:t>
            </a:r>
          </a:p>
          <a:p>
            <a:pPr>
              <a:defRPr sz="2200"/>
            </a:pPr>
            <a:r>
              <a:rPr lang="en-US" sz="2200"/>
              <a:t>Perform restore drills into an isolated target before incidents happen.</a:t>
            </a:r>
          </a:p>
          <a:p>
            <a:pPr>
              <a:defRPr sz="2200"/>
            </a:pPr>
            <a:r>
              <a:rPr lang="en-US" sz="2200"/>
              <a:t>Document RPO/RTO assumptions for each environment.</a:t>
            </a:r>
          </a:p>
          <a:p>
            <a:pPr>
              <a:defRPr sz="2200"/>
            </a:pPr>
            <a:r>
              <a:rPr lang="en-US" sz="2200"/>
              <a:t>After restore: verify row counts, constraints, and critical queries.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200"/>
              <a:t>Incident Response Flow for Database Events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>
              <a:defRPr sz="2200"/>
            </a:pPr>
            <a:r>
              <a:rPr lang="en-US" sz="2200"/>
              <a:t>1) Declare incident and freeze nonessential changes.</a:t>
            </a:r>
          </a:p>
          <a:p>
            <a:pPr>
              <a:defRPr sz="2200"/>
            </a:pPr>
            <a:r>
              <a:rPr lang="en-US" sz="2200"/>
              <a:t>2) Identify symptom scope (latency, errors, data correctness).</a:t>
            </a:r>
          </a:p>
          <a:p>
            <a:pPr>
              <a:defRPr sz="2200"/>
            </a:pPr>
            <a:r>
              <a:rPr lang="en-US" sz="2200"/>
              <a:t>3) Correlate with recent migrations/deployments and logs.</a:t>
            </a:r>
          </a:p>
          <a:p>
            <a:pPr>
              <a:defRPr sz="2200"/>
            </a:pPr>
            <a:r>
              <a:rPr lang="en-US" sz="2200"/>
              <a:t>4) Apply minimal corrective action, then verify service health.</a:t>
            </a:r>
          </a:p>
          <a:p>
            <a:pPr>
              <a:defRPr sz="2200"/>
            </a:pPr>
            <a:r>
              <a:rPr lang="en-US" sz="2200"/>
              <a:t>5) Write post-incident notes with root cause and prevention actions.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43CAA20-3569-4189-9E48-239A229A8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51381"/>
            <a:ext cx="10512552" cy="4066540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Part 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199" y="4983276"/>
            <a:ext cx="10512552" cy="1126680"/>
          </a:xfr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lnSpc>
                <a:spcPct val="90000"/>
              </a:lnSpc>
              <a:spcBef>
                <a:spcPts val="1000"/>
              </a:spcBef>
            </a:pPr>
            <a:r>
              <a:rPr 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Week 3 In-Class Lab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A542B6D-E775-4832-91DC-2D20F8578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4718595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 Tasks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Capture the nine Supabase admin screenshots listed in this deck.</a:t>
            </a:r>
          </a:p>
          <a:p>
            <a:pPr>
              <a:defRPr sz="2200"/>
            </a:pPr>
            <a:r>
              <a:t>Create one migration that adds at least one useful index.</a:t>
            </a:r>
          </a:p>
          <a:p>
            <a:pPr>
              <a:defRPr sz="2200"/>
            </a:pPr>
            <a:r>
              <a:t>Run EXPLAIN ANALYZE before and after the index change.</a:t>
            </a:r>
          </a:p>
          <a:p>
            <a:pPr>
              <a:defRPr sz="2200"/>
            </a:pPr>
            <a:r>
              <a:t>Implement one new role and one RLS policy test case.</a:t>
            </a:r>
          </a:p>
          <a:p>
            <a:pPr>
              <a:defRPr sz="2200"/>
            </a:pPr>
            <a:r>
              <a:t>Produce a short backup/restore verification report.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Deliverables and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One PPTX/PDF evidence packet with screenshots and short annotations.</a:t>
            </a:r>
          </a:p>
          <a:p>
            <a:pPr>
              <a:defRPr sz="2200"/>
            </a:pPr>
            <a:r>
              <a:t>Migration SQL file plus verification SQL script.</a:t>
            </a:r>
          </a:p>
          <a:p>
            <a:pPr>
              <a:defRPr sz="2200"/>
            </a:pPr>
            <a:r>
              <a:t>Performance comparison note (before/after plan summary).</a:t>
            </a:r>
          </a:p>
          <a:p>
            <a:pPr>
              <a:defRPr sz="2200"/>
            </a:pPr>
            <a:r>
              <a:t>Security note describing role/policy intent and outcome.</a:t>
            </a:r>
          </a:p>
          <a:p>
            <a:pPr>
              <a:defRPr sz="2200"/>
            </a:pPr>
            <a:r>
              <a:t>Reflection paragraph: what failed first and how it was fixed.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Troubleshooting Matrix (Most Common Failures)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Auth errors: recheck role credentials, provider state, and policy logic.</a:t>
            </a:r>
          </a:p>
          <a:p>
            <a:pPr>
              <a:defRPr sz="2200"/>
            </a:pPr>
            <a:r>
              <a:t>Migration errors: inspect dependency order and object existence.</a:t>
            </a:r>
          </a:p>
          <a:p>
            <a:pPr>
              <a:defRPr sz="2200"/>
            </a:pPr>
            <a:r>
              <a:t>Slow queries: inspect plan drift, missing indexes, stale statistics.</a:t>
            </a:r>
          </a:p>
          <a:p>
            <a:pPr>
              <a:defRPr sz="2200"/>
            </a:pPr>
            <a:r>
              <a:t>Connection spikes: verify pool usage and client connection lifecycle.</a:t>
            </a:r>
          </a:p>
          <a:p>
            <a:pPr>
              <a:defRPr sz="2200"/>
            </a:pPr>
            <a:r>
              <a:t>Restore mismatch: validate target DB and backup artifact selected.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Wrap-Up and Week 4 Preview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Week 3 outcome: operate Supabase Postgres with admin + DevOps discipline.</a:t>
            </a:r>
          </a:p>
          <a:p>
            <a:pPr>
              <a:defRPr sz="2200"/>
            </a:pPr>
            <a:r>
              <a:t>Next focus (Week 4): deeper schema management, constraints, and introspection.</a:t>
            </a:r>
          </a:p>
          <a:p>
            <a:pPr>
              <a:defRPr sz="2200"/>
            </a:pPr>
            <a:r>
              <a:t>Carry forward: migration-first thinking and restore-first safety mindset.</a:t>
            </a:r>
          </a:p>
          <a:p>
            <a:pPr>
              <a:defRPr sz="2200"/>
            </a:pPr>
            <a:r>
              <a:t>Do not proceed to next project milestone without a working runbook.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1387</TotalTime>
  <Words>5396</Words>
  <Application>Microsoft Macintosh PowerPoint</Application>
  <PresentationFormat>Widescreen</PresentationFormat>
  <Paragraphs>490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Week 3: Postgres Admin + DevOps in Supabase</vt:lpstr>
      <vt:lpstr>Learning Outcomes</vt:lpstr>
      <vt:lpstr>Agenda and Time Budget (90 minutes)</vt:lpstr>
      <vt:lpstr>From Week 2 to Week 3</vt:lpstr>
      <vt:lpstr>DBA + DevOps in Supabase: What Changes</vt:lpstr>
      <vt:lpstr>Shared Responsibility Model</vt:lpstr>
      <vt:lpstr>Supabase Architecture for Postgres Ops</vt:lpstr>
      <vt:lpstr>Textbook Integration Map</vt:lpstr>
      <vt:lpstr>Part A</vt:lpstr>
      <vt:lpstr>Screenshot 1: Project Dashboard Overview</vt:lpstr>
      <vt:lpstr>Screenshot 2: Database Settings and Connections</vt:lpstr>
      <vt:lpstr>Screenshot 3: SQL Editor Workflow</vt:lpstr>
      <vt:lpstr>Screenshot 4: Table Editor and Schema Browser</vt:lpstr>
      <vt:lpstr>Screenshot 5: Extensions Management</vt:lpstr>
      <vt:lpstr>Screenshot 6: Logs Explorer</vt:lpstr>
      <vt:lpstr>Screenshot 7: Database Reports / Observability</vt:lpstr>
      <vt:lpstr>Screenshot 8: Backups and Point-in-Time Recovery</vt:lpstr>
      <vt:lpstr>Screenshot 9: Auth + RLS Operational Surface</vt:lpstr>
      <vt:lpstr>Part B</vt:lpstr>
      <vt:lpstr>Schema Governance Standards</vt:lpstr>
      <vt:lpstr>Index Strategy for Operational Workloads</vt:lpstr>
      <vt:lpstr>Query Plan Triage</vt:lpstr>
      <vt:lpstr>VACUUM, ANALYZE, and Storage Hygiene</vt:lpstr>
      <vt:lpstr>Locking and Blocking Diagnosis</vt:lpstr>
      <vt:lpstr>Roles, Grants, and Least Privilege</vt:lpstr>
      <vt:lpstr>Row Level Security Pattern</vt:lpstr>
      <vt:lpstr>Part C</vt:lpstr>
      <vt:lpstr>Migration-First Workflow (Supabase CLI)</vt:lpstr>
      <vt:lpstr>Environment Promotion Model</vt:lpstr>
      <vt:lpstr>CI/CD Pipeline Example (GitHub + Supabase)</vt:lpstr>
      <vt:lpstr>Backup and Restore Runbook</vt:lpstr>
      <vt:lpstr>Incident Response Flow for Database Events</vt:lpstr>
      <vt:lpstr>Part D</vt:lpstr>
      <vt:lpstr>Lab Tasks</vt:lpstr>
      <vt:lpstr>Deliverables and Evaluation</vt:lpstr>
      <vt:lpstr>Troubleshooting Matrix (Most Common Failures)</vt:lpstr>
      <vt:lpstr>Wrap-Up and Week 4 Preview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Atilio Barreda</cp:lastModifiedBy>
  <cp:revision>2</cp:revision>
  <dcterms:created xsi:type="dcterms:W3CDTF">2013-01-27T09:14:16Z</dcterms:created>
  <dcterms:modified xsi:type="dcterms:W3CDTF">2026-02-11T22:51:16Z</dcterms:modified>
  <cp:category/>
</cp:coreProperties>
</file>