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2F5F7"/>
                </a:solidFill>
              </a:rPr>
              <a:t>Week 8 — MongoDB &amp; NoSQL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800" b="1">
                <a:solidFill>
                  <a:srgbClr val="0C4A6E"/>
                </a:solidFill>
              </a:defRPr>
            </a:pPr>
            <a:r>
              <a:t>CST4714 Database Administration</a:t>
            </a:r>
          </a:p>
          <a:p>
            <a:pPr>
              <a:defRPr sz="2800">
                <a:solidFill>
                  <a:srgbClr val="505050"/>
                </a:solidFill>
              </a:defRPr>
            </a:pPr>
            <a:r>
              <a:t>Single-Session Intensive • Spring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>
                <a:solidFill>
                  <a:srgbClr val="505050"/>
                </a:solidFill>
              </a:defRPr>
            </a:pPr>
            <a:r>
              <a:t>Focus: Document data models, MongoDB philosophy, and hands-on querying.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2F5F7"/>
                </a:solidFill>
              </a:rPr>
              <a:t>Session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505050"/>
                </a:solidFill>
              </a:defRPr>
            </a:pPr>
            <a:r>
              <a:t>Single-meeting roadmap—adapt pacing to your 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2D2D2D"/>
                </a:solidFill>
              </a:defRPr>
            </a:pPr>
            <a:r>
              <a:t>Welcome, midterm bridge, and goals (15 min)</a:t>
            </a:r>
          </a:p>
          <a:p>
            <a:pPr>
              <a:defRPr sz="2400">
                <a:solidFill>
                  <a:srgbClr val="2D2D2D"/>
                </a:solidFill>
              </a:defRPr>
            </a:pPr>
            <a:r>
              <a:t>Why NoSQL? History and industry drivers (25 min)</a:t>
            </a:r>
          </a:p>
          <a:p>
            <a:pPr>
              <a:defRPr sz="2400">
                <a:solidFill>
                  <a:srgbClr val="2D2D2D"/>
                </a:solidFill>
              </a:defRPr>
            </a:pPr>
            <a:r>
              <a:t>Trade-offs discussion: selecting the right model (25 min)</a:t>
            </a:r>
          </a:p>
          <a:p>
            <a:pPr>
              <a:defRPr sz="2400">
                <a:solidFill>
                  <a:srgbClr val="2D2D2D"/>
                </a:solidFill>
              </a:defRPr>
            </a:pPr>
            <a:r>
              <a:t>Demo: MongoDB document model in action (30 min)</a:t>
            </a:r>
          </a:p>
          <a:p>
            <a:pPr>
              <a:defRPr sz="2400">
                <a:solidFill>
                  <a:srgbClr val="2D2D2D"/>
                </a:solidFill>
              </a:defRPr>
            </a:pPr>
            <a:r>
              <a:t>Hands-on lab: CRUD + aggregation basics (35 min)</a:t>
            </a:r>
          </a:p>
          <a:p>
            <a:pPr>
              <a:defRPr sz="2400">
                <a:solidFill>
                  <a:srgbClr val="2D2D2D"/>
                </a:solidFill>
              </a:defRPr>
            </a:pPr>
            <a:r>
              <a:t>Philosophy, production readiness, and wrap-up (20 min)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2F5F7"/>
                </a:solidFill>
              </a:rPr>
              <a:t>Why We Needed NoSQL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505050"/>
                </a:solidFill>
              </a:defRPr>
            </a:pPr>
            <a:r>
              <a:t>NoSQL emerged to serve velocity, volume, and variety demands that SQL alone struggled to meet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2D2D2D"/>
                </a:solidFill>
              </a:defRPr>
            </a:pPr>
            <a:r>
              <a:t>1960s–80s: Hierarchical and relational dominance; hardware-constrained scale</a:t>
            </a:r>
          </a:p>
          <a:p>
            <a:pPr>
              <a:defRPr sz="2400">
                <a:solidFill>
                  <a:srgbClr val="2D2D2D"/>
                </a:solidFill>
              </a:defRPr>
            </a:pPr>
            <a:r>
              <a:t>1990s: Web applications stretch OLTP-focused designs; caching becomes workaround</a:t>
            </a:r>
          </a:p>
          <a:p>
            <a:pPr>
              <a:defRPr sz="2400">
                <a:solidFill>
                  <a:srgbClr val="2D2D2D"/>
                </a:solidFill>
              </a:defRPr>
            </a:pPr>
            <a:r>
              <a:t>2000s: Google, Amazon, and Facebook publish scaling papers—push toward schema flexibility</a:t>
            </a:r>
          </a:p>
          <a:p>
            <a:pPr>
              <a:defRPr sz="2400">
                <a:solidFill>
                  <a:srgbClr val="2D2D2D"/>
                </a:solidFill>
              </a:defRPr>
            </a:pPr>
            <a:r>
              <a:t>Today: Polyglot persistence is the norm; DBAs broker multiple data models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2F5F7"/>
                </a:solidFill>
              </a:rPr>
              <a:t>NoSQL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505050"/>
                </a:solidFill>
              </a:defRPr>
            </a:pPr>
            <a:r>
              <a:t>Choose based on access patterns, consistency needs, and operational maturity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2D2D2D"/>
                </a:solidFill>
              </a:defRPr>
            </a:pPr>
            <a:r>
              <a:t>Key-Value Stores — ultra-fast session state (Redis, DynamoDB)</a:t>
            </a:r>
          </a:p>
          <a:p>
            <a:pPr>
              <a:defRPr sz="2400">
                <a:solidFill>
                  <a:srgbClr val="2D2D2D"/>
                </a:solidFill>
              </a:defRPr>
            </a:pPr>
            <a:r>
              <a:t>Document Databases — content, catalogs, user profiles (MongoDB, Couchbase)</a:t>
            </a:r>
          </a:p>
          <a:p>
            <a:pPr>
              <a:defRPr sz="2400">
                <a:solidFill>
                  <a:srgbClr val="2D2D2D"/>
                </a:solidFill>
              </a:defRPr>
            </a:pPr>
            <a:r>
              <a:t>Column-Family Stores — analytics on wide datasets (Cassandra, Bigtable)</a:t>
            </a:r>
          </a:p>
          <a:p>
            <a:pPr>
              <a:defRPr sz="2400">
                <a:solidFill>
                  <a:srgbClr val="2D2D2D"/>
                </a:solidFill>
              </a:defRPr>
            </a:pPr>
            <a:r>
              <a:t>Graph Databases — relationship-heavy workloads (Neo4j, Neptune)</a:t>
            </a:r>
          </a:p>
          <a:p>
            <a:pPr>
              <a:defRPr sz="2400">
                <a:solidFill>
                  <a:srgbClr val="2D2D2D"/>
                </a:solidFill>
              </a:defRPr>
            </a:pPr>
            <a:r>
              <a:t>Common threads: horizontal scale-out, flexible schemas, API-driven dev velocity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2F5F7"/>
                </a:solidFill>
              </a:rPr>
              <a:t>Document Model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505050"/>
                </a:solidFill>
              </a:defRPr>
            </a:pPr>
            <a:r>
              <a:t>MongoDB’s BSON documents mirror modern object structures while staying queryable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2D2D2D"/>
                </a:solidFill>
              </a:defRPr>
            </a:pPr>
            <a:r>
              <a:t>Design for how the application reads and writes—not tables and joins</a:t>
            </a:r>
          </a:p>
          <a:p>
            <a:pPr>
              <a:defRPr sz="2400">
                <a:solidFill>
                  <a:srgbClr val="2D2D2D"/>
                </a:solidFill>
              </a:defRPr>
            </a:pPr>
            <a:r>
              <a:t>Embed data that is read together; reference when cardinality or growth requires</a:t>
            </a:r>
          </a:p>
          <a:p>
            <a:pPr>
              <a:defRPr sz="2400">
                <a:solidFill>
                  <a:srgbClr val="2D2D2D"/>
                </a:solidFill>
              </a:defRPr>
            </a:pPr>
            <a:r>
              <a:t>Support multiple schema versions concurrently with validation rules</a:t>
            </a:r>
          </a:p>
          <a:p>
            <a:pPr>
              <a:defRPr sz="2400">
                <a:solidFill>
                  <a:srgbClr val="2D2D2D"/>
                </a:solidFill>
              </a:defRPr>
            </a:pPr>
            <a:r>
              <a:t>Document = application object; nest arrays and subdocuments to model real-world structure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2F5F7"/>
                </a:solidFill>
              </a:rPr>
              <a:t>MongoDB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505050"/>
                </a:solidFill>
              </a:defRPr>
            </a:pPr>
            <a:r>
              <a:t>Think beyond the database binary; platform services shape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2D2D2D"/>
                </a:solidFill>
              </a:defRPr>
            </a:pPr>
            <a:r>
              <a:t>Storage Engine: WiredTiger with document-level locking and compression</a:t>
            </a:r>
          </a:p>
          <a:p>
            <a:pPr>
              <a:defRPr sz="2400">
                <a:solidFill>
                  <a:srgbClr val="2D2D2D"/>
                </a:solidFill>
              </a:defRPr>
            </a:pPr>
            <a:r>
              <a:t>Replication: Replica sets deliver HA plus read scaling via secondaries</a:t>
            </a:r>
          </a:p>
          <a:p>
            <a:pPr>
              <a:defRPr sz="2400">
                <a:solidFill>
                  <a:srgbClr val="2D2D2D"/>
                </a:solidFill>
              </a:defRPr>
            </a:pPr>
            <a:r>
              <a:t>Sharding: Range, hash, or zone-based distribution for horizontal scale</a:t>
            </a:r>
          </a:p>
          <a:p>
            <a:pPr>
              <a:defRPr sz="2400">
                <a:solidFill>
                  <a:srgbClr val="2D2D2D"/>
                </a:solidFill>
              </a:defRPr>
            </a:pPr>
            <a:r>
              <a:t>Tooling: Atlas, Compass, and APIs streamline dev-to-prod workflows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2F5F7"/>
                </a:solidFill>
              </a:rPr>
              <a:t>Pros &amp; Cons vs Relational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521208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A385"/>
                </a:solidFill>
              </a:rPr>
              <a:t>When MongoDB Shines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t>Rapid iteration on evolving schemas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t>Aggregating rich, nested user or product data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t>Geo-distributed apps needing flexible scaling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t>Event-driven workloads with bursty ingest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0" y="731520"/>
            <a:ext cx="521208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B6451E"/>
                </a:solidFill>
              </a:rPr>
              <a:t>When Relational Still Wins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t>Strict transactional consistency across many entities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t>Complex ad-hoc joins and reporting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t>Mature ecosystems for legacy ERP/financial apps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t>Highly regulated scenarios demanding rigid schemas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2F5F7"/>
                </a:solidFill>
              </a:rPr>
              <a:t>Query Philosophy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505050"/>
                </a:solidFill>
              </a:defRPr>
            </a:pPr>
            <a:r>
              <a:t>Queries favor targeted document retrieval over cross-collection joins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2D2D2D"/>
                </a:solidFill>
              </a:defRPr>
            </a:pPr>
            <a:r>
              <a:t>Think in access patterns: every document design decision supports concrete queries</a:t>
            </a:r>
          </a:p>
          <a:p>
            <a:pPr>
              <a:defRPr sz="2400">
                <a:solidFill>
                  <a:srgbClr val="2D2D2D"/>
                </a:solidFill>
              </a:defRPr>
            </a:pPr>
            <a:r>
              <a:t>CRUD API mirrors developer objects—`find`, `insertOne`, `updateMany`, `deleteOne`</a:t>
            </a:r>
          </a:p>
          <a:p>
            <a:pPr>
              <a:defRPr sz="2400">
                <a:solidFill>
                  <a:srgbClr val="2D2D2D"/>
                </a:solidFill>
              </a:defRPr>
            </a:pPr>
            <a:r>
              <a:t>Aggregation pipeline composes transformations step-by-step; plan for index coverage</a:t>
            </a:r>
          </a:p>
          <a:p>
            <a:pPr>
              <a:defRPr sz="2400">
                <a:solidFill>
                  <a:srgbClr val="2D2D2D"/>
                </a:solidFill>
              </a:defRPr>
            </a:pPr>
            <a:r>
              <a:t>Balance flexibility with governance: schema validation, versioning, and linting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2F5F7"/>
                </a:solidFill>
              </a:rPr>
              <a:t>CRUD &amp; Aggregation Essentials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00A385"/>
                </a:solidFill>
              </a:rPr>
              <a:t>Read &amp; Project</a:t>
            </a:r>
          </a:p>
          <a:p>
            <a:pPr lvl="1">
              <a:spcAft>
                <a:spcPts val="1200"/>
              </a:spcAft>
            </a:pPr>
            <a:r>
              <a:rPr sz="2000">
                <a:solidFill>
                  <a:srgbClr val="232323"/>
                </a:solidFill>
                <a:latin typeface="Consolas"/>
              </a:rPr>
              <a:t>db.movies.find({ 'year': { $gte: 2018 } }, { title: 1, genres: 1, _id: 0 }).limit(5)</a:t>
            </a:r>
          </a:p>
          <a:p>
            <a:pPr>
              <a:spcAft>
                <a:spcPts val="400"/>
              </a:spcAft>
            </a:pPr>
            <a:r>
              <a:rPr sz="2400" b="1">
                <a:solidFill>
                  <a:srgbClr val="00A385"/>
                </a:solidFill>
              </a:rPr>
              <a:t>Aggregation Pipeline</a:t>
            </a:r>
          </a:p>
          <a:p>
            <a:pPr lvl="1">
              <a:spcAft>
                <a:spcPts val="1200"/>
              </a:spcAft>
            </a:pPr>
            <a:r>
              <a:rPr sz="2000">
                <a:solidFill>
                  <a:srgbClr val="232323"/>
                </a:solidFill>
                <a:latin typeface="Consolas"/>
              </a:rPr>
              <a:t>db.orders.aggregate([
    { $match: { status: 'shipped' } },
    { $unwind: '$lineItems' },
    { $group: { _id: '$customerId', total: { $sum: '$lineItems.extendedPrice' } } },
    { $sort: { total: -1 } },
    { $limit: 10 }
])</a:t>
            </a:r>
          </a:p>
          <a:p>
            <a:pPr>
              <a:spcAft>
                <a:spcPts val="400"/>
              </a:spcAft>
            </a:pPr>
            <a:r>
              <a:rPr sz="2400" b="1">
                <a:solidFill>
                  <a:srgbClr val="00A385"/>
                </a:solidFill>
              </a:rPr>
              <a:t>Targeted Update</a:t>
            </a:r>
          </a:p>
          <a:p>
            <a:pPr lvl="1">
              <a:spcAft>
                <a:spcPts val="1200"/>
              </a:spcAft>
            </a:pPr>
            <a:r>
              <a:rPr sz="2000">
                <a:solidFill>
                  <a:srgbClr val="232323"/>
                </a:solidFill>
                <a:latin typeface="Consolas"/>
              </a:rPr>
              <a:t>db.users.updateOne({ email: 'learner@example.com' }, { $push: { badges: 'Aggregation Novice' } })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2F5F7"/>
                </a:solidFill>
              </a:rPr>
              <a:t>Hands-On Lab Ladder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505050"/>
                </a:solidFill>
              </a:defRPr>
            </a:pPr>
            <a:r>
              <a:t>Ensure every student leaves with runnable examples tied to their midterm project domain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2D2D2D"/>
                </a:solidFill>
              </a:defRPr>
            </a:pPr>
            <a:r>
              <a:t>Warm-up: Navigate `mongosh`, list collections, and inspect document structure</a:t>
            </a:r>
          </a:p>
          <a:p>
            <a:pPr>
              <a:defRPr sz="2400">
                <a:solidFill>
                  <a:srgbClr val="2D2D2D"/>
                </a:solidFill>
              </a:defRPr>
            </a:pPr>
            <a:r>
              <a:t>Pair challenge: Translate three SQL statements into MongoDB queries</a:t>
            </a:r>
          </a:p>
          <a:p>
            <a:pPr>
              <a:defRPr sz="2400">
                <a:solidFill>
                  <a:srgbClr val="2D2D2D"/>
                </a:solidFill>
              </a:defRPr>
            </a:pPr>
            <a:r>
              <a:t>Stretch: Build a two-stage aggregation to fuel a dashboard metric</a:t>
            </a:r>
          </a:p>
          <a:p>
            <a:pPr>
              <a:defRPr sz="2400">
                <a:solidFill>
                  <a:srgbClr val="2D2D2D"/>
                </a:solidFill>
              </a:defRPr>
            </a:pPr>
            <a:r>
              <a:t>Debrief: Share query decisions and discuss indexing or schema tweaks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2F5F7"/>
                </a:solidFill>
              </a:rPr>
              <a:t>MongoDB University Onboarding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2000">
                <a:solidFill>
                  <a:srgbClr val="505050"/>
                </a:solidFill>
              </a:rPr>
              <a:t>Account creation + Student Program benefits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>
                <a:solidFill>
                  <a:srgbClr val="2D2D2D"/>
                </a:solidFill>
              </a:rPr>
              <a:t>Create a free account at https://learn.mongodb.com (Sign In → Create account with school email or Google/GitHub).</a:t>
            </a:r>
          </a:p>
          <a:p>
            <a:pPr>
              <a:spcAft>
                <a:spcPts val="600"/>
              </a:spcAft>
            </a:pPr>
            <a:r>
              <a:rPr sz="2400">
                <a:solidFill>
                  <a:srgbClr val="2D2D2D"/>
                </a:solidFill>
              </a:rPr>
              <a:t>Verify the confirmation email, complete the profile, and enroll in our two starter courses.</a:t>
            </a:r>
          </a:p>
          <a:p>
            <a:pPr>
              <a:spcAft>
                <a:spcPts val="600"/>
              </a:spcAft>
            </a:pPr>
            <a:r>
              <a:rPr sz="2400">
                <a:solidFill>
                  <a:srgbClr val="2D2D2D"/>
                </a:solidFill>
              </a:rPr>
              <a:t>Apply to the MongoDB Student Program at https://www.mongodb.com/students using .edu email or SheerID.</a:t>
            </a:r>
          </a:p>
          <a:p>
            <a:pPr>
              <a:spcAft>
                <a:spcPts val="600"/>
              </a:spcAft>
            </a:pPr>
            <a:r>
              <a:rPr sz="2400">
                <a:solidFill>
                  <a:srgbClr val="2D2D2D"/>
                </a:solidFill>
              </a:rPr>
              <a:t>Student benefits: $50 in Atlas credits, 50% off the Associate Developer certification, invites to webinars/Discord.</a:t>
            </a:r>
          </a:p>
          <a:p>
            <a:pPr>
              <a:spcAft>
                <a:spcPts val="600"/>
              </a:spcAft>
            </a:pPr>
            <a:r>
              <a:rPr sz="2400">
                <a:solidFill>
                  <a:srgbClr val="2D2D2D"/>
                </a:solidFill>
              </a:rPr>
              <a:t>Encourage students to capture screenshots or approval emails for accountability.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2F5F7"/>
                </a:solidFill>
              </a:rPr>
              <a:t>Next Steps &amp; Resources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505050"/>
                </a:solidFill>
              </a:rPr>
              <a:t>
Support autonomous practice while connecting to the course project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>
                <a:solidFill>
                  <a:srgbClr val="2D2D2D"/>
                </a:solidFill>
              </a:rPr>
              <a:t>Complete MongoDB University modules on Documents and CRUD before Week 9.</a:t>
            </a:r>
          </a:p>
          <a:p>
            <a:pPr>
              <a:spcAft>
                <a:spcPts val="600"/>
              </a:spcAft>
            </a:pPr>
            <a:r>
              <a:rPr sz="2400">
                <a:solidFill>
                  <a:srgbClr val="2D2D2D"/>
                </a:solidFill>
              </a:rPr>
              <a:t>Work through the Atlas lab and upload cluster setup screenshots.</a:t>
            </a:r>
          </a:p>
          <a:p>
            <a:pPr>
              <a:spcAft>
                <a:spcPts val="600"/>
              </a:spcAft>
            </a:pPr>
            <a:r>
              <a:rPr sz="2400">
                <a:solidFill>
                  <a:srgbClr val="2D2D2D"/>
                </a:solidFill>
              </a:rPr>
              <a:t>Complete the Joining Array Fields lab and submit the completion-screen screenshot.</a:t>
            </a:r>
          </a:p>
          <a:p>
            <a:pPr>
              <a:spcAft>
                <a:spcPts val="600"/>
              </a:spcAft>
            </a:pPr>
            <a:r>
              <a:rPr sz="2400">
                <a:solidFill>
                  <a:srgbClr val="2D2D2D"/>
                </a:solidFill>
              </a:rPr>
              <a:t>Submit reflection comparing relational and document modeling for the project.</a:t>
            </a:r>
          </a:p>
          <a:p>
            <a:pPr>
              <a:spcAft>
                <a:spcPts val="600"/>
              </a:spcAft>
            </a:pPr>
            <a:r>
              <a:rPr sz="2400">
                <a:solidFill>
                  <a:srgbClr val="2D2D2D"/>
                </a:solidFill>
              </a:rPr>
              <a:t>Confirm Student Program approval to unlock Atlas credits and certification discount.</a:t>
            </a:r>
          </a:p>
          <a:p>
            <a:pPr>
              <a:spcAft>
                <a:spcPts val="600"/>
              </a:spcAft>
            </a:pPr>
            <a:r>
              <a:rPr sz="2400">
                <a:solidFill>
                  <a:srgbClr val="2D2D2D"/>
                </a:solidFill>
              </a:rPr>
              <a:t>Prep for next class: indexing strategies, transactions, performance tuning.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