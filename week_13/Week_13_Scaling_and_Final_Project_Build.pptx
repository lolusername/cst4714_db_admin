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notesMaster" Target="notesMasters/notesMaster1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reassure students this week is about finishing, not adding complexity.</a:t>
            </a:r>
          </a:p>
          <a:p>
            <a:r>
              <a:t>The scaling topic is a lens for final project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state the week structure clearly.</a:t>
            </a:r>
          </a:p>
          <a:p>
            <a:r>
              <a:t>Do not turn sharding into a deep distributed systems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define workload in beginner language.</a:t>
            </a:r>
          </a:p>
          <a:p>
            <a:r>
              <a:t>Ask students to name the busiest table or collection in their own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make capacity planning concrete.</a:t>
            </a:r>
          </a:p>
          <a:p>
            <a:r>
              <a:t>Students can use these as report language even if their project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this is conceptual only.</a:t>
            </a:r>
          </a:p>
          <a:p>
            <a:r>
              <a:t>Students do not need to build sharding; they need to explain shard-key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connect shard key to distribution and query routing.</a:t>
            </a:r>
          </a:p>
          <a:p>
            <a:r>
              <a:t>Use an example: if every new record has status=open, status is a bad shard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students can identify hotspots without needing huge data.</a:t>
            </a:r>
          </a:p>
          <a:p>
            <a:r>
              <a:t>Make this a final project reflection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one index decision is enough for the final project.</a:t>
            </a:r>
          </a:p>
          <a:p>
            <a:r>
              <a:t>Make students tie every index to a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query evidence should be understandable to non-experts.</a:t>
            </a:r>
          </a:p>
          <a:p>
            <a:r>
              <a:t>Students can start from questions before writing SQL or MQL.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seed data is evidence for the model.</a:t>
            </a:r>
          </a:p>
          <a:p>
            <a:r>
              <a:t>The edge case makes the project feel more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this directly responds to class friction.</a:t>
            </a:r>
          </a:p>
          <a:p>
            <a:r>
              <a:t>Keep it calm: connection issues are normal in cloud DB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send students into the lab quickly.</a:t>
            </a:r>
          </a:p>
          <a:p>
            <a:r>
              <a:t>Circulate and cut scope aggressively.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avoid letting students only browse datasets.</a:t>
            </a:r>
          </a:p>
          <a:p>
            <a:r>
              <a:t>They need query and index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the sample is inspiration, not a template to copy.</a:t>
            </a:r>
          </a:p>
          <a:p>
            <a:r>
              <a:t>Use it for stuck students or a quick live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this is the checkpoint before Week 14.</a:t>
            </a:r>
          </a:p>
          <a:p>
            <a:r>
              <a:t>Ask students to self-assess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0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2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3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4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5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265176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8EEE1"/>
                </a:solidFill>
                <a:latin typeface="Aptos"/>
              </a:rPr>
              <a:t>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265176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F5C454"/>
                </a:solidFill>
                <a:latin typeface="Aptos"/>
              </a:rPr>
              <a:t>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65176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8EEE1"/>
                </a:solidFill>
                <a:latin typeface="Aptos"/>
              </a:rPr>
              <a:t>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65176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F5C454"/>
                </a:solidFill>
                <a:latin typeface="Aptos"/>
              </a:rPr>
              <a:t>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265176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8EEE1"/>
                </a:solidFill>
                <a:latin typeface="Aptos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777240"/>
            <a:ext cx="27432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1">
                <a:solidFill>
                  <a:srgbClr val="116763"/>
                </a:solidFill>
                <a:latin typeface="Aptos"/>
              </a:rPr>
              <a:t>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143000"/>
            <a:ext cx="5943600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C2226"/>
                </a:solidFill>
                <a:latin typeface="Aptos Display"/>
              </a:rPr>
              <a:t>Scaling Concepts and Final Project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514600"/>
            <a:ext cx="539496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700" b="0">
                <a:solidFill>
                  <a:srgbClr val="535C62"/>
                </a:solidFill>
                <a:latin typeface="Aptos"/>
              </a:rPr>
              <a:t>Use just enough scaling vocabulary to make better project decisions, then build data model, seed data, queries, and indexes.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3977639"/>
            <a:ext cx="5303520" cy="96012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105655"/>
            <a:ext cx="497433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Today's 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4416552"/>
            <a:ext cx="4974336" cy="4480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Every concept should become project evidence by the end of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What the Syllabus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Scaling concepts: sharding, capacity planning, shard keys, hotspots, and cost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New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59152"/>
            <a:ext cx="296265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Scaling is about workload shape: where data grows, which queries repeat, and what gets 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291840" cy="141732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04825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Project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359152"/>
            <a:ext cx="296265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Students build model, seed data, queries, and one index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04825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Low-prep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59152"/>
            <a:ext cx="296265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Short lecture, then work time with concrete checkpoints.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The week succeeds when every student has usable final project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Scaling Starts With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A database scales for particular reads, writes, storage, and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Which queries happen again and again?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74519"/>
            <a:ext cx="251460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What records are inserted or updated most?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Which data grows fastest over time?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74519"/>
            <a:ext cx="251460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What gets slower or more expensive?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For final projects, students only need to identify the first likely pressure point.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Capacity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Signals are symptoms that tell an admin where to look.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4128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slow common queries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large table or collection scans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writes arriving faster than the database can handle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storage growing faster than expected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too many open connections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indexes missing or not used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cloud cost rising without a clear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MONGO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Sharding 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Sharding splits one logical collection across multiple machines.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39696"/>
            <a:ext cx="223113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2231136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The logical data students query.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011680"/>
            <a:ext cx="2560320" cy="1188720"/>
          </a:xfrm>
          <a:prstGeom prst="roundRect">
            <a:avLst/>
          </a:prstGeom>
          <a:solidFill>
            <a:srgbClr val="F5C454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2139696"/>
            <a:ext cx="223113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Shard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2450592"/>
            <a:ext cx="2231136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The field that decides where data lives.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2560320" cy="118872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2139696"/>
            <a:ext cx="223113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Shards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450592"/>
            <a:ext cx="2231136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Machines holding different ranges or hashed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2011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2139696"/>
            <a:ext cx="191109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mongos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450592"/>
            <a:ext cx="1911096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Routes queries to the right shard when possible.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A sharded system is powerful, but the choice of key can help or hurt everything.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SHARD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Shard Keys Decide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MongoDB uses the shard key to distribute documents across shards.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4128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good keys spread data and common writes across shards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bad keys send too much work to one place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queries that include the shard key can be targeted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queries without the shard key may become scatter/gather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 popular value can become a hotspot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ANTI-PATTERN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Hotspots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A hotspot is where too much work lands in one part of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Bad 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287121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One vendor, status, city, date, or user receives most new writes.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00400" cy="141732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5681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Why it hurts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267712"/>
            <a:ext cx="287121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One shard or index range does most of the work while others wait.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5681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Project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67712"/>
            <a:ext cx="287121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Name the field in your project most likely to become hot.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A tiny class project can still explain the hotspot risk clearly.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Indexes Are Project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Indexes show that a student knows how users will query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91840" cy="15544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2962656" cy="10424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Create indexes for common queries; compound indexes help multi-field searches.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5681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Postgres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267712"/>
            <a:ext cx="2962656" cy="10424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B-tree is the common default; indexes help avoid scanning every 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5681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Tradeoff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67712"/>
            <a:ext cx="2962656" cy="10424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Indexes speed reads but add write/storage overhead.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One well-explained index is better than many unexplained screenshots.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QUERY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Four Query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A final project should answer real questions, not just store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4128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are the newest or most urgent records?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Which records belong to this user, category, vendor, or status?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needs attention right now?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changed recently?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Which records should be counted, grouped, or summarized?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Which details should be hidden from normal users?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SEED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Seed Data Should Prove Something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Seed data is not decoration. It tests the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0253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13432"/>
            <a:ext cx="28712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At least enough records to test the main queries.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20040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00253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Realistic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313432"/>
            <a:ext cx="28712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Names, statuses, dates, categories, and edge cases should make sense.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00253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Reproducible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13432"/>
            <a:ext cx="28712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The grader should know where data came from or how it was created.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Include one edge case: missing value, overdue item, duplicate-like name, or unusual 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PRACTICAL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Cloud Connection Gotchas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Most connection errors are setup issues, not proof that the code is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4128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Atlas from Colab: add the Colab public IP in Atlas Network Access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Atlas TLS: use current certificates with certifi; do not disable TLS for normal use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Supabase from Colab: direct database host may require IPv6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Supabase fix: use the Session Pooler connection string when IPv4 is needed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Never submit connection strings, passwords, or screenshots with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WORK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Class 1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Final Project Scope and Data Model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One Brightspace text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Project restatement, scope cut, data model draft.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Reflect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First capacity risk and possible shard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The target is a buildable model, not a perfect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WORK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Class 2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Final Project Queries, Indexes, and Seed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10896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Plan or create enough data for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Write four useful SQL or MQL drafts.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Explain one index tied to one query.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By the end, every student should have evidence they can reuse in the final submission.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Sample Project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Use the CISA KEV mini tracker if students need inspiration.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4128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shows a small project purpose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loads a real public dataset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sketches a Postgres schema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sketches MongoDB documents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demonstrates four project questions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shows index and restore evidence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End-of-Week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Students should leave with project evidence, not just intentions.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4128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have a small project scope.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have a data model draft.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have or can create seed data.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wrote four useful project questions.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drafted SQL or MQL for those questions.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chose one index and explained why.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know my next build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