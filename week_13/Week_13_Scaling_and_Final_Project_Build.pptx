
<file path=[Content_Types].xml><?xml version="1.0" encoding="utf-8"?>
<ns0:Types xmlns:ns0="http://schemas.openxmlformats.org/package/2006/content-types">
  <ns0:Default Extension="bin" ContentType="application/vnd.openxmlformats-officedocument.presentationml.printerSettings"/>
  <ns0:Default Extension="jpeg" ContentType="image/jpeg"/>
  <ns0:Default Extension="rels" ContentType="application/vnd.openxmlformats-package.relationships+xml"/>
  <ns0:Default Extension="xml" ContentType="application/xml"/>
  <ns0:Override PartName="/docProps/app.xml" ContentType="application/vnd.openxmlformats-officedocument.extended-properties+xml"/>
  <ns0:Override PartName="/docProps/core.xml" ContentType="application/vnd.openxmlformats-package.core-properties+xml"/>
  <ns0:Override PartName="/ppt/notesMasters/notesMaster1.xml" ContentType="application/vnd.openxmlformats-officedocument.presentationml.notesMaster+xml"/>
  <ns0:Override PartName="/ppt/notesSlides/notesSlide1.xml" ContentType="application/vnd.openxmlformats-officedocument.presentationml.notesSlide+xml"/>
  <ns0:Override PartName="/ppt/notesSlides/notesSlide10.xml" ContentType="application/vnd.openxmlformats-officedocument.presentationml.notesSlide+xml"/>
  <ns0:Override PartName="/ppt/notesSlides/notesSlide11.xml" ContentType="application/vnd.openxmlformats-officedocument.presentationml.notesSlide+xml"/>
  <ns0:Override PartName="/ppt/notesSlides/notesSlide12.xml" ContentType="application/vnd.openxmlformats-officedocument.presentationml.notesSlide+xml"/>
  <ns0:Override PartName="/ppt/notesSlides/notesSlide13.xml" ContentType="application/vnd.openxmlformats-officedocument.presentationml.notesSlide+xml"/>
  <ns0:Override PartName="/ppt/notesSlides/notesSlide14.xml" ContentType="application/vnd.openxmlformats-officedocument.presentationml.notesSlide+xml"/>
  <ns0:Override PartName="/ppt/notesSlides/notesSlide15.xml" ContentType="application/vnd.openxmlformats-officedocument.presentationml.notesSlide+xml"/>
  <ns0:Override PartName="/ppt/notesSlides/notesSlide2.xml" ContentType="application/vnd.openxmlformats-officedocument.presentationml.notesSlide+xml"/>
  <ns0:Override PartName="/ppt/notesSlides/notesSlide3.xml" ContentType="application/vnd.openxmlformats-officedocument.presentationml.notesSlide+xml"/>
  <ns0:Override PartName="/ppt/notesSlides/notesSlide4.xml" ContentType="application/vnd.openxmlformats-officedocument.presentationml.notesSlide+xml"/>
  <ns0:Override PartName="/ppt/notesSlides/notesSlide5.xml" ContentType="application/vnd.openxmlformats-officedocument.presentationml.notesSlide+xml"/>
  <ns0:Override PartName="/ppt/notesSlides/notesSlide6.xml" ContentType="application/vnd.openxmlformats-officedocument.presentationml.notesSlide+xml"/>
  <ns0:Override PartName="/ppt/notesSlides/notesSlide7.xml" ContentType="application/vnd.openxmlformats-officedocument.presentationml.notesSlide+xml"/>
  <ns0:Override PartName="/ppt/notesSlides/notesSlide8.xml" ContentType="application/vnd.openxmlformats-officedocument.presentationml.notesSlide+xml"/>
  <ns0:Override PartName="/ppt/notesSlides/notesSlide9.xml" ContentType="application/vnd.openxmlformats-officedocument.presentationml.notesSlide+xml"/>
  <ns0:Override PartName="/ppt/presProps.xml" ContentType="application/vnd.openxmlformats-officedocument.presentationml.presProps+xml"/>
  <ns0:Override PartName="/ppt/presentation.xml" ContentType="application/vnd.openxmlformats-officedocument.presentationml.presentation.main+xml"/>
  <ns0:Override PartName="/ppt/slideLayouts/slideLayout1.xml" ContentType="application/vnd.openxmlformats-officedocument.presentationml.slideLayout+xml"/>
  <ns0:Override PartName="/ppt/slideLayouts/slideLayout10.xml" ContentType="application/vnd.openxmlformats-officedocument.presentationml.slideLayout+xml"/>
  <ns0:Override PartName="/ppt/slideLayouts/slideLayout11.xml" ContentType="application/vnd.openxmlformats-officedocument.presentationml.slideLayout+xml"/>
  <ns0:Override PartName="/ppt/slideLayouts/slideLayout2.xml" ContentType="application/vnd.openxmlformats-officedocument.presentationml.slideLayout+xml"/>
  <ns0:Override PartName="/ppt/slideLayouts/slideLayout3.xml" ContentType="application/vnd.openxmlformats-officedocument.presentationml.slideLayout+xml"/>
  <ns0:Override PartName="/ppt/slideLayouts/slideLayout4.xml" ContentType="application/vnd.openxmlformats-officedocument.presentationml.slideLayout+xml"/>
  <ns0:Override PartName="/ppt/slideLayouts/slideLayout5.xml" ContentType="application/vnd.openxmlformats-officedocument.presentationml.slideLayout+xml"/>
  <ns0:Override PartName="/ppt/slideLayouts/slideLayout6.xml" ContentType="application/vnd.openxmlformats-officedocument.presentationml.slideLayout+xml"/>
  <ns0:Override PartName="/ppt/slideLayouts/slideLayout7.xml" ContentType="application/vnd.openxmlformats-officedocument.presentationml.slideLayout+xml"/>
  <ns0:Override PartName="/ppt/slideLayouts/slideLayout8.xml" ContentType="application/vnd.openxmlformats-officedocument.presentationml.slideLayout+xml"/>
  <ns0:Override PartName="/ppt/slideLayouts/slideLayout9.xml" ContentType="application/vnd.openxmlformats-officedocument.presentationml.slideLayout+xml"/>
  <ns0:Override PartName="/ppt/slideMasters/slideMaster1.xml" ContentType="application/vnd.openxmlformats-officedocument.presentationml.slideMaster+xml"/>
  <ns0:Override PartName="/ppt/slides/slide1.xml" ContentType="application/vnd.openxmlformats-officedocument.presentationml.slide+xml"/>
  <ns0:Override PartName="/ppt/slides/slide10.xml" ContentType="application/vnd.openxmlformats-officedocument.presentationml.slide+xml"/>
  <ns0:Override PartName="/ppt/slides/slide11.xml" ContentType="application/vnd.openxmlformats-officedocument.presentationml.slide+xml"/>
  <ns0:Override PartName="/ppt/slides/slide12.xml" ContentType="application/vnd.openxmlformats-officedocument.presentationml.slide+xml"/>
  <ns0:Override PartName="/ppt/slides/slide13.xml" ContentType="application/vnd.openxmlformats-officedocument.presentationml.slide+xml"/>
  <ns0:Override PartName="/ppt/slides/slide14.xml" ContentType="application/vnd.openxmlformats-officedocument.presentationml.slide+xml"/>
  <ns0:Override PartName="/ppt/slides/slide15.xml" ContentType="application/vnd.openxmlformats-officedocument.presentationml.slide+xml"/>
  <ns0:Override PartName="/ppt/slides/slide16.xml" ContentType="application/vnd.openxmlformats-officedocument.presentationml.slide+xml"/>
  <ns0:Override PartName="/ppt/slides/slide17.xml" ContentType="application/vnd.openxmlformats-officedocument.presentationml.slide+xml"/>
  <ns0:Override PartName="/ppt/slides/slide18.xml" ContentType="application/vnd.openxmlformats-officedocument.presentationml.slide+xml"/>
  <ns0:Override PartName="/ppt/slides/slide19.xml" ContentType="application/vnd.openxmlformats-officedocument.presentationml.slide+xml"/>
  <ns0:Override PartName="/ppt/slides/slide2.xml" ContentType="application/vnd.openxmlformats-officedocument.presentationml.slide+xml"/>
  <ns0:Override PartName="/ppt/slides/slide20.xml" ContentType="application/vnd.openxmlformats-officedocument.presentationml.slide+xml"/>
  <ns0:Override PartName="/ppt/slides/slide21.xml" ContentType="application/vnd.openxmlformats-officedocument.presentationml.slide+xml"/>
  <ns0:Override PartName="/ppt/slides/slide22.xml" ContentType="application/vnd.openxmlformats-officedocument.presentationml.slide+xml"/>
  <ns0:Override PartName="/ppt/slides/slide3.xml" ContentType="application/vnd.openxmlformats-officedocument.presentationml.slide+xml"/>
  <ns0:Override PartName="/ppt/slides/slide4.xml" ContentType="application/vnd.openxmlformats-officedocument.presentationml.slide+xml"/>
  <ns0:Override PartName="/ppt/slides/slide5.xml" ContentType="application/vnd.openxmlformats-officedocument.presentationml.slide+xml"/>
  <ns0:Override PartName="/ppt/slides/slide6.xml" ContentType="application/vnd.openxmlformats-officedocument.presentationml.slide+xml"/>
  <ns0:Override PartName="/ppt/slides/slide7.xml" ContentType="application/vnd.openxmlformats-officedocument.presentationml.slide+xml"/>
  <ns0:Override PartName="/ppt/slides/slide8.xml" ContentType="application/vnd.openxmlformats-officedocument.presentationml.slide+xml"/>
  <ns0:Override PartName="/ppt/slides/slide9.xml" ContentType="application/vnd.openxmlformats-officedocument.presentationml.slide+xml"/>
  <ns0:Override PartName="/ppt/tableStyles.xml" ContentType="application/vnd.openxmlformats-officedocument.presentationml.tableStyles+xml"/>
  <ns0:Override PartName="/ppt/theme/theme1.xml" ContentType="application/vnd.openxmlformats-officedocument.theme+xml"/>
  <ns0:Override PartName="/ppt/theme/theme2.xml" ContentType="application/vnd.openxmlformats-officedocument.theme+xml"/>
  <ns0:Override PartName="/ppt/viewProps.xml" ContentType="application/vnd.openxmlformats-officedocument.presentationml.viewProps+xml"/>
  <ns0:Override PartName="/ppt/notesSlides/notesSlide16.xml" ContentType="application/vnd.openxmlformats-officedocument.presentationml.notesSlide+xml"/>
  <ns0:Override PartName="/ppt/notesSlides/notesSlide17.xml" ContentType="application/vnd.openxmlformats-officedocument.presentationml.notesSlide+xml"/>
  <ns0:Override PartName="/ppt/notesSlides/notesSlide18.xml" ContentType="application/vnd.openxmlformats-officedocument.presentationml.notesSlide+xml"/>
  <ns0:Override PartName="/ppt/notesSlides/notesSlide19.xml" ContentType="application/vnd.openxmlformats-officedocument.presentationml.notesSlide+xml"/>
  <ns0:Override PartName="/ppt/notesSlides/notesSlide20.xml" ContentType="application/vnd.openxmlformats-officedocument.presentationml.notesSlide+xml"/>
  <ns0:Override PartName="/ppt/notesSlides/notesSlide21.xml" ContentType="application/vnd.openxmlformats-officedocument.presentationml.notesSlide+xml"/>
  <ns0:Override PartName="/ppt/notesSlides/notesSlide22.xml" ContentType="application/vnd.openxmlformats-officedocument.presentationml.notesSlide+xml"/>
</ns0: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Today we are going to use scaling as a practical lens for the final project. This is not a week where I want you to memorize a huge list of distributed systems terms. I want every idea on these slides to turn into something useful for your project: a clearer data model, better seed data, better queries, or a better explanation of an index. The words on the left are the focus for today: signal, shape, query, index, and evidence. A signal tells us that a database may be under pressure. Shape means the structure of the workload and the data. Query means the actual questions users need the database to answer. Index means a deliberate performance choice. Evidence means something you can show in your final submission. If a concept does not help you produce project evidence, we are not going to spend much time on it today.</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This week connects directly to the syllabus topic: scaling concepts, sharding, capacity planning, shard keys, hotspots, and cost signals. The important beginner idea is that scaling is not just buying a bigger server. Scaling starts with understanding the workload. That means knowing where the data grows, which queries happen repeatedly, which writes arrive most often, and which part of the system might become hot. For this course, the project work matters more than abstract theory. You should leave this week with a stronger model, a seed data plan, useful queries, and one index decision that you can explain. The class structure is intentionally simple. We will do a short lecture, connect the vocabulary to final project decisions, and then spend serious time building. The week succeeds when every student has evidence that can go into the final project.</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core idea is that scaling starts with workload. A database does not scale in the abstract. It scales for particular reads, particular writes, particular storage growth, and particular users. When we say reads, we mean the queries that happen again and again. When we say writes, we mean the records that are inserted, updated, or deleted most often. When we say storage, we mean the parts of the database that keep growing over time. When we say cost, we mean that every design choice has a resource cost, especially in the cloud. In a final project, you do not need massive data to reason about scaling. You can still identify the table or collection that would grow fastest. You can still identify the query users would run most. You can still explain which field might need an index because the workload depends on it.</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Capacity signals are symptoms that tell an administrator where to look. A slow common query is a signal. A large table scan or collection scan is a signal. Writes arriving faster than the database can handle are a signal. Storage growing faster than expected is a signal. Too many open connections is a signal. Missing or unused indexes are signals. Rising cloud cost without a clear explanation is also a signal. These signals do not automatically tell us the exact fix. They tell us what to investigate. In your final project, you can use this language even if your project is small. For example, you can say that a future administrator would monitor query speed, storage growth, and index usage. That is database administration thinking. You are not just building tables or collections. You are explaining how someone would operate the system after it exists.</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Now we will use MongoDB sharding as the main scaling example. Sharding means splitting one logical collection across multiple machines. Students still query the collection as one logical thing, but behind the scenes the data may live on different shards. The collection is the logical data users interact with. The shard key is the field, or fields, that MongoDB uses to decide where documents live. The shards are the machines or replica sets that hold different pieces of the data. The mongos router receives the query and routes it to the right shard or shards. For this class, you do not need to build a sharded cluster. The goal is to understand the design tradeoff. A good shard key spreads data and work. A bad shard key creates uneven distribution and makes one part of the system do too much work.</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shard key is one of the most important design choices in a sharded MongoDB system because it controls distribution. A good shard key spreads data and common writes across shards. A bad shard key sends too much work to one place. Queries that include the shard key can often be targeted more efficiently because MongoDB can route the query to the shard that should contain the matching data. Queries that do not include the shard key may become scatter gather queries, which means the system may need to ask many shards and combine the results. A popular value can also become a hotspot. For example, if every new ticket has status open, then status is a bad shard key because many new writes land on the same value. The project version of this idea is simple: name a field that might distribute work well, and name a field that might become too popular.</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A hotspot is where too much work lands in one part of the system. The word is useful because it is easy to visualize. Most of the system may be fine, but one vendor, one status, one city, one date range, or one user may receive most of the new writes or most of the repeated reads. That creates an uneven workload. One shard, one index range, or one table area does most of the work while other parts wait. Students do not need huge data to explain this risk. A tiny final project can still identify the field most likely to become hot. For example, a help desk project might have many records with status open. A vulnerability tracker might have one vendor with many records. An event project might have a current month that receives most queries. Identifying that risk is a real administration skill.</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Indexes are project evidence because they show that you understand how users will search the data. In MongoDB, an index supports common queries, and compound indexes can support searches that use more than one field. In Postgres, a B-tree index is the common default, and it helps avoid scanning every row when the query can use the indexed field. The tradeoff is that indexes are not free. They can speed up reads, but they add storage overhead and can slow writes because the index must also be maintained. For the final project, one well-explained index is better than many unexplained screenshots. I want students to tie every index to a real query. The reasoning should sound like this: users often search by this field, this query matters, this index supports it, and the cost is worth it for this use case.</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A final project should answer real questions, not just store records. Start by writing the questions in plain English before worrying about perfect SQL or MQL syntax. A useful project can answer which records are newest or most urgent. It can answer which records belong to a user, category, vendor, or status. It can answer what needs attention right now. It can show what changed recently. It can count, group, or summarize records for a small dashboard or report. It can also protect sensitive details by deciding which fields normal users should not see. These questions help reveal whether the data model is actually useful. If a project cannot answer useful questions, the schema or document design probably needs more work. For today, the target is four practical questions that could become four final project queries.</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Seed data is not decoration. Seed data proves that the model works. A project with only one or two perfect records does not really test anything. You need enough records to test the main queries. The data should be realistic enough that names, statuses, dates, categories, and edge cases make sense. It should also be reproducible. The grader should know whether the data came from a public dataset, was manually created, or was generated with a simple script. Include at least one edge case. That might be a missing value, an overdue item, a duplicate-like name, or an unusual status. Edge cases make the project more realistic because real databases contain imperfect data. Good seed data lets you demonstrate that the model, the queries, and the index decision are all connected.</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Most cloud connection errors are setup issues, not proof that the code is wrong. For MongoDB Atlas from Colab, students often need to add the current Colab public IP address in Atlas Network Access. For Atlas TLS, the normal fix is to use current certificates with certifi. Do not disable TLS as the normal solution. For Supabase from Colab, the direct database host may require IPv6, and Colab may not be able to reach it. The practical fix is to use the Supabase Session Pooler connection string when IPv4 is needed. The final rule is security. Never submit connection strings, passwords, database users, or screenshots that reveal secrets. If something fails, document the exact error, identify whether it is network access, credentials, TLS, or connection string format, and then fix the setup one step at a time.</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Class one moves quickly from lecture into project work. The lab is Final Project Scope and Data Model Build. The submission is one Brightspace text response, not a complicated file package. Students should restate the project in plain language, cut the scope down to something buildable, and draft the data model. The goal is not a perfect final project yet. The goal is a model that can be built and tested. Students should also write one first capacity risk and one possible shard key or distribution field, even if the project will not actually use sharding. That reflection forces students to think like administrators. As students work, the main coaching move is scope cutting. If the project sounds too large, reduce the number of entities, reduce the number of features, and keep the focus on a database that can answer useful questions.</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Class two turns the model into evidence. The lab is Final Project Queries, Indexes, and Seed Data. Students should plan or create enough seed data to test the project. Then they should write four useful query drafts. MongoDB students can write MQL or aggregation pipeline stages. Supabase and Postgres students can write SQL. The syntax does not have to be perfect at the first attempt, but the intent must be clear. Students also choose one index and explain which query it supports. This is the point where the project stops being only an idea. By the end of this lab, every student should have reusable final project material: seed data evidence, query evidence, and one index decision. If students are stuck, bring them back to plain English questions first, then translate those questions into queries.</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sample CISA KEV mini tracker is an inspiration example, not a template to copy. It shows how a small project can still feel real. It starts with a clear purpose, uses a real public dataset, sketches a Postgres schema, sketches MongoDB documents, demonstrates four project questions, and includes ideas for index and restore evidence. The important lesson is not the cybersecurity topic itself. The important lesson is the structure. A strong beginner final project has a small purpose, understandable data, a few useful queries, and administrator evidence. If students are stuck, they can look at this notebook to see how a public dataset becomes a small database project. They should adapt the pattern, not copy the topic unless they have a specific reason to use that dataset.</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This is the end-of-week checkpoint. Students should leave with project evidence, not just intentions. By this point, each student should have a small project scope, a data model draft, seed data or a clear seed data plan, four useful project questions, query drafts for those questions, one index choice with a reason, and a clear next build step. This checklist is also a self-assessment. If a student cannot check one of these items, that item becomes the next task. The final project is not supposed to appear all at once at the deadline. It should be assembled from these smaller pieces of evidence. The goal for this week is to make the final project feel doable, specific, and grounded in actual database administration decisions.</a:t>
            </a:r>
            <a:endParaRPr lang="en-US" dirty="0"/>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After students finish the data transformation lab, bring the class back to this idea: aggregation helps us express a useful question, and indexing helps the database answer repeated questions efficiently. We are not trying to index everything. We are trying to identify one important project query and decide which field or fields are worth indexing. The order matters. Start with the user question. Translate the question into a query or pipeline. Then decide whether the query pattern needs an index. This keeps indexing connected to actual application behavior instead of becoming a random checklist item.</a:t>
            </a:r>
            <a:endParaRPr lang="en-US" dirty="0"/>
          </a:p>
        </p:txBody>
      </p:sp>
    </p:spTree>
  </p:cSld>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Use this slide to connect the aggregation lab to indexing. A pipeline is not just syntax. It reveals the shape of the workload. The match stage tells us which fields are used for filtering. The sort stage tells us which fields control ordering. The group stage tells us what categories are important for reports. The project stage tells us what output the user actually needs. For indexing, the filter and sort fields usually matter most. For example, if a vulnerability tracker often filters by vendor and sorts by date added, then an index involving vendor and date added is much easier to justify than a random index on a field no user searches.</a:t>
            </a:r>
            <a:endParaRPr lang="en-US" dirty="0"/>
          </a:p>
        </p:txBody>
      </p:sp>
    </p:spTree>
  </p:cSld>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This is the beginner version of compound index design. A compound index is an index over more than one field. For many simple projects, one compound index is enough evidence if the student can explain it well. A useful rule of thumb is equality, sort, range. Equality fields are fields where the query asks for an exact match, such as status equals open. Sort fields control ordering, such as newest records first. Range fields involve greater than, less than, or date windows. This rule is a heuristic, not a law for every possible database case, but it gives beginners a defensible starting point. The key is to include fields the query actually uses.</a:t>
            </a:r>
            <a:endParaRPr lang="en-US" dirty="0"/>
          </a:p>
        </p:txBody>
      </p:sp>
    </p:spTree>
  </p:cSld>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This slide is about grading evidence. A screenshot of an index is not enough by itself. Students need to connect the index to a query. A strong explanation names the query, names the field or fields in the index, explains why reads may improve, and also acknowledges the cost. Indexes take storage. Indexes also make writes slightly more expensive because the database has to maintain the index when data changes. A good final project answer should sound like this: I chose this index because users repeatedly filter by status and sort by created date. That is much stronger than simply saying I added an index because indexes make things faster.</a:t>
            </a:r>
            <a:endParaRPr lang="en-US" dirty="0"/>
          </a:p>
        </p:txBody>
      </p:sp>
    </p:spTree>
  </p:cSld>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This course allows students to use MongoDB Atlas, Supabase Postgres, or both. The syntax changes, but the administration judgment is the same. In MongoDB, students create indexes on fields used by MQL queries or aggregation pipeline stages. In Postgres, students create indexes on columns used by SQL filters, joins, or sorts. In both systems, an index should support a real workload. In both systems, an index has a cost. This is why the final project does not need many indexes. It needs one or two index decisions that are clearly connected to how the database will be used.</a:t>
            </a:r>
            <a:endParaRPr lang="en-US" dirty="0"/>
          </a:p>
        </p:txBody>
      </p:sp>
    </p:spTree>
  </p:cSld>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Now students should apply the idea to their own final project. They should choose one important query. Then they should identify the fields used for filtering and sorting. Then they should pick one index that supports the query. Finally, they should write the benefit and the cost in plain English. The deliverable is one paragraph in Brightspace as part of the in-class checkpoint. They do not need to submit a repository for this checkpoint. They need to show that their index decision is connected to a real project question.</a:t>
            </a:r>
            <a:endParaRPr lang="en-US" dirty="0"/>
          </a:p>
        </p:txBody>
      </p:sp>
    </p:spTree>
  </p:cSld>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If there is extra time after the required work, the best official MongoDB University follow-up is Lab: Indexing Design Fundamentals. It matches this mini-lesson because it focuses on identifying key workloads, choosing index key order, creating indexes, and testing indexes with explain. Do not use the older MongoDB Indexes lab again because that was already assigned earlier. Do not use the sort performance lab again because that was also already assigned. If time is short, skip the extra official lab and keep students working on the final project index paragraph. The final project evidence is the priority.</a:t>
            </a:r>
            <a:endParaRPr lang="en-US" dirty="0"/>
          </a:p>
        </p:txBody>
      </p:sp>
    </p:spTree>
  </p:cSld>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notesSlide22.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 cy="6858000"/>
          </a:xfrm>
          <a:prstGeom prst="rect">
            <a:avLst/>
          </a:prstGeom>
          <a:solidFill>
            <a:srgbClr val="1B31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2651760" cy="274320"/>
          </a:xfrm>
          <a:prstGeom prst="rect">
            <a:avLst/>
          </a:prstGeom>
          <a:noFill/>
        </p:spPr>
        <p:txBody>
          <a:bodyPr wrap="square" anchor="t">
            <a:normAutofit/>
          </a:bodyPr>
          <a:lstStyle/>
          <a:p>
            <a:pPr algn="l"/>
            <a:r>
              <a:rPr sz="1800" b="1">
                <a:solidFill>
                  <a:srgbClr val="D8EEE1"/>
                </a:solidFill>
                <a:latin typeface="Aptos"/>
              </a:rPr>
              <a:t>signal</a:t>
            </a:r>
          </a:p>
        </p:txBody>
      </p:sp>
      <p:sp>
        <p:nvSpPr>
          <p:cNvPr id="5" name="TextBox 4"/>
          <p:cNvSpPr txBox="1"/>
          <p:nvPr/>
        </p:nvSpPr>
        <p:spPr>
          <a:xfrm>
            <a:off x="731520" y="1691640"/>
            <a:ext cx="2651760" cy="274320"/>
          </a:xfrm>
          <a:prstGeom prst="rect">
            <a:avLst/>
          </a:prstGeom>
          <a:noFill/>
        </p:spPr>
        <p:txBody>
          <a:bodyPr wrap="square" anchor="t">
            <a:normAutofit/>
          </a:bodyPr>
          <a:lstStyle/>
          <a:p>
            <a:pPr algn="l"/>
            <a:r>
              <a:rPr sz="1800" b="1">
                <a:solidFill>
                  <a:srgbClr val="F5C454"/>
                </a:solidFill>
                <a:latin typeface="Aptos"/>
              </a:rPr>
              <a:t>shape</a:t>
            </a:r>
          </a:p>
        </p:txBody>
      </p:sp>
      <p:sp>
        <p:nvSpPr>
          <p:cNvPr id="6" name="TextBox 5"/>
          <p:cNvSpPr txBox="1"/>
          <p:nvPr/>
        </p:nvSpPr>
        <p:spPr>
          <a:xfrm>
            <a:off x="731520" y="2377440"/>
            <a:ext cx="2651760" cy="274320"/>
          </a:xfrm>
          <a:prstGeom prst="rect">
            <a:avLst/>
          </a:prstGeom>
          <a:noFill/>
        </p:spPr>
        <p:txBody>
          <a:bodyPr wrap="square" anchor="t">
            <a:normAutofit/>
          </a:bodyPr>
          <a:lstStyle/>
          <a:p>
            <a:pPr algn="l"/>
            <a:r>
              <a:rPr sz="1800" b="1">
                <a:solidFill>
                  <a:srgbClr val="D8EEE1"/>
                </a:solidFill>
                <a:latin typeface="Aptos"/>
              </a:rPr>
              <a:t>query</a:t>
            </a:r>
          </a:p>
        </p:txBody>
      </p:sp>
      <p:sp>
        <p:nvSpPr>
          <p:cNvPr id="7" name="TextBox 6"/>
          <p:cNvSpPr txBox="1"/>
          <p:nvPr/>
        </p:nvSpPr>
        <p:spPr>
          <a:xfrm>
            <a:off x="731520" y="3063240"/>
            <a:ext cx="2651760" cy="274320"/>
          </a:xfrm>
          <a:prstGeom prst="rect">
            <a:avLst/>
          </a:prstGeom>
          <a:noFill/>
        </p:spPr>
        <p:txBody>
          <a:bodyPr wrap="square" anchor="t">
            <a:normAutofit/>
          </a:bodyPr>
          <a:lstStyle/>
          <a:p>
            <a:pPr algn="l"/>
            <a:r>
              <a:rPr sz="1800" b="1">
                <a:solidFill>
                  <a:srgbClr val="F5C454"/>
                </a:solidFill>
                <a:latin typeface="Aptos"/>
              </a:rPr>
              <a:t>index</a:t>
            </a:r>
          </a:p>
        </p:txBody>
      </p:sp>
      <p:sp>
        <p:nvSpPr>
          <p:cNvPr id="8" name="TextBox 7"/>
          <p:cNvSpPr txBox="1"/>
          <p:nvPr/>
        </p:nvSpPr>
        <p:spPr>
          <a:xfrm>
            <a:off x="731520" y="3749039"/>
            <a:ext cx="2651760" cy="274320"/>
          </a:xfrm>
          <a:prstGeom prst="rect">
            <a:avLst/>
          </a:prstGeom>
          <a:noFill/>
        </p:spPr>
        <p:txBody>
          <a:bodyPr wrap="square" anchor="t">
            <a:normAutofit/>
          </a:bodyPr>
          <a:lstStyle/>
          <a:p>
            <a:pPr algn="l"/>
            <a:r>
              <a:rPr sz="1800" b="1">
                <a:solidFill>
                  <a:srgbClr val="D8EEE1"/>
                </a:solidFill>
                <a:latin typeface="Aptos"/>
              </a:rPr>
              <a:t>evidence</a:t>
            </a:r>
          </a:p>
        </p:txBody>
      </p:sp>
      <p:sp>
        <p:nvSpPr>
          <p:cNvPr id="9" name="TextBox 8"/>
          <p:cNvSpPr txBox="1"/>
          <p:nvPr/>
        </p:nvSpPr>
        <p:spPr>
          <a:xfrm>
            <a:off x="5166360" y="777240"/>
            <a:ext cx="2743200" cy="274320"/>
          </a:xfrm>
          <a:prstGeom prst="rect">
            <a:avLst/>
          </a:prstGeom>
          <a:noFill/>
        </p:spPr>
        <p:txBody>
          <a:bodyPr wrap="square" anchor="t">
            <a:normAutofit/>
          </a:bodyPr>
          <a:lstStyle/>
          <a:p>
            <a:pPr algn="l"/>
            <a:r>
              <a:rPr sz="1300" b="1">
                <a:solidFill>
                  <a:srgbClr val="116763"/>
                </a:solidFill>
                <a:latin typeface="Aptos"/>
              </a:rPr>
              <a:t>Week 13</a:t>
            </a:r>
          </a:p>
        </p:txBody>
      </p:sp>
      <p:sp>
        <p:nvSpPr>
          <p:cNvPr id="10" name="TextBox 9"/>
          <p:cNvSpPr txBox="1"/>
          <p:nvPr/>
        </p:nvSpPr>
        <p:spPr>
          <a:xfrm>
            <a:off x="5120640" y="1143000"/>
            <a:ext cx="5943600" cy="1051560"/>
          </a:xfrm>
          <a:prstGeom prst="rect">
            <a:avLst/>
          </a:prstGeom>
          <a:noFill/>
        </p:spPr>
        <p:txBody>
          <a:bodyPr wrap="square" anchor="t">
            <a:normAutofit/>
          </a:bodyPr>
          <a:lstStyle/>
          <a:p>
            <a:pPr algn="l"/>
            <a:r>
              <a:rPr sz="3400" b="1">
                <a:solidFill>
                  <a:srgbClr val="1C2226"/>
                </a:solidFill>
                <a:latin typeface="Aptos Display"/>
              </a:rPr>
              <a:t>Scaling Concepts and Final Project Build</a:t>
            </a:r>
          </a:p>
        </p:txBody>
      </p:sp>
      <p:sp>
        <p:nvSpPr>
          <p:cNvPr id="11" name="TextBox 10"/>
          <p:cNvSpPr txBox="1"/>
          <p:nvPr/>
        </p:nvSpPr>
        <p:spPr>
          <a:xfrm>
            <a:off x="5166360" y="2514600"/>
            <a:ext cx="5394960" cy="777240"/>
          </a:xfrm>
          <a:prstGeom prst="rect">
            <a:avLst/>
          </a:prstGeom>
          <a:noFill/>
        </p:spPr>
        <p:txBody>
          <a:bodyPr wrap="square" anchor="t">
            <a:normAutofit/>
          </a:bodyPr>
          <a:lstStyle/>
          <a:p>
            <a:pPr algn="l"/>
            <a:r>
              <a:rPr sz="1700" b="0">
                <a:solidFill>
                  <a:srgbClr val="535C62"/>
                </a:solidFill>
                <a:latin typeface="Aptos"/>
              </a:rPr>
              <a:t>Use just enough scaling vocabulary to make better project decisions, then build data model, seed data, queries, and indexes.</a:t>
            </a:r>
          </a:p>
        </p:txBody>
      </p:sp>
      <p:sp>
        <p:nvSpPr>
          <p:cNvPr id="12" name="Rounded Rectangle 11"/>
          <p:cNvSpPr/>
          <p:nvPr/>
        </p:nvSpPr>
        <p:spPr>
          <a:xfrm>
            <a:off x="5166360" y="3977639"/>
            <a:ext cx="5303520" cy="96012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0952" y="4105655"/>
            <a:ext cx="4974336" cy="237744"/>
          </a:xfrm>
          <a:prstGeom prst="rect">
            <a:avLst/>
          </a:prstGeom>
          <a:noFill/>
        </p:spPr>
        <p:txBody>
          <a:bodyPr wrap="square" anchor="t">
            <a:normAutofit/>
          </a:bodyPr>
          <a:lstStyle/>
          <a:p>
            <a:pPr algn="l"/>
            <a:r>
              <a:rPr sz="1320" b="1">
                <a:solidFill>
                  <a:srgbClr val="116763"/>
                </a:solidFill>
                <a:latin typeface="Aptos"/>
              </a:rPr>
              <a:t>Today's promise</a:t>
            </a:r>
          </a:p>
        </p:txBody>
      </p:sp>
      <p:sp>
        <p:nvSpPr>
          <p:cNvPr id="14" name="TextBox 13"/>
          <p:cNvSpPr txBox="1"/>
          <p:nvPr/>
        </p:nvSpPr>
        <p:spPr>
          <a:xfrm>
            <a:off x="5330952" y="4416552"/>
            <a:ext cx="4974336" cy="448056"/>
          </a:xfrm>
          <a:prstGeom prst="rect">
            <a:avLst/>
          </a:prstGeom>
          <a:noFill/>
        </p:spPr>
        <p:txBody>
          <a:bodyPr wrap="square" anchor="t">
            <a:normAutofit/>
          </a:bodyPr>
          <a:lstStyle/>
          <a:p>
            <a:pPr algn="l"/>
            <a:r>
              <a:rPr sz="1250" b="0">
                <a:solidFill>
                  <a:srgbClr val="1C2226"/>
                </a:solidFill>
                <a:latin typeface="Aptos"/>
              </a:rPr>
              <a:t>Every concept should become project evidence by the end of class.</a:t>
            </a:r>
          </a:p>
        </p:txBody>
      </p:sp>
      <p:sp>
        <p:nvSpPr>
          <p:cNvPr id="15" name="TextBox 14"/>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6" name="TextBox 15"/>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ALIGNMENT</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What the Syllabus Says</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Scaling concepts: sharding, capacity planning, shard keys, hotspots, and cost signals.</a:t>
            </a:r>
          </a:p>
        </p:txBody>
      </p:sp>
      <p:sp>
        <p:nvSpPr>
          <p:cNvPr id="8" name="Rounded Rectangle 7"/>
          <p:cNvSpPr/>
          <p:nvPr/>
        </p:nvSpPr>
        <p:spPr>
          <a:xfrm>
            <a:off x="731520" y="1920240"/>
            <a:ext cx="3291840" cy="141732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048256"/>
            <a:ext cx="2962656" cy="237744"/>
          </a:xfrm>
          <a:prstGeom prst="rect">
            <a:avLst/>
          </a:prstGeom>
          <a:noFill/>
        </p:spPr>
        <p:txBody>
          <a:bodyPr wrap="square" anchor="t">
            <a:normAutofit/>
          </a:bodyPr>
          <a:lstStyle/>
          <a:p>
            <a:pPr algn="l"/>
            <a:r>
              <a:rPr sz="1320" b="1">
                <a:solidFill>
                  <a:srgbClr val="116763"/>
                </a:solidFill>
                <a:latin typeface="Aptos"/>
              </a:rPr>
              <a:t>New idea</a:t>
            </a:r>
          </a:p>
        </p:txBody>
      </p:sp>
      <p:sp>
        <p:nvSpPr>
          <p:cNvPr id="10" name="TextBox 9"/>
          <p:cNvSpPr txBox="1"/>
          <p:nvPr/>
        </p:nvSpPr>
        <p:spPr>
          <a:xfrm>
            <a:off x="896112" y="2359152"/>
            <a:ext cx="2962656" cy="905256"/>
          </a:xfrm>
          <a:prstGeom prst="rect">
            <a:avLst/>
          </a:prstGeom>
          <a:noFill/>
        </p:spPr>
        <p:txBody>
          <a:bodyPr wrap="square" anchor="t">
            <a:normAutofit/>
          </a:bodyPr>
          <a:lstStyle/>
          <a:p>
            <a:pPr algn="l"/>
            <a:r>
              <a:rPr sz="1250" b="0">
                <a:solidFill>
                  <a:srgbClr val="1C2226"/>
                </a:solidFill>
                <a:latin typeface="Aptos"/>
              </a:rPr>
              <a:t>Scaling is about workload shape: where data grows, which queries repeat, and what gets hot.</a:t>
            </a:r>
          </a:p>
        </p:txBody>
      </p:sp>
      <p:sp>
        <p:nvSpPr>
          <p:cNvPr id="11" name="Rounded Rectangle 10"/>
          <p:cNvSpPr/>
          <p:nvPr/>
        </p:nvSpPr>
        <p:spPr>
          <a:xfrm>
            <a:off x="4434840" y="1920240"/>
            <a:ext cx="3291840" cy="141732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1" y="2048256"/>
            <a:ext cx="2962656" cy="237744"/>
          </a:xfrm>
          <a:prstGeom prst="rect">
            <a:avLst/>
          </a:prstGeom>
          <a:noFill/>
        </p:spPr>
        <p:txBody>
          <a:bodyPr wrap="square" anchor="t">
            <a:normAutofit/>
          </a:bodyPr>
          <a:lstStyle/>
          <a:p>
            <a:pPr algn="l"/>
            <a:r>
              <a:rPr sz="1320" b="1">
                <a:solidFill>
                  <a:srgbClr val="116763"/>
                </a:solidFill>
                <a:latin typeface="Aptos"/>
              </a:rPr>
              <a:t>Project work</a:t>
            </a:r>
          </a:p>
        </p:txBody>
      </p:sp>
      <p:sp>
        <p:nvSpPr>
          <p:cNvPr id="13" name="TextBox 12"/>
          <p:cNvSpPr txBox="1"/>
          <p:nvPr/>
        </p:nvSpPr>
        <p:spPr>
          <a:xfrm>
            <a:off x="4599431" y="2359152"/>
            <a:ext cx="2962656" cy="905256"/>
          </a:xfrm>
          <a:prstGeom prst="rect">
            <a:avLst/>
          </a:prstGeom>
          <a:noFill/>
        </p:spPr>
        <p:txBody>
          <a:bodyPr wrap="square" anchor="t">
            <a:normAutofit/>
          </a:bodyPr>
          <a:lstStyle/>
          <a:p>
            <a:pPr algn="l"/>
            <a:r>
              <a:rPr sz="1250" b="0">
                <a:solidFill>
                  <a:srgbClr val="1C2226"/>
                </a:solidFill>
                <a:latin typeface="Aptos"/>
              </a:rPr>
              <a:t>Students build model, seed data, queries, and one index decision.</a:t>
            </a:r>
          </a:p>
        </p:txBody>
      </p:sp>
      <p:sp>
        <p:nvSpPr>
          <p:cNvPr id="14" name="Rounded Rectangle 13"/>
          <p:cNvSpPr/>
          <p:nvPr/>
        </p:nvSpPr>
        <p:spPr>
          <a:xfrm>
            <a:off x="8138160" y="1920240"/>
            <a:ext cx="3291840" cy="141732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2752" y="2048256"/>
            <a:ext cx="2962656" cy="237744"/>
          </a:xfrm>
          <a:prstGeom prst="rect">
            <a:avLst/>
          </a:prstGeom>
          <a:noFill/>
        </p:spPr>
        <p:txBody>
          <a:bodyPr wrap="square" anchor="t">
            <a:normAutofit/>
          </a:bodyPr>
          <a:lstStyle/>
          <a:p>
            <a:pPr algn="l"/>
            <a:r>
              <a:rPr sz="1320" b="1">
                <a:solidFill>
                  <a:srgbClr val="116763"/>
                </a:solidFill>
                <a:latin typeface="Aptos"/>
              </a:rPr>
              <a:t>Low-prep class</a:t>
            </a:r>
          </a:p>
        </p:txBody>
      </p:sp>
      <p:sp>
        <p:nvSpPr>
          <p:cNvPr id="16" name="TextBox 15"/>
          <p:cNvSpPr txBox="1"/>
          <p:nvPr/>
        </p:nvSpPr>
        <p:spPr>
          <a:xfrm>
            <a:off x="8302752" y="2359152"/>
            <a:ext cx="2962656" cy="905256"/>
          </a:xfrm>
          <a:prstGeom prst="rect">
            <a:avLst/>
          </a:prstGeom>
          <a:noFill/>
        </p:spPr>
        <p:txBody>
          <a:bodyPr wrap="square" anchor="t">
            <a:normAutofit/>
          </a:bodyPr>
          <a:lstStyle/>
          <a:p>
            <a:pPr algn="l"/>
            <a:r>
              <a:rPr sz="1250" b="0">
                <a:solidFill>
                  <a:srgbClr val="1C2226"/>
                </a:solidFill>
                <a:latin typeface="Aptos"/>
              </a:rPr>
              <a:t>Short lecture, then work time with concrete checkpoints.</a:t>
            </a:r>
          </a:p>
        </p:txBody>
      </p:sp>
      <p:sp>
        <p:nvSpPr>
          <p:cNvPr id="17" name="TextBox 16"/>
          <p:cNvSpPr txBox="1"/>
          <p:nvPr/>
        </p:nvSpPr>
        <p:spPr>
          <a:xfrm>
            <a:off x="1097280" y="4480560"/>
            <a:ext cx="9966960" cy="713232"/>
          </a:xfrm>
          <a:prstGeom prst="rect">
            <a:avLst/>
          </a:prstGeom>
          <a:noFill/>
        </p:spPr>
        <p:txBody>
          <a:bodyPr wrap="square" anchor="t">
            <a:normAutofit/>
          </a:bodyPr>
          <a:lstStyle/>
          <a:p>
            <a:pPr algn="ctr"/>
            <a:r>
              <a:rPr sz="2200" b="1">
                <a:solidFill>
                  <a:srgbClr val="1C2226"/>
                </a:solidFill>
                <a:latin typeface="Aptos"/>
              </a:rPr>
              <a:t>The week succeeds when every student has usable final project evidence.</a:t>
            </a:r>
          </a:p>
        </p:txBody>
      </p:sp>
      <p:sp>
        <p:nvSpPr>
          <p:cNvPr id="18" name="TextBox 17"/>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9" name="TextBox 18"/>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CORE IDEA</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Scaling Starts With Workload</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A database scales for particular reads, writes, storage, and users.</a:t>
            </a:r>
          </a:p>
        </p:txBody>
      </p:sp>
      <p:sp>
        <p:nvSpPr>
          <p:cNvPr id="8" name="Rounded Rectangle 7"/>
          <p:cNvSpPr/>
          <p:nvPr/>
        </p:nvSpPr>
        <p:spPr>
          <a:xfrm>
            <a:off x="731520" y="1874519"/>
            <a:ext cx="2514600" cy="13258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002536"/>
            <a:ext cx="2185416" cy="237744"/>
          </a:xfrm>
          <a:prstGeom prst="rect">
            <a:avLst/>
          </a:prstGeom>
          <a:noFill/>
        </p:spPr>
        <p:txBody>
          <a:bodyPr wrap="square" anchor="t">
            <a:normAutofit/>
          </a:bodyPr>
          <a:lstStyle/>
          <a:p>
            <a:pPr algn="l"/>
            <a:r>
              <a:rPr sz="1320" b="1">
                <a:solidFill>
                  <a:srgbClr val="116763"/>
                </a:solidFill>
                <a:latin typeface="Aptos"/>
              </a:rPr>
              <a:t>Reads</a:t>
            </a:r>
          </a:p>
        </p:txBody>
      </p:sp>
      <p:sp>
        <p:nvSpPr>
          <p:cNvPr id="10" name="TextBox 9"/>
          <p:cNvSpPr txBox="1"/>
          <p:nvPr/>
        </p:nvSpPr>
        <p:spPr>
          <a:xfrm>
            <a:off x="896112" y="2313432"/>
            <a:ext cx="2185416" cy="813815"/>
          </a:xfrm>
          <a:prstGeom prst="rect">
            <a:avLst/>
          </a:prstGeom>
          <a:noFill/>
        </p:spPr>
        <p:txBody>
          <a:bodyPr wrap="square" anchor="t">
            <a:normAutofit/>
          </a:bodyPr>
          <a:lstStyle/>
          <a:p>
            <a:pPr algn="l"/>
            <a:r>
              <a:rPr sz="1250" b="0">
                <a:solidFill>
                  <a:srgbClr val="1C2226"/>
                </a:solidFill>
                <a:latin typeface="Aptos"/>
              </a:rPr>
              <a:t>Which queries happen again and again?</a:t>
            </a:r>
          </a:p>
        </p:txBody>
      </p:sp>
      <p:sp>
        <p:nvSpPr>
          <p:cNvPr id="11" name="Rounded Rectangle 10"/>
          <p:cNvSpPr/>
          <p:nvPr/>
        </p:nvSpPr>
        <p:spPr>
          <a:xfrm>
            <a:off x="3520440" y="1874519"/>
            <a:ext cx="2514600" cy="132588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85032" y="2002536"/>
            <a:ext cx="2185416" cy="237744"/>
          </a:xfrm>
          <a:prstGeom prst="rect">
            <a:avLst/>
          </a:prstGeom>
          <a:noFill/>
        </p:spPr>
        <p:txBody>
          <a:bodyPr wrap="square" anchor="t">
            <a:normAutofit/>
          </a:bodyPr>
          <a:lstStyle/>
          <a:p>
            <a:pPr algn="l"/>
            <a:r>
              <a:rPr sz="1320" b="1">
                <a:solidFill>
                  <a:srgbClr val="116763"/>
                </a:solidFill>
                <a:latin typeface="Aptos"/>
              </a:rPr>
              <a:t>Writes</a:t>
            </a:r>
          </a:p>
        </p:txBody>
      </p:sp>
      <p:sp>
        <p:nvSpPr>
          <p:cNvPr id="13" name="TextBox 12"/>
          <p:cNvSpPr txBox="1"/>
          <p:nvPr/>
        </p:nvSpPr>
        <p:spPr>
          <a:xfrm>
            <a:off x="3685032" y="2313432"/>
            <a:ext cx="2185416" cy="813815"/>
          </a:xfrm>
          <a:prstGeom prst="rect">
            <a:avLst/>
          </a:prstGeom>
          <a:noFill/>
        </p:spPr>
        <p:txBody>
          <a:bodyPr wrap="square" anchor="t">
            <a:normAutofit/>
          </a:bodyPr>
          <a:lstStyle/>
          <a:p>
            <a:pPr algn="l"/>
            <a:r>
              <a:rPr sz="1250" b="0">
                <a:solidFill>
                  <a:srgbClr val="1C2226"/>
                </a:solidFill>
                <a:latin typeface="Aptos"/>
              </a:rPr>
              <a:t>What records are inserted or updated most?</a:t>
            </a:r>
          </a:p>
        </p:txBody>
      </p:sp>
      <p:sp>
        <p:nvSpPr>
          <p:cNvPr id="14" name="Rounded Rectangle 13"/>
          <p:cNvSpPr/>
          <p:nvPr/>
        </p:nvSpPr>
        <p:spPr>
          <a:xfrm>
            <a:off x="6309360" y="1874519"/>
            <a:ext cx="2514600" cy="13258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6"/>
            <a:ext cx="2185416" cy="237744"/>
          </a:xfrm>
          <a:prstGeom prst="rect">
            <a:avLst/>
          </a:prstGeom>
          <a:noFill/>
        </p:spPr>
        <p:txBody>
          <a:bodyPr wrap="square" anchor="t">
            <a:normAutofit/>
          </a:bodyPr>
          <a:lstStyle/>
          <a:p>
            <a:pPr algn="l"/>
            <a:r>
              <a:rPr sz="1320" b="1">
                <a:solidFill>
                  <a:srgbClr val="116763"/>
                </a:solidFill>
                <a:latin typeface="Aptos"/>
              </a:rPr>
              <a:t>Storage</a:t>
            </a:r>
          </a:p>
        </p:txBody>
      </p:sp>
      <p:sp>
        <p:nvSpPr>
          <p:cNvPr id="16" name="TextBox 15"/>
          <p:cNvSpPr txBox="1"/>
          <p:nvPr/>
        </p:nvSpPr>
        <p:spPr>
          <a:xfrm>
            <a:off x="6473952" y="2313432"/>
            <a:ext cx="2185416" cy="813815"/>
          </a:xfrm>
          <a:prstGeom prst="rect">
            <a:avLst/>
          </a:prstGeom>
          <a:noFill/>
        </p:spPr>
        <p:txBody>
          <a:bodyPr wrap="square" anchor="t">
            <a:normAutofit/>
          </a:bodyPr>
          <a:lstStyle/>
          <a:p>
            <a:pPr algn="l"/>
            <a:r>
              <a:rPr sz="1250" b="0">
                <a:solidFill>
                  <a:srgbClr val="1C2226"/>
                </a:solidFill>
                <a:latin typeface="Aptos"/>
              </a:rPr>
              <a:t>Which data grows fastest over time?</a:t>
            </a:r>
          </a:p>
        </p:txBody>
      </p:sp>
      <p:sp>
        <p:nvSpPr>
          <p:cNvPr id="17" name="Rounded Rectangle 16"/>
          <p:cNvSpPr/>
          <p:nvPr/>
        </p:nvSpPr>
        <p:spPr>
          <a:xfrm>
            <a:off x="9098280" y="1874519"/>
            <a:ext cx="2514600" cy="132588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62872" y="2002536"/>
            <a:ext cx="2185416" cy="237744"/>
          </a:xfrm>
          <a:prstGeom prst="rect">
            <a:avLst/>
          </a:prstGeom>
          <a:noFill/>
        </p:spPr>
        <p:txBody>
          <a:bodyPr wrap="square" anchor="t">
            <a:normAutofit/>
          </a:bodyPr>
          <a:lstStyle/>
          <a:p>
            <a:pPr algn="l"/>
            <a:r>
              <a:rPr sz="1320" b="1">
                <a:solidFill>
                  <a:srgbClr val="116763"/>
                </a:solidFill>
                <a:latin typeface="Aptos"/>
              </a:rPr>
              <a:t>Cost</a:t>
            </a:r>
          </a:p>
        </p:txBody>
      </p:sp>
      <p:sp>
        <p:nvSpPr>
          <p:cNvPr id="19" name="TextBox 18"/>
          <p:cNvSpPr txBox="1"/>
          <p:nvPr/>
        </p:nvSpPr>
        <p:spPr>
          <a:xfrm>
            <a:off x="9262872" y="2313432"/>
            <a:ext cx="2185416" cy="813815"/>
          </a:xfrm>
          <a:prstGeom prst="rect">
            <a:avLst/>
          </a:prstGeom>
          <a:noFill/>
        </p:spPr>
        <p:txBody>
          <a:bodyPr wrap="square" anchor="t">
            <a:normAutofit/>
          </a:bodyPr>
          <a:lstStyle/>
          <a:p>
            <a:pPr algn="l"/>
            <a:r>
              <a:rPr sz="1250" b="0">
                <a:solidFill>
                  <a:srgbClr val="1C2226"/>
                </a:solidFill>
                <a:latin typeface="Aptos"/>
              </a:rPr>
              <a:t>What gets slower or more expensive?</a:t>
            </a:r>
          </a:p>
        </p:txBody>
      </p:sp>
      <p:sp>
        <p:nvSpPr>
          <p:cNvPr id="20" name="TextBox 19"/>
          <p:cNvSpPr txBox="1"/>
          <p:nvPr/>
        </p:nvSpPr>
        <p:spPr>
          <a:xfrm>
            <a:off x="1097280" y="4480560"/>
            <a:ext cx="9966960" cy="713232"/>
          </a:xfrm>
          <a:prstGeom prst="rect">
            <a:avLst/>
          </a:prstGeom>
          <a:noFill/>
        </p:spPr>
        <p:txBody>
          <a:bodyPr wrap="square" anchor="t">
            <a:normAutofit/>
          </a:bodyPr>
          <a:lstStyle/>
          <a:p>
            <a:pPr algn="ctr"/>
            <a:r>
              <a:rPr sz="2200" b="1">
                <a:solidFill>
                  <a:srgbClr val="1C2226"/>
                </a:solidFill>
                <a:latin typeface="Aptos"/>
              </a:rPr>
              <a:t>For final projects, students only need to identify the first likely pressure point.</a:t>
            </a:r>
          </a:p>
        </p:txBody>
      </p:sp>
      <p:sp>
        <p:nvSpPr>
          <p:cNvPr id="21" name="TextBox 20"/>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22" name="TextBox 21"/>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VOCABULARY</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Capacity Signals</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Signals are symptoms that tell an admin where to look.</a:t>
            </a:r>
          </a:p>
        </p:txBody>
      </p:sp>
      <p:sp>
        <p:nvSpPr>
          <p:cNvPr id="8" name="TextBox 7"/>
          <p:cNvSpPr txBox="1"/>
          <p:nvPr/>
        </p:nvSpPr>
        <p:spPr>
          <a:xfrm>
            <a:off x="960120" y="1874519"/>
            <a:ext cx="10241280" cy="3611880"/>
          </a:xfrm>
          <a:prstGeom prst="rect">
            <a:avLst/>
          </a:prstGeom>
          <a:noFill/>
        </p:spPr>
        <p:txBody>
          <a:bodyPr wrap="square">
            <a:normAutofit/>
          </a:bodyPr>
          <a:lstStyle/>
          <a:p>
            <a:pPr>
              <a:spcAft>
                <a:spcPts val="500"/>
              </a:spcAft>
              <a:defRPr sz="1800">
                <a:solidFill>
                  <a:srgbClr val="1C2226"/>
                </a:solidFill>
                <a:latin typeface="Aptos"/>
              </a:defRPr>
            </a:pPr>
            <a:r>
              <a:t>slow common queries</a:t>
            </a:r>
          </a:p>
          <a:p>
            <a:pPr>
              <a:spcAft>
                <a:spcPts val="500"/>
              </a:spcAft>
              <a:defRPr sz="1800">
                <a:solidFill>
                  <a:srgbClr val="1C2226"/>
                </a:solidFill>
                <a:latin typeface="Aptos"/>
              </a:defRPr>
            </a:pPr>
            <a:r>
              <a:t>large table or collection scans</a:t>
            </a:r>
          </a:p>
          <a:p>
            <a:pPr>
              <a:spcAft>
                <a:spcPts val="500"/>
              </a:spcAft>
              <a:defRPr sz="1800">
                <a:solidFill>
                  <a:srgbClr val="1C2226"/>
                </a:solidFill>
                <a:latin typeface="Aptos"/>
              </a:defRPr>
            </a:pPr>
            <a:r>
              <a:t>writes arriving faster than the database can handle</a:t>
            </a:r>
          </a:p>
          <a:p>
            <a:pPr>
              <a:spcAft>
                <a:spcPts val="500"/>
              </a:spcAft>
              <a:defRPr sz="1800">
                <a:solidFill>
                  <a:srgbClr val="1C2226"/>
                </a:solidFill>
                <a:latin typeface="Aptos"/>
              </a:defRPr>
            </a:pPr>
            <a:r>
              <a:t>storage growing faster than expected</a:t>
            </a:r>
          </a:p>
          <a:p>
            <a:pPr>
              <a:spcAft>
                <a:spcPts val="500"/>
              </a:spcAft>
              <a:defRPr sz="1800">
                <a:solidFill>
                  <a:srgbClr val="1C2226"/>
                </a:solidFill>
                <a:latin typeface="Aptos"/>
              </a:defRPr>
            </a:pPr>
            <a:r>
              <a:t>too many open connections</a:t>
            </a:r>
          </a:p>
          <a:p>
            <a:pPr>
              <a:spcAft>
                <a:spcPts val="500"/>
              </a:spcAft>
              <a:defRPr sz="1800">
                <a:solidFill>
                  <a:srgbClr val="1C2226"/>
                </a:solidFill>
                <a:latin typeface="Aptos"/>
              </a:defRPr>
            </a:pPr>
            <a:r>
              <a:t>indexes missing or not used</a:t>
            </a:r>
          </a:p>
          <a:p>
            <a:pPr>
              <a:spcAft>
                <a:spcPts val="500"/>
              </a:spcAft>
              <a:defRPr sz="1800">
                <a:solidFill>
                  <a:srgbClr val="1C2226"/>
                </a:solidFill>
                <a:latin typeface="Aptos"/>
              </a:defRPr>
            </a:pPr>
            <a:r>
              <a:t>cloud cost rising without a clear reason</a:t>
            </a:r>
          </a:p>
        </p:txBody>
      </p:sp>
      <p:sp>
        <p:nvSpPr>
          <p:cNvPr id="9" name="TextBox 8"/>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0" name="TextBox 9"/>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MONGO SCALING</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Sharding Mental Model</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Sharding splits one logical collection across multiple machines.</a:t>
            </a:r>
          </a:p>
        </p:txBody>
      </p:sp>
      <p:sp>
        <p:nvSpPr>
          <p:cNvPr id="8" name="Rounded Rectangle 7"/>
          <p:cNvSpPr/>
          <p:nvPr/>
        </p:nvSpPr>
        <p:spPr>
          <a:xfrm>
            <a:off x="822960" y="2011680"/>
            <a:ext cx="2560320" cy="118872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2139696"/>
            <a:ext cx="2231136" cy="237744"/>
          </a:xfrm>
          <a:prstGeom prst="rect">
            <a:avLst/>
          </a:prstGeom>
          <a:noFill/>
        </p:spPr>
        <p:txBody>
          <a:bodyPr wrap="square" anchor="t">
            <a:normAutofit/>
          </a:bodyPr>
          <a:lstStyle/>
          <a:p>
            <a:pPr algn="l"/>
            <a:r>
              <a:rPr sz="1320" b="1">
                <a:solidFill>
                  <a:srgbClr val="116763"/>
                </a:solidFill>
                <a:latin typeface="Aptos"/>
              </a:rPr>
              <a:t>Collection</a:t>
            </a:r>
          </a:p>
        </p:txBody>
      </p:sp>
      <p:sp>
        <p:nvSpPr>
          <p:cNvPr id="10" name="TextBox 9"/>
          <p:cNvSpPr txBox="1"/>
          <p:nvPr/>
        </p:nvSpPr>
        <p:spPr>
          <a:xfrm>
            <a:off x="987552" y="2450592"/>
            <a:ext cx="2231136" cy="676656"/>
          </a:xfrm>
          <a:prstGeom prst="rect">
            <a:avLst/>
          </a:prstGeom>
          <a:noFill/>
        </p:spPr>
        <p:txBody>
          <a:bodyPr wrap="square" anchor="t">
            <a:normAutofit/>
          </a:bodyPr>
          <a:lstStyle/>
          <a:p>
            <a:pPr algn="l"/>
            <a:r>
              <a:rPr sz="1250" b="0">
                <a:solidFill>
                  <a:srgbClr val="1C2226"/>
                </a:solidFill>
                <a:latin typeface="Aptos"/>
              </a:rPr>
              <a:t>The logical data students query.</a:t>
            </a:r>
          </a:p>
        </p:txBody>
      </p:sp>
      <p:sp>
        <p:nvSpPr>
          <p:cNvPr id="11" name="Rounded Rectangle 10"/>
          <p:cNvSpPr/>
          <p:nvPr/>
        </p:nvSpPr>
        <p:spPr>
          <a:xfrm>
            <a:off x="3703320" y="2011680"/>
            <a:ext cx="2560320" cy="1188720"/>
          </a:xfrm>
          <a:prstGeom prst="roundRect">
            <a:avLst/>
          </a:prstGeom>
          <a:solidFill>
            <a:srgbClr val="F5C454"/>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67911" y="2139696"/>
            <a:ext cx="2231136" cy="237744"/>
          </a:xfrm>
          <a:prstGeom prst="rect">
            <a:avLst/>
          </a:prstGeom>
          <a:noFill/>
        </p:spPr>
        <p:txBody>
          <a:bodyPr wrap="square" anchor="t">
            <a:normAutofit/>
          </a:bodyPr>
          <a:lstStyle/>
          <a:p>
            <a:pPr algn="l"/>
            <a:r>
              <a:rPr sz="1320" b="1">
                <a:solidFill>
                  <a:srgbClr val="116763"/>
                </a:solidFill>
                <a:latin typeface="Aptos"/>
              </a:rPr>
              <a:t>Shard key</a:t>
            </a:r>
          </a:p>
        </p:txBody>
      </p:sp>
      <p:sp>
        <p:nvSpPr>
          <p:cNvPr id="13" name="TextBox 12"/>
          <p:cNvSpPr txBox="1"/>
          <p:nvPr/>
        </p:nvSpPr>
        <p:spPr>
          <a:xfrm>
            <a:off x="3867911" y="2450592"/>
            <a:ext cx="2231136" cy="676656"/>
          </a:xfrm>
          <a:prstGeom prst="rect">
            <a:avLst/>
          </a:prstGeom>
          <a:noFill/>
        </p:spPr>
        <p:txBody>
          <a:bodyPr wrap="square" anchor="t">
            <a:normAutofit/>
          </a:bodyPr>
          <a:lstStyle/>
          <a:p>
            <a:pPr algn="l"/>
            <a:r>
              <a:rPr sz="1250" b="0">
                <a:solidFill>
                  <a:srgbClr val="1C2226"/>
                </a:solidFill>
                <a:latin typeface="Aptos"/>
              </a:rPr>
              <a:t>The field that decides where data lives.</a:t>
            </a:r>
          </a:p>
        </p:txBody>
      </p:sp>
      <p:sp>
        <p:nvSpPr>
          <p:cNvPr id="14" name="Rounded Rectangle 13"/>
          <p:cNvSpPr/>
          <p:nvPr/>
        </p:nvSpPr>
        <p:spPr>
          <a:xfrm>
            <a:off x="6583680" y="2011680"/>
            <a:ext cx="2560320" cy="118872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2" y="2139696"/>
            <a:ext cx="2231136" cy="237744"/>
          </a:xfrm>
          <a:prstGeom prst="rect">
            <a:avLst/>
          </a:prstGeom>
          <a:noFill/>
        </p:spPr>
        <p:txBody>
          <a:bodyPr wrap="square" anchor="t">
            <a:normAutofit/>
          </a:bodyPr>
          <a:lstStyle/>
          <a:p>
            <a:pPr algn="l"/>
            <a:r>
              <a:rPr sz="1320" b="1">
                <a:solidFill>
                  <a:srgbClr val="116763"/>
                </a:solidFill>
                <a:latin typeface="Aptos"/>
              </a:rPr>
              <a:t>Shards</a:t>
            </a:r>
          </a:p>
        </p:txBody>
      </p:sp>
      <p:sp>
        <p:nvSpPr>
          <p:cNvPr id="16" name="TextBox 15"/>
          <p:cNvSpPr txBox="1"/>
          <p:nvPr/>
        </p:nvSpPr>
        <p:spPr>
          <a:xfrm>
            <a:off x="6748272" y="2450592"/>
            <a:ext cx="2231136" cy="676656"/>
          </a:xfrm>
          <a:prstGeom prst="rect">
            <a:avLst/>
          </a:prstGeom>
          <a:noFill/>
        </p:spPr>
        <p:txBody>
          <a:bodyPr wrap="square" anchor="t">
            <a:normAutofit/>
          </a:bodyPr>
          <a:lstStyle/>
          <a:p>
            <a:pPr algn="l"/>
            <a:r>
              <a:rPr sz="1250" b="0">
                <a:solidFill>
                  <a:srgbClr val="1C2226"/>
                </a:solidFill>
                <a:latin typeface="Aptos"/>
              </a:rPr>
              <a:t>Machines holding different ranges or hashed values.</a:t>
            </a:r>
          </a:p>
        </p:txBody>
      </p:sp>
      <p:sp>
        <p:nvSpPr>
          <p:cNvPr id="17" name="Rounded Rectangle 16"/>
          <p:cNvSpPr/>
          <p:nvPr/>
        </p:nvSpPr>
        <p:spPr>
          <a:xfrm>
            <a:off x="9464040" y="2011680"/>
            <a:ext cx="2240280" cy="118872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28632" y="2139696"/>
            <a:ext cx="1911096" cy="237744"/>
          </a:xfrm>
          <a:prstGeom prst="rect">
            <a:avLst/>
          </a:prstGeom>
          <a:noFill/>
        </p:spPr>
        <p:txBody>
          <a:bodyPr wrap="square" anchor="t">
            <a:normAutofit/>
          </a:bodyPr>
          <a:lstStyle/>
          <a:p>
            <a:pPr algn="l"/>
            <a:r>
              <a:rPr sz="1320" b="1">
                <a:solidFill>
                  <a:srgbClr val="116763"/>
                </a:solidFill>
                <a:latin typeface="Aptos"/>
              </a:rPr>
              <a:t>mongos</a:t>
            </a:r>
          </a:p>
        </p:txBody>
      </p:sp>
      <p:sp>
        <p:nvSpPr>
          <p:cNvPr id="19" name="TextBox 18"/>
          <p:cNvSpPr txBox="1"/>
          <p:nvPr/>
        </p:nvSpPr>
        <p:spPr>
          <a:xfrm>
            <a:off x="9628632" y="2450592"/>
            <a:ext cx="1911096" cy="676656"/>
          </a:xfrm>
          <a:prstGeom prst="rect">
            <a:avLst/>
          </a:prstGeom>
          <a:noFill/>
        </p:spPr>
        <p:txBody>
          <a:bodyPr wrap="square" anchor="t">
            <a:normAutofit/>
          </a:bodyPr>
          <a:lstStyle/>
          <a:p>
            <a:pPr algn="l"/>
            <a:r>
              <a:rPr sz="1250" b="0">
                <a:solidFill>
                  <a:srgbClr val="1C2226"/>
                </a:solidFill>
                <a:latin typeface="Aptos"/>
              </a:rPr>
              <a:t>Routes queries to the right shard when possible.</a:t>
            </a:r>
          </a:p>
        </p:txBody>
      </p:sp>
      <p:sp>
        <p:nvSpPr>
          <p:cNvPr id="20" name="TextBox 19"/>
          <p:cNvSpPr txBox="1"/>
          <p:nvPr/>
        </p:nvSpPr>
        <p:spPr>
          <a:xfrm>
            <a:off x="1097280" y="4480560"/>
            <a:ext cx="9966960" cy="713232"/>
          </a:xfrm>
          <a:prstGeom prst="rect">
            <a:avLst/>
          </a:prstGeom>
          <a:noFill/>
        </p:spPr>
        <p:txBody>
          <a:bodyPr wrap="square" anchor="t">
            <a:normAutofit/>
          </a:bodyPr>
          <a:lstStyle/>
          <a:p>
            <a:pPr algn="ctr"/>
            <a:r>
              <a:rPr sz="2200" b="1">
                <a:solidFill>
                  <a:srgbClr val="1C2226"/>
                </a:solidFill>
                <a:latin typeface="Aptos"/>
              </a:rPr>
              <a:t>A sharded system is powerful, but the choice of key can help or hurt everything.</a:t>
            </a:r>
          </a:p>
        </p:txBody>
      </p:sp>
      <p:sp>
        <p:nvSpPr>
          <p:cNvPr id="21" name="TextBox 20"/>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22" name="TextBox 21"/>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SHARD KEYS</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Shard Keys Decide Distribution</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MongoDB uses the shard key to distribute documents across shards.</a:t>
            </a:r>
          </a:p>
        </p:txBody>
      </p:sp>
      <p:sp>
        <p:nvSpPr>
          <p:cNvPr id="8" name="TextBox 7"/>
          <p:cNvSpPr txBox="1"/>
          <p:nvPr/>
        </p:nvSpPr>
        <p:spPr>
          <a:xfrm>
            <a:off x="960120" y="1874519"/>
            <a:ext cx="10241280" cy="3611880"/>
          </a:xfrm>
          <a:prstGeom prst="rect">
            <a:avLst/>
          </a:prstGeom>
          <a:noFill/>
        </p:spPr>
        <p:txBody>
          <a:bodyPr wrap="square">
            <a:normAutofit/>
          </a:bodyPr>
          <a:lstStyle/>
          <a:p>
            <a:pPr>
              <a:spcAft>
                <a:spcPts val="500"/>
              </a:spcAft>
              <a:defRPr sz="1800">
                <a:solidFill>
                  <a:srgbClr val="1C2226"/>
                </a:solidFill>
                <a:latin typeface="Aptos"/>
              </a:defRPr>
            </a:pPr>
            <a:r>
              <a:t>good keys spread data and common writes across shards</a:t>
            </a:r>
          </a:p>
          <a:p>
            <a:pPr>
              <a:spcAft>
                <a:spcPts val="500"/>
              </a:spcAft>
              <a:defRPr sz="1800">
                <a:solidFill>
                  <a:srgbClr val="1C2226"/>
                </a:solidFill>
                <a:latin typeface="Aptos"/>
              </a:defRPr>
            </a:pPr>
            <a:r>
              <a:t>bad keys send too much work to one place</a:t>
            </a:r>
          </a:p>
          <a:p>
            <a:pPr>
              <a:spcAft>
                <a:spcPts val="500"/>
              </a:spcAft>
              <a:defRPr sz="1800">
                <a:solidFill>
                  <a:srgbClr val="1C2226"/>
                </a:solidFill>
                <a:latin typeface="Aptos"/>
              </a:defRPr>
            </a:pPr>
            <a:r>
              <a:t>queries that include the shard key can be targeted</a:t>
            </a:r>
          </a:p>
          <a:p>
            <a:pPr>
              <a:spcAft>
                <a:spcPts val="500"/>
              </a:spcAft>
              <a:defRPr sz="1800">
                <a:solidFill>
                  <a:srgbClr val="1C2226"/>
                </a:solidFill>
                <a:latin typeface="Aptos"/>
              </a:defRPr>
            </a:pPr>
            <a:r>
              <a:t>queries without the shard key may become scatter/gather</a:t>
            </a:r>
          </a:p>
          <a:p>
            <a:pPr>
              <a:spcAft>
                <a:spcPts val="500"/>
              </a:spcAft>
              <a:defRPr sz="1800">
                <a:solidFill>
                  <a:srgbClr val="1C2226"/>
                </a:solidFill>
                <a:latin typeface="Aptos"/>
              </a:defRPr>
            </a:pPr>
            <a:r>
              <a:t>a popular value can become a hotspot</a:t>
            </a:r>
          </a:p>
        </p:txBody>
      </p:sp>
      <p:sp>
        <p:nvSpPr>
          <p:cNvPr id="9" name="TextBox 8"/>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0" name="TextBox 9"/>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ANTI-PATTERN</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Hotspots</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A hotspot is where too much work lands in one part of the system.</a:t>
            </a:r>
          </a:p>
        </p:txBody>
      </p:sp>
      <p:sp>
        <p:nvSpPr>
          <p:cNvPr id="8" name="Rounded Rectangle 7"/>
          <p:cNvSpPr/>
          <p:nvPr/>
        </p:nvSpPr>
        <p:spPr>
          <a:xfrm>
            <a:off x="822960" y="1828800"/>
            <a:ext cx="3200400" cy="141732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956816"/>
            <a:ext cx="2871216" cy="237744"/>
          </a:xfrm>
          <a:prstGeom prst="rect">
            <a:avLst/>
          </a:prstGeom>
          <a:noFill/>
        </p:spPr>
        <p:txBody>
          <a:bodyPr wrap="square" anchor="t">
            <a:normAutofit/>
          </a:bodyPr>
          <a:lstStyle/>
          <a:p>
            <a:pPr algn="l"/>
            <a:r>
              <a:rPr sz="1320" b="1">
                <a:solidFill>
                  <a:srgbClr val="116763"/>
                </a:solidFill>
                <a:latin typeface="Aptos"/>
              </a:rPr>
              <a:t>Bad sign</a:t>
            </a:r>
          </a:p>
        </p:txBody>
      </p:sp>
      <p:sp>
        <p:nvSpPr>
          <p:cNvPr id="10" name="TextBox 9"/>
          <p:cNvSpPr txBox="1"/>
          <p:nvPr/>
        </p:nvSpPr>
        <p:spPr>
          <a:xfrm>
            <a:off x="987552" y="2267712"/>
            <a:ext cx="2871216" cy="905256"/>
          </a:xfrm>
          <a:prstGeom prst="rect">
            <a:avLst/>
          </a:prstGeom>
          <a:noFill/>
        </p:spPr>
        <p:txBody>
          <a:bodyPr wrap="square" anchor="t">
            <a:normAutofit/>
          </a:bodyPr>
          <a:lstStyle/>
          <a:p>
            <a:pPr algn="l"/>
            <a:r>
              <a:rPr sz="1250" b="0">
                <a:solidFill>
                  <a:srgbClr val="1C2226"/>
                </a:solidFill>
                <a:latin typeface="Aptos"/>
              </a:rPr>
              <a:t>One vendor, status, city, date, or user receives most new writes.</a:t>
            </a:r>
          </a:p>
        </p:txBody>
      </p:sp>
      <p:sp>
        <p:nvSpPr>
          <p:cNvPr id="11" name="Rounded Rectangle 10"/>
          <p:cNvSpPr/>
          <p:nvPr/>
        </p:nvSpPr>
        <p:spPr>
          <a:xfrm>
            <a:off x="4434840" y="1828800"/>
            <a:ext cx="3200400" cy="141732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1" y="1956816"/>
            <a:ext cx="2871216" cy="237744"/>
          </a:xfrm>
          <a:prstGeom prst="rect">
            <a:avLst/>
          </a:prstGeom>
          <a:noFill/>
        </p:spPr>
        <p:txBody>
          <a:bodyPr wrap="square" anchor="t">
            <a:normAutofit/>
          </a:bodyPr>
          <a:lstStyle/>
          <a:p>
            <a:pPr algn="l"/>
            <a:r>
              <a:rPr sz="1320" b="1">
                <a:solidFill>
                  <a:srgbClr val="116763"/>
                </a:solidFill>
                <a:latin typeface="Aptos"/>
              </a:rPr>
              <a:t>Why it hurts</a:t>
            </a:r>
          </a:p>
        </p:txBody>
      </p:sp>
      <p:sp>
        <p:nvSpPr>
          <p:cNvPr id="13" name="TextBox 12"/>
          <p:cNvSpPr txBox="1"/>
          <p:nvPr/>
        </p:nvSpPr>
        <p:spPr>
          <a:xfrm>
            <a:off x="4599431" y="2267712"/>
            <a:ext cx="2871216" cy="905256"/>
          </a:xfrm>
          <a:prstGeom prst="rect">
            <a:avLst/>
          </a:prstGeom>
          <a:noFill/>
        </p:spPr>
        <p:txBody>
          <a:bodyPr wrap="square" anchor="t">
            <a:normAutofit/>
          </a:bodyPr>
          <a:lstStyle/>
          <a:p>
            <a:pPr algn="l"/>
            <a:r>
              <a:rPr sz="1250" b="0">
                <a:solidFill>
                  <a:srgbClr val="1C2226"/>
                </a:solidFill>
                <a:latin typeface="Aptos"/>
              </a:rPr>
              <a:t>One shard or index range does most of the work while others wait.</a:t>
            </a:r>
          </a:p>
        </p:txBody>
      </p:sp>
      <p:sp>
        <p:nvSpPr>
          <p:cNvPr id="14" name="Rounded Rectangle 13"/>
          <p:cNvSpPr/>
          <p:nvPr/>
        </p:nvSpPr>
        <p:spPr>
          <a:xfrm>
            <a:off x="8046720" y="1828800"/>
            <a:ext cx="3200400" cy="141732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11312" y="1956816"/>
            <a:ext cx="2871216" cy="237744"/>
          </a:xfrm>
          <a:prstGeom prst="rect">
            <a:avLst/>
          </a:prstGeom>
          <a:noFill/>
        </p:spPr>
        <p:txBody>
          <a:bodyPr wrap="square" anchor="t">
            <a:normAutofit/>
          </a:bodyPr>
          <a:lstStyle/>
          <a:p>
            <a:pPr algn="l"/>
            <a:r>
              <a:rPr sz="1320" b="1">
                <a:solidFill>
                  <a:srgbClr val="116763"/>
                </a:solidFill>
                <a:latin typeface="Aptos"/>
              </a:rPr>
              <a:t>Project version</a:t>
            </a:r>
          </a:p>
        </p:txBody>
      </p:sp>
      <p:sp>
        <p:nvSpPr>
          <p:cNvPr id="16" name="TextBox 15"/>
          <p:cNvSpPr txBox="1"/>
          <p:nvPr/>
        </p:nvSpPr>
        <p:spPr>
          <a:xfrm>
            <a:off x="8211312" y="2267712"/>
            <a:ext cx="2871216" cy="905256"/>
          </a:xfrm>
          <a:prstGeom prst="rect">
            <a:avLst/>
          </a:prstGeom>
          <a:noFill/>
        </p:spPr>
        <p:txBody>
          <a:bodyPr wrap="square" anchor="t">
            <a:normAutofit/>
          </a:bodyPr>
          <a:lstStyle/>
          <a:p>
            <a:pPr algn="l"/>
            <a:r>
              <a:rPr sz="1250" b="0">
                <a:solidFill>
                  <a:srgbClr val="1C2226"/>
                </a:solidFill>
                <a:latin typeface="Aptos"/>
              </a:rPr>
              <a:t>Name the field in your project most likely to become hot.</a:t>
            </a:r>
          </a:p>
        </p:txBody>
      </p:sp>
      <p:sp>
        <p:nvSpPr>
          <p:cNvPr id="17" name="TextBox 16"/>
          <p:cNvSpPr txBox="1"/>
          <p:nvPr/>
        </p:nvSpPr>
        <p:spPr>
          <a:xfrm>
            <a:off x="1097280" y="4480560"/>
            <a:ext cx="9966960" cy="713232"/>
          </a:xfrm>
          <a:prstGeom prst="rect">
            <a:avLst/>
          </a:prstGeom>
          <a:noFill/>
        </p:spPr>
        <p:txBody>
          <a:bodyPr wrap="square" anchor="t">
            <a:normAutofit/>
          </a:bodyPr>
          <a:lstStyle/>
          <a:p>
            <a:pPr algn="ctr"/>
            <a:r>
              <a:rPr sz="2200" b="1">
                <a:solidFill>
                  <a:srgbClr val="1C2226"/>
                </a:solidFill>
                <a:latin typeface="Aptos"/>
              </a:rPr>
              <a:t>A tiny class project can still explain the hotspot risk clearly.</a:t>
            </a:r>
          </a:p>
        </p:txBody>
      </p:sp>
      <p:sp>
        <p:nvSpPr>
          <p:cNvPr id="18" name="TextBox 17"/>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9" name="TextBox 18"/>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PERFORMANCE</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Indexes Are Project Evidence</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Indexes show that a student knows how users will query data.</a:t>
            </a:r>
          </a:p>
        </p:txBody>
      </p:sp>
      <p:sp>
        <p:nvSpPr>
          <p:cNvPr id="8" name="Rounded Rectangle 7"/>
          <p:cNvSpPr/>
          <p:nvPr/>
        </p:nvSpPr>
        <p:spPr>
          <a:xfrm>
            <a:off x="822960" y="1828800"/>
            <a:ext cx="3291840" cy="155448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956816"/>
            <a:ext cx="2962656" cy="237744"/>
          </a:xfrm>
          <a:prstGeom prst="rect">
            <a:avLst/>
          </a:prstGeom>
          <a:noFill/>
        </p:spPr>
        <p:txBody>
          <a:bodyPr wrap="square" anchor="t">
            <a:normAutofit/>
          </a:bodyPr>
          <a:lstStyle/>
          <a:p>
            <a:pPr algn="l"/>
            <a:r>
              <a:rPr sz="1320" b="1">
                <a:solidFill>
                  <a:srgbClr val="116763"/>
                </a:solidFill>
                <a:latin typeface="Aptos"/>
              </a:rPr>
              <a:t>MongoDB</a:t>
            </a:r>
          </a:p>
        </p:txBody>
      </p:sp>
      <p:sp>
        <p:nvSpPr>
          <p:cNvPr id="10" name="TextBox 9"/>
          <p:cNvSpPr txBox="1"/>
          <p:nvPr/>
        </p:nvSpPr>
        <p:spPr>
          <a:xfrm>
            <a:off x="987552" y="2267712"/>
            <a:ext cx="2962656" cy="1042415"/>
          </a:xfrm>
          <a:prstGeom prst="rect">
            <a:avLst/>
          </a:prstGeom>
          <a:noFill/>
        </p:spPr>
        <p:txBody>
          <a:bodyPr wrap="square" anchor="t">
            <a:normAutofit/>
          </a:bodyPr>
          <a:lstStyle/>
          <a:p>
            <a:pPr algn="l"/>
            <a:r>
              <a:rPr sz="1250" b="0">
                <a:solidFill>
                  <a:srgbClr val="1C2226"/>
                </a:solidFill>
                <a:latin typeface="Aptos"/>
              </a:rPr>
              <a:t>Create indexes for common queries; compound indexes help multi-field searches.</a:t>
            </a:r>
          </a:p>
        </p:txBody>
      </p:sp>
      <p:sp>
        <p:nvSpPr>
          <p:cNvPr id="11" name="Rounded Rectangle 10"/>
          <p:cNvSpPr/>
          <p:nvPr/>
        </p:nvSpPr>
        <p:spPr>
          <a:xfrm>
            <a:off x="4434840" y="1828800"/>
            <a:ext cx="3291840" cy="15544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1" y="1956816"/>
            <a:ext cx="2962656" cy="237744"/>
          </a:xfrm>
          <a:prstGeom prst="rect">
            <a:avLst/>
          </a:prstGeom>
          <a:noFill/>
        </p:spPr>
        <p:txBody>
          <a:bodyPr wrap="square" anchor="t">
            <a:normAutofit/>
          </a:bodyPr>
          <a:lstStyle/>
          <a:p>
            <a:pPr algn="l"/>
            <a:r>
              <a:rPr sz="1320" b="1">
                <a:solidFill>
                  <a:srgbClr val="116763"/>
                </a:solidFill>
                <a:latin typeface="Aptos"/>
              </a:rPr>
              <a:t>Postgres</a:t>
            </a:r>
          </a:p>
        </p:txBody>
      </p:sp>
      <p:sp>
        <p:nvSpPr>
          <p:cNvPr id="13" name="TextBox 12"/>
          <p:cNvSpPr txBox="1"/>
          <p:nvPr/>
        </p:nvSpPr>
        <p:spPr>
          <a:xfrm>
            <a:off x="4599431" y="2267712"/>
            <a:ext cx="2962656" cy="1042415"/>
          </a:xfrm>
          <a:prstGeom prst="rect">
            <a:avLst/>
          </a:prstGeom>
          <a:noFill/>
        </p:spPr>
        <p:txBody>
          <a:bodyPr wrap="square" anchor="t">
            <a:normAutofit/>
          </a:bodyPr>
          <a:lstStyle/>
          <a:p>
            <a:pPr algn="l"/>
            <a:r>
              <a:rPr sz="1250" b="0">
                <a:solidFill>
                  <a:srgbClr val="1C2226"/>
                </a:solidFill>
                <a:latin typeface="Aptos"/>
              </a:rPr>
              <a:t>B-tree is the common default; indexes help avoid scanning every row.</a:t>
            </a:r>
          </a:p>
        </p:txBody>
      </p:sp>
      <p:sp>
        <p:nvSpPr>
          <p:cNvPr id="14" name="Rounded Rectangle 13"/>
          <p:cNvSpPr/>
          <p:nvPr/>
        </p:nvSpPr>
        <p:spPr>
          <a:xfrm>
            <a:off x="8046720" y="1828800"/>
            <a:ext cx="3291840" cy="15544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11312" y="1956816"/>
            <a:ext cx="2962656" cy="237744"/>
          </a:xfrm>
          <a:prstGeom prst="rect">
            <a:avLst/>
          </a:prstGeom>
          <a:noFill/>
        </p:spPr>
        <p:txBody>
          <a:bodyPr wrap="square" anchor="t">
            <a:normAutofit/>
          </a:bodyPr>
          <a:lstStyle/>
          <a:p>
            <a:pPr algn="l"/>
            <a:r>
              <a:rPr sz="1320" b="1">
                <a:solidFill>
                  <a:srgbClr val="116763"/>
                </a:solidFill>
                <a:latin typeface="Aptos"/>
              </a:rPr>
              <a:t>Tradeoff</a:t>
            </a:r>
          </a:p>
        </p:txBody>
      </p:sp>
      <p:sp>
        <p:nvSpPr>
          <p:cNvPr id="16" name="TextBox 15"/>
          <p:cNvSpPr txBox="1"/>
          <p:nvPr/>
        </p:nvSpPr>
        <p:spPr>
          <a:xfrm>
            <a:off x="8211312" y="2267712"/>
            <a:ext cx="2962656" cy="1042415"/>
          </a:xfrm>
          <a:prstGeom prst="rect">
            <a:avLst/>
          </a:prstGeom>
          <a:noFill/>
        </p:spPr>
        <p:txBody>
          <a:bodyPr wrap="square" anchor="t">
            <a:normAutofit/>
          </a:bodyPr>
          <a:lstStyle/>
          <a:p>
            <a:pPr algn="l"/>
            <a:r>
              <a:rPr sz="1250" b="0">
                <a:solidFill>
                  <a:srgbClr val="1C2226"/>
                </a:solidFill>
                <a:latin typeface="Aptos"/>
              </a:rPr>
              <a:t>Indexes speed reads but add write/storage overhead.</a:t>
            </a:r>
          </a:p>
        </p:txBody>
      </p:sp>
      <p:sp>
        <p:nvSpPr>
          <p:cNvPr id="17" name="TextBox 16"/>
          <p:cNvSpPr txBox="1"/>
          <p:nvPr/>
        </p:nvSpPr>
        <p:spPr>
          <a:xfrm>
            <a:off x="1097280" y="4480560"/>
            <a:ext cx="9966960" cy="713232"/>
          </a:xfrm>
          <a:prstGeom prst="rect">
            <a:avLst/>
          </a:prstGeom>
          <a:noFill/>
        </p:spPr>
        <p:txBody>
          <a:bodyPr wrap="square" anchor="t">
            <a:normAutofit/>
          </a:bodyPr>
          <a:lstStyle/>
          <a:p>
            <a:pPr algn="ctr"/>
            <a:r>
              <a:rPr sz="2200" b="1">
                <a:solidFill>
                  <a:srgbClr val="1C2226"/>
                </a:solidFill>
                <a:latin typeface="Aptos"/>
              </a:rPr>
              <a:t>One well-explained index is better than many unexplained screenshots.</a:t>
            </a:r>
          </a:p>
        </p:txBody>
      </p:sp>
      <p:sp>
        <p:nvSpPr>
          <p:cNvPr id="18" name="TextBox 17"/>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9" name="TextBox 18"/>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QUERY EVIDENCE</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Four Query Questions</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A final project should answer real questions, not just store records.</a:t>
            </a:r>
          </a:p>
        </p:txBody>
      </p:sp>
      <p:sp>
        <p:nvSpPr>
          <p:cNvPr id="8" name="TextBox 7"/>
          <p:cNvSpPr txBox="1"/>
          <p:nvPr/>
        </p:nvSpPr>
        <p:spPr>
          <a:xfrm>
            <a:off x="960120" y="1874519"/>
            <a:ext cx="10241280" cy="3611880"/>
          </a:xfrm>
          <a:prstGeom prst="rect">
            <a:avLst/>
          </a:prstGeom>
          <a:noFill/>
        </p:spPr>
        <p:txBody>
          <a:bodyPr wrap="square">
            <a:normAutofit/>
          </a:bodyPr>
          <a:lstStyle/>
          <a:p>
            <a:pPr>
              <a:spcAft>
                <a:spcPts val="500"/>
              </a:spcAft>
              <a:defRPr sz="1800">
                <a:solidFill>
                  <a:srgbClr val="1C2226"/>
                </a:solidFill>
                <a:latin typeface="Aptos"/>
              </a:defRPr>
            </a:pPr>
            <a:r>
              <a:t>What are the newest or most urgent records?</a:t>
            </a:r>
          </a:p>
          <a:p>
            <a:pPr>
              <a:spcAft>
                <a:spcPts val="500"/>
              </a:spcAft>
              <a:defRPr sz="1800">
                <a:solidFill>
                  <a:srgbClr val="1C2226"/>
                </a:solidFill>
                <a:latin typeface="Aptos"/>
              </a:defRPr>
            </a:pPr>
            <a:r>
              <a:t>Which records belong to this user, category, vendor, or status?</a:t>
            </a:r>
          </a:p>
          <a:p>
            <a:pPr>
              <a:spcAft>
                <a:spcPts val="500"/>
              </a:spcAft>
              <a:defRPr sz="1800">
                <a:solidFill>
                  <a:srgbClr val="1C2226"/>
                </a:solidFill>
                <a:latin typeface="Aptos"/>
              </a:defRPr>
            </a:pPr>
            <a:r>
              <a:t>What needs attention right now?</a:t>
            </a:r>
          </a:p>
          <a:p>
            <a:pPr>
              <a:spcAft>
                <a:spcPts val="500"/>
              </a:spcAft>
              <a:defRPr sz="1800">
                <a:solidFill>
                  <a:srgbClr val="1C2226"/>
                </a:solidFill>
                <a:latin typeface="Aptos"/>
              </a:defRPr>
            </a:pPr>
            <a:r>
              <a:t>What changed recently?</a:t>
            </a:r>
          </a:p>
          <a:p>
            <a:pPr>
              <a:spcAft>
                <a:spcPts val="500"/>
              </a:spcAft>
              <a:defRPr sz="1800">
                <a:solidFill>
                  <a:srgbClr val="1C2226"/>
                </a:solidFill>
                <a:latin typeface="Aptos"/>
              </a:defRPr>
            </a:pPr>
            <a:r>
              <a:t>Which records should be counted, grouped, or summarized?</a:t>
            </a:r>
          </a:p>
          <a:p>
            <a:pPr>
              <a:spcAft>
                <a:spcPts val="500"/>
              </a:spcAft>
              <a:defRPr sz="1800">
                <a:solidFill>
                  <a:srgbClr val="1C2226"/>
                </a:solidFill>
                <a:latin typeface="Aptos"/>
              </a:defRPr>
            </a:pPr>
            <a:r>
              <a:t>Which details should be hidden from normal users?</a:t>
            </a:r>
          </a:p>
        </p:txBody>
      </p:sp>
      <p:sp>
        <p:nvSpPr>
          <p:cNvPr id="9" name="TextBox 8"/>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0" name="TextBox 9"/>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SEED DATA</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Seed Data Should Prove Something</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Seed data is not decoration. It tests the model.</a:t>
            </a:r>
          </a:p>
        </p:txBody>
      </p:sp>
      <p:sp>
        <p:nvSpPr>
          <p:cNvPr id="8" name="Rounded Rectangle 7"/>
          <p:cNvSpPr/>
          <p:nvPr/>
        </p:nvSpPr>
        <p:spPr>
          <a:xfrm>
            <a:off x="822960" y="1874519"/>
            <a:ext cx="3200400" cy="13258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2002536"/>
            <a:ext cx="2871216" cy="237744"/>
          </a:xfrm>
          <a:prstGeom prst="rect">
            <a:avLst/>
          </a:prstGeom>
          <a:noFill/>
        </p:spPr>
        <p:txBody>
          <a:bodyPr wrap="square" anchor="t">
            <a:normAutofit/>
          </a:bodyPr>
          <a:lstStyle/>
          <a:p>
            <a:pPr algn="l"/>
            <a:r>
              <a:rPr sz="1320" b="1">
                <a:solidFill>
                  <a:srgbClr val="116763"/>
                </a:solidFill>
                <a:latin typeface="Aptos"/>
              </a:rPr>
              <a:t>Enough</a:t>
            </a:r>
          </a:p>
        </p:txBody>
      </p:sp>
      <p:sp>
        <p:nvSpPr>
          <p:cNvPr id="10" name="TextBox 9"/>
          <p:cNvSpPr txBox="1"/>
          <p:nvPr/>
        </p:nvSpPr>
        <p:spPr>
          <a:xfrm>
            <a:off x="987552" y="2313432"/>
            <a:ext cx="2871216" cy="813815"/>
          </a:xfrm>
          <a:prstGeom prst="rect">
            <a:avLst/>
          </a:prstGeom>
          <a:noFill/>
        </p:spPr>
        <p:txBody>
          <a:bodyPr wrap="square" anchor="t">
            <a:normAutofit/>
          </a:bodyPr>
          <a:lstStyle/>
          <a:p>
            <a:pPr algn="l"/>
            <a:r>
              <a:rPr sz="1250" b="0">
                <a:solidFill>
                  <a:srgbClr val="1C2226"/>
                </a:solidFill>
                <a:latin typeface="Aptos"/>
              </a:rPr>
              <a:t>At least enough records to test the main queries.</a:t>
            </a:r>
          </a:p>
        </p:txBody>
      </p:sp>
      <p:sp>
        <p:nvSpPr>
          <p:cNvPr id="11" name="Rounded Rectangle 10"/>
          <p:cNvSpPr/>
          <p:nvPr/>
        </p:nvSpPr>
        <p:spPr>
          <a:xfrm>
            <a:off x="4434840" y="1874519"/>
            <a:ext cx="3200400" cy="132588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1" y="2002536"/>
            <a:ext cx="2871216" cy="237744"/>
          </a:xfrm>
          <a:prstGeom prst="rect">
            <a:avLst/>
          </a:prstGeom>
          <a:noFill/>
        </p:spPr>
        <p:txBody>
          <a:bodyPr wrap="square" anchor="t">
            <a:normAutofit/>
          </a:bodyPr>
          <a:lstStyle/>
          <a:p>
            <a:pPr algn="l"/>
            <a:r>
              <a:rPr sz="1320" b="1">
                <a:solidFill>
                  <a:srgbClr val="116763"/>
                </a:solidFill>
                <a:latin typeface="Aptos"/>
              </a:rPr>
              <a:t>Realistic</a:t>
            </a:r>
          </a:p>
        </p:txBody>
      </p:sp>
      <p:sp>
        <p:nvSpPr>
          <p:cNvPr id="13" name="TextBox 12"/>
          <p:cNvSpPr txBox="1"/>
          <p:nvPr/>
        </p:nvSpPr>
        <p:spPr>
          <a:xfrm>
            <a:off x="4599431" y="2313432"/>
            <a:ext cx="2871216" cy="813815"/>
          </a:xfrm>
          <a:prstGeom prst="rect">
            <a:avLst/>
          </a:prstGeom>
          <a:noFill/>
        </p:spPr>
        <p:txBody>
          <a:bodyPr wrap="square" anchor="t">
            <a:normAutofit/>
          </a:bodyPr>
          <a:lstStyle/>
          <a:p>
            <a:pPr algn="l"/>
            <a:r>
              <a:rPr sz="1250" b="0">
                <a:solidFill>
                  <a:srgbClr val="1C2226"/>
                </a:solidFill>
                <a:latin typeface="Aptos"/>
              </a:rPr>
              <a:t>Names, statuses, dates, categories, and edge cases should make sense.</a:t>
            </a:r>
          </a:p>
        </p:txBody>
      </p:sp>
      <p:sp>
        <p:nvSpPr>
          <p:cNvPr id="14" name="Rounded Rectangle 13"/>
          <p:cNvSpPr/>
          <p:nvPr/>
        </p:nvSpPr>
        <p:spPr>
          <a:xfrm>
            <a:off x="8046720" y="1874519"/>
            <a:ext cx="3200400" cy="13258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11312" y="2002536"/>
            <a:ext cx="2871216" cy="237744"/>
          </a:xfrm>
          <a:prstGeom prst="rect">
            <a:avLst/>
          </a:prstGeom>
          <a:noFill/>
        </p:spPr>
        <p:txBody>
          <a:bodyPr wrap="square" anchor="t">
            <a:normAutofit/>
          </a:bodyPr>
          <a:lstStyle/>
          <a:p>
            <a:pPr algn="l"/>
            <a:r>
              <a:rPr sz="1320" b="1">
                <a:solidFill>
                  <a:srgbClr val="116763"/>
                </a:solidFill>
                <a:latin typeface="Aptos"/>
              </a:rPr>
              <a:t>Reproducible</a:t>
            </a:r>
          </a:p>
        </p:txBody>
      </p:sp>
      <p:sp>
        <p:nvSpPr>
          <p:cNvPr id="16" name="TextBox 15"/>
          <p:cNvSpPr txBox="1"/>
          <p:nvPr/>
        </p:nvSpPr>
        <p:spPr>
          <a:xfrm>
            <a:off x="8211312" y="2313432"/>
            <a:ext cx="2871216" cy="813815"/>
          </a:xfrm>
          <a:prstGeom prst="rect">
            <a:avLst/>
          </a:prstGeom>
          <a:noFill/>
        </p:spPr>
        <p:txBody>
          <a:bodyPr wrap="square" anchor="t">
            <a:normAutofit/>
          </a:bodyPr>
          <a:lstStyle/>
          <a:p>
            <a:pPr algn="l"/>
            <a:r>
              <a:rPr sz="1250" b="0">
                <a:solidFill>
                  <a:srgbClr val="1C2226"/>
                </a:solidFill>
                <a:latin typeface="Aptos"/>
              </a:rPr>
              <a:t>The grader should know where data came from or how it was created.</a:t>
            </a:r>
          </a:p>
        </p:txBody>
      </p:sp>
      <p:sp>
        <p:nvSpPr>
          <p:cNvPr id="17" name="TextBox 16"/>
          <p:cNvSpPr txBox="1"/>
          <p:nvPr/>
        </p:nvSpPr>
        <p:spPr>
          <a:xfrm>
            <a:off x="1097280" y="4480560"/>
            <a:ext cx="9966960" cy="713232"/>
          </a:xfrm>
          <a:prstGeom prst="rect">
            <a:avLst/>
          </a:prstGeom>
          <a:noFill/>
        </p:spPr>
        <p:txBody>
          <a:bodyPr wrap="square" anchor="t">
            <a:normAutofit/>
          </a:bodyPr>
          <a:lstStyle/>
          <a:p>
            <a:pPr algn="ctr"/>
            <a:r>
              <a:rPr sz="2200" b="1">
                <a:solidFill>
                  <a:srgbClr val="1C2226"/>
                </a:solidFill>
                <a:latin typeface="Aptos"/>
              </a:rPr>
              <a:t>Include one edge case: missing value, overdue item, duplicate-like name, or unusual status.</a:t>
            </a:r>
          </a:p>
        </p:txBody>
      </p:sp>
      <p:sp>
        <p:nvSpPr>
          <p:cNvPr id="18" name="TextBox 17"/>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9" name="TextBox 18"/>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PRACTICAL SKILL</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Cloud Connection Gotchas</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Most connection errors are setup issues, not proof that the code is wrong.</a:t>
            </a:r>
          </a:p>
        </p:txBody>
      </p:sp>
      <p:sp>
        <p:nvSpPr>
          <p:cNvPr id="8" name="TextBox 7"/>
          <p:cNvSpPr txBox="1"/>
          <p:nvPr/>
        </p:nvSpPr>
        <p:spPr>
          <a:xfrm>
            <a:off x="960120" y="1874519"/>
            <a:ext cx="10241280" cy="3611880"/>
          </a:xfrm>
          <a:prstGeom prst="rect">
            <a:avLst/>
          </a:prstGeom>
          <a:noFill/>
        </p:spPr>
        <p:txBody>
          <a:bodyPr wrap="square">
            <a:normAutofit/>
          </a:bodyPr>
          <a:lstStyle/>
          <a:p>
            <a:pPr>
              <a:spcAft>
                <a:spcPts val="500"/>
              </a:spcAft>
              <a:defRPr sz="1800">
                <a:solidFill>
                  <a:srgbClr val="1C2226"/>
                </a:solidFill>
                <a:latin typeface="Aptos"/>
              </a:defRPr>
            </a:pPr>
            <a:r>
              <a:t>Atlas from Colab: add the Colab public IP in Atlas Network Access</a:t>
            </a:r>
          </a:p>
          <a:p>
            <a:pPr>
              <a:spcAft>
                <a:spcPts val="500"/>
              </a:spcAft>
              <a:defRPr sz="1800">
                <a:solidFill>
                  <a:srgbClr val="1C2226"/>
                </a:solidFill>
                <a:latin typeface="Aptos"/>
              </a:defRPr>
            </a:pPr>
            <a:r>
              <a:t>Atlas TLS: use current certificates with certifi; do not disable TLS for normal use</a:t>
            </a:r>
          </a:p>
          <a:p>
            <a:pPr>
              <a:spcAft>
                <a:spcPts val="500"/>
              </a:spcAft>
              <a:defRPr sz="1800">
                <a:solidFill>
                  <a:srgbClr val="1C2226"/>
                </a:solidFill>
                <a:latin typeface="Aptos"/>
              </a:defRPr>
            </a:pPr>
            <a:r>
              <a:t>Supabase from Colab: direct database host may require IPv6</a:t>
            </a:r>
          </a:p>
          <a:p>
            <a:pPr>
              <a:spcAft>
                <a:spcPts val="500"/>
              </a:spcAft>
              <a:defRPr sz="1800">
                <a:solidFill>
                  <a:srgbClr val="1C2226"/>
                </a:solidFill>
                <a:latin typeface="Aptos"/>
              </a:defRPr>
            </a:pPr>
            <a:r>
              <a:t>Supabase fix: use the Session Pooler connection string when IPv4 is needed</a:t>
            </a:r>
          </a:p>
          <a:p>
            <a:pPr>
              <a:spcAft>
                <a:spcPts val="500"/>
              </a:spcAft>
              <a:defRPr sz="1800">
                <a:solidFill>
                  <a:srgbClr val="1C2226"/>
                </a:solidFill>
                <a:latin typeface="Aptos"/>
              </a:defRPr>
            </a:pPr>
            <a:r>
              <a:t>Never submit connection strings, passwords, or screenshots with secrets</a:t>
            </a:r>
          </a:p>
        </p:txBody>
      </p:sp>
      <p:sp>
        <p:nvSpPr>
          <p:cNvPr id="9" name="TextBox 8"/>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0" name="TextBox 9"/>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WORK TIME</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Class 1 Lab</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Final Project Scope and Data Model Build.</a:t>
            </a:r>
          </a:p>
        </p:txBody>
      </p:sp>
      <p:sp>
        <p:nvSpPr>
          <p:cNvPr id="8" name="Rounded Rectangle 7"/>
          <p:cNvSpPr/>
          <p:nvPr/>
        </p:nvSpPr>
        <p:spPr>
          <a:xfrm>
            <a:off x="822960" y="1828800"/>
            <a:ext cx="3108960" cy="13258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956816"/>
            <a:ext cx="2779776" cy="237744"/>
          </a:xfrm>
          <a:prstGeom prst="rect">
            <a:avLst/>
          </a:prstGeom>
          <a:noFill/>
        </p:spPr>
        <p:txBody>
          <a:bodyPr wrap="square" anchor="t">
            <a:normAutofit/>
          </a:bodyPr>
          <a:lstStyle/>
          <a:p>
            <a:pPr algn="l"/>
            <a:r>
              <a:rPr sz="1320" b="1">
                <a:solidFill>
                  <a:srgbClr val="116763"/>
                </a:solidFill>
                <a:latin typeface="Aptos"/>
              </a:rPr>
              <a:t>Submit</a:t>
            </a:r>
          </a:p>
        </p:txBody>
      </p:sp>
      <p:sp>
        <p:nvSpPr>
          <p:cNvPr id="10" name="TextBox 9"/>
          <p:cNvSpPr txBox="1"/>
          <p:nvPr/>
        </p:nvSpPr>
        <p:spPr>
          <a:xfrm>
            <a:off x="987552" y="2267712"/>
            <a:ext cx="2779776" cy="813815"/>
          </a:xfrm>
          <a:prstGeom prst="rect">
            <a:avLst/>
          </a:prstGeom>
          <a:noFill/>
        </p:spPr>
        <p:txBody>
          <a:bodyPr wrap="square" anchor="t">
            <a:normAutofit/>
          </a:bodyPr>
          <a:lstStyle/>
          <a:p>
            <a:pPr algn="l"/>
            <a:r>
              <a:rPr sz="1250" b="0">
                <a:solidFill>
                  <a:srgbClr val="1C2226"/>
                </a:solidFill>
                <a:latin typeface="Aptos"/>
              </a:rPr>
              <a:t>One Brightspace text response.</a:t>
            </a:r>
          </a:p>
        </p:txBody>
      </p:sp>
      <p:sp>
        <p:nvSpPr>
          <p:cNvPr id="11" name="Rounded Rectangle 10"/>
          <p:cNvSpPr/>
          <p:nvPr/>
        </p:nvSpPr>
        <p:spPr>
          <a:xfrm>
            <a:off x="4526280" y="1828800"/>
            <a:ext cx="3108960" cy="132588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1956816"/>
            <a:ext cx="2779776" cy="237744"/>
          </a:xfrm>
          <a:prstGeom prst="rect">
            <a:avLst/>
          </a:prstGeom>
          <a:noFill/>
        </p:spPr>
        <p:txBody>
          <a:bodyPr wrap="square" anchor="t">
            <a:normAutofit/>
          </a:bodyPr>
          <a:lstStyle/>
          <a:p>
            <a:pPr algn="l"/>
            <a:r>
              <a:rPr sz="1320" b="1">
                <a:solidFill>
                  <a:srgbClr val="116763"/>
                </a:solidFill>
                <a:latin typeface="Aptos"/>
              </a:rPr>
              <a:t>Build</a:t>
            </a:r>
          </a:p>
        </p:txBody>
      </p:sp>
      <p:sp>
        <p:nvSpPr>
          <p:cNvPr id="13" name="TextBox 12"/>
          <p:cNvSpPr txBox="1"/>
          <p:nvPr/>
        </p:nvSpPr>
        <p:spPr>
          <a:xfrm>
            <a:off x="4690872" y="2267712"/>
            <a:ext cx="2779776" cy="813815"/>
          </a:xfrm>
          <a:prstGeom prst="rect">
            <a:avLst/>
          </a:prstGeom>
          <a:noFill/>
        </p:spPr>
        <p:txBody>
          <a:bodyPr wrap="square" anchor="t">
            <a:normAutofit/>
          </a:bodyPr>
          <a:lstStyle/>
          <a:p>
            <a:pPr algn="l"/>
            <a:r>
              <a:rPr sz="1250" b="0">
                <a:solidFill>
                  <a:srgbClr val="1C2226"/>
                </a:solidFill>
                <a:latin typeface="Aptos"/>
              </a:rPr>
              <a:t>Project restatement, scope cut, data model draft.</a:t>
            </a:r>
          </a:p>
        </p:txBody>
      </p:sp>
      <p:sp>
        <p:nvSpPr>
          <p:cNvPr id="14" name="Rounded Rectangle 13"/>
          <p:cNvSpPr/>
          <p:nvPr/>
        </p:nvSpPr>
        <p:spPr>
          <a:xfrm>
            <a:off x="8229600" y="1828800"/>
            <a:ext cx="3108960" cy="13258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94192" y="1956816"/>
            <a:ext cx="2779776" cy="237744"/>
          </a:xfrm>
          <a:prstGeom prst="rect">
            <a:avLst/>
          </a:prstGeom>
          <a:noFill/>
        </p:spPr>
        <p:txBody>
          <a:bodyPr wrap="square" anchor="t">
            <a:normAutofit/>
          </a:bodyPr>
          <a:lstStyle/>
          <a:p>
            <a:pPr algn="l"/>
            <a:r>
              <a:rPr sz="1320" b="1">
                <a:solidFill>
                  <a:srgbClr val="116763"/>
                </a:solidFill>
                <a:latin typeface="Aptos"/>
              </a:rPr>
              <a:t>Reflect</a:t>
            </a:r>
          </a:p>
        </p:txBody>
      </p:sp>
      <p:sp>
        <p:nvSpPr>
          <p:cNvPr id="16" name="TextBox 15"/>
          <p:cNvSpPr txBox="1"/>
          <p:nvPr/>
        </p:nvSpPr>
        <p:spPr>
          <a:xfrm>
            <a:off x="8394192" y="2267712"/>
            <a:ext cx="2779776" cy="813815"/>
          </a:xfrm>
          <a:prstGeom prst="rect">
            <a:avLst/>
          </a:prstGeom>
          <a:noFill/>
        </p:spPr>
        <p:txBody>
          <a:bodyPr wrap="square" anchor="t">
            <a:normAutofit/>
          </a:bodyPr>
          <a:lstStyle/>
          <a:p>
            <a:pPr algn="l"/>
            <a:r>
              <a:rPr sz="1250" b="0">
                <a:solidFill>
                  <a:srgbClr val="1C2226"/>
                </a:solidFill>
                <a:latin typeface="Aptos"/>
              </a:rPr>
              <a:t>First capacity risk and possible shard key.</a:t>
            </a:r>
          </a:p>
        </p:txBody>
      </p:sp>
      <p:sp>
        <p:nvSpPr>
          <p:cNvPr id="17" name="TextBox 16"/>
          <p:cNvSpPr txBox="1"/>
          <p:nvPr/>
        </p:nvSpPr>
        <p:spPr>
          <a:xfrm>
            <a:off x="1097280" y="4480560"/>
            <a:ext cx="9966960" cy="713232"/>
          </a:xfrm>
          <a:prstGeom prst="rect">
            <a:avLst/>
          </a:prstGeom>
          <a:noFill/>
        </p:spPr>
        <p:txBody>
          <a:bodyPr wrap="square" anchor="t">
            <a:normAutofit/>
          </a:bodyPr>
          <a:lstStyle/>
          <a:p>
            <a:pPr algn="ctr"/>
            <a:r>
              <a:rPr sz="2200" b="1">
                <a:solidFill>
                  <a:srgbClr val="1C2226"/>
                </a:solidFill>
                <a:latin typeface="Aptos"/>
              </a:rPr>
              <a:t>The target is a buildable model, not a perfect project.</a:t>
            </a:r>
          </a:p>
        </p:txBody>
      </p:sp>
      <p:sp>
        <p:nvSpPr>
          <p:cNvPr id="18" name="TextBox 17"/>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9" name="TextBox 18"/>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WORK TIME</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Class 2 Lab</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Final Project Queries, Indexes, and Seed Data.</a:t>
            </a:r>
          </a:p>
        </p:txBody>
      </p:sp>
      <p:sp>
        <p:nvSpPr>
          <p:cNvPr id="8" name="Rounded Rectangle 7"/>
          <p:cNvSpPr/>
          <p:nvPr/>
        </p:nvSpPr>
        <p:spPr>
          <a:xfrm>
            <a:off x="822960" y="1828800"/>
            <a:ext cx="3108960" cy="1325880"/>
          </a:xfrm>
          <a:prstGeom prst="roundRect">
            <a:avLst/>
          </a:prstGeom>
          <a:solidFill>
            <a:srgbClr val="D8EEE1"/>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956816"/>
            <a:ext cx="2779776" cy="237744"/>
          </a:xfrm>
          <a:prstGeom prst="rect">
            <a:avLst/>
          </a:prstGeom>
          <a:noFill/>
        </p:spPr>
        <p:txBody>
          <a:bodyPr wrap="square" anchor="t">
            <a:normAutofit/>
          </a:bodyPr>
          <a:lstStyle/>
          <a:p>
            <a:pPr algn="l"/>
            <a:r>
              <a:rPr sz="1320" b="1">
                <a:solidFill>
                  <a:srgbClr val="116763"/>
                </a:solidFill>
                <a:latin typeface="Aptos"/>
              </a:rPr>
              <a:t>Seed</a:t>
            </a:r>
          </a:p>
        </p:txBody>
      </p:sp>
      <p:sp>
        <p:nvSpPr>
          <p:cNvPr id="10" name="TextBox 9"/>
          <p:cNvSpPr txBox="1"/>
          <p:nvPr/>
        </p:nvSpPr>
        <p:spPr>
          <a:xfrm>
            <a:off x="987552" y="2267712"/>
            <a:ext cx="2779776" cy="813815"/>
          </a:xfrm>
          <a:prstGeom prst="rect">
            <a:avLst/>
          </a:prstGeom>
          <a:noFill/>
        </p:spPr>
        <p:txBody>
          <a:bodyPr wrap="square" anchor="t">
            <a:normAutofit/>
          </a:bodyPr>
          <a:lstStyle/>
          <a:p>
            <a:pPr algn="l"/>
            <a:r>
              <a:rPr sz="1250" b="0">
                <a:solidFill>
                  <a:srgbClr val="1C2226"/>
                </a:solidFill>
                <a:latin typeface="Aptos"/>
              </a:rPr>
              <a:t>Plan or create enough data for testing.</a:t>
            </a:r>
          </a:p>
        </p:txBody>
      </p:sp>
      <p:sp>
        <p:nvSpPr>
          <p:cNvPr id="11" name="Rounded Rectangle 10"/>
          <p:cNvSpPr/>
          <p:nvPr/>
        </p:nvSpPr>
        <p:spPr>
          <a:xfrm>
            <a:off x="4526280" y="1828800"/>
            <a:ext cx="3108960" cy="13258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1956816"/>
            <a:ext cx="2779776" cy="237744"/>
          </a:xfrm>
          <a:prstGeom prst="rect">
            <a:avLst/>
          </a:prstGeom>
          <a:noFill/>
        </p:spPr>
        <p:txBody>
          <a:bodyPr wrap="square" anchor="t">
            <a:normAutofit/>
          </a:bodyPr>
          <a:lstStyle/>
          <a:p>
            <a:pPr algn="l"/>
            <a:r>
              <a:rPr sz="1320" b="1">
                <a:solidFill>
                  <a:srgbClr val="116763"/>
                </a:solidFill>
                <a:latin typeface="Aptos"/>
              </a:rPr>
              <a:t>Query</a:t>
            </a:r>
          </a:p>
        </p:txBody>
      </p:sp>
      <p:sp>
        <p:nvSpPr>
          <p:cNvPr id="13" name="TextBox 12"/>
          <p:cNvSpPr txBox="1"/>
          <p:nvPr/>
        </p:nvSpPr>
        <p:spPr>
          <a:xfrm>
            <a:off x="4690872" y="2267712"/>
            <a:ext cx="2779776" cy="813815"/>
          </a:xfrm>
          <a:prstGeom prst="rect">
            <a:avLst/>
          </a:prstGeom>
          <a:noFill/>
        </p:spPr>
        <p:txBody>
          <a:bodyPr wrap="square" anchor="t">
            <a:normAutofit/>
          </a:bodyPr>
          <a:lstStyle/>
          <a:p>
            <a:pPr algn="l"/>
            <a:r>
              <a:rPr sz="1250" b="0">
                <a:solidFill>
                  <a:srgbClr val="1C2226"/>
                </a:solidFill>
                <a:latin typeface="Aptos"/>
              </a:rPr>
              <a:t>Write four useful SQL or MQL drafts.</a:t>
            </a:r>
          </a:p>
        </p:txBody>
      </p:sp>
      <p:sp>
        <p:nvSpPr>
          <p:cNvPr id="14" name="Rounded Rectangle 13"/>
          <p:cNvSpPr/>
          <p:nvPr/>
        </p:nvSpPr>
        <p:spPr>
          <a:xfrm>
            <a:off x="8229600" y="1828800"/>
            <a:ext cx="3108960" cy="1325880"/>
          </a:xfrm>
          <a:prstGeom prst="roundRect">
            <a:avLst/>
          </a:prstGeom>
          <a:solidFill>
            <a:srgbClr val="FFFFFF"/>
          </a:solidFill>
          <a:ln w="12700">
            <a:solidFill>
              <a:srgbClr val="D6CC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94192" y="1956816"/>
            <a:ext cx="2779776" cy="237744"/>
          </a:xfrm>
          <a:prstGeom prst="rect">
            <a:avLst/>
          </a:prstGeom>
          <a:noFill/>
        </p:spPr>
        <p:txBody>
          <a:bodyPr wrap="square" anchor="t">
            <a:normAutofit/>
          </a:bodyPr>
          <a:lstStyle/>
          <a:p>
            <a:pPr algn="l"/>
            <a:r>
              <a:rPr sz="1320" b="1">
                <a:solidFill>
                  <a:srgbClr val="116763"/>
                </a:solidFill>
                <a:latin typeface="Aptos"/>
              </a:rPr>
              <a:t>Index</a:t>
            </a:r>
          </a:p>
        </p:txBody>
      </p:sp>
      <p:sp>
        <p:nvSpPr>
          <p:cNvPr id="16" name="TextBox 15"/>
          <p:cNvSpPr txBox="1"/>
          <p:nvPr/>
        </p:nvSpPr>
        <p:spPr>
          <a:xfrm>
            <a:off x="8394192" y="2267712"/>
            <a:ext cx="2779776" cy="813815"/>
          </a:xfrm>
          <a:prstGeom prst="rect">
            <a:avLst/>
          </a:prstGeom>
          <a:noFill/>
        </p:spPr>
        <p:txBody>
          <a:bodyPr wrap="square" anchor="t">
            <a:normAutofit/>
          </a:bodyPr>
          <a:lstStyle/>
          <a:p>
            <a:pPr algn="l"/>
            <a:r>
              <a:rPr sz="1250" b="0">
                <a:solidFill>
                  <a:srgbClr val="1C2226"/>
                </a:solidFill>
                <a:latin typeface="Aptos"/>
              </a:rPr>
              <a:t>Explain one index tied to one query.</a:t>
            </a:r>
          </a:p>
        </p:txBody>
      </p:sp>
      <p:sp>
        <p:nvSpPr>
          <p:cNvPr id="17" name="TextBox 16"/>
          <p:cNvSpPr txBox="1"/>
          <p:nvPr/>
        </p:nvSpPr>
        <p:spPr>
          <a:xfrm>
            <a:off x="1097280" y="4480560"/>
            <a:ext cx="9966960" cy="713232"/>
          </a:xfrm>
          <a:prstGeom prst="rect">
            <a:avLst/>
          </a:prstGeom>
          <a:noFill/>
        </p:spPr>
        <p:txBody>
          <a:bodyPr wrap="square" anchor="t">
            <a:normAutofit/>
          </a:bodyPr>
          <a:lstStyle/>
          <a:p>
            <a:pPr algn="ctr"/>
            <a:r>
              <a:rPr sz="2200" b="1">
                <a:solidFill>
                  <a:srgbClr val="1C2226"/>
                </a:solidFill>
                <a:latin typeface="Aptos"/>
              </a:rPr>
              <a:t>By the end, every student should have evidence they can reuse in the final submission.</a:t>
            </a:r>
          </a:p>
        </p:txBody>
      </p:sp>
      <p:sp>
        <p:nvSpPr>
          <p:cNvPr id="18" name="TextBox 17"/>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9" name="TextBox 18"/>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EXAMPLE</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Sample Project Notebook</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Use the CISA KEV mini tracker if students need inspiration.</a:t>
            </a:r>
          </a:p>
        </p:txBody>
      </p:sp>
      <p:sp>
        <p:nvSpPr>
          <p:cNvPr id="8" name="TextBox 7"/>
          <p:cNvSpPr txBox="1"/>
          <p:nvPr/>
        </p:nvSpPr>
        <p:spPr>
          <a:xfrm>
            <a:off x="960120" y="1874519"/>
            <a:ext cx="10241280" cy="3611880"/>
          </a:xfrm>
          <a:prstGeom prst="rect">
            <a:avLst/>
          </a:prstGeom>
          <a:noFill/>
        </p:spPr>
        <p:txBody>
          <a:bodyPr wrap="square">
            <a:normAutofit/>
          </a:bodyPr>
          <a:lstStyle/>
          <a:p>
            <a:pPr>
              <a:spcAft>
                <a:spcPts val="500"/>
              </a:spcAft>
              <a:defRPr sz="1800">
                <a:solidFill>
                  <a:srgbClr val="1C2226"/>
                </a:solidFill>
                <a:latin typeface="Aptos"/>
              </a:defRPr>
            </a:pPr>
            <a:r>
              <a:t>shows a small project purpose</a:t>
            </a:r>
          </a:p>
          <a:p>
            <a:pPr>
              <a:spcAft>
                <a:spcPts val="500"/>
              </a:spcAft>
              <a:defRPr sz="1800">
                <a:solidFill>
                  <a:srgbClr val="1C2226"/>
                </a:solidFill>
                <a:latin typeface="Aptos"/>
              </a:defRPr>
            </a:pPr>
            <a:r>
              <a:t>loads a real public dataset</a:t>
            </a:r>
          </a:p>
          <a:p>
            <a:pPr>
              <a:spcAft>
                <a:spcPts val="500"/>
              </a:spcAft>
              <a:defRPr sz="1800">
                <a:solidFill>
                  <a:srgbClr val="1C2226"/>
                </a:solidFill>
                <a:latin typeface="Aptos"/>
              </a:defRPr>
            </a:pPr>
            <a:r>
              <a:t>sketches a Postgres schema</a:t>
            </a:r>
          </a:p>
          <a:p>
            <a:pPr>
              <a:spcAft>
                <a:spcPts val="500"/>
              </a:spcAft>
              <a:defRPr sz="1800">
                <a:solidFill>
                  <a:srgbClr val="1C2226"/>
                </a:solidFill>
                <a:latin typeface="Aptos"/>
              </a:defRPr>
            </a:pPr>
            <a:r>
              <a:t>sketches MongoDB documents</a:t>
            </a:r>
          </a:p>
          <a:p>
            <a:pPr>
              <a:spcAft>
                <a:spcPts val="500"/>
              </a:spcAft>
              <a:defRPr sz="1800">
                <a:solidFill>
                  <a:srgbClr val="1C2226"/>
                </a:solidFill>
                <a:latin typeface="Aptos"/>
              </a:defRPr>
            </a:pPr>
            <a:r>
              <a:t>demonstrates four project questions</a:t>
            </a:r>
          </a:p>
          <a:p>
            <a:pPr>
              <a:spcAft>
                <a:spcPts val="500"/>
              </a:spcAft>
              <a:defRPr sz="1800">
                <a:solidFill>
                  <a:srgbClr val="1C2226"/>
                </a:solidFill>
                <a:latin typeface="Aptos"/>
              </a:defRPr>
            </a:pPr>
            <a:r>
              <a:t>shows index and restore evidence ideas</a:t>
            </a:r>
          </a:p>
        </p:txBody>
      </p:sp>
      <p:sp>
        <p:nvSpPr>
          <p:cNvPr id="9" name="TextBox 8"/>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0" name="TextBox 9"/>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1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18520" y="310896"/>
            <a:ext cx="658368" cy="658368"/>
          </a:xfrm>
          <a:prstGeom prst="ellipse">
            <a:avLst/>
          </a:prstGeom>
          <a:solidFill>
            <a:srgbClr val="F5C4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38912"/>
            <a:ext cx="4389120" cy="237744"/>
          </a:xfrm>
          <a:prstGeom prst="rect">
            <a:avLst/>
          </a:prstGeom>
          <a:noFill/>
        </p:spPr>
        <p:txBody>
          <a:bodyPr wrap="square" anchor="t">
            <a:normAutofit/>
          </a:bodyPr>
          <a:lstStyle/>
          <a:p>
            <a:pPr algn="l"/>
            <a:r>
              <a:rPr sz="950" b="1">
                <a:solidFill>
                  <a:srgbClr val="116763"/>
                </a:solidFill>
                <a:latin typeface="Aptos"/>
              </a:rPr>
              <a:t>EXIT</a:t>
            </a:r>
          </a:p>
        </p:txBody>
      </p:sp>
      <p:sp>
        <p:nvSpPr>
          <p:cNvPr id="6" name="TextBox 5"/>
          <p:cNvSpPr txBox="1"/>
          <p:nvPr/>
        </p:nvSpPr>
        <p:spPr>
          <a:xfrm>
            <a:off x="621792" y="713232"/>
            <a:ext cx="8778240" cy="676656"/>
          </a:xfrm>
          <a:prstGeom prst="rect">
            <a:avLst/>
          </a:prstGeom>
          <a:noFill/>
        </p:spPr>
        <p:txBody>
          <a:bodyPr wrap="square" anchor="t">
            <a:normAutofit/>
          </a:bodyPr>
          <a:lstStyle/>
          <a:p>
            <a:pPr algn="l"/>
            <a:r>
              <a:rPr sz="3000" b="1">
                <a:solidFill>
                  <a:srgbClr val="1C2226"/>
                </a:solidFill>
                <a:latin typeface="Aptos Display"/>
              </a:rPr>
              <a:t>End-of-Week Checklist</a:t>
            </a:r>
          </a:p>
        </p:txBody>
      </p:sp>
      <p:sp>
        <p:nvSpPr>
          <p:cNvPr id="7" name="TextBox 6"/>
          <p:cNvSpPr txBox="1"/>
          <p:nvPr/>
        </p:nvSpPr>
        <p:spPr>
          <a:xfrm>
            <a:off x="658368" y="1353312"/>
            <a:ext cx="9326880" cy="347472"/>
          </a:xfrm>
          <a:prstGeom prst="rect">
            <a:avLst/>
          </a:prstGeom>
          <a:noFill/>
        </p:spPr>
        <p:txBody>
          <a:bodyPr wrap="square" anchor="t">
            <a:normAutofit/>
          </a:bodyPr>
          <a:lstStyle/>
          <a:p>
            <a:pPr algn="l"/>
            <a:r>
              <a:rPr sz="1400" b="0">
                <a:solidFill>
                  <a:srgbClr val="535C62"/>
                </a:solidFill>
                <a:latin typeface="Aptos"/>
              </a:rPr>
              <a:t>Students should leave with project evidence, not just intentions.</a:t>
            </a:r>
          </a:p>
        </p:txBody>
      </p:sp>
      <p:sp>
        <p:nvSpPr>
          <p:cNvPr id="8" name="TextBox 7"/>
          <p:cNvSpPr txBox="1"/>
          <p:nvPr/>
        </p:nvSpPr>
        <p:spPr>
          <a:xfrm>
            <a:off x="960120" y="1874519"/>
            <a:ext cx="10241280" cy="3611880"/>
          </a:xfrm>
          <a:prstGeom prst="rect">
            <a:avLst/>
          </a:prstGeom>
          <a:noFill/>
        </p:spPr>
        <p:txBody>
          <a:bodyPr wrap="square">
            <a:normAutofit/>
          </a:bodyPr>
          <a:lstStyle/>
          <a:p>
            <a:pPr>
              <a:spcAft>
                <a:spcPts val="500"/>
              </a:spcAft>
              <a:defRPr sz="1800">
                <a:solidFill>
                  <a:srgbClr val="1C2226"/>
                </a:solidFill>
                <a:latin typeface="Aptos"/>
              </a:defRPr>
            </a:pPr>
            <a:r>
              <a:t>I have a small project scope.</a:t>
            </a:r>
          </a:p>
          <a:p>
            <a:pPr>
              <a:spcAft>
                <a:spcPts val="500"/>
              </a:spcAft>
              <a:defRPr sz="1800">
                <a:solidFill>
                  <a:srgbClr val="1C2226"/>
                </a:solidFill>
                <a:latin typeface="Aptos"/>
              </a:defRPr>
            </a:pPr>
            <a:r>
              <a:t>I have a data model draft.</a:t>
            </a:r>
          </a:p>
          <a:p>
            <a:pPr>
              <a:spcAft>
                <a:spcPts val="500"/>
              </a:spcAft>
              <a:defRPr sz="1800">
                <a:solidFill>
                  <a:srgbClr val="1C2226"/>
                </a:solidFill>
                <a:latin typeface="Aptos"/>
              </a:defRPr>
            </a:pPr>
            <a:r>
              <a:t>I have or can create seed data.</a:t>
            </a:r>
          </a:p>
          <a:p>
            <a:pPr>
              <a:spcAft>
                <a:spcPts val="500"/>
              </a:spcAft>
              <a:defRPr sz="1800">
                <a:solidFill>
                  <a:srgbClr val="1C2226"/>
                </a:solidFill>
                <a:latin typeface="Aptos"/>
              </a:defRPr>
            </a:pPr>
            <a:r>
              <a:t>I wrote four useful project questions.</a:t>
            </a:r>
          </a:p>
          <a:p>
            <a:pPr>
              <a:spcAft>
                <a:spcPts val="500"/>
              </a:spcAft>
              <a:defRPr sz="1800">
                <a:solidFill>
                  <a:srgbClr val="1C2226"/>
                </a:solidFill>
                <a:latin typeface="Aptos"/>
              </a:defRPr>
            </a:pPr>
            <a:r>
              <a:t>I drafted SQL or MQL for those questions.</a:t>
            </a:r>
          </a:p>
          <a:p>
            <a:pPr>
              <a:spcAft>
                <a:spcPts val="500"/>
              </a:spcAft>
              <a:defRPr sz="1800">
                <a:solidFill>
                  <a:srgbClr val="1C2226"/>
                </a:solidFill>
                <a:latin typeface="Aptos"/>
              </a:defRPr>
            </a:pPr>
            <a:r>
              <a:t>I chose one index and explained why.</a:t>
            </a:r>
          </a:p>
          <a:p>
            <a:pPr>
              <a:spcAft>
                <a:spcPts val="500"/>
              </a:spcAft>
              <a:defRPr sz="1800">
                <a:solidFill>
                  <a:srgbClr val="1C2226"/>
                </a:solidFill>
                <a:latin typeface="Aptos"/>
              </a:defRPr>
            </a:pPr>
            <a:r>
              <a:t>I know my next build step.</a:t>
            </a:r>
          </a:p>
        </p:txBody>
      </p:sp>
      <p:sp>
        <p:nvSpPr>
          <p:cNvPr id="9" name="TextBox 8"/>
          <p:cNvSpPr txBox="1"/>
          <p:nvPr/>
        </p:nvSpPr>
        <p:spPr>
          <a:xfrm>
            <a:off x="658368" y="6473952"/>
            <a:ext cx="3200400" cy="201168"/>
          </a:xfrm>
          <a:prstGeom prst="rect">
            <a:avLst/>
          </a:prstGeom>
          <a:noFill/>
        </p:spPr>
        <p:txBody>
          <a:bodyPr wrap="square" anchor="t">
            <a:normAutofit/>
          </a:bodyPr>
          <a:lstStyle/>
          <a:p>
            <a:pPr algn="l"/>
            <a:r>
              <a:rPr sz="850" b="0">
                <a:solidFill>
                  <a:srgbClr val="535C62"/>
                </a:solidFill>
                <a:latin typeface="Aptos"/>
              </a:rPr>
              <a:t>CST4714 | Week 13</a:t>
            </a:r>
          </a:p>
        </p:txBody>
      </p:sp>
      <p:sp>
        <p:nvSpPr>
          <p:cNvPr id="10" name="TextBox 9"/>
          <p:cNvSpPr txBox="1"/>
          <p:nvPr/>
        </p:nvSpPr>
        <p:spPr>
          <a:xfrm>
            <a:off x="11301984" y="6473952"/>
            <a:ext cx="320040" cy="201168"/>
          </a:xfrm>
          <a:prstGeom prst="rect">
            <a:avLst/>
          </a:prstGeom>
          <a:noFill/>
        </p:spPr>
        <p:txBody>
          <a:bodyPr wrap="square" anchor="t">
            <a:normAutofit/>
          </a:bodyPr>
          <a:lstStyle/>
          <a:p>
            <a:pPr algn="r"/>
            <a:r>
              <a:rPr sz="850" b="0">
                <a:solidFill>
                  <a:srgbClr val="535C62"/>
                </a:solidFill>
                <a:latin typeface="Apto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60120" cy="6858000"/>
          </a:xfrm>
          <a:prstGeom prst="rect">
            <a:avLst/>
          </a:prstGeom>
          <a:solidFill>
            <a:srgbClr val="15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 y="0"/>
            <a:ext cx="100584" cy="6858000"/>
          </a:xfrm>
          <a:prstGeom prst="rect">
            <a:avLst/>
          </a:prstGeom>
          <a:solidFill>
            <a:srgbClr val="D799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25880" y="347472"/>
            <a:ext cx="2468880" cy="274320"/>
          </a:xfrm>
          <a:prstGeom prst="rect">
            <a:avLst/>
          </a:prstGeom>
          <a:noFill/>
        </p:spPr>
        <p:txBody>
          <a:bodyPr wrap="none">
            <a:spAutoFit/>
          </a:bodyPr>
          <a:lstStyle/>
          <a:p>
            <a:r>
              <a:rPr sz="1200" b="1">
                <a:solidFill>
                  <a:srgbClr val="157A75"/>
                </a:solidFill>
                <a:latin typeface="Aptos"/>
              </a:rPr>
              <a:t>POST-LAB</a:t>
            </a:r>
          </a:p>
        </p:txBody>
      </p:sp>
      <p:sp>
        <p:nvSpPr>
          <p:cNvPr id="6" name="TextBox 5"/>
          <p:cNvSpPr txBox="1"/>
          <p:nvPr/>
        </p:nvSpPr>
        <p:spPr>
          <a:xfrm>
            <a:off x="1307592" y="658368"/>
            <a:ext cx="7589520" cy="566928"/>
          </a:xfrm>
          <a:prstGeom prst="rect">
            <a:avLst/>
          </a:prstGeom>
          <a:noFill/>
        </p:spPr>
        <p:txBody>
          <a:bodyPr wrap="none">
            <a:spAutoFit/>
          </a:bodyPr>
          <a:lstStyle/>
          <a:p>
            <a:r>
              <a:rPr sz="3400" b="1">
                <a:solidFill>
                  <a:srgbClr val="182430"/>
                </a:solidFill>
                <a:latin typeface="Aptos"/>
              </a:rPr>
              <a:t>Indexing After Aggregation</a:t>
            </a:r>
          </a:p>
        </p:txBody>
      </p:sp>
      <p:sp>
        <p:nvSpPr>
          <p:cNvPr id="7" name="TextBox 6"/>
          <p:cNvSpPr txBox="1"/>
          <p:nvPr/>
        </p:nvSpPr>
        <p:spPr>
          <a:xfrm>
            <a:off x="1344168" y="1243584"/>
            <a:ext cx="7955279" cy="438912"/>
          </a:xfrm>
          <a:prstGeom prst="rect">
            <a:avLst/>
          </a:prstGeom>
          <a:noFill/>
        </p:spPr>
        <p:txBody>
          <a:bodyPr wrap="square" lIns="73152" rIns="73152" tIns="36576" bIns="36576">
            <a:spAutoFit/>
          </a:bodyPr>
          <a:lstStyle/>
          <a:p>
            <a:pPr>
              <a:lnSpc>
                <a:spcPct val="105000"/>
              </a:lnSpc>
            </a:pPr>
            <a:r>
              <a:rPr sz="1600" b="0">
                <a:solidFill>
                  <a:srgbClr val="5C656E"/>
                </a:solidFill>
                <a:latin typeface="Aptos"/>
              </a:rPr>
              <a:t>Aggregation shows the question. Indexing supports the repeated question.</a:t>
            </a:r>
          </a:p>
        </p:txBody>
      </p:sp>
      <p:sp>
        <p:nvSpPr>
          <p:cNvPr id="8" name="Rounded Rectangle 7"/>
          <p:cNvSpPr/>
          <p:nvPr/>
        </p:nvSpPr>
        <p:spPr>
          <a:xfrm>
            <a:off x="1298448" y="1901952"/>
            <a:ext cx="5303520" cy="3474720"/>
          </a:xfrm>
          <a:prstGeom prst="roundRect">
            <a:avLst/>
          </a:prstGeom>
          <a:solidFill>
            <a:srgbClr val="FFFFFF"/>
          </a:solidFill>
          <a:ln>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240280"/>
            <a:ext cx="4754880" cy="2743200"/>
          </a:xfrm>
          <a:prstGeom prst="rect">
            <a:avLst/>
          </a:prstGeom>
          <a:noFill/>
        </p:spPr>
        <p:txBody>
          <a:bodyPr wrap="none">
            <a:spAutoFit/>
          </a:bodyPr>
          <a:lstStyle/>
          <a:p>
            <a:pPr>
              <a:spcAft>
                <a:spcPts val="900"/>
              </a:spcAft>
              <a:defRPr sz="2200">
                <a:solidFill>
                  <a:srgbClr val="182430"/>
                </a:solidFill>
                <a:latin typeface="Aptos"/>
              </a:defRPr>
            </a:pPr>
            <a:r>
              <a:t>Start from a real query</a:t>
            </a:r>
          </a:p>
          <a:p>
            <a:pPr>
              <a:spcAft>
                <a:spcPts val="900"/>
              </a:spcAft>
              <a:defRPr sz="2200">
                <a:solidFill>
                  <a:srgbClr val="182430"/>
                </a:solidFill>
                <a:latin typeface="Aptos"/>
              </a:defRPr>
            </a:pPr>
            <a:r>
              <a:t>Look for repeated filters</a:t>
            </a:r>
          </a:p>
          <a:p>
            <a:pPr>
              <a:spcAft>
                <a:spcPts val="900"/>
              </a:spcAft>
              <a:defRPr sz="2200">
                <a:solidFill>
                  <a:srgbClr val="182430"/>
                </a:solidFill>
                <a:latin typeface="Aptos"/>
              </a:defRPr>
            </a:pPr>
            <a:r>
              <a:t>Look for repeated sorts</a:t>
            </a:r>
          </a:p>
          <a:p>
            <a:pPr>
              <a:spcAft>
                <a:spcPts val="900"/>
              </a:spcAft>
              <a:defRPr sz="2200">
                <a:solidFill>
                  <a:srgbClr val="182430"/>
                </a:solidFill>
                <a:latin typeface="Aptos"/>
              </a:defRPr>
            </a:pPr>
            <a:r>
              <a:t>Choose one index to defend</a:t>
            </a:r>
          </a:p>
        </p:txBody>
      </p:sp>
      <p:sp>
        <p:nvSpPr>
          <p:cNvPr id="10" name="Rounded Rectangle 9"/>
          <p:cNvSpPr/>
          <p:nvPr/>
        </p:nvSpPr>
        <p:spPr>
          <a:xfrm>
            <a:off x="6876288" y="1901952"/>
            <a:ext cx="3886200" cy="3474720"/>
          </a:xfrm>
          <a:prstGeom prst="roundRect">
            <a:avLst/>
          </a:prstGeom>
          <a:solidFill>
            <a:srgbClr val="EBF7F5"/>
          </a:solidFill>
          <a:ln>
            <a:solidFill>
              <a:srgbClr val="B8DB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87184" y="2212848"/>
            <a:ext cx="3200400" cy="310896"/>
          </a:xfrm>
          <a:prstGeom prst="rect">
            <a:avLst/>
          </a:prstGeom>
          <a:noFill/>
        </p:spPr>
        <p:txBody>
          <a:bodyPr wrap="none">
            <a:spAutoFit/>
          </a:bodyPr>
          <a:lstStyle/>
          <a:p>
            <a:r>
              <a:rPr sz="1400" b="1">
                <a:solidFill>
                  <a:srgbClr val="157A75"/>
                </a:solidFill>
                <a:latin typeface="Aptos"/>
              </a:rPr>
              <a:t>Today's move</a:t>
            </a:r>
          </a:p>
        </p:txBody>
      </p:sp>
      <p:sp>
        <p:nvSpPr>
          <p:cNvPr id="12" name="TextBox 11"/>
          <p:cNvSpPr txBox="1"/>
          <p:nvPr/>
        </p:nvSpPr>
        <p:spPr>
          <a:xfrm>
            <a:off x="7187184" y="2697480"/>
            <a:ext cx="3154680" cy="2103120"/>
          </a:xfrm>
          <a:prstGeom prst="rect">
            <a:avLst/>
          </a:prstGeom>
          <a:noFill/>
        </p:spPr>
        <p:txBody>
          <a:bodyPr wrap="square" lIns="73152" rIns="73152" tIns="36576" bIns="36576">
            <a:spAutoFit/>
          </a:bodyPr>
          <a:lstStyle/>
          <a:p>
            <a:pPr>
              <a:lnSpc>
                <a:spcPct val="105000"/>
              </a:lnSpc>
            </a:pPr>
            <a:r>
              <a:rPr sz="2100" b="1">
                <a:solidFill>
                  <a:srgbClr val="182430"/>
                </a:solidFill>
                <a:latin typeface="Aptos"/>
              </a:rPr>
              <a:t>Turn one final-project question into one practical index decision.</a:t>
            </a:r>
          </a:p>
        </p:txBody>
      </p:sp>
      <p:sp>
        <p:nvSpPr>
          <p:cNvPr id="13" name="TextBox 12"/>
          <p:cNvSpPr txBox="1"/>
          <p:nvPr/>
        </p:nvSpPr>
        <p:spPr>
          <a:xfrm>
            <a:off x="8823960" y="5815584"/>
            <a:ext cx="1554480" cy="182880"/>
          </a:xfrm>
          <a:prstGeom prst="rect">
            <a:avLst/>
          </a:prstGeom>
          <a:noFill/>
        </p:spPr>
        <p:txBody>
          <a:bodyPr wrap="none">
            <a:spAutoFit/>
          </a:bodyPr>
          <a:lstStyle/>
          <a:p>
            <a:pPr algn="r"/>
            <a:r>
              <a:rPr sz="900" b="0">
                <a:solidFill>
                  <a:srgbClr val="5C656E"/>
                </a:solidFill>
                <a:latin typeface="Aptos"/>
              </a:rPr>
              <a:t>CST4714 | Week 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60120" cy="6858000"/>
          </a:xfrm>
          <a:prstGeom prst="rect">
            <a:avLst/>
          </a:prstGeom>
          <a:solidFill>
            <a:srgbClr val="15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 y="0"/>
            <a:ext cx="100584" cy="6858000"/>
          </a:xfrm>
          <a:prstGeom prst="rect">
            <a:avLst/>
          </a:prstGeom>
          <a:solidFill>
            <a:srgbClr val="D799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25880" y="347472"/>
            <a:ext cx="2468880" cy="274320"/>
          </a:xfrm>
          <a:prstGeom prst="rect">
            <a:avLst/>
          </a:prstGeom>
          <a:noFill/>
        </p:spPr>
        <p:txBody>
          <a:bodyPr wrap="none">
            <a:spAutoFit/>
          </a:bodyPr>
          <a:lstStyle/>
          <a:p>
            <a:r>
              <a:rPr sz="1200" b="1">
                <a:solidFill>
                  <a:srgbClr val="157A75"/>
                </a:solidFill>
                <a:latin typeface="Aptos"/>
              </a:rPr>
              <a:t>QUERY SHAPE</a:t>
            </a:r>
          </a:p>
        </p:txBody>
      </p:sp>
      <p:sp>
        <p:nvSpPr>
          <p:cNvPr id="6" name="TextBox 5"/>
          <p:cNvSpPr txBox="1"/>
          <p:nvPr/>
        </p:nvSpPr>
        <p:spPr>
          <a:xfrm>
            <a:off x="1307592" y="658368"/>
            <a:ext cx="7589520" cy="566928"/>
          </a:xfrm>
          <a:prstGeom prst="rect">
            <a:avLst/>
          </a:prstGeom>
          <a:noFill/>
        </p:spPr>
        <p:txBody>
          <a:bodyPr wrap="none">
            <a:spAutoFit/>
          </a:bodyPr>
          <a:lstStyle/>
          <a:p>
            <a:r>
              <a:rPr sz="3400" b="1">
                <a:solidFill>
                  <a:srgbClr val="182430"/>
                </a:solidFill>
                <a:latin typeface="Aptos"/>
              </a:rPr>
              <a:t>From Pipeline to Index</a:t>
            </a:r>
          </a:p>
        </p:txBody>
      </p:sp>
      <p:sp>
        <p:nvSpPr>
          <p:cNvPr id="7" name="TextBox 6"/>
          <p:cNvSpPr txBox="1"/>
          <p:nvPr/>
        </p:nvSpPr>
        <p:spPr>
          <a:xfrm>
            <a:off x="1344168" y="1243584"/>
            <a:ext cx="7955279" cy="438912"/>
          </a:xfrm>
          <a:prstGeom prst="rect">
            <a:avLst/>
          </a:prstGeom>
          <a:noFill/>
        </p:spPr>
        <p:txBody>
          <a:bodyPr wrap="square" lIns="73152" rIns="73152" tIns="36576" bIns="36576">
            <a:spAutoFit/>
          </a:bodyPr>
          <a:lstStyle/>
          <a:p>
            <a:pPr>
              <a:lnSpc>
                <a:spcPct val="105000"/>
              </a:lnSpc>
            </a:pPr>
            <a:r>
              <a:rPr sz="1600" b="0">
                <a:solidFill>
                  <a:srgbClr val="5C656E"/>
                </a:solidFill>
                <a:latin typeface="Aptos"/>
              </a:rPr>
              <a:t>A pipeline reveals which fields the database touches first.</a:t>
            </a:r>
          </a:p>
        </p:txBody>
      </p:sp>
      <p:sp>
        <p:nvSpPr>
          <p:cNvPr id="8" name="Rounded Rectangle 7"/>
          <p:cNvSpPr/>
          <p:nvPr/>
        </p:nvSpPr>
        <p:spPr>
          <a:xfrm>
            <a:off x="1298448" y="1901952"/>
            <a:ext cx="5303520" cy="3474720"/>
          </a:xfrm>
          <a:prstGeom prst="roundRect">
            <a:avLst/>
          </a:prstGeom>
          <a:solidFill>
            <a:srgbClr val="FFFFFF"/>
          </a:solidFill>
          <a:ln>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240280"/>
            <a:ext cx="4754880" cy="2743200"/>
          </a:xfrm>
          <a:prstGeom prst="rect">
            <a:avLst/>
          </a:prstGeom>
          <a:noFill/>
        </p:spPr>
        <p:txBody>
          <a:bodyPr wrap="none">
            <a:spAutoFit/>
          </a:bodyPr>
          <a:lstStyle/>
          <a:p>
            <a:pPr>
              <a:spcAft>
                <a:spcPts val="900"/>
              </a:spcAft>
              <a:defRPr sz="2200">
                <a:solidFill>
                  <a:srgbClr val="182430"/>
                </a:solidFill>
                <a:latin typeface="Aptos"/>
              </a:defRPr>
            </a:pPr>
            <a:r>
              <a:t>Filter field: what documents should stay</a:t>
            </a:r>
          </a:p>
          <a:p>
            <a:pPr>
              <a:spcAft>
                <a:spcPts val="900"/>
              </a:spcAft>
              <a:defRPr sz="2200">
                <a:solidFill>
                  <a:srgbClr val="182430"/>
                </a:solidFill>
                <a:latin typeface="Aptos"/>
              </a:defRPr>
            </a:pPr>
            <a:r>
              <a:t>Sort field: what order users need</a:t>
            </a:r>
          </a:p>
          <a:p>
            <a:pPr>
              <a:spcAft>
                <a:spcPts val="900"/>
              </a:spcAft>
              <a:defRPr sz="2200">
                <a:solidFill>
                  <a:srgbClr val="182430"/>
                </a:solidFill>
                <a:latin typeface="Aptos"/>
              </a:defRPr>
            </a:pPr>
            <a:r>
              <a:t>Group field: what categories appear</a:t>
            </a:r>
          </a:p>
          <a:p>
            <a:pPr>
              <a:spcAft>
                <a:spcPts val="900"/>
              </a:spcAft>
              <a:defRPr sz="2200">
                <a:solidFill>
                  <a:srgbClr val="182430"/>
                </a:solidFill>
                <a:latin typeface="Aptos"/>
              </a:defRPr>
            </a:pPr>
            <a:r>
              <a:t>Output field: what evidence users see</a:t>
            </a:r>
          </a:p>
        </p:txBody>
      </p:sp>
      <p:sp>
        <p:nvSpPr>
          <p:cNvPr id="10" name="Rounded Rectangle 9"/>
          <p:cNvSpPr/>
          <p:nvPr/>
        </p:nvSpPr>
        <p:spPr>
          <a:xfrm>
            <a:off x="6876288" y="1901952"/>
            <a:ext cx="3886200" cy="3474720"/>
          </a:xfrm>
          <a:prstGeom prst="roundRect">
            <a:avLst/>
          </a:prstGeom>
          <a:solidFill>
            <a:srgbClr val="EBF7F5"/>
          </a:solidFill>
          <a:ln>
            <a:solidFill>
              <a:srgbClr val="B8DB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87184" y="2212848"/>
            <a:ext cx="3200400" cy="310896"/>
          </a:xfrm>
          <a:prstGeom prst="rect">
            <a:avLst/>
          </a:prstGeom>
          <a:noFill/>
        </p:spPr>
        <p:txBody>
          <a:bodyPr wrap="none">
            <a:spAutoFit/>
          </a:bodyPr>
          <a:lstStyle/>
          <a:p>
            <a:r>
              <a:rPr sz="1400" b="1">
                <a:solidFill>
                  <a:srgbClr val="157A75"/>
                </a:solidFill>
                <a:latin typeface="Aptos"/>
              </a:rPr>
              <a:t>Example</a:t>
            </a:r>
          </a:p>
        </p:txBody>
      </p:sp>
      <p:sp>
        <p:nvSpPr>
          <p:cNvPr id="12" name="TextBox 11"/>
          <p:cNvSpPr txBox="1"/>
          <p:nvPr/>
        </p:nvSpPr>
        <p:spPr>
          <a:xfrm>
            <a:off x="7187184" y="2697480"/>
            <a:ext cx="3154680" cy="2103120"/>
          </a:xfrm>
          <a:prstGeom prst="rect">
            <a:avLst/>
          </a:prstGeom>
          <a:noFill/>
        </p:spPr>
        <p:txBody>
          <a:bodyPr wrap="square" lIns="73152" rIns="73152" tIns="36576" bIns="36576">
            <a:spAutoFit/>
          </a:bodyPr>
          <a:lstStyle/>
          <a:p>
            <a:pPr>
              <a:lnSpc>
                <a:spcPct val="105000"/>
              </a:lnSpc>
            </a:pPr>
            <a:r>
              <a:rPr sz="2100" b="1">
                <a:solidFill>
                  <a:srgbClr val="182430"/>
                </a:solidFill>
                <a:latin typeface="Aptos"/>
              </a:rPr>
              <a:t>If the project often filters by vendor and sorts by date, the index decision should mention vendor and date.</a:t>
            </a:r>
          </a:p>
        </p:txBody>
      </p:sp>
      <p:sp>
        <p:nvSpPr>
          <p:cNvPr id="13" name="TextBox 12"/>
          <p:cNvSpPr txBox="1"/>
          <p:nvPr/>
        </p:nvSpPr>
        <p:spPr>
          <a:xfrm>
            <a:off x="8823960" y="5815584"/>
            <a:ext cx="1554480" cy="182880"/>
          </a:xfrm>
          <a:prstGeom prst="rect">
            <a:avLst/>
          </a:prstGeom>
          <a:noFill/>
        </p:spPr>
        <p:txBody>
          <a:bodyPr wrap="none">
            <a:spAutoFit/>
          </a:bodyPr>
          <a:lstStyle/>
          <a:p>
            <a:pPr algn="r"/>
            <a:r>
              <a:rPr sz="900" b="0">
                <a:solidFill>
                  <a:srgbClr val="5C656E"/>
                </a:solidFill>
                <a:latin typeface="Aptos"/>
              </a:rPr>
              <a:t>CST4714 | Week 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60120" cy="6858000"/>
          </a:xfrm>
          <a:prstGeom prst="rect">
            <a:avLst/>
          </a:prstGeom>
          <a:solidFill>
            <a:srgbClr val="15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 y="0"/>
            <a:ext cx="100584" cy="6858000"/>
          </a:xfrm>
          <a:prstGeom prst="rect">
            <a:avLst/>
          </a:prstGeom>
          <a:solidFill>
            <a:srgbClr val="D799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25880" y="347472"/>
            <a:ext cx="2468880" cy="274320"/>
          </a:xfrm>
          <a:prstGeom prst="rect">
            <a:avLst/>
          </a:prstGeom>
          <a:noFill/>
        </p:spPr>
        <p:txBody>
          <a:bodyPr wrap="none">
            <a:spAutoFit/>
          </a:bodyPr>
          <a:lstStyle/>
          <a:p>
            <a:r>
              <a:rPr sz="1200" b="1">
                <a:solidFill>
                  <a:srgbClr val="157A75"/>
                </a:solidFill>
                <a:latin typeface="Aptos"/>
              </a:rPr>
              <a:t>BEGINNER RULE</a:t>
            </a:r>
          </a:p>
        </p:txBody>
      </p:sp>
      <p:sp>
        <p:nvSpPr>
          <p:cNvPr id="6" name="TextBox 5"/>
          <p:cNvSpPr txBox="1"/>
          <p:nvPr/>
        </p:nvSpPr>
        <p:spPr>
          <a:xfrm>
            <a:off x="1307592" y="658368"/>
            <a:ext cx="7589520" cy="566928"/>
          </a:xfrm>
          <a:prstGeom prst="rect">
            <a:avLst/>
          </a:prstGeom>
          <a:noFill/>
        </p:spPr>
        <p:txBody>
          <a:bodyPr wrap="none">
            <a:spAutoFit/>
          </a:bodyPr>
          <a:lstStyle/>
          <a:p>
            <a:r>
              <a:rPr sz="3400" b="1">
                <a:solidFill>
                  <a:srgbClr val="182430"/>
                </a:solidFill>
                <a:latin typeface="Aptos"/>
              </a:rPr>
              <a:t>One Useful Compound Index</a:t>
            </a:r>
          </a:p>
        </p:txBody>
      </p:sp>
      <p:sp>
        <p:nvSpPr>
          <p:cNvPr id="7" name="TextBox 6"/>
          <p:cNvSpPr txBox="1"/>
          <p:nvPr/>
        </p:nvSpPr>
        <p:spPr>
          <a:xfrm>
            <a:off x="1344168" y="1243584"/>
            <a:ext cx="7955279" cy="438912"/>
          </a:xfrm>
          <a:prstGeom prst="rect">
            <a:avLst/>
          </a:prstGeom>
          <a:noFill/>
        </p:spPr>
        <p:txBody>
          <a:bodyPr wrap="square" lIns="73152" rIns="73152" tIns="36576" bIns="36576">
            <a:spAutoFit/>
          </a:bodyPr>
          <a:lstStyle/>
          <a:p>
            <a:pPr>
              <a:lnSpc>
                <a:spcPct val="105000"/>
              </a:lnSpc>
            </a:pPr>
            <a:r>
              <a:rPr sz="1600" b="0">
                <a:solidFill>
                  <a:srgbClr val="5C656E"/>
                </a:solidFill>
                <a:latin typeface="Aptos"/>
              </a:rPr>
              <a:t>For many beginner projects, one defended compound index is enough.</a:t>
            </a:r>
          </a:p>
        </p:txBody>
      </p:sp>
      <p:sp>
        <p:nvSpPr>
          <p:cNvPr id="8" name="Rounded Rectangle 7"/>
          <p:cNvSpPr/>
          <p:nvPr/>
        </p:nvSpPr>
        <p:spPr>
          <a:xfrm>
            <a:off x="1298448" y="1901952"/>
            <a:ext cx="5303520" cy="3474720"/>
          </a:xfrm>
          <a:prstGeom prst="roundRect">
            <a:avLst/>
          </a:prstGeom>
          <a:solidFill>
            <a:srgbClr val="FFFFFF"/>
          </a:solidFill>
          <a:ln>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240280"/>
            <a:ext cx="4754880" cy="2743200"/>
          </a:xfrm>
          <a:prstGeom prst="rect">
            <a:avLst/>
          </a:prstGeom>
          <a:noFill/>
        </p:spPr>
        <p:txBody>
          <a:bodyPr wrap="none">
            <a:spAutoFit/>
          </a:bodyPr>
          <a:lstStyle/>
          <a:p>
            <a:pPr>
              <a:spcAft>
                <a:spcPts val="900"/>
              </a:spcAft>
              <a:defRPr sz="2200">
                <a:solidFill>
                  <a:srgbClr val="182430"/>
                </a:solidFill>
                <a:latin typeface="Aptos"/>
              </a:defRPr>
            </a:pPr>
            <a:r>
              <a:t>Equality fields first</a:t>
            </a:r>
          </a:p>
          <a:p>
            <a:pPr>
              <a:spcAft>
                <a:spcPts val="900"/>
              </a:spcAft>
              <a:defRPr sz="2200">
                <a:solidFill>
                  <a:srgbClr val="182430"/>
                </a:solidFill>
                <a:latin typeface="Aptos"/>
              </a:defRPr>
            </a:pPr>
            <a:r>
              <a:t>Sort fields next</a:t>
            </a:r>
          </a:p>
          <a:p>
            <a:pPr>
              <a:spcAft>
                <a:spcPts val="900"/>
              </a:spcAft>
              <a:defRPr sz="2200">
                <a:solidFill>
                  <a:srgbClr val="182430"/>
                </a:solidFill>
                <a:latin typeface="Aptos"/>
              </a:defRPr>
            </a:pPr>
            <a:r>
              <a:t>Range fields after that</a:t>
            </a:r>
          </a:p>
          <a:p>
            <a:pPr>
              <a:spcAft>
                <a:spcPts val="900"/>
              </a:spcAft>
              <a:defRPr sz="2200">
                <a:solidFill>
                  <a:srgbClr val="182430"/>
                </a:solidFill>
                <a:latin typeface="Aptos"/>
              </a:defRPr>
            </a:pPr>
            <a:r>
              <a:t>Only include fields the query really uses</a:t>
            </a:r>
          </a:p>
        </p:txBody>
      </p:sp>
      <p:sp>
        <p:nvSpPr>
          <p:cNvPr id="10" name="Rounded Rectangle 9"/>
          <p:cNvSpPr/>
          <p:nvPr/>
        </p:nvSpPr>
        <p:spPr>
          <a:xfrm>
            <a:off x="6876288" y="1901952"/>
            <a:ext cx="3886200" cy="3474720"/>
          </a:xfrm>
          <a:prstGeom prst="roundRect">
            <a:avLst/>
          </a:prstGeom>
          <a:solidFill>
            <a:srgbClr val="EBF7F5"/>
          </a:solidFill>
          <a:ln>
            <a:solidFill>
              <a:srgbClr val="B8DB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87184" y="2212848"/>
            <a:ext cx="3200400" cy="310896"/>
          </a:xfrm>
          <a:prstGeom prst="rect">
            <a:avLst/>
          </a:prstGeom>
          <a:noFill/>
        </p:spPr>
        <p:txBody>
          <a:bodyPr wrap="none">
            <a:spAutoFit/>
          </a:bodyPr>
          <a:lstStyle/>
          <a:p>
            <a:r>
              <a:rPr sz="1400" b="1">
                <a:solidFill>
                  <a:srgbClr val="157A75"/>
                </a:solidFill>
                <a:latin typeface="Aptos"/>
              </a:rPr>
              <a:t>MongoDB shape</a:t>
            </a:r>
          </a:p>
        </p:txBody>
      </p:sp>
      <p:sp>
        <p:nvSpPr>
          <p:cNvPr id="12" name="TextBox 11"/>
          <p:cNvSpPr txBox="1"/>
          <p:nvPr/>
        </p:nvSpPr>
        <p:spPr>
          <a:xfrm>
            <a:off x="7187184" y="2697480"/>
            <a:ext cx="3154680" cy="2103120"/>
          </a:xfrm>
          <a:prstGeom prst="rect">
            <a:avLst/>
          </a:prstGeom>
          <a:noFill/>
        </p:spPr>
        <p:txBody>
          <a:bodyPr wrap="square" lIns="73152" rIns="73152" tIns="36576" bIns="36576">
            <a:spAutoFit/>
          </a:bodyPr>
          <a:lstStyle/>
          <a:p>
            <a:pPr>
              <a:lnSpc>
                <a:spcPct val="105000"/>
              </a:lnSpc>
            </a:pPr>
            <a:r>
              <a:rPr sz="2100" b="1">
                <a:solidFill>
                  <a:srgbClr val="182430"/>
                </a:solidFill>
                <a:latin typeface="Aptos"/>
              </a:rPr>
              <a:t>db.collection.createIndex({ status: 1, date_added: -1 })</a:t>
            </a:r>
          </a:p>
        </p:txBody>
      </p:sp>
      <p:sp>
        <p:nvSpPr>
          <p:cNvPr id="13" name="TextBox 12"/>
          <p:cNvSpPr txBox="1"/>
          <p:nvPr/>
        </p:nvSpPr>
        <p:spPr>
          <a:xfrm>
            <a:off x="8823960" y="5815584"/>
            <a:ext cx="1554480" cy="182880"/>
          </a:xfrm>
          <a:prstGeom prst="rect">
            <a:avLst/>
          </a:prstGeom>
          <a:noFill/>
        </p:spPr>
        <p:txBody>
          <a:bodyPr wrap="none">
            <a:spAutoFit/>
          </a:bodyPr>
          <a:lstStyle/>
          <a:p>
            <a:pPr algn="r"/>
            <a:r>
              <a:rPr sz="900" b="0">
                <a:solidFill>
                  <a:srgbClr val="5C656E"/>
                </a:solidFill>
                <a:latin typeface="Aptos"/>
              </a:rPr>
              <a:t>CST4714 | Week 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60120" cy="6858000"/>
          </a:xfrm>
          <a:prstGeom prst="rect">
            <a:avLst/>
          </a:prstGeom>
          <a:solidFill>
            <a:srgbClr val="15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 y="0"/>
            <a:ext cx="100584" cy="6858000"/>
          </a:xfrm>
          <a:prstGeom prst="rect">
            <a:avLst/>
          </a:prstGeom>
          <a:solidFill>
            <a:srgbClr val="D799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25880" y="347472"/>
            <a:ext cx="2468880" cy="274320"/>
          </a:xfrm>
          <a:prstGeom prst="rect">
            <a:avLst/>
          </a:prstGeom>
          <a:noFill/>
        </p:spPr>
        <p:txBody>
          <a:bodyPr wrap="none">
            <a:spAutoFit/>
          </a:bodyPr>
          <a:lstStyle/>
          <a:p>
            <a:r>
              <a:rPr sz="1200" b="1">
                <a:solidFill>
                  <a:srgbClr val="157A75"/>
                </a:solidFill>
                <a:latin typeface="Aptos"/>
              </a:rPr>
              <a:t>EVIDENCE</a:t>
            </a:r>
          </a:p>
        </p:txBody>
      </p:sp>
      <p:sp>
        <p:nvSpPr>
          <p:cNvPr id="6" name="TextBox 5"/>
          <p:cNvSpPr txBox="1"/>
          <p:nvPr/>
        </p:nvSpPr>
        <p:spPr>
          <a:xfrm>
            <a:off x="1307592" y="658368"/>
            <a:ext cx="7589520" cy="566928"/>
          </a:xfrm>
          <a:prstGeom prst="rect">
            <a:avLst/>
          </a:prstGeom>
          <a:noFill/>
        </p:spPr>
        <p:txBody>
          <a:bodyPr wrap="none">
            <a:spAutoFit/>
          </a:bodyPr>
          <a:lstStyle/>
          <a:p>
            <a:r>
              <a:rPr sz="3400" b="1">
                <a:solidFill>
                  <a:srgbClr val="182430"/>
                </a:solidFill>
                <a:latin typeface="Aptos"/>
              </a:rPr>
              <a:t>Prove the Index Is Connected</a:t>
            </a:r>
          </a:p>
        </p:txBody>
      </p:sp>
      <p:sp>
        <p:nvSpPr>
          <p:cNvPr id="7" name="TextBox 6"/>
          <p:cNvSpPr txBox="1"/>
          <p:nvPr/>
        </p:nvSpPr>
        <p:spPr>
          <a:xfrm>
            <a:off x="1344168" y="1243584"/>
            <a:ext cx="7955279" cy="438912"/>
          </a:xfrm>
          <a:prstGeom prst="rect">
            <a:avLst/>
          </a:prstGeom>
          <a:noFill/>
        </p:spPr>
        <p:txBody>
          <a:bodyPr wrap="square" lIns="73152" rIns="73152" tIns="36576" bIns="36576">
            <a:spAutoFit/>
          </a:bodyPr>
          <a:lstStyle/>
          <a:p>
            <a:pPr>
              <a:lnSpc>
                <a:spcPct val="105000"/>
              </a:lnSpc>
            </a:pPr>
            <a:r>
              <a:rPr sz="1600" b="0">
                <a:solidFill>
                  <a:srgbClr val="5C656E"/>
                </a:solidFill>
                <a:latin typeface="Aptos"/>
              </a:rPr>
              <a:t>A screenshot is weaker than a clear explanation.</a:t>
            </a:r>
          </a:p>
        </p:txBody>
      </p:sp>
      <p:sp>
        <p:nvSpPr>
          <p:cNvPr id="8" name="Rounded Rectangle 7"/>
          <p:cNvSpPr/>
          <p:nvPr/>
        </p:nvSpPr>
        <p:spPr>
          <a:xfrm>
            <a:off x="1298448" y="1901952"/>
            <a:ext cx="5303520" cy="3474720"/>
          </a:xfrm>
          <a:prstGeom prst="roundRect">
            <a:avLst/>
          </a:prstGeom>
          <a:solidFill>
            <a:srgbClr val="FFFFFF"/>
          </a:solidFill>
          <a:ln>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240280"/>
            <a:ext cx="4754880" cy="2743200"/>
          </a:xfrm>
          <a:prstGeom prst="rect">
            <a:avLst/>
          </a:prstGeom>
          <a:noFill/>
        </p:spPr>
        <p:txBody>
          <a:bodyPr wrap="none">
            <a:spAutoFit/>
          </a:bodyPr>
          <a:lstStyle/>
          <a:p>
            <a:pPr>
              <a:spcAft>
                <a:spcPts val="900"/>
              </a:spcAft>
              <a:defRPr sz="2200">
                <a:solidFill>
                  <a:srgbClr val="182430"/>
                </a:solidFill>
                <a:latin typeface="Aptos"/>
              </a:defRPr>
            </a:pPr>
            <a:r>
              <a:t>Name the query</a:t>
            </a:r>
          </a:p>
          <a:p>
            <a:pPr>
              <a:spcAft>
                <a:spcPts val="900"/>
              </a:spcAft>
              <a:defRPr sz="2200">
                <a:solidFill>
                  <a:srgbClr val="182430"/>
                </a:solidFill>
                <a:latin typeface="Aptos"/>
              </a:defRPr>
            </a:pPr>
            <a:r>
              <a:t>Name the indexed field or fields</a:t>
            </a:r>
          </a:p>
          <a:p>
            <a:pPr>
              <a:spcAft>
                <a:spcPts val="900"/>
              </a:spcAft>
              <a:defRPr sz="2200">
                <a:solidFill>
                  <a:srgbClr val="182430"/>
                </a:solidFill>
                <a:latin typeface="Aptos"/>
              </a:defRPr>
            </a:pPr>
            <a:r>
              <a:t>Explain why reads improve</a:t>
            </a:r>
          </a:p>
          <a:p>
            <a:pPr>
              <a:spcAft>
                <a:spcPts val="900"/>
              </a:spcAft>
              <a:defRPr sz="2200">
                <a:solidFill>
                  <a:srgbClr val="182430"/>
                </a:solidFill>
                <a:latin typeface="Aptos"/>
              </a:defRPr>
            </a:pPr>
            <a:r>
              <a:t>Explain the write or storage cost</a:t>
            </a:r>
          </a:p>
        </p:txBody>
      </p:sp>
      <p:sp>
        <p:nvSpPr>
          <p:cNvPr id="10" name="Rounded Rectangle 9"/>
          <p:cNvSpPr/>
          <p:nvPr/>
        </p:nvSpPr>
        <p:spPr>
          <a:xfrm>
            <a:off x="6876288" y="1901952"/>
            <a:ext cx="3886200" cy="3474720"/>
          </a:xfrm>
          <a:prstGeom prst="roundRect">
            <a:avLst/>
          </a:prstGeom>
          <a:solidFill>
            <a:srgbClr val="EBF7F5"/>
          </a:solidFill>
          <a:ln>
            <a:solidFill>
              <a:srgbClr val="B8DB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87184" y="2212848"/>
            <a:ext cx="3200400" cy="310896"/>
          </a:xfrm>
          <a:prstGeom prst="rect">
            <a:avLst/>
          </a:prstGeom>
          <a:noFill/>
        </p:spPr>
        <p:txBody>
          <a:bodyPr wrap="none">
            <a:spAutoFit/>
          </a:bodyPr>
          <a:lstStyle/>
          <a:p>
            <a:r>
              <a:rPr sz="1400" b="1">
                <a:solidFill>
                  <a:srgbClr val="157A75"/>
                </a:solidFill>
                <a:latin typeface="Aptos"/>
              </a:rPr>
              <a:t>Strong sentence</a:t>
            </a:r>
          </a:p>
        </p:txBody>
      </p:sp>
      <p:sp>
        <p:nvSpPr>
          <p:cNvPr id="12" name="TextBox 11"/>
          <p:cNvSpPr txBox="1"/>
          <p:nvPr/>
        </p:nvSpPr>
        <p:spPr>
          <a:xfrm>
            <a:off x="7187184" y="2697480"/>
            <a:ext cx="3154680" cy="2103120"/>
          </a:xfrm>
          <a:prstGeom prst="rect">
            <a:avLst/>
          </a:prstGeom>
          <a:noFill/>
        </p:spPr>
        <p:txBody>
          <a:bodyPr wrap="square" lIns="73152" rIns="73152" tIns="36576" bIns="36576">
            <a:spAutoFit/>
          </a:bodyPr>
          <a:lstStyle/>
          <a:p>
            <a:pPr>
              <a:lnSpc>
                <a:spcPct val="105000"/>
              </a:lnSpc>
            </a:pPr>
            <a:r>
              <a:rPr sz="2100" b="1">
                <a:solidFill>
                  <a:srgbClr val="182430"/>
                </a:solidFill>
                <a:latin typeface="Aptos"/>
              </a:rPr>
              <a:t>I chose this index because users repeatedly filter by status and sort by created date.</a:t>
            </a:r>
          </a:p>
        </p:txBody>
      </p:sp>
      <p:sp>
        <p:nvSpPr>
          <p:cNvPr id="13" name="TextBox 12"/>
          <p:cNvSpPr txBox="1"/>
          <p:nvPr/>
        </p:nvSpPr>
        <p:spPr>
          <a:xfrm>
            <a:off x="8823960" y="5815584"/>
            <a:ext cx="1554480" cy="182880"/>
          </a:xfrm>
          <a:prstGeom prst="rect">
            <a:avLst/>
          </a:prstGeom>
          <a:noFill/>
        </p:spPr>
        <p:txBody>
          <a:bodyPr wrap="none">
            <a:spAutoFit/>
          </a:bodyPr>
          <a:lstStyle/>
          <a:p>
            <a:pPr algn="r"/>
            <a:r>
              <a:rPr sz="900" b="0">
                <a:solidFill>
                  <a:srgbClr val="5C656E"/>
                </a:solidFill>
                <a:latin typeface="Aptos"/>
              </a:rPr>
              <a:t>CST4714 | Week 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60120" cy="6858000"/>
          </a:xfrm>
          <a:prstGeom prst="rect">
            <a:avLst/>
          </a:prstGeom>
          <a:solidFill>
            <a:srgbClr val="15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 y="0"/>
            <a:ext cx="100584" cy="6858000"/>
          </a:xfrm>
          <a:prstGeom prst="rect">
            <a:avLst/>
          </a:prstGeom>
          <a:solidFill>
            <a:srgbClr val="D799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25880" y="347472"/>
            <a:ext cx="2468880" cy="274320"/>
          </a:xfrm>
          <a:prstGeom prst="rect">
            <a:avLst/>
          </a:prstGeom>
          <a:noFill/>
        </p:spPr>
        <p:txBody>
          <a:bodyPr wrap="none">
            <a:spAutoFit/>
          </a:bodyPr>
          <a:lstStyle/>
          <a:p>
            <a:r>
              <a:rPr sz="1200" b="1">
                <a:solidFill>
                  <a:srgbClr val="157A75"/>
                </a:solidFill>
                <a:latin typeface="Aptos"/>
              </a:rPr>
              <a:t>CROSS-PLATFORM</a:t>
            </a:r>
          </a:p>
        </p:txBody>
      </p:sp>
      <p:sp>
        <p:nvSpPr>
          <p:cNvPr id="6" name="TextBox 5"/>
          <p:cNvSpPr txBox="1"/>
          <p:nvPr/>
        </p:nvSpPr>
        <p:spPr>
          <a:xfrm>
            <a:off x="1307592" y="658368"/>
            <a:ext cx="7589520" cy="566928"/>
          </a:xfrm>
          <a:prstGeom prst="rect">
            <a:avLst/>
          </a:prstGeom>
          <a:noFill/>
        </p:spPr>
        <p:txBody>
          <a:bodyPr wrap="none">
            <a:spAutoFit/>
          </a:bodyPr>
          <a:lstStyle/>
          <a:p>
            <a:r>
              <a:rPr sz="3400" b="1">
                <a:solidFill>
                  <a:srgbClr val="182430"/>
                </a:solidFill>
                <a:latin typeface="Aptos"/>
              </a:rPr>
              <a:t>MongoDB and Postgres Have the Same Tradeoff</a:t>
            </a:r>
          </a:p>
        </p:txBody>
      </p:sp>
      <p:sp>
        <p:nvSpPr>
          <p:cNvPr id="7" name="TextBox 6"/>
          <p:cNvSpPr txBox="1"/>
          <p:nvPr/>
        </p:nvSpPr>
        <p:spPr>
          <a:xfrm>
            <a:off x="1344168" y="1243584"/>
            <a:ext cx="7955279" cy="438912"/>
          </a:xfrm>
          <a:prstGeom prst="rect">
            <a:avLst/>
          </a:prstGeom>
          <a:noFill/>
        </p:spPr>
        <p:txBody>
          <a:bodyPr wrap="square" lIns="73152" rIns="73152" tIns="36576" bIns="36576">
            <a:spAutoFit/>
          </a:bodyPr>
          <a:lstStyle/>
          <a:p>
            <a:pPr>
              <a:lnSpc>
                <a:spcPct val="105000"/>
              </a:lnSpc>
            </a:pPr>
            <a:r>
              <a:rPr sz="1600" b="0">
                <a:solidFill>
                  <a:srgbClr val="5C656E"/>
                </a:solidFill>
                <a:latin typeface="Aptos"/>
              </a:rPr>
              <a:t>Different syntax, same administration judgment.</a:t>
            </a:r>
          </a:p>
        </p:txBody>
      </p:sp>
      <p:sp>
        <p:nvSpPr>
          <p:cNvPr id="8" name="Rounded Rectangle 7"/>
          <p:cNvSpPr/>
          <p:nvPr/>
        </p:nvSpPr>
        <p:spPr>
          <a:xfrm>
            <a:off x="1298448" y="1901952"/>
            <a:ext cx="5303520" cy="3474720"/>
          </a:xfrm>
          <a:prstGeom prst="roundRect">
            <a:avLst/>
          </a:prstGeom>
          <a:solidFill>
            <a:srgbClr val="FFFFFF"/>
          </a:solidFill>
          <a:ln>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240280"/>
            <a:ext cx="4754880" cy="2743200"/>
          </a:xfrm>
          <a:prstGeom prst="rect">
            <a:avLst/>
          </a:prstGeom>
          <a:noFill/>
        </p:spPr>
        <p:txBody>
          <a:bodyPr wrap="none">
            <a:spAutoFit/>
          </a:bodyPr>
          <a:lstStyle/>
          <a:p>
            <a:pPr>
              <a:spcAft>
                <a:spcPts val="900"/>
              </a:spcAft>
              <a:defRPr sz="2200">
                <a:solidFill>
                  <a:srgbClr val="182430"/>
                </a:solidFill>
                <a:latin typeface="Aptos"/>
              </a:defRPr>
            </a:pPr>
            <a:r>
              <a:t>MongoDB: createIndex on fields used by MQL or pipeline stages</a:t>
            </a:r>
          </a:p>
          <a:p>
            <a:pPr>
              <a:spcAft>
                <a:spcPts val="900"/>
              </a:spcAft>
              <a:defRPr sz="2200">
                <a:solidFill>
                  <a:srgbClr val="182430"/>
                </a:solidFill>
                <a:latin typeface="Aptos"/>
              </a:defRPr>
            </a:pPr>
            <a:r>
              <a:t>Postgres: CREATE INDEX on columns used by SQL filters or sorts</a:t>
            </a:r>
          </a:p>
          <a:p>
            <a:pPr>
              <a:spcAft>
                <a:spcPts val="900"/>
              </a:spcAft>
              <a:defRPr sz="2200">
                <a:solidFill>
                  <a:srgbClr val="182430"/>
                </a:solidFill>
                <a:latin typeface="Aptos"/>
              </a:defRPr>
            </a:pPr>
            <a:r>
              <a:t>Both: indexes support reads but cost storage and write work</a:t>
            </a:r>
          </a:p>
        </p:txBody>
      </p:sp>
      <p:sp>
        <p:nvSpPr>
          <p:cNvPr id="10" name="Rounded Rectangle 9"/>
          <p:cNvSpPr/>
          <p:nvPr/>
        </p:nvSpPr>
        <p:spPr>
          <a:xfrm>
            <a:off x="6876288" y="1901952"/>
            <a:ext cx="3886200" cy="3474720"/>
          </a:xfrm>
          <a:prstGeom prst="roundRect">
            <a:avLst/>
          </a:prstGeom>
          <a:solidFill>
            <a:srgbClr val="EBF7F5"/>
          </a:solidFill>
          <a:ln>
            <a:solidFill>
              <a:srgbClr val="B8DB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87184" y="2212848"/>
            <a:ext cx="3200400" cy="310896"/>
          </a:xfrm>
          <a:prstGeom prst="rect">
            <a:avLst/>
          </a:prstGeom>
          <a:noFill/>
        </p:spPr>
        <p:txBody>
          <a:bodyPr wrap="none">
            <a:spAutoFit/>
          </a:bodyPr>
          <a:lstStyle/>
          <a:p>
            <a:r>
              <a:rPr sz="1400" b="1">
                <a:solidFill>
                  <a:srgbClr val="157A75"/>
                </a:solidFill>
                <a:latin typeface="Aptos"/>
              </a:rPr>
              <a:t>Project logic</a:t>
            </a:r>
          </a:p>
        </p:txBody>
      </p:sp>
      <p:sp>
        <p:nvSpPr>
          <p:cNvPr id="12" name="TextBox 11"/>
          <p:cNvSpPr txBox="1"/>
          <p:nvPr/>
        </p:nvSpPr>
        <p:spPr>
          <a:xfrm>
            <a:off x="7187184" y="2697480"/>
            <a:ext cx="3154680" cy="2103120"/>
          </a:xfrm>
          <a:prstGeom prst="rect">
            <a:avLst/>
          </a:prstGeom>
          <a:noFill/>
        </p:spPr>
        <p:txBody>
          <a:bodyPr wrap="square" lIns="73152" rIns="73152" tIns="36576" bIns="36576">
            <a:spAutoFit/>
          </a:bodyPr>
          <a:lstStyle/>
          <a:p>
            <a:pPr>
              <a:lnSpc>
                <a:spcPct val="105000"/>
              </a:lnSpc>
            </a:pPr>
            <a:r>
              <a:rPr sz="2100" b="1">
                <a:solidFill>
                  <a:srgbClr val="182430"/>
                </a:solidFill>
                <a:latin typeface="Aptos"/>
              </a:rPr>
              <a:t>Students can use Atlas, Supabase, or both. The index must still support a real workload.</a:t>
            </a:r>
          </a:p>
        </p:txBody>
      </p:sp>
      <p:sp>
        <p:nvSpPr>
          <p:cNvPr id="13" name="TextBox 12"/>
          <p:cNvSpPr txBox="1"/>
          <p:nvPr/>
        </p:nvSpPr>
        <p:spPr>
          <a:xfrm>
            <a:off x="8823960" y="5815584"/>
            <a:ext cx="1554480" cy="182880"/>
          </a:xfrm>
          <a:prstGeom prst="rect">
            <a:avLst/>
          </a:prstGeom>
          <a:noFill/>
        </p:spPr>
        <p:txBody>
          <a:bodyPr wrap="none">
            <a:spAutoFit/>
          </a:bodyPr>
          <a:lstStyle/>
          <a:p>
            <a:pPr algn="r"/>
            <a:r>
              <a:rPr sz="900" b="0">
                <a:solidFill>
                  <a:srgbClr val="5C656E"/>
                </a:solidFill>
                <a:latin typeface="Aptos"/>
              </a:rPr>
              <a:t>CST4714 | Week 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60120" cy="6858000"/>
          </a:xfrm>
          <a:prstGeom prst="rect">
            <a:avLst/>
          </a:prstGeom>
          <a:solidFill>
            <a:srgbClr val="15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 y="0"/>
            <a:ext cx="100584" cy="6858000"/>
          </a:xfrm>
          <a:prstGeom prst="rect">
            <a:avLst/>
          </a:prstGeom>
          <a:solidFill>
            <a:srgbClr val="D799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25880" y="347472"/>
            <a:ext cx="2468880" cy="274320"/>
          </a:xfrm>
          <a:prstGeom prst="rect">
            <a:avLst/>
          </a:prstGeom>
          <a:noFill/>
        </p:spPr>
        <p:txBody>
          <a:bodyPr wrap="none">
            <a:spAutoFit/>
          </a:bodyPr>
          <a:lstStyle/>
          <a:p>
            <a:r>
              <a:rPr sz="1200" b="1">
                <a:solidFill>
                  <a:srgbClr val="157A75"/>
                </a:solidFill>
                <a:latin typeface="Aptos"/>
              </a:rPr>
              <a:t>WORK BLOCK</a:t>
            </a:r>
          </a:p>
        </p:txBody>
      </p:sp>
      <p:sp>
        <p:nvSpPr>
          <p:cNvPr id="6" name="TextBox 5"/>
          <p:cNvSpPr txBox="1"/>
          <p:nvPr/>
        </p:nvSpPr>
        <p:spPr>
          <a:xfrm>
            <a:off x="1307592" y="658368"/>
            <a:ext cx="7589520" cy="566928"/>
          </a:xfrm>
          <a:prstGeom prst="rect">
            <a:avLst/>
          </a:prstGeom>
          <a:noFill/>
        </p:spPr>
        <p:txBody>
          <a:bodyPr wrap="none">
            <a:spAutoFit/>
          </a:bodyPr>
          <a:lstStyle/>
          <a:p>
            <a:r>
              <a:rPr sz="3400" b="1">
                <a:solidFill>
                  <a:srgbClr val="182430"/>
                </a:solidFill>
                <a:latin typeface="Aptos"/>
              </a:rPr>
              <a:t>Index Decision for Your Final Project</a:t>
            </a:r>
          </a:p>
        </p:txBody>
      </p:sp>
      <p:sp>
        <p:nvSpPr>
          <p:cNvPr id="7" name="TextBox 6"/>
          <p:cNvSpPr txBox="1"/>
          <p:nvPr/>
        </p:nvSpPr>
        <p:spPr>
          <a:xfrm>
            <a:off x="1344168" y="1243584"/>
            <a:ext cx="7955279" cy="438912"/>
          </a:xfrm>
          <a:prstGeom prst="rect">
            <a:avLst/>
          </a:prstGeom>
          <a:noFill/>
        </p:spPr>
        <p:txBody>
          <a:bodyPr wrap="square" lIns="73152" rIns="73152" tIns="36576" bIns="36576">
            <a:spAutoFit/>
          </a:bodyPr>
          <a:lstStyle/>
          <a:p>
            <a:pPr>
              <a:lnSpc>
                <a:spcPct val="105000"/>
              </a:lnSpc>
            </a:pPr>
            <a:r>
              <a:rPr sz="1600" b="0">
                <a:solidFill>
                  <a:srgbClr val="5C656E"/>
                </a:solidFill>
                <a:latin typeface="Aptos"/>
              </a:rPr>
              <a:t>Write one index decision you can reuse in the final submission.</a:t>
            </a:r>
          </a:p>
        </p:txBody>
      </p:sp>
      <p:sp>
        <p:nvSpPr>
          <p:cNvPr id="8" name="Rounded Rectangle 7"/>
          <p:cNvSpPr/>
          <p:nvPr/>
        </p:nvSpPr>
        <p:spPr>
          <a:xfrm>
            <a:off x="1298448" y="1901952"/>
            <a:ext cx="5303520" cy="3474720"/>
          </a:xfrm>
          <a:prstGeom prst="roundRect">
            <a:avLst/>
          </a:prstGeom>
          <a:solidFill>
            <a:srgbClr val="FFFFFF"/>
          </a:solidFill>
          <a:ln>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240280"/>
            <a:ext cx="4754880" cy="2743200"/>
          </a:xfrm>
          <a:prstGeom prst="rect">
            <a:avLst/>
          </a:prstGeom>
          <a:noFill/>
        </p:spPr>
        <p:txBody>
          <a:bodyPr wrap="none">
            <a:spAutoFit/>
          </a:bodyPr>
          <a:lstStyle/>
          <a:p>
            <a:pPr>
              <a:spcAft>
                <a:spcPts val="900"/>
              </a:spcAft>
              <a:defRPr sz="2200">
                <a:solidFill>
                  <a:srgbClr val="182430"/>
                </a:solidFill>
                <a:latin typeface="Aptos"/>
              </a:defRPr>
            </a:pPr>
            <a:r>
              <a:t>Choose one important query</a:t>
            </a:r>
          </a:p>
          <a:p>
            <a:pPr>
              <a:spcAft>
                <a:spcPts val="900"/>
              </a:spcAft>
              <a:defRPr sz="2200">
                <a:solidFill>
                  <a:srgbClr val="182430"/>
                </a:solidFill>
                <a:latin typeface="Aptos"/>
              </a:defRPr>
            </a:pPr>
            <a:r>
              <a:t>Circle the filter and sort fields</a:t>
            </a:r>
          </a:p>
          <a:p>
            <a:pPr>
              <a:spcAft>
                <a:spcPts val="900"/>
              </a:spcAft>
              <a:defRPr sz="2200">
                <a:solidFill>
                  <a:srgbClr val="182430"/>
                </a:solidFill>
                <a:latin typeface="Aptos"/>
              </a:defRPr>
            </a:pPr>
            <a:r>
              <a:t>Pick one index</a:t>
            </a:r>
          </a:p>
          <a:p>
            <a:pPr>
              <a:spcAft>
                <a:spcPts val="900"/>
              </a:spcAft>
              <a:defRPr sz="2200">
                <a:solidFill>
                  <a:srgbClr val="182430"/>
                </a:solidFill>
                <a:latin typeface="Aptos"/>
              </a:defRPr>
            </a:pPr>
            <a:r>
              <a:t>Write the read benefit and the cost</a:t>
            </a:r>
          </a:p>
        </p:txBody>
      </p:sp>
      <p:sp>
        <p:nvSpPr>
          <p:cNvPr id="10" name="Rounded Rectangle 9"/>
          <p:cNvSpPr/>
          <p:nvPr/>
        </p:nvSpPr>
        <p:spPr>
          <a:xfrm>
            <a:off x="6876288" y="1901952"/>
            <a:ext cx="3886200" cy="3474720"/>
          </a:xfrm>
          <a:prstGeom prst="roundRect">
            <a:avLst/>
          </a:prstGeom>
          <a:solidFill>
            <a:srgbClr val="EBF7F5"/>
          </a:solidFill>
          <a:ln>
            <a:solidFill>
              <a:srgbClr val="B8DB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87184" y="2212848"/>
            <a:ext cx="3200400" cy="310896"/>
          </a:xfrm>
          <a:prstGeom prst="rect">
            <a:avLst/>
          </a:prstGeom>
          <a:noFill/>
        </p:spPr>
        <p:txBody>
          <a:bodyPr wrap="none">
            <a:spAutoFit/>
          </a:bodyPr>
          <a:lstStyle/>
          <a:p>
            <a:r>
              <a:rPr sz="1400" b="1">
                <a:solidFill>
                  <a:srgbClr val="157A75"/>
                </a:solidFill>
                <a:latin typeface="Aptos"/>
              </a:rPr>
              <a:t>Deliverable</a:t>
            </a:r>
          </a:p>
        </p:txBody>
      </p:sp>
      <p:sp>
        <p:nvSpPr>
          <p:cNvPr id="12" name="TextBox 11"/>
          <p:cNvSpPr txBox="1"/>
          <p:nvPr/>
        </p:nvSpPr>
        <p:spPr>
          <a:xfrm>
            <a:off x="7187184" y="2697480"/>
            <a:ext cx="3154680" cy="2103120"/>
          </a:xfrm>
          <a:prstGeom prst="rect">
            <a:avLst/>
          </a:prstGeom>
          <a:noFill/>
        </p:spPr>
        <p:txBody>
          <a:bodyPr wrap="square" lIns="73152" rIns="73152" tIns="36576" bIns="36576">
            <a:spAutoFit/>
          </a:bodyPr>
          <a:lstStyle/>
          <a:p>
            <a:pPr>
              <a:lnSpc>
                <a:spcPct val="105000"/>
              </a:lnSpc>
            </a:pPr>
            <a:r>
              <a:rPr sz="2100" b="1">
                <a:solidFill>
                  <a:srgbClr val="182430"/>
                </a:solidFill>
                <a:latin typeface="Aptos"/>
              </a:rPr>
              <a:t>One paragraph in Brightspace. No repo required for this checkpoint.</a:t>
            </a:r>
          </a:p>
        </p:txBody>
      </p:sp>
      <p:sp>
        <p:nvSpPr>
          <p:cNvPr id="13" name="TextBox 12"/>
          <p:cNvSpPr txBox="1"/>
          <p:nvPr/>
        </p:nvSpPr>
        <p:spPr>
          <a:xfrm>
            <a:off x="8823960" y="5815584"/>
            <a:ext cx="1554480" cy="182880"/>
          </a:xfrm>
          <a:prstGeom prst="rect">
            <a:avLst/>
          </a:prstGeom>
          <a:noFill/>
        </p:spPr>
        <p:txBody>
          <a:bodyPr wrap="none">
            <a:spAutoFit/>
          </a:bodyPr>
          <a:lstStyle/>
          <a:p>
            <a:pPr algn="r"/>
            <a:r>
              <a:rPr sz="900" b="0">
                <a:solidFill>
                  <a:srgbClr val="5C656E"/>
                </a:solidFill>
                <a:latin typeface="Aptos"/>
              </a:rPr>
              <a:t>CST4714 | Week 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60120" cy="6858000"/>
          </a:xfrm>
          <a:prstGeom prst="rect">
            <a:avLst/>
          </a:prstGeom>
          <a:solidFill>
            <a:srgbClr val="15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 y="0"/>
            <a:ext cx="100584" cy="6858000"/>
          </a:xfrm>
          <a:prstGeom prst="rect">
            <a:avLst/>
          </a:prstGeom>
          <a:solidFill>
            <a:srgbClr val="D799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25880" y="347472"/>
            <a:ext cx="2468880" cy="274320"/>
          </a:xfrm>
          <a:prstGeom prst="rect">
            <a:avLst/>
          </a:prstGeom>
          <a:noFill/>
        </p:spPr>
        <p:txBody>
          <a:bodyPr wrap="none">
            <a:spAutoFit/>
          </a:bodyPr>
          <a:lstStyle/>
          <a:p>
            <a:r>
              <a:rPr sz="1200" b="1">
                <a:solidFill>
                  <a:srgbClr val="157A75"/>
                </a:solidFill>
                <a:latin typeface="Aptos"/>
              </a:rPr>
              <a:t>OPTIONAL PRACTICE</a:t>
            </a:r>
          </a:p>
        </p:txBody>
      </p:sp>
      <p:sp>
        <p:nvSpPr>
          <p:cNvPr id="6" name="TextBox 5"/>
          <p:cNvSpPr txBox="1"/>
          <p:nvPr/>
        </p:nvSpPr>
        <p:spPr>
          <a:xfrm>
            <a:off x="1307592" y="658368"/>
            <a:ext cx="7589520" cy="566928"/>
          </a:xfrm>
          <a:prstGeom prst="rect">
            <a:avLst/>
          </a:prstGeom>
          <a:noFill/>
        </p:spPr>
        <p:txBody>
          <a:bodyPr wrap="none">
            <a:spAutoFit/>
          </a:bodyPr>
          <a:lstStyle/>
          <a:p>
            <a:r>
              <a:rPr sz="3400" b="1">
                <a:solidFill>
                  <a:srgbClr val="182430"/>
                </a:solidFill>
                <a:latin typeface="Aptos"/>
              </a:rPr>
              <a:t>Best Lab After This</a:t>
            </a:r>
          </a:p>
        </p:txBody>
      </p:sp>
      <p:sp>
        <p:nvSpPr>
          <p:cNvPr id="7" name="TextBox 6"/>
          <p:cNvSpPr txBox="1"/>
          <p:nvPr/>
        </p:nvSpPr>
        <p:spPr>
          <a:xfrm>
            <a:off x="1344168" y="1243584"/>
            <a:ext cx="7955279" cy="438912"/>
          </a:xfrm>
          <a:prstGeom prst="rect">
            <a:avLst/>
          </a:prstGeom>
          <a:noFill/>
        </p:spPr>
        <p:txBody>
          <a:bodyPr wrap="square" lIns="73152" rIns="73152" tIns="36576" bIns="36576">
            <a:spAutoFit/>
          </a:bodyPr>
          <a:lstStyle/>
          <a:p>
            <a:pPr>
              <a:lnSpc>
                <a:spcPct val="105000"/>
              </a:lnSpc>
            </a:pPr>
            <a:r>
              <a:rPr sz="1600" b="0">
                <a:solidFill>
                  <a:srgbClr val="5C656E"/>
                </a:solidFill>
                <a:latin typeface="Aptos"/>
              </a:rPr>
              <a:t>Use this only if students have time after the required work.</a:t>
            </a:r>
          </a:p>
        </p:txBody>
      </p:sp>
      <p:sp>
        <p:nvSpPr>
          <p:cNvPr id="8" name="Rounded Rectangle 7"/>
          <p:cNvSpPr/>
          <p:nvPr/>
        </p:nvSpPr>
        <p:spPr>
          <a:xfrm>
            <a:off x="1298448" y="1901952"/>
            <a:ext cx="5303520" cy="3474720"/>
          </a:xfrm>
          <a:prstGeom prst="roundRect">
            <a:avLst/>
          </a:prstGeom>
          <a:solidFill>
            <a:srgbClr val="FFFFFF"/>
          </a:solidFill>
          <a:ln>
            <a:solidFill>
              <a:srgbClr val="E2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240280"/>
            <a:ext cx="4754880" cy="2743200"/>
          </a:xfrm>
          <a:prstGeom prst="rect">
            <a:avLst/>
          </a:prstGeom>
          <a:noFill/>
        </p:spPr>
        <p:txBody>
          <a:bodyPr wrap="none">
            <a:spAutoFit/>
          </a:bodyPr>
          <a:lstStyle/>
          <a:p>
            <a:pPr>
              <a:spcAft>
                <a:spcPts val="900"/>
              </a:spcAft>
              <a:defRPr sz="2200">
                <a:solidFill>
                  <a:srgbClr val="182430"/>
                </a:solidFill>
                <a:latin typeface="Aptos"/>
              </a:defRPr>
            </a:pPr>
            <a:r>
              <a:t>Best fit: Indexing Design Fundamentals</a:t>
            </a:r>
          </a:p>
          <a:p>
            <a:pPr>
              <a:spcAft>
                <a:spcPts val="900"/>
              </a:spcAft>
              <a:defRPr sz="2200">
                <a:solidFill>
                  <a:srgbClr val="182430"/>
                </a:solidFill>
                <a:latin typeface="Aptos"/>
              </a:defRPr>
            </a:pPr>
            <a:r>
              <a:t>Skip: MongoDB Indexes, already used earlier</a:t>
            </a:r>
          </a:p>
          <a:p>
            <a:pPr>
              <a:spcAft>
                <a:spcPts val="900"/>
              </a:spcAft>
              <a:defRPr sz="2200">
                <a:solidFill>
                  <a:srgbClr val="182430"/>
                </a:solidFill>
                <a:latin typeface="Aptos"/>
              </a:defRPr>
            </a:pPr>
            <a:r>
              <a:t>Skip: sort performance lab, already used earlier</a:t>
            </a:r>
          </a:p>
          <a:p>
            <a:pPr>
              <a:spcAft>
                <a:spcPts val="900"/>
              </a:spcAft>
              <a:defRPr sz="2200">
                <a:solidFill>
                  <a:srgbClr val="182430"/>
                </a:solidFill>
                <a:latin typeface="Aptos"/>
              </a:defRPr>
            </a:pPr>
            <a:r>
              <a:t>Main priority: final project index paragraph</a:t>
            </a:r>
          </a:p>
        </p:txBody>
      </p:sp>
      <p:sp>
        <p:nvSpPr>
          <p:cNvPr id="10" name="Rounded Rectangle 9"/>
          <p:cNvSpPr/>
          <p:nvPr/>
        </p:nvSpPr>
        <p:spPr>
          <a:xfrm>
            <a:off x="6876288" y="1901952"/>
            <a:ext cx="3886200" cy="3474720"/>
          </a:xfrm>
          <a:prstGeom prst="roundRect">
            <a:avLst/>
          </a:prstGeom>
          <a:solidFill>
            <a:srgbClr val="EBF7F5"/>
          </a:solidFill>
          <a:ln>
            <a:solidFill>
              <a:srgbClr val="B8DB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87184" y="2212848"/>
            <a:ext cx="3200400" cy="310896"/>
          </a:xfrm>
          <a:prstGeom prst="rect">
            <a:avLst/>
          </a:prstGeom>
          <a:noFill/>
        </p:spPr>
        <p:txBody>
          <a:bodyPr wrap="none">
            <a:spAutoFit/>
          </a:bodyPr>
          <a:lstStyle/>
          <a:p>
            <a:r>
              <a:rPr sz="1400" b="1">
                <a:solidFill>
                  <a:srgbClr val="157A75"/>
                </a:solidFill>
                <a:latin typeface="Aptos"/>
              </a:rPr>
              <a:t>Official lab</a:t>
            </a:r>
          </a:p>
        </p:txBody>
      </p:sp>
      <p:sp>
        <p:nvSpPr>
          <p:cNvPr id="12" name="TextBox 11"/>
          <p:cNvSpPr txBox="1"/>
          <p:nvPr/>
        </p:nvSpPr>
        <p:spPr>
          <a:xfrm>
            <a:off x="7187184" y="2697480"/>
            <a:ext cx="3154680" cy="2103120"/>
          </a:xfrm>
          <a:prstGeom prst="rect">
            <a:avLst/>
          </a:prstGeom>
          <a:noFill/>
        </p:spPr>
        <p:txBody>
          <a:bodyPr wrap="square" lIns="73152" rIns="73152" tIns="36576" bIns="36576">
            <a:spAutoFit/>
          </a:bodyPr>
          <a:lstStyle/>
          <a:p>
            <a:pPr>
              <a:lnSpc>
                <a:spcPct val="105000"/>
              </a:lnSpc>
            </a:pPr>
            <a:r>
              <a:rPr sz="2100" b="1">
                <a:solidFill>
                  <a:srgbClr val="182430"/>
                </a:solidFill>
                <a:latin typeface="Aptos"/>
              </a:rPr>
              <a:t>MongoDB University: Lab: Indexing Design Fundamentals</a:t>
            </a:r>
          </a:p>
        </p:txBody>
      </p:sp>
      <p:sp>
        <p:nvSpPr>
          <p:cNvPr id="13" name="TextBox 12"/>
          <p:cNvSpPr txBox="1"/>
          <p:nvPr/>
        </p:nvSpPr>
        <p:spPr>
          <a:xfrm>
            <a:off x="8823960" y="5815584"/>
            <a:ext cx="1554480" cy="182880"/>
          </a:xfrm>
          <a:prstGeom prst="rect">
            <a:avLst/>
          </a:prstGeom>
          <a:noFill/>
        </p:spPr>
        <p:txBody>
          <a:bodyPr wrap="none">
            <a:spAutoFit/>
          </a:bodyPr>
          <a:lstStyle/>
          <a:p>
            <a:pPr algn="r"/>
            <a:r>
              <a:rPr sz="900" b="0">
                <a:solidFill>
                  <a:srgbClr val="5C656E"/>
                </a:solidFill>
                <a:latin typeface="Aptos"/>
              </a:rPr>
              <a:t>CST4714 | Week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