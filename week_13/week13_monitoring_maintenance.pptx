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Week 13. Today we focus on monitoring and maintenance: what to watch, how to capture it, which tools to use—including MongoDB Atlas and Supabase—and how to scale. We'll also checkpoint your final project progress.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 will know which metrics matter, how to surface them in pgAdmin, Supabase Studio, MongoDB Compass, and Atlas, and which scaling levers you can pull. You'll also report project status so I can unblock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Monitoring is how you catch performance drops, lock contention, or replication lag before users notice. It provides evidence for capacity planning and informs better schema and indexing choices.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Postgres and Supabase, watch throughput, response times, lock waits, top queries, index scans, replication delay, and autovacuum. For MongoDB and Atlas, track ops per second, latency percentiles, index usage, replication lag, WiredTiger cache, and how close you are to Atlas tier limits.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pgAdmin for dashboards and explain plans. In Supabase Studio, use Observability for CPU, memory, connections, and Logs for errors. From SQL, use pg_stat views for numbers. Compass shows metrics and explains; Atlas adds dashboards, Profiler, and Performance Advisor with alerts. mongosh provides currentOp, profiler, and serverStatus detail.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Postgres and Supabase, keep pg_stat_statements on and set log_min_duration_statement to capture slow queries with a good prefix. For MongoDB and Atlas, use the profiler at level one or two in non-prod with a sensible slowms. Add auditing only for security events to control overhead.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ready-to-run snippets. First, list the slowest normalized queries with pg_stat_statements. Next, check active sessions and lock waits. Finally, if you use Supabase read replicas, measure WAL lag to see if replicas are behind.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currentOp to find long-running operations. Turn on the profiler at level one with a slowms threshold to capture slow ops. Aggregate with $indexStats to see active indexes. On a replica set, rs.printSlaveReplicationInfo shows replication lag.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Atlas, watch ops per second, CPU, memory, WiredTiger cache, IOPS, and connections. Use the profiler with a sensible slowms. Review Performance Advisor suggestions only if they match your query patterns. Set alerts on CPU, connections, replication lag, and disk. Confirm snapshots exist and can be restored.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Supabase, start with Database Observability for CPU, RAM, connections, and disk. Use Logs to catch errors and long-running statements. pg_stat_statements shows top queries so you can plan indexes. Watch pgbouncer pool limits and tune your app's pool. Confirm automatic backups and schedule a restore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vertically until cost outweighs benefit. For Postgres and Supabase, add read replicas, partition big tables, and tune autovacuum. For MongoDB and Atlas, use replica sets for HA and sharding plus the right tier for scale. Keep connection pools sane and manage maintenance tasks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lab, check Postgres or Supabase metrics for CPU, sessions, and locks, then run pg_stat_statements and screenshot top offenders. In MongoDB, use Compass or Atlas Metrics for ops per second and cache usage, then run $indexStats and capture index usage. Write one finding and the action you'll take.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your project checkpoint: what you completed, top two risks, and one specific ask for help. Close with what you will deliver before Week 14, such as scripts or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Week 13 – Monitoring &amp; Maintenance Sprint</a:t>
            </a:r>
          </a:p>
        </p:txBody>
      </p:sp>
      <p:sp>
        <p:nvSpPr>
          <p:cNvPr id="3" name="Subtitle 2"/>
          <p:cNvSpPr>
            <a:spLocks noGrp="1"/>
          </p:cNvSpPr>
          <p:nvPr>
            <p:ph type="subTitle" idx="1"/>
          </p:nvPr>
        </p:nvSpPr>
        <p:spPr/>
        <p:txBody>
          <a:bodyPr/>
          <a:lstStyle/>
          <a:p>
            <a:r>
              <a:t>Performance metrics, logging, monitoring tools, scaling for Postgres &amp; MongoDB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You'll Accomplish Today</a:t>
            </a:r>
          </a:p>
        </p:txBody>
      </p:sp>
      <p:sp>
        <p:nvSpPr>
          <p:cNvPr id="3" name="Content Placeholder 2"/>
          <p:cNvSpPr>
            <a:spLocks noGrp="1"/>
          </p:cNvSpPr>
          <p:nvPr>
            <p:ph idx="1"/>
          </p:nvPr>
        </p:nvSpPr>
        <p:spPr/>
        <p:txBody>
          <a:bodyPr/>
          <a:lstStyle/>
          <a:p/>
          <a:p>
            <a:pPr>
              <a:defRPr sz="2800"/>
            </a:pPr>
            <a:r>
              <a:t>Know the core metrics to track for Postgres, Supabase, and MongoDB</a:t>
            </a:r>
          </a:p>
          <a:p>
            <a:pPr>
              <a:defRPr sz="2800"/>
            </a:pPr>
            <a:r>
              <a:t>See practical logging and profiling knobs you can turn on now</a:t>
            </a:r>
          </a:p>
          <a:p>
            <a:pPr>
              <a:defRPr sz="2800"/>
            </a:pPr>
            <a:r>
              <a:t>Try dashboards in pgAdmin, Supabase Studio, MongoDB Compass, and Atlas</a:t>
            </a:r>
          </a:p>
          <a:p>
            <a:pPr>
              <a:defRPr sz="2800"/>
            </a:pPr>
            <a:r>
              <a:t>Outline scaling and resource management moves for your project</a:t>
            </a:r>
          </a:p>
          <a:p>
            <a:pPr>
              <a:defRPr sz="2800"/>
            </a:pPr>
            <a:r>
              <a:t>Share a short progress report on your final group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Monitoring Matters</a:t>
            </a:r>
          </a:p>
        </p:txBody>
      </p:sp>
      <p:sp>
        <p:nvSpPr>
          <p:cNvPr id="3" name="Content Placeholder 2"/>
          <p:cNvSpPr>
            <a:spLocks noGrp="1"/>
          </p:cNvSpPr>
          <p:nvPr>
            <p:ph idx="1"/>
          </p:nvPr>
        </p:nvSpPr>
        <p:spPr/>
        <p:txBody>
          <a:bodyPr/>
          <a:lstStyle/>
          <a:p/>
          <a:p>
            <a:pPr>
              <a:defRPr sz="2800"/>
            </a:pPr>
            <a:r>
              <a:t>Catches regressions early: slow queries, lock waits, replication lag</a:t>
            </a:r>
          </a:p>
          <a:p>
            <a:pPr>
              <a:defRPr sz="2800"/>
            </a:pPr>
            <a:r>
              <a:t>Builds evidence for SLA and capacity planning</a:t>
            </a:r>
          </a:p>
          <a:p>
            <a:pPr>
              <a:defRPr sz="2800"/>
            </a:pPr>
            <a:r>
              <a:t>Makes incident response faster with dashboards and logs ready</a:t>
            </a:r>
          </a:p>
          <a:p>
            <a:pPr>
              <a:defRPr sz="2800"/>
            </a:pPr>
            <a:r>
              <a:t>Feeds back into schema and index tuning decisions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Metrics to Track</a:t>
            </a:r>
          </a:p>
        </p:txBody>
      </p:sp>
      <p:graphicFrame>
        <p:nvGraphicFramePr>
          <p:cNvPr id="3" name="Table 2"/>
          <p:cNvGraphicFramePr>
            <a:graphicFrameLocks noGrp="1"/>
          </p:cNvGraphicFramePr>
          <p:nvPr/>
        </p:nvGraphicFramePr>
        <p:xfrm>
          <a:off x="548640" y="1371600"/>
          <a:ext cx="10972800" cy="3657600"/>
        </p:xfrm>
        <a:graphic>
          <a:graphicData uri="http://schemas.openxmlformats.org/drawingml/2006/table">
            <a:tbl>
              <a:tblPr firstRow="1" bandRow="1">
                <a:tableStyleId>{5C22544A-7EE6-4342-B048-85BDC9FD1C3A}</a:tableStyleId>
              </a:tblPr>
              <a:tblGrid>
                <a:gridCol w="3657600"/>
                <a:gridCol w="3657600"/>
                <a:gridCol w="3657600"/>
              </a:tblGrid>
              <a:tr h="522514">
                <a:tc>
                  <a:txBody>
                    <a:bodyPr/>
                    <a:lstStyle/>
                    <a:p>
                      <a:pPr>
                        <a:defRPr sz="2000"/>
                      </a:pPr>
                      <a:r>
                        <a:t>Area</a:t>
                      </a:r>
                    </a:p>
                  </a:txBody>
                  <a:tcPr/>
                </a:tc>
                <a:tc>
                  <a:txBody>
                    <a:bodyPr/>
                    <a:lstStyle/>
                    <a:p>
                      <a:pPr>
                        <a:defRPr sz="2000"/>
                      </a:pPr>
                      <a:r>
                        <a:t>Postgres / Supabase</a:t>
                      </a:r>
                    </a:p>
                  </a:txBody>
                  <a:tcPr/>
                </a:tc>
                <a:tc>
                  <a:txBody>
                    <a:bodyPr/>
                    <a:lstStyle/>
                    <a:p>
                      <a:pPr>
                        <a:defRPr sz="2000"/>
                      </a:pPr>
                      <a:r>
                        <a:t>MongoDB / Atlas</a:t>
                      </a:r>
                    </a:p>
                  </a:txBody>
                  <a:tcPr/>
                </a:tc>
              </a:tr>
              <a:tr h="522514">
                <a:tc>
                  <a:txBody>
                    <a:bodyPr/>
                    <a:lstStyle/>
                    <a:p>
                      <a:pPr>
                        <a:defRPr sz="1800"/>
                      </a:pPr>
                      <a:r>
                        <a:t>Throughput</a:t>
                      </a:r>
                    </a:p>
                  </a:txBody>
                  <a:tcPr/>
                </a:tc>
                <a:tc>
                  <a:txBody>
                    <a:bodyPr/>
                    <a:lstStyle/>
                    <a:p>
                      <a:pPr>
                        <a:defRPr sz="1800"/>
                      </a:pPr>
                      <a:r>
                        <a:t>TPS, queries/sec, checkpoints/sec</a:t>
                      </a:r>
                    </a:p>
                  </a:txBody>
                  <a:tcPr/>
                </a:tc>
                <a:tc>
                  <a:txBody>
                    <a:bodyPr/>
                    <a:lstStyle/>
                    <a:p>
                      <a:pPr>
                        <a:defRPr sz="1800"/>
                      </a:pPr>
                      <a:r>
                        <a:t>Ops/sec, read vs write mix</a:t>
                      </a:r>
                    </a:p>
                  </a:txBody>
                  <a:tcPr/>
                </a:tc>
              </a:tr>
              <a:tr h="522514">
                <a:tc>
                  <a:txBody>
                    <a:bodyPr/>
                    <a:lstStyle/>
                    <a:p>
                      <a:pPr>
                        <a:defRPr sz="1800"/>
                      </a:pPr>
                      <a:r>
                        <a:t>Latency</a:t>
                      </a:r>
                    </a:p>
                  </a:txBody>
                  <a:tcPr/>
                </a:tc>
                <a:tc>
                  <a:txBody>
                    <a:bodyPr/>
                    <a:lstStyle/>
                    <a:p>
                      <a:pPr>
                        <a:defRPr sz="1800"/>
                      </a:pPr>
                      <a:r>
                        <a:t>avg/95th response time, lock wait time</a:t>
                      </a:r>
                    </a:p>
                  </a:txBody>
                  <a:tcPr/>
                </a:tc>
                <a:tc>
                  <a:txBody>
                    <a:bodyPr/>
                    <a:lstStyle/>
                    <a:p>
                      <a:pPr>
                        <a:defRPr sz="1800"/>
                      </a:pPr>
                      <a:r>
                        <a:t>avg/95th response time, queued writes</a:t>
                      </a:r>
                    </a:p>
                  </a:txBody>
                  <a:tcPr/>
                </a:tc>
              </a:tr>
              <a:tr h="522514">
                <a:tc>
                  <a:txBody>
                    <a:bodyPr/>
                    <a:lstStyle/>
                    <a:p>
                      <a:pPr>
                        <a:defRPr sz="1800"/>
                      </a:pPr>
                      <a:r>
                        <a:t>Workload shape</a:t>
                      </a:r>
                    </a:p>
                  </a:txBody>
                  <a:tcPr/>
                </a:tc>
                <a:tc>
                  <a:txBody>
                    <a:bodyPr/>
                    <a:lstStyle/>
                    <a:p>
                      <a:pPr>
                        <a:defRPr sz="1800"/>
                      </a:pPr>
                      <a:r>
                        <a:t>pg_stat_statements top queries</a:t>
                      </a:r>
                    </a:p>
                  </a:txBody>
                  <a:tcPr/>
                </a:tc>
                <a:tc>
                  <a:txBody>
                    <a:bodyPr/>
                    <a:lstStyle/>
                    <a:p>
                      <a:pPr>
                        <a:defRPr sz="1800"/>
                      </a:pPr>
                      <a:r>
                        <a:t>currentOp, slow queries, top collections</a:t>
                      </a:r>
                    </a:p>
                  </a:txBody>
                  <a:tcPr/>
                </a:tc>
              </a:tr>
              <a:tr h="522514">
                <a:tc>
                  <a:txBody>
                    <a:bodyPr/>
                    <a:lstStyle/>
                    <a:p>
                      <a:pPr>
                        <a:defRPr sz="1800"/>
                      </a:pPr>
                      <a:r>
                        <a:t>Index health</a:t>
                      </a:r>
                    </a:p>
                  </a:txBody>
                  <a:tcPr/>
                </a:tc>
                <a:tc>
                  <a:txBody>
                    <a:bodyPr/>
                    <a:lstStyle/>
                    <a:p>
                      <a:pPr>
                        <a:defRPr sz="1800"/>
                      </a:pPr>
                      <a:r>
                        <a:t>bloat, index scans vs seq scans</a:t>
                      </a:r>
                    </a:p>
                  </a:txBody>
                  <a:tcPr/>
                </a:tc>
                <a:tc>
                  <a:txBody>
                    <a:bodyPr/>
                    <a:lstStyle/>
                    <a:p>
                      <a:pPr>
                        <a:defRPr sz="1800"/>
                      </a:pPr>
                      <a:r>
                        <a:t>index use %, cache hit, $indexStats</a:t>
                      </a:r>
                    </a:p>
                  </a:txBody>
                  <a:tcPr/>
                </a:tc>
              </a:tr>
              <a:tr h="522514">
                <a:tc>
                  <a:txBody>
                    <a:bodyPr/>
                    <a:lstStyle/>
                    <a:p>
                      <a:pPr>
                        <a:defRPr sz="1800"/>
                      </a:pPr>
                      <a:r>
                        <a:t>Replication</a:t>
                      </a:r>
                    </a:p>
                  </a:txBody>
                  <a:tcPr/>
                </a:tc>
                <a:tc>
                  <a:txBody>
                    <a:bodyPr/>
                    <a:lstStyle/>
                    <a:p>
                      <a:pPr>
                        <a:defRPr sz="1800"/>
                      </a:pPr>
                      <a:r>
                        <a:t>replica lag, replay delay (or Supabase read replicas)</a:t>
                      </a:r>
                    </a:p>
                  </a:txBody>
                  <a:tcPr/>
                </a:tc>
                <a:tc>
                  <a:txBody>
                    <a:bodyPr/>
                    <a:lstStyle/>
                    <a:p>
                      <a:pPr>
                        <a:defRPr sz="1800"/>
                      </a:pPr>
                      <a:r>
                        <a:t>replication lag, majority commit lag</a:t>
                      </a:r>
                    </a:p>
                  </a:txBody>
                  <a:tcPr/>
                </a:tc>
              </a:tr>
              <a:tr h="522516">
                <a:tc>
                  <a:txBody>
                    <a:bodyPr/>
                    <a:lstStyle/>
                    <a:p>
                      <a:pPr>
                        <a:defRPr sz="1800"/>
                      </a:pPr>
                      <a:r>
                        <a:t>Resources</a:t>
                      </a:r>
                    </a:p>
                  </a:txBody>
                  <a:tcPr/>
                </a:tc>
                <a:tc>
                  <a:txBody>
                    <a:bodyPr/>
                    <a:lstStyle/>
                    <a:p>
                      <a:pPr>
                        <a:defRPr sz="1800"/>
                      </a:pPr>
                      <a:r>
                        <a:t>CPU, memory, I/O, autovacuum activity</a:t>
                      </a:r>
                    </a:p>
                  </a:txBody>
                  <a:tcPr/>
                </a:tc>
                <a:tc>
                  <a:txBody>
                    <a:bodyPr/>
                    <a:lstStyle/>
                    <a:p>
                      <a:pPr>
                        <a:defRPr sz="1800"/>
                      </a:pPr>
                      <a:r>
                        <a:t>CPU, WiredTiger cache %, disk I/O, Atlas tier headroom</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Tools Snapshot</a:t>
            </a:r>
          </a:p>
        </p:txBody>
      </p:sp>
      <p:sp>
        <p:nvSpPr>
          <p:cNvPr id="3" name="Content Placeholder 2"/>
          <p:cNvSpPr>
            <a:spLocks noGrp="1"/>
          </p:cNvSpPr>
          <p:nvPr>
            <p:ph idx="1"/>
          </p:nvPr>
        </p:nvSpPr>
        <p:spPr/>
        <p:txBody>
          <a:bodyPr/>
          <a:lstStyle/>
          <a:p/>
          <a:p>
            <a:pPr>
              <a:defRPr sz="2800"/>
            </a:pPr>
            <a:r>
              <a:t>pgAdmin: dashboards for CPU, sessions, locks, replication, explain plans</a:t>
            </a:r>
          </a:p>
          <a:p>
            <a:pPr>
              <a:defRPr sz="2800"/>
            </a:pPr>
            <a:r>
              <a:t>Supabase Studio: Database → Observability for CPU/RAM/connections; Logs for queries and errors</a:t>
            </a:r>
          </a:p>
          <a:p>
            <a:pPr>
              <a:defRPr sz="2800"/>
            </a:pPr>
            <a:r>
              <a:t>psql + views: pg_stat_activity, pg_stat_statements, pg_stat_bgwriter</a:t>
            </a:r>
          </a:p>
          <a:p>
            <a:pPr>
              <a:defRPr sz="2800"/>
            </a:pPr>
            <a:r>
              <a:t>MongoDB Compass: cluster metrics tab, index stats, aggregation explain</a:t>
            </a:r>
          </a:p>
          <a:p>
            <a:pPr>
              <a:defRPr sz="2800"/>
            </a:pPr>
            <a:r>
              <a:t>MongoDB Atlas: Metrics, Profiler, Performance Advisor, Alerts</a:t>
            </a:r>
          </a:p>
          <a:p>
            <a:pPr>
              <a:defRPr sz="2800"/>
            </a:pPr>
            <a:r>
              <a:t>mongosh: db.currentOp(), profiler, serverStatus()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Logging &amp; Profiling Essentials</a:t>
            </a:r>
          </a:p>
        </p:txBody>
      </p:sp>
      <p:sp>
        <p:nvSpPr>
          <p:cNvPr id="3" name="Content Placeholder 2"/>
          <p:cNvSpPr>
            <a:spLocks noGrp="1"/>
          </p:cNvSpPr>
          <p:nvPr>
            <p:ph idx="1"/>
          </p:nvPr>
        </p:nvSpPr>
        <p:spPr/>
        <p:txBody>
          <a:bodyPr/>
          <a:lstStyle/>
          <a:p/>
          <a:p>
            <a:pPr>
              <a:defRPr sz="2800"/>
            </a:pPr>
            <a:r>
              <a:t>Postgres/Supabase: ensure pg_stat_statements is enabled; set log_min_duration_statement for slow logs</a:t>
            </a:r>
          </a:p>
          <a:p>
            <a:pPr>
              <a:defRPr sz="2800"/>
            </a:pPr>
            <a:r>
              <a:t>Include log_line_prefix with PID, user, db, and duration to trace queries</a:t>
            </a:r>
          </a:p>
          <a:p>
            <a:pPr>
              <a:defRPr sz="2800"/>
            </a:pPr>
            <a:r>
              <a:t>MongoDB/Atlas: enable profiler level 1 or 2 in non-prod; set slowms threshold</a:t>
            </a:r>
          </a:p>
          <a:p>
            <a:pPr>
              <a:defRPr sz="2800"/>
            </a:pPr>
            <a:r>
              <a:t>Use auditing sparingly for security events to avoid overhead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Postgres/Supabase: Quick Health Queries</a:t>
            </a:r>
          </a:p>
        </p:txBody>
      </p:sp>
      <p:sp>
        <p:nvSpPr>
          <p:cNvPr id="3" name="TextBox 2"/>
          <p:cNvSpPr txBox="1"/>
          <p:nvPr/>
        </p:nvSpPr>
        <p:spPr>
          <a:xfrm>
            <a:off x="548640" y="1463040"/>
            <a:ext cx="4846320" cy="3657600"/>
          </a:xfrm>
          <a:prstGeom prst="rect">
            <a:avLst/>
          </a:prstGeom>
          <a:noFill/>
        </p:spPr>
        <p:txBody>
          <a:bodyPr wrap="none">
            <a:spAutoFit/>
          </a:bodyPr>
          <a:lstStyle/>
          <a:p/>
          <a:p>
            <a:pPr>
              <a:defRPr sz="2400"/>
            </a:pPr>
            <a:r>
              <a:t>Run from psql, pgAdmin, or Supabase SQL editor</a:t>
            </a:r>
          </a:p>
          <a:p>
            <a:pPr>
              <a:defRPr sz="2400"/>
            </a:pPr>
            <a:r>
              <a:t>Focus on mean_exec_time to find chronic slow queries</a:t>
            </a:r>
          </a:p>
          <a:p>
            <a:pPr>
              <a:defRPr sz="2400"/>
            </a:pPr>
            <a:r>
              <a:t>Check wait_event_type to spot locks</a:t>
            </a:r>
          </a:p>
          <a:p>
            <a:pPr>
              <a:defRPr sz="2400"/>
            </a:pPr>
            <a:r>
              <a:t>If using Supabase read replicas, monitor WAL lag</a:t>
            </a:r>
          </a:p>
        </p:txBody>
      </p:sp>
      <p:sp>
        <p:nvSpPr>
          <p:cNvPr id="4" name="TextBox 3"/>
          <p:cNvSpPr txBox="1"/>
          <p:nvPr/>
        </p:nvSpPr>
        <p:spPr>
          <a:xfrm>
            <a:off x="5760720" y="1463040"/>
            <a:ext cx="6035040" cy="3657600"/>
          </a:xfrm>
          <a:prstGeom prst="rect">
            <a:avLst/>
          </a:prstGeom>
          <a:noFill/>
        </p:spPr>
        <p:txBody>
          <a:bodyPr wrap="square">
            <a:spAutoFit/>
          </a:bodyPr>
          <a:lstStyle/>
          <a:p>
            <a:pPr>
              <a:defRPr sz="1400">
                <a:latin typeface="Courier New"/>
              </a:defRPr>
            </a:pPr>
            <a:r>
              <a:t>-- Top 5 slowest normalized queries (pg_stat_statements must be enabled)</a:t>
            </a:r>
            <a:br/>
            <a:r>
              <a:t>SELECT query, calls, total_exec_time, mean_exec_time</a:t>
            </a:r>
            <a:br/>
            <a:r>
              <a:t>FROM pg_stat_statements</a:t>
            </a:r>
            <a:br/>
            <a:r>
              <a:t>ORDER BY mean_exec_time DESC</a:t>
            </a:r>
            <a:br/>
            <a:r>
              <a:t>LIMIT 5;</a:t>
            </a:r>
            <a:br/>
            <a:br/>
            <a:r>
              <a:t>-- Active sessions and locks</a:t>
            </a:r>
            <a:br/>
            <a:r>
              <a:t>SELECT pid, wait_event_type, wait_event, query</a:t>
            </a:r>
            <a:br/>
            <a:r>
              <a:t>FROM pg_stat_activity</a:t>
            </a:r>
            <a:br/>
            <a:r>
              <a:t>WHERE state &lt;&gt; 'idle';</a:t>
            </a:r>
            <a:br/>
            <a:br/>
            <a:r>
              <a:t>-- Replication lag (Supabase read replica example)</a:t>
            </a:r>
            <a:br/>
            <a:r>
              <a:t>SELECT application_name, pg_wal_lsn_diff(pg_current_wal_lsn(), replay_lsn) AS bytes_lag</a:t>
            </a:r>
            <a:br/>
            <a:r>
              <a:t>FROM pg_stat_replication;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MongoDB/Atlas: Quick Health Checks</a:t>
            </a:r>
          </a:p>
        </p:txBody>
      </p:sp>
      <p:sp>
        <p:nvSpPr>
          <p:cNvPr id="3" name="TextBox 2"/>
          <p:cNvSpPr txBox="1"/>
          <p:nvPr/>
        </p:nvSpPr>
        <p:spPr>
          <a:xfrm>
            <a:off x="548640" y="1463040"/>
            <a:ext cx="4846320" cy="3657600"/>
          </a:xfrm>
          <a:prstGeom prst="rect">
            <a:avLst/>
          </a:prstGeom>
          <a:noFill/>
        </p:spPr>
        <p:txBody>
          <a:bodyPr wrap="none">
            <a:spAutoFit/>
          </a:bodyPr>
          <a:lstStyle/>
          <a:p/>
          <a:p>
            <a:pPr>
              <a:defRPr sz="2400"/>
            </a:pPr>
            <a:r>
              <a:t>Use currentOp to spot long-running ops</a:t>
            </a:r>
          </a:p>
          <a:p>
            <a:pPr>
              <a:defRPr sz="2400"/>
            </a:pPr>
            <a:r>
              <a:t>Enable profiler with slowms set to your target budget</a:t>
            </a:r>
          </a:p>
          <a:p>
            <a:pPr>
              <a:defRPr sz="2400"/>
            </a:pPr>
            <a:r>
              <a:t>Run $indexStats to see which indexes are doing work</a:t>
            </a:r>
          </a:p>
          <a:p>
            <a:pPr>
              <a:defRPr sz="2400"/>
            </a:pPr>
            <a:r>
              <a:t>Check replication lag with rs.printSlaveReplicationInfo()</a:t>
            </a:r>
          </a:p>
        </p:txBody>
      </p:sp>
      <p:sp>
        <p:nvSpPr>
          <p:cNvPr id="4" name="TextBox 3"/>
          <p:cNvSpPr txBox="1"/>
          <p:nvPr/>
        </p:nvSpPr>
        <p:spPr>
          <a:xfrm>
            <a:off x="5760720" y="1463040"/>
            <a:ext cx="6035040" cy="3657600"/>
          </a:xfrm>
          <a:prstGeom prst="rect">
            <a:avLst/>
          </a:prstGeom>
          <a:noFill/>
        </p:spPr>
        <p:txBody>
          <a:bodyPr wrap="square">
            <a:spAutoFit/>
          </a:bodyPr>
          <a:lstStyle/>
          <a:p>
            <a:pPr>
              <a:defRPr sz="1400">
                <a:latin typeface="Courier New"/>
              </a:defRPr>
            </a:pPr>
            <a:r>
              <a:t>// Current operations (filter out idle)</a:t>
            </a:r>
            <a:br/>
            <a:r>
              <a:t>db.currentOp({ secs_running: { $gt: 0 } })</a:t>
            </a:r>
            <a:br/>
            <a:br/>
            <a:r>
              <a:t>// Slow query profiling (level 1 = slow ops only)</a:t>
            </a:r>
            <a:br/>
            <a:r>
              <a:t>db.setProfilingLevel(1, { slowms: 100 })</a:t>
            </a:r>
            <a:br/>
            <a:br/>
            <a:r>
              <a:t>// Index usage stats</a:t>
            </a:r>
            <a:br/>
            <a:r>
              <a:t>use mydb</a:t>
            </a:r>
            <a:br/>
            <a:r>
              <a:t>for (const s of db.myCollection.aggregate([{ $indexStats: {} }])) printjson(s);</a:t>
            </a:r>
            <a:br/>
            <a:br/>
            <a:r>
              <a:t>// Replication lag (secondary)</a:t>
            </a:r>
            <a:br/>
            <a:r>
              <a:t>rs.printSlaveReplicationInfo();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MongoDB Atlas: What to Watch</a:t>
            </a:r>
          </a:p>
        </p:txBody>
      </p:sp>
      <p:sp>
        <p:nvSpPr>
          <p:cNvPr id="3" name="Content Placeholder 2"/>
          <p:cNvSpPr>
            <a:spLocks noGrp="1"/>
          </p:cNvSpPr>
          <p:nvPr>
            <p:ph idx="1"/>
          </p:nvPr>
        </p:nvSpPr>
        <p:spPr/>
        <p:txBody>
          <a:bodyPr/>
          <a:lstStyle/>
          <a:p/>
          <a:p>
            <a:pPr>
              <a:defRPr sz="2800"/>
            </a:pPr>
            <a:r>
              <a:t>Metrics: ops/sec, CPU, memory, WiredTiger cache %, IOPS, connections</a:t>
            </a:r>
          </a:p>
          <a:p>
            <a:pPr>
              <a:defRPr sz="2800"/>
            </a:pPr>
            <a:r>
              <a:t>Profiler: sampled or full; keep slowms realistic for your workload</a:t>
            </a:r>
          </a:p>
          <a:p>
            <a:pPr>
              <a:defRPr sz="2800"/>
            </a:pPr>
            <a:r>
              <a:t>Performance Advisor: index suggestions—accept only if they match your query shapes</a:t>
            </a:r>
          </a:p>
          <a:p>
            <a:pPr>
              <a:defRPr sz="2800"/>
            </a:pPr>
            <a:r>
              <a:t>Alerts: set thresholds for CPU, connections, replication lag, disk</a:t>
            </a:r>
          </a:p>
          <a:p>
            <a:pPr>
              <a:defRPr sz="2800"/>
            </a:pPr>
            <a:r>
              <a:t>Backups &amp; snapshots: verify restore points exist for your project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Supabase: What to Watch</a:t>
            </a:r>
          </a:p>
        </p:txBody>
      </p:sp>
      <p:sp>
        <p:nvSpPr>
          <p:cNvPr id="3" name="Content Placeholder 2"/>
          <p:cNvSpPr>
            <a:spLocks noGrp="1"/>
          </p:cNvSpPr>
          <p:nvPr>
            <p:ph idx="1"/>
          </p:nvPr>
        </p:nvSpPr>
        <p:spPr/>
        <p:txBody>
          <a:bodyPr/>
          <a:lstStyle/>
          <a:p/>
          <a:p>
            <a:pPr>
              <a:defRPr sz="2800"/>
            </a:pPr>
            <a:r>
              <a:t>Dashboard → Database → Observability: CPU, RAM, connections, disk</a:t>
            </a:r>
          </a:p>
          <a:p>
            <a:pPr>
              <a:defRPr sz="2800"/>
            </a:pPr>
            <a:r>
              <a:t>Logs: query errors and long-running statements; filter by severity</a:t>
            </a:r>
          </a:p>
          <a:p>
            <a:pPr>
              <a:defRPr sz="2800"/>
            </a:pPr>
            <a:r>
              <a:t>pg_stat_statements: identify top query patterns; plan indexes</a:t>
            </a:r>
          </a:p>
          <a:p>
            <a:pPr>
              <a:defRPr sz="2800"/>
            </a:pPr>
            <a:r>
              <a:t>Connection pooling: check pgbouncer limits; tune pool size in app settings</a:t>
            </a:r>
          </a:p>
          <a:p>
            <a:pPr>
              <a:defRPr sz="2800"/>
            </a:pPr>
            <a:r>
              <a:t>Backups: confirm automated backups and retention; schedule a restore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Scaling &amp; Resource Management</a:t>
            </a:r>
          </a:p>
        </p:txBody>
      </p:sp>
      <p:sp>
        <p:nvSpPr>
          <p:cNvPr id="3" name="Content Placeholder 2"/>
          <p:cNvSpPr>
            <a:spLocks noGrp="1"/>
          </p:cNvSpPr>
          <p:nvPr>
            <p:ph idx="1"/>
          </p:nvPr>
        </p:nvSpPr>
        <p:spPr/>
        <p:txBody>
          <a:bodyPr/>
          <a:lstStyle/>
          <a:p/>
          <a:p>
            <a:pPr>
              <a:defRPr sz="2800"/>
            </a:pPr>
            <a:r>
              <a:t>Vertical: increase CPU/RAM/IOPS; watch cost and diminishing returns</a:t>
            </a:r>
          </a:p>
          <a:p>
            <a:pPr>
              <a:defRPr sz="2800"/>
            </a:pPr>
            <a:r>
              <a:t>Postgres/Supabase: add read replicas; partition large tables; tune autovacuum</a:t>
            </a:r>
          </a:p>
          <a:p>
            <a:pPr>
              <a:defRPr sz="2800"/>
            </a:pPr>
            <a:r>
              <a:t>MongoDB/Atlas: replica sets for HA; shard for write and size scale; pick the right tier</a:t>
            </a:r>
          </a:p>
          <a:p>
            <a:pPr>
              <a:defRPr sz="2800"/>
            </a:pPr>
            <a:r>
              <a:t>Right-size connections: use pools; avoid overrunning CPU with too many clients</a:t>
            </a:r>
          </a:p>
          <a:p>
            <a:pPr>
              <a:defRPr sz="2800"/>
            </a:pPr>
            <a:r>
              <a:t>Plan maintenance: autovacuum (PG/Supabase); compact/reIndex sparingly (MongoDB)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Dashboards &amp; Checks</a:t>
            </a:r>
          </a:p>
        </p:txBody>
      </p:sp>
      <p:sp>
        <p:nvSpPr>
          <p:cNvPr id="3" name="Content Placeholder 2"/>
          <p:cNvSpPr>
            <a:spLocks noGrp="1"/>
          </p:cNvSpPr>
          <p:nvPr>
            <p:ph idx="1"/>
          </p:nvPr>
        </p:nvSpPr>
        <p:spPr/>
        <p:txBody>
          <a:bodyPr/>
          <a:lstStyle/>
          <a:p/>
          <a:p>
            <a:pPr>
              <a:defRPr sz="2800"/>
            </a:pPr>
            <a:r>
              <a:t>Postgres/Supabase: open pgAdmin or Supabase Observability; note CPU, sessions, locks; run pg_stat_statements and screenshot top offenders</a:t>
            </a:r>
          </a:p>
          <a:p>
            <a:pPr>
              <a:defRPr sz="2800"/>
            </a:pPr>
            <a:r>
              <a:t>MongoDB: open Compass Metrics or Atlas Metrics; note ops/sec and WiredTiger cache %; run $indexStats and capture one index usage example</a:t>
            </a:r>
          </a:p>
          <a:p>
            <a:pPr>
              <a:defRPr sz="2800"/>
            </a:pPr>
            <a:r>
              <a:t>Record one concrete finding and one action you will take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Project Checkpoint</a:t>
            </a:r>
          </a:p>
        </p:txBody>
      </p:sp>
      <p:sp>
        <p:nvSpPr>
          <p:cNvPr id="3" name="Content Placeholder 2"/>
          <p:cNvSpPr>
            <a:spLocks noGrp="1"/>
          </p:cNvSpPr>
          <p:nvPr>
            <p:ph idx="1"/>
          </p:nvPr>
        </p:nvSpPr>
        <p:spPr/>
        <p:txBody>
          <a:bodyPr/>
          <a:lstStyle/>
          <a:p/>
          <a:p>
            <a:pPr>
              <a:defRPr sz="2800"/>
            </a:pPr>
            <a:r>
              <a:t>Status: what you finished this week (roster, data model, admin plan pieces)</a:t>
            </a:r>
          </a:p>
          <a:p>
            <a:pPr>
              <a:defRPr sz="2800"/>
            </a:pPr>
            <a:r>
              <a:t>Risks: top 2 issues blocking progress (perf, HA, security, data load)</a:t>
            </a:r>
          </a:p>
          <a:p>
            <a:pPr>
              <a:defRPr sz="2800"/>
            </a:pPr>
            <a:r>
              <a:t>Help needed: one specific ask for office hours or feedback this week</a:t>
            </a:r>
          </a:p>
          <a:p>
            <a:pPr>
              <a:defRPr sz="2800"/>
            </a:pPr>
            <a:r>
              <a:t>Next steps: what you will deliver before Week 14 (scripts, evidence,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