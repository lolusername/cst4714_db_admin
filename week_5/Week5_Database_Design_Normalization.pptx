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72" r:id="rId24"/>
    <p:sldId id="273" r:id="rId25"/>
    <p:sldId id="267" r:id="rId19"/>
    <p:sldId id="268" r:id="rId20"/>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2.xml"/><Relationship Id="rId25"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Hi everyone, welcome back to CST4714. We only meet once this week, so the goal for the next ninety minutes is to get very clear on how to design a clean relational schema. Let the class know that everything we do today directly feeds their midterm revision.</a:t>
            </a:r>
          </a:p>
          <a:p/>
          <a:p>
            <a:r>
              <a:t>Say: By the time we wrap up you will have practiced reading a messy requirements story, pulling out the entities and relationships, and then applying the normalization ladder step by step. Point out that the demo and lab use the same workflow they should follow on their projects.</a:t>
            </a:r>
          </a:p>
          <a:p/>
          <a:p>
            <a:r>
              <a:t>[Prompt] Ask: Before we jump in, raise your hand if you already spotted a schema problem while drafting the midterm. Encourage two or three students to share so you can refer back to those examples during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our plan for the single Thursday session. We’ll warm up, review ER modeling and key strategy, climb the normalization ladder, rebuild the schema live, spend most of our time in the lab, and finish with takeaways tied to the midterm.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are today’s objectives. We’ll translate requirements into entities and relationships, pick keys that encode real business rules, and diagnose redundancy with functional dependencies. The demo shows how to move from 1NF to 3NF, and you’ll document trade-offs so your midterm proposal stays aligned.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Let’s start with why entity-relationship modeling matters in real life. When you sketch an ER diagram, you are translating interviews, spreadsheets, or user stories into a shared vocabulary. That diagram prevents miscommunication between developers, analysts, and stakeholders.</a:t>
            </a:r>
          </a:p>
          <a:p/>
          <a:p>
            <a:r>
              <a:t>Explain: An ER model also drives scope. If a relationship or attribute is missing in the diagram, it will be missing in the database. Call out an example from a student draft—maybe a team forgot the relationship between orders and payments—and explain how the absence in the ERD led to holes in their SQL.</a:t>
            </a:r>
          </a:p>
          <a:p/>
          <a:p>
            <a:r>
              <a:t>[Prompt] Ask the room: Think about your midterm project. Which relationship felt the hardest to represent? Give them a moment to answer and jot those ideas on the board so you can revisit them during the lab.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Quick refresher on our core vocabulary. Entities are the nouns in the story—Student, Advisor, Plan. Attributes are the adjectives or descriptive fields tied to a single entity. Relationships express how entities interact, including cardinality and optionality.</a:t>
            </a:r>
          </a:p>
          <a:p/>
          <a:p>
            <a:r>
              <a:t>Explain: When you decide that a relationship is optional, you are really deciding whether a foreign key can be NULL. When you decide it is many-to-many, you are committing to a bridge table. Highlight that every choice on this slide turns into a very concrete modeling decision later.</a:t>
            </a:r>
          </a:p>
          <a:p/>
          <a:p>
            <a:r>
              <a:t>[Prompt] Invite students to pick one entity from the wellness dataset and list two attributes and one relationship aloud. Reinforce correct answers and correct any misconceptions gently.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Keys and constraints are where we encode business rules. A natural key uses meaningful data like a subscription ID that already exists; a surrogate key uses an artificial identifier like a UUID. Neither is automatically better—you choose based on stability and clarity.</a:t>
            </a:r>
          </a:p>
          <a:p/>
          <a:p>
            <a:r>
              <a:t>Explain: Composite keys capture multi-attribute uniqueness. For example, in the demo we will enforce that a line item is unique by the combination of order, show, and seating section. Alternate keys, like email, give us quick lookup paths even if they are not the primary key.</a:t>
            </a:r>
          </a:p>
          <a:p/>
          <a:p>
            <a:r>
              <a:t>Say: Constraints are the truth serum of the database. PRIMARY and UNIQUE keep identifiers stable, CHECK encodes domain rules, and FOREIGN KEY enforces relationships. Remind students that omitting a constraint is the same as telling the database “this rule does not exist.”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Functional dependencies help us articulate redundancy. A dependency reads as “determinant implies dependent,” such as plan_name determining plan_category and monthly_fee. Whenever a determinant lives in a table, the dependent attributes must either belong there legitimately or be moved elsewhere.</a:t>
            </a:r>
          </a:p>
          <a:p/>
          <a:p>
            <a:r>
              <a:t>Explain: Partial dependencies happen when part of a composite key determines a column. Transitive dependencies happen when a non-key attribute determines another non-key attribute—classic example is advisor_name determining advisor_email.</a:t>
            </a:r>
          </a:p>
          <a:p/>
          <a:p>
            <a:r>
              <a:t>[Prompt] Work through one row of the wellness spreadsheet aloud. Ask: If we know the advisor’s name, do we expect exactly one email? If students answer yes, note that the email is transitively dependent on advisor_name and should move to an Advisors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stop on the normalization ladder is First Normal Form. Requirements: every column stores atomic values, there are no repeating groups, and each row is uniquely identified by a primary key. If you see multiple show dates crammed into the same order row, that violates 1NF.</a:t>
            </a:r>
          </a:p>
          <a:p/>
          <a:p>
            <a:r>
              <a:t>Explain: 1NF is about tidying the raw data. You might need to split multi-valued cells, standardize data types, or generate a synthetic key when the spreadsheet lacks one. Use the demo example where order 103 appears on multiple dates to show how we split the data into separate rows.</a:t>
            </a:r>
          </a:p>
          <a:p/>
          <a:p>
            <a:r>
              <a:t>[Prompt] Ask the class: After we normalize to 1NF, what happens to a customer email update? Guide them to the idea that at least now every row is atomic, but we still need higher normal forms to prevent repetition across 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Second Normal Form applies when a table has a composite primary key. To reach 2NF we eliminate any attribute that depends on only part of that key. In our wellness dataset, subscription_id combined with session details behaves like a composite key, but plan_category depends solely on plan_name.</a:t>
            </a:r>
          </a:p>
          <a:p/>
          <a:p>
            <a:r>
              <a:t>Explain: The fix is to extract the repeated metadata into a new table—Wellness_Plans in our example—and reference it with a foreign key. That way monthly_fee stays consistent across all attendance records.</a:t>
            </a:r>
          </a:p>
          <a:p/>
          <a:p>
            <a:r>
              <a:t>[Prompt] Challenge students: Identify one more partial dependency in the raw table. Give them time to respond, then highlight answers like session_instructor determining instructor_cert_level.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Third Normal Form strengthens the rule: every non-key attribute must depend on the key, the whole key, and nothing but the key. If advisor_email depends on advisor_name, and advisor_name sits in a table keyed by subscription_id, we have a transitive dependency that violates 3NF.</a:t>
            </a:r>
          </a:p>
          <a:p/>
          <a:p>
            <a:r>
              <a:t>Explain: To fix it we move advisors into their own table, link them to students through a junction table, and keep only the keys in the subscription or attendance tables. Boyce-Codd Normal Form goes a step further, insisting every determinant is a candidate key. Use this to warn about hidden dependencies like room and meeting time implying instructor.</a:t>
            </a:r>
          </a:p>
          <a:p/>
          <a:p>
            <a:r>
              <a:t>[Prompt] Ask: Where might BCNF break down in real systems? Offer an example—analytics tables that pre-compute summaries—and remind them that if they bend the rule they must document why.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Pure normalization is not always the end of the story. Sometimes we denormalize on purpose for performance, historical snapshots, or convenience. The key is to make those compromises explicit and document them with comments or diagrams.</a:t>
            </a:r>
          </a:p>
          <a:p/>
          <a:p>
            <a:r>
              <a:t>Explain: Indexing strategy follows naturally from your design. Once you know the queries you need to run—like finding all attendance events for a subscription—you can add indexes on the foreign keys and timestamps to keep performance acceptable.</a:t>
            </a:r>
          </a:p>
          <a:p/>
          <a:p>
            <a:r>
              <a:t>[Prompt] Encourage teams to keep a short design log. Every time they denormalize, add an index, or leave a column nullable, they should write down the business reason. That log becomes a lifesaver during code reviews or stakeholder meetings.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we jump into SQL, here’s the roadmap. We start with the messy spreadsheet, call out the anomalies, design the new tables, load distinct data, and wrap with a clean query that proves the structure works.</a:t>
            </a:r>
          </a:p>
          <a:p/>
          <a:p>
            <a:r>
              <a:t>Explain: Let students predict which table you will create first so the demo feels collaborative.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what I expect during the lab—rebuild the raw table, map dependencies, create six core tables, populate them with INSERT … SELECT DISTINCT, and finish with one proof query plus a short reflection.</a:t>
            </a:r>
          </a:p>
          <a:p/>
          <a:p>
            <a:r>
              <a:t>Explain: Keep the focus on normalization fundamentals; no triggers or EXPLAIN plans required.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After the lab we will regroup for a schema review roundtable. Each team should be ready to share one major change they made and the dependency that justified it. Keep the explanation short—about one minute per group.</a:t>
            </a:r>
          </a:p>
          <a:p/>
          <a:p>
            <a:r>
              <a:t>Explain: During the discussion, I will ask the class to respond with questions first rather than jumping to corrections. The goal is to practice defending a design decision and to hear alternate approaches that might also satisfy the dependencies.</a:t>
            </a:r>
          </a:p>
          <a:p/>
          <a:p>
            <a:r>
              <a:t>[Prompt] Let students know that any tricky edge cases we cannot finish in the room will go on the discussion board so everyone can keep learning from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 close the session we will map today’s work directly to the midterm proposal. Every team needs to revisit their ERD, ensure the entities and relationships match the new schema ideas, and map business rules to concrete constraints in SQL.</a:t>
            </a:r>
          </a:p>
          <a:p/>
          <a:p>
            <a:r>
              <a:t>Explain: Encourage students to create a checklist: for each business rule, write the matching constraint, index, or documentation. That checklist becomes the proof that their proposal is feasible and consistent.</a:t>
            </a:r>
          </a:p>
          <a:p/>
          <a:p>
            <a:r>
              <a:t>[Prompt] Ask: What deliverable feels the most uncertain right now—ERD, schema script, or written narrative? Gather a quick show of hands and use that feedback to prioritize office hours.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Let’s end with key takeaways. Normalize first so the data model is trustworthy, then denormalize only when you have a documented reason. Constraints are living documentation that enforce the promises you make to the business.</a:t>
            </a:r>
          </a:p>
          <a:p/>
          <a:p>
            <a:r>
              <a:t>Explain: Encourage everyone to jot down lingering questions and bring them to the lab or office hours. Remind them that today’s practice sets the foundation for the back half of the course where we talk about performance and administration.</a:t>
            </a:r>
          </a:p>
          <a:p/>
          <a:p>
            <a:r>
              <a:t>Say: Assign homework—finish the lab submission by Monday, update midterm proposals by next Thursday, and post one thoughtful example of a justified denormalization on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the checklist I follow during the live demo. First load the raw spreadsheet, then run the anomaly queries so students see the pain. Next, build the simplified tables, insert the distinct values, and finish with a clean join that proves the design works.</a:t>
            </a:r>
          </a:p>
          <a:p/>
          <a:p>
            <a:r>
              <a:t>[Prompt] Ask the class which step feels most intimidating so you can slow down there during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Your lab deliverable is intentionally lean. Rebuild the raw table, map dependencies, create the six core tables, populate them with `INSERT ... SELECT DISTINCT`, and capture one proof query plus a reflection.</a:t>
            </a:r>
          </a:p>
          <a:p/>
          <a:p>
            <a:r>
              <a:t>Explain: No triggers or EXPLAIN plans required—focus on modeling fundamentals.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Week 5: Database Design &amp; Normalization</a:t>
            </a:r>
          </a:p>
        </p:txBody>
      </p:sp>
      <p:sp>
        <p:nvSpPr>
          <p:cNvPr id="3" name="Subtitle 2"/>
          <p:cNvSpPr>
            <a:spLocks noGrp="1"/>
          </p:cNvSpPr>
          <p:nvPr>
            <p:ph type="subTitle" idx="1"/>
          </p:nvPr>
        </p:nvSpPr>
        <p:spPr/>
        <p:txBody>
          <a:bodyPr/>
          <a:lstStyle/>
          <a:p>
            <a:r>
              <a:t>CST4714 Database Administration — Thursday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Session Roadmap</a:t>
            </a:r>
          </a:p>
        </p:txBody>
      </p:sp>
      <p:sp>
        <p:nvSpPr>
          <p:cNvPr id="3" name="Content Placeholder 2"/>
          <p:cNvSpPr>
            <a:spLocks noGrp="1"/>
          </p:cNvSpPr>
          <p:nvPr>
            <p:ph idx="1"/>
          </p:nvPr>
        </p:nvSpPr>
        <p:spPr/>
        <p:txBody>
          <a:bodyPr/>
          <a:lstStyle/>
          <a:p>
            <a:pPr>
              <a:defRPr sz="2400"/>
            </a:pPr>
            <a:r>
              <a:t>Warm-up: surface schema pain points from drafts</a:t>
            </a:r>
          </a:p>
          <a:p>
            <a:pPr>
              <a:defRPr sz="2400"/>
            </a:pPr>
            <a:r>
              <a:t>Concept primer: ER modeling refresh</a:t>
            </a:r>
          </a:p>
          <a:p>
            <a:pPr>
              <a:defRPr sz="2400"/>
            </a:pPr>
            <a:r>
              <a:t>Keys &amp; dependencies in practice</a:t>
            </a:r>
          </a:p>
          <a:p>
            <a:pPr>
              <a:defRPr sz="2400"/>
            </a:pPr>
            <a:r>
              <a:t>Normalization ladder demonstration</a:t>
            </a:r>
          </a:p>
          <a:p>
            <a:pPr>
              <a:defRPr sz="2400"/>
            </a:pPr>
            <a:r>
              <a:t>Live rebuild demo of the simplified schema</a:t>
            </a:r>
          </a:p>
          <a:p>
            <a:pPr>
              <a:defRPr sz="2400"/>
            </a:pPr>
            <a:r>
              <a:t>Design studio lab + share-out</a:t>
            </a:r>
          </a:p>
          <a:p>
            <a:pPr>
              <a:defRPr sz="2400"/>
            </a:pPr>
            <a:r>
              <a:t>Midterm alignment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2400"/>
            </a:pPr>
            <a:r>
              <a:t>Translate requirements into entities, relationships, and attributes</a:t>
            </a:r>
          </a:p>
          <a:p>
            <a:pPr>
              <a:defRPr sz="2400"/>
            </a:pPr>
            <a:r>
              <a:t>Select key strategies that encode real business rules</a:t>
            </a:r>
          </a:p>
          <a:p>
            <a:pPr>
              <a:defRPr sz="2400"/>
            </a:pPr>
            <a:r>
              <a:t>Diagnose redundancy using functional dependencies</a:t>
            </a:r>
          </a:p>
          <a:p>
            <a:pPr>
              <a:defRPr sz="2400"/>
            </a:pPr>
            <a:r>
              <a:t>Apply 1NF → 3NF (and note when BCNF is realistic)</a:t>
            </a:r>
          </a:p>
          <a:p>
            <a:pPr>
              <a:defRPr sz="2400"/>
            </a:pPr>
            <a:r>
              <a:t>Document trade-offs so the midterm proposal stays consistent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ER Modeling Matters</a:t>
            </a:r>
          </a:p>
        </p:txBody>
      </p:sp>
      <p:sp>
        <p:nvSpPr>
          <p:cNvPr id="3" name="Content Placeholder 2"/>
          <p:cNvSpPr>
            <a:spLocks noGrp="1"/>
          </p:cNvSpPr>
          <p:nvPr>
            <p:ph idx="1"/>
          </p:nvPr>
        </p:nvSpPr>
        <p:spPr/>
        <p:txBody>
          <a:bodyPr/>
          <a:lstStyle/>
          <a:p>
            <a:pPr>
              <a:defRPr sz="2400"/>
            </a:pPr>
            <a:r>
              <a:t>Shared vocabulary between stakeholders and engineers</a:t>
            </a:r>
          </a:p>
          <a:p>
            <a:pPr>
              <a:defRPr sz="2400"/>
            </a:pPr>
            <a:r>
              <a:t>Shapes how we scope tables, constraints, and permissions</a:t>
            </a:r>
          </a:p>
          <a:p>
            <a:pPr>
              <a:defRPr sz="2400"/>
            </a:pPr>
            <a:r>
              <a:t>Flags missing business rules before code is written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Entities, Attributes, Relationships</a:t>
            </a:r>
          </a:p>
        </p:txBody>
      </p:sp>
      <p:sp>
        <p:nvSpPr>
          <p:cNvPr id="3" name="Content Placeholder 2"/>
          <p:cNvSpPr>
            <a:spLocks noGrp="1"/>
          </p:cNvSpPr>
          <p:nvPr>
            <p:ph idx="1"/>
          </p:nvPr>
        </p:nvSpPr>
        <p:spPr/>
        <p:txBody>
          <a:bodyPr/>
          <a:lstStyle/>
          <a:p>
            <a:pPr>
              <a:defRPr sz="2400"/>
            </a:pPr>
            <a:r>
              <a:t>Entities = nouns we store (Student, Advisor, Plan)</a:t>
            </a:r>
          </a:p>
          <a:p>
            <a:pPr>
              <a:defRPr sz="2400"/>
            </a:pPr>
            <a:r>
              <a:t>Attributes = descriptors tied to one entity</a:t>
            </a:r>
          </a:p>
          <a:p>
            <a:pPr>
              <a:defRPr sz="2400"/>
            </a:pPr>
            <a:r>
              <a:t>Relationships = verbs/cardinality: one-to-many, many-to-many</a:t>
            </a:r>
          </a:p>
          <a:p>
            <a:pPr>
              <a:defRPr sz="2400"/>
            </a:pPr>
            <a:r>
              <a:t>Optionality drives foreign key nullability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Keys &amp; Constraints</a:t>
            </a:r>
          </a:p>
        </p:txBody>
      </p:sp>
      <p:sp>
        <p:nvSpPr>
          <p:cNvPr id="3" name="Content Placeholder 2"/>
          <p:cNvSpPr>
            <a:spLocks noGrp="1"/>
          </p:cNvSpPr>
          <p:nvPr>
            <p:ph idx="1"/>
          </p:nvPr>
        </p:nvSpPr>
        <p:spPr/>
        <p:txBody>
          <a:bodyPr/>
          <a:lstStyle/>
          <a:p>
            <a:pPr>
              <a:defRPr sz="2400"/>
            </a:pPr>
            <a:r>
              <a:t>Natural vs surrogate keys: choose intentionally</a:t>
            </a:r>
          </a:p>
          <a:p>
            <a:pPr>
              <a:defRPr sz="2400"/>
            </a:pPr>
            <a:r>
              <a:t>Composite keys capture multi-attribute uniqueness</a:t>
            </a:r>
          </a:p>
          <a:p>
            <a:pPr>
              <a:defRPr sz="2400"/>
            </a:pPr>
            <a:r>
              <a:t>Alternate keys support lookups (email, account number)</a:t>
            </a:r>
          </a:p>
          <a:p>
            <a:pPr>
              <a:defRPr sz="2400"/>
            </a:pPr>
            <a:r>
              <a:t>Constraints = truth serum: PRIMARY, UNIQUE, CHECK, FK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Functional Dependencies</a:t>
            </a:r>
          </a:p>
        </p:txBody>
      </p:sp>
      <p:sp>
        <p:nvSpPr>
          <p:cNvPr id="3" name="Content Placeholder 2"/>
          <p:cNvSpPr>
            <a:spLocks noGrp="1"/>
          </p:cNvSpPr>
          <p:nvPr>
            <p:ph idx="1"/>
          </p:nvPr>
        </p:nvSpPr>
        <p:spPr/>
        <p:txBody>
          <a:bodyPr/>
          <a:lstStyle/>
          <a:p>
            <a:pPr>
              <a:defRPr sz="2400"/>
            </a:pPr>
            <a:r>
              <a:t>Express business rules: determinant → dependent</a:t>
            </a:r>
          </a:p>
          <a:p>
            <a:pPr>
              <a:defRPr sz="2400"/>
            </a:pPr>
            <a:r>
              <a:t>Spot partial dependencies on part of a composite key</a:t>
            </a:r>
          </a:p>
          <a:p>
            <a:pPr>
              <a:defRPr sz="2400"/>
            </a:pPr>
            <a:r>
              <a:t>Find transitive chains (Advisor → Email)</a:t>
            </a:r>
          </a:p>
          <a:p>
            <a:pPr>
              <a:defRPr sz="2400"/>
            </a:pPr>
            <a:r>
              <a:t>Use dependency lists to drive decomposition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First Normal Form (1NF)</a:t>
            </a:r>
          </a:p>
        </p:txBody>
      </p:sp>
      <p:sp>
        <p:nvSpPr>
          <p:cNvPr id="3" name="Content Placeholder 2"/>
          <p:cNvSpPr>
            <a:spLocks noGrp="1"/>
          </p:cNvSpPr>
          <p:nvPr>
            <p:ph idx="1"/>
          </p:nvPr>
        </p:nvSpPr>
        <p:spPr/>
        <p:txBody>
          <a:bodyPr/>
          <a:lstStyle/>
          <a:p>
            <a:pPr>
              <a:defRPr sz="2400"/>
            </a:pPr>
            <a:r>
              <a:t>Enforce atomic columns and consistent data types</a:t>
            </a:r>
          </a:p>
          <a:p>
            <a:pPr>
              <a:defRPr sz="2400"/>
            </a:pPr>
            <a:r>
              <a:t>No repeating groups or multi-valued cells</a:t>
            </a:r>
          </a:p>
          <a:p>
            <a:pPr>
              <a:defRPr sz="2400"/>
            </a:pPr>
            <a:r>
              <a:t>Primary key uniquely identifies each row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Second Normal Form (2NF)</a:t>
            </a:r>
          </a:p>
        </p:txBody>
      </p:sp>
      <p:sp>
        <p:nvSpPr>
          <p:cNvPr id="3" name="Content Placeholder 2"/>
          <p:cNvSpPr>
            <a:spLocks noGrp="1"/>
          </p:cNvSpPr>
          <p:nvPr>
            <p:ph idx="1"/>
          </p:nvPr>
        </p:nvSpPr>
        <p:spPr/>
        <p:txBody>
          <a:bodyPr/>
          <a:lstStyle/>
          <a:p>
            <a:pPr>
              <a:defRPr sz="2400"/>
            </a:pPr>
            <a:r>
              <a:t>Remove attributes that depend on part of a composite key</a:t>
            </a:r>
          </a:p>
          <a:p>
            <a:pPr>
              <a:defRPr sz="2400"/>
            </a:pPr>
            <a:r>
              <a:t>Factor shared facts into their own tables</a:t>
            </a:r>
          </a:p>
          <a:p>
            <a:pPr>
              <a:defRPr sz="2400"/>
            </a:pPr>
            <a:r>
              <a:t>Example: plan metadata should not live on attendance rows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Third Normal Form (3NF) &amp; BCNF</a:t>
            </a:r>
          </a:p>
        </p:txBody>
      </p:sp>
      <p:sp>
        <p:nvSpPr>
          <p:cNvPr id="3" name="Content Placeholder 2"/>
          <p:cNvSpPr>
            <a:spLocks noGrp="1"/>
          </p:cNvSpPr>
          <p:nvPr>
            <p:ph idx="1"/>
          </p:nvPr>
        </p:nvSpPr>
        <p:spPr/>
        <p:txBody>
          <a:bodyPr/>
          <a:lstStyle/>
          <a:p>
            <a:pPr>
              <a:defRPr sz="2400"/>
            </a:pPr>
            <a:r>
              <a:t>3NF: non-key attributes depend only on the key</a:t>
            </a:r>
          </a:p>
          <a:p>
            <a:pPr>
              <a:defRPr sz="2400"/>
            </a:pPr>
            <a:r>
              <a:t>BCNF: every determinant is a candidate key</a:t>
            </a:r>
          </a:p>
          <a:p>
            <a:pPr>
              <a:defRPr sz="2400"/>
            </a:pPr>
            <a:r>
              <a:t>Check for Advisor → Email or Session → Instructor chains</a:t>
            </a:r>
          </a:p>
          <a:p>
            <a:pPr>
              <a:defRPr sz="2400"/>
            </a:pPr>
            <a:r>
              <a:t>When BCNF conflicts with practicality, document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Trade-Offs</a:t>
            </a:r>
          </a:p>
        </p:txBody>
      </p:sp>
      <p:sp>
        <p:nvSpPr>
          <p:cNvPr id="3" name="Content Placeholder 2"/>
          <p:cNvSpPr>
            <a:spLocks noGrp="1"/>
          </p:cNvSpPr>
          <p:nvPr>
            <p:ph idx="1"/>
          </p:nvPr>
        </p:nvSpPr>
        <p:spPr/>
        <p:txBody>
          <a:bodyPr/>
          <a:lstStyle/>
          <a:p>
            <a:pPr>
              <a:defRPr sz="2400"/>
            </a:pPr>
            <a:r>
              <a:t>Denormalize on purpose for performance/reporting</a:t>
            </a:r>
          </a:p>
          <a:p>
            <a:pPr>
              <a:defRPr sz="2400"/>
            </a:pPr>
            <a:r>
              <a:t>Index choices follow from access patterns</a:t>
            </a:r>
          </a:p>
          <a:p>
            <a:pPr>
              <a:defRPr sz="2400"/>
            </a:pPr>
            <a:r>
              <a:t>Use comments and diagrams to capture intent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Build Checklist</a:t>
            </a:r>
          </a:p>
        </p:txBody>
      </p:sp>
      <p:sp>
        <p:nvSpPr>
          <p:cNvPr id="3" name="Content Placeholder 2"/>
          <p:cNvSpPr>
            <a:spLocks noGrp="1"/>
          </p:cNvSpPr>
          <p:nvPr>
            <p:ph idx="1"/>
          </p:nvPr>
        </p:nvSpPr>
        <p:spPr/>
        <p:txBody>
          <a:bodyPr/>
          <a:lstStyle/>
          <a:p>
            <a:pPr>
              <a:defRPr sz="2400"/>
            </a:pPr>
            <a:r>
              <a:t>Load the raw spreadsheet data into public schema</a:t>
            </a:r>
          </a:p>
          <a:p>
            <a:pPr>
              <a:defRPr sz="2400"/>
            </a:pPr>
            <a:r>
              <a:t>Run anomaly queries (capacities, multi-date orders)</a:t>
            </a:r>
          </a:p>
          <a:p>
            <a:pPr>
              <a:defRPr sz="2400"/>
            </a:pPr>
            <a:r>
              <a:t>Create normalized tables with simple keys</a:t>
            </a:r>
          </a:p>
          <a:p>
            <a:pPr>
              <a:defRPr sz="2400"/>
            </a:pPr>
            <a:r>
              <a:t>Insert distinct dimension rows + attendance facts</a:t>
            </a:r>
          </a:p>
          <a:p>
            <a:pPr>
              <a:defRPr sz="2400"/>
            </a:pPr>
            <a:r>
              <a:t>Show a clean join result to prove the fix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Reminders</a:t>
            </a:r>
          </a:p>
        </p:txBody>
      </p:sp>
      <p:sp>
        <p:nvSpPr>
          <p:cNvPr id="3" name="Content Placeholder 2"/>
          <p:cNvSpPr>
            <a:spLocks noGrp="1"/>
          </p:cNvSpPr>
          <p:nvPr>
            <p:ph idx="1"/>
          </p:nvPr>
        </p:nvSpPr>
        <p:spPr/>
        <p:txBody>
          <a:bodyPr/>
          <a:lstStyle/>
          <a:p>
            <a:pPr>
              <a:defRPr sz="2400"/>
            </a:pPr>
            <a:r>
              <a:t>Run the setup SQL to recreate wellness_subscription_raw</a:t>
            </a:r>
          </a:p>
          <a:p>
            <a:pPr>
              <a:defRPr sz="2400"/>
            </a:pPr>
            <a:r>
              <a:t>Map functional dependencies before touching DDL</a:t>
            </a:r>
          </a:p>
          <a:p>
            <a:pPr>
              <a:defRPr sz="2400"/>
            </a:pPr>
            <a:r>
              <a:t>Create six core tables (students, advisors, plans, sessions, subscriptions, attendance)</a:t>
            </a:r>
          </a:p>
          <a:p>
            <a:pPr>
              <a:defRPr sz="2400"/>
            </a:pPr>
            <a:r>
              <a:t>Populate tables with INSERT … SELECT DISTINCT</a:t>
            </a:r>
          </a:p>
          <a:p>
            <a:pPr>
              <a:defRPr sz="2400"/>
            </a:pPr>
            <a:r>
              <a:t>Capture one proof query and write a short reflection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Roadmap</a:t>
            </a:r>
          </a:p>
        </p:txBody>
      </p:sp>
      <p:sp>
        <p:nvSpPr>
          <p:cNvPr id="3" name="Content Placeholder 2"/>
          <p:cNvSpPr>
            <a:spLocks noGrp="1"/>
          </p:cNvSpPr>
          <p:nvPr>
            <p:ph idx="1"/>
          </p:nvPr>
        </p:nvSpPr>
        <p:spPr/>
        <p:txBody>
          <a:bodyPr/>
          <a:lstStyle/>
          <a:p>
            <a:pPr>
              <a:defRPr sz="2400"/>
            </a:pPr>
            <a:r>
              <a:t>Start with the messy ticketing sheet</a:t>
            </a:r>
          </a:p>
          <a:p>
            <a:pPr>
              <a:defRPr sz="2400"/>
            </a:pPr>
            <a:r>
              <a:t>Surface anomalies with quick diagnostics</a:t>
            </a:r>
          </a:p>
          <a:p>
            <a:pPr>
              <a:defRPr sz="2400"/>
            </a:pPr>
            <a:r>
              <a:t>Design the normalized tables with students/advisors/plans/sessions</a:t>
            </a:r>
          </a:p>
          <a:p>
            <a:pPr>
              <a:defRPr sz="2400"/>
            </a:pPr>
            <a:r>
              <a:t>Insert distinct values and link attendance records</a:t>
            </a:r>
          </a:p>
          <a:p>
            <a:pPr>
              <a:defRPr sz="2400"/>
            </a:pPr>
            <a:r>
              <a:t>Run one clean query to confirm the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Expectations</a:t>
            </a:r>
          </a:p>
        </p:txBody>
      </p:sp>
      <p:sp>
        <p:nvSpPr>
          <p:cNvPr id="3" name="Content Placeholder 2"/>
          <p:cNvSpPr>
            <a:spLocks noGrp="1"/>
          </p:cNvSpPr>
          <p:nvPr>
            <p:ph idx="1"/>
          </p:nvPr>
        </p:nvSpPr>
        <p:spPr/>
        <p:txBody>
          <a:bodyPr/>
          <a:lstStyle/>
          <a:p>
            <a:pPr>
              <a:defRPr sz="2400"/>
            </a:pPr>
            <a:r>
              <a:t>Run the setup script to rebuild the raw table</a:t>
            </a:r>
          </a:p>
          <a:p>
            <a:pPr>
              <a:defRPr sz="2400"/>
            </a:pPr>
            <a:r>
              <a:t>List functional dependencies before writing DDL</a:t>
            </a:r>
          </a:p>
          <a:p>
            <a:pPr>
              <a:defRPr sz="2400"/>
            </a:pPr>
            <a:r>
              <a:t>Create six core tables with primary/foreign keys</a:t>
            </a:r>
          </a:p>
          <a:p>
            <a:pPr>
              <a:defRPr sz="2400"/>
            </a:pPr>
            <a:r>
              <a:t>Populate tables using INSERT … SELECT DISTINCT</a:t>
            </a:r>
          </a:p>
          <a:p>
            <a:pPr>
              <a:defRPr sz="2400"/>
            </a:pPr>
            <a:r>
              <a:t>Run one proof query to confirm the design</a:t>
            </a:r>
          </a:p>
          <a:p>
            <a:pPr>
              <a:defRPr sz="2400"/>
            </a:pPr>
            <a:r>
              <a:t>Write a short reflection on remaining trade-offs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Schema Review Roundtable</a:t>
            </a:r>
          </a:p>
        </p:txBody>
      </p:sp>
      <p:sp>
        <p:nvSpPr>
          <p:cNvPr id="3" name="Content Placeholder 2"/>
          <p:cNvSpPr>
            <a:spLocks noGrp="1"/>
          </p:cNvSpPr>
          <p:nvPr>
            <p:ph idx="1"/>
          </p:nvPr>
        </p:nvSpPr>
        <p:spPr/>
        <p:txBody>
          <a:bodyPr/>
          <a:lstStyle/>
          <a:p>
            <a:pPr>
              <a:defRPr sz="2400"/>
            </a:pPr>
            <a:r>
              <a:t>Teams share one big change and its justification</a:t>
            </a:r>
          </a:p>
          <a:p>
            <a:pPr>
              <a:defRPr sz="2400"/>
            </a:pPr>
            <a:r>
              <a:t>Class critiques edge cases and denormalization</a:t>
            </a:r>
          </a:p>
          <a:p>
            <a:pPr>
              <a:defRPr sz="2400"/>
            </a:pPr>
            <a:r>
              <a:t>Identify open questions for office hours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Midterm Alignment</a:t>
            </a:r>
          </a:p>
        </p:txBody>
      </p:sp>
      <p:sp>
        <p:nvSpPr>
          <p:cNvPr id="3" name="Content Placeholder 2"/>
          <p:cNvSpPr>
            <a:spLocks noGrp="1"/>
          </p:cNvSpPr>
          <p:nvPr>
            <p:ph idx="1"/>
          </p:nvPr>
        </p:nvSpPr>
        <p:spPr/>
        <p:txBody>
          <a:bodyPr/>
          <a:lstStyle/>
          <a:p>
            <a:pPr>
              <a:defRPr sz="2400"/>
            </a:pPr>
            <a:r>
              <a:t>Update ERDs with new entities/relationships</a:t>
            </a:r>
          </a:p>
          <a:p>
            <a:pPr>
              <a:defRPr sz="2400"/>
            </a:pPr>
            <a:r>
              <a:t>Map business rules to constraints in proposals</a:t>
            </a:r>
          </a:p>
          <a:p>
            <a:pPr>
              <a:defRPr sz="2400"/>
            </a:pPr>
            <a:r>
              <a:t>Flag data quality assumptions for stakeholders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Takeaways &amp; Next Steps</a:t>
            </a:r>
          </a:p>
        </p:txBody>
      </p:sp>
      <p:sp>
        <p:nvSpPr>
          <p:cNvPr id="3" name="Content Placeholder 2"/>
          <p:cNvSpPr>
            <a:spLocks noGrp="1"/>
          </p:cNvSpPr>
          <p:nvPr>
            <p:ph idx="1"/>
          </p:nvPr>
        </p:nvSpPr>
        <p:spPr/>
        <p:txBody>
          <a:bodyPr/>
          <a:lstStyle/>
          <a:p>
            <a:pPr>
              <a:defRPr sz="2400"/>
            </a:pPr>
            <a:r>
              <a:t>Normalize first, denormalize with intention</a:t>
            </a:r>
          </a:p>
          <a:p>
            <a:pPr>
              <a:defRPr sz="2400"/>
            </a:pPr>
            <a:r>
              <a:t>Constraints are living documentation</a:t>
            </a:r>
          </a:p>
          <a:p>
            <a:pPr>
              <a:defRPr sz="2400"/>
            </a:pPr>
            <a:r>
              <a:t>Prep questions for next office hours session</a:t>
            </a:r>
          </a:p>
          <a:p>
            <a:pPr>
              <a:defRPr sz="2400"/>
            </a:pPr>
            <a:r>
              <a:t>Start integrating feedback into midterm drafts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