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CST4714 Database Administration full-course review and final project alignment session. We will connect every week to your final deliverables and pause for questions along the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Reconnect all weekly themes to the final project deliverables.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Surface checklists for backup, security, HA, monitoring, and demo readiness.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Give teams a narrative for their Week 15 presentation.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Flag any gaps that must be closed this week.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Design: sound schema/collections with clear key strategy and constraints/validation.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Administration: backups, restore drills, roles/auditing, replication/HA, monitoring.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Performance: indexing decisions tied to real query shapes.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Operations: migration plan, change control, and reproducible deployment.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5: Communication: crisp 10–12 minute demo and written report.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Use weekly recap slides as a study map; link concepts to your project decisions.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Review the admin evidence slides and capture screenshots/logs tonight.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Borrow demo and storytelling patterns for the Week 15 presentation.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Turn checklist items into GitHub issues or a punch list for your team.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Deliver a database solution for a client scenario (SQL, NoSQL, or hybrid).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Bundle: design doc, implementation artifacts, admin proof, written report, presentation.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Demo shows user workflow plus how you administer, secure, and recover the system.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Teams of 3–4; share roles across data model, admin/ops, security, testing/demo.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Technical fit: schema/collections and indexing match access patterns.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Reliability: backups and HA tested; rollbacks are possible.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Security: least-privilege roles, auditing/logging, secrets handling.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Observability: monitoring/alerting with evidence of signals.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5: Communication: clear slides, concise demo, risks and mitigations stated.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Role of the DBA: reliability, security, performance, cost, and change control.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Data lifecycle: requirements → design → deploy → monitor → tune → back up.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Tooling orientation: psql/GUI clients, cloud consoles, scripting entry points.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Success criteria: availability targets, RPO/RTO, compliance requirements.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Relational model basics: tables, rows, columns, keys, relationships.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ACID and transaction guarantees as the baseline for safe data changes.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SQL recap: SELECT, INSERT/UPDATE/DELETE, joins, aggregates, predicates.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Integrity controls: primary/foreign keys, unique and check constraints.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Define the client problem and data domains before choosing a stack.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Set availability/RPO/RTO expectations with stakeholders early.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List compliance/security requirements that drive design choices.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Capture baseline queries and transactions that must succeed.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Postgres processes: postmaster, background writer, checkpointer, WAL writer.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Memory layout: shared buffers, work_mem, wal_buffers, autovacuum internals.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Storage: heap vs indexes, tuple visibility, VACUUM and bloat considerations.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Connection handling: pooling strategies and cost of connections.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DBaaS concepts: provisioning, sizing, backups, and parameter tuning.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Security in the cloud: network rules, TLS, credential rotation, secrets storage.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Cost optimization: right-sizing, storage tiers, scheduled scaling, monitoring usage.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Supabase/Atlas orientation for rapid lab work.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Used the country club schema (review.sql) for joins, aggregates, and filters.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Reviewed indexing basics to align with query shapes.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Documented early performance findings to inform later admin work.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Captured baseline metrics for comparison after optimization.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Choose cloud services and sizing that match expected workload.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Plan connection pooling and memory settings for your stack.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Document cost and security controls in your architecture slide.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Reuse baseline metrics as a target after optimization.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Functions and procedures: encapsulating logic and reuse.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Views/materialized views for abstraction, caching, and security boundaries.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Constraints: primary/foreign keys, unique, check, exclusion, deferrable logic.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Triggers for auditing, validation, and denormalized writes.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ACID deep dive and isolation levels (read committed, repeatable read, serializable).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Locking behavior and diagnosing deadlocks/contention.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Error recovery and savepoints during complex writes.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Patterns for safe migrations and rollback planning.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Scoped project ideas and risks.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Mapped business rules to constraints and trigger-based enforcement.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Outlined evaluation metrics and success criteria.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Practiced documenting assumptions and trade-offs.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Enforce business rules via constraints/validation in your final build.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Use triggers/auditing for admin evidence on data changes.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Select isolation level and retry logic appropriate to workload.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Plan migrations with savepoints and rollback steps.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Conceptual → logical modeling: entities, attributes, cardinality, optionality.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Key strategy: natural vs surrogate keys, alternate keys, foreign key choices.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Functional dependencies and anomaly detection.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Normalization walkthrough: 1NF → 2NF → 3NF → BCNF when justified.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Refactored messy schemas into cleaner 3NF designs.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Documented justified denormalization for performance/reporting.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Linked schema decisions to project proposal revisions.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Captured peer feedback to strengthen final designs.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Present ERDs/data dictionaries that show clean keys and relationships.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Call out where you denormalized and why (performance, reporting, simplicity).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Tie key/index choices directly to user stories and queries.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Keep a change log of schema tweaks between drafts.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Catch-up on labs, normalization submissions, and design edits.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Desk checks on ERDs and transaction logic.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Stabilized environments for the next checkpoints.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Set up lightweight monitoring and backup habits early.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Diagnostics on joins, window functions, triggers, and transactions.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Schema critique drills to reinforce normalization and integrity.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Performance troubleshooting scenarios around locks and isolation.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Project huddle to align scope, deliverables, and risks.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Reapply SQL troubleshooting patterns to your current queries.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Draft a runbook for handling locks, errors, and failed transactions.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Use earlier feedback to refine scope and risk register.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Share lessons learned as a slide in the final deck.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Why documents: flexible schema, developer velocity, embedding vs referencing.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CRUD in mongosh; BSON types and query operators.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Atlas onboarding and student cheat sheet for commands.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Assigned labs: Joining Array Fields and Atlas setup.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Document modeling versus relational modeling mindsets.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Workload analysis: reads vs writes, locality, document growth.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Governance: schema validation, naming, and data lifecycle in document stores.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Cost and scaling levers in Atlas (tiers, storage, regions).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Justify embedding vs referencing with access pattern evidence.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Plan validation rules (jsonSchema) and collection naming standards.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Select read/write concern levels and explain why.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Budget for storage and scaling; track cost levers in slides.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CAP theorem implications for distributed data systems.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Model comparisons: key-value, document, column-family, graph.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Consistency controls in MongoDB: read concern, write concern, majority writes.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Notebook lab on latency and consistency trade-offs.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Seed + index + aggregation scripts via mongosh automation.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Atlas provisioning workflow and IP allowlisting.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Prepared code snippets for reuse in the final project.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Logged observations on when to favor consistency vs availability.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5-step MongoDB schema methodology and anti-patterns.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Relationship patterns: embedding, referencing, bucketing, subset, outlier handling.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Validation with jsonSchema and governance of evolving documents.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Credential launch: MongoDB skill badge planning.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Reshaped relational-style data into document models via mongosh script.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Evaluated embedding vs referencing against query shapes.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Captured validation rules and index needs for converted collections.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Set personal deadlines for the skill badge.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Show how each collection supports target queries and updates.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Pair indexes with filters/sorts in your demo queries.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Use validation to enforce structure and reduce bad data in production.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Document how you would evolve the schema without downtime.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Index internals: B-tree basics, multikey behavior, compound ordering.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Query shape inventory to match filters, sorts, projections.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Explain plan analysis with executionStats focus.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Atlas Performance Advisor vs curated index design.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Measured nReturned, totalKeysExamined, totalDocsExamined, executionTimeMillis.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Tested multikey caveats with arrays and isMultiKey flag.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Compared automated suggestions to manual compound indexes.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Documented trade-offs: write amplification, storage, TTL, partial indexes.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Include before/after explain screenshots for key queries.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State your indexing strategy and how it impacts writes/storage.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Plan index lifecycle (creation, removal, TTL) and monitoring.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Address multikey or partial index considerations explicitly.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Deepened document design patterns using the MongoDB design deck.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Explored Atlas free tier access, project setup, and connectivity.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Reinforced schema validation and governance in production contexts.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Linked design choices to backup, security, and monitoring plans.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Show connection patterns and access controls for your Atlas project.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Document schema validation and migration approach.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Connect design choices to resilience (backups, HA) and security.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Capture any cost or scaling constraints from the free tier learnings.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Formed teams, finalized topics, and locked architecture choices.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Produced data dictionaries, ER/aggregation diagrams, and admin plans.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Stubbed implementation scripts for schema creation, seed data, migrations.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Ran consultations and captured feedback for risk mitigation.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Team roster + communication channel shared.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Admin plan draft (backup/restore, security, replication/HA, monitoring).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Initial implementation artifacts committed to repo.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Consultation notes with decisions and follow-ups.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Convert consultation notes into issue list with owners.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Prioritize admin evidence and demo stability over new scope.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Keep diagrams and scripts in sync with the implemented build.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Decide what to defer or cut before Week 15 to stay reliable.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Structured peer reviews: one group presents to another mid-class.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Troubleshooting clinic for technical blockers and demo stability.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Working sprint to finish admin evidence and slide polish.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Close with risks, demo plan, and Week 15 readiness checklist.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Use peer feedback to tighten story and surface risks.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Record evidence of fixes after each round of review.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Rehearse the live demo and time-box to 10–12 minutes.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Lock the codebase and only allow critical fixes afterward.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Map requirements to stack: Postgres vs MongoDB vs hybrid.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Consider workload patterns: read/write mix, latency sensitivity, data shape.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Plan for growth: partitioning, sharding, indexing strategy, archive strategy.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Document trade-offs so reviewers understand your choices.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Relational: normalization first, denormalize with evidence.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Document: embed for locality, reference for fan-out or unbounded growth.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Key design: natural vs surrogate keys, compound indexes for query shapes.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Validation: constraints, triggers, jsonSchema, check constraints.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Define RPO/RTO and map to tooling (pg_basebackup, logical dumps, Atlas backups).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Automate schedules; store backups offsite/securely.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Test restores regularly into non-prod; capture logs/screenshots.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Document rollback steps for schema and data changes.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Least privilege roles, database users scoped per service.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Auditing/logging for admin actions and data access.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Secrets management: env vars, vaults, rotation cadence.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Network controls: IP allowlists, TLS, strong auth, MFA where available.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Replication/HA setup and failover testing.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Connection resilience (retry logic, timeouts, circuit breakers).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Schema choices that minimize hot spots and lock contention.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Runbooks for incidents with clear ownership and steps.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Metrics to track: CPU, memory, disk, cache hit ratio, connections, locks.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Query health: slow query logs, profiler, explain samples.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Alerts for backup failures, replication lag, error rates, latency.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Dashboards and log retention policies for audits.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Index only what queries need; match filter → sort → projection order.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Avoid over-indexing; measure write costs and storage growth.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Use partial/TTL indexes where applicable; watch multikey edge cases.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Benchmark before/after and record metrics in your repo.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Plan migration steps with checkpoints and validation queries.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Use transactions or phased rollouts to reduce risk.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Maintain backward compatibility during deployments.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Document rollback paths and who approves changes.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Screenshots/logs of successful backup and restore.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Role definitions and auditing/log samples.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Failover test output or screenshots of replica state.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Monitoring dashboard or alert notification examples.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5: Explain plans or profiler output showing indexed queries.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Backup: schedule, storage location, restore proof.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Security: role matrix, audit log sample, credential handling.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Availability: topology diagram, failover drill steps, lag metrics.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Monitoring: dashboard URL or screenshots, alert rules, retention policy.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5: Performance: before/after metrics for top 2–3 queries.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Open with scenario, users, and why the chosen stack fits.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Show data model and admin controls (backup, security, HA, monitoring).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Run a small, deterministic workflow with live data.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Close with risks, lessons learned, and next steps.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1) Intro: scenario + team roles (1 min).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2) Architecture + data model (3 min).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3) Admin proof: backup, security, HA, monitoring (3–4 min).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4) User workflow demo (3–4 min).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5: 5) Risks + lessons + Q&amp;A prep (1–2 min).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Executive summary and scenario.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Architecture + technology justification.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Schema/collection design with diagrams and key queries.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Admin controls: backup, security, HA, monitoring.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5: Testing evidence, risks, and mitigations.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Title and team roles.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Problem statement and users.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Architecture diagram and stack rationale.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Data model and key queries.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5: Admin proof (backup, security, HA, monitoring) with screenshots.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6: Demo script + lessons learned.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Identify single points of failure and add redundancy.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Precompute rollback steps for migrations and deploys.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Throttle risky features in the demo if unstable.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Schedule one more rehearsal and dry run the failover/backups.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Assign owners for code fixes, admin evidence, slides, and report.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Use short standups and a shared punch list.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Lock code 24h before the presentation; only critical fixes after.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Keep artifacts in version control and timestamp evidence.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T-minus 72 hours: finalize code, capture screenshots, finish draft report.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T-minus 48 hours: full rehearsal with timer and backup/failover demo.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T-minus 24 hours: freeze changes, polish slides, align speaking roles.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Day-of: test connections early, preload data, have rollback plan ready.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Scenario is clear; target users and access patterns stated.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Architecture and stack fit the requirements.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Admin proof present: backup, security, HA, monitoring.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Demo is deterministic and under 12 minutes.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5: Risks acknowledged with mitigation steps.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List open questions for the instructor during consultations.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Book office hours for remaining technical risks.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Commit to a rehearsal schedule and deadlines for artifacts.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Ensure everyone knows their speaking roles.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will take a few minutes; we’ll connect each point to your final project. Listen for the evidence you must capture and who owns it tonight.</a:t>
            </a:r>
          </a:p>
          <a:p>
            <a:r>
              <a:t>Point 1: You have everything you need to finish strong.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2: Use the checklists to close gaps tonight.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3: Reach out if you hit blockers or need a quick review.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Point 4: Get ready to showcase a reliable, secure demo in Week 15. Why it matters: reviewers expect proof that this is true in your system.</a:t>
            </a:r>
          </a:p>
          <a:p>
            <a:r>
              <a:t>Evidence to show: a script, screenshot, log snippet, diagram, or short demo clip that makes this point visible.</a:t>
            </a:r>
          </a:p>
          <a:p>
            <a:r>
              <a:t>Example: apply this to your stack (Postgres or MongoDB/Atlas) and name the exact command, setting, or diagram that enforces it.</a:t>
            </a:r>
          </a:p>
          <a:p>
            <a:r>
              <a:t>Risk if ignored: downtime, data loss, security exposure, or a broken live demo. We avoid that by planning and testing now.</a:t>
            </a:r>
          </a:p>
          <a:p>
            <a:r>
              <a:t>Action: assign an owner, add it to the punch list, and set a deadline before Week 15. Pause a beat so teams can jot it down.</a:t>
            </a:r>
          </a:p>
          <a:p>
            <a:r>
              <a:t>Pause. Ask: What questions do you have before we move 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CST4714 Database Administration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Weeks 1–14 Review + Final Project Alignment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Reconnect all weekly themes to the final project deliverables</a:t>
            </a:r>
          </a:p>
          <a:p>
            <a:pPr>
              <a:defRPr sz="1800"/>
            </a:pPr>
            <a:r>
              <a:t>Surface checklists for backup, security, HA, monitoring, and demo readiness</a:t>
            </a:r>
          </a:p>
          <a:p>
            <a:pPr>
              <a:defRPr sz="1800"/>
            </a:pPr>
            <a:r>
              <a:t>Give teams a narrative for their Week 15 presentation</a:t>
            </a:r>
          </a:p>
          <a:p>
            <a:pPr>
              <a:defRPr sz="1800"/>
            </a:pPr>
            <a:r>
              <a:t>Flag any gaps that must be closed this week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Outcomes to Demonstrate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Design: sound schema/collections with clear key strategy and constraints/validation</a:t>
            </a:r>
          </a:p>
          <a:p>
            <a:pPr>
              <a:defRPr sz="1800"/>
            </a:pPr>
            <a:r>
              <a:t>Administration: backups, restore drills, roles/auditing, replication/HA, monitoring</a:t>
            </a:r>
          </a:p>
          <a:p>
            <a:pPr>
              <a:defRPr sz="1800"/>
            </a:pPr>
            <a:r>
              <a:t>Performance: indexing decisions tied to real query shapes</a:t>
            </a:r>
          </a:p>
          <a:p>
            <a:pPr>
              <a:defRPr sz="1800"/>
            </a:pPr>
            <a:r>
              <a:t>Operations: migration plan, change control, and reproducible deployment</a:t>
            </a:r>
          </a:p>
          <a:p>
            <a:pPr>
              <a:defRPr sz="1800"/>
            </a:pPr>
            <a:r>
              <a:t>Communication: crisp 10–12 minute demo and written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Use This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 weekly recap slides as a study map; link concepts to your project decisions</a:t>
            </a:r>
          </a:p>
          <a:p>
            <a:pPr>
              <a:defRPr sz="1800"/>
            </a:pPr>
            <a:r>
              <a:t>Review the admin evidence slides and capture screenshots/logs tonight</a:t>
            </a:r>
          </a:p>
          <a:p>
            <a:pPr>
              <a:defRPr sz="1800"/>
            </a:pPr>
            <a:r>
              <a:t>Borrow demo and storytelling patterns for the Week 15 presentation</a:t>
            </a:r>
          </a:p>
          <a:p>
            <a:pPr>
              <a:defRPr sz="1800"/>
            </a:pPr>
            <a:r>
              <a:t>Turn checklist items into GitHub issues or a punch list for your team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Project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Deliver a database solution for a client scenario (SQL, NoSQL, or hybrid)</a:t>
            </a:r>
          </a:p>
          <a:p>
            <a:pPr>
              <a:defRPr sz="1800"/>
            </a:pPr>
            <a:r>
              <a:t>Bundle: design doc, implementation artifacts, admin proof, written report, presentation</a:t>
            </a:r>
          </a:p>
          <a:p>
            <a:pPr>
              <a:defRPr sz="1800"/>
            </a:pPr>
            <a:r>
              <a:t>Demo shows user workflow plus how you administer, secure, and recover the system</a:t>
            </a:r>
          </a:p>
          <a:p>
            <a:pPr>
              <a:defRPr sz="1800"/>
            </a:pPr>
            <a:r>
              <a:t>Teams of 3–4; share roles across data model, admin/ops, security, testing/demo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Reminders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Technical fit: schema/collections and indexing match access patterns</a:t>
            </a:r>
          </a:p>
          <a:p>
            <a:pPr>
              <a:defRPr sz="1800"/>
            </a:pPr>
            <a:r>
              <a:t>Reliability: backups and HA tested; rollbacks are possible</a:t>
            </a:r>
          </a:p>
          <a:p>
            <a:pPr>
              <a:defRPr sz="1800"/>
            </a:pPr>
            <a:r>
              <a:t>Security: least-privilege roles, auditing/logging, secrets handling</a:t>
            </a:r>
          </a:p>
          <a:p>
            <a:pPr>
              <a:defRPr sz="1800"/>
            </a:pPr>
            <a:r>
              <a:t>Observability: monitoring/alerting with evidence of signals</a:t>
            </a:r>
          </a:p>
          <a:p>
            <a:pPr>
              <a:defRPr sz="1800"/>
            </a:pPr>
            <a:r>
              <a:t>Communication: clear slides, concise demo, risks and mitigations stated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 | DBA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Role of the DBA: reliability, security, performance, cost, and change control</a:t>
            </a:r>
          </a:p>
          <a:p>
            <a:pPr>
              <a:defRPr sz="1800"/>
            </a:pPr>
            <a:r>
              <a:t>Data lifecycle: requirements → design → deploy → monitor → tune → back up</a:t>
            </a:r>
          </a:p>
          <a:p>
            <a:pPr>
              <a:defRPr sz="1800"/>
            </a:pPr>
            <a:r>
              <a:t>Tooling orientation: psql/GUI clients, cloud consoles, scripting entry points</a:t>
            </a:r>
          </a:p>
          <a:p>
            <a:pPr>
              <a:defRPr sz="1800"/>
            </a:pPr>
            <a:r>
              <a:t>Success criteria: availability targets, RPO/RTO, compliance requirements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 | Database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Relational model basics: tables, rows, columns, keys, relationships</a:t>
            </a:r>
          </a:p>
          <a:p>
            <a:pPr>
              <a:defRPr sz="1800"/>
            </a:pPr>
            <a:r>
              <a:t>ACID and transaction guarantees as the baseline for safe data changes</a:t>
            </a:r>
          </a:p>
          <a:p>
            <a:pPr>
              <a:defRPr sz="1800"/>
            </a:pPr>
            <a:r>
              <a:t>SQL recap: SELECT, INSERT/UPDATE/DELETE, joins, aggregates, predicates</a:t>
            </a:r>
          </a:p>
          <a:p>
            <a:pPr>
              <a:defRPr sz="1800"/>
            </a:pPr>
            <a:r>
              <a:t>Integrity controls: primary/foreign keys, unique and check constraints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Weeks 1–2 → Project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Define the client problem and data domains before choosing a stack</a:t>
            </a:r>
          </a:p>
          <a:p>
            <a:pPr>
              <a:defRPr sz="1800"/>
            </a:pPr>
            <a:r>
              <a:t>Set availability/RPO/RTO expectations with stakeholders early</a:t>
            </a:r>
          </a:p>
          <a:p>
            <a:pPr>
              <a:defRPr sz="1800"/>
            </a:pPr>
            <a:r>
              <a:t>List compliance/security requirements that drive design choices</a:t>
            </a:r>
          </a:p>
          <a:p>
            <a:pPr>
              <a:defRPr sz="1800"/>
            </a:pPr>
            <a:r>
              <a:t>Capture baseline queries and transactions that must succeed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 | PostgreSQL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Postgres processes: postmaster, background writer, checkpointer, WAL writer</a:t>
            </a:r>
          </a:p>
          <a:p>
            <a:pPr>
              <a:defRPr sz="1800"/>
            </a:pPr>
            <a:r>
              <a:t>Memory layout: shared buffers, work_mem, wal_buffers, autovacuum internals</a:t>
            </a:r>
          </a:p>
          <a:p>
            <a:pPr>
              <a:defRPr sz="1800"/>
            </a:pPr>
            <a:r>
              <a:t>Storage: heap vs indexes, tuple visibility, VACUUM and bloat considerations</a:t>
            </a:r>
          </a:p>
          <a:p>
            <a:pPr>
              <a:defRPr sz="1800"/>
            </a:pPr>
            <a:r>
              <a:t>Connection handling: pooling strategies and cost of connections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 | Cloud DB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DBaaS concepts: provisioning, sizing, backups, and parameter tuning</a:t>
            </a:r>
          </a:p>
          <a:p>
            <a:pPr>
              <a:defRPr sz="1800"/>
            </a:pPr>
            <a:r>
              <a:t>Security in the cloud: network rules, TLS, credential rotation, secrets storage</a:t>
            </a:r>
          </a:p>
          <a:p>
            <a:pPr>
              <a:defRPr sz="1800"/>
            </a:pPr>
            <a:r>
              <a:t>Cost optimization: right-sizing, storage tiers, scheduled scaling, monitoring usage</a:t>
            </a:r>
          </a:p>
          <a:p>
            <a:pPr>
              <a:defRPr sz="1800"/>
            </a:pPr>
            <a:r>
              <a:t>Supabase/Atlas orientation for rapid lab 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 | SQL &amp; Schema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Used the country club schema (review.sql) for joins, aggregates, and filters</a:t>
            </a:r>
          </a:p>
          <a:p>
            <a:pPr>
              <a:defRPr sz="1800"/>
            </a:pPr>
            <a:r>
              <a:t>Reviewed indexing basics to align with query shapes</a:t>
            </a:r>
          </a:p>
          <a:p>
            <a:pPr>
              <a:defRPr sz="1800"/>
            </a:pPr>
            <a:r>
              <a:t>Documented early performance findings to inform later admin work</a:t>
            </a:r>
          </a:p>
          <a:p>
            <a:pPr>
              <a:defRPr sz="1800"/>
            </a:pPr>
            <a:r>
              <a:t>Captured baseline metrics for comparison after optimization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 → Project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Choose cloud services and sizing that match expected workload</a:t>
            </a:r>
          </a:p>
          <a:p>
            <a:pPr>
              <a:defRPr sz="1800"/>
            </a:pPr>
            <a:r>
              <a:t>Plan connection pooling and memory settings for your stack</a:t>
            </a:r>
          </a:p>
          <a:p>
            <a:pPr>
              <a:defRPr sz="1800"/>
            </a:pPr>
            <a:r>
              <a:t>Document cost and security controls in your architecture slide</a:t>
            </a:r>
          </a:p>
          <a:p>
            <a:pPr>
              <a:defRPr sz="1800"/>
            </a:pPr>
            <a:r>
              <a:t>Reuse baseline metrics as a target after optimization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 | Advanced SQL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Functions and procedures: encapsulating logic and reuse</a:t>
            </a:r>
          </a:p>
          <a:p>
            <a:pPr>
              <a:defRPr sz="1800"/>
            </a:pPr>
            <a:r>
              <a:t>Views/materialized views for abstraction, caching, and security boundaries</a:t>
            </a:r>
          </a:p>
          <a:p>
            <a:pPr>
              <a:defRPr sz="1800"/>
            </a:pPr>
            <a:r>
              <a:t>Constraints: primary/foreign keys, unique, check, exclusion, deferrable logic</a:t>
            </a:r>
          </a:p>
          <a:p>
            <a:pPr>
              <a:defRPr sz="1800"/>
            </a:pPr>
            <a:r>
              <a:t>Triggers for auditing, validation, and denormalized writes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 | Transactions &amp; Concurrency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ACID deep dive and isolation levels (read committed, repeatable read, serializable)</a:t>
            </a:r>
          </a:p>
          <a:p>
            <a:pPr>
              <a:defRPr sz="1800"/>
            </a:pPr>
            <a:r>
              <a:t>Locking behavior and diagnosing deadlocks/contention</a:t>
            </a:r>
          </a:p>
          <a:p>
            <a:pPr>
              <a:defRPr sz="1800"/>
            </a:pPr>
            <a:r>
              <a:t>Error recovery and savepoints during complex writes</a:t>
            </a:r>
          </a:p>
          <a:p>
            <a:pPr>
              <a:defRPr sz="1800"/>
            </a:pPr>
            <a:r>
              <a:t>Patterns for safe migrations and rollback planning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 | Project Scope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Scoped project ideas and risks</a:t>
            </a:r>
          </a:p>
          <a:p>
            <a:pPr>
              <a:defRPr sz="1800"/>
            </a:pPr>
            <a:r>
              <a:t>Mapped business rules to constraints and trigger-based enforcement</a:t>
            </a:r>
          </a:p>
          <a:p>
            <a:pPr>
              <a:defRPr sz="1800"/>
            </a:pPr>
            <a:r>
              <a:t>Outlined evaluation metrics and success criteria</a:t>
            </a:r>
          </a:p>
          <a:p>
            <a:pPr>
              <a:defRPr sz="1800"/>
            </a:pPr>
            <a:r>
              <a:t>Practiced documenting assumptions and trade-offs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 → Project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Enforce business rules via constraints/validation in your final build</a:t>
            </a:r>
          </a:p>
          <a:p>
            <a:pPr>
              <a:defRPr sz="1800"/>
            </a:pPr>
            <a:r>
              <a:t>Use triggers/auditing for admin evidence on data changes</a:t>
            </a:r>
          </a:p>
          <a:p>
            <a:pPr>
              <a:defRPr sz="1800"/>
            </a:pPr>
            <a:r>
              <a:t>Select isolation level and retry logic appropriate to workload</a:t>
            </a:r>
          </a:p>
          <a:p>
            <a:pPr>
              <a:defRPr sz="1800"/>
            </a:pPr>
            <a:r>
              <a:t>Plan migrations with savepoints and rollback steps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5 | Modeling &amp;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Conceptual → logical modeling: entities, attributes, cardinality, optionality</a:t>
            </a:r>
          </a:p>
          <a:p>
            <a:pPr>
              <a:defRPr sz="1800"/>
            </a:pPr>
            <a:r>
              <a:t>Key strategy: natural vs surrogate keys, alternate keys, foreign key choices</a:t>
            </a:r>
          </a:p>
          <a:p>
            <a:pPr>
              <a:defRPr sz="1800"/>
            </a:pPr>
            <a:r>
              <a:t>Functional dependencies and anomaly detection</a:t>
            </a:r>
          </a:p>
          <a:p>
            <a:pPr>
              <a:defRPr sz="1800"/>
            </a:pPr>
            <a:r>
              <a:t>Normalization walkthrough: 1NF → 2NF → 3NF → BCNF when justified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5 | Design Studio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Refactored messy schemas into cleaner 3NF designs</a:t>
            </a:r>
          </a:p>
          <a:p>
            <a:pPr>
              <a:defRPr sz="1800"/>
            </a:pPr>
            <a:r>
              <a:t>Documented justified denormalization for performance/reporting</a:t>
            </a:r>
          </a:p>
          <a:p>
            <a:pPr>
              <a:defRPr sz="1800"/>
            </a:pPr>
            <a:r>
              <a:t>Linked schema decisions to project proposal revisions</a:t>
            </a:r>
          </a:p>
          <a:p>
            <a:pPr>
              <a:defRPr sz="1800"/>
            </a:pPr>
            <a:r>
              <a:t>Captured peer feedback to strengthen final designs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5 → Project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Present ERDs/data dictionaries that show clean keys and relationships</a:t>
            </a:r>
          </a:p>
          <a:p>
            <a:pPr>
              <a:defRPr sz="1800"/>
            </a:pPr>
            <a:r>
              <a:t>Call out where you denormalized and why (performance, reporting, simplicity)</a:t>
            </a:r>
          </a:p>
          <a:p>
            <a:pPr>
              <a:defRPr sz="1800"/>
            </a:pPr>
            <a:r>
              <a:t>Tie key/index choices directly to user stories and queries</a:t>
            </a:r>
          </a:p>
          <a:p>
            <a:pPr>
              <a:defRPr sz="1800"/>
            </a:pPr>
            <a:r>
              <a:t>Keep a change log of schema tweaks between drafts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6 | Buffer &amp; Design Revisions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Catch-up on labs, normalization submissions, and design edits</a:t>
            </a:r>
          </a:p>
          <a:p>
            <a:pPr>
              <a:defRPr sz="1800"/>
            </a:pPr>
            <a:r>
              <a:t>Desk checks on ERDs and transaction logic</a:t>
            </a:r>
          </a:p>
          <a:p>
            <a:pPr>
              <a:defRPr sz="1800"/>
            </a:pPr>
            <a:r>
              <a:t>Stabilized environments for the next checkpoints</a:t>
            </a:r>
          </a:p>
          <a:p>
            <a:pPr>
              <a:defRPr sz="1800"/>
            </a:pPr>
            <a:r>
              <a:t>Set up lightweight monitoring and backup habits early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7 | Review &amp; Troubleshooting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Diagnostics on joins, window functions, triggers, and transactions</a:t>
            </a:r>
          </a:p>
          <a:p>
            <a:pPr>
              <a:defRPr sz="1800"/>
            </a:pPr>
            <a:r>
              <a:t>Schema critique drills to reinforce normalization and integrity</a:t>
            </a:r>
          </a:p>
          <a:p>
            <a:pPr>
              <a:defRPr sz="1800"/>
            </a:pPr>
            <a:r>
              <a:t>Performance troubleshooting scenarios around locks and isolation</a:t>
            </a:r>
          </a:p>
          <a:p>
            <a:pPr>
              <a:defRPr sz="1800"/>
            </a:pPr>
            <a:r>
              <a:t>Project huddle to align scope, deliverables, and risks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7 → Project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Reapply SQL troubleshooting patterns to your current queries</a:t>
            </a:r>
          </a:p>
          <a:p>
            <a:pPr>
              <a:defRPr sz="1800"/>
            </a:pPr>
            <a:r>
              <a:t>Draft a runbook for handling locks, errors, and failed transactions</a:t>
            </a:r>
          </a:p>
          <a:p>
            <a:pPr>
              <a:defRPr sz="1800"/>
            </a:pPr>
            <a:r>
              <a:t>Use earlier feedback to refine scope and risk register</a:t>
            </a:r>
          </a:p>
          <a:p>
            <a:pPr>
              <a:defRPr sz="1800"/>
            </a:pPr>
            <a:r>
              <a:t>Share lessons learned as a slide in the final deck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8 | MongoDB &amp; NoSQL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Why documents: flexible schema, developer velocity, embedding vs referencing</a:t>
            </a:r>
          </a:p>
          <a:p>
            <a:pPr>
              <a:defRPr sz="1800"/>
            </a:pPr>
            <a:r>
              <a:t>CRUD in mongosh; BSON types and query operators</a:t>
            </a:r>
          </a:p>
          <a:p>
            <a:pPr>
              <a:defRPr sz="1800"/>
            </a:pPr>
            <a:r>
              <a:t>Atlas onboarding and student cheat sheet for commands</a:t>
            </a:r>
          </a:p>
          <a:p>
            <a:pPr>
              <a:defRPr sz="1800"/>
            </a:pPr>
            <a:r>
              <a:t>Assigned labs: Joining Array Fields and Atlas setup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8 | Design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Document modeling versus relational modeling mindsets</a:t>
            </a:r>
          </a:p>
          <a:p>
            <a:pPr>
              <a:defRPr sz="1800"/>
            </a:pPr>
            <a:r>
              <a:t>Workload analysis: reads vs writes, locality, document growth</a:t>
            </a:r>
          </a:p>
          <a:p>
            <a:pPr>
              <a:defRPr sz="1800"/>
            </a:pPr>
            <a:r>
              <a:t>Governance: schema validation, naming, and data lifecycle in document stores</a:t>
            </a:r>
          </a:p>
          <a:p>
            <a:pPr>
              <a:defRPr sz="1800"/>
            </a:pPr>
            <a:r>
              <a:t>Cost and scaling levers in Atlas (tiers, storage, regions)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Weeks 8–9 → Project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Justify embedding vs referencing with access pattern evidence</a:t>
            </a:r>
          </a:p>
          <a:p>
            <a:pPr>
              <a:defRPr sz="1800"/>
            </a:pPr>
            <a:r>
              <a:t>Plan validation rules (jsonSchema) and collection naming standards</a:t>
            </a:r>
          </a:p>
          <a:p>
            <a:pPr>
              <a:defRPr sz="1800"/>
            </a:pPr>
            <a:r>
              <a:t>Select read/write concern levels and explain why</a:t>
            </a:r>
          </a:p>
          <a:p>
            <a:pPr>
              <a:defRPr sz="1800"/>
            </a:pPr>
            <a:r>
              <a:t>Budget for storage and scaling; track cost levers in slides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9 | CAP &amp; NoSQL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CAP theorem implications for distributed data systems</a:t>
            </a:r>
          </a:p>
          <a:p>
            <a:pPr>
              <a:defRPr sz="1800"/>
            </a:pPr>
            <a:r>
              <a:t>Model comparisons: key-value, document, column-family, graph</a:t>
            </a:r>
          </a:p>
          <a:p>
            <a:pPr>
              <a:defRPr sz="1800"/>
            </a:pPr>
            <a:r>
              <a:t>Consistency controls in MongoDB: read concern, write concern, majority writes</a:t>
            </a:r>
          </a:p>
          <a:p>
            <a:pPr>
              <a:defRPr sz="1800"/>
            </a:pPr>
            <a:r>
              <a:t>Notebook lab on latency and consistency trade-offs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9 | Automation &amp; Scripting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Seed + index + aggregation scripts via mongosh automation</a:t>
            </a:r>
          </a:p>
          <a:p>
            <a:pPr>
              <a:defRPr sz="1800"/>
            </a:pPr>
            <a:r>
              <a:t>Atlas provisioning workflow and IP allowlisting</a:t>
            </a:r>
          </a:p>
          <a:p>
            <a:pPr>
              <a:defRPr sz="1800"/>
            </a:pPr>
            <a:r>
              <a:t>Prepared code snippets for reuse in the final project</a:t>
            </a:r>
          </a:p>
          <a:p>
            <a:pPr>
              <a:defRPr sz="1800"/>
            </a:pPr>
            <a:r>
              <a:t>Logged observations on when to favor consistency vs availability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10 | Relational → Document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5-step MongoDB schema methodology and anti-patterns</a:t>
            </a:r>
          </a:p>
          <a:p>
            <a:pPr>
              <a:defRPr sz="1800"/>
            </a:pPr>
            <a:r>
              <a:t>Relationship patterns: embedding, referencing, bucketing, subset, outlier handling</a:t>
            </a:r>
          </a:p>
          <a:p>
            <a:pPr>
              <a:defRPr sz="1800"/>
            </a:pPr>
            <a:r>
              <a:t>Validation with jsonSchema and governance of evolving documents</a:t>
            </a:r>
          </a:p>
          <a:p>
            <a:pPr>
              <a:defRPr sz="1800"/>
            </a:pPr>
            <a:r>
              <a:t>Credential launch: MongoDB skill badge planning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10 | Lab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Reshaped relational-style data into document models via mongosh script</a:t>
            </a:r>
          </a:p>
          <a:p>
            <a:pPr>
              <a:defRPr sz="1800"/>
            </a:pPr>
            <a:r>
              <a:t>Evaluated embedding vs referencing against query shapes</a:t>
            </a:r>
          </a:p>
          <a:p>
            <a:pPr>
              <a:defRPr sz="1800"/>
            </a:pPr>
            <a:r>
              <a:t>Captured validation rules and index needs for converted collections</a:t>
            </a:r>
          </a:p>
          <a:p>
            <a:pPr>
              <a:defRPr sz="1800"/>
            </a:pPr>
            <a:r>
              <a:t>Set personal deadlines for the skill badge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Weeks 10–11 → Project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Show how each collection supports target queries and updates</a:t>
            </a:r>
          </a:p>
          <a:p>
            <a:pPr>
              <a:defRPr sz="1800"/>
            </a:pPr>
            <a:r>
              <a:t>Pair indexes with filters/sorts in your demo queries</a:t>
            </a:r>
          </a:p>
          <a:p>
            <a:pPr>
              <a:defRPr sz="1800"/>
            </a:pPr>
            <a:r>
              <a:t>Use validation to enforce structure and reduce bad data in production</a:t>
            </a:r>
          </a:p>
          <a:p>
            <a:pPr>
              <a:defRPr sz="1800"/>
            </a:pPr>
            <a:r>
              <a:t>Document how you would evolve the schema without downtime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11 | Indexing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Index internals: B-tree basics, multikey behavior, compound ordering</a:t>
            </a:r>
          </a:p>
          <a:p>
            <a:pPr>
              <a:defRPr sz="1800"/>
            </a:pPr>
            <a:r>
              <a:t>Query shape inventory to match filters, sorts, projections</a:t>
            </a:r>
          </a:p>
          <a:p>
            <a:pPr>
              <a:defRPr sz="1800"/>
            </a:pPr>
            <a:r>
              <a:t>Explain plan analysis with executionStats focus</a:t>
            </a:r>
          </a:p>
          <a:p>
            <a:pPr>
              <a:defRPr sz="1800"/>
            </a:pPr>
            <a:r>
              <a:t>Atlas Performance Advisor vs curated index design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11 | Lab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Measured nReturned, totalKeysExamined, totalDocsExamined, executionTimeMillis</a:t>
            </a:r>
          </a:p>
          <a:p>
            <a:pPr>
              <a:defRPr sz="1800"/>
            </a:pPr>
            <a:r>
              <a:t>Tested multikey caveats with arrays and isMultiKey flag</a:t>
            </a:r>
          </a:p>
          <a:p>
            <a:pPr>
              <a:defRPr sz="1800"/>
            </a:pPr>
            <a:r>
              <a:t>Compared automated suggestions to manual compound indexes</a:t>
            </a:r>
          </a:p>
          <a:p>
            <a:pPr>
              <a:defRPr sz="1800"/>
            </a:pPr>
            <a:r>
              <a:t>Documented trade-offs: write amplification, storage, TTL, partial indexes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11 → Project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Include before/after explain screenshots for key queries</a:t>
            </a:r>
          </a:p>
          <a:p>
            <a:pPr>
              <a:defRPr sz="1800"/>
            </a:pPr>
            <a:r>
              <a:t>State your indexing strategy and how it impacts writes/storage</a:t>
            </a:r>
          </a:p>
          <a:p>
            <a:pPr>
              <a:defRPr sz="1800"/>
            </a:pPr>
            <a:r>
              <a:t>Plan index lifecycle (creation, removal, TTL) and monitoring</a:t>
            </a:r>
          </a:p>
          <a:p>
            <a:pPr>
              <a:defRPr sz="1800"/>
            </a:pPr>
            <a:r>
              <a:t>Address multikey or partial index considerations explicitly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12 | MongoDB Design &amp;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Deepened document design patterns using the MongoDB design deck</a:t>
            </a:r>
          </a:p>
          <a:p>
            <a:pPr>
              <a:defRPr sz="1800"/>
            </a:pPr>
            <a:r>
              <a:t>Explored Atlas free tier access, project setup, and connectivity</a:t>
            </a:r>
          </a:p>
          <a:p>
            <a:pPr>
              <a:defRPr sz="1800"/>
            </a:pPr>
            <a:r>
              <a:t>Reinforced schema validation and governance in production contexts</a:t>
            </a:r>
          </a:p>
          <a:p>
            <a:pPr>
              <a:defRPr sz="1800"/>
            </a:pPr>
            <a:r>
              <a:t>Linked design choices to backup, security, and monitoring plans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12 → Project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Show connection patterns and access controls for your Atlas project</a:t>
            </a:r>
          </a:p>
          <a:p>
            <a:pPr>
              <a:defRPr sz="1800"/>
            </a:pPr>
            <a:r>
              <a:t>Document schema validation and migration approach</a:t>
            </a:r>
          </a:p>
          <a:p>
            <a:pPr>
              <a:defRPr sz="1800"/>
            </a:pPr>
            <a:r>
              <a:t>Connect design choices to resilience (backups, HA) and security</a:t>
            </a:r>
          </a:p>
          <a:p>
            <a:pPr>
              <a:defRPr sz="1800"/>
            </a:pPr>
            <a:r>
              <a:t>Capture any cost or scaling constraints from the free tier learnings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13 | Final Project Build 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Formed teams, finalized topics, and locked architecture choices</a:t>
            </a:r>
          </a:p>
          <a:p>
            <a:pPr>
              <a:defRPr sz="1800"/>
            </a:pPr>
            <a:r>
              <a:t>Produced data dictionaries, ER/aggregation diagrams, and admin plans</a:t>
            </a:r>
          </a:p>
          <a:p>
            <a:pPr>
              <a:defRPr sz="1800"/>
            </a:pPr>
            <a:r>
              <a:t>Stubbed implementation scripts for schema creation, seed data, migrations</a:t>
            </a:r>
          </a:p>
          <a:p>
            <a:pPr>
              <a:defRPr sz="1800"/>
            </a:pPr>
            <a:r>
              <a:t>Ran consultations and captured feedback for risk mitigation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13 |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Team roster + communication channel shared</a:t>
            </a:r>
          </a:p>
          <a:p>
            <a:pPr>
              <a:defRPr sz="1800"/>
            </a:pPr>
            <a:r>
              <a:t>Admin plan draft (backup/restore, security, replication/HA, monitoring)</a:t>
            </a:r>
          </a:p>
          <a:p>
            <a:pPr>
              <a:defRPr sz="1800"/>
            </a:pPr>
            <a:r>
              <a:t>Initial implementation artifacts committed to repo</a:t>
            </a:r>
          </a:p>
          <a:p>
            <a:pPr>
              <a:defRPr sz="1800"/>
            </a:pPr>
            <a:r>
              <a:t>Consultation notes with decisions and follow-ups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13 → Project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Convert consultation notes into issue list with owners</a:t>
            </a:r>
          </a:p>
          <a:p>
            <a:pPr>
              <a:defRPr sz="1800"/>
            </a:pPr>
            <a:r>
              <a:t>Prioritize admin evidence and demo stability over new scope</a:t>
            </a:r>
          </a:p>
          <a:p>
            <a:pPr>
              <a:defRPr sz="1800"/>
            </a:pPr>
            <a:r>
              <a:t>Keep diagrams and scripts in sync with the implemented build</a:t>
            </a:r>
          </a:p>
          <a:p>
            <a:pPr>
              <a:defRPr sz="1800"/>
            </a:pPr>
            <a:r>
              <a:t>Decide what to defer or cut before Week 15 to stay reliable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14 | Peer Review &amp; Presentation Prep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Structured peer reviews: one group presents to another mid-class</a:t>
            </a:r>
          </a:p>
          <a:p>
            <a:pPr>
              <a:defRPr sz="1800"/>
            </a:pPr>
            <a:r>
              <a:t>Troubleshooting clinic for technical blockers and demo stability</a:t>
            </a:r>
          </a:p>
          <a:p>
            <a:pPr>
              <a:defRPr sz="1800"/>
            </a:pPr>
            <a:r>
              <a:t>Working sprint to finish admin evidence and slide polish</a:t>
            </a:r>
          </a:p>
          <a:p>
            <a:pPr>
              <a:defRPr sz="1800"/>
            </a:pPr>
            <a:r>
              <a:t>Close with risks, demo plan, and Week 15 readiness checklist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14 → Project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 peer feedback to tighten story and surface risks</a:t>
            </a:r>
          </a:p>
          <a:p>
            <a:pPr>
              <a:defRPr sz="1800"/>
            </a:pPr>
            <a:r>
              <a:t>Record evidence of fixes after each round of review</a:t>
            </a:r>
          </a:p>
          <a:p>
            <a:pPr>
              <a:defRPr sz="1800"/>
            </a:pPr>
            <a:r>
              <a:t>Rehearse the live demo and time-box to 10–12 minutes</a:t>
            </a:r>
          </a:p>
          <a:p>
            <a:pPr>
              <a:defRPr sz="1800"/>
            </a:pPr>
            <a:r>
              <a:t>Lock the codebase and only allow critical fixes afterward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Map requirements to stack: Postgres vs MongoDB vs hybrid</a:t>
            </a:r>
          </a:p>
          <a:p>
            <a:pPr>
              <a:defRPr sz="1800"/>
            </a:pPr>
            <a:r>
              <a:t>Consider workload patterns: read/write mix, latency sensitivity, data shape</a:t>
            </a:r>
          </a:p>
          <a:p>
            <a:pPr>
              <a:defRPr sz="1800"/>
            </a:pPr>
            <a:r>
              <a:t>Plan for growth: partitioning, sharding, indexing strategy, archive strategy</a:t>
            </a:r>
          </a:p>
          <a:p>
            <a:pPr>
              <a:defRPr sz="1800"/>
            </a:pPr>
            <a:r>
              <a:t>Document trade-offs so reviewers understand your choices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 &amp; Collection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Relational: normalization first, denormalize with evidence</a:t>
            </a:r>
          </a:p>
          <a:p>
            <a:pPr>
              <a:defRPr sz="1800"/>
            </a:pPr>
            <a:r>
              <a:t>Document: embed for locality, reference for fan-out or unbounded growth</a:t>
            </a:r>
          </a:p>
          <a:p>
            <a:pPr>
              <a:defRPr sz="1800"/>
            </a:pPr>
            <a:r>
              <a:t>Key design: natural vs surrogate keys, compound indexes for query shapes</a:t>
            </a:r>
          </a:p>
          <a:p>
            <a:pPr>
              <a:defRPr sz="1800"/>
            </a:pPr>
            <a:r>
              <a:t>Validation: constraints, triggers, jsonSchema, check constraints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&amp; Recovery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Define RPO/RTO and map to tooling (pg_basebackup, logical dumps, Atlas backups)</a:t>
            </a:r>
          </a:p>
          <a:p>
            <a:pPr>
              <a:defRPr sz="1800"/>
            </a:pPr>
            <a:r>
              <a:t>Automate schedules; store backups offsite/securely</a:t>
            </a:r>
          </a:p>
          <a:p>
            <a:pPr>
              <a:defRPr sz="1800"/>
            </a:pPr>
            <a:r>
              <a:t>Test restores regularly into non-prod; capture logs/screenshots</a:t>
            </a:r>
          </a:p>
          <a:p>
            <a:pPr>
              <a:defRPr sz="1800"/>
            </a:pPr>
            <a:r>
              <a:t>Document rollback steps for schema and data changes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Least privilege roles, database users scoped per service</a:t>
            </a:r>
          </a:p>
          <a:p>
            <a:pPr>
              <a:defRPr sz="1800"/>
            </a:pPr>
            <a:r>
              <a:t>Auditing/logging for admin actions and data access</a:t>
            </a:r>
          </a:p>
          <a:p>
            <a:pPr>
              <a:defRPr sz="1800"/>
            </a:pPr>
            <a:r>
              <a:t>Secrets management: env vars, vaults, rotation cadence</a:t>
            </a:r>
          </a:p>
          <a:p>
            <a:pPr>
              <a:defRPr sz="1800"/>
            </a:pPr>
            <a:r>
              <a:t>Network controls: IP allowlists, TLS, strong auth, MFA where available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Availability &amp; 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Replication/HA setup and failover testing</a:t>
            </a:r>
          </a:p>
          <a:p>
            <a:pPr>
              <a:defRPr sz="1800"/>
            </a:pPr>
            <a:r>
              <a:t>Connection resilience (retry logic, timeouts, circuit breakers)</a:t>
            </a:r>
          </a:p>
          <a:p>
            <a:pPr>
              <a:defRPr sz="1800"/>
            </a:pPr>
            <a:r>
              <a:t>Schema choices that minimize hot spots and lock contention</a:t>
            </a:r>
          </a:p>
          <a:p>
            <a:pPr>
              <a:defRPr sz="1800"/>
            </a:pPr>
            <a:r>
              <a:t>Runbooks for incidents with clear ownership and steps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Metrics to track: CPU, memory, disk, cache hit ratio, connections, locks</a:t>
            </a:r>
          </a:p>
          <a:p>
            <a:pPr>
              <a:defRPr sz="1800"/>
            </a:pPr>
            <a:r>
              <a:t>Query health: slow query logs, profiler, explain samples</a:t>
            </a:r>
          </a:p>
          <a:p>
            <a:pPr>
              <a:defRPr sz="1800"/>
            </a:pPr>
            <a:r>
              <a:t>Alerts for backup failures, replication lag, error rates, latency</a:t>
            </a:r>
          </a:p>
          <a:p>
            <a:pPr>
              <a:defRPr sz="1800"/>
            </a:pPr>
            <a:r>
              <a:t>Dashboards and log retention policies for audits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Index only what queries need; match filter → sort → projection order</a:t>
            </a:r>
          </a:p>
          <a:p>
            <a:pPr>
              <a:defRPr sz="1800"/>
            </a:pPr>
            <a:r>
              <a:t>Avoid over-indexing; measure write costs and storage growth</a:t>
            </a:r>
          </a:p>
          <a:p>
            <a:pPr>
              <a:defRPr sz="1800"/>
            </a:pPr>
            <a:r>
              <a:t>Use partial/TTL indexes where applicable; watch multikey edge cases</a:t>
            </a:r>
          </a:p>
          <a:p>
            <a:pPr>
              <a:defRPr sz="1800"/>
            </a:pPr>
            <a:r>
              <a:t>Benchmark before/after and record metrics in your repo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Migration &amp; Change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Plan migration steps with checkpoints and validation queries</a:t>
            </a:r>
          </a:p>
          <a:p>
            <a:pPr>
              <a:defRPr sz="1800"/>
            </a:pPr>
            <a:r>
              <a:t>Use transactions or phased rollouts to reduce risk</a:t>
            </a:r>
          </a:p>
          <a:p>
            <a:pPr>
              <a:defRPr sz="1800"/>
            </a:pPr>
            <a:r>
              <a:t>Maintain backward compatibility during deployments</a:t>
            </a:r>
          </a:p>
          <a:p>
            <a:pPr>
              <a:defRPr sz="1800"/>
            </a:pPr>
            <a:r>
              <a:t>Document rollback paths and who approves changes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to Capture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Screenshots/logs of successful backup and restore</a:t>
            </a:r>
          </a:p>
          <a:p>
            <a:pPr>
              <a:defRPr sz="1800"/>
            </a:pPr>
            <a:r>
              <a:t>Role definitions and auditing/log samples</a:t>
            </a:r>
          </a:p>
          <a:p>
            <a:pPr>
              <a:defRPr sz="1800"/>
            </a:pPr>
            <a:r>
              <a:t>Failover test output or screenshots of replica state</a:t>
            </a:r>
          </a:p>
          <a:p>
            <a:pPr>
              <a:defRPr sz="1800"/>
            </a:pPr>
            <a:r>
              <a:t>Monitoring dashboard or alert notification examples</a:t>
            </a:r>
          </a:p>
          <a:p>
            <a:pPr>
              <a:defRPr sz="1800"/>
            </a:pPr>
            <a:r>
              <a:t>Explain plans or profiler output showing indexed queries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Evidence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Backup: schedule, storage location, restore proof</a:t>
            </a:r>
          </a:p>
          <a:p>
            <a:pPr>
              <a:defRPr sz="1800"/>
            </a:pPr>
            <a:r>
              <a:t>Security: role matrix, audit log sample, credential handling</a:t>
            </a:r>
          </a:p>
          <a:p>
            <a:pPr>
              <a:defRPr sz="1800"/>
            </a:pPr>
            <a:r>
              <a:t>Availability: topology diagram, failover drill steps, lag metrics</a:t>
            </a:r>
          </a:p>
          <a:p>
            <a:pPr>
              <a:defRPr sz="1800"/>
            </a:pPr>
            <a:r>
              <a:t>Monitoring: dashboard URL or screenshots, alert rules, retention policy</a:t>
            </a:r>
          </a:p>
          <a:p>
            <a:pPr>
              <a:defRPr sz="1800"/>
            </a:pPr>
            <a:r>
              <a:t>Performance: before/after metrics for top 2–3 queries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Strategy (10–12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Open with scenario, users, and why the chosen stack fits</a:t>
            </a:r>
          </a:p>
          <a:p>
            <a:pPr>
              <a:defRPr sz="1800"/>
            </a:pPr>
            <a:r>
              <a:t>Show data model and admin controls (backup, security, HA, monitoring)</a:t>
            </a:r>
          </a:p>
          <a:p>
            <a:pPr>
              <a:defRPr sz="1800"/>
            </a:pPr>
            <a:r>
              <a:t>Run a small, deterministic workflow with live data</a:t>
            </a:r>
          </a:p>
          <a:p>
            <a:pPr>
              <a:defRPr sz="1800"/>
            </a:pPr>
            <a:r>
              <a:t>Close with risks, lessons learned, and next steps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Script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1) Intro: scenario + team roles (1 min)</a:t>
            </a:r>
          </a:p>
          <a:p>
            <a:pPr>
              <a:defRPr sz="1800"/>
            </a:pPr>
            <a:r>
              <a:t>2) Architecture + data model (3 min)</a:t>
            </a:r>
          </a:p>
          <a:p>
            <a:pPr>
              <a:defRPr sz="1800"/>
            </a:pPr>
            <a:r>
              <a:t>3) Admin proof: backup, security, HA, monitoring (3–4 min)</a:t>
            </a:r>
          </a:p>
          <a:p>
            <a:pPr>
              <a:defRPr sz="1800"/>
            </a:pPr>
            <a:r>
              <a:t>4) User workflow demo (3–4 min)</a:t>
            </a:r>
          </a:p>
          <a:p>
            <a:pPr>
              <a:defRPr sz="1800"/>
            </a:pPr>
            <a:r>
              <a:t>5) Risks + lessons + Q&amp;A prep (1–2 min)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Executive summary and scenario</a:t>
            </a:r>
          </a:p>
          <a:p>
            <a:pPr>
              <a:defRPr sz="1800"/>
            </a:pPr>
            <a:r>
              <a:t>Architecture + technology justification</a:t>
            </a:r>
          </a:p>
          <a:p>
            <a:pPr>
              <a:defRPr sz="1800"/>
            </a:pPr>
            <a:r>
              <a:t>Schema/collection design with diagrams and key queries</a:t>
            </a:r>
          </a:p>
          <a:p>
            <a:pPr>
              <a:defRPr sz="1800"/>
            </a:pPr>
            <a:r>
              <a:t>Admin controls: backup, security, HA, monitoring</a:t>
            </a:r>
          </a:p>
          <a:p>
            <a:pPr>
              <a:defRPr sz="1800"/>
            </a:pPr>
            <a:r>
              <a:t>Testing evidence, risks, and mitigations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Title and team roles</a:t>
            </a:r>
          </a:p>
          <a:p>
            <a:pPr>
              <a:defRPr sz="1800"/>
            </a:pPr>
            <a:r>
              <a:t>Problem statement and users</a:t>
            </a:r>
          </a:p>
          <a:p>
            <a:pPr>
              <a:defRPr sz="1800"/>
            </a:pPr>
            <a:r>
              <a:t>Architecture diagram and stack rationale</a:t>
            </a:r>
          </a:p>
          <a:p>
            <a:pPr>
              <a:defRPr sz="1800"/>
            </a:pPr>
            <a:r>
              <a:t>Data model and key queries</a:t>
            </a:r>
          </a:p>
          <a:p>
            <a:pPr>
              <a:defRPr sz="1800"/>
            </a:pPr>
            <a:r>
              <a:t>Admin proof (backup, security, HA, monitoring) with screenshots</a:t>
            </a:r>
          </a:p>
          <a:p>
            <a:pPr>
              <a:defRPr sz="1800"/>
            </a:pPr>
            <a:r>
              <a:t>Demo script + lessons learned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Mitigation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Identify single points of failure and add redundancy</a:t>
            </a:r>
          </a:p>
          <a:p>
            <a:pPr>
              <a:defRPr sz="1800"/>
            </a:pPr>
            <a:r>
              <a:t>Precompute rollback steps for migrations and deploys</a:t>
            </a:r>
          </a:p>
          <a:p>
            <a:pPr>
              <a:defRPr sz="1800"/>
            </a:pPr>
            <a:r>
              <a:t>Throttle risky features in the demo if unstable</a:t>
            </a:r>
          </a:p>
          <a:p>
            <a:pPr>
              <a:defRPr sz="1800"/>
            </a:pPr>
            <a:r>
              <a:t>Schedule one more rehearsal and dry run the failover/backups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Workflow for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Assign owners for code fixes, admin evidence, slides, and report</a:t>
            </a:r>
          </a:p>
          <a:p>
            <a:pPr>
              <a:defRPr sz="1800"/>
            </a:pPr>
            <a:r>
              <a:t>Use short standups and a shared punch list</a:t>
            </a:r>
          </a:p>
          <a:p>
            <a:pPr>
              <a:defRPr sz="1800"/>
            </a:pPr>
            <a:r>
              <a:t>Lock code 24h before the presentation; only critical fixes after</a:t>
            </a:r>
          </a:p>
          <a:p>
            <a:pPr>
              <a:defRPr sz="1800"/>
            </a:pPr>
            <a:r>
              <a:t>Keep artifacts in version control and timestamp evidence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15 Countdown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T-minus 72 hours: finalize code, capture screenshots, finish draft report</a:t>
            </a:r>
          </a:p>
          <a:p>
            <a:pPr>
              <a:defRPr sz="1800"/>
            </a:pPr>
            <a:r>
              <a:t>T-minus 48 hours: full rehearsal with timer and backup/failover demo</a:t>
            </a:r>
          </a:p>
          <a:p>
            <a:pPr>
              <a:defRPr sz="1800"/>
            </a:pPr>
            <a:r>
              <a:t>T-minus 24 hours: freeze changes, polish slides, align speaking roles</a:t>
            </a:r>
          </a:p>
          <a:p>
            <a:pPr>
              <a:defRPr sz="1800"/>
            </a:pPr>
            <a:r>
              <a:t>Day-of: test connections early, preload data, have rollback plan ready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Peer Review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Scenario is clear; target users and access patterns stated</a:t>
            </a:r>
          </a:p>
          <a:p>
            <a:pPr>
              <a:defRPr sz="1800"/>
            </a:pPr>
            <a:r>
              <a:t>Architecture and stack fit the requirements</a:t>
            </a:r>
          </a:p>
          <a:p>
            <a:pPr>
              <a:defRPr sz="1800"/>
            </a:pPr>
            <a:r>
              <a:t>Admin proof present: backup, security, HA, monitoring</a:t>
            </a:r>
          </a:p>
          <a:p>
            <a:pPr>
              <a:defRPr sz="1800"/>
            </a:pPr>
            <a:r>
              <a:t>Demo is deterministic and under 12 minutes</a:t>
            </a:r>
          </a:p>
          <a:p>
            <a:pPr>
              <a:defRPr sz="1800"/>
            </a:pPr>
            <a:r>
              <a:t>Risks acknowledged with mitigation steps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List open questions for the instructor during consultations</a:t>
            </a:r>
          </a:p>
          <a:p>
            <a:pPr>
              <a:defRPr sz="1800"/>
            </a:pPr>
            <a:r>
              <a:t>Book office hours for remaining technical risks</a:t>
            </a:r>
          </a:p>
          <a:p>
            <a:pPr>
              <a:defRPr sz="1800"/>
            </a:pPr>
            <a:r>
              <a:t>Commit to a rehearsal schedule and deadlines for artifacts</a:t>
            </a:r>
          </a:p>
          <a:p>
            <a:pPr>
              <a:defRPr sz="1800"/>
            </a:pPr>
            <a:r>
              <a:t>Ensure everyone knows their speaking roles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&amp;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You have everything you need to finish strong</a:t>
            </a:r>
          </a:p>
          <a:p>
            <a:pPr>
              <a:defRPr sz="1800"/>
            </a:pPr>
            <a:r>
              <a:t>Use the checklists to close gaps tonight</a:t>
            </a:r>
          </a:p>
          <a:p>
            <a:pPr>
              <a:defRPr sz="1800"/>
            </a:pPr>
            <a:r>
              <a:t>Reach out if you hit blockers or need a quick review</a:t>
            </a:r>
          </a:p>
          <a:p>
            <a:pPr>
              <a:defRPr sz="1800"/>
            </a:pPr>
            <a:r>
              <a:t>Get ready to showcase a reliable, secure demo in Week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