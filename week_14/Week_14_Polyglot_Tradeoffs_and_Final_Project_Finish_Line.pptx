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set expectations: this week is finish-line support.</a:t>
            </a:r>
          </a:p>
          <a:p>
            <a:r>
              <a:t>Repeat the due date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keep the advanced topic practical.</a:t>
            </a:r>
          </a:p>
          <a:p>
            <a:r>
              <a:t>The final project remains the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give permission to use one database.</a:t>
            </a:r>
          </a:p>
          <a:p>
            <a:r>
              <a:t>Students should not add a second platform to look impressive.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this is important for stressed students.</a:t>
            </a:r>
          </a:p>
          <a:p>
            <a:r>
              <a:t>A one-database project can earn full credit if evidence is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ownership is the key word.</a:t>
            </a:r>
          </a:p>
          <a:p>
            <a:r>
              <a:t>Ask both-platform students to name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keep this conceptual and useful.</a:t>
            </a:r>
          </a:p>
          <a:p>
            <a:r>
              <a:t>Students can use one tradeoff in their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evidence over screenshots.</a:t>
            </a:r>
          </a:p>
          <a:p>
            <a:r>
              <a:t>This slide frames Day 1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this is a beginner restore runbook.</a:t>
            </a:r>
          </a:p>
          <a:p>
            <a:r>
              <a:t>No enterprise disaster recovery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practical grading logistics.</a:t>
            </a:r>
          </a:p>
          <a:p>
            <a:r>
              <a:t>Remind Atlas students to add instructor access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students can write this without overthinking.</a:t>
            </a:r>
          </a:p>
          <a:p>
            <a:r>
              <a:t>The report is 700-1000 words, not a research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discourage long live demos.</a:t>
            </a:r>
          </a:p>
          <a:p>
            <a:r>
              <a:t>A 5-7 minute presentation needs a simple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reduce anxiety.</a:t>
            </a:r>
          </a:p>
          <a:p>
            <a:r>
              <a:t>Have students prepare screenshots as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career-connected writing.</a:t>
            </a:r>
          </a:p>
          <a:p>
            <a:r>
              <a:t>Students should leave with language they can use outside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send students to work quickly.</a:t>
            </a:r>
          </a:p>
          <a:p>
            <a:r>
              <a:t>This is individual; no group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make the deadline concrete.</a:t>
            </a:r>
          </a:p>
          <a:p>
            <a:r>
              <a:t>Students should know exactly what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Focus: final checklist.</a:t>
            </a:r>
          </a:p>
          <a:p>
            <a:r>
              <a:t>End with practical next steps, not a new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0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2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3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4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5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6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8288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>
                <a:solidFill>
                  <a:srgbClr val="F5C454"/>
                </a:solidFill>
                <a:latin typeface="Aptos"/>
              </a:rPr>
              <a:t>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89611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C2226"/>
                </a:solidFill>
                <a:latin typeface="Aptos Display"/>
              </a:rPr>
              <a:t>Polyglot Tradeoffs and Final Project 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86384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0">
                <a:solidFill>
                  <a:srgbClr val="535C62"/>
                </a:solidFill>
                <a:latin typeface="Aptos"/>
              </a:rPr>
              <a:t>Short new concepts. Long work time. Everything points toward the May 26, 2026 final project deadline.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3017520" cy="1051560"/>
          </a:xfrm>
          <a:prstGeom prst="roundRect">
            <a:avLst/>
          </a:prstGeom>
          <a:solidFill>
            <a:srgbClr val="F5C454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014215"/>
            <a:ext cx="26883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B3146"/>
                </a:solidFill>
                <a:latin typeface="Aptos"/>
              </a:rPr>
              <a:t>Due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325112"/>
            <a:ext cx="2688336" cy="5394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0">
                <a:solidFill>
                  <a:srgbClr val="1C2226"/>
                </a:solidFill>
                <a:latin typeface="Aptos"/>
              </a:rPr>
              <a:t>Final project due May 26,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886200"/>
            <a:ext cx="3657600" cy="105156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4014215"/>
            <a:ext cx="3328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This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4325112"/>
            <a:ext cx="3328416" cy="5394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1C2226"/>
                </a:solidFill>
                <a:latin typeface="Aptos"/>
              </a:rPr>
              <a:t>Admin evidence, review readiness, report outline, and presentation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886200"/>
            <a:ext cx="2880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4014215"/>
            <a:ext cx="25511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Class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325112"/>
            <a:ext cx="2551176" cy="5394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1C2226"/>
                </a:solidFill>
                <a:latin typeface="Aptos"/>
              </a:rPr>
              <a:t>Brief teaching, then individual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What the Syllabus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Advanced topics: polyglot persistence, distributed tradeoffs, final project work session, and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New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59152"/>
            <a:ext cx="296265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Sometimes one database is enough. Sometimes two are justified.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291840" cy="141732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04825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59152"/>
            <a:ext cx="296265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Distributed systems add ownership, consistency, sync, and failure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04825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Project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59152"/>
            <a:ext cx="296265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Students finish admin evidence, report, and presentation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The week should reduce student uncertainty, not add new project scope.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Polyglot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Using more than one database type in the same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4825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9152"/>
            <a:ext cx="287121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Postgres stores users, orders, and permissions.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200400" cy="141732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04825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59152"/>
            <a:ext cx="287121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MongoDB stores flexible activity events or changing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04825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59152"/>
            <a:ext cx="2871216" cy="9052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Two databases means two failure modes and two sources to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Polyglot is not automatically advanced. It is only good when the split is clear.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SCOPE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When One Database Is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Most beginner final projects should use one platform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the data has one clear shape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one platform can answer the required queries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the student can explain the model clearly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admin evidence is easier to verify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less setup means more time for quality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 finished small project beats an unfinished complex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POLYGLOT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When Two Databases Make 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Use both only when each has a clear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Postgres 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962656" cy="1088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Structured core records, relationships, constraints, users, permissions.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160020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5681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MongoDB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267712"/>
            <a:ext cx="2962656" cy="1088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Flexible events, logs, changing document shapes, nested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56816"/>
            <a:ext cx="296265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The split must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67712"/>
            <a:ext cx="2962656" cy="1088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What data lives where? Which system is source of truth? How does restore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If you cannot explain ownership, do not split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ADVANCED BUT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Distributed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The moment data is split, tradeoffs appear.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duplication: the same fact might appear in two places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consistency: one system might update before another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failure: one database may be up while the other is down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restore: backups may recover to different points in time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security: permissions must be understood in both systems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cost: two platforms create more operational surface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PROJECT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Admin Evidence Is the Grade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The project should prove database administration thinking.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Who can read, write, update, or delete?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74519"/>
            <a:ext cx="251460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Which query deserves performance support?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What data must be recoverable?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74519"/>
            <a:ext cx="251460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2002536"/>
            <a:ext cx="21854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313432"/>
            <a:ext cx="218541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How do you prove restore worked?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Screenshots are evidence only when students explain what they prove.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Backup Is Not the Same as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A backup is only useful if recovery can be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incident are you preparing for?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backup or export would you use?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where would you restore?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downtime or data loss might happen?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which queries prove the restored database works?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which index, table, collection, or policy must still exist?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GRADING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Review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Make it easy for the instructor to verify the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56816"/>
            <a:ext cx="31455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Supabase/Postgres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3145536" cy="12252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SQL files, schema evidence, seed data, query examples, admin notes, and access if using live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474720" cy="173736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56816"/>
            <a:ext cx="314553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MongoDB/Atlas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67712"/>
            <a:ext cx="3145536" cy="12252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Add instructor to project/team or provide approved review access. Show collections, documents, indexes, and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29260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956816"/>
            <a:ext cx="259689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267712"/>
            <a:ext cx="2596896" cy="12252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Provide both sets of evidence and explain the ownership split.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Do not make the grader guess where the evidence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Written Explanation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The report is a clear story of database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project purpose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platform choice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data model explanation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seed data explanation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query examples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admin and reliability decisions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you would improve with more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Presentation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The presentation should be simple and evidence-based.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what the database manages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why the platform fits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the data model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one useful query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one admin or reliability decision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one lesson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What to Show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A short demo should prove the database exists and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0253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Show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13432"/>
            <a:ext cx="2871216" cy="8595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Tables/collections and one important relationship or document shape.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200400" cy="137160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00253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Show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13432"/>
            <a:ext cx="2871216" cy="8595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One query result that answers a real project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002536"/>
            <a:ext cx="287121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Show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13432"/>
            <a:ext cx="2871216" cy="8595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One index, access-control concern, or restore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If live tools fail, screenshots plus explanation are acceptable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CAREER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Portfolio and Interview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The final project can become a short career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chose a database platform based on data shape.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modeled data for real queries.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loaded or created seed data.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wrote queries that answer user questions.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made an index/admin/reliability decision.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 can explain what I would improve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WORK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Class 1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Final Project Admin Evidence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Permission or review concern.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Backup and verification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One performance decision tied to a query.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This lab turns hidden admin thinking into gradable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WORK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Class 2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Report, Presentation, and Submission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108960" cy="1325880"/>
          </a:xfrm>
          <a:prstGeom prst="roundRect">
            <a:avLst/>
          </a:prstGeom>
          <a:solidFill>
            <a:srgbClr val="D8EEE1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Outline the 700-1000 word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Plan the 5-7 minute project 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56816"/>
            <a:ext cx="2779776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20" b="1">
                <a:solidFill>
                  <a:srgbClr val="116763"/>
                </a:solidFill>
                <a:latin typeface="Aptos"/>
              </a:rPr>
              <a:t>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267712"/>
            <a:ext cx="2779776" cy="8138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0">
                <a:solidFill>
                  <a:srgbClr val="1C2226"/>
                </a:solidFill>
                <a:latin typeface="Aptos"/>
              </a:rPr>
              <a:t>Check every required evidence item.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9966960" cy="7132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1">
                <a:solidFill>
                  <a:srgbClr val="1C2226"/>
                </a:solidFill>
                <a:latin typeface="Aptos"/>
              </a:rPr>
              <a:t>The outcome is a final cleanup checklist before May 26,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310896"/>
            <a:ext cx="658368" cy="658368"/>
          </a:xfrm>
          <a:prstGeom prst="ellipse">
            <a:avLst/>
          </a:prstGeom>
          <a:solidFill>
            <a:srgbClr val="F5C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43891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>
                <a:solidFill>
                  <a:srgbClr val="116763"/>
                </a:solidFill>
                <a:latin typeface="Aptos"/>
              </a:rP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8778240" cy="6766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C2226"/>
                </a:solidFill>
                <a:latin typeface="Aptos Display"/>
              </a:rPr>
              <a:t>May 26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32688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>
                <a:solidFill>
                  <a:srgbClr val="535C62"/>
                </a:solidFill>
                <a:latin typeface="Aptos"/>
              </a:rPr>
              <a:t>Students should be able to check every item before submitting.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870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data model evidence is clear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seed data exists and can be explained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at least four queries are included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one index decision is explained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access-control concern is included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backup/restore checklist is included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instructor can verify the project</a:t>
            </a:r>
          </a:p>
          <a:p>
            <a:pPr>
              <a:spcAft>
                <a:spcPts val="500"/>
              </a:spcAft>
              <a:defRPr sz="1800">
                <a:solidFill>
                  <a:srgbClr val="1C2226"/>
                </a:solidFill>
                <a:latin typeface="Aptos"/>
              </a:defRPr>
            </a:pPr>
            <a:r>
              <a:t>report and presentation are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2004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50" b="0">
                <a:solidFill>
                  <a:srgbClr val="535C62"/>
                </a:solidFill>
                <a:latin typeface="Aptos"/>
              </a:rPr>
              <a:t>CST4714 | 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1984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850" b="0">
                <a:solidFill>
                  <a:srgbClr val="535C6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