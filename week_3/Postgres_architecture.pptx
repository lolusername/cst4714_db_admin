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0479"/>
  </p:normalViewPr>
  <p:slideViewPr>
    <p:cSldViewPr snapToGrid="0" snapToObjects="1">
      <p:cViewPr varScale="1">
        <p:scale>
          <a:sx n="135" d="100"/>
          <a:sy n="135" d="100"/>
        </p:scale>
        <p:origin x="150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611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our roadmap. First, the PostgreSQL architecture: client–server, clusters, databases, schemas, physical files, shared memory, and background processes. Then Write-Ahead Logging, transactions and ACID, and MVCC for concurrency. We’ll touch system catalogs, then look at </a:t>
            </a:r>
            <a:r>
              <a:rPr lang="en-US" dirty="0" err="1"/>
              <a:t>Supabase’s</a:t>
            </a:r>
            <a:r>
              <a:rPr lang="en-US" dirty="0"/>
              <a:t> architecture and how it exposes Postgres with auth, REST, </a:t>
            </a:r>
            <a:r>
              <a:rPr lang="en-US" dirty="0" err="1"/>
              <a:t>realtime</a:t>
            </a:r>
            <a:r>
              <a:rPr lang="en-US" dirty="0"/>
              <a:t>, storage, and edge functions. Finally, we’ll run through the </a:t>
            </a:r>
            <a:r>
              <a:rPr lang="en-US" dirty="0" err="1"/>
              <a:t>Supabase</a:t>
            </a:r>
            <a:r>
              <a:rPr lang="en-US" dirty="0"/>
              <a:t> CLI so you can spin up a local stack quickly.”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“PostgreSQL runs as a dedicated server process called the postmaster. The postmaster initializes shared memory, listens for connections, and supervises child processes. Each client connection is handled by its own backend process. That isolation is important—one connection can’t corrupt another. Conceptually, think: postmaster in the middle, three clients on the left, and three independent backend processes on the right—one per client.”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“In Postgres, a </a:t>
            </a:r>
            <a:r>
              <a:rPr lang="en-US" b="1" dirty="0"/>
              <a:t>cluster</a:t>
            </a:r>
            <a:r>
              <a:rPr lang="en-US" dirty="0"/>
              <a:t> is the whole data directory on disk—think of it as the universe of files that Postgres manages. Inside the cluster, you can have multiple </a:t>
            </a:r>
            <a:r>
              <a:rPr lang="en-US" b="1" dirty="0"/>
              <a:t>databases</a:t>
            </a:r>
            <a:r>
              <a:rPr lang="en-US" dirty="0"/>
              <a:t>; each database is isolated. Within a database, you organize objects with </a:t>
            </a:r>
            <a:r>
              <a:rPr lang="en-US" b="1" dirty="0"/>
              <a:t>schemas</a:t>
            </a:r>
            <a:r>
              <a:rPr lang="en-US" dirty="0"/>
              <a:t> like </a:t>
            </a:r>
            <a:r>
              <a:rPr lang="en-US" sz="1200" kern="1200" dirty="0">
                <a:solidFill>
                  <a:schemeClr val="tx1"/>
                </a:solidFill>
                <a:latin typeface="+mn-lt"/>
                <a:ea typeface="+mn-ea"/>
                <a:cs typeface="+mn-cs"/>
              </a:rPr>
              <a:t>public</a:t>
            </a:r>
            <a:r>
              <a:rPr lang="en-US" dirty="0"/>
              <a:t>, </a:t>
            </a:r>
            <a:r>
              <a:rPr lang="en-US" sz="1200" kern="1200" dirty="0">
                <a:solidFill>
                  <a:schemeClr val="tx1"/>
                </a:solidFill>
                <a:latin typeface="+mn-lt"/>
                <a:ea typeface="+mn-ea"/>
                <a:cs typeface="+mn-cs"/>
              </a:rPr>
              <a:t>sales</a:t>
            </a:r>
            <a:r>
              <a:rPr lang="en-US" dirty="0"/>
              <a:t>, or </a:t>
            </a:r>
            <a:r>
              <a:rPr lang="en-US" sz="1200" kern="1200" dirty="0">
                <a:solidFill>
                  <a:schemeClr val="tx1"/>
                </a:solidFill>
                <a:latin typeface="+mn-lt"/>
                <a:ea typeface="+mn-ea"/>
                <a:cs typeface="+mn-cs"/>
              </a:rPr>
              <a:t>analytics</a:t>
            </a:r>
            <a:r>
              <a:rPr lang="en-US" dirty="0"/>
              <a:t>. Tables, views, and functions live inside schemas. So, cluster → databases → schemas → objects. That hierarchy keeps projects clean and permissions sane.”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“A PostgreSQL cluster is literally a directory tree. Under </a:t>
            </a:r>
            <a:r>
              <a:rPr lang="en-US" sz="1200" kern="1200" dirty="0">
                <a:solidFill>
                  <a:schemeClr val="tx1"/>
                </a:solidFill>
                <a:latin typeface="+mn-lt"/>
                <a:ea typeface="+mn-ea"/>
                <a:cs typeface="+mn-cs"/>
              </a:rPr>
              <a:t>base/</a:t>
            </a:r>
            <a:r>
              <a:rPr lang="en-US" dirty="0"/>
              <a:t>, each database has its own subdirectory holding its table and index files. The </a:t>
            </a:r>
            <a:r>
              <a:rPr lang="en-US" sz="1200" kern="1200" dirty="0" err="1">
                <a:solidFill>
                  <a:schemeClr val="tx1"/>
                </a:solidFill>
                <a:latin typeface="+mn-lt"/>
                <a:ea typeface="+mn-ea"/>
                <a:cs typeface="+mn-cs"/>
              </a:rPr>
              <a:t>pg_wal</a:t>
            </a:r>
            <a:r>
              <a:rPr lang="en-US" sz="1200" kern="1200" dirty="0">
                <a:solidFill>
                  <a:schemeClr val="tx1"/>
                </a:solidFill>
                <a:latin typeface="+mn-lt"/>
                <a:ea typeface="+mn-ea"/>
                <a:cs typeface="+mn-cs"/>
              </a:rPr>
              <a:t>/</a:t>
            </a:r>
            <a:r>
              <a:rPr lang="en-US" dirty="0"/>
              <a:t> directory stores Write-Ahead Log segment files—those are the append-only logs of every change. </a:t>
            </a:r>
            <a:r>
              <a:rPr lang="en-US" sz="1200" kern="1200" dirty="0" err="1">
                <a:solidFill>
                  <a:schemeClr val="tx1"/>
                </a:solidFill>
                <a:latin typeface="+mn-lt"/>
                <a:ea typeface="+mn-ea"/>
                <a:cs typeface="+mn-cs"/>
              </a:rPr>
              <a:t>pg_global</a:t>
            </a:r>
            <a:r>
              <a:rPr lang="en-US" sz="1200" kern="1200" dirty="0">
                <a:solidFill>
                  <a:schemeClr val="tx1"/>
                </a:solidFill>
                <a:latin typeface="+mn-lt"/>
                <a:ea typeface="+mn-ea"/>
                <a:cs typeface="+mn-cs"/>
              </a:rPr>
              <a:t>/</a:t>
            </a:r>
            <a:r>
              <a:rPr lang="en-US" dirty="0"/>
              <a:t> holds cluster-wide tables, and stats and temp files live under the stats paths. When you diagnose performance or recover from issues, knowing where these directories live really helps.”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“Postgres relies on shared memory to speed up I/O. </a:t>
            </a:r>
            <a:r>
              <a:rPr lang="en-US" b="1" dirty="0"/>
              <a:t>Shared buffers</a:t>
            </a:r>
            <a:r>
              <a:rPr lang="en-US" dirty="0"/>
              <a:t> cache database pages so we don’t hit disk for every read. </a:t>
            </a:r>
            <a:r>
              <a:rPr lang="en-US" b="1" dirty="0"/>
              <a:t>WAL buffers</a:t>
            </a:r>
            <a:r>
              <a:rPr lang="en-US" dirty="0"/>
              <a:t> temporarily hold log records before they’re flushed to </a:t>
            </a:r>
            <a:r>
              <a:rPr lang="en-US" sz="1200" kern="1200" dirty="0" err="1">
                <a:solidFill>
                  <a:schemeClr val="tx1"/>
                </a:solidFill>
                <a:latin typeface="+mn-lt"/>
                <a:ea typeface="+mn-ea"/>
                <a:cs typeface="+mn-cs"/>
              </a:rPr>
              <a:t>pg_wal</a:t>
            </a:r>
            <a:r>
              <a:rPr lang="en-US" dirty="0"/>
              <a:t>. Both are configured at server start and tuned based on workload. In short: hot data stays in shared buffers for fast reads, and WAL buffers smooth write performance by batching log records.”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“There are a handful of always-on helpers. </a:t>
            </a:r>
            <a:r>
              <a:rPr lang="en-US" b="1" dirty="0" err="1"/>
              <a:t>Autovacuum</a:t>
            </a:r>
            <a:r>
              <a:rPr lang="en-US" dirty="0"/>
              <a:t> reclaims space from dead rows and refreshes statistics so the planner stays smart and tables don’t bloat. The </a:t>
            </a:r>
            <a:r>
              <a:rPr lang="en-US" b="1" dirty="0"/>
              <a:t>background writer</a:t>
            </a:r>
            <a:r>
              <a:rPr lang="en-US" dirty="0"/>
              <a:t> trickles dirty buffers to disk to avoid sudden spikes. The </a:t>
            </a:r>
            <a:r>
              <a:rPr lang="en-US" b="1" dirty="0"/>
              <a:t>WAL writer</a:t>
            </a:r>
            <a:r>
              <a:rPr lang="en-US" dirty="0"/>
              <a:t> flushes WAL buffers regularly so we maintain durability without writing data pages all the time. And the </a:t>
            </a:r>
            <a:r>
              <a:rPr lang="en-US" b="1" dirty="0" err="1"/>
              <a:t>checkpointer</a:t>
            </a:r>
            <a:r>
              <a:rPr lang="en-US" dirty="0"/>
              <a:t> takes coordinated snapshots—checkpoints—that bound recovery time after a crash.”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“More helpers: the </a:t>
            </a:r>
            <a:r>
              <a:rPr lang="en-US" b="1" dirty="0"/>
              <a:t>stats collector</a:t>
            </a:r>
            <a:r>
              <a:rPr lang="en-US" dirty="0"/>
              <a:t> gathers activity and performance metrics for the planner and monitoring. The </a:t>
            </a:r>
            <a:r>
              <a:rPr lang="en-US" b="1" dirty="0"/>
              <a:t>logger</a:t>
            </a:r>
            <a:r>
              <a:rPr lang="en-US" dirty="0"/>
              <a:t> records server messages and errors—this is your first stop in incident response. The </a:t>
            </a:r>
            <a:r>
              <a:rPr lang="en-US" b="1" dirty="0"/>
              <a:t>archiver</a:t>
            </a:r>
            <a:r>
              <a:rPr lang="en-US" dirty="0"/>
              <a:t> ships completed WAL segments off to long-term storage so you can do point-in-time recovery. And </a:t>
            </a:r>
            <a:r>
              <a:rPr lang="en-US" b="1" dirty="0"/>
              <a:t>WAL receiver/sender</a:t>
            </a:r>
            <a:r>
              <a:rPr lang="en-US" dirty="0"/>
              <a:t> processes move WAL between primary and standby nodes for replication.”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“Here’s the golden rule: </a:t>
            </a:r>
            <a:r>
              <a:rPr lang="en-US" b="1" dirty="0"/>
              <a:t>every change is written to the WAL first</a:t>
            </a:r>
            <a:r>
              <a:rPr lang="en-US" dirty="0"/>
              <a:t>, sequentially, before it touches the data files. Sequential I/O is fast and crash-safe. If the server crashes, on restart PostgreSQL </a:t>
            </a:r>
            <a:r>
              <a:rPr lang="en-US" b="1" dirty="0"/>
              <a:t>replays the WAL</a:t>
            </a:r>
            <a:r>
              <a:rPr lang="en-US" dirty="0"/>
              <a:t> to rebuild any pages that weren’t flushed, bringing the database back to a consistent state. WAL also powers replication—those same records are streamed to standbys.”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“Transactions give us ACID guarantees. </a:t>
            </a:r>
            <a:r>
              <a:rPr lang="en-US" b="1" dirty="0"/>
              <a:t>Atomicity</a:t>
            </a:r>
            <a:r>
              <a:rPr lang="en-US" dirty="0"/>
              <a:t> means a transaction’s statements all succeed together or none do. </a:t>
            </a:r>
            <a:r>
              <a:rPr lang="en-US" b="1" dirty="0"/>
              <a:t>Consistency</a:t>
            </a:r>
            <a:r>
              <a:rPr lang="en-US" dirty="0"/>
              <a:t> means we move the database from one valid state to another. </a:t>
            </a:r>
            <a:r>
              <a:rPr lang="en-US" b="1" dirty="0"/>
              <a:t>Isolation</a:t>
            </a:r>
            <a:r>
              <a:rPr lang="en-US" dirty="0"/>
              <a:t> means concurrent transactions don’t see each other’s intermediate results. </a:t>
            </a:r>
            <a:r>
              <a:rPr lang="en-US" b="1" dirty="0"/>
              <a:t>Durability</a:t>
            </a:r>
            <a:r>
              <a:rPr lang="en-US" dirty="0"/>
              <a:t> means once we commit, it sticks—even if the server crashes. The money-transfer example on the slide demonstrates the pattern: begin, debit, credit, commit.”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“MVCC lets readers and writers proceed without stepping on each other. When a row is updated, Postgres writes a </a:t>
            </a:r>
            <a:r>
              <a:rPr lang="en-US" b="1" dirty="0"/>
              <a:t>new version</a:t>
            </a:r>
            <a:r>
              <a:rPr lang="en-US" dirty="0"/>
              <a:t> instead of overwriting in place. Readers see a </a:t>
            </a:r>
            <a:r>
              <a:rPr lang="en-US" b="1" dirty="0"/>
              <a:t>snapshot</a:t>
            </a:r>
            <a:r>
              <a:rPr lang="en-US" dirty="0"/>
              <a:t>—the version that was valid when their transaction started—so they never block on writers. Writers proceed by creating the new version. Later, </a:t>
            </a:r>
            <a:r>
              <a:rPr lang="en-US" b="1" dirty="0"/>
              <a:t>VACUUM</a:t>
            </a:r>
            <a:r>
              <a:rPr lang="en-US" dirty="0"/>
              <a:t> cleans up dead versions. The result: fantastic concurrent throughput with minimal locking.”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“Postgres stores metadata about everything—tables, columns, types, indexes—in </a:t>
            </a:r>
            <a:r>
              <a:rPr lang="en-US" b="1" dirty="0"/>
              <a:t>system catalog tables</a:t>
            </a:r>
            <a:r>
              <a:rPr lang="en-US" dirty="0"/>
              <a:t>. They’re real tables you can query, like </a:t>
            </a:r>
            <a:r>
              <a:rPr lang="en-US" sz="1200" kern="1200" dirty="0" err="1">
                <a:solidFill>
                  <a:schemeClr val="tx1"/>
                </a:solidFill>
                <a:latin typeface="+mn-lt"/>
                <a:ea typeface="+mn-ea"/>
                <a:cs typeface="+mn-cs"/>
              </a:rPr>
              <a:t>pg_class</a:t>
            </a:r>
            <a:r>
              <a:rPr lang="en-US" dirty="0"/>
              <a:t> and </a:t>
            </a:r>
            <a:r>
              <a:rPr lang="en-US" sz="1200" kern="1200" dirty="0" err="1">
                <a:solidFill>
                  <a:schemeClr val="tx1"/>
                </a:solidFill>
                <a:latin typeface="+mn-lt"/>
                <a:ea typeface="+mn-ea"/>
                <a:cs typeface="+mn-cs"/>
              </a:rPr>
              <a:t>pg_type</a:t>
            </a:r>
            <a:r>
              <a:rPr lang="en-US" dirty="0"/>
              <a:t>. You should never edit them directly; you use standard DDL—</a:t>
            </a:r>
            <a:r>
              <a:rPr lang="en-US" sz="1200" kern="1200" dirty="0">
                <a:solidFill>
                  <a:schemeClr val="tx1"/>
                </a:solidFill>
                <a:latin typeface="+mn-lt"/>
                <a:ea typeface="+mn-ea"/>
                <a:cs typeface="+mn-cs"/>
              </a:rPr>
              <a:t>CREATE</a:t>
            </a:r>
            <a:r>
              <a:rPr lang="en-US" dirty="0"/>
              <a:t>, </a:t>
            </a:r>
            <a:r>
              <a:rPr lang="en-US" sz="1200" kern="1200" dirty="0">
                <a:solidFill>
                  <a:schemeClr val="tx1"/>
                </a:solidFill>
                <a:latin typeface="+mn-lt"/>
                <a:ea typeface="+mn-ea"/>
                <a:cs typeface="+mn-cs"/>
              </a:rPr>
              <a:t>ALTER</a:t>
            </a:r>
            <a:r>
              <a:rPr lang="en-US" dirty="0"/>
              <a:t>, </a:t>
            </a:r>
            <a:r>
              <a:rPr lang="en-US" sz="1200" kern="1200" dirty="0">
                <a:solidFill>
                  <a:schemeClr val="tx1"/>
                </a:solidFill>
                <a:latin typeface="+mn-lt"/>
                <a:ea typeface="+mn-ea"/>
                <a:cs typeface="+mn-cs"/>
              </a:rPr>
              <a:t>DROP</a:t>
            </a:r>
            <a:r>
              <a:rPr lang="en-US" dirty="0"/>
              <a:t>—and Postgres updates the catalogs for you. Being comfortable querying these catalogs is a superpower for audits, migrations, and tooling.”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Supabase</a:t>
            </a:r>
            <a:r>
              <a:rPr lang="en-US" dirty="0"/>
              <a:t> layers modern services on top of PostgreSQL. </a:t>
            </a:r>
            <a:r>
              <a:rPr lang="en-US" b="1" dirty="0" err="1"/>
              <a:t>GoTrue</a:t>
            </a:r>
            <a:r>
              <a:rPr lang="en-US" dirty="0"/>
              <a:t> handles authentication and user management with JWTs. </a:t>
            </a:r>
            <a:r>
              <a:rPr lang="en-US" b="1" dirty="0" err="1"/>
              <a:t>PostgREST</a:t>
            </a:r>
            <a:r>
              <a:rPr lang="en-US" dirty="0"/>
              <a:t> automatically exposes your tables as a REST API so you don’t have to write controllers. </a:t>
            </a:r>
            <a:r>
              <a:rPr lang="en-US" b="1" dirty="0"/>
              <a:t>Realtime</a:t>
            </a:r>
            <a:r>
              <a:rPr lang="en-US" dirty="0"/>
              <a:t> streams database changes over </a:t>
            </a:r>
            <a:r>
              <a:rPr lang="en-US" dirty="0" err="1"/>
              <a:t>WebSockets</a:t>
            </a:r>
            <a:r>
              <a:rPr lang="en-US" dirty="0"/>
              <a:t> using logical replication. </a:t>
            </a:r>
            <a:r>
              <a:rPr lang="en-US" b="1" dirty="0"/>
              <a:t>Storage</a:t>
            </a:r>
            <a:r>
              <a:rPr lang="en-US" dirty="0"/>
              <a:t> provides S3-compatible object storage. </a:t>
            </a:r>
            <a:r>
              <a:rPr lang="en-US" b="1" dirty="0"/>
              <a:t>Edge Functions</a:t>
            </a:r>
            <a:r>
              <a:rPr lang="en-US" dirty="0"/>
              <a:t> run serverless code in Deno. There’s also </a:t>
            </a:r>
            <a:r>
              <a:rPr lang="en-US" b="1" dirty="0" err="1"/>
              <a:t>postgres</a:t>
            </a:r>
            <a:r>
              <a:rPr lang="en-US" b="1" dirty="0"/>
              <a:t>-meta</a:t>
            </a:r>
            <a:r>
              <a:rPr lang="en-US" dirty="0"/>
              <a:t> for schema management, </a:t>
            </a:r>
            <a:r>
              <a:rPr lang="en-US" b="1" dirty="0" err="1"/>
              <a:t>Supavisor</a:t>
            </a:r>
            <a:r>
              <a:rPr lang="en-US" dirty="0"/>
              <a:t> for connection pooling, and </a:t>
            </a:r>
            <a:r>
              <a:rPr lang="en-US" b="1" dirty="0"/>
              <a:t>Kong</a:t>
            </a:r>
            <a:r>
              <a:rPr lang="en-US" dirty="0"/>
              <a:t> as the API gateway. The key idea: it’s still Postgres at the core, but with batteries included.”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“Because </a:t>
            </a:r>
            <a:r>
              <a:rPr lang="en-US" dirty="0" err="1"/>
              <a:t>Supabase</a:t>
            </a:r>
            <a:r>
              <a:rPr lang="en-US" dirty="0"/>
              <a:t> uses Postgres under the hood, all of your SQL skills apply directly: schema design, indexes, transactions, and RLS policies. </a:t>
            </a:r>
            <a:r>
              <a:rPr lang="en-US" b="1" dirty="0" err="1"/>
              <a:t>PostgREST</a:t>
            </a:r>
            <a:r>
              <a:rPr lang="en-US" dirty="0"/>
              <a:t> translates table and view access into REST endpoints, </a:t>
            </a:r>
            <a:r>
              <a:rPr lang="en-US" b="1" dirty="0" err="1"/>
              <a:t>GoTrue</a:t>
            </a:r>
            <a:r>
              <a:rPr lang="en-US" dirty="0"/>
              <a:t> integrates cleanly with row-level security so you can write data-driven access rules, and </a:t>
            </a:r>
            <a:r>
              <a:rPr lang="en-US" b="1" dirty="0"/>
              <a:t>Realtime</a:t>
            </a:r>
            <a:r>
              <a:rPr lang="en-US" dirty="0"/>
              <a:t> streams changes out to clients for live UIs. You can manage with </a:t>
            </a:r>
            <a:r>
              <a:rPr lang="en-US" dirty="0" err="1"/>
              <a:t>Supabase</a:t>
            </a:r>
            <a:r>
              <a:rPr lang="en-US" dirty="0"/>
              <a:t> Studio and the CLI, or just connect with </a:t>
            </a:r>
            <a:r>
              <a:rPr lang="en-US" sz="1200" kern="1200" dirty="0" err="1">
                <a:solidFill>
                  <a:schemeClr val="tx1"/>
                </a:solidFill>
                <a:latin typeface="+mn-lt"/>
                <a:ea typeface="+mn-ea"/>
                <a:cs typeface="+mn-cs"/>
              </a:rPr>
              <a:t>psql</a:t>
            </a:r>
            <a:r>
              <a:rPr lang="en-US" dirty="0"/>
              <a:t>—your choice.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“Here’s a minimal local workflow. First, install the CLI: </a:t>
            </a:r>
            <a:r>
              <a:rPr lang="en-US" sz="1200" kern="1200" dirty="0" err="1">
                <a:solidFill>
                  <a:schemeClr val="tx1"/>
                </a:solidFill>
                <a:latin typeface="+mn-lt"/>
                <a:ea typeface="+mn-ea"/>
                <a:cs typeface="+mn-cs"/>
              </a:rPr>
              <a:t>npm</a:t>
            </a:r>
            <a:r>
              <a:rPr lang="en-US" sz="1200" kern="1200" dirty="0">
                <a:solidFill>
                  <a:schemeClr val="tx1"/>
                </a:solidFill>
                <a:latin typeface="+mn-lt"/>
                <a:ea typeface="+mn-ea"/>
                <a:cs typeface="+mn-cs"/>
              </a:rPr>
              <a:t> install -g </a:t>
            </a:r>
            <a:r>
              <a:rPr lang="en-US" sz="1200" kern="1200" dirty="0" err="1">
                <a:solidFill>
                  <a:schemeClr val="tx1"/>
                </a:solidFill>
                <a:latin typeface="+mn-lt"/>
                <a:ea typeface="+mn-ea"/>
                <a:cs typeface="+mn-cs"/>
              </a:rPr>
              <a:t>supabase</a:t>
            </a:r>
            <a:r>
              <a:rPr lang="en-US" dirty="0"/>
              <a:t>. Second, run </a:t>
            </a:r>
            <a:r>
              <a:rPr lang="en-US" sz="1200" kern="1200" dirty="0" err="1">
                <a:solidFill>
                  <a:schemeClr val="tx1"/>
                </a:solidFill>
                <a:latin typeface="+mn-lt"/>
                <a:ea typeface="+mn-ea"/>
                <a:cs typeface="+mn-cs"/>
              </a:rPr>
              <a:t>supabase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init</a:t>
            </a:r>
            <a:r>
              <a:rPr lang="en-US" dirty="0"/>
              <a:t> to create the project files. Third, run </a:t>
            </a:r>
            <a:r>
              <a:rPr lang="en-US" sz="1200" kern="1200" dirty="0" err="1">
                <a:solidFill>
                  <a:schemeClr val="tx1"/>
                </a:solidFill>
                <a:latin typeface="+mn-lt"/>
                <a:ea typeface="+mn-ea"/>
                <a:cs typeface="+mn-cs"/>
              </a:rPr>
              <a:t>supabase</a:t>
            </a:r>
            <a:r>
              <a:rPr lang="en-US" sz="1200" kern="1200" dirty="0">
                <a:solidFill>
                  <a:schemeClr val="tx1"/>
                </a:solidFill>
                <a:latin typeface="+mn-lt"/>
                <a:ea typeface="+mn-ea"/>
                <a:cs typeface="+mn-cs"/>
              </a:rPr>
              <a:t> start</a:t>
            </a:r>
            <a:r>
              <a:rPr lang="en-US" dirty="0"/>
              <a:t> to spin up a local stack—Postgres, </a:t>
            </a:r>
            <a:r>
              <a:rPr lang="en-US" dirty="0" err="1"/>
              <a:t>GoTrue</a:t>
            </a:r>
            <a:r>
              <a:rPr lang="en-US" dirty="0"/>
              <a:t>, </a:t>
            </a:r>
            <a:r>
              <a:rPr lang="en-US" dirty="0" err="1"/>
              <a:t>PostgREST</a:t>
            </a:r>
            <a:r>
              <a:rPr lang="en-US" dirty="0"/>
              <a:t>, and Realtime—all running on your machine so you can develop offline. Finally, </a:t>
            </a:r>
            <a:r>
              <a:rPr lang="en-US" sz="1200" kern="1200" dirty="0" err="1">
                <a:solidFill>
                  <a:schemeClr val="tx1"/>
                </a:solidFill>
                <a:latin typeface="+mn-lt"/>
                <a:ea typeface="+mn-ea"/>
                <a:cs typeface="+mn-cs"/>
              </a:rPr>
              <a:t>supabase</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db</a:t>
            </a:r>
            <a:r>
              <a:rPr lang="en-US" sz="1200" kern="1200" dirty="0">
                <a:solidFill>
                  <a:schemeClr val="tx1"/>
                </a:solidFill>
                <a:latin typeface="+mn-lt"/>
                <a:ea typeface="+mn-ea"/>
                <a:cs typeface="+mn-cs"/>
              </a:rPr>
              <a:t> connect</a:t>
            </a:r>
            <a:r>
              <a:rPr lang="en-US" dirty="0"/>
              <a:t> drops you into </a:t>
            </a:r>
            <a:r>
              <a:rPr lang="en-US" sz="1200" kern="1200" dirty="0" err="1">
                <a:solidFill>
                  <a:schemeClr val="tx1"/>
                </a:solidFill>
                <a:latin typeface="+mn-lt"/>
                <a:ea typeface="+mn-ea"/>
                <a:cs typeface="+mn-cs"/>
              </a:rPr>
              <a:t>psql</a:t>
            </a:r>
            <a:r>
              <a:rPr lang="en-US" dirty="0"/>
              <a:t> for direct SQL access. This makes local iteration fast and realistic.”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“Summing up: PostgreSQL is a client–server database that isolates connections into backends. Clusters hold multiple databases; databases group schemas and objects. Performance and durability come from the physical layout, shared buffers, and WAL. Background processes—</a:t>
            </a:r>
            <a:r>
              <a:rPr lang="en-US" dirty="0" err="1"/>
              <a:t>autovacuum</a:t>
            </a:r>
            <a:r>
              <a:rPr lang="en-US" dirty="0"/>
              <a:t>, writers, and </a:t>
            </a:r>
            <a:r>
              <a:rPr lang="en-US" dirty="0" err="1"/>
              <a:t>checkpointers</a:t>
            </a:r>
            <a:r>
              <a:rPr lang="en-US" dirty="0"/>
              <a:t>—work continuously in the background. Transactions are ACID; MVCC gives us high concurrency. System catalogs are the authoritative metadata. And </a:t>
            </a:r>
            <a:r>
              <a:rPr lang="en-US" dirty="0" err="1"/>
              <a:t>Supabase</a:t>
            </a:r>
            <a:r>
              <a:rPr lang="en-US" dirty="0"/>
              <a:t> builds on Postgres to add auth, REST, </a:t>
            </a:r>
            <a:r>
              <a:rPr lang="en-US" dirty="0" err="1"/>
              <a:t>realtime</a:t>
            </a:r>
            <a:r>
              <a:rPr lang="en-US" dirty="0"/>
              <a:t>, storage, and edge functions while preserving full SQL power.”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“Let’s sanity-check the concepts.</a:t>
            </a:r>
          </a:p>
          <a:p>
            <a:r>
              <a:rPr lang="en-US" dirty="0"/>
              <a:t>What does </a:t>
            </a:r>
            <a:r>
              <a:rPr lang="en-US" dirty="0" err="1"/>
              <a:t>autovacuum</a:t>
            </a:r>
            <a:r>
              <a:rPr lang="en-US" dirty="0"/>
              <a:t> do and why is it essential for healthy tables?</a:t>
            </a:r>
          </a:p>
          <a:p>
            <a:r>
              <a:rPr lang="en-US" dirty="0"/>
              <a:t>How does MVCC let readers and writers proceed concurrently without blocking?</a:t>
            </a:r>
          </a:p>
          <a:p>
            <a:r>
              <a:rPr lang="en-US" dirty="0"/>
              <a:t>What’s the difference between a cluster, a database, and a schema?</a:t>
            </a:r>
          </a:p>
          <a:p>
            <a:r>
              <a:rPr lang="en-US" dirty="0"/>
              <a:t>If the server crashes, what role does WAL play during recovery?</a:t>
            </a:r>
          </a:p>
          <a:p>
            <a:r>
              <a:rPr lang="en-US" dirty="0"/>
              <a:t>How does </a:t>
            </a:r>
            <a:r>
              <a:rPr lang="en-US" dirty="0" err="1"/>
              <a:t>Supabase</a:t>
            </a:r>
            <a:r>
              <a:rPr lang="en-US" dirty="0"/>
              <a:t> expose Postgres to developers while adding value?”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“For deeper study: read the PostgreSQL architectural overview and the </a:t>
            </a:r>
            <a:r>
              <a:rPr lang="en-US" dirty="0" err="1"/>
              <a:t>Wikibook</a:t>
            </a:r>
            <a:r>
              <a:rPr lang="en-US" dirty="0"/>
              <a:t> sections on processes, RAM, files, transactions, and MVCC. Explore the system catalogs with a quick </a:t>
            </a:r>
            <a:r>
              <a:rPr lang="en-US" sz="1200" kern="1200" dirty="0">
                <a:solidFill>
                  <a:schemeClr val="tx1"/>
                </a:solidFill>
                <a:latin typeface="+mn-lt"/>
                <a:ea typeface="+mn-ea"/>
                <a:cs typeface="+mn-cs"/>
              </a:rPr>
              <a:t>SELECT * FROM </a:t>
            </a:r>
            <a:r>
              <a:rPr lang="en-US" sz="1200" kern="1200" dirty="0" err="1">
                <a:solidFill>
                  <a:schemeClr val="tx1"/>
                </a:solidFill>
                <a:latin typeface="+mn-lt"/>
                <a:ea typeface="+mn-ea"/>
                <a:cs typeface="+mn-cs"/>
              </a:rPr>
              <a:t>pg_class</a:t>
            </a:r>
            <a:r>
              <a:rPr lang="en-US" sz="1200" kern="1200" dirty="0">
                <a:solidFill>
                  <a:schemeClr val="tx1"/>
                </a:solidFill>
                <a:latin typeface="+mn-lt"/>
                <a:ea typeface="+mn-ea"/>
                <a:cs typeface="+mn-cs"/>
              </a:rPr>
              <a:t> LIMIT 5;</a:t>
            </a:r>
            <a:r>
              <a:rPr lang="en-US" dirty="0"/>
              <a:t>. In </a:t>
            </a:r>
            <a:r>
              <a:rPr lang="en-US" dirty="0" err="1"/>
              <a:t>Supabase</a:t>
            </a:r>
            <a:r>
              <a:rPr lang="en-US" dirty="0"/>
              <a:t>, read the architecture, auth, storage, and </a:t>
            </a:r>
            <a:r>
              <a:rPr lang="en-US" dirty="0" err="1"/>
              <a:t>realtime</a:t>
            </a:r>
            <a:r>
              <a:rPr lang="en-US" dirty="0"/>
              <a:t> docs, and try the CLI on your machine. </a:t>
            </a:r>
            <a:r>
              <a:rPr lang="en-US"/>
              <a:t>Hands-on time with these tools will make all of today’s pieces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postgresql.org/docs/current/manage-ag-overview.html#:~:text=A%20small%20number%20of%20objects%2C,object%2C%20such%20as%20a%20functio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www.postgresql.org/docs/current/wal-intro.html#:~:text=28.3.%C2%A0Write" TargetMode="External"/><Relationship Id="rId4" Type="http://schemas.openxmlformats.org/officeDocument/2006/relationships/hyperlink" Target="https://www.interdb.jp/pg/pgsql01/02.html#:~:text=A%20database%20cluster%20is%20basically,to%20the%20environment%20variable%20PGDATA"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ev.to/humzakt/postgresql-background-processes-a-simple-guide-12d5#:~:text=,postmaster%20intervenes%20and%20restores%20stability"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postgresql.org/docs/current/manage-ag-overview.html#:~:text=A%20small%20number%20of%20objects%2C,object%2C%20such%20as%20a%20function"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interdb.jp/pg/pgsql01/02.html#:~:text=A%20database%20cluster%20is%20basically,to%20the%20environment%20variable%20PGDATA"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interdb.jp/pg/pgsql01/02.html#:~:text=A%20database%20cluster%20is%20basically,to%20the%20environment%20variable%20PGDATA"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www.interdb.jp/pg/pgsql01/02.html#:~:text=pg_wal%2F%20,to%20pg_wal%20in%20Version%201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file:///home/oai/redirect.html#:~:text=Shared%20Memory%20comprises%202%20key,operations%20and%20maintain%20overall%20efficiency"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dev.to/humzakt/postgresql-background-processes-a-simple-guide-12d5#:~:text=3" TargetMode="External"/><Relationship Id="rId7" Type="http://schemas.openxmlformats.org/officeDocument/2006/relationships/hyperlink" Target="https://www.postgresql.org/docs/current/runtime-config-resource.html#:~:text=19.4.5.%C2%A0Background%20Writer%20"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dev.to/humzakt/postgresql-background-processes-a-simple-guide-12d5#:~:text=9" TargetMode="External"/><Relationship Id="rId5" Type="http://schemas.openxmlformats.org/officeDocument/2006/relationships/hyperlink" Target="https://dev.to/humzakt/postgresql-background-processes-a-simple-guide-12d5#:~:text=5" TargetMode="External"/><Relationship Id="rId4" Type="http://schemas.openxmlformats.org/officeDocument/2006/relationships/hyperlink" Target="https://dev.to/humzakt/postgresql-background-processes-a-simple-guide-12d5#:~:text=4"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ev.to/humzakt/postgresql-background-processes-a-simple-guide-12d5#:~:text=7"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dev.to/humzakt/postgresql-background-processes-a-simple-guide-12d5#:~:text=10,Sender" TargetMode="External"/><Relationship Id="rId5" Type="http://schemas.openxmlformats.org/officeDocument/2006/relationships/hyperlink" Target="https://dev.to/humzakt/postgresql-background-processes-a-simple-guide-12d5#:~:text=6" TargetMode="External"/><Relationship Id="rId4" Type="http://schemas.openxmlformats.org/officeDocument/2006/relationships/hyperlink" Target="https://dev.to/humzakt/postgresql-background-processes-a-simple-guide-12d5#:~:text=8"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postgresql.org/docs/current/wal-intro.html#:~:text=28.3.%C2%A0Writ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postgresql.org/docs/current/tutorial-transactions.html#:~:text=Transactions%20are%20a%20fundamental%20concept,affect%20the%20database%20at%20all"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postgresql.org/docs/current/tutorial-transactions.html#:~:text=In%20PostgreSQL%2C%20a%20transaction%20is,transaction%20would%20actually%20look%20lik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red-gate.com/simple-talk/databases/postgresql/multi-version-concurrency-control-mvcc-in-postgresql-learning-postgresql-with-grant/#:~:text=It%E2%80%99s%20a%20tale%20as%20old,These%20ar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postgresql.org/docs/current/catalogs.html#:~:text=The%20system%20catalogs%20are%20the,catalog%20%E2%80%94"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supabase.com/docs/guides/getting-started/architecture#:~:text=Supabase%20is%20open%20source,make%20them%20simple%20to%20us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supabase.com/docs/guides/getting-started/architecture#:~:text=Postgres%20%28database%29" TargetMode="External"/><Relationship Id="rId4" Type="http://schemas.openxmlformats.org/officeDocument/2006/relationships/hyperlink" Target="https://supabase.com/docs/guides/getting-started/architecture#:~:text=Our%20goal%20at%20Supabase%20is,store%2C%20that%E2%80%99s%20perfectly%20fine"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supabase.com/docs/guides/getting-started/architecture#:~:text=Supabase%20is%20open%20source,make%20them%20simple%20to%20use"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supabase.com/docs/guides/getting-started/architecture#:~:text=Postgres%20%28database%29" TargetMode="External"/><Relationship Id="rId4" Type="http://schemas.openxmlformats.org/officeDocument/2006/relationships/hyperlink" Target="https://supabase.com/docs/guides/getting-started/architecture#:~:text=Our%20goal%20at%20Supabase%20is,store%2C%20that%E2%80%99s%20perfectly%20fin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supabase.com/docs/guides/getting-started/architecture#:~:text=Postgres%20%28database%29"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hyperlink" Target="https://www.red-gate.com/simple-talk/databases/postgresql/multi-version-concurrency-control-mvcc-in-postgresql-learning-postgresql-with-grant/#:~:text=It%E2%80%99s%20a%20tale%20as%20old,These%20are" TargetMode="External"/><Relationship Id="rId3" Type="http://schemas.openxmlformats.org/officeDocument/2006/relationships/hyperlink" Target="https://dev.to/humzakt/postgresql-background-processes-a-simple-guide-12d5#:~:text=,postmaster%20intervenes%20and%20restores%20stability" TargetMode="External"/><Relationship Id="rId7" Type="http://schemas.openxmlformats.org/officeDocument/2006/relationships/hyperlink" Target="https://www.postgresql.org/docs/current/wal-intro.html#:~:text=28.3.%C2%A0Write"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dev.to/humzakt/postgresql-background-processes-a-simple-guide-12d5#:~:text=3" TargetMode="External"/><Relationship Id="rId5" Type="http://schemas.openxmlformats.org/officeDocument/2006/relationships/hyperlink" Target="file:///home/oai/redirect.html#:~:text=Shared%20Memory%20comprises%202%20key,operations%20and%20maintain%20overall%20efficiency" TargetMode="External"/><Relationship Id="rId10" Type="http://schemas.openxmlformats.org/officeDocument/2006/relationships/hyperlink" Target="https://supabase.com/docs/guides/getting-started/architecture#:~:text=Supabase%20is%20open%20source,make%20them%20simple%20to%20use" TargetMode="External"/><Relationship Id="rId4" Type="http://schemas.openxmlformats.org/officeDocument/2006/relationships/hyperlink" Target="https://www.postgresql.org/docs/current/manage-ag-overview.html#:~:text=A%20small%20number%20of%20objects%2C,object%2C%20such%20as%20a%20function" TargetMode="External"/><Relationship Id="rId9" Type="http://schemas.openxmlformats.org/officeDocument/2006/relationships/hyperlink" Target="https://www.postgresql.org/docs/current/catalogs.html#:~:text=The%20system%20catalogs%20are%20the,catalog%20%E2%80%94"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ev.to/humzakt/postgresql-background-processes-a-simple-guide-12d5#:~:text=3" TargetMode="External"/><Relationship Id="rId7" Type="http://schemas.openxmlformats.org/officeDocument/2006/relationships/hyperlink" Target="https://supabase.com/docs/guides/getting-started/architecture#:~:text=Supabase%20is%20open%20source,make%20them%20simple%20to%20use"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postgresql.org/docs/current/wal-intro.html#:~:text=28.3.%C2%A0Write" TargetMode="External"/><Relationship Id="rId5" Type="http://schemas.openxmlformats.org/officeDocument/2006/relationships/hyperlink" Target="https://www.postgresql.org/docs/current/manage-ag-overview.html#:~:text=A%20small%20number%20of%20objects%2C,object%2C%20such%20as%20a%20function" TargetMode="External"/><Relationship Id="rId4" Type="http://schemas.openxmlformats.org/officeDocument/2006/relationships/hyperlink" Target="https://www.red-gate.com/simple-talk/databases/postgresql/multi-version-concurrency-control-mvcc-in-postgresql-learning-postgresql-with-grant/#:~:text=It%E2%80%99s%20a%20tale%20as%20old,These%20ar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postgresql.org/docs/current/wal-intro.html#:~:text=28.3.%C2%A0Write"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supabase.com/docs/guides/getting-started/architecture#:~:text=Postgres%20%28database%29" TargetMode="External"/><Relationship Id="rId5" Type="http://schemas.openxmlformats.org/officeDocument/2006/relationships/hyperlink" Target="https://www.red-gate.com/simple-talk/databases/postgresql/multi-version-concurrency-control-mvcc-in-postgresql-learning-postgresql-with-grant/#:~:text=It%E2%80%99s%20a%20tale%20as%20old,These%20are" TargetMode="External"/><Relationship Id="rId4" Type="http://schemas.openxmlformats.org/officeDocument/2006/relationships/hyperlink" Target="https://www.postgresql.org/docs/current/tutorial-transactions.html#:~:text=Transactions%20are%20a%20fundamental%20concept,affect%20the%20database%20at%20all"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vertabelo.com/blog/normalization-1nf-2nf-3nf/#:~:text=Normalization%20in%20relational%20databases%20is,update%20it%20in%20one%20place"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s://vertabelo.com/blog/normalization-1nf-2nf-3nf/#:~:text=A%20relation%20is%20in%20second,if%20and%20only%20if" TargetMode="External"/><Relationship Id="rId4" Type="http://schemas.openxmlformats.org/officeDocument/2006/relationships/hyperlink" Target="https://vertabelo.com/blog/normalization-1nf-2nf-3nf/#:~:text=1,broken%20down%20into%20anything%20smaller"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postgresql.org/docs/current/datatype.html#:~:text=PostgreSQL%20has%20a%20rich%20set,using%20the%20CREATE%20TYPE%20command"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www.postgresql.org/docs/current/ddl-constraints.html#:~:text=5.5.1.%C2%A0Check%20Constraints%20" TargetMode="External"/><Relationship Id="rId4" Type="http://schemas.openxmlformats.org/officeDocument/2006/relationships/hyperlink" Target="https://www.postgresql.org/docs/current/ddl-constraints.html#:~:text=Data%20types%20are%20a%20way,row%20for%20each%20product%20number"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postgresql.org/docs/current/indexes-types.html#:~:text=PostgreSQL%20provides%20several%20index%20types%3A,to%20create%20a%20Hash%20index"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postgresql.org/docs/current/using-explain.html#:~:text=PostgreSQL%20devises%20a%20query%20plan,attempts%20to%20cover%20the%20basics"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www.postgresql.org/docs/current/using-explain.html#:~:text=Since%20this%20query%20has%20no,left%20to%20right" TargetMode="External"/><Relationship Id="rId4" Type="http://schemas.openxmlformats.org/officeDocument/2006/relationships/hyperlink" Target="https://www.postgresql.org/docs/current/using-explain.html#:~:text=The%20structure%20of%20a%20query,so%20different%20node%20types%20can"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postgresql.org/docs/8.1/triggers.html#:~:text=A%20trigger%20is%20a%20specification,time%20to%20handle%20the%20event"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hyperlink" Target="https://cloudnative-pg.io/documentation/1.26/logical_replication/#:~:text=Logical%20Replication" TargetMode="External"/><Relationship Id="rId4" Type="http://schemas.openxmlformats.org/officeDocument/2006/relationships/hyperlink" Target="https://www.postgresql.org/docs/8.1/triggers.html#:~:text=PostgreSQL%20offers%20both%20per,level%20triggers%2C%20respectively"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oai/share/cached_assets_used/abstract_db.png"/>
          <p:cNvPicPr>
            <a:picLocks noChangeAspect="1"/>
          </p:cNvPicPr>
          <p:nvPr/>
        </p:nvPicPr>
        <p:blipFill>
          <a:blip r:embed="rId3"/>
          <a:srcRect l="16667" r="16667"/>
          <a:stretch/>
        </p:blipFill>
        <p:spPr>
          <a:xfrm>
            <a:off x="5029200" y="514350"/>
            <a:ext cx="4114800" cy="4114800"/>
          </a:xfrm>
          <a:prstGeom prst="rect">
            <a:avLst/>
          </a:prstGeom>
        </p:spPr>
      </p:pic>
      <p:sp>
        <p:nvSpPr>
          <p:cNvPr id="3" name="Text 0"/>
          <p:cNvSpPr/>
          <p:nvPr/>
        </p:nvSpPr>
        <p:spPr>
          <a:xfrm>
            <a:off x="365760" y="1371600"/>
            <a:ext cx="5029200" cy="731520"/>
          </a:xfrm>
          <a:prstGeom prst="rect">
            <a:avLst/>
          </a:prstGeom>
          <a:noFill/>
          <a:ln/>
        </p:spPr>
        <p:txBody>
          <a:bodyPr wrap="square" rtlCol="0" anchor="ctr"/>
          <a:lstStyle/>
          <a:p>
            <a:pPr marL="0" indent="0" algn="l">
              <a:buNone/>
            </a:pPr>
            <a:r>
              <a:rPr lang="en-US" sz="3600" b="1" dirty="0">
                <a:solidFill>
                  <a:srgbClr val="030A18"/>
                </a:solidFill>
                <a:latin typeface="Arial" pitchFamily="34" charset="0"/>
                <a:ea typeface="Arial" pitchFamily="34" charset="-122"/>
                <a:cs typeface="Arial" pitchFamily="34" charset="-120"/>
              </a:rPr>
              <a:t>PostgreSQL Architecture &amp; Setup</a:t>
            </a:r>
            <a:endParaRPr lang="en-US" sz="3600" dirty="0"/>
          </a:p>
        </p:txBody>
      </p:sp>
      <p:sp>
        <p:nvSpPr>
          <p:cNvPr id="4" name="Text 1"/>
          <p:cNvSpPr/>
          <p:nvPr/>
        </p:nvSpPr>
        <p:spPr>
          <a:xfrm>
            <a:off x="365760" y="2194560"/>
            <a:ext cx="5029200" cy="457200"/>
          </a:xfrm>
          <a:prstGeom prst="rect">
            <a:avLst/>
          </a:prstGeom>
          <a:noFill/>
          <a:ln/>
        </p:spPr>
        <p:txBody>
          <a:bodyPr wrap="square" rtlCol="0" anchor="ctr"/>
          <a:lstStyle/>
          <a:p>
            <a:pPr marL="0" indent="0">
              <a:buNone/>
            </a:pPr>
            <a:r>
              <a:rPr lang="en-US" sz="1600" dirty="0">
                <a:solidFill>
                  <a:srgbClr val="030A18"/>
                </a:solidFill>
                <a:latin typeface="Arial" pitchFamily="34" charset="0"/>
                <a:ea typeface="Arial" pitchFamily="34" charset="-122"/>
                <a:cs typeface="Arial" pitchFamily="34" charset="-120"/>
              </a:rPr>
              <a:t>Week 2 – CST4714 Database Administration (Supabase focus)</a:t>
            </a:r>
            <a:endParaRPr lang="en-US" sz="1600" dirty="0"/>
          </a:p>
        </p:txBody>
      </p:sp>
      <p:sp>
        <p:nvSpPr>
          <p:cNvPr id="5" name="Text 2"/>
          <p:cNvSpPr/>
          <p:nvPr/>
        </p:nvSpPr>
        <p:spPr>
          <a:xfrm>
            <a:off x="365760" y="2743200"/>
            <a:ext cx="5029200" cy="365760"/>
          </a:xfrm>
          <a:prstGeom prst="rect">
            <a:avLst/>
          </a:prstGeom>
          <a:noFill/>
          <a:ln/>
        </p:spPr>
        <p:txBody>
          <a:bodyPr wrap="square" rtlCol="0" anchor="ctr"/>
          <a:lstStyle/>
          <a:p>
            <a:pPr marL="0" indent="0">
              <a:buNone/>
            </a:pPr>
            <a:r>
              <a:rPr lang="en-US" sz="1200" dirty="0">
                <a:solidFill>
                  <a:srgbClr val="030A18"/>
                </a:solidFill>
                <a:latin typeface="Arial" pitchFamily="34" charset="0"/>
                <a:ea typeface="Arial" pitchFamily="34" charset="-122"/>
                <a:cs typeface="Arial" pitchFamily="34" charset="-120"/>
              </a:rPr>
              <a:t>September 4, 2025</a:t>
            </a:r>
            <a:endParaRPr lang="en-US" sz="1200" dirty="0"/>
          </a:p>
        </p:txBody>
      </p:sp>
      <p:pic>
        <p:nvPicPr>
          <p:cNvPr id="6" name="Image 1" descr="/home/oai/share/cached_assets_used/postgres_logo.png"/>
          <p:cNvPicPr>
            <a:picLocks noChangeAspect="1"/>
          </p:cNvPicPr>
          <p:nvPr/>
        </p:nvPicPr>
        <p:blipFill>
          <a:blip r:embed="rId4"/>
          <a:stretch>
            <a:fillRect/>
          </a:stretch>
        </p:blipFill>
        <p:spPr>
          <a:xfrm>
            <a:off x="465572" y="3840480"/>
            <a:ext cx="531895" cy="548640"/>
          </a:xfrm>
          <a:prstGeom prst="rect">
            <a:avLst/>
          </a:prstGeom>
        </p:spPr>
      </p:pic>
      <p:pic>
        <p:nvPicPr>
          <p:cNvPr id="7" name="Image 2" descr="/home/oai/share/cached_assets_used/supabase_logo.png"/>
          <p:cNvPicPr>
            <a:picLocks noChangeAspect="1"/>
          </p:cNvPicPr>
          <p:nvPr/>
        </p:nvPicPr>
        <p:blipFill>
          <a:blip r:embed="rId5"/>
          <a:stretch>
            <a:fillRect/>
          </a:stretch>
        </p:blipFill>
        <p:spPr>
          <a:xfrm>
            <a:off x="1554480" y="3840480"/>
            <a:ext cx="548640" cy="548640"/>
          </a:xfrm>
          <a:prstGeom prst="rect">
            <a:avLst/>
          </a:prstGeom>
        </p:spPr>
      </p:pic>
      <p:sp>
        <p:nvSpPr>
          <p:cNvPr id="8" name="Text 3"/>
          <p:cNvSpPr/>
          <p:nvPr/>
        </p:nvSpPr>
        <p:spPr>
          <a:xfrm>
            <a:off x="365760" y="4389120"/>
            <a:ext cx="5029200" cy="457200"/>
          </a:xfrm>
          <a:prstGeom prst="rect">
            <a:avLst/>
          </a:prstGeom>
          <a:noFill/>
          <a:ln/>
        </p:spPr>
        <p:txBody>
          <a:bodyPr wrap="square" rtlCol="0" anchor="ctr"/>
          <a:lstStyle/>
          <a:p>
            <a:pPr marL="0" indent="0">
              <a:buNone/>
            </a:pPr>
            <a:r>
              <a:rPr lang="en-US" sz="800" i="1" dirty="0">
                <a:solidFill>
                  <a:srgbClr val="97B1DF"/>
                </a:solidFill>
                <a:latin typeface="Arial" pitchFamily="34" charset="0"/>
                <a:ea typeface="Arial" pitchFamily="34" charset="-122"/>
                <a:cs typeface="Arial" pitchFamily="34" charset="-120"/>
              </a:rPr>
              <a:t>Open‑source database power meets modern development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Agenda &amp; Learning Objectives</a:t>
            </a:r>
            <a:endParaRPr lang="en-US" sz="2400" dirty="0"/>
          </a:p>
        </p:txBody>
      </p:sp>
      <p:sp>
        <p:nvSpPr>
          <p:cNvPr id="3" name="Text 1"/>
          <p:cNvSpPr/>
          <p:nvPr/>
        </p:nvSpPr>
        <p:spPr>
          <a:xfrm>
            <a:off x="365760" y="1097280"/>
            <a:ext cx="8412480" cy="548640"/>
          </a:xfrm>
          <a:prstGeom prst="rect">
            <a:avLst/>
          </a:prstGeom>
          <a:noFill/>
          <a:ln/>
        </p:spPr>
        <p:txBody>
          <a:bodyPr wrap="square" rtlCol="0" anchor="ctr"/>
          <a:lstStyle/>
          <a:p>
            <a:pPr marL="0" indent="0">
              <a:buNone/>
            </a:pPr>
            <a:r>
              <a:rPr lang="en-US" sz="2100" b="1" dirty="0">
                <a:solidFill>
                  <a:srgbClr val="030A18"/>
                </a:solidFill>
                <a:latin typeface="Arial" pitchFamily="34" charset="0"/>
                <a:ea typeface="Arial" pitchFamily="34" charset="-122"/>
                <a:cs typeface="Arial" pitchFamily="34" charset="-120"/>
              </a:rPr>
              <a:t>By the end of this lecture you will be able to:
</a:t>
            </a:r>
            <a:endParaRPr lang="en-US" sz="2100" dirty="0"/>
          </a:p>
        </p:txBody>
      </p:sp>
      <p:sp>
        <p:nvSpPr>
          <p:cNvPr id="4" name="Text 2"/>
          <p:cNvSpPr/>
          <p:nvPr/>
        </p:nvSpPr>
        <p:spPr>
          <a:xfrm>
            <a:off x="457200" y="1645920"/>
            <a:ext cx="4114800" cy="2286000"/>
          </a:xfrm>
          <a:prstGeom prst="rect">
            <a:avLst/>
          </a:prstGeom>
          <a:noFill/>
          <a:ln/>
        </p:spPr>
        <p:txBody>
          <a:bodyPr wrap="square" rtlCol="0" anchor="ctr"/>
          <a:lstStyle/>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Understand the PostgreSQL client‑server architecture</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Describe clusters, databases &amp; schemas</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Illustrate the physical structure &amp; shared memory</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Identify key background processes</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Explain Write‑Ahead Logging (WAL)</a:t>
            </a:r>
            <a:endParaRPr lang="en-US" sz="1200" dirty="0"/>
          </a:p>
        </p:txBody>
      </p:sp>
      <p:sp>
        <p:nvSpPr>
          <p:cNvPr id="5" name="Text 3"/>
          <p:cNvSpPr/>
          <p:nvPr/>
        </p:nvSpPr>
        <p:spPr>
          <a:xfrm>
            <a:off x="4572000" y="1645920"/>
            <a:ext cx="4114800" cy="2286000"/>
          </a:xfrm>
          <a:prstGeom prst="rect">
            <a:avLst/>
          </a:prstGeom>
          <a:noFill/>
          <a:ln/>
        </p:spPr>
        <p:txBody>
          <a:bodyPr wrap="square" rtlCol="0" anchor="ctr"/>
          <a:lstStyle/>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Review transactions &amp; ACID properties</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Visualise MVCC &amp; concurrency control</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Explore system catalogs (data dictionary)</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Discover Supabase architecture &amp; components</a:t>
            </a:r>
            <a:endParaRPr lang="en-US" sz="1200" dirty="0"/>
          </a:p>
          <a:p>
            <a:pPr marL="190500" indent="-190500">
              <a:spcAft>
                <a:spcPts val="360"/>
              </a:spcAft>
              <a:buSzPct val="100000"/>
              <a:buChar char="•"/>
            </a:pPr>
            <a:r>
              <a:rPr lang="en-US" sz="1200" dirty="0">
                <a:solidFill>
                  <a:srgbClr val="030A18"/>
                </a:solidFill>
                <a:latin typeface="Arial" pitchFamily="34" charset="0"/>
                <a:ea typeface="Arial" pitchFamily="34" charset="-122"/>
                <a:cs typeface="Arial" pitchFamily="34" charset="-120"/>
              </a:rPr>
              <a:t>Demonstrate Supabase CLI usage</a:t>
            </a:r>
            <a:endParaRPr lang="en-US" sz="1200" dirty="0"/>
          </a:p>
        </p:txBody>
      </p:sp>
      <p:sp>
        <p:nvSpPr>
          <p:cNvPr id="6" name="Text 4"/>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[11]</a:t>
            </a:r>
            <a:r>
              <a:rPr lang="en-US" sz="600" dirty="0">
                <a:solidFill>
                  <a:srgbClr val="000000"/>
                </a:solidFill>
              </a:rPr>
              <a:t>   </a:t>
            </a:r>
            <a:r>
              <a:rPr lang="en-US" sz="600" u="sng" dirty="0">
                <a:solidFill>
                  <a:srgbClr val="97B1DF"/>
                </a:solidFill>
                <a:hlinkClick r:id="rId4"/>
              </a:rPr>
              <a:t>[12]</a:t>
            </a:r>
            <a:r>
              <a:rPr lang="en-US" sz="600" dirty="0">
                <a:solidFill>
                  <a:srgbClr val="000000"/>
                </a:solidFill>
              </a:rPr>
              <a:t>   </a:t>
            </a:r>
            <a:r>
              <a:rPr lang="en-US" sz="600" u="sng" dirty="0">
                <a:solidFill>
                  <a:srgbClr val="97B1DF"/>
                </a:solidFill>
                <a:hlinkClick r:id="rId5"/>
              </a:rPr>
              <a:t>[14]</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Client–Server Architecture</a:t>
            </a:r>
            <a:endParaRPr lang="en-US" sz="2400" dirty="0"/>
          </a:p>
        </p:txBody>
      </p:sp>
      <p:sp>
        <p:nvSpPr>
          <p:cNvPr id="3" name="Shape 1"/>
          <p:cNvSpPr/>
          <p:nvPr/>
        </p:nvSpPr>
        <p:spPr>
          <a:xfrm>
            <a:off x="548640" y="1371600"/>
            <a:ext cx="1097280" cy="548640"/>
          </a:xfrm>
          <a:prstGeom prst="roundRect">
            <a:avLst>
              <a:gd name="adj" fmla="val 8333"/>
            </a:avLst>
          </a:prstGeom>
          <a:solidFill>
            <a:srgbClr val="F5F5F5"/>
          </a:solidFill>
          <a:ln w="12700">
            <a:solidFill>
              <a:srgbClr val="97B1DF"/>
            </a:solidFill>
            <a:prstDash val="solid"/>
          </a:ln>
        </p:spPr>
        <p:txBody>
          <a:bodyPr/>
          <a:lstStyle/>
          <a:p>
            <a:endParaRPr/>
          </a:p>
        </p:txBody>
      </p:sp>
      <p:sp>
        <p:nvSpPr>
          <p:cNvPr id="4" name="Text 2"/>
          <p:cNvSpPr/>
          <p:nvPr/>
        </p:nvSpPr>
        <p:spPr>
          <a:xfrm>
            <a:off x="548640" y="1463040"/>
            <a:ext cx="1097280" cy="365760"/>
          </a:xfrm>
          <a:prstGeom prst="rect">
            <a:avLst/>
          </a:prstGeom>
          <a:noFill/>
          <a:ln/>
        </p:spPr>
        <p:txBody>
          <a:bodyPr wrap="square" rtlCol="0" anchor="ctr"/>
          <a:lstStyle/>
          <a:p>
            <a:pPr marL="0" indent="0" algn="ctr">
              <a:buNone/>
            </a:pPr>
            <a:r>
              <a:rPr lang="en-US" sz="800" dirty="0">
                <a:solidFill>
                  <a:srgbClr val="030A18"/>
                </a:solidFill>
              </a:rPr>
              <a:t>Client</a:t>
            </a:r>
            <a:endParaRPr lang="en-US" sz="800" dirty="0"/>
          </a:p>
        </p:txBody>
      </p:sp>
      <p:sp>
        <p:nvSpPr>
          <p:cNvPr id="5" name="Shape 3"/>
          <p:cNvSpPr/>
          <p:nvPr/>
        </p:nvSpPr>
        <p:spPr>
          <a:xfrm>
            <a:off x="1097280" y="1920240"/>
            <a:ext cx="3017520" cy="548640"/>
          </a:xfrm>
          <a:prstGeom prst="line">
            <a:avLst/>
          </a:prstGeom>
          <a:noFill/>
          <a:ln w="12700">
            <a:solidFill>
              <a:srgbClr val="97B1DF"/>
            </a:solidFill>
            <a:prstDash val="dash"/>
          </a:ln>
        </p:spPr>
        <p:txBody>
          <a:bodyPr/>
          <a:lstStyle/>
          <a:p>
            <a:endParaRPr/>
          </a:p>
        </p:txBody>
      </p:sp>
      <p:sp>
        <p:nvSpPr>
          <p:cNvPr id="6" name="Shape 4"/>
          <p:cNvSpPr/>
          <p:nvPr/>
        </p:nvSpPr>
        <p:spPr>
          <a:xfrm>
            <a:off x="2743200" y="1371600"/>
            <a:ext cx="1097280" cy="548640"/>
          </a:xfrm>
          <a:prstGeom prst="roundRect">
            <a:avLst>
              <a:gd name="adj" fmla="val 8333"/>
            </a:avLst>
          </a:prstGeom>
          <a:solidFill>
            <a:srgbClr val="F5F5F5"/>
          </a:solidFill>
          <a:ln w="12700">
            <a:solidFill>
              <a:srgbClr val="97B1DF"/>
            </a:solidFill>
            <a:prstDash val="solid"/>
          </a:ln>
        </p:spPr>
        <p:txBody>
          <a:bodyPr/>
          <a:lstStyle/>
          <a:p>
            <a:endParaRPr/>
          </a:p>
        </p:txBody>
      </p:sp>
      <p:sp>
        <p:nvSpPr>
          <p:cNvPr id="7" name="Text 5"/>
          <p:cNvSpPr/>
          <p:nvPr/>
        </p:nvSpPr>
        <p:spPr>
          <a:xfrm>
            <a:off x="2743200" y="1463040"/>
            <a:ext cx="1097280" cy="365760"/>
          </a:xfrm>
          <a:prstGeom prst="rect">
            <a:avLst/>
          </a:prstGeom>
          <a:noFill/>
          <a:ln/>
        </p:spPr>
        <p:txBody>
          <a:bodyPr wrap="square" rtlCol="0" anchor="ctr"/>
          <a:lstStyle/>
          <a:p>
            <a:pPr marL="0" indent="0" algn="ctr">
              <a:buNone/>
            </a:pPr>
            <a:r>
              <a:rPr lang="en-US" sz="800" dirty="0">
                <a:solidFill>
                  <a:srgbClr val="030A18"/>
                </a:solidFill>
              </a:rPr>
              <a:t>Client</a:t>
            </a:r>
            <a:endParaRPr lang="en-US" sz="800" dirty="0"/>
          </a:p>
        </p:txBody>
      </p:sp>
      <p:sp>
        <p:nvSpPr>
          <p:cNvPr id="8" name="Shape 6"/>
          <p:cNvSpPr/>
          <p:nvPr/>
        </p:nvSpPr>
        <p:spPr>
          <a:xfrm>
            <a:off x="3291840" y="1920240"/>
            <a:ext cx="822960" cy="548640"/>
          </a:xfrm>
          <a:prstGeom prst="line">
            <a:avLst/>
          </a:prstGeom>
          <a:noFill/>
          <a:ln w="12700">
            <a:solidFill>
              <a:srgbClr val="97B1DF"/>
            </a:solidFill>
            <a:prstDash val="dash"/>
          </a:ln>
        </p:spPr>
        <p:txBody>
          <a:bodyPr/>
          <a:lstStyle/>
          <a:p>
            <a:endParaRPr/>
          </a:p>
        </p:txBody>
      </p:sp>
      <p:sp>
        <p:nvSpPr>
          <p:cNvPr id="9" name="Shape 7"/>
          <p:cNvSpPr/>
          <p:nvPr/>
        </p:nvSpPr>
        <p:spPr>
          <a:xfrm>
            <a:off x="4937760" y="1371600"/>
            <a:ext cx="1097280" cy="548640"/>
          </a:xfrm>
          <a:prstGeom prst="roundRect">
            <a:avLst>
              <a:gd name="adj" fmla="val 8333"/>
            </a:avLst>
          </a:prstGeom>
          <a:solidFill>
            <a:srgbClr val="F5F5F5"/>
          </a:solidFill>
          <a:ln w="12700">
            <a:solidFill>
              <a:srgbClr val="97B1DF"/>
            </a:solidFill>
            <a:prstDash val="solid"/>
          </a:ln>
        </p:spPr>
        <p:txBody>
          <a:bodyPr/>
          <a:lstStyle/>
          <a:p>
            <a:endParaRPr/>
          </a:p>
        </p:txBody>
      </p:sp>
      <p:sp>
        <p:nvSpPr>
          <p:cNvPr id="10" name="Text 8"/>
          <p:cNvSpPr/>
          <p:nvPr/>
        </p:nvSpPr>
        <p:spPr>
          <a:xfrm>
            <a:off x="4937760" y="1463040"/>
            <a:ext cx="1097280" cy="365760"/>
          </a:xfrm>
          <a:prstGeom prst="rect">
            <a:avLst/>
          </a:prstGeom>
          <a:noFill/>
          <a:ln/>
        </p:spPr>
        <p:txBody>
          <a:bodyPr wrap="square" rtlCol="0" anchor="ctr"/>
          <a:lstStyle/>
          <a:p>
            <a:pPr marL="0" indent="0" algn="ctr">
              <a:buNone/>
            </a:pPr>
            <a:r>
              <a:rPr lang="en-US" sz="800" dirty="0">
                <a:solidFill>
                  <a:srgbClr val="030A18"/>
                </a:solidFill>
              </a:rPr>
              <a:t>Client</a:t>
            </a:r>
            <a:endParaRPr lang="en-US" sz="800" dirty="0"/>
          </a:p>
        </p:txBody>
      </p:sp>
      <p:sp>
        <p:nvSpPr>
          <p:cNvPr id="11" name="Shape 9"/>
          <p:cNvSpPr/>
          <p:nvPr/>
        </p:nvSpPr>
        <p:spPr>
          <a:xfrm>
            <a:off x="5486400" y="1920240"/>
            <a:ext cx="0" cy="548640"/>
          </a:xfrm>
          <a:prstGeom prst="line">
            <a:avLst/>
          </a:prstGeom>
          <a:noFill/>
          <a:ln w="12700">
            <a:solidFill>
              <a:srgbClr val="97B1DF"/>
            </a:solidFill>
            <a:prstDash val="dash"/>
          </a:ln>
        </p:spPr>
        <p:txBody>
          <a:bodyPr/>
          <a:lstStyle/>
          <a:p>
            <a:endParaRPr/>
          </a:p>
        </p:txBody>
      </p:sp>
      <p:sp>
        <p:nvSpPr>
          <p:cNvPr id="12" name="Shape 10"/>
          <p:cNvSpPr/>
          <p:nvPr/>
        </p:nvSpPr>
        <p:spPr>
          <a:xfrm>
            <a:off x="3566160" y="2103120"/>
            <a:ext cx="2011680" cy="914400"/>
          </a:xfrm>
          <a:prstGeom prst="rect">
            <a:avLst/>
          </a:prstGeom>
          <a:solidFill>
            <a:srgbClr val="97B1DF"/>
          </a:solidFill>
          <a:ln w="12700">
            <a:solidFill>
              <a:srgbClr val="97B1DF"/>
            </a:solidFill>
            <a:prstDash val="solid"/>
          </a:ln>
        </p:spPr>
        <p:txBody>
          <a:bodyPr/>
          <a:lstStyle/>
          <a:p>
            <a:endParaRPr/>
          </a:p>
        </p:txBody>
      </p:sp>
      <p:sp>
        <p:nvSpPr>
          <p:cNvPr id="13" name="Text 11"/>
          <p:cNvSpPr/>
          <p:nvPr/>
        </p:nvSpPr>
        <p:spPr>
          <a:xfrm>
            <a:off x="3657600" y="2240280"/>
            <a:ext cx="1828800" cy="640080"/>
          </a:xfrm>
          <a:prstGeom prst="rect">
            <a:avLst/>
          </a:prstGeom>
          <a:noFill/>
          <a:ln/>
        </p:spPr>
        <p:txBody>
          <a:bodyPr wrap="square" rtlCol="0" anchor="ctr"/>
          <a:lstStyle/>
          <a:p>
            <a:pPr marL="0" indent="0" algn="l">
              <a:buNone/>
            </a:pPr>
            <a:r>
              <a:rPr lang="en-US" sz="1200" b="1" dirty="0">
                <a:solidFill>
                  <a:srgbClr val="FFFFFF"/>
                </a:solidFill>
              </a:rPr>
              <a:t>Postmaster
</a:t>
            </a:r>
            <a:r>
              <a:rPr lang="en-US" sz="800" dirty="0">
                <a:solidFill>
                  <a:srgbClr val="FFFFFF"/>
                </a:solidFill>
              </a:rPr>
              <a:t>spawns per‑connection backends</a:t>
            </a:r>
            <a:endParaRPr lang="en-US" sz="1200" dirty="0"/>
          </a:p>
        </p:txBody>
      </p:sp>
      <p:sp>
        <p:nvSpPr>
          <p:cNvPr id="14" name="Shape 12"/>
          <p:cNvSpPr/>
          <p:nvPr/>
        </p:nvSpPr>
        <p:spPr>
          <a:xfrm>
            <a:off x="3703320" y="2560320"/>
            <a:ext cx="548640" cy="320040"/>
          </a:xfrm>
          <a:prstGeom prst="roundRect">
            <a:avLst>
              <a:gd name="adj" fmla="val 14286"/>
            </a:avLst>
          </a:prstGeom>
          <a:solidFill>
            <a:srgbClr val="A4B6B8"/>
          </a:solidFill>
          <a:ln w="12700">
            <a:solidFill>
              <a:srgbClr val="A4B6B8"/>
            </a:solidFill>
            <a:prstDash val="solid"/>
          </a:ln>
        </p:spPr>
        <p:txBody>
          <a:bodyPr/>
          <a:lstStyle/>
          <a:p>
            <a:endParaRPr/>
          </a:p>
        </p:txBody>
      </p:sp>
      <p:sp>
        <p:nvSpPr>
          <p:cNvPr id="15" name="Text 13"/>
          <p:cNvSpPr/>
          <p:nvPr/>
        </p:nvSpPr>
        <p:spPr>
          <a:xfrm>
            <a:off x="3703320" y="2633472"/>
            <a:ext cx="548640" cy="182880"/>
          </a:xfrm>
          <a:prstGeom prst="rect">
            <a:avLst/>
          </a:prstGeom>
          <a:noFill/>
          <a:ln/>
        </p:spPr>
        <p:txBody>
          <a:bodyPr wrap="square" rtlCol="0" anchor="ctr"/>
          <a:lstStyle/>
          <a:p>
            <a:pPr marL="0" indent="0" algn="ctr">
              <a:buNone/>
            </a:pPr>
            <a:r>
              <a:rPr lang="en-US" sz="800" dirty="0">
                <a:solidFill>
                  <a:srgbClr val="030A18"/>
                </a:solidFill>
              </a:rPr>
              <a:t>Backend 1</a:t>
            </a:r>
            <a:endParaRPr lang="en-US" sz="800" dirty="0"/>
          </a:p>
        </p:txBody>
      </p:sp>
      <p:sp>
        <p:nvSpPr>
          <p:cNvPr id="16" name="Shape 14"/>
          <p:cNvSpPr/>
          <p:nvPr/>
        </p:nvSpPr>
        <p:spPr>
          <a:xfrm>
            <a:off x="4297680" y="2560320"/>
            <a:ext cx="548640" cy="320040"/>
          </a:xfrm>
          <a:prstGeom prst="roundRect">
            <a:avLst>
              <a:gd name="adj" fmla="val 14286"/>
            </a:avLst>
          </a:prstGeom>
          <a:solidFill>
            <a:srgbClr val="A4B6B8"/>
          </a:solidFill>
          <a:ln w="12700">
            <a:solidFill>
              <a:srgbClr val="A4B6B8"/>
            </a:solidFill>
            <a:prstDash val="solid"/>
          </a:ln>
        </p:spPr>
        <p:txBody>
          <a:bodyPr/>
          <a:lstStyle/>
          <a:p>
            <a:endParaRPr/>
          </a:p>
        </p:txBody>
      </p:sp>
      <p:sp>
        <p:nvSpPr>
          <p:cNvPr id="17" name="Text 15"/>
          <p:cNvSpPr/>
          <p:nvPr/>
        </p:nvSpPr>
        <p:spPr>
          <a:xfrm>
            <a:off x="4297680" y="2633472"/>
            <a:ext cx="548640" cy="182880"/>
          </a:xfrm>
          <a:prstGeom prst="rect">
            <a:avLst/>
          </a:prstGeom>
          <a:noFill/>
          <a:ln/>
        </p:spPr>
        <p:txBody>
          <a:bodyPr wrap="square" rtlCol="0" anchor="ctr"/>
          <a:lstStyle/>
          <a:p>
            <a:pPr marL="0" indent="0" algn="ctr">
              <a:buNone/>
            </a:pPr>
            <a:r>
              <a:rPr lang="en-US" sz="800" dirty="0">
                <a:solidFill>
                  <a:srgbClr val="030A18"/>
                </a:solidFill>
              </a:rPr>
              <a:t>Backend 2</a:t>
            </a:r>
            <a:endParaRPr lang="en-US" sz="800" dirty="0"/>
          </a:p>
        </p:txBody>
      </p:sp>
      <p:sp>
        <p:nvSpPr>
          <p:cNvPr id="18" name="Shape 16"/>
          <p:cNvSpPr/>
          <p:nvPr/>
        </p:nvSpPr>
        <p:spPr>
          <a:xfrm>
            <a:off x="4892040" y="2560320"/>
            <a:ext cx="548640" cy="320040"/>
          </a:xfrm>
          <a:prstGeom prst="roundRect">
            <a:avLst>
              <a:gd name="adj" fmla="val 14286"/>
            </a:avLst>
          </a:prstGeom>
          <a:solidFill>
            <a:srgbClr val="A4B6B8"/>
          </a:solidFill>
          <a:ln w="12700">
            <a:solidFill>
              <a:srgbClr val="A4B6B8"/>
            </a:solidFill>
            <a:prstDash val="solid"/>
          </a:ln>
        </p:spPr>
        <p:txBody>
          <a:bodyPr/>
          <a:lstStyle/>
          <a:p>
            <a:endParaRPr/>
          </a:p>
        </p:txBody>
      </p:sp>
      <p:sp>
        <p:nvSpPr>
          <p:cNvPr id="19" name="Text 17"/>
          <p:cNvSpPr/>
          <p:nvPr/>
        </p:nvSpPr>
        <p:spPr>
          <a:xfrm>
            <a:off x="4892040" y="2633472"/>
            <a:ext cx="548640" cy="182880"/>
          </a:xfrm>
          <a:prstGeom prst="rect">
            <a:avLst/>
          </a:prstGeom>
          <a:noFill/>
          <a:ln/>
        </p:spPr>
        <p:txBody>
          <a:bodyPr wrap="square" rtlCol="0" anchor="ctr"/>
          <a:lstStyle/>
          <a:p>
            <a:pPr marL="0" indent="0" algn="ctr">
              <a:buNone/>
            </a:pPr>
            <a:r>
              <a:rPr lang="en-US" sz="800" dirty="0">
                <a:solidFill>
                  <a:srgbClr val="030A18"/>
                </a:solidFill>
              </a:rPr>
              <a:t>Backend 3</a:t>
            </a:r>
            <a:endParaRPr lang="en-US" sz="800" dirty="0"/>
          </a:p>
        </p:txBody>
      </p:sp>
      <p:sp>
        <p:nvSpPr>
          <p:cNvPr id="20" name="Text 18"/>
          <p:cNvSpPr/>
          <p:nvPr/>
        </p:nvSpPr>
        <p:spPr>
          <a:xfrm>
            <a:off x="457200" y="2743200"/>
            <a:ext cx="5029200" cy="1828800"/>
          </a:xfrm>
          <a:prstGeom prst="rect">
            <a:avLst/>
          </a:prstGeom>
          <a:noFill/>
          <a:ln/>
        </p:spPr>
        <p:txBody>
          <a:bodyPr wrap="square" rtlCol="0" anchor="ctr"/>
          <a:lstStyle/>
          <a:p>
            <a:pPr marL="0" indent="0">
              <a:buNone/>
            </a:pPr>
            <a:r>
              <a:rPr lang="en-US" sz="1200" dirty="0">
                <a:solidFill>
                  <a:srgbClr val="030A18"/>
                </a:solidFill>
              </a:rPr>
              <a:t>• PostgreSQL runs as a dedicated server process (postmaster)
• The postmaster initialises shared memory, listens for connections and supervises child processes
• Each client connection is handled by its own backend process; processes are isolated and cannot interfere with each other</a:t>
            </a:r>
            <a:endParaRPr lang="en-US" sz="1200" dirty="0"/>
          </a:p>
        </p:txBody>
      </p:sp>
      <p:sp>
        <p:nvSpPr>
          <p:cNvPr id="21" name="Text 19"/>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Cluster, Database &amp; Schema</a:t>
            </a:r>
            <a:endParaRPr lang="en-US" sz="2400" dirty="0"/>
          </a:p>
        </p:txBody>
      </p:sp>
      <p:sp>
        <p:nvSpPr>
          <p:cNvPr id="3" name="Shape 1"/>
          <p:cNvSpPr/>
          <p:nvPr/>
        </p:nvSpPr>
        <p:spPr>
          <a:xfrm>
            <a:off x="731520" y="1371600"/>
            <a:ext cx="7680960" cy="2194560"/>
          </a:xfrm>
          <a:prstGeom prst="roundRect">
            <a:avLst>
              <a:gd name="adj" fmla="val 2083"/>
            </a:avLst>
          </a:prstGeom>
          <a:solidFill>
            <a:srgbClr val="F5F5F5"/>
          </a:solidFill>
          <a:ln w="12700">
            <a:solidFill>
              <a:srgbClr val="97B1DF"/>
            </a:solidFill>
            <a:prstDash val="solid"/>
          </a:ln>
        </p:spPr>
        <p:txBody>
          <a:bodyPr/>
          <a:lstStyle/>
          <a:p>
            <a:endParaRPr/>
          </a:p>
        </p:txBody>
      </p:sp>
      <p:sp>
        <p:nvSpPr>
          <p:cNvPr id="4" name="Text 2"/>
          <p:cNvSpPr/>
          <p:nvPr/>
        </p:nvSpPr>
        <p:spPr>
          <a:xfrm>
            <a:off x="731520" y="1234440"/>
            <a:ext cx="1828800" cy="365760"/>
          </a:xfrm>
          <a:prstGeom prst="rect">
            <a:avLst/>
          </a:prstGeom>
          <a:noFill/>
          <a:ln/>
        </p:spPr>
        <p:txBody>
          <a:bodyPr wrap="square" rtlCol="0" anchor="ctr"/>
          <a:lstStyle/>
          <a:p>
            <a:pPr marL="0" indent="0">
              <a:buNone/>
            </a:pPr>
            <a:r>
              <a:rPr lang="en-US" sz="1600" dirty="0">
                <a:solidFill>
                  <a:srgbClr val="030A18"/>
                </a:solidFill>
                <a:latin typeface="Arial" pitchFamily="34" charset="0"/>
                <a:ea typeface="Arial" pitchFamily="34" charset="-122"/>
                <a:cs typeface="Arial" pitchFamily="34" charset="-120"/>
              </a:rPr>
              <a:t>Cluster</a:t>
            </a:r>
            <a:endParaRPr lang="en-US" sz="1600" dirty="0"/>
          </a:p>
        </p:txBody>
      </p:sp>
      <p:sp>
        <p:nvSpPr>
          <p:cNvPr id="5" name="Shape 3"/>
          <p:cNvSpPr/>
          <p:nvPr/>
        </p:nvSpPr>
        <p:spPr>
          <a:xfrm>
            <a:off x="1005840" y="1645920"/>
            <a:ext cx="2011680" cy="1463040"/>
          </a:xfrm>
          <a:prstGeom prst="roundRect">
            <a:avLst>
              <a:gd name="adj" fmla="val 3125"/>
            </a:avLst>
          </a:prstGeom>
          <a:solidFill>
            <a:srgbClr val="FFFFFF"/>
          </a:solidFill>
          <a:ln w="12700">
            <a:solidFill>
              <a:srgbClr val="97B1DF"/>
            </a:solidFill>
            <a:prstDash val="solid"/>
          </a:ln>
        </p:spPr>
        <p:txBody>
          <a:bodyPr/>
          <a:lstStyle/>
          <a:p>
            <a:endParaRPr/>
          </a:p>
        </p:txBody>
      </p:sp>
      <p:sp>
        <p:nvSpPr>
          <p:cNvPr id="6" name="Text 4"/>
          <p:cNvSpPr/>
          <p:nvPr/>
        </p:nvSpPr>
        <p:spPr>
          <a:xfrm>
            <a:off x="1051560" y="1691640"/>
            <a:ext cx="1920240" cy="228600"/>
          </a:xfrm>
          <a:prstGeom prst="rect">
            <a:avLst/>
          </a:prstGeom>
          <a:noFill/>
          <a:ln/>
        </p:spPr>
        <p:txBody>
          <a:bodyPr wrap="square" rtlCol="0" anchor="ctr"/>
          <a:lstStyle/>
          <a:p>
            <a:pPr marL="0" indent="0">
              <a:buNone/>
            </a:pPr>
            <a:r>
              <a:rPr lang="en-US" sz="800" dirty="0">
                <a:solidFill>
                  <a:srgbClr val="030A18"/>
                </a:solidFill>
                <a:latin typeface="Arial" pitchFamily="34" charset="0"/>
                <a:ea typeface="Arial" pitchFamily="34" charset="-122"/>
                <a:cs typeface="Arial" pitchFamily="34" charset="-120"/>
              </a:rPr>
              <a:t>Database A</a:t>
            </a:r>
            <a:endParaRPr lang="en-US" sz="800" dirty="0"/>
          </a:p>
        </p:txBody>
      </p:sp>
      <p:sp>
        <p:nvSpPr>
          <p:cNvPr id="7" name="Shape 5"/>
          <p:cNvSpPr/>
          <p:nvPr/>
        </p:nvSpPr>
        <p:spPr>
          <a:xfrm>
            <a:off x="1097280" y="1920240"/>
            <a:ext cx="1828800" cy="256032"/>
          </a:xfrm>
          <a:prstGeom prst="rect">
            <a:avLst/>
          </a:prstGeom>
          <a:solidFill>
            <a:srgbClr val="A4B6B8"/>
          </a:solidFill>
          <a:ln w="12700">
            <a:solidFill>
              <a:srgbClr val="A4B6B8"/>
            </a:solidFill>
            <a:prstDash val="solid"/>
          </a:ln>
        </p:spPr>
        <p:txBody>
          <a:bodyPr/>
          <a:lstStyle/>
          <a:p>
            <a:endParaRPr/>
          </a:p>
        </p:txBody>
      </p:sp>
      <p:sp>
        <p:nvSpPr>
          <p:cNvPr id="8" name="Text 6"/>
          <p:cNvSpPr/>
          <p:nvPr/>
        </p:nvSpPr>
        <p:spPr>
          <a:xfrm>
            <a:off x="1097280" y="196596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public</a:t>
            </a:r>
            <a:endParaRPr lang="en-US" sz="1000" dirty="0"/>
          </a:p>
        </p:txBody>
      </p:sp>
      <p:sp>
        <p:nvSpPr>
          <p:cNvPr id="9" name="Shape 7"/>
          <p:cNvSpPr/>
          <p:nvPr/>
        </p:nvSpPr>
        <p:spPr>
          <a:xfrm>
            <a:off x="1097280" y="2240280"/>
            <a:ext cx="1828800" cy="256032"/>
          </a:xfrm>
          <a:prstGeom prst="rect">
            <a:avLst/>
          </a:prstGeom>
          <a:solidFill>
            <a:srgbClr val="A4B6B8"/>
          </a:solidFill>
          <a:ln w="12700">
            <a:solidFill>
              <a:srgbClr val="A4B6B8"/>
            </a:solidFill>
            <a:prstDash val="solid"/>
          </a:ln>
        </p:spPr>
        <p:txBody>
          <a:bodyPr/>
          <a:lstStyle/>
          <a:p>
            <a:endParaRPr/>
          </a:p>
        </p:txBody>
      </p:sp>
      <p:sp>
        <p:nvSpPr>
          <p:cNvPr id="10" name="Text 8"/>
          <p:cNvSpPr/>
          <p:nvPr/>
        </p:nvSpPr>
        <p:spPr>
          <a:xfrm>
            <a:off x="1097280" y="228600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sales</a:t>
            </a:r>
            <a:endParaRPr lang="en-US" sz="1000" dirty="0"/>
          </a:p>
        </p:txBody>
      </p:sp>
      <p:sp>
        <p:nvSpPr>
          <p:cNvPr id="11" name="Shape 9"/>
          <p:cNvSpPr/>
          <p:nvPr/>
        </p:nvSpPr>
        <p:spPr>
          <a:xfrm>
            <a:off x="1097280" y="2560320"/>
            <a:ext cx="1828800" cy="256032"/>
          </a:xfrm>
          <a:prstGeom prst="rect">
            <a:avLst/>
          </a:prstGeom>
          <a:solidFill>
            <a:srgbClr val="A4B6B8"/>
          </a:solidFill>
          <a:ln w="12700">
            <a:solidFill>
              <a:srgbClr val="A4B6B8"/>
            </a:solidFill>
            <a:prstDash val="solid"/>
          </a:ln>
        </p:spPr>
        <p:txBody>
          <a:bodyPr/>
          <a:lstStyle/>
          <a:p>
            <a:endParaRPr/>
          </a:p>
        </p:txBody>
      </p:sp>
      <p:sp>
        <p:nvSpPr>
          <p:cNvPr id="12" name="Text 10"/>
          <p:cNvSpPr/>
          <p:nvPr/>
        </p:nvSpPr>
        <p:spPr>
          <a:xfrm>
            <a:off x="1097280" y="260604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analytics</a:t>
            </a:r>
            <a:endParaRPr lang="en-US" sz="1000" dirty="0"/>
          </a:p>
        </p:txBody>
      </p:sp>
      <p:sp>
        <p:nvSpPr>
          <p:cNvPr id="13" name="Shape 11"/>
          <p:cNvSpPr/>
          <p:nvPr/>
        </p:nvSpPr>
        <p:spPr>
          <a:xfrm>
            <a:off x="3383280" y="1645920"/>
            <a:ext cx="2011680" cy="1463040"/>
          </a:xfrm>
          <a:prstGeom prst="roundRect">
            <a:avLst>
              <a:gd name="adj" fmla="val 3125"/>
            </a:avLst>
          </a:prstGeom>
          <a:solidFill>
            <a:srgbClr val="FFFFFF"/>
          </a:solidFill>
          <a:ln w="12700">
            <a:solidFill>
              <a:srgbClr val="97B1DF"/>
            </a:solidFill>
            <a:prstDash val="solid"/>
          </a:ln>
        </p:spPr>
        <p:txBody>
          <a:bodyPr/>
          <a:lstStyle/>
          <a:p>
            <a:endParaRPr/>
          </a:p>
        </p:txBody>
      </p:sp>
      <p:sp>
        <p:nvSpPr>
          <p:cNvPr id="14" name="Text 12"/>
          <p:cNvSpPr/>
          <p:nvPr/>
        </p:nvSpPr>
        <p:spPr>
          <a:xfrm>
            <a:off x="3429000" y="1691640"/>
            <a:ext cx="1920240" cy="228600"/>
          </a:xfrm>
          <a:prstGeom prst="rect">
            <a:avLst/>
          </a:prstGeom>
          <a:noFill/>
          <a:ln/>
        </p:spPr>
        <p:txBody>
          <a:bodyPr wrap="square" rtlCol="0" anchor="ctr"/>
          <a:lstStyle/>
          <a:p>
            <a:pPr marL="0" indent="0">
              <a:buNone/>
            </a:pPr>
            <a:r>
              <a:rPr lang="en-US" sz="800" dirty="0">
                <a:solidFill>
                  <a:srgbClr val="030A18"/>
                </a:solidFill>
                <a:latin typeface="Arial" pitchFamily="34" charset="0"/>
                <a:ea typeface="Arial" pitchFamily="34" charset="-122"/>
                <a:cs typeface="Arial" pitchFamily="34" charset="-120"/>
              </a:rPr>
              <a:t>Database B</a:t>
            </a:r>
            <a:endParaRPr lang="en-US" sz="800" dirty="0"/>
          </a:p>
        </p:txBody>
      </p:sp>
      <p:sp>
        <p:nvSpPr>
          <p:cNvPr id="15" name="Shape 13"/>
          <p:cNvSpPr/>
          <p:nvPr/>
        </p:nvSpPr>
        <p:spPr>
          <a:xfrm>
            <a:off x="3474720" y="1920240"/>
            <a:ext cx="1828800" cy="256032"/>
          </a:xfrm>
          <a:prstGeom prst="rect">
            <a:avLst/>
          </a:prstGeom>
          <a:solidFill>
            <a:srgbClr val="A4B6B8"/>
          </a:solidFill>
          <a:ln w="12700">
            <a:solidFill>
              <a:srgbClr val="A4B6B8"/>
            </a:solidFill>
            <a:prstDash val="solid"/>
          </a:ln>
        </p:spPr>
        <p:txBody>
          <a:bodyPr/>
          <a:lstStyle/>
          <a:p>
            <a:endParaRPr/>
          </a:p>
        </p:txBody>
      </p:sp>
      <p:sp>
        <p:nvSpPr>
          <p:cNvPr id="16" name="Text 14"/>
          <p:cNvSpPr/>
          <p:nvPr/>
        </p:nvSpPr>
        <p:spPr>
          <a:xfrm>
            <a:off x="3474720" y="196596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public</a:t>
            </a:r>
            <a:endParaRPr lang="en-US" sz="1000" dirty="0"/>
          </a:p>
        </p:txBody>
      </p:sp>
      <p:sp>
        <p:nvSpPr>
          <p:cNvPr id="17" name="Shape 15"/>
          <p:cNvSpPr/>
          <p:nvPr/>
        </p:nvSpPr>
        <p:spPr>
          <a:xfrm>
            <a:off x="3474720" y="2240280"/>
            <a:ext cx="1828800" cy="256032"/>
          </a:xfrm>
          <a:prstGeom prst="rect">
            <a:avLst/>
          </a:prstGeom>
          <a:solidFill>
            <a:srgbClr val="A4B6B8"/>
          </a:solidFill>
          <a:ln w="12700">
            <a:solidFill>
              <a:srgbClr val="A4B6B8"/>
            </a:solidFill>
            <a:prstDash val="solid"/>
          </a:ln>
        </p:spPr>
        <p:txBody>
          <a:bodyPr/>
          <a:lstStyle/>
          <a:p>
            <a:endParaRPr/>
          </a:p>
        </p:txBody>
      </p:sp>
      <p:sp>
        <p:nvSpPr>
          <p:cNvPr id="18" name="Text 16"/>
          <p:cNvSpPr/>
          <p:nvPr/>
        </p:nvSpPr>
        <p:spPr>
          <a:xfrm>
            <a:off x="3474720" y="228600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sales</a:t>
            </a:r>
            <a:endParaRPr lang="en-US" sz="1000" dirty="0"/>
          </a:p>
        </p:txBody>
      </p:sp>
      <p:sp>
        <p:nvSpPr>
          <p:cNvPr id="19" name="Shape 17"/>
          <p:cNvSpPr/>
          <p:nvPr/>
        </p:nvSpPr>
        <p:spPr>
          <a:xfrm>
            <a:off x="3474720" y="2560320"/>
            <a:ext cx="1828800" cy="256032"/>
          </a:xfrm>
          <a:prstGeom prst="rect">
            <a:avLst/>
          </a:prstGeom>
          <a:solidFill>
            <a:srgbClr val="A4B6B8"/>
          </a:solidFill>
          <a:ln w="12700">
            <a:solidFill>
              <a:srgbClr val="A4B6B8"/>
            </a:solidFill>
            <a:prstDash val="solid"/>
          </a:ln>
        </p:spPr>
        <p:txBody>
          <a:bodyPr/>
          <a:lstStyle/>
          <a:p>
            <a:endParaRPr/>
          </a:p>
        </p:txBody>
      </p:sp>
      <p:sp>
        <p:nvSpPr>
          <p:cNvPr id="20" name="Text 18"/>
          <p:cNvSpPr/>
          <p:nvPr/>
        </p:nvSpPr>
        <p:spPr>
          <a:xfrm>
            <a:off x="3474720" y="260604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analytics</a:t>
            </a:r>
            <a:endParaRPr lang="en-US" sz="1000" dirty="0"/>
          </a:p>
        </p:txBody>
      </p:sp>
      <p:sp>
        <p:nvSpPr>
          <p:cNvPr id="21" name="Shape 19"/>
          <p:cNvSpPr/>
          <p:nvPr/>
        </p:nvSpPr>
        <p:spPr>
          <a:xfrm>
            <a:off x="5760720" y="1645920"/>
            <a:ext cx="2011680" cy="1463040"/>
          </a:xfrm>
          <a:prstGeom prst="roundRect">
            <a:avLst>
              <a:gd name="adj" fmla="val 3125"/>
            </a:avLst>
          </a:prstGeom>
          <a:solidFill>
            <a:srgbClr val="FFFFFF"/>
          </a:solidFill>
          <a:ln w="12700">
            <a:solidFill>
              <a:srgbClr val="97B1DF"/>
            </a:solidFill>
            <a:prstDash val="solid"/>
          </a:ln>
        </p:spPr>
        <p:txBody>
          <a:bodyPr/>
          <a:lstStyle/>
          <a:p>
            <a:endParaRPr/>
          </a:p>
        </p:txBody>
      </p:sp>
      <p:sp>
        <p:nvSpPr>
          <p:cNvPr id="22" name="Text 20"/>
          <p:cNvSpPr/>
          <p:nvPr/>
        </p:nvSpPr>
        <p:spPr>
          <a:xfrm>
            <a:off x="5806440" y="1691640"/>
            <a:ext cx="1920240" cy="228600"/>
          </a:xfrm>
          <a:prstGeom prst="rect">
            <a:avLst/>
          </a:prstGeom>
          <a:noFill/>
          <a:ln/>
        </p:spPr>
        <p:txBody>
          <a:bodyPr wrap="square" rtlCol="0" anchor="ctr"/>
          <a:lstStyle/>
          <a:p>
            <a:pPr marL="0" indent="0">
              <a:buNone/>
            </a:pPr>
            <a:r>
              <a:rPr lang="en-US" sz="800" dirty="0">
                <a:solidFill>
                  <a:srgbClr val="030A18"/>
                </a:solidFill>
                <a:latin typeface="Arial" pitchFamily="34" charset="0"/>
                <a:ea typeface="Arial" pitchFamily="34" charset="-122"/>
                <a:cs typeface="Arial" pitchFamily="34" charset="-120"/>
              </a:rPr>
              <a:t>Database C</a:t>
            </a:r>
            <a:endParaRPr lang="en-US" sz="800" dirty="0"/>
          </a:p>
        </p:txBody>
      </p:sp>
      <p:sp>
        <p:nvSpPr>
          <p:cNvPr id="23" name="Shape 21"/>
          <p:cNvSpPr/>
          <p:nvPr/>
        </p:nvSpPr>
        <p:spPr>
          <a:xfrm>
            <a:off x="5852160" y="1920240"/>
            <a:ext cx="1828800" cy="256032"/>
          </a:xfrm>
          <a:prstGeom prst="rect">
            <a:avLst/>
          </a:prstGeom>
          <a:solidFill>
            <a:srgbClr val="A4B6B8"/>
          </a:solidFill>
          <a:ln w="12700">
            <a:solidFill>
              <a:srgbClr val="A4B6B8"/>
            </a:solidFill>
            <a:prstDash val="solid"/>
          </a:ln>
        </p:spPr>
        <p:txBody>
          <a:bodyPr/>
          <a:lstStyle/>
          <a:p>
            <a:endParaRPr/>
          </a:p>
        </p:txBody>
      </p:sp>
      <p:sp>
        <p:nvSpPr>
          <p:cNvPr id="24" name="Text 22"/>
          <p:cNvSpPr/>
          <p:nvPr/>
        </p:nvSpPr>
        <p:spPr>
          <a:xfrm>
            <a:off x="5852160" y="196596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public</a:t>
            </a:r>
            <a:endParaRPr lang="en-US" sz="1000" dirty="0"/>
          </a:p>
        </p:txBody>
      </p:sp>
      <p:sp>
        <p:nvSpPr>
          <p:cNvPr id="25" name="Shape 23"/>
          <p:cNvSpPr/>
          <p:nvPr/>
        </p:nvSpPr>
        <p:spPr>
          <a:xfrm>
            <a:off x="5852160" y="2240280"/>
            <a:ext cx="1828800" cy="256032"/>
          </a:xfrm>
          <a:prstGeom prst="rect">
            <a:avLst/>
          </a:prstGeom>
          <a:solidFill>
            <a:srgbClr val="A4B6B8"/>
          </a:solidFill>
          <a:ln w="12700">
            <a:solidFill>
              <a:srgbClr val="A4B6B8"/>
            </a:solidFill>
            <a:prstDash val="solid"/>
          </a:ln>
        </p:spPr>
        <p:txBody>
          <a:bodyPr/>
          <a:lstStyle/>
          <a:p>
            <a:endParaRPr/>
          </a:p>
        </p:txBody>
      </p:sp>
      <p:sp>
        <p:nvSpPr>
          <p:cNvPr id="26" name="Text 24"/>
          <p:cNvSpPr/>
          <p:nvPr/>
        </p:nvSpPr>
        <p:spPr>
          <a:xfrm>
            <a:off x="5852160" y="228600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sales</a:t>
            </a:r>
            <a:endParaRPr lang="en-US" sz="1000" dirty="0"/>
          </a:p>
        </p:txBody>
      </p:sp>
      <p:sp>
        <p:nvSpPr>
          <p:cNvPr id="27" name="Shape 25"/>
          <p:cNvSpPr/>
          <p:nvPr/>
        </p:nvSpPr>
        <p:spPr>
          <a:xfrm>
            <a:off x="5852160" y="2560320"/>
            <a:ext cx="1828800" cy="256032"/>
          </a:xfrm>
          <a:prstGeom prst="rect">
            <a:avLst/>
          </a:prstGeom>
          <a:solidFill>
            <a:srgbClr val="A4B6B8"/>
          </a:solidFill>
          <a:ln w="12700">
            <a:solidFill>
              <a:srgbClr val="A4B6B8"/>
            </a:solidFill>
            <a:prstDash val="solid"/>
          </a:ln>
        </p:spPr>
        <p:txBody>
          <a:bodyPr/>
          <a:lstStyle/>
          <a:p>
            <a:endParaRPr/>
          </a:p>
        </p:txBody>
      </p:sp>
      <p:sp>
        <p:nvSpPr>
          <p:cNvPr id="28" name="Text 26"/>
          <p:cNvSpPr/>
          <p:nvPr/>
        </p:nvSpPr>
        <p:spPr>
          <a:xfrm>
            <a:off x="5852160" y="2606040"/>
            <a:ext cx="1828800" cy="182880"/>
          </a:xfrm>
          <a:prstGeom prst="rect">
            <a:avLst/>
          </a:prstGeom>
          <a:noFill/>
          <a:ln/>
        </p:spPr>
        <p:txBody>
          <a:bodyPr wrap="square" rtlCol="0" anchor="ctr"/>
          <a:lstStyle/>
          <a:p>
            <a:pPr marL="0" indent="0">
              <a:buNone/>
            </a:pPr>
            <a:r>
              <a:rPr lang="en-US" sz="1000" dirty="0">
                <a:solidFill>
                  <a:srgbClr val="030A18"/>
                </a:solidFill>
                <a:latin typeface="Arial" pitchFamily="34" charset="0"/>
                <a:ea typeface="Arial" pitchFamily="34" charset="-122"/>
                <a:cs typeface="Arial" pitchFamily="34" charset="-120"/>
              </a:rPr>
              <a:t>analytics</a:t>
            </a:r>
            <a:endParaRPr lang="en-US" sz="1000" dirty="0"/>
          </a:p>
        </p:txBody>
      </p:sp>
      <p:sp>
        <p:nvSpPr>
          <p:cNvPr id="29" name="Text 27"/>
          <p:cNvSpPr/>
          <p:nvPr/>
        </p:nvSpPr>
        <p:spPr>
          <a:xfrm>
            <a:off x="731520" y="3749040"/>
            <a:ext cx="7680960" cy="1188720"/>
          </a:xfrm>
          <a:prstGeom prst="rect">
            <a:avLst/>
          </a:prstGeom>
          <a:noFill/>
          <a:ln/>
        </p:spPr>
        <p:txBody>
          <a:bodyPr wrap="square" rtlCol="0" anchor="ctr"/>
          <a:lstStyle/>
          <a:p>
            <a:pPr marL="0" indent="0">
              <a:buNone/>
            </a:pPr>
            <a:r>
              <a:rPr lang="en-US" sz="1200" dirty="0">
                <a:solidFill>
                  <a:srgbClr val="030A18"/>
                </a:solidFill>
              </a:rPr>
              <a:t>• A cluster is a directory tree containing data files, WAL logs and subdirectories for each database
• Each database is isolated within the cluster and holds its own set of schemas
• Schemas organise tables, views and functions within a database</a:t>
            </a:r>
            <a:endParaRPr lang="en-US" sz="1200" dirty="0"/>
          </a:p>
        </p:txBody>
      </p:sp>
      <p:sp>
        <p:nvSpPr>
          <p:cNvPr id="30" name="Text 28"/>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[11]</a:t>
            </a:r>
            <a:r>
              <a:rPr lang="en-US" sz="600" dirty="0">
                <a:solidFill>
                  <a:srgbClr val="000000"/>
                </a:solidFill>
              </a:rPr>
              <a:t>   </a:t>
            </a:r>
            <a:r>
              <a:rPr lang="en-US" sz="600" u="sng" dirty="0">
                <a:solidFill>
                  <a:srgbClr val="97B1DF"/>
                </a:solidFill>
                <a:hlinkClick r:id="rId4"/>
              </a:rPr>
              <a:t>[12]</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Physical Structure on Disk</a:t>
            </a:r>
            <a:endParaRPr lang="en-US" sz="2400" dirty="0"/>
          </a:p>
        </p:txBody>
      </p:sp>
      <p:sp>
        <p:nvSpPr>
          <p:cNvPr id="3" name="Shape 1"/>
          <p:cNvSpPr/>
          <p:nvPr/>
        </p:nvSpPr>
        <p:spPr>
          <a:xfrm>
            <a:off x="548640" y="1463040"/>
            <a:ext cx="3840480" cy="2011680"/>
          </a:xfrm>
          <a:prstGeom prst="roundRect">
            <a:avLst>
              <a:gd name="adj" fmla="val 2273"/>
            </a:avLst>
          </a:prstGeom>
          <a:solidFill>
            <a:srgbClr val="F5F5F5"/>
          </a:solidFill>
          <a:ln w="12700">
            <a:solidFill>
              <a:srgbClr val="97B1DF"/>
            </a:solidFill>
            <a:prstDash val="solid"/>
          </a:ln>
        </p:spPr>
        <p:txBody>
          <a:bodyPr/>
          <a:lstStyle/>
          <a:p>
            <a:endParaRPr/>
          </a:p>
        </p:txBody>
      </p:sp>
      <p:sp>
        <p:nvSpPr>
          <p:cNvPr id="4" name="Text 2"/>
          <p:cNvSpPr/>
          <p:nvPr/>
        </p:nvSpPr>
        <p:spPr>
          <a:xfrm>
            <a:off x="548640" y="1234440"/>
            <a:ext cx="3840480" cy="365760"/>
          </a:xfrm>
          <a:prstGeom prst="rect">
            <a:avLst/>
          </a:prstGeom>
          <a:noFill/>
          <a:ln/>
        </p:spPr>
        <p:txBody>
          <a:bodyPr wrap="square" rtlCol="0" anchor="ctr"/>
          <a:lstStyle/>
          <a:p>
            <a:pPr marL="0" indent="0">
              <a:buNone/>
            </a:pPr>
            <a:r>
              <a:rPr lang="en-US" sz="1600" dirty="0">
                <a:solidFill>
                  <a:srgbClr val="030A18"/>
                </a:solidFill>
              </a:rPr>
              <a:t>Data directory (cluster)</a:t>
            </a:r>
            <a:endParaRPr lang="en-US" sz="1600" dirty="0"/>
          </a:p>
        </p:txBody>
      </p:sp>
      <p:sp>
        <p:nvSpPr>
          <p:cNvPr id="5" name="Shape 3"/>
          <p:cNvSpPr/>
          <p:nvPr/>
        </p:nvSpPr>
        <p:spPr>
          <a:xfrm>
            <a:off x="731520" y="1645920"/>
            <a:ext cx="3474720" cy="320040"/>
          </a:xfrm>
          <a:prstGeom prst="roundRect">
            <a:avLst>
              <a:gd name="adj" fmla="val 14286"/>
            </a:avLst>
          </a:prstGeom>
          <a:solidFill>
            <a:srgbClr val="A4B6B8"/>
          </a:solidFill>
          <a:ln w="12700">
            <a:solidFill>
              <a:srgbClr val="A4B6B8"/>
            </a:solidFill>
            <a:prstDash val="solid"/>
          </a:ln>
        </p:spPr>
        <p:txBody>
          <a:bodyPr/>
          <a:lstStyle/>
          <a:p>
            <a:endParaRPr/>
          </a:p>
        </p:txBody>
      </p:sp>
      <p:sp>
        <p:nvSpPr>
          <p:cNvPr id="6" name="Text 4"/>
          <p:cNvSpPr/>
          <p:nvPr/>
        </p:nvSpPr>
        <p:spPr>
          <a:xfrm>
            <a:off x="749808" y="1664208"/>
            <a:ext cx="3291840" cy="301752"/>
          </a:xfrm>
          <a:prstGeom prst="rect">
            <a:avLst/>
          </a:prstGeom>
          <a:noFill/>
          <a:ln/>
        </p:spPr>
        <p:txBody>
          <a:bodyPr wrap="square" rtlCol="0" anchor="ctr"/>
          <a:lstStyle/>
          <a:p>
            <a:pPr marL="0" indent="0">
              <a:buNone/>
            </a:pPr>
            <a:r>
              <a:rPr lang="en-US" sz="800" b="1" dirty="0">
                <a:solidFill>
                  <a:srgbClr val="030A18"/>
                </a:solidFill>
              </a:rPr>
              <a:t>base/</a:t>
            </a:r>
            <a:endParaRPr lang="en-US" sz="800" dirty="0"/>
          </a:p>
          <a:p>
            <a:pPr marL="0" indent="0">
              <a:buNone/>
            </a:pPr>
            <a:r>
              <a:rPr lang="en-US" sz="1000" dirty="0">
                <a:solidFill>
                  <a:srgbClr val="030A18"/>
                </a:solidFill>
              </a:rPr>
              <a:t>Databases with table &amp; index files</a:t>
            </a:r>
            <a:endParaRPr lang="en-US" sz="800" dirty="0"/>
          </a:p>
        </p:txBody>
      </p:sp>
      <p:sp>
        <p:nvSpPr>
          <p:cNvPr id="7" name="Shape 5"/>
          <p:cNvSpPr/>
          <p:nvPr/>
        </p:nvSpPr>
        <p:spPr>
          <a:xfrm>
            <a:off x="731520" y="2103120"/>
            <a:ext cx="3474720" cy="320040"/>
          </a:xfrm>
          <a:prstGeom prst="roundRect">
            <a:avLst>
              <a:gd name="adj" fmla="val 14286"/>
            </a:avLst>
          </a:prstGeom>
          <a:solidFill>
            <a:srgbClr val="A4B6B8"/>
          </a:solidFill>
          <a:ln w="12700">
            <a:solidFill>
              <a:srgbClr val="A4B6B8"/>
            </a:solidFill>
            <a:prstDash val="solid"/>
          </a:ln>
        </p:spPr>
        <p:txBody>
          <a:bodyPr/>
          <a:lstStyle/>
          <a:p>
            <a:endParaRPr/>
          </a:p>
        </p:txBody>
      </p:sp>
      <p:sp>
        <p:nvSpPr>
          <p:cNvPr id="8" name="Text 6"/>
          <p:cNvSpPr/>
          <p:nvPr/>
        </p:nvSpPr>
        <p:spPr>
          <a:xfrm>
            <a:off x="749808" y="2121408"/>
            <a:ext cx="3291840" cy="301752"/>
          </a:xfrm>
          <a:prstGeom prst="rect">
            <a:avLst/>
          </a:prstGeom>
          <a:noFill/>
          <a:ln/>
        </p:spPr>
        <p:txBody>
          <a:bodyPr wrap="square" rtlCol="0" anchor="ctr"/>
          <a:lstStyle/>
          <a:p>
            <a:pPr marL="0" indent="0">
              <a:buNone/>
            </a:pPr>
            <a:r>
              <a:rPr lang="en-US" sz="800" b="1" dirty="0">
                <a:solidFill>
                  <a:srgbClr val="030A18"/>
                </a:solidFill>
              </a:rPr>
              <a:t>pg_wal/</a:t>
            </a:r>
            <a:endParaRPr lang="en-US" sz="800" dirty="0"/>
          </a:p>
          <a:p>
            <a:pPr marL="0" indent="0">
              <a:buNone/>
            </a:pPr>
            <a:r>
              <a:rPr lang="en-US" sz="1000" dirty="0">
                <a:solidFill>
                  <a:srgbClr val="030A18"/>
                </a:solidFill>
              </a:rPr>
              <a:t>Write‑Ahead Log segment files</a:t>
            </a:r>
            <a:endParaRPr lang="en-US" sz="800" dirty="0"/>
          </a:p>
        </p:txBody>
      </p:sp>
      <p:sp>
        <p:nvSpPr>
          <p:cNvPr id="9" name="Shape 7"/>
          <p:cNvSpPr/>
          <p:nvPr/>
        </p:nvSpPr>
        <p:spPr>
          <a:xfrm>
            <a:off x="731520" y="2560320"/>
            <a:ext cx="3474720" cy="320040"/>
          </a:xfrm>
          <a:prstGeom prst="roundRect">
            <a:avLst>
              <a:gd name="adj" fmla="val 14286"/>
            </a:avLst>
          </a:prstGeom>
          <a:solidFill>
            <a:srgbClr val="A4B6B8"/>
          </a:solidFill>
          <a:ln w="12700">
            <a:solidFill>
              <a:srgbClr val="A4B6B8"/>
            </a:solidFill>
            <a:prstDash val="solid"/>
          </a:ln>
        </p:spPr>
        <p:txBody>
          <a:bodyPr/>
          <a:lstStyle/>
          <a:p>
            <a:endParaRPr/>
          </a:p>
        </p:txBody>
      </p:sp>
      <p:sp>
        <p:nvSpPr>
          <p:cNvPr id="10" name="Text 8"/>
          <p:cNvSpPr/>
          <p:nvPr/>
        </p:nvSpPr>
        <p:spPr>
          <a:xfrm>
            <a:off x="749808" y="2578608"/>
            <a:ext cx="3291840" cy="301752"/>
          </a:xfrm>
          <a:prstGeom prst="rect">
            <a:avLst/>
          </a:prstGeom>
          <a:noFill/>
          <a:ln/>
        </p:spPr>
        <p:txBody>
          <a:bodyPr wrap="square" rtlCol="0" anchor="ctr"/>
          <a:lstStyle/>
          <a:p>
            <a:pPr marL="0" indent="0">
              <a:buNone/>
            </a:pPr>
            <a:r>
              <a:rPr lang="en-US" sz="800" b="1" dirty="0">
                <a:solidFill>
                  <a:srgbClr val="030A18"/>
                </a:solidFill>
              </a:rPr>
              <a:t>pg_global/</a:t>
            </a:r>
            <a:endParaRPr lang="en-US" sz="800" dirty="0"/>
          </a:p>
          <a:p>
            <a:pPr marL="0" indent="0">
              <a:buNone/>
            </a:pPr>
            <a:r>
              <a:rPr lang="en-US" sz="1000" dirty="0">
                <a:solidFill>
                  <a:srgbClr val="030A18"/>
                </a:solidFill>
              </a:rPr>
              <a:t>Cluster‑wide tables</a:t>
            </a:r>
            <a:endParaRPr lang="en-US" sz="800" dirty="0"/>
          </a:p>
        </p:txBody>
      </p:sp>
      <p:sp>
        <p:nvSpPr>
          <p:cNvPr id="11" name="Shape 9"/>
          <p:cNvSpPr/>
          <p:nvPr/>
        </p:nvSpPr>
        <p:spPr>
          <a:xfrm>
            <a:off x="731520" y="3017520"/>
            <a:ext cx="3474720" cy="320040"/>
          </a:xfrm>
          <a:prstGeom prst="roundRect">
            <a:avLst>
              <a:gd name="adj" fmla="val 14286"/>
            </a:avLst>
          </a:prstGeom>
          <a:solidFill>
            <a:srgbClr val="A4B6B8"/>
          </a:solidFill>
          <a:ln w="12700">
            <a:solidFill>
              <a:srgbClr val="A4B6B8"/>
            </a:solidFill>
            <a:prstDash val="solid"/>
          </a:ln>
        </p:spPr>
        <p:txBody>
          <a:bodyPr/>
          <a:lstStyle/>
          <a:p>
            <a:endParaRPr/>
          </a:p>
        </p:txBody>
      </p:sp>
      <p:sp>
        <p:nvSpPr>
          <p:cNvPr id="12" name="Text 10"/>
          <p:cNvSpPr/>
          <p:nvPr/>
        </p:nvSpPr>
        <p:spPr>
          <a:xfrm>
            <a:off x="749808" y="3035808"/>
            <a:ext cx="3291840" cy="301752"/>
          </a:xfrm>
          <a:prstGeom prst="rect">
            <a:avLst/>
          </a:prstGeom>
          <a:noFill/>
          <a:ln/>
        </p:spPr>
        <p:txBody>
          <a:bodyPr wrap="square" rtlCol="0" anchor="ctr"/>
          <a:lstStyle/>
          <a:p>
            <a:pPr marL="0" indent="0">
              <a:buNone/>
            </a:pPr>
            <a:r>
              <a:rPr lang="en-US" sz="800" b="1" dirty="0">
                <a:solidFill>
                  <a:srgbClr val="030A18"/>
                </a:solidFill>
              </a:rPr>
              <a:t>pg_stat</a:t>
            </a:r>
            <a:endParaRPr lang="en-US" sz="800" dirty="0"/>
          </a:p>
          <a:p>
            <a:pPr marL="0" indent="0">
              <a:buNone/>
            </a:pPr>
            <a:r>
              <a:rPr lang="en-US" sz="1000" dirty="0">
                <a:solidFill>
                  <a:srgbClr val="030A18"/>
                </a:solidFill>
              </a:rPr>
              <a:t>Statistics &amp; temporary files</a:t>
            </a:r>
            <a:endParaRPr lang="en-US" sz="800" dirty="0"/>
          </a:p>
        </p:txBody>
      </p:sp>
      <p:sp>
        <p:nvSpPr>
          <p:cNvPr id="13" name="Text 11"/>
          <p:cNvSpPr/>
          <p:nvPr/>
        </p:nvSpPr>
        <p:spPr>
          <a:xfrm>
            <a:off x="4754880" y="1463040"/>
            <a:ext cx="4206240" cy="2286000"/>
          </a:xfrm>
          <a:prstGeom prst="rect">
            <a:avLst/>
          </a:prstGeom>
          <a:noFill/>
          <a:ln/>
        </p:spPr>
        <p:txBody>
          <a:bodyPr wrap="square" rtlCol="0" anchor="ctr"/>
          <a:lstStyle/>
          <a:p>
            <a:pPr marL="0" indent="0">
              <a:buNone/>
            </a:pPr>
            <a:r>
              <a:rPr lang="en-US" sz="1200" dirty="0">
                <a:solidFill>
                  <a:srgbClr val="030A18"/>
                </a:solidFill>
              </a:rPr>
              <a:t>A PostgreSQL cluster is a directory tree on disk. Each database lives under the base/ subdirectory as its own folder. WAL segment files reside in pg_wal/ and track every change for durability. Global tables and shared metadata live in pg_global/.</a:t>
            </a:r>
            <a:endParaRPr lang="en-US" sz="1200" dirty="0"/>
          </a:p>
        </p:txBody>
      </p:sp>
      <p:sp>
        <p:nvSpPr>
          <p:cNvPr id="14" name="Text 1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[12]</a:t>
            </a:r>
            <a:r>
              <a:rPr lang="en-US" sz="600" dirty="0">
                <a:solidFill>
                  <a:srgbClr val="000000"/>
                </a:solidFill>
              </a:rPr>
              <a:t>   </a:t>
            </a:r>
            <a:r>
              <a:rPr lang="en-US" sz="600" u="sng" dirty="0">
                <a:solidFill>
                  <a:srgbClr val="97B1DF"/>
                </a:solidFill>
                <a:hlinkClick r:id="rId4"/>
              </a:rPr>
              <a:t>[13]</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Shared Memory &amp; Buffers</a:t>
            </a:r>
            <a:endParaRPr lang="en-US" sz="2400" dirty="0"/>
          </a:p>
        </p:txBody>
      </p:sp>
      <p:sp>
        <p:nvSpPr>
          <p:cNvPr id="3" name="Shape 1"/>
          <p:cNvSpPr/>
          <p:nvPr/>
        </p:nvSpPr>
        <p:spPr>
          <a:xfrm>
            <a:off x="731520" y="1554480"/>
            <a:ext cx="3200400" cy="1371600"/>
          </a:xfrm>
          <a:prstGeom prst="roundRect">
            <a:avLst>
              <a:gd name="adj" fmla="val 3333"/>
            </a:avLst>
          </a:prstGeom>
          <a:solidFill>
            <a:srgbClr val="97B1DF"/>
          </a:solidFill>
          <a:ln w="12700">
            <a:solidFill>
              <a:srgbClr val="97B1DF"/>
            </a:solidFill>
            <a:prstDash val="solid"/>
          </a:ln>
        </p:spPr>
        <p:txBody>
          <a:bodyPr/>
          <a:lstStyle/>
          <a:p>
            <a:endParaRPr/>
          </a:p>
        </p:txBody>
      </p:sp>
      <p:sp>
        <p:nvSpPr>
          <p:cNvPr id="4" name="Text 2"/>
          <p:cNvSpPr/>
          <p:nvPr/>
        </p:nvSpPr>
        <p:spPr>
          <a:xfrm>
            <a:off x="822960" y="1645920"/>
            <a:ext cx="3017520" cy="1188720"/>
          </a:xfrm>
          <a:prstGeom prst="rect">
            <a:avLst/>
          </a:prstGeom>
          <a:noFill/>
          <a:ln/>
        </p:spPr>
        <p:txBody>
          <a:bodyPr wrap="square" rtlCol="0" anchor="ctr"/>
          <a:lstStyle/>
          <a:p>
            <a:pPr marL="0" indent="0">
              <a:buNone/>
            </a:pPr>
            <a:r>
              <a:rPr lang="en-US" sz="1600" b="1" dirty="0">
                <a:solidFill>
                  <a:srgbClr val="FFFFFF"/>
                </a:solidFill>
              </a:rPr>
              <a:t>Shared buffers
</a:t>
            </a:r>
            <a:r>
              <a:rPr lang="en-US" sz="800" dirty="0">
                <a:solidFill>
                  <a:srgbClr val="FFFFFF"/>
                </a:solidFill>
              </a:rPr>
              <a:t>Cache of database pages; reduces disk I/O for reads &amp; writes</a:t>
            </a:r>
            <a:endParaRPr lang="en-US" sz="1600" dirty="0"/>
          </a:p>
        </p:txBody>
      </p:sp>
      <p:sp>
        <p:nvSpPr>
          <p:cNvPr id="5" name="Shape 3"/>
          <p:cNvSpPr/>
          <p:nvPr/>
        </p:nvSpPr>
        <p:spPr>
          <a:xfrm>
            <a:off x="4846320" y="1554480"/>
            <a:ext cx="3200400" cy="1371600"/>
          </a:xfrm>
          <a:prstGeom prst="roundRect">
            <a:avLst>
              <a:gd name="adj" fmla="val 3333"/>
            </a:avLst>
          </a:prstGeom>
          <a:solidFill>
            <a:srgbClr val="A4B6B8"/>
          </a:solidFill>
          <a:ln w="12700">
            <a:solidFill>
              <a:srgbClr val="A4B6B8"/>
            </a:solidFill>
            <a:prstDash val="solid"/>
          </a:ln>
        </p:spPr>
        <p:txBody>
          <a:bodyPr/>
          <a:lstStyle/>
          <a:p>
            <a:endParaRPr/>
          </a:p>
        </p:txBody>
      </p:sp>
      <p:sp>
        <p:nvSpPr>
          <p:cNvPr id="6" name="Text 4"/>
          <p:cNvSpPr/>
          <p:nvPr/>
        </p:nvSpPr>
        <p:spPr>
          <a:xfrm>
            <a:off x="4937760" y="1645920"/>
            <a:ext cx="3017520" cy="1188720"/>
          </a:xfrm>
          <a:prstGeom prst="rect">
            <a:avLst/>
          </a:prstGeom>
          <a:noFill/>
          <a:ln/>
        </p:spPr>
        <p:txBody>
          <a:bodyPr wrap="square" rtlCol="0" anchor="ctr"/>
          <a:lstStyle/>
          <a:p>
            <a:pPr marL="0" indent="0">
              <a:buNone/>
            </a:pPr>
            <a:r>
              <a:rPr lang="en-US" sz="1600" b="1" dirty="0">
                <a:solidFill>
                  <a:srgbClr val="030A18"/>
                </a:solidFill>
              </a:rPr>
              <a:t>WAL buffers
</a:t>
            </a:r>
            <a:r>
              <a:rPr lang="en-US" sz="800" dirty="0">
                <a:solidFill>
                  <a:srgbClr val="030A18"/>
                </a:solidFill>
              </a:rPr>
              <a:t>Temporary storage of log records before flush to WAL segments</a:t>
            </a:r>
            <a:endParaRPr lang="en-US" sz="1600" dirty="0"/>
          </a:p>
        </p:txBody>
      </p:sp>
      <p:sp>
        <p:nvSpPr>
          <p:cNvPr id="7" name="Shape 5"/>
          <p:cNvSpPr/>
          <p:nvPr/>
        </p:nvSpPr>
        <p:spPr>
          <a:xfrm>
            <a:off x="3474720" y="2926080"/>
            <a:ext cx="1371600" cy="0"/>
          </a:xfrm>
          <a:prstGeom prst="line">
            <a:avLst/>
          </a:prstGeom>
          <a:noFill/>
          <a:ln w="15240">
            <a:solidFill>
              <a:srgbClr val="030A18"/>
            </a:solidFill>
            <a:prstDash val="solid"/>
          </a:ln>
        </p:spPr>
        <p:txBody>
          <a:bodyPr/>
          <a:lstStyle/>
          <a:p>
            <a:endParaRPr/>
          </a:p>
        </p:txBody>
      </p:sp>
      <p:sp>
        <p:nvSpPr>
          <p:cNvPr id="8" name="Text 6"/>
          <p:cNvSpPr/>
          <p:nvPr/>
        </p:nvSpPr>
        <p:spPr>
          <a:xfrm>
            <a:off x="3840480" y="2971800"/>
            <a:ext cx="1828800" cy="365760"/>
          </a:xfrm>
          <a:prstGeom prst="rect">
            <a:avLst/>
          </a:prstGeom>
          <a:noFill/>
          <a:ln/>
        </p:spPr>
        <p:txBody>
          <a:bodyPr wrap="square" rtlCol="0" anchor="ctr"/>
          <a:lstStyle/>
          <a:p>
            <a:pPr marL="0" indent="0" algn="ctr">
              <a:buNone/>
            </a:pPr>
            <a:r>
              <a:rPr lang="en-US" sz="1000" dirty="0">
                <a:solidFill>
                  <a:srgbClr val="030A18"/>
                </a:solidFill>
                <a:latin typeface="Arial" pitchFamily="34" charset="0"/>
                <a:ea typeface="Arial" pitchFamily="34" charset="-122"/>
                <a:cs typeface="Arial" pitchFamily="34" charset="-120"/>
              </a:rPr>
              <a:t>Flush to WAL file</a:t>
            </a:r>
            <a:endParaRPr lang="en-US" sz="1000" dirty="0"/>
          </a:p>
        </p:txBody>
      </p:sp>
      <p:sp>
        <p:nvSpPr>
          <p:cNvPr id="9" name="Text 7"/>
          <p:cNvSpPr/>
          <p:nvPr/>
        </p:nvSpPr>
        <p:spPr>
          <a:xfrm>
            <a:off x="731520" y="3291840"/>
            <a:ext cx="8229600" cy="1463040"/>
          </a:xfrm>
          <a:prstGeom prst="rect">
            <a:avLst/>
          </a:prstGeom>
          <a:noFill/>
          <a:ln/>
        </p:spPr>
        <p:txBody>
          <a:bodyPr wrap="square" rtlCol="0" anchor="ctr"/>
          <a:lstStyle/>
          <a:p>
            <a:pPr marL="0" indent="0">
              <a:buNone/>
            </a:pPr>
            <a:r>
              <a:rPr lang="en-US" sz="1200" dirty="0">
                <a:solidFill>
                  <a:srgbClr val="030A18"/>
                </a:solidFill>
              </a:rPr>
              <a:t>• Shared buffers speed up reads by storing frequently accessed pages
• WAL buffers accumulate log records before flushing them to disk
• Both live in PostgreSQL's shared memory, configured at startup</a:t>
            </a:r>
            <a:endParaRPr lang="en-US" sz="1200" dirty="0"/>
          </a:p>
        </p:txBody>
      </p:sp>
      <p:sp>
        <p:nvSpPr>
          <p:cNvPr id="10" name="Text 8"/>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[10]</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Background Processes (Part 1)</a:t>
            </a:r>
            <a:endParaRPr lang="en-US" sz="2400" dirty="0"/>
          </a:p>
        </p:txBody>
      </p:sp>
      <p:sp>
        <p:nvSpPr>
          <p:cNvPr id="3" name="Text 1"/>
          <p:cNvSpPr/>
          <p:nvPr/>
        </p:nvSpPr>
        <p:spPr>
          <a:xfrm>
            <a:off x="548640" y="1371600"/>
            <a:ext cx="4114800" cy="822960"/>
          </a:xfrm>
          <a:prstGeom prst="rect">
            <a:avLst/>
          </a:prstGeom>
          <a:noFill/>
          <a:ln/>
        </p:spPr>
        <p:txBody>
          <a:bodyPr wrap="square" rtlCol="0" anchor="ctr"/>
          <a:lstStyle/>
          <a:p>
            <a:pPr marL="0" indent="0">
              <a:buNone/>
            </a:pPr>
            <a:r>
              <a:rPr lang="en-US" sz="1600" b="1" dirty="0">
                <a:solidFill>
                  <a:srgbClr val="030A18"/>
                </a:solidFill>
              </a:rPr>
              <a:t>Autovacuum
</a:t>
            </a:r>
            <a:r>
              <a:rPr lang="en-US" sz="1200" dirty="0">
                <a:solidFill>
                  <a:srgbClr val="030A18"/>
                </a:solidFill>
              </a:rPr>
              <a:t>Reclaims space from dead rows and updates planner statistics to prevent table bloat</a:t>
            </a:r>
            <a:endParaRPr lang="en-US" sz="1600" dirty="0"/>
          </a:p>
        </p:txBody>
      </p:sp>
      <p:sp>
        <p:nvSpPr>
          <p:cNvPr id="4" name="Text 2"/>
          <p:cNvSpPr/>
          <p:nvPr/>
        </p:nvSpPr>
        <p:spPr>
          <a:xfrm>
            <a:off x="548640" y="2286000"/>
            <a:ext cx="4114800" cy="731520"/>
          </a:xfrm>
          <a:prstGeom prst="rect">
            <a:avLst/>
          </a:prstGeom>
          <a:noFill/>
          <a:ln/>
        </p:spPr>
        <p:txBody>
          <a:bodyPr wrap="square" rtlCol="0" anchor="ctr"/>
          <a:lstStyle/>
          <a:p>
            <a:pPr marL="0" indent="0">
              <a:buNone/>
            </a:pPr>
            <a:r>
              <a:rPr lang="en-US" sz="1600" b="1" dirty="0">
                <a:solidFill>
                  <a:srgbClr val="030A18"/>
                </a:solidFill>
              </a:rPr>
              <a:t>Background writer
</a:t>
            </a:r>
            <a:r>
              <a:rPr lang="en-US" sz="1200" dirty="0">
                <a:solidFill>
                  <a:srgbClr val="030A18"/>
                </a:solidFill>
              </a:rPr>
              <a:t>Periodically flushes dirty buffers to disk to smooth out checkpoint I/O</a:t>
            </a:r>
            <a:endParaRPr lang="en-US" sz="1600" dirty="0"/>
          </a:p>
        </p:txBody>
      </p:sp>
      <p:sp>
        <p:nvSpPr>
          <p:cNvPr id="5" name="Text 3"/>
          <p:cNvSpPr/>
          <p:nvPr/>
        </p:nvSpPr>
        <p:spPr>
          <a:xfrm>
            <a:off x="4846320" y="1371600"/>
            <a:ext cx="3840480" cy="822960"/>
          </a:xfrm>
          <a:prstGeom prst="rect">
            <a:avLst/>
          </a:prstGeom>
          <a:noFill/>
          <a:ln/>
        </p:spPr>
        <p:txBody>
          <a:bodyPr wrap="square" rtlCol="0" anchor="ctr"/>
          <a:lstStyle/>
          <a:p>
            <a:pPr marL="0" indent="0">
              <a:buNone/>
            </a:pPr>
            <a:r>
              <a:rPr lang="en-US" sz="1600" b="1" dirty="0">
                <a:solidFill>
                  <a:srgbClr val="030A18"/>
                </a:solidFill>
              </a:rPr>
              <a:t>WAL writer
</a:t>
            </a:r>
            <a:r>
              <a:rPr lang="en-US" sz="1200" dirty="0">
                <a:solidFill>
                  <a:srgbClr val="030A18"/>
                </a:solidFill>
              </a:rPr>
              <a:t>Ensures WAL buffers are flushed frequently to maintain durability without writing every data page</a:t>
            </a:r>
            <a:endParaRPr lang="en-US" sz="1600" dirty="0"/>
          </a:p>
        </p:txBody>
      </p:sp>
      <p:sp>
        <p:nvSpPr>
          <p:cNvPr id="6" name="Text 4"/>
          <p:cNvSpPr/>
          <p:nvPr/>
        </p:nvSpPr>
        <p:spPr>
          <a:xfrm>
            <a:off x="4846320" y="2286000"/>
            <a:ext cx="3840480" cy="731520"/>
          </a:xfrm>
          <a:prstGeom prst="rect">
            <a:avLst/>
          </a:prstGeom>
          <a:noFill/>
          <a:ln/>
        </p:spPr>
        <p:txBody>
          <a:bodyPr wrap="square" rtlCol="0" anchor="ctr"/>
          <a:lstStyle/>
          <a:p>
            <a:pPr marL="0" indent="0">
              <a:buNone/>
            </a:pPr>
            <a:r>
              <a:rPr lang="en-US" sz="1600" b="1" dirty="0">
                <a:solidFill>
                  <a:srgbClr val="030A18"/>
                </a:solidFill>
              </a:rPr>
              <a:t>Checkpointer
</a:t>
            </a:r>
            <a:r>
              <a:rPr lang="en-US" sz="1200" dirty="0">
                <a:solidFill>
                  <a:srgbClr val="030A18"/>
                </a:solidFill>
              </a:rPr>
              <a:t>Flashes dirty pages &amp; WAL to disk at checkpoints to bound recovery time</a:t>
            </a:r>
            <a:endParaRPr lang="en-US" sz="1600" dirty="0"/>
          </a:p>
        </p:txBody>
      </p:sp>
      <p:sp>
        <p:nvSpPr>
          <p:cNvPr id="7" name="Text 5"/>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a:t>
            </a:r>
            <a:r>
              <a:rPr lang="en-US" sz="600" dirty="0">
                <a:solidFill>
                  <a:srgbClr val="000000"/>
                </a:solidFill>
              </a:rPr>
              <a:t>   </a:t>
            </a:r>
            <a:r>
              <a:rPr lang="en-US" sz="600" u="sng" dirty="0">
                <a:solidFill>
                  <a:srgbClr val="97B1DF"/>
                </a:solidFill>
                <a:hlinkClick r:id="rId4"/>
              </a:rPr>
              <a:t>[3]</a:t>
            </a:r>
            <a:r>
              <a:rPr lang="en-US" sz="600" dirty="0">
                <a:solidFill>
                  <a:srgbClr val="000000"/>
                </a:solidFill>
              </a:rPr>
              <a:t>   </a:t>
            </a:r>
            <a:r>
              <a:rPr lang="en-US" sz="600" u="sng" dirty="0">
                <a:solidFill>
                  <a:srgbClr val="97B1DF"/>
                </a:solidFill>
                <a:hlinkClick r:id="rId5"/>
              </a:rPr>
              <a:t>[4]</a:t>
            </a:r>
            <a:r>
              <a:rPr lang="en-US" sz="600" dirty="0">
                <a:solidFill>
                  <a:srgbClr val="000000"/>
                </a:solidFill>
              </a:rPr>
              <a:t>   </a:t>
            </a:r>
            <a:r>
              <a:rPr lang="en-US" sz="600" u="sng" dirty="0">
                <a:solidFill>
                  <a:srgbClr val="97B1DF"/>
                </a:solidFill>
                <a:hlinkClick r:id="rId6"/>
              </a:rPr>
              <a:t>[8]</a:t>
            </a:r>
            <a:r>
              <a:rPr lang="en-US" sz="600" dirty="0">
                <a:solidFill>
                  <a:srgbClr val="000000"/>
                </a:solidFill>
              </a:rPr>
              <a:t>   </a:t>
            </a:r>
            <a:r>
              <a:rPr lang="en-US" sz="600" u="sng" dirty="0">
                <a:solidFill>
                  <a:srgbClr val="97B1DF"/>
                </a:solidFill>
                <a:hlinkClick r:id="rId7"/>
              </a:rPr>
              <a:t>[3]</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Background Processes (Part 2)</a:t>
            </a:r>
            <a:endParaRPr lang="en-US" sz="2400" dirty="0"/>
          </a:p>
        </p:txBody>
      </p:sp>
      <p:sp>
        <p:nvSpPr>
          <p:cNvPr id="3" name="Text 1"/>
          <p:cNvSpPr/>
          <p:nvPr/>
        </p:nvSpPr>
        <p:spPr>
          <a:xfrm>
            <a:off x="548640" y="1371600"/>
            <a:ext cx="4114800" cy="822960"/>
          </a:xfrm>
          <a:prstGeom prst="rect">
            <a:avLst/>
          </a:prstGeom>
          <a:noFill/>
          <a:ln/>
        </p:spPr>
        <p:txBody>
          <a:bodyPr wrap="square" rtlCol="0" anchor="ctr"/>
          <a:lstStyle/>
          <a:p>
            <a:pPr marL="0" indent="0">
              <a:buNone/>
            </a:pPr>
            <a:r>
              <a:rPr lang="en-US" sz="1600" b="1" dirty="0">
                <a:solidFill>
                  <a:srgbClr val="030A18"/>
                </a:solidFill>
              </a:rPr>
              <a:t>Stats collector
</a:t>
            </a:r>
            <a:r>
              <a:rPr lang="en-US" sz="1200" dirty="0">
                <a:solidFill>
                  <a:srgbClr val="030A18"/>
                </a:solidFill>
              </a:rPr>
              <a:t>Gathers activity metrics for the planner and monitoring tools</a:t>
            </a:r>
            <a:endParaRPr lang="en-US" sz="1600" dirty="0"/>
          </a:p>
        </p:txBody>
      </p:sp>
      <p:sp>
        <p:nvSpPr>
          <p:cNvPr id="4" name="Text 2"/>
          <p:cNvSpPr/>
          <p:nvPr/>
        </p:nvSpPr>
        <p:spPr>
          <a:xfrm>
            <a:off x="548640" y="2286000"/>
            <a:ext cx="4114800" cy="731520"/>
          </a:xfrm>
          <a:prstGeom prst="rect">
            <a:avLst/>
          </a:prstGeom>
          <a:noFill/>
          <a:ln/>
        </p:spPr>
        <p:txBody>
          <a:bodyPr wrap="square" rtlCol="0" anchor="ctr"/>
          <a:lstStyle/>
          <a:p>
            <a:pPr marL="0" indent="0">
              <a:buNone/>
            </a:pPr>
            <a:r>
              <a:rPr lang="en-US" sz="1600" b="1" dirty="0">
                <a:solidFill>
                  <a:srgbClr val="030A18"/>
                </a:solidFill>
              </a:rPr>
              <a:t>Logger
</a:t>
            </a:r>
            <a:r>
              <a:rPr lang="en-US" sz="1200" dirty="0">
                <a:solidFill>
                  <a:srgbClr val="030A18"/>
                </a:solidFill>
              </a:rPr>
              <a:t>Records system messages and errors for diagnostics</a:t>
            </a:r>
            <a:endParaRPr lang="en-US" sz="1600" dirty="0"/>
          </a:p>
        </p:txBody>
      </p:sp>
      <p:sp>
        <p:nvSpPr>
          <p:cNvPr id="5" name="Text 3"/>
          <p:cNvSpPr/>
          <p:nvPr/>
        </p:nvSpPr>
        <p:spPr>
          <a:xfrm>
            <a:off x="4846320" y="1371600"/>
            <a:ext cx="3840480" cy="822960"/>
          </a:xfrm>
          <a:prstGeom prst="rect">
            <a:avLst/>
          </a:prstGeom>
          <a:noFill/>
          <a:ln/>
        </p:spPr>
        <p:txBody>
          <a:bodyPr wrap="square" rtlCol="0" anchor="ctr"/>
          <a:lstStyle/>
          <a:p>
            <a:pPr marL="0" indent="0">
              <a:buNone/>
            </a:pPr>
            <a:r>
              <a:rPr lang="en-US" sz="1600" b="1" dirty="0">
                <a:solidFill>
                  <a:srgbClr val="030A18"/>
                </a:solidFill>
              </a:rPr>
              <a:t>Archiver
</a:t>
            </a:r>
            <a:r>
              <a:rPr lang="en-US" sz="1200" dirty="0">
                <a:solidFill>
                  <a:srgbClr val="030A18"/>
                </a:solidFill>
              </a:rPr>
              <a:t>Moves completed WAL segments to long‑term storage for PITR &amp; replication</a:t>
            </a:r>
            <a:endParaRPr lang="en-US" sz="1600" dirty="0"/>
          </a:p>
        </p:txBody>
      </p:sp>
      <p:sp>
        <p:nvSpPr>
          <p:cNvPr id="6" name="Text 4"/>
          <p:cNvSpPr/>
          <p:nvPr/>
        </p:nvSpPr>
        <p:spPr>
          <a:xfrm>
            <a:off x="4846320" y="2286000"/>
            <a:ext cx="3840480" cy="731520"/>
          </a:xfrm>
          <a:prstGeom prst="rect">
            <a:avLst/>
          </a:prstGeom>
          <a:noFill/>
          <a:ln/>
        </p:spPr>
        <p:txBody>
          <a:bodyPr wrap="square" rtlCol="0" anchor="ctr"/>
          <a:lstStyle/>
          <a:p>
            <a:pPr marL="0" indent="0">
              <a:buNone/>
            </a:pPr>
            <a:r>
              <a:rPr lang="en-US" sz="1600" b="1" dirty="0">
                <a:solidFill>
                  <a:srgbClr val="030A18"/>
                </a:solidFill>
              </a:rPr>
              <a:t>WAL receiver &amp; sender
</a:t>
            </a:r>
            <a:r>
              <a:rPr lang="en-US" sz="1200" dirty="0">
                <a:solidFill>
                  <a:srgbClr val="030A18"/>
                </a:solidFill>
              </a:rPr>
              <a:t>Transfer WAL records between primary and standby servers</a:t>
            </a:r>
            <a:endParaRPr lang="en-US" sz="1600" dirty="0"/>
          </a:p>
        </p:txBody>
      </p:sp>
      <p:sp>
        <p:nvSpPr>
          <p:cNvPr id="7" name="Text 5"/>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[6]</a:t>
            </a:r>
            <a:r>
              <a:rPr lang="en-US" sz="600" dirty="0">
                <a:solidFill>
                  <a:srgbClr val="000000"/>
                </a:solidFill>
              </a:rPr>
              <a:t>   </a:t>
            </a:r>
            <a:r>
              <a:rPr lang="en-US" sz="600" u="sng" dirty="0">
                <a:solidFill>
                  <a:srgbClr val="97B1DF"/>
                </a:solidFill>
                <a:hlinkClick r:id="rId4"/>
              </a:rPr>
              <a:t>[7]</a:t>
            </a:r>
            <a:r>
              <a:rPr lang="en-US" sz="600" dirty="0">
                <a:solidFill>
                  <a:srgbClr val="000000"/>
                </a:solidFill>
              </a:rPr>
              <a:t>   </a:t>
            </a:r>
            <a:r>
              <a:rPr lang="en-US" sz="600" u="sng" dirty="0">
                <a:solidFill>
                  <a:srgbClr val="97B1DF"/>
                </a:solidFill>
                <a:hlinkClick r:id="rId5"/>
              </a:rPr>
              <a:t>[5]</a:t>
            </a:r>
            <a:r>
              <a:rPr lang="en-US" sz="600" dirty="0">
                <a:solidFill>
                  <a:srgbClr val="000000"/>
                </a:solidFill>
              </a:rPr>
              <a:t>   </a:t>
            </a:r>
            <a:r>
              <a:rPr lang="en-US" sz="600" u="sng" dirty="0">
                <a:solidFill>
                  <a:srgbClr val="97B1DF"/>
                </a:solidFill>
                <a:hlinkClick r:id="rId6"/>
              </a:rPr>
              <a:t>[9]</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Write‑Ahead Logging (WAL)</a:t>
            </a:r>
            <a:endParaRPr lang="en-US" sz="2400" dirty="0"/>
          </a:p>
        </p:txBody>
      </p:sp>
      <p:sp>
        <p:nvSpPr>
          <p:cNvPr id="3" name="Shape 1"/>
          <p:cNvSpPr/>
          <p:nvPr/>
        </p:nvSpPr>
        <p:spPr>
          <a:xfrm>
            <a:off x="457200" y="1828800"/>
            <a:ext cx="201168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4" name="Text 2"/>
          <p:cNvSpPr/>
          <p:nvPr/>
        </p:nvSpPr>
        <p:spPr>
          <a:xfrm>
            <a:off x="502920" y="1965960"/>
            <a:ext cx="1920240" cy="274320"/>
          </a:xfrm>
          <a:prstGeom prst="rect">
            <a:avLst/>
          </a:prstGeom>
          <a:noFill/>
          <a:ln/>
        </p:spPr>
        <p:txBody>
          <a:bodyPr wrap="square" rtlCol="0" anchor="ctr"/>
          <a:lstStyle/>
          <a:p>
            <a:pPr marL="0" indent="0" algn="ctr">
              <a:buNone/>
            </a:pPr>
            <a:r>
              <a:rPr lang="en-US" sz="800" dirty="0">
                <a:solidFill>
                  <a:srgbClr val="030A18"/>
                </a:solidFill>
              </a:rPr>
              <a:t>Client modifies data</a:t>
            </a:r>
            <a:endParaRPr lang="en-US" sz="800" dirty="0"/>
          </a:p>
        </p:txBody>
      </p:sp>
      <p:sp>
        <p:nvSpPr>
          <p:cNvPr id="5" name="Shape 3"/>
          <p:cNvSpPr/>
          <p:nvPr/>
        </p:nvSpPr>
        <p:spPr>
          <a:xfrm>
            <a:off x="2468880" y="2103120"/>
            <a:ext cx="640080" cy="0"/>
          </a:xfrm>
          <a:prstGeom prst="line">
            <a:avLst/>
          </a:prstGeom>
          <a:noFill/>
          <a:ln w="12700">
            <a:solidFill>
              <a:srgbClr val="030A18"/>
            </a:solidFill>
            <a:prstDash val="solid"/>
          </a:ln>
        </p:spPr>
        <p:txBody>
          <a:bodyPr/>
          <a:lstStyle/>
          <a:p>
            <a:endParaRPr/>
          </a:p>
        </p:txBody>
      </p:sp>
      <p:sp>
        <p:nvSpPr>
          <p:cNvPr id="6" name="Shape 4"/>
          <p:cNvSpPr/>
          <p:nvPr/>
        </p:nvSpPr>
        <p:spPr>
          <a:xfrm>
            <a:off x="3108960" y="1828800"/>
            <a:ext cx="2011680" cy="548640"/>
          </a:xfrm>
          <a:prstGeom prst="roundRect">
            <a:avLst>
              <a:gd name="adj" fmla="val 8333"/>
            </a:avLst>
          </a:prstGeom>
          <a:solidFill>
            <a:srgbClr val="97B1DF"/>
          </a:solidFill>
          <a:ln w="12700">
            <a:solidFill>
              <a:srgbClr val="97B1DF"/>
            </a:solidFill>
            <a:prstDash val="solid"/>
          </a:ln>
        </p:spPr>
        <p:txBody>
          <a:bodyPr/>
          <a:lstStyle/>
          <a:p>
            <a:endParaRPr/>
          </a:p>
        </p:txBody>
      </p:sp>
      <p:sp>
        <p:nvSpPr>
          <p:cNvPr id="7" name="Text 5"/>
          <p:cNvSpPr/>
          <p:nvPr/>
        </p:nvSpPr>
        <p:spPr>
          <a:xfrm>
            <a:off x="3154680" y="1965960"/>
            <a:ext cx="1920240" cy="274320"/>
          </a:xfrm>
          <a:prstGeom prst="rect">
            <a:avLst/>
          </a:prstGeom>
          <a:noFill/>
          <a:ln/>
        </p:spPr>
        <p:txBody>
          <a:bodyPr wrap="square" rtlCol="0" anchor="ctr"/>
          <a:lstStyle/>
          <a:p>
            <a:pPr marL="0" indent="0" algn="ctr">
              <a:buNone/>
            </a:pPr>
            <a:r>
              <a:rPr lang="en-US" sz="800" dirty="0">
                <a:solidFill>
                  <a:srgbClr val="FFFFFF"/>
                </a:solidFill>
              </a:rPr>
              <a:t>Log record in WAL</a:t>
            </a:r>
            <a:endParaRPr lang="en-US" sz="800" dirty="0"/>
          </a:p>
        </p:txBody>
      </p:sp>
      <p:sp>
        <p:nvSpPr>
          <p:cNvPr id="8" name="Shape 6"/>
          <p:cNvSpPr/>
          <p:nvPr/>
        </p:nvSpPr>
        <p:spPr>
          <a:xfrm>
            <a:off x="5120640" y="2103120"/>
            <a:ext cx="640080" cy="0"/>
          </a:xfrm>
          <a:prstGeom prst="line">
            <a:avLst/>
          </a:prstGeom>
          <a:noFill/>
          <a:ln w="12700">
            <a:solidFill>
              <a:srgbClr val="030A18"/>
            </a:solidFill>
            <a:prstDash val="solid"/>
          </a:ln>
        </p:spPr>
        <p:txBody>
          <a:bodyPr/>
          <a:lstStyle/>
          <a:p>
            <a:endParaRPr/>
          </a:p>
        </p:txBody>
      </p:sp>
      <p:sp>
        <p:nvSpPr>
          <p:cNvPr id="9" name="Shape 7"/>
          <p:cNvSpPr/>
          <p:nvPr/>
        </p:nvSpPr>
        <p:spPr>
          <a:xfrm>
            <a:off x="5760720" y="1828800"/>
            <a:ext cx="201168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10" name="Text 8"/>
          <p:cNvSpPr/>
          <p:nvPr/>
        </p:nvSpPr>
        <p:spPr>
          <a:xfrm>
            <a:off x="5806440" y="1965960"/>
            <a:ext cx="1920240" cy="274320"/>
          </a:xfrm>
          <a:prstGeom prst="rect">
            <a:avLst/>
          </a:prstGeom>
          <a:noFill/>
          <a:ln/>
        </p:spPr>
        <p:txBody>
          <a:bodyPr wrap="square" rtlCol="0" anchor="ctr"/>
          <a:lstStyle/>
          <a:p>
            <a:pPr marL="0" indent="0" algn="ctr">
              <a:buNone/>
            </a:pPr>
            <a:r>
              <a:rPr lang="en-US" sz="800" dirty="0">
                <a:solidFill>
                  <a:srgbClr val="030A18"/>
                </a:solidFill>
              </a:rPr>
              <a:t>Update data files</a:t>
            </a:r>
            <a:endParaRPr lang="en-US" sz="800" dirty="0"/>
          </a:p>
        </p:txBody>
      </p:sp>
      <p:sp>
        <p:nvSpPr>
          <p:cNvPr id="11" name="Text 9"/>
          <p:cNvSpPr/>
          <p:nvPr/>
        </p:nvSpPr>
        <p:spPr>
          <a:xfrm>
            <a:off x="548640" y="3200400"/>
            <a:ext cx="8229600" cy="1554480"/>
          </a:xfrm>
          <a:prstGeom prst="rect">
            <a:avLst/>
          </a:prstGeom>
          <a:noFill/>
          <a:ln/>
        </p:spPr>
        <p:txBody>
          <a:bodyPr wrap="square" rtlCol="0" anchor="ctr"/>
          <a:lstStyle/>
          <a:p>
            <a:pPr marL="0" indent="0">
              <a:buNone/>
            </a:pPr>
            <a:r>
              <a:rPr lang="en-US" sz="1200" dirty="0">
                <a:solidFill>
                  <a:srgbClr val="030A18"/>
                </a:solidFill>
              </a:rPr>
              <a:t>• All changes are first written sequentially to the WAL, then applied to data files
• Sequential logging reduces random disk I/O and improves crash recovery
• On a crash, WAL is replayed to reconstruct consistent data pages</a:t>
            </a:r>
            <a:endParaRPr lang="en-US" sz="1200" dirty="0"/>
          </a:p>
        </p:txBody>
      </p:sp>
      <p:sp>
        <p:nvSpPr>
          <p:cNvPr id="12" name="Text 10"/>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[14]</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Transactions &amp; ACID</a:t>
            </a:r>
            <a:endParaRPr lang="en-US" sz="2400" dirty="0"/>
          </a:p>
        </p:txBody>
      </p:sp>
      <p:sp>
        <p:nvSpPr>
          <p:cNvPr id="3" name="Shape 1"/>
          <p:cNvSpPr/>
          <p:nvPr/>
        </p:nvSpPr>
        <p:spPr>
          <a:xfrm>
            <a:off x="457200" y="1645920"/>
            <a:ext cx="2011680" cy="914400"/>
          </a:xfrm>
          <a:prstGeom prst="roundRect">
            <a:avLst>
              <a:gd name="adj" fmla="val 5000"/>
            </a:avLst>
          </a:prstGeom>
          <a:solidFill>
            <a:srgbClr val="97B1DF"/>
          </a:solidFill>
          <a:ln w="12700">
            <a:solidFill>
              <a:srgbClr val="97B1DF"/>
            </a:solidFill>
            <a:prstDash val="solid"/>
          </a:ln>
        </p:spPr>
        <p:txBody>
          <a:bodyPr/>
          <a:lstStyle/>
          <a:p>
            <a:endParaRPr/>
          </a:p>
        </p:txBody>
      </p:sp>
      <p:sp>
        <p:nvSpPr>
          <p:cNvPr id="4" name="Text 2"/>
          <p:cNvSpPr/>
          <p:nvPr/>
        </p:nvSpPr>
        <p:spPr>
          <a:xfrm>
            <a:off x="502920" y="1691640"/>
            <a:ext cx="1920240" cy="822960"/>
          </a:xfrm>
          <a:prstGeom prst="rect">
            <a:avLst/>
          </a:prstGeom>
          <a:noFill/>
          <a:ln/>
        </p:spPr>
        <p:txBody>
          <a:bodyPr wrap="square" rtlCol="0" anchor="ctr"/>
          <a:lstStyle/>
          <a:p>
            <a:pPr marL="0" indent="0">
              <a:buNone/>
            </a:pPr>
            <a:r>
              <a:rPr lang="en-US" sz="1600" b="1" dirty="0">
                <a:solidFill>
                  <a:srgbClr val="FFFFFF"/>
                </a:solidFill>
              </a:rPr>
              <a:t>Atomicity
</a:t>
            </a:r>
            <a:r>
              <a:rPr lang="en-US" sz="1000" dirty="0">
                <a:solidFill>
                  <a:srgbClr val="FFFFFF"/>
                </a:solidFill>
              </a:rPr>
              <a:t>All operations in a transaction succeed or fail together</a:t>
            </a:r>
            <a:endParaRPr lang="en-US" sz="1600" dirty="0"/>
          </a:p>
        </p:txBody>
      </p:sp>
      <p:sp>
        <p:nvSpPr>
          <p:cNvPr id="5" name="Shape 3"/>
          <p:cNvSpPr/>
          <p:nvPr/>
        </p:nvSpPr>
        <p:spPr>
          <a:xfrm>
            <a:off x="2743200" y="1645920"/>
            <a:ext cx="2011680" cy="914400"/>
          </a:xfrm>
          <a:prstGeom prst="roundRect">
            <a:avLst>
              <a:gd name="adj" fmla="val 5000"/>
            </a:avLst>
          </a:prstGeom>
          <a:solidFill>
            <a:srgbClr val="A4B6B8"/>
          </a:solidFill>
          <a:ln w="12700">
            <a:solidFill>
              <a:srgbClr val="A4B6B8"/>
            </a:solidFill>
            <a:prstDash val="solid"/>
          </a:ln>
        </p:spPr>
        <p:txBody>
          <a:bodyPr/>
          <a:lstStyle/>
          <a:p>
            <a:endParaRPr/>
          </a:p>
        </p:txBody>
      </p:sp>
      <p:sp>
        <p:nvSpPr>
          <p:cNvPr id="6" name="Text 4"/>
          <p:cNvSpPr/>
          <p:nvPr/>
        </p:nvSpPr>
        <p:spPr>
          <a:xfrm>
            <a:off x="2788920" y="1691640"/>
            <a:ext cx="1920240" cy="822960"/>
          </a:xfrm>
          <a:prstGeom prst="rect">
            <a:avLst/>
          </a:prstGeom>
          <a:noFill/>
          <a:ln/>
        </p:spPr>
        <p:txBody>
          <a:bodyPr wrap="square" rtlCol="0" anchor="ctr"/>
          <a:lstStyle/>
          <a:p>
            <a:pPr marL="0" indent="0">
              <a:buNone/>
            </a:pPr>
            <a:r>
              <a:rPr lang="en-US" sz="1600" b="1" dirty="0">
                <a:solidFill>
                  <a:srgbClr val="030A18"/>
                </a:solidFill>
              </a:rPr>
              <a:t>Consistency
</a:t>
            </a:r>
            <a:r>
              <a:rPr lang="en-US" sz="1000" dirty="0">
                <a:solidFill>
                  <a:srgbClr val="030A18"/>
                </a:solidFill>
              </a:rPr>
              <a:t>Transactions bring the database from one valid state to another</a:t>
            </a:r>
            <a:endParaRPr lang="en-US" sz="1600" dirty="0"/>
          </a:p>
        </p:txBody>
      </p:sp>
      <p:sp>
        <p:nvSpPr>
          <p:cNvPr id="7" name="Shape 5"/>
          <p:cNvSpPr/>
          <p:nvPr/>
        </p:nvSpPr>
        <p:spPr>
          <a:xfrm>
            <a:off x="5029200" y="1645920"/>
            <a:ext cx="2011680" cy="914400"/>
          </a:xfrm>
          <a:prstGeom prst="roundRect">
            <a:avLst>
              <a:gd name="adj" fmla="val 5000"/>
            </a:avLst>
          </a:prstGeom>
          <a:solidFill>
            <a:srgbClr val="97B1DF"/>
          </a:solidFill>
          <a:ln w="12700">
            <a:solidFill>
              <a:srgbClr val="97B1DF"/>
            </a:solidFill>
            <a:prstDash val="solid"/>
          </a:ln>
        </p:spPr>
        <p:txBody>
          <a:bodyPr/>
          <a:lstStyle/>
          <a:p>
            <a:endParaRPr/>
          </a:p>
        </p:txBody>
      </p:sp>
      <p:sp>
        <p:nvSpPr>
          <p:cNvPr id="8" name="Text 6"/>
          <p:cNvSpPr/>
          <p:nvPr/>
        </p:nvSpPr>
        <p:spPr>
          <a:xfrm>
            <a:off x="5074920" y="1691640"/>
            <a:ext cx="1920240" cy="822960"/>
          </a:xfrm>
          <a:prstGeom prst="rect">
            <a:avLst/>
          </a:prstGeom>
          <a:noFill/>
          <a:ln/>
        </p:spPr>
        <p:txBody>
          <a:bodyPr wrap="square" rtlCol="0" anchor="ctr"/>
          <a:lstStyle/>
          <a:p>
            <a:pPr marL="0" indent="0">
              <a:buNone/>
            </a:pPr>
            <a:r>
              <a:rPr lang="en-US" sz="1600" b="1" dirty="0">
                <a:solidFill>
                  <a:srgbClr val="FFFFFF"/>
                </a:solidFill>
              </a:rPr>
              <a:t>Isolation
</a:t>
            </a:r>
            <a:r>
              <a:rPr lang="en-US" sz="1000" dirty="0">
                <a:solidFill>
                  <a:srgbClr val="FFFFFF"/>
                </a:solidFill>
              </a:rPr>
              <a:t>Concurrent transactions cannot see intermediate states</a:t>
            </a:r>
            <a:endParaRPr lang="en-US" sz="1600" dirty="0"/>
          </a:p>
        </p:txBody>
      </p:sp>
      <p:sp>
        <p:nvSpPr>
          <p:cNvPr id="9" name="Shape 7"/>
          <p:cNvSpPr/>
          <p:nvPr/>
        </p:nvSpPr>
        <p:spPr>
          <a:xfrm>
            <a:off x="7315200" y="1645920"/>
            <a:ext cx="2011680" cy="914400"/>
          </a:xfrm>
          <a:prstGeom prst="roundRect">
            <a:avLst>
              <a:gd name="adj" fmla="val 5000"/>
            </a:avLst>
          </a:prstGeom>
          <a:solidFill>
            <a:srgbClr val="A4B6B8"/>
          </a:solidFill>
          <a:ln w="12700">
            <a:solidFill>
              <a:srgbClr val="A4B6B8"/>
            </a:solidFill>
            <a:prstDash val="solid"/>
          </a:ln>
        </p:spPr>
        <p:txBody>
          <a:bodyPr/>
          <a:lstStyle/>
          <a:p>
            <a:endParaRPr/>
          </a:p>
        </p:txBody>
      </p:sp>
      <p:sp>
        <p:nvSpPr>
          <p:cNvPr id="10" name="Text 8"/>
          <p:cNvSpPr/>
          <p:nvPr/>
        </p:nvSpPr>
        <p:spPr>
          <a:xfrm>
            <a:off x="7360920" y="1691640"/>
            <a:ext cx="1920240" cy="822960"/>
          </a:xfrm>
          <a:prstGeom prst="rect">
            <a:avLst/>
          </a:prstGeom>
          <a:noFill/>
          <a:ln/>
        </p:spPr>
        <p:txBody>
          <a:bodyPr wrap="square" rtlCol="0" anchor="ctr"/>
          <a:lstStyle/>
          <a:p>
            <a:pPr marL="0" indent="0">
              <a:buNone/>
            </a:pPr>
            <a:r>
              <a:rPr lang="en-US" sz="1600" b="1" dirty="0">
                <a:solidFill>
                  <a:srgbClr val="030A18"/>
                </a:solidFill>
              </a:rPr>
              <a:t>Durability
</a:t>
            </a:r>
            <a:r>
              <a:rPr lang="en-US" sz="1000" dirty="0">
                <a:solidFill>
                  <a:srgbClr val="030A18"/>
                </a:solidFill>
              </a:rPr>
              <a:t>Once committed, data changes survive crashes</a:t>
            </a:r>
            <a:endParaRPr lang="en-US" sz="1600" dirty="0"/>
          </a:p>
        </p:txBody>
      </p:sp>
      <p:sp>
        <p:nvSpPr>
          <p:cNvPr id="11" name="Shape 9"/>
          <p:cNvSpPr/>
          <p:nvPr/>
        </p:nvSpPr>
        <p:spPr>
          <a:xfrm>
            <a:off x="822960" y="2834640"/>
            <a:ext cx="7498080" cy="1280160"/>
          </a:xfrm>
          <a:prstGeom prst="roundRect">
            <a:avLst>
              <a:gd name="adj" fmla="val 3571"/>
            </a:avLst>
          </a:prstGeom>
          <a:solidFill>
            <a:srgbClr val="F5F5F5"/>
          </a:solidFill>
          <a:ln w="12700">
            <a:solidFill>
              <a:srgbClr val="97B1DF"/>
            </a:solidFill>
            <a:prstDash val="solid"/>
          </a:ln>
        </p:spPr>
        <p:txBody>
          <a:bodyPr/>
          <a:lstStyle/>
          <a:p>
            <a:endParaRPr/>
          </a:p>
        </p:txBody>
      </p:sp>
      <p:sp>
        <p:nvSpPr>
          <p:cNvPr id="12" name="Text 10"/>
          <p:cNvSpPr/>
          <p:nvPr/>
        </p:nvSpPr>
        <p:spPr>
          <a:xfrm>
            <a:off x="868680" y="2880360"/>
            <a:ext cx="7406640" cy="1188720"/>
          </a:xfrm>
          <a:prstGeom prst="rect">
            <a:avLst/>
          </a:prstGeom>
          <a:noFill/>
          <a:ln/>
        </p:spPr>
        <p:txBody>
          <a:bodyPr wrap="square" lIns="1270" tIns="1270" rIns="1270" bIns="1270" rtlCol="0" anchor="ctr"/>
          <a:lstStyle/>
          <a:p>
            <a:pPr marL="0" indent="0">
              <a:buNone/>
            </a:pPr>
            <a:r>
              <a:rPr lang="en-US" sz="1200" dirty="0">
                <a:solidFill>
                  <a:srgbClr val="030A18"/>
                </a:solidFill>
                <a:latin typeface="Arial" pitchFamily="34" charset="0"/>
                <a:ea typeface="Arial" pitchFamily="34" charset="-122"/>
                <a:cs typeface="Arial" pitchFamily="34" charset="-120"/>
              </a:rPr>
              <a:t>BEGIN;</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UPDATE accounts SET balance </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 balance - </a:t>
            </a:r>
            <a:r>
              <a:rPr lang="en-US" sz="1200" dirty="0">
                <a:solidFill>
                  <a:srgbClr val="098658"/>
                </a:solidFill>
                <a:latin typeface="Arial" pitchFamily="34" charset="0"/>
                <a:ea typeface="Arial" pitchFamily="34" charset="-122"/>
                <a:cs typeface="Arial" pitchFamily="34" charset="-120"/>
              </a:rPr>
              <a:t>100</a:t>
            </a:r>
            <a:r>
              <a:rPr lang="en-US" sz="1200" dirty="0">
                <a:solidFill>
                  <a:srgbClr val="030A18"/>
                </a:solidFill>
                <a:latin typeface="Arial" pitchFamily="34" charset="0"/>
                <a:ea typeface="Arial" pitchFamily="34" charset="-122"/>
                <a:cs typeface="Arial" pitchFamily="34" charset="-120"/>
              </a:rPr>
              <a:t> WHERE id=</a:t>
            </a:r>
            <a:r>
              <a:rPr lang="en-US" sz="1200" dirty="0">
                <a:solidFill>
                  <a:srgbClr val="098658"/>
                </a:solidFill>
                <a:latin typeface="Arial" pitchFamily="34" charset="0"/>
                <a:ea typeface="Arial" pitchFamily="34" charset="-122"/>
                <a:cs typeface="Arial" pitchFamily="34" charset="-120"/>
              </a:rPr>
              <a:t>1</a:t>
            </a:r>
            <a:r>
              <a:rPr lang="en-US" sz="1200" dirty="0">
                <a:solidFill>
                  <a:srgbClr val="030A18"/>
                </a:solidFill>
                <a:latin typeface="Arial" pitchFamily="34" charset="0"/>
                <a:ea typeface="Arial" pitchFamily="34" charset="-122"/>
                <a:cs typeface="Arial" pitchFamily="34" charset="-120"/>
              </a:rPr>
              <a:t>;</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UPDATE accounts SET balance </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 balance + </a:t>
            </a:r>
            <a:r>
              <a:rPr lang="en-US" sz="1200" dirty="0">
                <a:solidFill>
                  <a:srgbClr val="098658"/>
                </a:solidFill>
                <a:latin typeface="Arial" pitchFamily="34" charset="0"/>
                <a:ea typeface="Arial" pitchFamily="34" charset="-122"/>
                <a:cs typeface="Arial" pitchFamily="34" charset="-120"/>
              </a:rPr>
              <a:t>100</a:t>
            </a:r>
            <a:r>
              <a:rPr lang="en-US" sz="1200" dirty="0">
                <a:solidFill>
                  <a:srgbClr val="030A18"/>
                </a:solidFill>
                <a:latin typeface="Arial" pitchFamily="34" charset="0"/>
                <a:ea typeface="Arial" pitchFamily="34" charset="-122"/>
                <a:cs typeface="Arial" pitchFamily="34" charset="-120"/>
              </a:rPr>
              <a:t> WHERE id=</a:t>
            </a:r>
            <a:r>
              <a:rPr lang="en-US" sz="1200" dirty="0">
                <a:solidFill>
                  <a:srgbClr val="098658"/>
                </a:solidFill>
                <a:latin typeface="Arial" pitchFamily="34" charset="0"/>
                <a:ea typeface="Arial" pitchFamily="34" charset="-122"/>
                <a:cs typeface="Arial" pitchFamily="34" charset="-120"/>
              </a:rPr>
              <a:t>2</a:t>
            </a:r>
            <a:r>
              <a:rPr lang="en-US" sz="1200" dirty="0">
                <a:solidFill>
                  <a:srgbClr val="030A18"/>
                </a:solidFill>
                <a:latin typeface="Arial" pitchFamily="34" charset="0"/>
                <a:ea typeface="Arial" pitchFamily="34" charset="-122"/>
                <a:cs typeface="Arial" pitchFamily="34" charset="-120"/>
              </a:rPr>
              <a:t>;</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COMMIT</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a:t>
            </a:r>
            <a:endParaRPr lang="en-US" sz="1200" dirty="0"/>
          </a:p>
        </p:txBody>
      </p:sp>
      <p:sp>
        <p:nvSpPr>
          <p:cNvPr id="13" name="Text 11"/>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[15]</a:t>
            </a:r>
            <a:r>
              <a:rPr lang="en-US" sz="600" dirty="0">
                <a:solidFill>
                  <a:srgbClr val="000000"/>
                </a:solidFill>
              </a:rPr>
              <a:t>   </a:t>
            </a:r>
            <a:r>
              <a:rPr lang="en-US" sz="600" u="sng" dirty="0">
                <a:solidFill>
                  <a:srgbClr val="97B1DF"/>
                </a:solidFill>
                <a:hlinkClick r:id="rId4"/>
              </a:rPr>
              <a:t>[15]</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Multi‑Version Concurrency Control</a:t>
            </a:r>
            <a:endParaRPr lang="en-US" sz="2400" dirty="0"/>
          </a:p>
        </p:txBody>
      </p:sp>
      <p:sp>
        <p:nvSpPr>
          <p:cNvPr id="3" name="Shape 1"/>
          <p:cNvSpPr/>
          <p:nvPr/>
        </p:nvSpPr>
        <p:spPr>
          <a:xfrm>
            <a:off x="731520" y="2743200"/>
            <a:ext cx="7680960" cy="0"/>
          </a:xfrm>
          <a:prstGeom prst="line">
            <a:avLst/>
          </a:prstGeom>
          <a:noFill/>
          <a:ln w="12700">
            <a:solidFill>
              <a:srgbClr val="030A18"/>
            </a:solidFill>
            <a:prstDash val="solid"/>
          </a:ln>
        </p:spPr>
        <p:txBody>
          <a:bodyPr/>
          <a:lstStyle/>
          <a:p>
            <a:endParaRPr/>
          </a:p>
        </p:txBody>
      </p:sp>
      <p:sp>
        <p:nvSpPr>
          <p:cNvPr id="4" name="Shape 2"/>
          <p:cNvSpPr/>
          <p:nvPr/>
        </p:nvSpPr>
        <p:spPr>
          <a:xfrm>
            <a:off x="1371600" y="2651760"/>
            <a:ext cx="0" cy="182880"/>
          </a:xfrm>
          <a:prstGeom prst="line">
            <a:avLst/>
          </a:prstGeom>
          <a:noFill/>
          <a:ln w="12700">
            <a:solidFill>
              <a:srgbClr val="030A18"/>
            </a:solidFill>
            <a:prstDash val="solid"/>
          </a:ln>
        </p:spPr>
        <p:txBody>
          <a:bodyPr/>
          <a:lstStyle/>
          <a:p>
            <a:endParaRPr/>
          </a:p>
        </p:txBody>
      </p:sp>
      <p:sp>
        <p:nvSpPr>
          <p:cNvPr id="5" name="Text 3"/>
          <p:cNvSpPr/>
          <p:nvPr/>
        </p:nvSpPr>
        <p:spPr>
          <a:xfrm>
            <a:off x="640080" y="2880360"/>
            <a:ext cx="1463040" cy="365760"/>
          </a:xfrm>
          <a:prstGeom prst="rect">
            <a:avLst/>
          </a:prstGeom>
          <a:noFill/>
          <a:ln/>
        </p:spPr>
        <p:txBody>
          <a:bodyPr wrap="square" rtlCol="0" anchor="ctr"/>
          <a:lstStyle/>
          <a:p>
            <a:pPr marL="0" indent="0" algn="ctr">
              <a:buNone/>
            </a:pPr>
            <a:r>
              <a:rPr lang="en-US" sz="1000" dirty="0">
                <a:solidFill>
                  <a:srgbClr val="030A18"/>
                </a:solidFill>
              </a:rPr>
              <a:t>T1 begins</a:t>
            </a:r>
            <a:endParaRPr lang="en-US" sz="1000" dirty="0"/>
          </a:p>
        </p:txBody>
      </p:sp>
      <p:sp>
        <p:nvSpPr>
          <p:cNvPr id="6" name="Shape 4"/>
          <p:cNvSpPr/>
          <p:nvPr/>
        </p:nvSpPr>
        <p:spPr>
          <a:xfrm>
            <a:off x="4114800" y="2651760"/>
            <a:ext cx="0" cy="182880"/>
          </a:xfrm>
          <a:prstGeom prst="line">
            <a:avLst/>
          </a:prstGeom>
          <a:noFill/>
          <a:ln w="12700">
            <a:solidFill>
              <a:srgbClr val="030A18"/>
            </a:solidFill>
            <a:prstDash val="solid"/>
          </a:ln>
        </p:spPr>
        <p:txBody>
          <a:bodyPr/>
          <a:lstStyle/>
          <a:p>
            <a:endParaRPr/>
          </a:p>
        </p:txBody>
      </p:sp>
      <p:sp>
        <p:nvSpPr>
          <p:cNvPr id="7" name="Text 5"/>
          <p:cNvSpPr/>
          <p:nvPr/>
        </p:nvSpPr>
        <p:spPr>
          <a:xfrm>
            <a:off x="3383280" y="2880360"/>
            <a:ext cx="1463040" cy="365760"/>
          </a:xfrm>
          <a:prstGeom prst="rect">
            <a:avLst/>
          </a:prstGeom>
          <a:noFill/>
          <a:ln/>
        </p:spPr>
        <p:txBody>
          <a:bodyPr wrap="square" rtlCol="0" anchor="ctr"/>
          <a:lstStyle/>
          <a:p>
            <a:pPr marL="0" indent="0" algn="ctr">
              <a:buNone/>
            </a:pPr>
            <a:r>
              <a:rPr lang="en-US" sz="1000" dirty="0">
                <a:solidFill>
                  <a:srgbClr val="030A18"/>
                </a:solidFill>
              </a:rPr>
              <a:t>T2 begins</a:t>
            </a:r>
            <a:endParaRPr lang="en-US" sz="1000" dirty="0"/>
          </a:p>
        </p:txBody>
      </p:sp>
      <p:sp>
        <p:nvSpPr>
          <p:cNvPr id="8" name="Shape 6"/>
          <p:cNvSpPr/>
          <p:nvPr/>
        </p:nvSpPr>
        <p:spPr>
          <a:xfrm>
            <a:off x="6858000" y="2651760"/>
            <a:ext cx="0" cy="182880"/>
          </a:xfrm>
          <a:prstGeom prst="line">
            <a:avLst/>
          </a:prstGeom>
          <a:noFill/>
          <a:ln w="12700">
            <a:solidFill>
              <a:srgbClr val="030A18"/>
            </a:solidFill>
            <a:prstDash val="solid"/>
          </a:ln>
        </p:spPr>
        <p:txBody>
          <a:bodyPr/>
          <a:lstStyle/>
          <a:p>
            <a:endParaRPr/>
          </a:p>
        </p:txBody>
      </p:sp>
      <p:sp>
        <p:nvSpPr>
          <p:cNvPr id="9" name="Text 7"/>
          <p:cNvSpPr/>
          <p:nvPr/>
        </p:nvSpPr>
        <p:spPr>
          <a:xfrm>
            <a:off x="6126480" y="2880360"/>
            <a:ext cx="1463040" cy="365760"/>
          </a:xfrm>
          <a:prstGeom prst="rect">
            <a:avLst/>
          </a:prstGeom>
          <a:noFill/>
          <a:ln/>
        </p:spPr>
        <p:txBody>
          <a:bodyPr wrap="square" rtlCol="0" anchor="ctr"/>
          <a:lstStyle/>
          <a:p>
            <a:pPr marL="0" indent="0" algn="ctr">
              <a:buNone/>
            </a:pPr>
            <a:r>
              <a:rPr lang="en-US" sz="1000" dirty="0">
                <a:solidFill>
                  <a:srgbClr val="030A18"/>
                </a:solidFill>
              </a:rPr>
              <a:t>T2 commits</a:t>
            </a:r>
            <a:endParaRPr lang="en-US" sz="1000" dirty="0"/>
          </a:p>
        </p:txBody>
      </p:sp>
      <p:sp>
        <p:nvSpPr>
          <p:cNvPr id="10" name="Shape 8"/>
          <p:cNvSpPr/>
          <p:nvPr/>
        </p:nvSpPr>
        <p:spPr>
          <a:xfrm>
            <a:off x="914400" y="1645920"/>
            <a:ext cx="2286000" cy="640080"/>
          </a:xfrm>
          <a:prstGeom prst="rect">
            <a:avLst/>
          </a:prstGeom>
          <a:solidFill>
            <a:srgbClr val="A4B6B8"/>
          </a:solidFill>
          <a:ln w="12700">
            <a:solidFill>
              <a:srgbClr val="A4B6B8"/>
            </a:solidFill>
            <a:prstDash val="solid"/>
          </a:ln>
        </p:spPr>
        <p:txBody>
          <a:bodyPr/>
          <a:lstStyle/>
          <a:p>
            <a:endParaRPr/>
          </a:p>
        </p:txBody>
      </p:sp>
      <p:sp>
        <p:nvSpPr>
          <p:cNvPr id="11" name="Text 9"/>
          <p:cNvSpPr/>
          <p:nvPr/>
        </p:nvSpPr>
        <p:spPr>
          <a:xfrm>
            <a:off x="914400" y="1691640"/>
            <a:ext cx="2286000" cy="548640"/>
          </a:xfrm>
          <a:prstGeom prst="rect">
            <a:avLst/>
          </a:prstGeom>
          <a:noFill/>
          <a:ln/>
        </p:spPr>
        <p:txBody>
          <a:bodyPr wrap="square" rtlCol="0" anchor="ctr"/>
          <a:lstStyle/>
          <a:p>
            <a:pPr marL="0" indent="0" algn="ctr">
              <a:buNone/>
            </a:pPr>
            <a:r>
              <a:rPr lang="en-US" sz="1000" dirty="0">
                <a:solidFill>
                  <a:srgbClr val="030A18"/>
                </a:solidFill>
              </a:rPr>
              <a:t>Row version v0</a:t>
            </a:r>
            <a:endParaRPr lang="en-US" sz="1000" dirty="0"/>
          </a:p>
          <a:p>
            <a:pPr marL="0" indent="0" algn="ctr">
              <a:buNone/>
            </a:pPr>
            <a:r>
              <a:rPr lang="en-US" sz="1000" dirty="0">
                <a:solidFill>
                  <a:srgbClr val="030A18"/>
                </a:solidFill>
              </a:rPr>
              <a:t>(visible to T1)</a:t>
            </a:r>
            <a:endParaRPr lang="en-US" sz="1000" dirty="0"/>
          </a:p>
        </p:txBody>
      </p:sp>
      <p:sp>
        <p:nvSpPr>
          <p:cNvPr id="12" name="Shape 10"/>
          <p:cNvSpPr/>
          <p:nvPr/>
        </p:nvSpPr>
        <p:spPr>
          <a:xfrm>
            <a:off x="5943600" y="1645920"/>
            <a:ext cx="2286000" cy="640080"/>
          </a:xfrm>
          <a:prstGeom prst="rect">
            <a:avLst/>
          </a:prstGeom>
          <a:solidFill>
            <a:srgbClr val="97B1DF"/>
          </a:solidFill>
          <a:ln w="12700">
            <a:solidFill>
              <a:srgbClr val="97B1DF"/>
            </a:solidFill>
            <a:prstDash val="solid"/>
          </a:ln>
        </p:spPr>
        <p:txBody>
          <a:bodyPr/>
          <a:lstStyle/>
          <a:p>
            <a:endParaRPr/>
          </a:p>
        </p:txBody>
      </p:sp>
      <p:sp>
        <p:nvSpPr>
          <p:cNvPr id="13" name="Text 11"/>
          <p:cNvSpPr/>
          <p:nvPr/>
        </p:nvSpPr>
        <p:spPr>
          <a:xfrm>
            <a:off x="5943600" y="1691640"/>
            <a:ext cx="2286000" cy="548640"/>
          </a:xfrm>
          <a:prstGeom prst="rect">
            <a:avLst/>
          </a:prstGeom>
          <a:noFill/>
          <a:ln/>
        </p:spPr>
        <p:txBody>
          <a:bodyPr wrap="square" rtlCol="0" anchor="ctr"/>
          <a:lstStyle/>
          <a:p>
            <a:pPr marL="0" indent="0" algn="ctr">
              <a:buNone/>
            </a:pPr>
            <a:r>
              <a:rPr lang="en-US" sz="1000" dirty="0">
                <a:solidFill>
                  <a:srgbClr val="FFFFFF"/>
                </a:solidFill>
              </a:rPr>
              <a:t>Row version v1</a:t>
            </a:r>
            <a:endParaRPr lang="en-US" sz="1000" dirty="0"/>
          </a:p>
          <a:p>
            <a:pPr marL="0" indent="0" algn="ctr">
              <a:buNone/>
            </a:pPr>
            <a:r>
              <a:rPr lang="en-US" sz="1000" dirty="0">
                <a:solidFill>
                  <a:srgbClr val="FFFFFF"/>
                </a:solidFill>
              </a:rPr>
              <a:t>(created by T2)</a:t>
            </a:r>
            <a:endParaRPr lang="en-US" sz="1000" dirty="0"/>
          </a:p>
        </p:txBody>
      </p:sp>
      <p:sp>
        <p:nvSpPr>
          <p:cNvPr id="14" name="Shape 12"/>
          <p:cNvSpPr/>
          <p:nvPr/>
        </p:nvSpPr>
        <p:spPr>
          <a:xfrm>
            <a:off x="3200400" y="1965960"/>
            <a:ext cx="2743200" cy="0"/>
          </a:xfrm>
          <a:prstGeom prst="line">
            <a:avLst/>
          </a:prstGeom>
          <a:noFill/>
          <a:ln w="12700">
            <a:solidFill>
              <a:srgbClr val="030A18"/>
            </a:solidFill>
            <a:prstDash val="solid"/>
          </a:ln>
        </p:spPr>
        <p:txBody>
          <a:bodyPr/>
          <a:lstStyle/>
          <a:p>
            <a:endParaRPr/>
          </a:p>
        </p:txBody>
      </p:sp>
      <p:sp>
        <p:nvSpPr>
          <p:cNvPr id="15" name="Text 13"/>
          <p:cNvSpPr/>
          <p:nvPr/>
        </p:nvSpPr>
        <p:spPr>
          <a:xfrm>
            <a:off x="4114800" y="2057400"/>
            <a:ext cx="2560320" cy="365760"/>
          </a:xfrm>
          <a:prstGeom prst="rect">
            <a:avLst/>
          </a:prstGeom>
          <a:noFill/>
          <a:ln/>
        </p:spPr>
        <p:txBody>
          <a:bodyPr wrap="square" rtlCol="0" anchor="ctr"/>
          <a:lstStyle/>
          <a:p>
            <a:pPr marL="0" indent="0" algn="ctr">
              <a:buNone/>
            </a:pPr>
            <a:r>
              <a:rPr lang="en-US" sz="1000" dirty="0">
                <a:solidFill>
                  <a:srgbClr val="030A18"/>
                </a:solidFill>
              </a:rPr>
              <a:t>Update creates new version</a:t>
            </a:r>
            <a:endParaRPr lang="en-US" sz="1000" dirty="0"/>
          </a:p>
        </p:txBody>
      </p:sp>
      <p:sp>
        <p:nvSpPr>
          <p:cNvPr id="16" name="Text 14"/>
          <p:cNvSpPr/>
          <p:nvPr/>
        </p:nvSpPr>
        <p:spPr>
          <a:xfrm>
            <a:off x="548640" y="3474720"/>
            <a:ext cx="8229600" cy="1280160"/>
          </a:xfrm>
          <a:prstGeom prst="rect">
            <a:avLst/>
          </a:prstGeom>
          <a:noFill/>
          <a:ln/>
        </p:spPr>
        <p:txBody>
          <a:bodyPr wrap="square" rtlCol="0" anchor="ctr"/>
          <a:lstStyle/>
          <a:p>
            <a:pPr marL="0" indent="0">
              <a:buNone/>
            </a:pPr>
            <a:r>
              <a:rPr lang="en-US" sz="1200" dirty="0">
                <a:solidFill>
                  <a:srgbClr val="030A18"/>
                </a:solidFill>
              </a:rPr>
              <a:t>• MVCC stores multiple versions of a row and uses snapshots to provide consistent reads
• Writers create new versions rather than overwriting; readers continue seeing the old version until they commit
• VACUUM eventually cleans up dead row versions</a:t>
            </a:r>
            <a:endParaRPr lang="en-US" sz="1200" dirty="0"/>
          </a:p>
        </p:txBody>
      </p:sp>
      <p:sp>
        <p:nvSpPr>
          <p:cNvPr id="17" name="Text 15"/>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[16]</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System Catalogs &amp; Data Dictionary</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029200" cy="1645920"/>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pPr marL="0" indent="0">
                        <a:buNone/>
                      </a:pPr>
                      <a:r>
                        <a:rPr lang="en-US" sz="800" b="1" dirty="0">
                          <a:solidFill>
                            <a:srgbClr val="030A18"/>
                          </a:solidFill>
                        </a:rPr>
                        <a:t>Catalog</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b="1" dirty="0">
                          <a:solidFill>
                            <a:srgbClr val="030A18"/>
                          </a:solidFill>
                        </a:rPr>
                        <a:t>Description</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320040">
                <a:tc>
                  <a:txBody>
                    <a:bodyPr/>
                    <a:lstStyle/>
                    <a:p>
                      <a:pPr marL="0" indent="0">
                        <a:buNone/>
                      </a:pPr>
                      <a:r>
                        <a:rPr lang="en-US" sz="800" i="1" dirty="0">
                          <a:solidFill>
                            <a:srgbClr val="030A18"/>
                          </a:solidFill>
                        </a:rPr>
                        <a:t>pg_class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One row per table, index or sequence</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320040">
                <a:tc>
                  <a:txBody>
                    <a:bodyPr/>
                    <a:lstStyle/>
                    <a:p>
                      <a:pPr marL="0" indent="0">
                        <a:buNone/>
                      </a:pPr>
                      <a:r>
                        <a:rPr lang="en-US" sz="800" i="1" dirty="0">
                          <a:solidFill>
                            <a:srgbClr val="030A18"/>
                          </a:solidFill>
                        </a:rPr>
                        <a:t>pg_attribute</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Column definitions (name, type, nullability)</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20040">
                <a:tc>
                  <a:txBody>
                    <a:bodyPr/>
                    <a:lstStyle/>
                    <a:p>
                      <a:pPr marL="0" indent="0">
                        <a:buNone/>
                      </a:pPr>
                      <a:r>
                        <a:rPr lang="en-US" sz="800" i="1" dirty="0">
                          <a:solidFill>
                            <a:srgbClr val="030A18"/>
                          </a:solidFill>
                        </a:rPr>
                        <a:t>pg_type</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Data type definitions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320040">
                <a:tc>
                  <a:txBody>
                    <a:bodyPr/>
                    <a:lstStyle/>
                    <a:p>
                      <a:pPr marL="0" indent="0">
                        <a:buNone/>
                      </a:pPr>
                      <a:r>
                        <a:rPr lang="en-US" sz="800" i="1" dirty="0">
                          <a:solidFill>
                            <a:srgbClr val="030A18"/>
                          </a:solidFill>
                        </a:rPr>
                        <a:t>pg_namespace</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Schemas within databases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4" name="Text 1"/>
          <p:cNvSpPr/>
          <p:nvPr/>
        </p:nvSpPr>
        <p:spPr>
          <a:xfrm>
            <a:off x="5760720" y="1737360"/>
            <a:ext cx="3383280" cy="2286000"/>
          </a:xfrm>
          <a:prstGeom prst="rect">
            <a:avLst/>
          </a:prstGeom>
          <a:noFill/>
          <a:ln/>
        </p:spPr>
        <p:txBody>
          <a:bodyPr wrap="square" rtlCol="0" anchor="ctr"/>
          <a:lstStyle/>
          <a:p>
            <a:pPr marL="0" indent="0">
              <a:buNone/>
            </a:pPr>
            <a:r>
              <a:rPr lang="en-US" sz="1200" dirty="0">
                <a:solidFill>
                  <a:srgbClr val="030A18"/>
                </a:solidFill>
              </a:rPr>
              <a:t>• System catalogs are ordinary tables storing metadata about every object in the database
• They include information about tables, columns, types, indexes and more
• Do not modify catalog tables directly; use DDL commands instead</a:t>
            </a:r>
            <a:endParaRPr lang="en-US" sz="1200" dirty="0"/>
          </a:p>
        </p:txBody>
      </p:sp>
      <p:sp>
        <p:nvSpPr>
          <p:cNvPr id="5" name="Text 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[17]</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Supabase Architecture Overview</a:t>
            </a:r>
            <a:endParaRPr lang="en-US" sz="2400" dirty="0"/>
          </a:p>
        </p:txBody>
      </p:sp>
      <p:sp>
        <p:nvSpPr>
          <p:cNvPr id="3" name="Shape 1"/>
          <p:cNvSpPr/>
          <p:nvPr/>
        </p:nvSpPr>
        <p:spPr>
          <a:xfrm>
            <a:off x="3840480" y="1828800"/>
            <a:ext cx="1463040" cy="914400"/>
          </a:xfrm>
          <a:prstGeom prst="ellipse">
            <a:avLst/>
          </a:prstGeom>
          <a:solidFill>
            <a:srgbClr val="97B1DF"/>
          </a:solidFill>
          <a:ln w="12700">
            <a:solidFill>
              <a:srgbClr val="97B1DF"/>
            </a:solidFill>
            <a:prstDash val="solid"/>
          </a:ln>
        </p:spPr>
        <p:txBody>
          <a:bodyPr/>
          <a:lstStyle/>
          <a:p>
            <a:endParaRPr/>
          </a:p>
        </p:txBody>
      </p:sp>
      <p:sp>
        <p:nvSpPr>
          <p:cNvPr id="4" name="Text 2"/>
          <p:cNvSpPr/>
          <p:nvPr/>
        </p:nvSpPr>
        <p:spPr>
          <a:xfrm>
            <a:off x="3840480" y="2011680"/>
            <a:ext cx="1463040" cy="548640"/>
          </a:xfrm>
          <a:prstGeom prst="rect">
            <a:avLst/>
          </a:prstGeom>
          <a:noFill/>
          <a:ln/>
        </p:spPr>
        <p:txBody>
          <a:bodyPr wrap="square" rtlCol="0" anchor="ctr"/>
          <a:lstStyle/>
          <a:p>
            <a:pPr marL="0" indent="0" algn="ctr">
              <a:buNone/>
            </a:pPr>
            <a:r>
              <a:rPr lang="en-US" sz="1600" b="1" dirty="0">
                <a:solidFill>
                  <a:srgbClr val="FFFFFF"/>
                </a:solidFill>
              </a:rPr>
              <a:t>PostgreSQL</a:t>
            </a:r>
            <a:endParaRPr lang="en-US" sz="1600" dirty="0"/>
          </a:p>
        </p:txBody>
      </p:sp>
      <p:sp>
        <p:nvSpPr>
          <p:cNvPr id="5" name="Shape 3"/>
          <p:cNvSpPr/>
          <p:nvPr/>
        </p:nvSpPr>
        <p:spPr>
          <a:xfrm>
            <a:off x="4572000" y="2560320"/>
            <a:ext cx="0" cy="0"/>
          </a:xfrm>
          <a:prstGeom prst="line">
            <a:avLst/>
          </a:prstGeom>
          <a:noFill/>
          <a:ln w="10160">
            <a:solidFill>
              <a:srgbClr val="030A18"/>
            </a:solidFill>
            <a:prstDash val="solid"/>
          </a:ln>
        </p:spPr>
        <p:txBody>
          <a:bodyPr/>
          <a:lstStyle/>
          <a:p>
            <a:endParaRPr/>
          </a:p>
        </p:txBody>
      </p:sp>
      <p:sp>
        <p:nvSpPr>
          <p:cNvPr id="6" name="Shape 4"/>
          <p:cNvSpPr/>
          <p:nvPr/>
        </p:nvSpPr>
        <p:spPr>
          <a:xfrm>
            <a:off x="1097280" y="1554480"/>
            <a:ext cx="182880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7" name="Text 5"/>
          <p:cNvSpPr/>
          <p:nvPr/>
        </p:nvSpPr>
        <p:spPr>
          <a:xfrm>
            <a:off x="1097280" y="1691640"/>
            <a:ext cx="1828800" cy="274320"/>
          </a:xfrm>
          <a:prstGeom prst="rect">
            <a:avLst/>
          </a:prstGeom>
          <a:noFill/>
          <a:ln/>
        </p:spPr>
        <p:txBody>
          <a:bodyPr wrap="square" rtlCol="0" anchor="ctr"/>
          <a:lstStyle/>
          <a:p>
            <a:pPr marL="0" indent="0" algn="ctr">
              <a:buNone/>
            </a:pPr>
            <a:r>
              <a:rPr lang="en-US" sz="1000" dirty="0">
                <a:solidFill>
                  <a:srgbClr val="030A18"/>
                </a:solidFill>
              </a:rPr>
              <a:t>Auth (GoTrue)</a:t>
            </a:r>
            <a:endParaRPr lang="en-US" sz="1000" dirty="0"/>
          </a:p>
        </p:txBody>
      </p:sp>
      <p:sp>
        <p:nvSpPr>
          <p:cNvPr id="8" name="Shape 6"/>
          <p:cNvSpPr/>
          <p:nvPr/>
        </p:nvSpPr>
        <p:spPr>
          <a:xfrm>
            <a:off x="4572000" y="2560320"/>
            <a:ext cx="3657600" cy="0"/>
          </a:xfrm>
          <a:prstGeom prst="line">
            <a:avLst/>
          </a:prstGeom>
          <a:noFill/>
          <a:ln w="10160">
            <a:solidFill>
              <a:srgbClr val="030A18"/>
            </a:solidFill>
            <a:prstDash val="solid"/>
          </a:ln>
        </p:spPr>
        <p:txBody>
          <a:bodyPr/>
          <a:lstStyle/>
          <a:p>
            <a:endParaRPr/>
          </a:p>
        </p:txBody>
      </p:sp>
      <p:sp>
        <p:nvSpPr>
          <p:cNvPr id="9" name="Shape 7"/>
          <p:cNvSpPr/>
          <p:nvPr/>
        </p:nvSpPr>
        <p:spPr>
          <a:xfrm>
            <a:off x="7315200" y="1554480"/>
            <a:ext cx="182880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10" name="Text 8"/>
          <p:cNvSpPr/>
          <p:nvPr/>
        </p:nvSpPr>
        <p:spPr>
          <a:xfrm>
            <a:off x="7315200" y="1691640"/>
            <a:ext cx="1828800" cy="274320"/>
          </a:xfrm>
          <a:prstGeom prst="rect">
            <a:avLst/>
          </a:prstGeom>
          <a:noFill/>
          <a:ln/>
        </p:spPr>
        <p:txBody>
          <a:bodyPr wrap="square" rtlCol="0" anchor="ctr"/>
          <a:lstStyle/>
          <a:p>
            <a:pPr marL="0" indent="0" algn="ctr">
              <a:buNone/>
            </a:pPr>
            <a:r>
              <a:rPr lang="en-US" sz="1000" dirty="0">
                <a:solidFill>
                  <a:srgbClr val="030A18"/>
                </a:solidFill>
              </a:rPr>
              <a:t>REST API (PostgREST)</a:t>
            </a:r>
            <a:endParaRPr lang="en-US" sz="1000" dirty="0"/>
          </a:p>
        </p:txBody>
      </p:sp>
      <p:sp>
        <p:nvSpPr>
          <p:cNvPr id="11" name="Shape 9"/>
          <p:cNvSpPr/>
          <p:nvPr/>
        </p:nvSpPr>
        <p:spPr>
          <a:xfrm>
            <a:off x="4572000" y="2560320"/>
            <a:ext cx="0" cy="914400"/>
          </a:xfrm>
          <a:prstGeom prst="line">
            <a:avLst/>
          </a:prstGeom>
          <a:noFill/>
          <a:ln w="10160">
            <a:solidFill>
              <a:srgbClr val="030A18"/>
            </a:solidFill>
            <a:prstDash val="solid"/>
          </a:ln>
        </p:spPr>
        <p:txBody>
          <a:bodyPr/>
          <a:lstStyle/>
          <a:p>
            <a:endParaRPr/>
          </a:p>
        </p:txBody>
      </p:sp>
      <p:sp>
        <p:nvSpPr>
          <p:cNvPr id="12" name="Shape 10"/>
          <p:cNvSpPr/>
          <p:nvPr/>
        </p:nvSpPr>
        <p:spPr>
          <a:xfrm>
            <a:off x="914400" y="3200400"/>
            <a:ext cx="182880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13" name="Text 11"/>
          <p:cNvSpPr/>
          <p:nvPr/>
        </p:nvSpPr>
        <p:spPr>
          <a:xfrm>
            <a:off x="914400" y="3337560"/>
            <a:ext cx="1828800" cy="274320"/>
          </a:xfrm>
          <a:prstGeom prst="rect">
            <a:avLst/>
          </a:prstGeom>
          <a:noFill/>
          <a:ln/>
        </p:spPr>
        <p:txBody>
          <a:bodyPr wrap="square" rtlCol="0" anchor="ctr"/>
          <a:lstStyle/>
          <a:p>
            <a:pPr marL="0" indent="0" algn="ctr">
              <a:buNone/>
            </a:pPr>
            <a:r>
              <a:rPr lang="en-US" sz="1000" dirty="0">
                <a:solidFill>
                  <a:srgbClr val="030A18"/>
                </a:solidFill>
              </a:rPr>
              <a:t>Realtime</a:t>
            </a:r>
            <a:endParaRPr lang="en-US" sz="1000" dirty="0"/>
          </a:p>
        </p:txBody>
      </p:sp>
      <p:sp>
        <p:nvSpPr>
          <p:cNvPr id="14" name="Shape 12"/>
          <p:cNvSpPr/>
          <p:nvPr/>
        </p:nvSpPr>
        <p:spPr>
          <a:xfrm>
            <a:off x="4572000" y="2560320"/>
            <a:ext cx="3657600" cy="914400"/>
          </a:xfrm>
          <a:prstGeom prst="line">
            <a:avLst/>
          </a:prstGeom>
          <a:noFill/>
          <a:ln w="10160">
            <a:solidFill>
              <a:srgbClr val="030A18"/>
            </a:solidFill>
            <a:prstDash val="solid"/>
          </a:ln>
        </p:spPr>
        <p:txBody>
          <a:bodyPr/>
          <a:lstStyle/>
          <a:p>
            <a:endParaRPr/>
          </a:p>
        </p:txBody>
      </p:sp>
      <p:sp>
        <p:nvSpPr>
          <p:cNvPr id="15" name="Shape 13"/>
          <p:cNvSpPr/>
          <p:nvPr/>
        </p:nvSpPr>
        <p:spPr>
          <a:xfrm>
            <a:off x="7315200" y="3200400"/>
            <a:ext cx="182880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16" name="Text 14"/>
          <p:cNvSpPr/>
          <p:nvPr/>
        </p:nvSpPr>
        <p:spPr>
          <a:xfrm>
            <a:off x="7315200" y="3337560"/>
            <a:ext cx="1828800" cy="274320"/>
          </a:xfrm>
          <a:prstGeom prst="rect">
            <a:avLst/>
          </a:prstGeom>
          <a:noFill/>
          <a:ln/>
        </p:spPr>
        <p:txBody>
          <a:bodyPr wrap="square" rtlCol="0" anchor="ctr"/>
          <a:lstStyle/>
          <a:p>
            <a:pPr marL="0" indent="0" algn="ctr">
              <a:buNone/>
            </a:pPr>
            <a:r>
              <a:rPr lang="en-US" sz="1000" dirty="0">
                <a:solidFill>
                  <a:srgbClr val="030A18"/>
                </a:solidFill>
              </a:rPr>
              <a:t>Storage</a:t>
            </a:r>
            <a:endParaRPr lang="en-US" sz="1000" dirty="0"/>
          </a:p>
        </p:txBody>
      </p:sp>
      <p:sp>
        <p:nvSpPr>
          <p:cNvPr id="17" name="Shape 15"/>
          <p:cNvSpPr/>
          <p:nvPr/>
        </p:nvSpPr>
        <p:spPr>
          <a:xfrm>
            <a:off x="4572000" y="2560320"/>
            <a:ext cx="0" cy="1828800"/>
          </a:xfrm>
          <a:prstGeom prst="line">
            <a:avLst/>
          </a:prstGeom>
          <a:noFill/>
          <a:ln w="10160">
            <a:solidFill>
              <a:srgbClr val="030A18"/>
            </a:solidFill>
            <a:prstDash val="solid"/>
          </a:ln>
        </p:spPr>
        <p:txBody>
          <a:bodyPr/>
          <a:lstStyle/>
          <a:p>
            <a:endParaRPr/>
          </a:p>
        </p:txBody>
      </p:sp>
      <p:sp>
        <p:nvSpPr>
          <p:cNvPr id="18" name="Shape 16"/>
          <p:cNvSpPr/>
          <p:nvPr/>
        </p:nvSpPr>
        <p:spPr>
          <a:xfrm>
            <a:off x="1097280" y="4114800"/>
            <a:ext cx="182880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19" name="Text 17"/>
          <p:cNvSpPr/>
          <p:nvPr/>
        </p:nvSpPr>
        <p:spPr>
          <a:xfrm>
            <a:off x="1097280" y="4251960"/>
            <a:ext cx="1828800" cy="274320"/>
          </a:xfrm>
          <a:prstGeom prst="rect">
            <a:avLst/>
          </a:prstGeom>
          <a:noFill/>
          <a:ln/>
        </p:spPr>
        <p:txBody>
          <a:bodyPr wrap="square" rtlCol="0" anchor="ctr"/>
          <a:lstStyle/>
          <a:p>
            <a:pPr marL="0" indent="0" algn="ctr">
              <a:buNone/>
            </a:pPr>
            <a:r>
              <a:rPr lang="en-US" sz="1000" dirty="0">
                <a:solidFill>
                  <a:srgbClr val="030A18"/>
                </a:solidFill>
              </a:rPr>
              <a:t>Edge Functions (Deno)</a:t>
            </a:r>
            <a:endParaRPr lang="en-US" sz="1000" dirty="0"/>
          </a:p>
        </p:txBody>
      </p:sp>
      <p:sp>
        <p:nvSpPr>
          <p:cNvPr id="20" name="Shape 18"/>
          <p:cNvSpPr/>
          <p:nvPr/>
        </p:nvSpPr>
        <p:spPr>
          <a:xfrm>
            <a:off x="4572000" y="2560320"/>
            <a:ext cx="3566160" cy="1828800"/>
          </a:xfrm>
          <a:prstGeom prst="line">
            <a:avLst/>
          </a:prstGeom>
          <a:noFill/>
          <a:ln w="10160">
            <a:solidFill>
              <a:srgbClr val="030A18"/>
            </a:solidFill>
            <a:prstDash val="solid"/>
          </a:ln>
        </p:spPr>
        <p:txBody>
          <a:bodyPr/>
          <a:lstStyle/>
          <a:p>
            <a:endParaRPr/>
          </a:p>
        </p:txBody>
      </p:sp>
      <p:sp>
        <p:nvSpPr>
          <p:cNvPr id="21" name="Shape 19"/>
          <p:cNvSpPr/>
          <p:nvPr/>
        </p:nvSpPr>
        <p:spPr>
          <a:xfrm>
            <a:off x="7223760" y="4114800"/>
            <a:ext cx="182880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22" name="Text 20"/>
          <p:cNvSpPr/>
          <p:nvPr/>
        </p:nvSpPr>
        <p:spPr>
          <a:xfrm>
            <a:off x="7223760" y="4251960"/>
            <a:ext cx="1828800" cy="274320"/>
          </a:xfrm>
          <a:prstGeom prst="rect">
            <a:avLst/>
          </a:prstGeom>
          <a:noFill/>
          <a:ln/>
        </p:spPr>
        <p:txBody>
          <a:bodyPr wrap="square" rtlCol="0" anchor="ctr"/>
          <a:lstStyle/>
          <a:p>
            <a:pPr marL="0" indent="0" algn="ctr">
              <a:buNone/>
            </a:pPr>
            <a:r>
              <a:rPr lang="en-US" sz="1000" dirty="0">
                <a:solidFill>
                  <a:srgbClr val="030A18"/>
                </a:solidFill>
              </a:rPr>
              <a:t>API Gateway (Kong)</a:t>
            </a:r>
            <a:endParaRPr lang="en-US" sz="1000" dirty="0"/>
          </a:p>
        </p:txBody>
      </p:sp>
      <p:sp>
        <p:nvSpPr>
          <p:cNvPr id="23" name="Text 21"/>
          <p:cNvSpPr/>
          <p:nvPr/>
        </p:nvSpPr>
        <p:spPr>
          <a:xfrm>
            <a:off x="5120638" y="0"/>
            <a:ext cx="2103121" cy="5669280"/>
          </a:xfrm>
          <a:prstGeom prst="rect">
            <a:avLst/>
          </a:prstGeom>
          <a:noFill/>
          <a:ln/>
        </p:spPr>
        <p:txBody>
          <a:bodyPr wrap="square" rtlCol="0" anchor="ctr"/>
          <a:lstStyle/>
          <a:p>
            <a:pPr marL="0" indent="0">
              <a:spcAft>
                <a:spcPts val="360"/>
              </a:spcAft>
              <a:buNone/>
            </a:pPr>
            <a:r>
              <a:rPr lang="en-US" sz="1600" b="1" dirty="0">
                <a:solidFill>
                  <a:srgbClr val="030A18"/>
                </a:solidFill>
              </a:rPr>
              <a:t>Components
</a:t>
            </a:r>
            <a:r>
              <a:rPr lang="en-US" sz="1200" dirty="0">
                <a:solidFill>
                  <a:srgbClr val="030A18"/>
                </a:solidFill>
              </a:rPr>
              <a:t>• GoTrue – Auth &amp; user </a:t>
            </a:r>
            <a:r>
              <a:rPr lang="en-US" sz="1200" dirty="0" err="1">
                <a:solidFill>
                  <a:srgbClr val="030A18"/>
                </a:solidFill>
              </a:rPr>
              <a:t>managementyour</a:t>
            </a:r>
            <a:r>
              <a:rPr lang="en-US" sz="1200" dirty="0">
                <a:solidFill>
                  <a:srgbClr val="030A18"/>
                </a:solidFill>
              </a:rPr>
              <a:t> tables
• Realtime – WebSocket server streaming database changes
• Storage – S3‑compatible object storage for files
• Edge Functions – Serverless functions executed in Deno
• postgres‑meta – Schema management API
• Supavisor – Connection pooling for scaling
• Kong – API gateway &amp; routing</a:t>
            </a:r>
            <a:endParaRPr lang="en-US" sz="1600" dirty="0"/>
          </a:p>
        </p:txBody>
      </p:sp>
      <p:sp>
        <p:nvSpPr>
          <p:cNvPr id="24" name="Text 2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[18]</a:t>
            </a:r>
            <a:r>
              <a:rPr lang="en-US" sz="600" dirty="0">
                <a:solidFill>
                  <a:srgbClr val="000000"/>
                </a:solidFill>
              </a:rPr>
              <a:t>   </a:t>
            </a:r>
            <a:r>
              <a:rPr lang="en-US" sz="600" u="sng" dirty="0">
                <a:solidFill>
                  <a:srgbClr val="97B1DF"/>
                </a:solidFill>
                <a:hlinkClick r:id="rId4"/>
              </a:rPr>
              <a:t>[19]</a:t>
            </a:r>
            <a:r>
              <a:rPr lang="en-US" sz="600" dirty="0">
                <a:solidFill>
                  <a:srgbClr val="000000"/>
                </a:solidFill>
              </a:rPr>
              <a:t>   </a:t>
            </a:r>
            <a:r>
              <a:rPr lang="en-US" sz="600" u="sng" dirty="0">
                <a:solidFill>
                  <a:srgbClr val="97B1DF"/>
                </a:solidFill>
                <a:hlinkClick r:id="rId5"/>
              </a:rPr>
              <a:t>[20]</a:t>
            </a:r>
            <a:r>
              <a:rPr lang="en-US" sz="600" dirty="0">
                <a:solidFill>
                  <a:srgbClr val="000000"/>
                </a:solidFill>
              </a:rPr>
              <a:t>   </a:t>
            </a:r>
            <a:r>
              <a:rPr lang="en-US" sz="600" u="sng" dirty="0">
                <a:solidFill>
                  <a:srgbClr val="97B1DF"/>
                </a:solidFill>
                <a:hlinkClick r:id="rId5"/>
              </a:rPr>
              <a:t>[21]</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Supabase &amp; PostgreSQL</a:t>
            </a:r>
            <a:endParaRPr lang="en-US" sz="2400" dirty="0"/>
          </a:p>
        </p:txBody>
      </p:sp>
      <p:sp>
        <p:nvSpPr>
          <p:cNvPr id="3" name="Text 1"/>
          <p:cNvSpPr/>
          <p:nvPr/>
        </p:nvSpPr>
        <p:spPr>
          <a:xfrm>
            <a:off x="548640" y="1554480"/>
            <a:ext cx="5029200" cy="2926080"/>
          </a:xfrm>
          <a:prstGeom prst="rect">
            <a:avLst/>
          </a:prstGeom>
          <a:noFill/>
          <a:ln/>
        </p:spPr>
        <p:txBody>
          <a:bodyPr wrap="square" rtlCol="0" anchor="ctr"/>
          <a:lstStyle/>
          <a:p>
            <a:pPr marL="0" indent="0">
              <a:spcAft>
                <a:spcPts val="360"/>
              </a:spcAft>
              <a:buNone/>
            </a:pPr>
            <a:r>
              <a:rPr lang="en-US" sz="1200" dirty="0">
                <a:solidFill>
                  <a:srgbClr val="030A18"/>
                </a:solidFill>
              </a:rPr>
              <a:t>• Supabase uses PostgreSQL as its core database – your SQL skills apply directly
• PostgREST exposes your tables as REST endpoints without writing controllers
• GoTrue provides JWT‑based authentication; integrates with row‑level security
• Realtime streams database changes via WebSockets using logical replication
• Supabase Studio and CLI simplify management, but you can always connect with psql</a:t>
            </a:r>
            <a:endParaRPr lang="en-US" sz="1200" dirty="0"/>
          </a:p>
        </p:txBody>
      </p:sp>
      <p:sp>
        <p:nvSpPr>
          <p:cNvPr id="4" name="Shape 2"/>
          <p:cNvSpPr/>
          <p:nvPr/>
        </p:nvSpPr>
        <p:spPr>
          <a:xfrm>
            <a:off x="6400800" y="2011680"/>
            <a:ext cx="1828800" cy="1097280"/>
          </a:xfrm>
          <a:prstGeom prst="cube">
            <a:avLst/>
          </a:prstGeom>
          <a:solidFill>
            <a:srgbClr val="97B1DF"/>
          </a:solidFill>
          <a:ln w="12700">
            <a:solidFill>
              <a:srgbClr val="97B1DF"/>
            </a:solidFill>
            <a:prstDash val="solid"/>
          </a:ln>
        </p:spPr>
        <p:txBody>
          <a:bodyPr/>
          <a:lstStyle/>
          <a:p>
            <a:endParaRPr/>
          </a:p>
        </p:txBody>
      </p:sp>
      <p:sp>
        <p:nvSpPr>
          <p:cNvPr id="5" name="Text 3"/>
          <p:cNvSpPr/>
          <p:nvPr/>
        </p:nvSpPr>
        <p:spPr>
          <a:xfrm>
            <a:off x="6400800" y="2377440"/>
            <a:ext cx="1828800" cy="548640"/>
          </a:xfrm>
          <a:prstGeom prst="rect">
            <a:avLst/>
          </a:prstGeom>
          <a:noFill/>
          <a:ln/>
        </p:spPr>
        <p:txBody>
          <a:bodyPr wrap="square" rtlCol="0" anchor="ctr"/>
          <a:lstStyle/>
          <a:p>
            <a:pPr marL="0" indent="0" algn="ctr">
              <a:buNone/>
            </a:pPr>
            <a:r>
              <a:rPr lang="en-US" sz="1600" dirty="0">
                <a:solidFill>
                  <a:srgbClr val="FFFFFF"/>
                </a:solidFill>
              </a:rPr>
              <a:t>Postgres</a:t>
            </a:r>
            <a:endParaRPr lang="en-US" sz="1600" dirty="0"/>
          </a:p>
        </p:txBody>
      </p:sp>
      <p:sp>
        <p:nvSpPr>
          <p:cNvPr id="6" name="Shape 4"/>
          <p:cNvSpPr/>
          <p:nvPr/>
        </p:nvSpPr>
        <p:spPr>
          <a:xfrm>
            <a:off x="6949440" y="1280160"/>
            <a:ext cx="914400" cy="548640"/>
          </a:xfrm>
          <a:prstGeom prst="ellipse">
            <a:avLst/>
          </a:prstGeom>
          <a:solidFill>
            <a:srgbClr val="A4B6B8"/>
          </a:solidFill>
          <a:ln w="12700">
            <a:solidFill>
              <a:srgbClr val="A4B6B8"/>
            </a:solidFill>
            <a:prstDash val="solid"/>
          </a:ln>
        </p:spPr>
        <p:txBody>
          <a:bodyPr/>
          <a:lstStyle/>
          <a:p>
            <a:endParaRPr/>
          </a:p>
        </p:txBody>
      </p:sp>
      <p:sp>
        <p:nvSpPr>
          <p:cNvPr id="7" name="Text 5"/>
          <p:cNvSpPr/>
          <p:nvPr/>
        </p:nvSpPr>
        <p:spPr>
          <a:xfrm>
            <a:off x="6949440" y="1417320"/>
            <a:ext cx="914400" cy="274320"/>
          </a:xfrm>
          <a:prstGeom prst="rect">
            <a:avLst/>
          </a:prstGeom>
          <a:noFill/>
          <a:ln/>
        </p:spPr>
        <p:txBody>
          <a:bodyPr wrap="square" rtlCol="0" anchor="ctr"/>
          <a:lstStyle/>
          <a:p>
            <a:pPr marL="0" indent="0" algn="ctr">
              <a:buNone/>
            </a:pPr>
            <a:r>
              <a:rPr lang="en-US" sz="1000" dirty="0">
                <a:solidFill>
                  <a:srgbClr val="030A18"/>
                </a:solidFill>
              </a:rPr>
              <a:t>Auth</a:t>
            </a:r>
            <a:endParaRPr lang="en-US" sz="1000" dirty="0"/>
          </a:p>
        </p:txBody>
      </p:sp>
      <p:sp>
        <p:nvSpPr>
          <p:cNvPr id="8" name="Shape 6"/>
          <p:cNvSpPr/>
          <p:nvPr/>
        </p:nvSpPr>
        <p:spPr>
          <a:xfrm>
            <a:off x="7406640" y="1828800"/>
            <a:ext cx="0" cy="731520"/>
          </a:xfrm>
          <a:prstGeom prst="line">
            <a:avLst/>
          </a:prstGeom>
          <a:noFill/>
          <a:ln w="7620">
            <a:solidFill>
              <a:srgbClr val="030A18"/>
            </a:solidFill>
            <a:prstDash val="solid"/>
          </a:ln>
        </p:spPr>
        <p:txBody>
          <a:bodyPr/>
          <a:lstStyle/>
          <a:p>
            <a:endParaRPr/>
          </a:p>
        </p:txBody>
      </p:sp>
      <p:sp>
        <p:nvSpPr>
          <p:cNvPr id="9" name="Shape 7"/>
          <p:cNvSpPr/>
          <p:nvPr/>
        </p:nvSpPr>
        <p:spPr>
          <a:xfrm>
            <a:off x="5486400" y="1828800"/>
            <a:ext cx="914400" cy="548640"/>
          </a:xfrm>
          <a:prstGeom prst="ellipse">
            <a:avLst/>
          </a:prstGeom>
          <a:solidFill>
            <a:srgbClr val="A4B6B8"/>
          </a:solidFill>
          <a:ln w="12700">
            <a:solidFill>
              <a:srgbClr val="A4B6B8"/>
            </a:solidFill>
            <a:prstDash val="solid"/>
          </a:ln>
        </p:spPr>
        <p:txBody>
          <a:bodyPr/>
          <a:lstStyle/>
          <a:p>
            <a:endParaRPr/>
          </a:p>
        </p:txBody>
      </p:sp>
      <p:sp>
        <p:nvSpPr>
          <p:cNvPr id="10" name="Text 8"/>
          <p:cNvSpPr/>
          <p:nvPr/>
        </p:nvSpPr>
        <p:spPr>
          <a:xfrm>
            <a:off x="5486400" y="1965960"/>
            <a:ext cx="914400" cy="274320"/>
          </a:xfrm>
          <a:prstGeom prst="rect">
            <a:avLst/>
          </a:prstGeom>
          <a:noFill/>
          <a:ln/>
        </p:spPr>
        <p:txBody>
          <a:bodyPr wrap="square" rtlCol="0" anchor="ctr"/>
          <a:lstStyle/>
          <a:p>
            <a:pPr marL="0" indent="0" algn="ctr">
              <a:buNone/>
            </a:pPr>
            <a:r>
              <a:rPr lang="en-US" sz="1000" dirty="0">
                <a:solidFill>
                  <a:srgbClr val="030A18"/>
                </a:solidFill>
              </a:rPr>
              <a:t>REST</a:t>
            </a:r>
            <a:endParaRPr lang="en-US" sz="1000" dirty="0"/>
          </a:p>
        </p:txBody>
      </p:sp>
      <p:sp>
        <p:nvSpPr>
          <p:cNvPr id="11" name="Shape 9"/>
          <p:cNvSpPr/>
          <p:nvPr/>
        </p:nvSpPr>
        <p:spPr>
          <a:xfrm>
            <a:off x="5943600" y="2377440"/>
            <a:ext cx="1371600" cy="182880"/>
          </a:xfrm>
          <a:prstGeom prst="line">
            <a:avLst/>
          </a:prstGeom>
          <a:noFill/>
          <a:ln w="7620">
            <a:solidFill>
              <a:srgbClr val="030A18"/>
            </a:solidFill>
            <a:prstDash val="solid"/>
          </a:ln>
        </p:spPr>
        <p:txBody>
          <a:bodyPr/>
          <a:lstStyle/>
          <a:p>
            <a:endParaRPr/>
          </a:p>
        </p:txBody>
      </p:sp>
      <p:sp>
        <p:nvSpPr>
          <p:cNvPr id="12" name="Shape 10"/>
          <p:cNvSpPr/>
          <p:nvPr/>
        </p:nvSpPr>
        <p:spPr>
          <a:xfrm>
            <a:off x="8229600" y="1828800"/>
            <a:ext cx="914400" cy="548640"/>
          </a:xfrm>
          <a:prstGeom prst="ellipse">
            <a:avLst/>
          </a:prstGeom>
          <a:solidFill>
            <a:srgbClr val="A4B6B8"/>
          </a:solidFill>
          <a:ln w="12700">
            <a:solidFill>
              <a:srgbClr val="A4B6B8"/>
            </a:solidFill>
            <a:prstDash val="solid"/>
          </a:ln>
        </p:spPr>
        <p:txBody>
          <a:bodyPr/>
          <a:lstStyle/>
          <a:p>
            <a:endParaRPr/>
          </a:p>
        </p:txBody>
      </p:sp>
      <p:sp>
        <p:nvSpPr>
          <p:cNvPr id="13" name="Text 11"/>
          <p:cNvSpPr/>
          <p:nvPr/>
        </p:nvSpPr>
        <p:spPr>
          <a:xfrm>
            <a:off x="8229600" y="1965960"/>
            <a:ext cx="914400" cy="274320"/>
          </a:xfrm>
          <a:prstGeom prst="rect">
            <a:avLst/>
          </a:prstGeom>
          <a:noFill/>
          <a:ln/>
        </p:spPr>
        <p:txBody>
          <a:bodyPr wrap="square" rtlCol="0" anchor="ctr"/>
          <a:lstStyle/>
          <a:p>
            <a:pPr marL="0" indent="0" algn="ctr">
              <a:buNone/>
            </a:pPr>
            <a:r>
              <a:rPr lang="en-US" sz="1000" dirty="0">
                <a:solidFill>
                  <a:srgbClr val="030A18"/>
                </a:solidFill>
              </a:rPr>
              <a:t>Realtime</a:t>
            </a:r>
            <a:endParaRPr lang="en-US" sz="1000" dirty="0"/>
          </a:p>
        </p:txBody>
      </p:sp>
      <p:sp>
        <p:nvSpPr>
          <p:cNvPr id="14" name="Shape 12"/>
          <p:cNvSpPr/>
          <p:nvPr/>
        </p:nvSpPr>
        <p:spPr>
          <a:xfrm>
            <a:off x="8686800" y="2377440"/>
            <a:ext cx="0" cy="182880"/>
          </a:xfrm>
          <a:prstGeom prst="line">
            <a:avLst/>
          </a:prstGeom>
          <a:noFill/>
          <a:ln w="7620">
            <a:solidFill>
              <a:srgbClr val="030A18"/>
            </a:solidFill>
            <a:prstDash val="solid"/>
          </a:ln>
        </p:spPr>
        <p:txBody>
          <a:bodyPr/>
          <a:lstStyle/>
          <a:p>
            <a:endParaRPr/>
          </a:p>
        </p:txBody>
      </p:sp>
      <p:sp>
        <p:nvSpPr>
          <p:cNvPr id="15" name="Shape 13"/>
          <p:cNvSpPr/>
          <p:nvPr/>
        </p:nvSpPr>
        <p:spPr>
          <a:xfrm>
            <a:off x="5943600" y="3474720"/>
            <a:ext cx="914400" cy="548640"/>
          </a:xfrm>
          <a:prstGeom prst="ellipse">
            <a:avLst/>
          </a:prstGeom>
          <a:solidFill>
            <a:srgbClr val="A4B6B8"/>
          </a:solidFill>
          <a:ln w="12700">
            <a:solidFill>
              <a:srgbClr val="A4B6B8"/>
            </a:solidFill>
            <a:prstDash val="solid"/>
          </a:ln>
        </p:spPr>
        <p:txBody>
          <a:bodyPr/>
          <a:lstStyle/>
          <a:p>
            <a:endParaRPr/>
          </a:p>
        </p:txBody>
      </p:sp>
      <p:sp>
        <p:nvSpPr>
          <p:cNvPr id="16" name="Text 14"/>
          <p:cNvSpPr/>
          <p:nvPr/>
        </p:nvSpPr>
        <p:spPr>
          <a:xfrm>
            <a:off x="5943600" y="3611880"/>
            <a:ext cx="914400" cy="274320"/>
          </a:xfrm>
          <a:prstGeom prst="rect">
            <a:avLst/>
          </a:prstGeom>
          <a:noFill/>
          <a:ln/>
        </p:spPr>
        <p:txBody>
          <a:bodyPr wrap="square" rtlCol="0" anchor="ctr"/>
          <a:lstStyle/>
          <a:p>
            <a:pPr marL="0" indent="0" algn="ctr">
              <a:buNone/>
            </a:pPr>
            <a:r>
              <a:rPr lang="en-US" sz="1000" dirty="0">
                <a:solidFill>
                  <a:srgbClr val="030A18"/>
                </a:solidFill>
              </a:rPr>
              <a:t>Storage</a:t>
            </a:r>
            <a:endParaRPr lang="en-US" sz="1000" dirty="0"/>
          </a:p>
        </p:txBody>
      </p:sp>
      <p:sp>
        <p:nvSpPr>
          <p:cNvPr id="17" name="Shape 15"/>
          <p:cNvSpPr/>
          <p:nvPr/>
        </p:nvSpPr>
        <p:spPr>
          <a:xfrm>
            <a:off x="6400800" y="4023360"/>
            <a:ext cx="914400" cy="0"/>
          </a:xfrm>
          <a:prstGeom prst="line">
            <a:avLst/>
          </a:prstGeom>
          <a:noFill/>
          <a:ln w="7620">
            <a:solidFill>
              <a:srgbClr val="030A18"/>
            </a:solidFill>
            <a:prstDash val="solid"/>
          </a:ln>
        </p:spPr>
        <p:txBody>
          <a:bodyPr/>
          <a:lstStyle/>
          <a:p>
            <a:endParaRPr/>
          </a:p>
        </p:txBody>
      </p:sp>
      <p:sp>
        <p:nvSpPr>
          <p:cNvPr id="18" name="Shape 16"/>
          <p:cNvSpPr/>
          <p:nvPr/>
        </p:nvSpPr>
        <p:spPr>
          <a:xfrm>
            <a:off x="7772400" y="3474720"/>
            <a:ext cx="914400" cy="548640"/>
          </a:xfrm>
          <a:prstGeom prst="ellipse">
            <a:avLst/>
          </a:prstGeom>
          <a:solidFill>
            <a:srgbClr val="A4B6B8"/>
          </a:solidFill>
          <a:ln w="12700">
            <a:solidFill>
              <a:srgbClr val="A4B6B8"/>
            </a:solidFill>
            <a:prstDash val="solid"/>
          </a:ln>
        </p:spPr>
        <p:txBody>
          <a:bodyPr/>
          <a:lstStyle/>
          <a:p>
            <a:endParaRPr/>
          </a:p>
        </p:txBody>
      </p:sp>
      <p:sp>
        <p:nvSpPr>
          <p:cNvPr id="19" name="Text 17"/>
          <p:cNvSpPr/>
          <p:nvPr/>
        </p:nvSpPr>
        <p:spPr>
          <a:xfrm>
            <a:off x="7772400" y="3611880"/>
            <a:ext cx="914400" cy="274320"/>
          </a:xfrm>
          <a:prstGeom prst="rect">
            <a:avLst/>
          </a:prstGeom>
          <a:noFill/>
          <a:ln/>
        </p:spPr>
        <p:txBody>
          <a:bodyPr wrap="square" rtlCol="0" anchor="ctr"/>
          <a:lstStyle/>
          <a:p>
            <a:pPr marL="0" indent="0" algn="ctr">
              <a:buNone/>
            </a:pPr>
            <a:r>
              <a:rPr lang="en-US" sz="1000" dirty="0">
                <a:solidFill>
                  <a:srgbClr val="030A18"/>
                </a:solidFill>
              </a:rPr>
              <a:t>Functions</a:t>
            </a:r>
            <a:endParaRPr lang="en-US" sz="1000" dirty="0"/>
          </a:p>
        </p:txBody>
      </p:sp>
      <p:sp>
        <p:nvSpPr>
          <p:cNvPr id="20" name="Shape 18"/>
          <p:cNvSpPr/>
          <p:nvPr/>
        </p:nvSpPr>
        <p:spPr>
          <a:xfrm>
            <a:off x="8229600" y="4023360"/>
            <a:ext cx="0" cy="0"/>
          </a:xfrm>
          <a:prstGeom prst="line">
            <a:avLst/>
          </a:prstGeom>
          <a:noFill/>
          <a:ln w="7620">
            <a:solidFill>
              <a:srgbClr val="030A18"/>
            </a:solidFill>
            <a:prstDash val="solid"/>
          </a:ln>
        </p:spPr>
        <p:txBody>
          <a:bodyPr/>
          <a:lstStyle/>
          <a:p>
            <a:endParaRPr/>
          </a:p>
        </p:txBody>
      </p:sp>
      <p:sp>
        <p:nvSpPr>
          <p:cNvPr id="21" name="Text 19"/>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[18]</a:t>
            </a:r>
            <a:r>
              <a:rPr lang="en-US" sz="600" dirty="0">
                <a:solidFill>
                  <a:srgbClr val="000000"/>
                </a:solidFill>
              </a:rPr>
              <a:t>   </a:t>
            </a:r>
            <a:r>
              <a:rPr lang="en-US" sz="600" u="sng" dirty="0">
                <a:solidFill>
                  <a:srgbClr val="97B1DF"/>
                </a:solidFill>
                <a:hlinkClick r:id="rId4"/>
              </a:rPr>
              <a:t>[19]</a:t>
            </a:r>
            <a:r>
              <a:rPr lang="en-US" sz="600" dirty="0">
                <a:solidFill>
                  <a:srgbClr val="000000"/>
                </a:solidFill>
              </a:rPr>
              <a:t>   </a:t>
            </a:r>
            <a:r>
              <a:rPr lang="en-US" sz="600" u="sng" dirty="0">
                <a:solidFill>
                  <a:srgbClr val="97B1DF"/>
                </a:solidFill>
                <a:hlinkClick r:id="rId5"/>
              </a:rPr>
              <a:t>[21]</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Supabase CLI Demo</a:t>
            </a:r>
            <a:endParaRPr lang="en-US" sz="2400" dirty="0"/>
          </a:p>
        </p:txBody>
      </p:sp>
      <p:sp>
        <p:nvSpPr>
          <p:cNvPr id="3" name="Shape 1"/>
          <p:cNvSpPr/>
          <p:nvPr/>
        </p:nvSpPr>
        <p:spPr>
          <a:xfrm>
            <a:off x="548640" y="1463040"/>
            <a:ext cx="5303520" cy="2926080"/>
          </a:xfrm>
          <a:prstGeom prst="roundRect">
            <a:avLst>
              <a:gd name="adj" fmla="val 1563"/>
            </a:avLst>
          </a:prstGeom>
          <a:solidFill>
            <a:srgbClr val="F5F5F5"/>
          </a:solidFill>
          <a:ln w="12700">
            <a:solidFill>
              <a:srgbClr val="97B1DF"/>
            </a:solidFill>
            <a:prstDash val="solid"/>
          </a:ln>
        </p:spPr>
        <p:txBody>
          <a:bodyPr/>
          <a:lstStyle/>
          <a:p>
            <a:endParaRPr/>
          </a:p>
        </p:txBody>
      </p:sp>
      <p:sp>
        <p:nvSpPr>
          <p:cNvPr id="4" name="Text 2"/>
          <p:cNvSpPr/>
          <p:nvPr/>
        </p:nvSpPr>
        <p:spPr>
          <a:xfrm>
            <a:off x="640080" y="1554480"/>
            <a:ext cx="5120640" cy="2743200"/>
          </a:xfrm>
          <a:prstGeom prst="rect">
            <a:avLst/>
          </a:prstGeom>
          <a:noFill/>
          <a:ln/>
        </p:spPr>
        <p:txBody>
          <a:bodyPr wrap="square" lIns="1270" tIns="1270" rIns="1270" bIns="1270" rtlCol="0" anchor="ctr"/>
          <a:lstStyle/>
          <a:p>
            <a:pPr marL="0" indent="0">
              <a:buNone/>
            </a:pPr>
            <a:r>
              <a:rPr lang="en-US" sz="1200" dirty="0">
                <a:solidFill>
                  <a:srgbClr val="6A9955"/>
                </a:solidFill>
                <a:latin typeface="Arial" pitchFamily="34" charset="0"/>
                <a:ea typeface="Arial" pitchFamily="34" charset="-122"/>
                <a:cs typeface="Arial" pitchFamily="34" charset="-120"/>
              </a:rPr>
              <a:t># Install the Supabase CLI</a:t>
            </a:r>
            <a:r>
              <a:rPr lang="en-US" sz="1200" dirty="0">
                <a:solidFill>
                  <a:srgbClr val="030A18"/>
                </a:solidFill>
                <a:latin typeface="Arial" pitchFamily="34" charset="0"/>
                <a:ea typeface="Arial" pitchFamily="34" charset="-122"/>
                <a:cs typeface="Arial" pitchFamily="34" charset="-120"/>
              </a:rPr>
              <a:t>
</a:t>
            </a:r>
            <a:r>
              <a:rPr lang="en-US" sz="1200" dirty="0">
                <a:solidFill>
                  <a:srgbClr val="795E26"/>
                </a:solidFill>
                <a:latin typeface="Arial" pitchFamily="34" charset="0"/>
                <a:ea typeface="Arial" pitchFamily="34" charset="-122"/>
                <a:cs typeface="Arial" pitchFamily="34" charset="-120"/>
              </a:rPr>
              <a:t>npm</a:t>
            </a:r>
            <a:r>
              <a:rPr lang="en-US" sz="1200" dirty="0">
                <a:solidFill>
                  <a:srgbClr val="030A18"/>
                </a:solidFill>
                <a:latin typeface="Arial" pitchFamily="34" charset="0"/>
                <a:ea typeface="Arial" pitchFamily="34" charset="-122"/>
                <a:cs typeface="Arial" pitchFamily="34" charset="-120"/>
              </a:rPr>
              <a:t> </a:t>
            </a:r>
            <a:r>
              <a:rPr lang="en-US" sz="1200" dirty="0">
                <a:solidFill>
                  <a:srgbClr val="795E26"/>
                </a:solidFill>
                <a:latin typeface="Arial" pitchFamily="34" charset="0"/>
                <a:ea typeface="Arial" pitchFamily="34" charset="-122"/>
                <a:cs typeface="Arial" pitchFamily="34" charset="-120"/>
              </a:rPr>
              <a:t>install</a:t>
            </a:r>
            <a:r>
              <a:rPr lang="en-US" sz="1200" dirty="0">
                <a:solidFill>
                  <a:srgbClr val="030A18"/>
                </a:solidFill>
                <a:latin typeface="Arial" pitchFamily="34" charset="0"/>
                <a:ea typeface="Arial" pitchFamily="34" charset="-122"/>
                <a:cs typeface="Arial" pitchFamily="34" charset="-120"/>
              </a:rPr>
              <a:t> -g supabase
</a:t>
            </a:r>
            <a:r>
              <a:rPr lang="en-US" sz="1200" dirty="0">
                <a:solidFill>
                  <a:srgbClr val="6A9955"/>
                </a:solidFill>
                <a:latin typeface="Arial" pitchFamily="34" charset="0"/>
                <a:ea typeface="Arial" pitchFamily="34" charset="-122"/>
                <a:cs typeface="Arial" pitchFamily="34" charset="-120"/>
              </a:rPr>
              <a:t># Initialise a new project</a:t>
            </a:r>
            <a:r>
              <a:rPr lang="en-US" sz="1200" dirty="0">
                <a:solidFill>
                  <a:srgbClr val="030A18"/>
                </a:solidFill>
                <a:latin typeface="Arial" pitchFamily="34" charset="0"/>
                <a:ea typeface="Arial" pitchFamily="34" charset="-122"/>
                <a:cs typeface="Arial" pitchFamily="34" charset="-120"/>
              </a:rPr>
              <a:t>
supabase init
</a:t>
            </a:r>
            <a:r>
              <a:rPr lang="en-US" sz="1200" dirty="0">
                <a:solidFill>
                  <a:srgbClr val="6A9955"/>
                </a:solidFill>
                <a:latin typeface="Arial" pitchFamily="34" charset="0"/>
                <a:ea typeface="Arial" pitchFamily="34" charset="-122"/>
                <a:cs typeface="Arial" pitchFamily="34" charset="-120"/>
              </a:rPr>
              <a:t># Start the local Supabase stack (PostgreSQL, auth, API etc.)</a:t>
            </a:r>
            <a:r>
              <a:rPr lang="en-US" sz="1200" dirty="0">
                <a:solidFill>
                  <a:srgbClr val="030A18"/>
                </a:solidFill>
                <a:latin typeface="Arial" pitchFamily="34" charset="0"/>
                <a:ea typeface="Arial" pitchFamily="34" charset="-122"/>
                <a:cs typeface="Arial" pitchFamily="34" charset="-120"/>
              </a:rPr>
              <a:t>
supabase start
</a:t>
            </a:r>
            <a:r>
              <a:rPr lang="en-US" sz="1200" dirty="0">
                <a:solidFill>
                  <a:srgbClr val="6A9955"/>
                </a:solidFill>
                <a:latin typeface="Arial" pitchFamily="34" charset="0"/>
                <a:ea typeface="Arial" pitchFamily="34" charset="-122"/>
                <a:cs typeface="Arial" pitchFamily="34" charset="-120"/>
              </a:rPr>
              <a:t># Connect to the local Postgres database using psql</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supabase db connect</a:t>
            </a:r>
            <a:endParaRPr lang="en-US" sz="1200" dirty="0"/>
          </a:p>
        </p:txBody>
      </p:sp>
      <p:sp>
        <p:nvSpPr>
          <p:cNvPr id="5" name="Text 3"/>
          <p:cNvSpPr/>
          <p:nvPr/>
        </p:nvSpPr>
        <p:spPr>
          <a:xfrm>
            <a:off x="6035040" y="1463040"/>
            <a:ext cx="3108960" cy="2926080"/>
          </a:xfrm>
          <a:prstGeom prst="rect">
            <a:avLst/>
          </a:prstGeom>
          <a:noFill/>
          <a:ln/>
        </p:spPr>
        <p:txBody>
          <a:bodyPr wrap="square" rtlCol="0" anchor="ctr"/>
          <a:lstStyle/>
          <a:p>
            <a:pPr marL="0" indent="0">
              <a:spcAft>
                <a:spcPts val="360"/>
              </a:spcAft>
              <a:buNone/>
            </a:pPr>
            <a:r>
              <a:rPr lang="en-US" sz="1600" b="1" dirty="0">
                <a:solidFill>
                  <a:srgbClr val="030A18"/>
                </a:solidFill>
              </a:rPr>
              <a:t>Install
</a:t>
            </a:r>
            <a:r>
              <a:rPr lang="en-US" sz="1200" dirty="0">
                <a:solidFill>
                  <a:srgbClr val="030A18"/>
                </a:solidFill>
              </a:rPr>
              <a:t>Get the CLI via npm – it only takes a moment
</a:t>
            </a:r>
            <a:r>
              <a:rPr lang="en-US" sz="1600" b="1" dirty="0">
                <a:solidFill>
                  <a:srgbClr val="030A18"/>
                </a:solidFill>
              </a:rPr>
              <a:t>Initialise
</a:t>
            </a:r>
            <a:r>
              <a:rPr lang="en-US" sz="1200" dirty="0">
                <a:solidFill>
                  <a:srgbClr val="030A18"/>
                </a:solidFill>
              </a:rPr>
              <a:t>Create a new project with configuration files and a local database
</a:t>
            </a:r>
            <a:r>
              <a:rPr lang="en-US" sz="1600" b="1" dirty="0">
                <a:solidFill>
                  <a:srgbClr val="030A18"/>
                </a:solidFill>
              </a:rPr>
              <a:t>Start
</a:t>
            </a:r>
            <a:r>
              <a:rPr lang="en-US" sz="1200" dirty="0">
                <a:solidFill>
                  <a:srgbClr val="030A18"/>
                </a:solidFill>
              </a:rPr>
              <a:t>Launch Postgres, GoTrue, PostgREST and Realtime locally so you can develop offline
</a:t>
            </a:r>
            <a:r>
              <a:rPr lang="en-US" sz="1600" b="1" dirty="0">
                <a:solidFill>
                  <a:srgbClr val="030A18"/>
                </a:solidFill>
              </a:rPr>
              <a:t>Connect
</a:t>
            </a:r>
            <a:r>
              <a:rPr lang="en-US" sz="1200" dirty="0">
                <a:solidFill>
                  <a:srgbClr val="030A18"/>
                </a:solidFill>
              </a:rPr>
              <a:t>Open a psql shell to the running Postgres instance and execute SQL</a:t>
            </a:r>
            <a:endParaRPr lang="en-US" sz="1600" dirty="0"/>
          </a:p>
        </p:txBody>
      </p:sp>
      <p:sp>
        <p:nvSpPr>
          <p:cNvPr id="6" name="Text 4"/>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[21]</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Summary &amp; Key Takeaways</a:t>
            </a:r>
            <a:endParaRPr lang="en-US" sz="2400" dirty="0"/>
          </a:p>
        </p:txBody>
      </p:sp>
      <p:sp>
        <p:nvSpPr>
          <p:cNvPr id="3" name="Text 1"/>
          <p:cNvSpPr/>
          <p:nvPr/>
        </p:nvSpPr>
        <p:spPr>
          <a:xfrm>
            <a:off x="548640" y="1554480"/>
            <a:ext cx="8229600" cy="3200400"/>
          </a:xfrm>
          <a:prstGeom prst="rect">
            <a:avLst/>
          </a:prstGeom>
          <a:noFill/>
          <a:ln/>
        </p:spPr>
        <p:txBody>
          <a:bodyPr wrap="square" rtlCol="0" anchor="ctr"/>
          <a:lstStyle/>
          <a:p>
            <a:pPr marL="0" indent="0">
              <a:spcAft>
                <a:spcPts val="360"/>
              </a:spcAft>
              <a:buNone/>
            </a:pPr>
            <a:r>
              <a:rPr lang="en-US" sz="1200" dirty="0">
                <a:solidFill>
                  <a:srgbClr val="030A18"/>
                </a:solidFill>
              </a:rPr>
              <a:t>• PostgreSQL uses a client–server architecture with isolated backends
• Clusters contain multiple databases; each database groups schemas &amp; objects
• Physical files, shared buffers and WAL segments underpin performance &amp; durability
• Autovacuum, writers and checkpointers work continuously behind the scenes
• Transactions obey ACID; MVCC enables high concurrency
• System catalogs provide metadata; never modify them directly
• Supabase builds on Postgres, adding auth, REST, realtime &amp; storage services</a:t>
            </a:r>
            <a:endParaRPr lang="en-US" sz="1200" dirty="0"/>
          </a:p>
        </p:txBody>
      </p:sp>
      <p:sp>
        <p:nvSpPr>
          <p:cNvPr id="4" name="Text 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a:t>
            </a:r>
            <a:r>
              <a:rPr lang="en-US" sz="600" dirty="0">
                <a:solidFill>
                  <a:srgbClr val="000000"/>
                </a:solidFill>
              </a:rPr>
              <a:t>   </a:t>
            </a:r>
            <a:r>
              <a:rPr lang="en-US" sz="600" u="sng" dirty="0">
                <a:solidFill>
                  <a:srgbClr val="97B1DF"/>
                </a:solidFill>
                <a:hlinkClick r:id="rId4"/>
              </a:rPr>
              <a:t>[11]</a:t>
            </a:r>
            <a:r>
              <a:rPr lang="en-US" sz="600" dirty="0">
                <a:solidFill>
                  <a:srgbClr val="000000"/>
                </a:solidFill>
              </a:rPr>
              <a:t>   </a:t>
            </a:r>
            <a:r>
              <a:rPr lang="en-US" sz="600" u="sng" dirty="0">
                <a:solidFill>
                  <a:srgbClr val="97B1DF"/>
                </a:solidFill>
                <a:hlinkClick r:id="rId5"/>
              </a:rPr>
              <a:t>[10]</a:t>
            </a:r>
            <a:r>
              <a:rPr lang="en-US" sz="600" dirty="0">
                <a:solidFill>
                  <a:srgbClr val="000000"/>
                </a:solidFill>
              </a:rPr>
              <a:t>   </a:t>
            </a:r>
            <a:r>
              <a:rPr lang="en-US" sz="600" u="sng" dirty="0">
                <a:solidFill>
                  <a:srgbClr val="97B1DF"/>
                </a:solidFill>
                <a:hlinkClick r:id="rId6"/>
              </a:rPr>
              <a:t>[2]</a:t>
            </a:r>
            <a:r>
              <a:rPr lang="en-US" sz="600" dirty="0">
                <a:solidFill>
                  <a:srgbClr val="000000"/>
                </a:solidFill>
              </a:rPr>
              <a:t>   </a:t>
            </a:r>
            <a:r>
              <a:rPr lang="en-US" sz="600" u="sng" dirty="0">
                <a:solidFill>
                  <a:srgbClr val="97B1DF"/>
                </a:solidFill>
                <a:hlinkClick r:id="rId7"/>
              </a:rPr>
              <a:t>[14]</a:t>
            </a:r>
            <a:r>
              <a:rPr lang="en-US" sz="600" dirty="0">
                <a:solidFill>
                  <a:srgbClr val="000000"/>
                </a:solidFill>
              </a:rPr>
              <a:t>   </a:t>
            </a:r>
            <a:r>
              <a:rPr lang="en-US" sz="600" u="sng" dirty="0">
                <a:solidFill>
                  <a:srgbClr val="97B1DF"/>
                </a:solidFill>
                <a:hlinkClick r:id="rId8"/>
              </a:rPr>
              <a:t>[16]</a:t>
            </a:r>
            <a:r>
              <a:rPr lang="en-US" sz="600" dirty="0">
                <a:solidFill>
                  <a:srgbClr val="000000"/>
                </a:solidFill>
              </a:rPr>
              <a:t>   </a:t>
            </a:r>
            <a:r>
              <a:rPr lang="en-US" sz="600" u="sng" dirty="0">
                <a:solidFill>
                  <a:srgbClr val="97B1DF"/>
                </a:solidFill>
                <a:hlinkClick r:id="rId9"/>
              </a:rPr>
              <a:t>[17]</a:t>
            </a:r>
            <a:r>
              <a:rPr lang="en-US" sz="600" dirty="0">
                <a:solidFill>
                  <a:srgbClr val="000000"/>
                </a:solidFill>
              </a:rPr>
              <a:t>   </a:t>
            </a:r>
            <a:r>
              <a:rPr lang="en-US" sz="600" u="sng" dirty="0">
                <a:solidFill>
                  <a:srgbClr val="97B1DF"/>
                </a:solidFill>
                <a:hlinkClick r:id="rId10"/>
              </a:rPr>
              <a:t>[18]</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Discussion &amp; Questions</a:t>
            </a:r>
            <a:endParaRPr lang="en-US" sz="2400" dirty="0"/>
          </a:p>
        </p:txBody>
      </p:sp>
      <p:sp>
        <p:nvSpPr>
          <p:cNvPr id="3" name="Text 1"/>
          <p:cNvSpPr/>
          <p:nvPr/>
        </p:nvSpPr>
        <p:spPr>
          <a:xfrm>
            <a:off x="548640" y="1554480"/>
            <a:ext cx="8229600" cy="3474720"/>
          </a:xfrm>
          <a:prstGeom prst="rect">
            <a:avLst/>
          </a:prstGeom>
          <a:noFill/>
          <a:ln/>
        </p:spPr>
        <p:txBody>
          <a:bodyPr wrap="square" rtlCol="0" anchor="ctr"/>
          <a:lstStyle/>
          <a:p>
            <a:pPr marL="0" indent="0">
              <a:buNone/>
            </a:pPr>
            <a:r>
              <a:rPr lang="en-US" sz="1200" b="1" dirty="0">
                <a:solidFill>
                  <a:srgbClr val="030A18"/>
                </a:solidFill>
              </a:rPr>
              <a:t>1. What tasks does the autovacuum process perform and why is it important?
2. How does MVCC allow concurrent reads and writes without locking?
3. Explain the difference between a cluster, a database and a schema.
4. During a crash recovery, what role does WAL play?
5. How does Supabase expose PostgreSQL to the developer while adding value?</a:t>
            </a:r>
            <a:endParaRPr lang="en-US" sz="1200" dirty="0"/>
          </a:p>
        </p:txBody>
      </p:sp>
      <p:sp>
        <p:nvSpPr>
          <p:cNvPr id="4" name="Text 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a:t>
            </a:r>
            <a:r>
              <a:rPr lang="en-US" sz="600" dirty="0">
                <a:solidFill>
                  <a:srgbClr val="000000"/>
                </a:solidFill>
              </a:rPr>
              <a:t>   </a:t>
            </a:r>
            <a:r>
              <a:rPr lang="en-US" sz="600" u="sng" dirty="0">
                <a:solidFill>
                  <a:srgbClr val="97B1DF"/>
                </a:solidFill>
                <a:hlinkClick r:id="rId4"/>
              </a:rPr>
              <a:t>[16]</a:t>
            </a:r>
            <a:r>
              <a:rPr lang="en-US" sz="600" dirty="0">
                <a:solidFill>
                  <a:srgbClr val="000000"/>
                </a:solidFill>
              </a:rPr>
              <a:t>   </a:t>
            </a:r>
            <a:r>
              <a:rPr lang="en-US" sz="600" u="sng" dirty="0">
                <a:solidFill>
                  <a:srgbClr val="97B1DF"/>
                </a:solidFill>
                <a:hlinkClick r:id="rId5"/>
              </a:rPr>
              <a:t>[11]</a:t>
            </a:r>
            <a:r>
              <a:rPr lang="en-US" sz="600" dirty="0">
                <a:solidFill>
                  <a:srgbClr val="000000"/>
                </a:solidFill>
              </a:rPr>
              <a:t>   </a:t>
            </a:r>
            <a:r>
              <a:rPr lang="en-US" sz="600" u="sng" dirty="0">
                <a:solidFill>
                  <a:srgbClr val="97B1DF"/>
                </a:solidFill>
                <a:hlinkClick r:id="rId6"/>
              </a:rPr>
              <a:t>[14]</a:t>
            </a:r>
            <a:r>
              <a:rPr lang="en-US" sz="600" dirty="0">
                <a:solidFill>
                  <a:srgbClr val="000000"/>
                </a:solidFill>
              </a:rPr>
              <a:t>   </a:t>
            </a:r>
            <a:r>
              <a:rPr lang="en-US" sz="600" u="sng" dirty="0">
                <a:solidFill>
                  <a:srgbClr val="97B1DF"/>
                </a:solidFill>
                <a:hlinkClick r:id="rId7"/>
              </a:rPr>
              <a:t>[18]</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Resources &amp; Next Steps</a:t>
            </a:r>
            <a:endParaRPr lang="en-US" sz="2400" dirty="0"/>
          </a:p>
        </p:txBody>
      </p:sp>
      <p:sp>
        <p:nvSpPr>
          <p:cNvPr id="3" name="Text 1"/>
          <p:cNvSpPr/>
          <p:nvPr/>
        </p:nvSpPr>
        <p:spPr>
          <a:xfrm>
            <a:off x="548640" y="1645920"/>
            <a:ext cx="8229600" cy="3200400"/>
          </a:xfrm>
          <a:prstGeom prst="rect">
            <a:avLst/>
          </a:prstGeom>
          <a:noFill/>
          <a:ln/>
        </p:spPr>
        <p:txBody>
          <a:bodyPr wrap="square" rtlCol="0" anchor="ctr"/>
          <a:lstStyle/>
          <a:p>
            <a:pPr marL="0" indent="0">
              <a:buNone/>
            </a:pPr>
            <a:r>
              <a:rPr lang="en-US" sz="1200" dirty="0">
                <a:solidFill>
                  <a:srgbClr val="030A18"/>
                </a:solidFill>
              </a:rPr>
              <a:t>• PostgreSQL Wikibook: Architecture, Processes, RAM &amp; Files; Transactions &amp; MVCC
• PostgreSQL Manual: Chapter ‘Overview of PostgreSQL Architecture’
• Explore the system catalogs using psql: try "SELECT * FROM pg_class LIMIT 5;"
• Read Supabase docs on architecture, authentication, storage and realtime
• Experiment with the Supabase CLI on your machine</a:t>
            </a:r>
            <a:endParaRPr lang="en-US" sz="1200" dirty="0"/>
          </a:p>
        </p:txBody>
      </p:sp>
      <p:sp>
        <p:nvSpPr>
          <p:cNvPr id="4" name="Text 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[14]</a:t>
            </a:r>
            <a:r>
              <a:rPr lang="en-US" sz="600" dirty="0">
                <a:solidFill>
                  <a:srgbClr val="000000"/>
                </a:solidFill>
              </a:rPr>
              <a:t>   </a:t>
            </a:r>
            <a:r>
              <a:rPr lang="en-US" sz="600" u="sng" dirty="0">
                <a:solidFill>
                  <a:srgbClr val="97B1DF"/>
                </a:solidFill>
                <a:hlinkClick r:id="rId4"/>
              </a:rPr>
              <a:t>[15]</a:t>
            </a:r>
            <a:r>
              <a:rPr lang="en-US" sz="600" dirty="0">
                <a:solidFill>
                  <a:srgbClr val="000000"/>
                </a:solidFill>
              </a:rPr>
              <a:t>   </a:t>
            </a:r>
            <a:r>
              <a:rPr lang="en-US" sz="600" u="sng" dirty="0">
                <a:solidFill>
                  <a:srgbClr val="97B1DF"/>
                </a:solidFill>
                <a:hlinkClick r:id="rId5"/>
              </a:rPr>
              <a:t>[16]</a:t>
            </a:r>
            <a:r>
              <a:rPr lang="en-US" sz="600" dirty="0">
                <a:solidFill>
                  <a:srgbClr val="000000"/>
                </a:solidFill>
              </a:rPr>
              <a:t>   </a:t>
            </a:r>
            <a:r>
              <a:rPr lang="en-US" sz="600" u="sng" dirty="0">
                <a:solidFill>
                  <a:srgbClr val="97B1DF"/>
                </a:solidFill>
                <a:hlinkClick r:id="rId6"/>
              </a:rPr>
              <a:t>[21]</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Relational Model &amp; Keys</a:t>
            </a:r>
            <a:endParaRPr lang="en-US" sz="2400" dirty="0"/>
          </a:p>
        </p:txBody>
      </p:sp>
      <p:sp>
        <p:nvSpPr>
          <p:cNvPr id="3" name="Shape 1"/>
          <p:cNvSpPr/>
          <p:nvPr/>
        </p:nvSpPr>
        <p:spPr>
          <a:xfrm>
            <a:off x="914400" y="1828800"/>
            <a:ext cx="2286000" cy="1280160"/>
          </a:xfrm>
          <a:prstGeom prst="roundRect">
            <a:avLst>
              <a:gd name="adj" fmla="val 3571"/>
            </a:avLst>
          </a:prstGeom>
          <a:solidFill>
            <a:srgbClr val="F5F5F5"/>
          </a:solidFill>
          <a:ln w="12700">
            <a:solidFill>
              <a:srgbClr val="97B1DF"/>
            </a:solidFill>
            <a:prstDash val="solid"/>
          </a:ln>
        </p:spPr>
        <p:txBody>
          <a:bodyPr/>
          <a:lstStyle/>
          <a:p>
            <a:endParaRPr/>
          </a:p>
        </p:txBody>
      </p:sp>
      <p:sp>
        <p:nvSpPr>
          <p:cNvPr id="4" name="Text 2"/>
          <p:cNvSpPr/>
          <p:nvPr/>
        </p:nvSpPr>
        <p:spPr>
          <a:xfrm>
            <a:off x="960120" y="1920240"/>
            <a:ext cx="2194560" cy="1188720"/>
          </a:xfrm>
          <a:prstGeom prst="rect">
            <a:avLst/>
          </a:prstGeom>
          <a:noFill/>
          <a:ln/>
        </p:spPr>
        <p:txBody>
          <a:bodyPr wrap="square" rtlCol="0" anchor="ctr"/>
          <a:lstStyle/>
          <a:p>
            <a:pPr marL="0" indent="0">
              <a:buNone/>
            </a:pPr>
            <a:r>
              <a:rPr lang="en-US" sz="1600" b="1" dirty="0">
                <a:solidFill>
                  <a:srgbClr val="030A18"/>
                </a:solidFill>
              </a:rPr>
              <a:t>Customers</a:t>
            </a:r>
            <a:endParaRPr lang="en-US" sz="1600" dirty="0"/>
          </a:p>
          <a:p>
            <a:pPr marL="0" indent="0">
              <a:buNone/>
            </a:pPr>
            <a:r>
              <a:rPr lang="en-US" sz="1000" dirty="0">
                <a:solidFill>
                  <a:srgbClr val="030A18"/>
                </a:solidFill>
              </a:rPr>
              <a:t>customer_id (PK)</a:t>
            </a:r>
            <a:endParaRPr lang="en-US" sz="1600" dirty="0"/>
          </a:p>
          <a:p>
            <a:pPr marL="0" indent="0">
              <a:buNone/>
            </a:pPr>
            <a:r>
              <a:rPr lang="en-US" sz="1000" dirty="0">
                <a:solidFill>
                  <a:srgbClr val="030A18"/>
                </a:solidFill>
              </a:rPr>
              <a:t>name</a:t>
            </a:r>
            <a:endParaRPr lang="en-US" sz="1600" dirty="0"/>
          </a:p>
          <a:p>
            <a:pPr marL="0" indent="0">
              <a:buNone/>
            </a:pPr>
            <a:r>
              <a:rPr lang="en-US" sz="1000" dirty="0">
                <a:solidFill>
                  <a:srgbClr val="030A18"/>
                </a:solidFill>
              </a:rPr>
              <a:t>email</a:t>
            </a:r>
            <a:endParaRPr lang="en-US" sz="1600" dirty="0"/>
          </a:p>
        </p:txBody>
      </p:sp>
      <p:sp>
        <p:nvSpPr>
          <p:cNvPr id="5" name="Shape 3"/>
          <p:cNvSpPr/>
          <p:nvPr/>
        </p:nvSpPr>
        <p:spPr>
          <a:xfrm>
            <a:off x="5486400" y="1828800"/>
            <a:ext cx="2286000" cy="1280160"/>
          </a:xfrm>
          <a:prstGeom prst="roundRect">
            <a:avLst>
              <a:gd name="adj" fmla="val 3571"/>
            </a:avLst>
          </a:prstGeom>
          <a:solidFill>
            <a:srgbClr val="A4B6B8"/>
          </a:solidFill>
          <a:ln w="12700">
            <a:solidFill>
              <a:srgbClr val="A4B6B8"/>
            </a:solidFill>
            <a:prstDash val="solid"/>
          </a:ln>
        </p:spPr>
        <p:txBody>
          <a:bodyPr/>
          <a:lstStyle/>
          <a:p>
            <a:endParaRPr/>
          </a:p>
        </p:txBody>
      </p:sp>
      <p:sp>
        <p:nvSpPr>
          <p:cNvPr id="6" name="Text 4"/>
          <p:cNvSpPr/>
          <p:nvPr/>
        </p:nvSpPr>
        <p:spPr>
          <a:xfrm>
            <a:off x="5532120" y="1920240"/>
            <a:ext cx="2194560" cy="1188720"/>
          </a:xfrm>
          <a:prstGeom prst="rect">
            <a:avLst/>
          </a:prstGeom>
          <a:noFill/>
          <a:ln/>
        </p:spPr>
        <p:txBody>
          <a:bodyPr wrap="square" rtlCol="0" anchor="ctr"/>
          <a:lstStyle/>
          <a:p>
            <a:pPr marL="0" indent="0">
              <a:buNone/>
            </a:pPr>
            <a:r>
              <a:rPr lang="en-US" sz="1600" b="1" dirty="0">
                <a:solidFill>
                  <a:srgbClr val="030A18"/>
                </a:solidFill>
              </a:rPr>
              <a:t>Orders</a:t>
            </a:r>
            <a:endParaRPr lang="en-US" sz="1600" dirty="0"/>
          </a:p>
          <a:p>
            <a:pPr marL="0" indent="0">
              <a:buNone/>
            </a:pPr>
            <a:r>
              <a:rPr lang="en-US" sz="1000" dirty="0">
                <a:solidFill>
                  <a:srgbClr val="030A18"/>
                </a:solidFill>
              </a:rPr>
              <a:t>order_id (PK)</a:t>
            </a:r>
            <a:endParaRPr lang="en-US" sz="1600" dirty="0"/>
          </a:p>
          <a:p>
            <a:pPr marL="0" indent="0">
              <a:buNone/>
            </a:pPr>
            <a:r>
              <a:rPr lang="en-US" sz="1000" dirty="0">
                <a:solidFill>
                  <a:srgbClr val="030A18"/>
                </a:solidFill>
              </a:rPr>
              <a:t>customer_id (FK)</a:t>
            </a:r>
            <a:endParaRPr lang="en-US" sz="1600" dirty="0"/>
          </a:p>
          <a:p>
            <a:pPr marL="0" indent="0">
              <a:buNone/>
            </a:pPr>
            <a:r>
              <a:rPr lang="en-US" sz="1000" dirty="0">
                <a:solidFill>
                  <a:srgbClr val="030A18"/>
                </a:solidFill>
              </a:rPr>
              <a:t>order_date</a:t>
            </a:r>
            <a:endParaRPr lang="en-US" sz="1600" dirty="0"/>
          </a:p>
        </p:txBody>
      </p:sp>
      <p:sp>
        <p:nvSpPr>
          <p:cNvPr id="7" name="Shape 5"/>
          <p:cNvSpPr/>
          <p:nvPr/>
        </p:nvSpPr>
        <p:spPr>
          <a:xfrm>
            <a:off x="3200400" y="2560320"/>
            <a:ext cx="2286000" cy="0"/>
          </a:xfrm>
          <a:prstGeom prst="line">
            <a:avLst/>
          </a:prstGeom>
          <a:noFill/>
          <a:ln w="15240">
            <a:solidFill>
              <a:srgbClr val="030A18"/>
            </a:solidFill>
            <a:prstDash val="solid"/>
          </a:ln>
        </p:spPr>
        <p:txBody>
          <a:bodyPr/>
          <a:lstStyle/>
          <a:p>
            <a:endParaRPr/>
          </a:p>
        </p:txBody>
      </p:sp>
      <p:sp>
        <p:nvSpPr>
          <p:cNvPr id="8" name="Text 6"/>
          <p:cNvSpPr/>
          <p:nvPr/>
        </p:nvSpPr>
        <p:spPr>
          <a:xfrm>
            <a:off x="4160520" y="2468880"/>
            <a:ext cx="365760" cy="365760"/>
          </a:xfrm>
          <a:prstGeom prst="rect">
            <a:avLst/>
          </a:prstGeom>
          <a:noFill/>
          <a:ln/>
        </p:spPr>
        <p:txBody>
          <a:bodyPr wrap="square" rtlCol="0" anchor="ctr"/>
          <a:lstStyle/>
          <a:p>
            <a:pPr marL="0" indent="0" algn="ctr">
              <a:buNone/>
            </a:pPr>
            <a:r>
              <a:rPr lang="en-US" sz="1000" dirty="0">
                <a:solidFill>
                  <a:srgbClr val="030A18"/>
                </a:solidFill>
              </a:rPr>
              <a:t>FK</a:t>
            </a:r>
            <a:endParaRPr lang="en-US" sz="1000" dirty="0"/>
          </a:p>
        </p:txBody>
      </p:sp>
      <p:sp>
        <p:nvSpPr>
          <p:cNvPr id="9" name="Text 7"/>
          <p:cNvSpPr/>
          <p:nvPr/>
        </p:nvSpPr>
        <p:spPr>
          <a:xfrm>
            <a:off x="548640" y="3657600"/>
            <a:ext cx="8229600" cy="1645920"/>
          </a:xfrm>
          <a:prstGeom prst="rect">
            <a:avLst/>
          </a:prstGeom>
          <a:noFill/>
          <a:ln/>
        </p:spPr>
        <p:txBody>
          <a:bodyPr wrap="square" rtlCol="0" anchor="ctr"/>
          <a:lstStyle/>
          <a:p>
            <a:pPr marL="0" indent="0">
              <a:spcAft>
                <a:spcPts val="360"/>
              </a:spcAft>
              <a:buNone/>
            </a:pPr>
            <a:r>
              <a:rPr lang="en-US" sz="1200" dirty="0">
                <a:solidFill>
                  <a:srgbClr val="030A18"/>
                </a:solidFill>
              </a:rPr>
              <a:t>• A relational database stores data in tables (relations) with rows and columns
• Each table has a primary key (PK) that uniquely identifies each row
• Foreign keys (FK) enforce relationships between tables, referencing a primary key in another table
• Relationships support JOIN operations and maintain referential integrity</a:t>
            </a:r>
            <a:endParaRPr lang="en-US" sz="1200" dirty="0"/>
          </a:p>
        </p:txBody>
      </p:sp>
      <p:sp>
        <p:nvSpPr>
          <p:cNvPr id="10" name="Text 8"/>
          <p:cNvSpPr/>
          <p:nvPr/>
        </p:nvSpPr>
        <p:spPr>
          <a:xfrm>
            <a:off x="274320" y="4777740"/>
            <a:ext cx="8595360" cy="228600"/>
          </a:xfrm>
          <a:prstGeom prst="rect">
            <a:avLst/>
          </a:prstGeom>
          <a:noFill/>
          <a:ln/>
        </p:spPr>
        <p:txBody>
          <a:bodyPr wrap="square" lIns="0" tIns="0" rIns="0" bIns="0" rtlCol="0" anchor="ctr"/>
          <a:lstStyle/>
          <a:p>
            <a:pPr marL="0" indent="0">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Normalization &amp; Normal Forms</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937760" cy="975360"/>
        </p:xfrm>
        <a:graphic>
          <a:graphicData uri="http://schemas.openxmlformats.org/drawingml/2006/table">
            <a:tbl>
              <a:tblPr/>
              <a:tblGrid>
                <a:gridCol w="10972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0">
                <a:tc>
                  <a:txBody>
                    <a:bodyPr/>
                    <a:lstStyle/>
                    <a:p>
                      <a:pPr marL="0" indent="0">
                        <a:buNone/>
                      </a:pPr>
                      <a:r>
                        <a:rPr lang="en-US" sz="800" b="1" dirty="0">
                          <a:solidFill>
                            <a:srgbClr val="030A18"/>
                          </a:solidFill>
                        </a:rPr>
                        <a:t>Normal Form</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b="1" dirty="0">
                          <a:solidFill>
                            <a:srgbClr val="030A18"/>
                          </a:solidFill>
                        </a:rPr>
                        <a:t>Definition</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0">
                <a:tc>
                  <a:txBody>
                    <a:bodyPr/>
                    <a:lstStyle/>
                    <a:p>
                      <a:pPr marL="0" indent="0">
                        <a:buNone/>
                      </a:pPr>
                      <a:r>
                        <a:rPr lang="en-US" sz="800" dirty="0">
                          <a:solidFill>
                            <a:srgbClr val="030A18"/>
                          </a:solidFill>
                        </a:rPr>
                        <a:t>1NF</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All attributes contain only atomic (indivisible) values; no repeating groups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0">
                <a:tc>
                  <a:txBody>
                    <a:bodyPr/>
                    <a:lstStyle/>
                    <a:p>
                      <a:pPr marL="0" indent="0">
                        <a:buNone/>
                      </a:pPr>
                      <a:r>
                        <a:rPr lang="en-US" sz="800" dirty="0">
                          <a:solidFill>
                            <a:srgbClr val="030A18"/>
                          </a:solidFill>
                        </a:rPr>
                        <a:t>2NF</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Table is in 1NF and every non-key attribute is fully dependent on the entire primary key</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0">
                <a:tc>
                  <a:txBody>
                    <a:bodyPr/>
                    <a:lstStyle/>
                    <a:p>
                      <a:pPr marL="0" indent="0">
                        <a:buNone/>
                      </a:pPr>
                      <a:r>
                        <a:rPr lang="en-US" sz="800" dirty="0">
                          <a:solidFill>
                            <a:srgbClr val="030A18"/>
                          </a:solidFill>
                        </a:rPr>
                        <a:t>3NF</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Table is in 2NF and all attributes depend only on the primary key (no transitive dependencies)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bl>
          </a:graphicData>
        </a:graphic>
      </p:graphicFrame>
      <p:sp>
        <p:nvSpPr>
          <p:cNvPr id="4" name="Text 1"/>
          <p:cNvSpPr/>
          <p:nvPr/>
        </p:nvSpPr>
        <p:spPr>
          <a:xfrm>
            <a:off x="5669280" y="1645920"/>
            <a:ext cx="3474720" cy="2743200"/>
          </a:xfrm>
          <a:prstGeom prst="rect">
            <a:avLst/>
          </a:prstGeom>
          <a:noFill/>
          <a:ln/>
        </p:spPr>
        <p:txBody>
          <a:bodyPr wrap="square" rtlCol="0" anchor="ctr"/>
          <a:lstStyle/>
          <a:p>
            <a:pPr marL="0" indent="0">
              <a:spcAft>
                <a:spcPts val="360"/>
              </a:spcAft>
              <a:buNone/>
            </a:pPr>
            <a:r>
              <a:rPr lang="en-US" sz="1200" dirty="0">
                <a:solidFill>
                  <a:srgbClr val="030A18"/>
                </a:solidFill>
              </a:rPr>
              <a:t>Normalization is a design process that minimises redundancy and prevents update anomalies
Ensuring 1NF eliminates repeating groups by making attributes atomic
2NF removes partial dependencies on a composite primary key
3NF eliminates transitive dependencies so that non-key attributes depend only on the key</a:t>
            </a:r>
            <a:endParaRPr lang="en-US" sz="1200" dirty="0"/>
          </a:p>
        </p:txBody>
      </p:sp>
      <p:sp>
        <p:nvSpPr>
          <p:cNvPr id="5" name="Text 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[22]</a:t>
            </a:r>
            <a:r>
              <a:rPr lang="en-US" sz="600" dirty="0">
                <a:solidFill>
                  <a:srgbClr val="000000"/>
                </a:solidFill>
              </a:rPr>
              <a:t>   </a:t>
            </a:r>
            <a:r>
              <a:rPr lang="en-US" sz="600" u="sng" dirty="0">
                <a:solidFill>
                  <a:srgbClr val="97B1DF"/>
                </a:solidFill>
                <a:hlinkClick r:id="rId4"/>
              </a:rPr>
              <a:t>[23]</a:t>
            </a:r>
            <a:r>
              <a:rPr lang="en-US" sz="600" dirty="0">
                <a:solidFill>
                  <a:srgbClr val="000000"/>
                </a:solidFill>
              </a:rPr>
              <a:t>   </a:t>
            </a:r>
            <a:r>
              <a:rPr lang="en-US" sz="600" u="sng" dirty="0">
                <a:solidFill>
                  <a:srgbClr val="97B1DF"/>
                </a:solidFill>
                <a:hlinkClick r:id="rId5"/>
              </a:rPr>
              <a:t>[24]</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Data Types &amp; Constraints</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1148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0">
                <a:tc>
                  <a:txBody>
                    <a:bodyPr/>
                    <a:lstStyle/>
                    <a:p>
                      <a:pPr marL="0" indent="0">
                        <a:buNone/>
                      </a:pPr>
                      <a:r>
                        <a:rPr lang="en-US" sz="800" b="1" dirty="0">
                          <a:solidFill>
                            <a:srgbClr val="030A18"/>
                          </a:solidFill>
                        </a:rPr>
                        <a:t>Category</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b="1" dirty="0">
                          <a:solidFill>
                            <a:srgbClr val="030A18"/>
                          </a:solidFill>
                        </a:rPr>
                        <a:t>Examples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0">
                <a:tc>
                  <a:txBody>
                    <a:bodyPr/>
                    <a:lstStyle/>
                    <a:p>
                      <a:pPr marL="0" indent="0">
                        <a:buNone/>
                      </a:pPr>
                      <a:r>
                        <a:rPr lang="en-US" sz="800" dirty="0">
                          <a:solidFill>
                            <a:srgbClr val="030A18"/>
                          </a:solidFill>
                        </a:rPr>
                        <a:t>Numeric</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integer, bigint, numeric, decimal</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0">
                <a:tc>
                  <a:txBody>
                    <a:bodyPr/>
                    <a:lstStyle/>
                    <a:p>
                      <a:pPr marL="0" indent="0">
                        <a:buNone/>
                      </a:pPr>
                      <a:r>
                        <a:rPr lang="en-US" sz="800" dirty="0">
                          <a:solidFill>
                            <a:srgbClr val="030A18"/>
                          </a:solidFill>
                        </a:rPr>
                        <a:t>Character</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char(n), varchar(n), text</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0">
                <a:tc>
                  <a:txBody>
                    <a:bodyPr/>
                    <a:lstStyle/>
                    <a:p>
                      <a:pPr marL="0" indent="0">
                        <a:buNone/>
                      </a:pPr>
                      <a:r>
                        <a:rPr lang="en-US" sz="800" dirty="0">
                          <a:solidFill>
                            <a:srgbClr val="030A18"/>
                          </a:solidFill>
                        </a:rPr>
                        <a:t>Boolean</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boolean</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0">
                <a:tc>
                  <a:txBody>
                    <a:bodyPr/>
                    <a:lstStyle/>
                    <a:p>
                      <a:pPr marL="0" indent="0">
                        <a:buNone/>
                      </a:pPr>
                      <a:r>
                        <a:rPr lang="en-US" sz="800" dirty="0">
                          <a:solidFill>
                            <a:srgbClr val="030A18"/>
                          </a:solidFill>
                        </a:rPr>
                        <a:t>Date/Time</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date, timestamp, interval</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4" name="Text 1"/>
          <p:cNvSpPr/>
          <p:nvPr/>
        </p:nvSpPr>
        <p:spPr>
          <a:xfrm>
            <a:off x="4937760" y="1645920"/>
            <a:ext cx="4023360" cy="2743200"/>
          </a:xfrm>
          <a:prstGeom prst="rect">
            <a:avLst/>
          </a:prstGeom>
          <a:noFill/>
          <a:ln/>
        </p:spPr>
        <p:txBody>
          <a:bodyPr wrap="square" rtlCol="0" anchor="ctr"/>
          <a:lstStyle/>
          <a:p>
            <a:pPr marL="0" indent="0">
              <a:spcAft>
                <a:spcPts val="360"/>
              </a:spcAft>
              <a:buNone/>
            </a:pPr>
            <a:r>
              <a:rPr lang="en-US" sz="1600" b="1" dirty="0">
                <a:solidFill>
                  <a:srgbClr val="030A18"/>
                </a:solidFill>
              </a:rPr>
              <a:t>Constraints control acceptable values in a table:
</a:t>
            </a:r>
            <a:r>
              <a:rPr lang="en-US" sz="1200" dirty="0">
                <a:solidFill>
                  <a:srgbClr val="030A18"/>
                </a:solidFill>
              </a:rPr>
              <a:t>• NOT NULL – column must contain a value
• UNIQUE – values in a column or group of columns must be distinct
• CHECK – values must satisfy a Boolean expression (e.g. price &gt; 0)
• FOREIGN KEY – ensures references to existing rows in another table</a:t>
            </a:r>
            <a:endParaRPr lang="en-US" sz="1600" dirty="0"/>
          </a:p>
        </p:txBody>
      </p:sp>
      <p:sp>
        <p:nvSpPr>
          <p:cNvPr id="5" name="Text 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[25]</a:t>
            </a:r>
            <a:r>
              <a:rPr lang="en-US" sz="600" dirty="0">
                <a:solidFill>
                  <a:srgbClr val="000000"/>
                </a:solidFill>
              </a:rPr>
              <a:t>   </a:t>
            </a:r>
            <a:r>
              <a:rPr lang="en-US" sz="600" u="sng" dirty="0">
                <a:solidFill>
                  <a:srgbClr val="97B1DF"/>
                </a:solidFill>
                <a:hlinkClick r:id="rId4"/>
              </a:rPr>
              <a:t>[26]</a:t>
            </a:r>
            <a:r>
              <a:rPr lang="en-US" sz="600" dirty="0">
                <a:solidFill>
                  <a:srgbClr val="000000"/>
                </a:solidFill>
              </a:rPr>
              <a:t>   </a:t>
            </a:r>
            <a:r>
              <a:rPr lang="en-US" sz="600" u="sng" dirty="0">
                <a:solidFill>
                  <a:srgbClr val="97B1DF"/>
                </a:solidFill>
                <a:hlinkClick r:id="rId5"/>
              </a:rPr>
              <a:t>[26]</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Index Types &amp; Use Cases</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0">
                <a:tc>
                  <a:txBody>
                    <a:bodyPr/>
                    <a:lstStyle/>
                    <a:p>
                      <a:pPr marL="0" indent="0">
                        <a:buNone/>
                      </a:pPr>
                      <a:r>
                        <a:rPr lang="en-US" sz="800" b="1" dirty="0">
                          <a:solidFill>
                            <a:srgbClr val="030A18"/>
                          </a:solidFill>
                        </a:rPr>
                        <a:t>Index Type</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b="1" dirty="0">
                          <a:solidFill>
                            <a:srgbClr val="030A18"/>
                          </a:solidFill>
                        </a:rPr>
                        <a:t>Use Cases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0"/>
                  </a:ext>
                </a:extLst>
              </a:tr>
              <a:tr h="0">
                <a:tc>
                  <a:txBody>
                    <a:bodyPr/>
                    <a:lstStyle/>
                    <a:p>
                      <a:pPr marL="0" indent="0">
                        <a:buNone/>
                      </a:pPr>
                      <a:r>
                        <a:rPr lang="en-US" sz="800" dirty="0">
                          <a:solidFill>
                            <a:srgbClr val="030A18"/>
                          </a:solidFill>
                        </a:rPr>
                        <a:t>B-tree</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Default index; supports equality and range queries; can return sorted results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0">
                <a:tc>
                  <a:txBody>
                    <a:bodyPr/>
                    <a:lstStyle/>
                    <a:p>
                      <a:pPr marL="0" indent="0">
                        <a:buNone/>
                      </a:pPr>
                      <a:r>
                        <a:rPr lang="en-US" sz="800" dirty="0">
                          <a:solidFill>
                            <a:srgbClr val="030A18"/>
                          </a:solidFill>
                        </a:rPr>
                        <a:t>Hash</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Fast equality comparisons; rarely used because B-tree covers most cases</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0">
                <a:tc>
                  <a:txBody>
                    <a:bodyPr/>
                    <a:lstStyle/>
                    <a:p>
                      <a:pPr marL="0" indent="0">
                        <a:buNone/>
                      </a:pPr>
                      <a:r>
                        <a:rPr lang="en-US" sz="800" dirty="0">
                          <a:solidFill>
                            <a:srgbClr val="030A18"/>
                          </a:solidFill>
                        </a:rPr>
                        <a:t>GiST</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Generalised search tree; supports geometric data and full-text search</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0">
                <a:tc>
                  <a:txBody>
                    <a:bodyPr/>
                    <a:lstStyle/>
                    <a:p>
                      <a:pPr marL="0" indent="0">
                        <a:buNone/>
                      </a:pPr>
                      <a:r>
                        <a:rPr lang="en-US" sz="800" dirty="0">
                          <a:solidFill>
                            <a:srgbClr val="030A18"/>
                          </a:solidFill>
                        </a:rPr>
                        <a:t>GIN</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Inverted index; excellent for array columns and full-text search</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0">
                <a:tc>
                  <a:txBody>
                    <a:bodyPr/>
                    <a:lstStyle/>
                    <a:p>
                      <a:pPr marL="0" indent="0">
                        <a:buNone/>
                      </a:pPr>
                      <a:r>
                        <a:rPr lang="en-US" sz="800" dirty="0">
                          <a:solidFill>
                            <a:srgbClr val="030A18"/>
                          </a:solidFill>
                        </a:rPr>
                        <a:t>BRIN</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tc>
                  <a:txBody>
                    <a:bodyPr/>
                    <a:lstStyle/>
                    <a:p>
                      <a:pPr marL="0" indent="0">
                        <a:buNone/>
                      </a:pPr>
                      <a:r>
                        <a:rPr lang="en-US" sz="800" dirty="0">
                          <a:solidFill>
                            <a:srgbClr val="030A18"/>
                          </a:solidFill>
                        </a:rPr>
                        <a:t>Block range index; summarises large tables; efficient on naturally ordered data</a:t>
                      </a:r>
                      <a:endParaRPr lang="en-US" sz="800" dirty="0"/>
                    </a:p>
                  </a:txBody>
                  <a:tcPr>
                    <a:lnL w="6350" cap="flat" cmpd="sng" algn="ctr">
                      <a:solidFill>
                        <a:srgbClr val="97B1DF"/>
                      </a:solidFill>
                      <a:prstDash val="solid"/>
                      <a:round/>
                      <a:headEnd type="none" w="med" len="med"/>
                      <a:tailEnd type="none" w="med" len="med"/>
                    </a:lnL>
                    <a:lnR w="6350" cap="flat" cmpd="sng" algn="ctr">
                      <a:solidFill>
                        <a:srgbClr val="97B1DF"/>
                      </a:solidFill>
                      <a:prstDash val="solid"/>
                      <a:round/>
                      <a:headEnd type="none" w="med" len="med"/>
                      <a:tailEnd type="none" w="med" len="med"/>
                    </a:lnR>
                    <a:lnT w="6350" cap="flat" cmpd="sng" algn="ctr">
                      <a:solidFill>
                        <a:srgbClr val="97B1DF"/>
                      </a:solidFill>
                      <a:prstDash val="solid"/>
                      <a:round/>
                      <a:headEnd type="none" w="med" len="med"/>
                      <a:tailEnd type="none" w="med" len="med"/>
                    </a:lnT>
                    <a:lnB w="635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bl>
          </a:graphicData>
        </a:graphic>
      </p:graphicFrame>
      <p:sp>
        <p:nvSpPr>
          <p:cNvPr id="4" name="Text 1"/>
          <p:cNvSpPr/>
          <p:nvPr/>
        </p:nvSpPr>
        <p:spPr>
          <a:xfrm>
            <a:off x="548640" y="4206240"/>
            <a:ext cx="8412480" cy="1371600"/>
          </a:xfrm>
          <a:prstGeom prst="rect">
            <a:avLst/>
          </a:prstGeom>
          <a:noFill/>
          <a:ln/>
        </p:spPr>
        <p:txBody>
          <a:bodyPr wrap="square" rtlCol="0" anchor="ctr"/>
          <a:lstStyle/>
          <a:p>
            <a:pPr marL="0" indent="0">
              <a:buNone/>
            </a:pPr>
            <a:r>
              <a:rPr lang="en-US" sz="1200" dirty="0">
                <a:solidFill>
                  <a:srgbClr val="030A18"/>
                </a:solidFill>
              </a:rPr>
              <a:t>Choosing the right index improves query performance by orders of magnitude
B-tree is the general‑purpose index used for most workloads
Specialised indexes like GiST and GIN accelerate spatial and text searches</a:t>
            </a:r>
            <a:endParaRPr lang="en-US" sz="1200" dirty="0"/>
          </a:p>
        </p:txBody>
      </p:sp>
      <p:sp>
        <p:nvSpPr>
          <p:cNvPr id="5" name="Text 2"/>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[27]</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Query Planning &amp; EXPLAIN</a:t>
            </a:r>
            <a:endParaRPr lang="en-US" sz="2400" dirty="0"/>
          </a:p>
        </p:txBody>
      </p:sp>
      <p:sp>
        <p:nvSpPr>
          <p:cNvPr id="3" name="Text 1"/>
          <p:cNvSpPr/>
          <p:nvPr/>
        </p:nvSpPr>
        <p:spPr>
          <a:xfrm>
            <a:off x="548640" y="1645920"/>
            <a:ext cx="5029200" cy="2103120"/>
          </a:xfrm>
          <a:prstGeom prst="rect">
            <a:avLst/>
          </a:prstGeom>
          <a:noFill/>
          <a:ln/>
        </p:spPr>
        <p:txBody>
          <a:bodyPr wrap="square" rtlCol="0" anchor="ctr"/>
          <a:lstStyle/>
          <a:p>
            <a:pPr marL="0" indent="0">
              <a:spcAft>
                <a:spcPts val="360"/>
              </a:spcAft>
              <a:buNone/>
            </a:pPr>
            <a:r>
              <a:rPr lang="en-US" sz="1200" dirty="0">
                <a:solidFill>
                  <a:srgbClr val="030A18"/>
                </a:solidFill>
              </a:rPr>
              <a:t>PostgreSQL devises a plan for each query before execution.
Plans are composed of plan nodes such as sequential scans, index scans, joins and aggregations.
The optimiser estimates startup and total costs and chooses the most efficient plan.
Use the EXPLAIN command to inspect planned operations and identify bottlenecks.</a:t>
            </a:r>
            <a:endParaRPr lang="en-US" sz="1200" dirty="0"/>
          </a:p>
        </p:txBody>
      </p:sp>
      <p:sp>
        <p:nvSpPr>
          <p:cNvPr id="4" name="Shape 2"/>
          <p:cNvSpPr/>
          <p:nvPr/>
        </p:nvSpPr>
        <p:spPr>
          <a:xfrm>
            <a:off x="5760720" y="1645920"/>
            <a:ext cx="3200400" cy="2011680"/>
          </a:xfrm>
          <a:prstGeom prst="roundRect">
            <a:avLst>
              <a:gd name="adj" fmla="val 2273"/>
            </a:avLst>
          </a:prstGeom>
          <a:solidFill>
            <a:srgbClr val="F5F5F5"/>
          </a:solidFill>
          <a:ln w="12700">
            <a:solidFill>
              <a:srgbClr val="97B1DF"/>
            </a:solidFill>
            <a:prstDash val="solid"/>
          </a:ln>
        </p:spPr>
        <p:txBody>
          <a:bodyPr/>
          <a:lstStyle/>
          <a:p>
            <a:endParaRPr/>
          </a:p>
        </p:txBody>
      </p:sp>
      <p:sp>
        <p:nvSpPr>
          <p:cNvPr id="5" name="Text 3"/>
          <p:cNvSpPr/>
          <p:nvPr/>
        </p:nvSpPr>
        <p:spPr>
          <a:xfrm>
            <a:off x="5806440" y="1691640"/>
            <a:ext cx="3108960" cy="1920240"/>
          </a:xfrm>
          <a:prstGeom prst="rect">
            <a:avLst/>
          </a:prstGeom>
          <a:noFill/>
          <a:ln/>
        </p:spPr>
        <p:txBody>
          <a:bodyPr wrap="square" rtlCol="0" anchor="ctr"/>
          <a:lstStyle/>
          <a:p>
            <a:pPr marL="0" indent="0">
              <a:buNone/>
            </a:pPr>
            <a:r>
              <a:rPr lang="en-US" sz="1200" dirty="0">
                <a:solidFill>
                  <a:srgbClr val="030A18"/>
                </a:solidFill>
                <a:latin typeface="Arial" pitchFamily="34" charset="0"/>
                <a:ea typeface="Arial" pitchFamily="34" charset="-122"/>
                <a:cs typeface="Arial" pitchFamily="34" charset="-120"/>
              </a:rPr>
              <a:t>EXPLAIN SELECT * FROM orders WHERE customer_id = </a:t>
            </a:r>
            <a:r>
              <a:rPr lang="en-US" sz="1200" dirty="0">
                <a:solidFill>
                  <a:srgbClr val="098658"/>
                </a:solidFill>
                <a:latin typeface="Arial" pitchFamily="34" charset="0"/>
                <a:ea typeface="Arial" pitchFamily="34" charset="-122"/>
                <a:cs typeface="Arial" pitchFamily="34" charset="-120"/>
              </a:rPr>
              <a:t>42</a:t>
            </a:r>
            <a:r>
              <a:rPr lang="en-US" sz="1200" dirty="0">
                <a:solidFill>
                  <a:srgbClr val="030A18"/>
                </a:solidFill>
                <a:latin typeface="Arial" pitchFamily="34" charset="0"/>
                <a:ea typeface="Arial" pitchFamily="34" charset="-122"/>
                <a:cs typeface="Arial" pitchFamily="34" charset="-120"/>
              </a:rPr>
              <a:t>;</a:t>
            </a:r>
            <a:endParaRPr lang="en-US" sz="1200" dirty="0"/>
          </a:p>
          <a:p>
            <a:pPr marL="0" indent="0">
              <a:buNone/>
            </a:pP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Seq Scan on orders  </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(cost=</a:t>
            </a:r>
            <a:r>
              <a:rPr lang="en-US" sz="1200" dirty="0">
                <a:solidFill>
                  <a:srgbClr val="098658"/>
                </a:solidFill>
                <a:latin typeface="Arial" pitchFamily="34" charset="0"/>
                <a:ea typeface="Arial" pitchFamily="34" charset="-122"/>
                <a:cs typeface="Arial" pitchFamily="34" charset="-120"/>
              </a:rPr>
              <a:t>0.00</a:t>
            </a:r>
            <a:r>
              <a:rPr lang="en-US" sz="1200" dirty="0">
                <a:solidFill>
                  <a:srgbClr val="030A18"/>
                </a:solidFill>
                <a:latin typeface="Arial" pitchFamily="34" charset="0"/>
                <a:ea typeface="Arial" pitchFamily="34" charset="-122"/>
                <a:cs typeface="Arial" pitchFamily="34" charset="-120"/>
              </a:rPr>
              <a:t>..</a:t>
            </a:r>
            <a:r>
              <a:rPr lang="en-US" sz="1200" dirty="0">
                <a:solidFill>
                  <a:srgbClr val="098658"/>
                </a:solidFill>
                <a:latin typeface="Arial" pitchFamily="34" charset="0"/>
                <a:ea typeface="Arial" pitchFamily="34" charset="-122"/>
                <a:cs typeface="Arial" pitchFamily="34" charset="-120"/>
              </a:rPr>
              <a:t>24.50</a:t>
            </a:r>
            <a:r>
              <a:rPr lang="en-US" sz="1200" dirty="0">
                <a:solidFill>
                  <a:srgbClr val="030A18"/>
                </a:solidFill>
                <a:latin typeface="Arial" pitchFamily="34" charset="0"/>
                <a:ea typeface="Arial" pitchFamily="34" charset="-122"/>
                <a:cs typeface="Arial" pitchFamily="34" charset="-120"/>
              </a:rPr>
              <a:t> rows=</a:t>
            </a:r>
            <a:r>
              <a:rPr lang="en-US" sz="1200" dirty="0">
                <a:solidFill>
                  <a:srgbClr val="098658"/>
                </a:solidFill>
                <a:latin typeface="Arial" pitchFamily="34" charset="0"/>
                <a:ea typeface="Arial" pitchFamily="34" charset="-122"/>
                <a:cs typeface="Arial" pitchFamily="34" charset="-120"/>
              </a:rPr>
              <a:t>5</a:t>
            </a:r>
            <a:r>
              <a:rPr lang="en-US" sz="1200" dirty="0">
                <a:solidFill>
                  <a:srgbClr val="030A18"/>
                </a:solidFill>
                <a:latin typeface="Arial" pitchFamily="34" charset="0"/>
                <a:ea typeface="Arial" pitchFamily="34" charset="-122"/>
                <a:cs typeface="Arial" pitchFamily="34" charset="-120"/>
              </a:rPr>
              <a:t> width=</a:t>
            </a:r>
            <a:r>
              <a:rPr lang="en-US" sz="1200" dirty="0">
                <a:solidFill>
                  <a:srgbClr val="098658"/>
                </a:solidFill>
                <a:latin typeface="Arial" pitchFamily="34" charset="0"/>
                <a:ea typeface="Arial" pitchFamily="34" charset="-122"/>
                <a:cs typeface="Arial" pitchFamily="34" charset="-120"/>
              </a:rPr>
              <a:t>48</a:t>
            </a:r>
            <a:r>
              <a:rPr lang="en-US" sz="1200" dirty="0">
                <a:solidFill>
                  <a:srgbClr val="030A18"/>
                </a:solidFill>
                <a:latin typeface="Arial" pitchFamily="34" charset="0"/>
                <a:ea typeface="Arial" pitchFamily="34" charset="-122"/>
                <a:cs typeface="Arial" pitchFamily="34" charset="-120"/>
              </a:rPr>
              <a:t>)</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  Filter: </a:t>
            </a:r>
            <a:endParaRPr lang="en-US" sz="1200" dirty="0"/>
          </a:p>
          <a:p>
            <a:pPr marL="0" indent="0">
              <a:buNone/>
            </a:pPr>
            <a:r>
              <a:rPr lang="en-US" sz="1200" dirty="0">
                <a:solidFill>
                  <a:srgbClr val="030A18"/>
                </a:solidFill>
                <a:latin typeface="Arial" pitchFamily="34" charset="0"/>
                <a:ea typeface="Arial" pitchFamily="34" charset="-122"/>
                <a:cs typeface="Arial" pitchFamily="34" charset="-120"/>
              </a:rPr>
              <a:t>(customer_id = </a:t>
            </a:r>
            <a:r>
              <a:rPr lang="en-US" sz="1200" dirty="0">
                <a:solidFill>
                  <a:srgbClr val="098658"/>
                </a:solidFill>
                <a:latin typeface="Arial" pitchFamily="34" charset="0"/>
                <a:ea typeface="Arial" pitchFamily="34" charset="-122"/>
                <a:cs typeface="Arial" pitchFamily="34" charset="-120"/>
              </a:rPr>
              <a:t>42</a:t>
            </a:r>
            <a:r>
              <a:rPr lang="en-US" sz="1200" dirty="0">
                <a:solidFill>
                  <a:srgbClr val="030A18"/>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548640" y="3931920"/>
            <a:ext cx="8412480" cy="1554480"/>
          </a:xfrm>
          <a:prstGeom prst="rect">
            <a:avLst/>
          </a:prstGeom>
          <a:noFill/>
          <a:ln/>
        </p:spPr>
        <p:txBody>
          <a:bodyPr wrap="square" rtlCol="0" anchor="ctr"/>
          <a:lstStyle/>
          <a:p>
            <a:pPr marL="0" indent="0">
              <a:buNone/>
            </a:pPr>
            <a:r>
              <a:rPr lang="en-US" sz="1200" dirty="0">
                <a:solidFill>
                  <a:srgbClr val="030A18"/>
                </a:solidFill>
              </a:rPr>
              <a:t>Reading plans is an art: identify full table scans vs index scans, nested loops vs hash joins
Look at cost estimates to understand planner decisions</a:t>
            </a:r>
            <a:endParaRPr lang="en-US" sz="1200" dirty="0"/>
          </a:p>
        </p:txBody>
      </p:sp>
      <p:sp>
        <p:nvSpPr>
          <p:cNvPr id="7" name="Text 5"/>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[28]</a:t>
            </a:r>
            <a:r>
              <a:rPr lang="en-US" sz="600" dirty="0">
                <a:solidFill>
                  <a:srgbClr val="000000"/>
                </a:solidFill>
              </a:rPr>
              <a:t>   </a:t>
            </a:r>
            <a:r>
              <a:rPr lang="en-US" sz="600" u="sng" dirty="0">
                <a:solidFill>
                  <a:srgbClr val="97B1DF"/>
                </a:solidFill>
                <a:hlinkClick r:id="rId4"/>
              </a:rPr>
              <a:t>[28]</a:t>
            </a:r>
            <a:r>
              <a:rPr lang="en-US" sz="600" dirty="0">
                <a:solidFill>
                  <a:srgbClr val="000000"/>
                </a:solidFill>
              </a:rPr>
              <a:t>   </a:t>
            </a:r>
            <a:r>
              <a:rPr lang="en-US" sz="600" u="sng" dirty="0">
                <a:solidFill>
                  <a:srgbClr val="97B1DF"/>
                </a:solidFill>
                <a:hlinkClick r:id="rId5"/>
              </a:rPr>
              <a:t>[28]</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Triggers &amp; Replication</a:t>
            </a:r>
            <a:endParaRPr lang="en-US" sz="2400" dirty="0"/>
          </a:p>
        </p:txBody>
      </p:sp>
      <p:sp>
        <p:nvSpPr>
          <p:cNvPr id="3" name="Text 1"/>
          <p:cNvSpPr/>
          <p:nvPr/>
        </p:nvSpPr>
        <p:spPr>
          <a:xfrm>
            <a:off x="548640" y="1645920"/>
            <a:ext cx="5212080" cy="3200400"/>
          </a:xfrm>
          <a:prstGeom prst="rect">
            <a:avLst/>
          </a:prstGeom>
          <a:noFill/>
          <a:ln/>
        </p:spPr>
        <p:txBody>
          <a:bodyPr wrap="square" rtlCol="0" anchor="ctr"/>
          <a:lstStyle/>
          <a:p>
            <a:pPr marL="0" indent="0">
              <a:spcAft>
                <a:spcPts val="360"/>
              </a:spcAft>
              <a:buNone/>
            </a:pPr>
            <a:r>
              <a:rPr lang="en-US" sz="1200" dirty="0">
                <a:solidFill>
                  <a:srgbClr val="030A18"/>
                </a:solidFill>
              </a:rPr>
              <a:t>Triggers execute a function when events occur (INSERT, UPDATE, DELETE).
They can fire BEFORE or AFTER the event and be row‑level or statement‑level.
Use triggers to enforce business rules, maintain audit logs or cascade changes.
Logical replication extends Postgres beyond physical replication.
Publications broadcast changes; subscribers receive and apply them via a publish–subscribe model.
Logical replication enables online migrations, live version upgrades and real‑time analytics.</a:t>
            </a:r>
            <a:endParaRPr lang="en-US" sz="1200" dirty="0"/>
          </a:p>
        </p:txBody>
      </p:sp>
      <p:sp>
        <p:nvSpPr>
          <p:cNvPr id="4" name="Shape 2"/>
          <p:cNvSpPr/>
          <p:nvPr/>
        </p:nvSpPr>
        <p:spPr>
          <a:xfrm>
            <a:off x="6400800" y="1828800"/>
            <a:ext cx="2011680" cy="548640"/>
          </a:xfrm>
          <a:prstGeom prst="roundRect">
            <a:avLst>
              <a:gd name="adj" fmla="val 8333"/>
            </a:avLst>
          </a:prstGeom>
          <a:solidFill>
            <a:srgbClr val="97B1DF"/>
          </a:solidFill>
          <a:ln w="12700">
            <a:solidFill>
              <a:srgbClr val="97B1DF"/>
            </a:solidFill>
            <a:prstDash val="solid"/>
          </a:ln>
        </p:spPr>
        <p:txBody>
          <a:bodyPr/>
          <a:lstStyle/>
          <a:p>
            <a:endParaRPr/>
          </a:p>
        </p:txBody>
      </p:sp>
      <p:sp>
        <p:nvSpPr>
          <p:cNvPr id="5" name="Text 3"/>
          <p:cNvSpPr/>
          <p:nvPr/>
        </p:nvSpPr>
        <p:spPr>
          <a:xfrm>
            <a:off x="6400800" y="1965960"/>
            <a:ext cx="2011680" cy="274320"/>
          </a:xfrm>
          <a:prstGeom prst="rect">
            <a:avLst/>
          </a:prstGeom>
          <a:noFill/>
          <a:ln/>
        </p:spPr>
        <p:txBody>
          <a:bodyPr wrap="square" rtlCol="0" anchor="ctr"/>
          <a:lstStyle/>
          <a:p>
            <a:pPr marL="0" indent="0" algn="ctr">
              <a:buNone/>
            </a:pPr>
            <a:r>
              <a:rPr lang="en-US" sz="1000" dirty="0">
                <a:solidFill>
                  <a:srgbClr val="FFFFFF"/>
                </a:solidFill>
              </a:rPr>
              <a:t>Publisher</a:t>
            </a:r>
            <a:endParaRPr lang="en-US" sz="1000" dirty="0"/>
          </a:p>
        </p:txBody>
      </p:sp>
      <p:sp>
        <p:nvSpPr>
          <p:cNvPr id="6" name="Shape 4"/>
          <p:cNvSpPr/>
          <p:nvPr/>
        </p:nvSpPr>
        <p:spPr>
          <a:xfrm>
            <a:off x="5943600" y="2926080"/>
            <a:ext cx="164592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7" name="Text 5"/>
          <p:cNvSpPr/>
          <p:nvPr/>
        </p:nvSpPr>
        <p:spPr>
          <a:xfrm>
            <a:off x="5943600" y="3063240"/>
            <a:ext cx="1645920" cy="274320"/>
          </a:xfrm>
          <a:prstGeom prst="rect">
            <a:avLst/>
          </a:prstGeom>
          <a:noFill/>
          <a:ln/>
        </p:spPr>
        <p:txBody>
          <a:bodyPr wrap="square" rtlCol="0" anchor="ctr"/>
          <a:lstStyle/>
          <a:p>
            <a:pPr marL="0" indent="0" algn="ctr">
              <a:buNone/>
            </a:pPr>
            <a:r>
              <a:rPr lang="en-US" sz="1000" dirty="0">
                <a:solidFill>
                  <a:srgbClr val="030A18"/>
                </a:solidFill>
              </a:rPr>
              <a:t>Subscriber 1</a:t>
            </a:r>
            <a:endParaRPr lang="en-US" sz="1000" dirty="0"/>
          </a:p>
        </p:txBody>
      </p:sp>
      <p:sp>
        <p:nvSpPr>
          <p:cNvPr id="8" name="Shape 6"/>
          <p:cNvSpPr/>
          <p:nvPr/>
        </p:nvSpPr>
        <p:spPr>
          <a:xfrm>
            <a:off x="7406640" y="2377440"/>
            <a:ext cx="0" cy="548640"/>
          </a:xfrm>
          <a:prstGeom prst="line">
            <a:avLst/>
          </a:prstGeom>
          <a:noFill/>
          <a:ln w="12700">
            <a:solidFill>
              <a:srgbClr val="030A18"/>
            </a:solidFill>
            <a:prstDash val="solid"/>
          </a:ln>
        </p:spPr>
        <p:txBody>
          <a:bodyPr/>
          <a:lstStyle/>
          <a:p>
            <a:endParaRPr/>
          </a:p>
        </p:txBody>
      </p:sp>
      <p:sp>
        <p:nvSpPr>
          <p:cNvPr id="9" name="Shape 7"/>
          <p:cNvSpPr/>
          <p:nvPr/>
        </p:nvSpPr>
        <p:spPr>
          <a:xfrm>
            <a:off x="7498080" y="2926080"/>
            <a:ext cx="1645920" cy="548640"/>
          </a:xfrm>
          <a:prstGeom prst="roundRect">
            <a:avLst>
              <a:gd name="adj" fmla="val 8333"/>
            </a:avLst>
          </a:prstGeom>
          <a:solidFill>
            <a:srgbClr val="A4B6B8"/>
          </a:solidFill>
          <a:ln w="12700">
            <a:solidFill>
              <a:srgbClr val="A4B6B8"/>
            </a:solidFill>
            <a:prstDash val="solid"/>
          </a:ln>
        </p:spPr>
        <p:txBody>
          <a:bodyPr/>
          <a:lstStyle/>
          <a:p>
            <a:endParaRPr/>
          </a:p>
        </p:txBody>
      </p:sp>
      <p:sp>
        <p:nvSpPr>
          <p:cNvPr id="10" name="Text 8"/>
          <p:cNvSpPr/>
          <p:nvPr/>
        </p:nvSpPr>
        <p:spPr>
          <a:xfrm>
            <a:off x="7498080" y="3063240"/>
            <a:ext cx="1645920" cy="274320"/>
          </a:xfrm>
          <a:prstGeom prst="rect">
            <a:avLst/>
          </a:prstGeom>
          <a:noFill/>
          <a:ln/>
        </p:spPr>
        <p:txBody>
          <a:bodyPr wrap="square" rtlCol="0" anchor="ctr"/>
          <a:lstStyle/>
          <a:p>
            <a:pPr marL="0" indent="0" algn="ctr">
              <a:buNone/>
            </a:pPr>
            <a:r>
              <a:rPr lang="en-US" sz="1000" dirty="0">
                <a:solidFill>
                  <a:srgbClr val="030A18"/>
                </a:solidFill>
              </a:rPr>
              <a:t>Subscriber 2</a:t>
            </a:r>
            <a:endParaRPr lang="en-US" sz="1000" dirty="0"/>
          </a:p>
        </p:txBody>
      </p:sp>
      <p:sp>
        <p:nvSpPr>
          <p:cNvPr id="11" name="Shape 9"/>
          <p:cNvSpPr/>
          <p:nvPr/>
        </p:nvSpPr>
        <p:spPr>
          <a:xfrm>
            <a:off x="7406640" y="2377440"/>
            <a:ext cx="914400" cy="548640"/>
          </a:xfrm>
          <a:prstGeom prst="line">
            <a:avLst/>
          </a:prstGeom>
          <a:noFill/>
          <a:ln w="12700">
            <a:solidFill>
              <a:srgbClr val="030A18"/>
            </a:solidFill>
            <a:prstDash val="solid"/>
          </a:ln>
        </p:spPr>
        <p:txBody>
          <a:bodyPr/>
          <a:lstStyle/>
          <a:p>
            <a:endParaRPr/>
          </a:p>
        </p:txBody>
      </p:sp>
      <p:sp>
        <p:nvSpPr>
          <p:cNvPr id="12" name="Text 10"/>
          <p:cNvSpPr/>
          <p:nvPr/>
        </p:nvSpPr>
        <p:spPr>
          <a:xfrm>
            <a:off x="274320" y="4777740"/>
            <a:ext cx="8595360" cy="228600"/>
          </a:xfrm>
          <a:prstGeom prst="rect">
            <a:avLst/>
          </a:prstGeom>
          <a:noFill/>
          <a:ln/>
        </p:spPr>
        <p:txBody>
          <a:bodyPr wrap="square" lIns="0" tIns="0" rIns="0" bIns="0" rtlCol="0" anchor="ctr"/>
          <a:lstStyle/>
          <a:p>
            <a:pPr marL="0" indent="0">
              <a:buNone/>
            </a:pPr>
            <a:r>
              <a:rPr lang="en-US" sz="600" u="sng" dirty="0">
                <a:solidFill>
                  <a:srgbClr val="97B1DF"/>
                </a:solidFill>
                <a:hlinkClick r:id="rId3"/>
              </a:rPr>
              <a:t>[29]</a:t>
            </a:r>
            <a:r>
              <a:rPr lang="en-US" sz="600" dirty="0">
                <a:solidFill>
                  <a:srgbClr val="000000"/>
                </a:solidFill>
              </a:rPr>
              <a:t>   </a:t>
            </a:r>
            <a:r>
              <a:rPr lang="en-US" sz="600" u="sng" dirty="0">
                <a:solidFill>
                  <a:srgbClr val="97B1DF"/>
                </a:solidFill>
                <a:hlinkClick r:id="rId4"/>
              </a:rPr>
              <a:t>[29]</a:t>
            </a:r>
            <a:r>
              <a:rPr lang="en-US" sz="600" dirty="0">
                <a:solidFill>
                  <a:srgbClr val="000000"/>
                </a:solidFill>
              </a:rPr>
              <a:t>   </a:t>
            </a:r>
            <a:r>
              <a:rPr lang="en-US" sz="600" u="sng" dirty="0">
                <a:solidFill>
                  <a:srgbClr val="97B1DF"/>
                </a:solidFill>
                <a:hlinkClick r:id="rId5"/>
              </a:rPr>
              <a:t>[30]</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506</TotalTime>
  <Words>3554</Words>
  <Application>Microsoft Macintosh PowerPoint</Application>
  <PresentationFormat>On-screen Show (16:9)</PresentationFormat>
  <Paragraphs>261</Paragraphs>
  <Slides>24</Slides>
  <Notes>24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Atilio Barreda</cp:lastModifiedBy>
  <cp:revision>3</cp:revision>
  <dcterms:created xsi:type="dcterms:W3CDTF">2025-09-04T19:02:06Z</dcterms:created>
  <dcterms:modified xsi:type="dcterms:W3CDTF">2025-09-10T03:30:09Z</dcterms:modified>
</cp:coreProperties>
</file>