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30"/>
    <p:sldId id="280"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580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everyone. Today we will go end-to-end on vector embeddings and how to run them in MongoDB Atlas. I will start with the intuition of what embeddings are, move through how transformers generate them, connect that to the geometry and math we use to measure similarity, and then land on concrete Atlas configuration, code, and operational guidance. My goal is to demystify the pieces so you can build semantic search or other AI features confidently and know exactly how to test, tune, and ship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I say vector embeddings, I mean dense arrays of numbers that represent meaning. We can feed text, images, or audio into a model and it outputs a high-dimensional vector—often 768 to 1536 dimensions depending on the model. The key property is semantic: similar content produces vectors that point in similar directions. These vectors are learned by neural networks trained on huge language corpora, so they capture relationships like synonyms, tone, and context far better than keyword matching ever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Transformers create embeddings in a few steps. First, text is tokenized into words or subwords. Each token is looked up in an embedding matrix, giving us an initial vector per token. We add positional encodings so the model knows order. Then multi-head attention layers mix information across tokens, enriching each vector with context from the entire sentence. The pooled or final layer output is the embedding we store and search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high-level flow. Take the phrase ‘healthy eating habits.’ Tokenize into pieces, map each to vectors, add positional encoding so order matters, and pass through multi-head attention that lets each word attend to the others. The final output is one dense vector such as [0.234, -0.891, 0.456, …, 0.123]. That single vector encodes the overall meaning of the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Think of all embeddings living in a huge geometric space. Similar concepts end up close together. Words like ‘cat,’ ‘dog,’ and ‘pet’ cluster in a similar direction. To compare two vectors we measure their distance or angle. Cosine similarity is our go-to because it focuses on direction rather than magnitude, giving us a stable, bounded score that reflects semantic closeness.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Cosine similarity is the dot product divided by the product of vector norms. The result ranges from -1 to 1: negative means opposite, zero means orthogonal or unrelated, and close to 1 means highly similar. In practice, for semantic search, anything above roughly 0.85 indicates the documents are meaningfully related. This simple metric is the backbone of ranking in vector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 concrete example. If the user query embedding represents ‘I feel anxious,’ cosine similarity will rank ‘I feel nervous’ at 0.95 and ‘I feel worried’ at 0.92—both strong matches. A phrase like ‘I feel happy’ lands far away at 0.12. This demonstrates how embeddings retrieve by meaning even when the exact words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can choose from several embedding models. Voyage-3-large gives 1024 dimensions and is state-of-the-art for many tasks. OpenAI’s text-embedding-3-small is 512 dimensions and optimized for production. Open-source BERT and Sentence-BERT variants provide 768 dimensions without paid APIs. Higher dimensions often capture richer nuance but cost more in storage and latency, so pick based on your accuracy and cost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MongoDB Atlas now supports vector search natively. You can store embeddings alongside your operational data and query them through the $vectorSearch aggregation stage. Atlas supports both approximate nearest neighbor for speed and exact for accuracy, and you can combine vector similarity with traditional filters in one pipeline to get precise, relevant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one is creating a vector index. In this example we build an index named plot_embedding_index on the plot_embedding field, set the number of dimensions to 1024, and choose cosine as the similarity metric. This index enables the database to efficiently retrieve nearest neighbors for any query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unpack those index parameters. The path is the field that holds your embedding array. numDimensions must match exactly what your model outputs—1024 for Voyage-3-large, for example. similarity can be cosine, euclidean, or dotProduct; cosine is most common for language tasks. You can also map other fields for filtering so you can pre-filter by genre, year, or tenant before scoring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two is querying with $vectorSearch in an aggregation pipeline. You specify the index, the embedding field, the queryVector you computed from user text, numCandidates to control how many neighbors to consider, and limit for the final top-k results. A following $project surfaces the fields you want plus the vectorSearchScore metadata for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parameters to tune: queryVector is your encoded user query; numCandidates controls recall versus latency—the higher it is, the more accurate but slower. limit sets how many documents you return. filter lets you combine semantic matching with standard MongoDB criteria so you only score within the relevant subset, like a specific genre or user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Hybrid search pairs vector similarity with boolean filters. You might pre-filter to only ‘sci-fi’ movies released after 2015 and then run vector scoring inside that slice. This keeps latency low, improves relevance, and enforces access control or business rules alongside semantic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full Python setup. We connect to MongoDB, initialize the Voyage client, and embed a query string such as ‘space exploration adventure’ using the voyage-3-large model. That returns a 1024-length vector which we’ll pass into our database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we call aggregate with $vectorSearch against the plot_embedding_voyage_3_large field, set numCandidates to 100 for solid recall, and limit to 5 results. We project the title, plot, and the vectorSearchScore. Iterating the cursor prints the ranked results with their scores, showing exactly what the user would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full workflow summarized: first embed your corpus and store those vectors with the source text. Index the vector field. When a user searches, embed the query using the same model. Run $vectorSearch to find nearest neighbors and return the ranked documents. Each piece must align—same model, same dimensions, and the index on the correct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Common use cases include semantic search to find documents by meaning, recommendations by finding neighbors to items a user liked, duplicate or near-duplicate detection for issues and tickets, and clustering or sentiment analysis by grouping embeddings that share emotional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Performance depends on a few levers. Dimension count balances richness and speed—1024 is often a sweet spot. numCandidates trades accuracy for latency; start higher and dial down once you see recall numbers. Pre-filter aggressively so you score fewer documents. And remember: Atlas vector search requires at least an M10 cluster to provide the necessary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 the platform limits. Maximum dimensions per embedding are 4096. Vector search is Atlas-only—Community Edition doesn’t support $vectorSearch. Minimum cluster size is M10. And the $vectorSearch stage must be first in your pipeline so the engine can optimize candidate selection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these best practices. Use the same embedding model for both stored data and queries so vectors are comparable. Cache embeddings to avoid re-generating them on every request. Monitor API costs when using hosted models. Tune numCandidates thoughtfully: begin high to ensure recall, then reduce to hit latency SLOs without harming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embedding, clean and normalize text and chunk it into roughly 200 to 400 tokens to preserve context and keep vectors compact. Add metadata like topic, language, and access flags so you can pre-filter results. Store the raw text, the embedding, the model_version, and timestamps in each document. Use deterministic chunk IDs so you can upsert or delete the right vectors when content changes, and schedule refresh jobs any time you upgrade the embedding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and monitoring make or break production vector search. Build an offline golden set of queries with expected neighbors and track recall@k and MRR. Watch online signals like click-through, dwell time, and thumbs-up/down feedback. Enforce SLOs for latency and keep an eye on embedding API spend. Monitor drift by looking at embedding distributions and version rollouts. Log query vectors, scores, and filters so you can audit and debug regressions.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Here are resources and next steps. Start with the MongoDB Atlas Vector Search docs. Use the sample_mflix dataset with embedded_movies to experiment. Create the vector index, run $vectorSearch, and play with filters and numCandidates. Compare cosine to dotProduct and vary dimensions or chunk sizes to see the impact. Before production, add observability, cost limits, and a rollback plan so changes are controlled.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Let me close with key takeaways. Embeddings turn meaning into math, enabling intent-based search. Atlas Vector Search lets you keep vectors next to operational data and query them together. Performance comes from solid data prep, correct indexes, and tuned numCandidates. And from day one, plan your evaluation, monitoring, and model lifecycle so the system stays accurate, reliable, and cost-aware over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1850978" y="1733550"/>
            <a:ext cx="5441970" cy="685800"/>
          </a:xfrm>
          <a:prstGeom prst="rect">
            <a:avLst/>
          </a:prstGeom>
          <a:noFill/>
          <a:ln/>
        </p:spPr>
        <p:txBody>
          <a:bodyPr wrap="square" lIns="0" tIns="0" rIns="0" bIns="0" rtlCol="0" anchor="t"/>
          <a:lstStyle/>
          <a:p>
            <a:pPr marL="0" indent="0" algn="ctr">
              <a:lnSpc>
                <a:spcPts val="7200"/>
              </a:lnSpc>
              <a:buNone/>
            </a:pPr>
            <a:r>
              <a:rPr lang="en-US" sz="4500" b="1" dirty="0">
                <a:solidFill>
                  <a:srgbClr val="38BDF8"/>
                </a:solidFill>
                <a:latin typeface="Arial" pitchFamily="34" charset="0"/>
                <a:ea typeface="Arial" pitchFamily="34" charset="-122"/>
                <a:cs typeface="Arial" pitchFamily="34" charset="-120"/>
              </a:rPr>
              <a:t>Vector Embeddings</a:t>
            </a:r>
            <a:endParaRPr lang="en-US" sz="4500" dirty="0"/>
          </a:p>
        </p:txBody>
      </p:sp>
      <p:sp>
        <p:nvSpPr>
          <p:cNvPr id="3" name="Text 1"/>
          <p:cNvSpPr/>
          <p:nvPr/>
        </p:nvSpPr>
        <p:spPr>
          <a:xfrm>
            <a:off x="1980011" y="2571750"/>
            <a:ext cx="5183978" cy="319980"/>
          </a:xfrm>
          <a:prstGeom prst="rect">
            <a:avLst/>
          </a:prstGeom>
          <a:noFill/>
          <a:ln/>
        </p:spPr>
        <p:txBody>
          <a:bodyPr wrap="square" lIns="0" tIns="0" rIns="0" bIns="0" rtlCol="0" anchor="t"/>
          <a:lstStyle/>
          <a:p>
            <a:pPr marL="0" indent="0" algn="ctr">
              <a:lnSpc>
                <a:spcPts val="3360"/>
              </a:lnSpc>
              <a:buNone/>
            </a:pPr>
            <a:r>
              <a:rPr lang="en-US" sz="1800" dirty="0">
                <a:solidFill>
                  <a:srgbClr val="CBD5E1"/>
                </a:solidFill>
                <a:latin typeface="Arial" pitchFamily="34" charset="0"/>
                <a:ea typeface="Arial" pitchFamily="34" charset="-122"/>
                <a:cs typeface="Arial" pitchFamily="34" charset="-120"/>
              </a:rPr>
              <a:t>From Concepts to MongoDB Atlas Implementation</a:t>
            </a:r>
            <a:endParaRPr lang="en-US" sz="1800" dirty="0"/>
          </a:p>
        </p:txBody>
      </p:sp>
      <p:sp>
        <p:nvSpPr>
          <p:cNvPr id="4" name="Text 2"/>
          <p:cNvSpPr/>
          <p:nvPr/>
        </p:nvSpPr>
        <p:spPr>
          <a:xfrm>
            <a:off x="2347075" y="3196530"/>
            <a:ext cx="4449851" cy="213345"/>
          </a:xfrm>
          <a:prstGeom prst="rect">
            <a:avLst/>
          </a:prstGeom>
          <a:noFill/>
          <a:ln/>
        </p:spPr>
        <p:txBody>
          <a:bodyPr wrap="square" lIns="0" tIns="0" rIns="0" bIns="0" rtlCol="0" anchor="t"/>
          <a:lstStyle/>
          <a:p>
            <a:pPr marL="0" indent="0" algn="ctr">
              <a:lnSpc>
                <a:spcPts val="2240"/>
              </a:lnSpc>
              <a:buNone/>
            </a:pPr>
            <a:r>
              <a:rPr lang="en-US" sz="1200" dirty="0">
                <a:solidFill>
                  <a:srgbClr val="94A3B8"/>
                </a:solidFill>
                <a:latin typeface="Arial" pitchFamily="34" charset="0"/>
                <a:ea typeface="Arial" pitchFamily="34" charset="-122"/>
                <a:cs typeface="Arial" pitchFamily="34" charset="-120"/>
              </a:rPr>
              <a:t>A Comprehensive Guide to Semantic Search &amp; AI-Powered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What are Vector Embeddings?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Numerical Representations:</a:t>
            </a:r>
            <a:r>
              <a:rPr lang="en-US" sz="1350" dirty="0">
                <a:solidFill>
                  <a:srgbClr val="CBD5E1"/>
                </a:solidFill>
                <a:latin typeface="Arial" pitchFamily="34" charset="0"/>
                <a:ea typeface="Arial" pitchFamily="34" charset="-122"/>
                <a:cs typeface="Arial" pitchFamily="34" charset="-120"/>
              </a:rPr>
              <a:t> Text, images, audio converted to arrays of numbers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High-Dimensional Vectors:</a:t>
            </a:r>
            <a:r>
              <a:rPr lang="en-US" sz="1350" dirty="0">
                <a:solidFill>
                  <a:srgbClr val="CBD5E1"/>
                </a:solidFill>
                <a:latin typeface="Arial" pitchFamily="34" charset="0"/>
                <a:ea typeface="Arial" pitchFamily="34" charset="-122"/>
                <a:cs typeface="Arial" pitchFamily="34" charset="-120"/>
              </a:rPr>
              <a:t> Typically 768-1536 dimensions (depends on model)</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Semantic Meaning:</a:t>
            </a:r>
            <a:r>
              <a:rPr lang="en-US" sz="1350" dirty="0">
                <a:solidFill>
                  <a:srgbClr val="CBD5E1"/>
                </a:solidFill>
                <a:latin typeface="Arial" pitchFamily="34" charset="0"/>
                <a:ea typeface="Arial" pitchFamily="34" charset="-122"/>
                <a:cs typeface="Arial" pitchFamily="34" charset="-120"/>
              </a:rPr>
              <a:t> Similar content maps to vectors pointing in similar directions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Machine Learning Generated:</a:t>
            </a:r>
            <a:r>
              <a:rPr lang="en-US" sz="1350" dirty="0">
                <a:solidFill>
                  <a:srgbClr val="CBD5E1"/>
                </a:solidFill>
                <a:latin typeface="Arial" pitchFamily="34" charset="0"/>
                <a:ea typeface="Arial" pitchFamily="34" charset="-122"/>
                <a:cs typeface="Arial" pitchFamily="34" charset="-120"/>
              </a:rPr>
              <a:t> Created by neural networks trained on language patterns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How Transformers Create Embeddings</a:t>
            </a:r>
            <a:endParaRPr lang="en-US" sz="2700" dirty="0"/>
          </a:p>
        </p:txBody>
      </p:sp>
      <p:sp>
        <p:nvSpPr>
          <p:cNvPr id="3" name="Text 1"/>
          <p:cNvSpPr/>
          <p:nvPr/>
        </p:nvSpPr>
        <p:spPr>
          <a:xfrm>
            <a:off x="609600" y="12496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FBBF24"/>
                </a:solidFill>
                <a:latin typeface="Arial" pitchFamily="34" charset="0"/>
                <a:ea typeface="Arial" pitchFamily="34" charset="-122"/>
                <a:cs typeface="Arial" pitchFamily="34" charset="-120"/>
              </a:rPr>
              <a:t>Step 1:</a:t>
            </a:r>
            <a:r>
              <a:rPr lang="en-US" sz="1200" dirty="0">
                <a:solidFill>
                  <a:srgbClr val="CBD5E1"/>
                </a:solidFill>
                <a:latin typeface="Arial" pitchFamily="34" charset="0"/>
                <a:ea typeface="Arial" pitchFamily="34" charset="-122"/>
                <a:cs typeface="Arial" pitchFamily="34" charset="-120"/>
              </a:rPr>
              <a:t> Text is broken into tokens (words/subwords)</a:t>
            </a:r>
            <a:endParaRPr lang="en-US" sz="1200" dirty="0"/>
          </a:p>
        </p:txBody>
      </p:sp>
      <p:sp>
        <p:nvSpPr>
          <p:cNvPr id="4" name="Text 2"/>
          <p:cNvSpPr/>
          <p:nvPr/>
        </p:nvSpPr>
        <p:spPr>
          <a:xfrm>
            <a:off x="609600" y="1615380"/>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FBBF24"/>
                </a:solidFill>
                <a:latin typeface="Arial" pitchFamily="34" charset="0"/>
                <a:ea typeface="Arial" pitchFamily="34" charset="-122"/>
                <a:cs typeface="Arial" pitchFamily="34" charset="-120"/>
              </a:rPr>
              <a:t>Step 2:</a:t>
            </a:r>
            <a:r>
              <a:rPr lang="en-US" sz="1200" dirty="0">
                <a:solidFill>
                  <a:srgbClr val="CBD5E1"/>
                </a:solidFill>
                <a:latin typeface="Arial" pitchFamily="34" charset="0"/>
                <a:ea typeface="Arial" pitchFamily="34" charset="-122"/>
                <a:cs typeface="Arial" pitchFamily="34" charset="-120"/>
              </a:rPr>
              <a:t> Each token is mapped to a learned vector (embedding matrix)</a:t>
            </a:r>
            <a:endParaRPr lang="en-US" sz="1200" dirty="0"/>
          </a:p>
        </p:txBody>
      </p:sp>
      <p:sp>
        <p:nvSpPr>
          <p:cNvPr id="5" name="Text 3"/>
          <p:cNvSpPr/>
          <p:nvPr/>
        </p:nvSpPr>
        <p:spPr>
          <a:xfrm>
            <a:off x="609600" y="1981126"/>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FBBF24"/>
                </a:solidFill>
                <a:latin typeface="Arial" pitchFamily="34" charset="0"/>
                <a:ea typeface="Arial" pitchFamily="34" charset="-122"/>
                <a:cs typeface="Arial" pitchFamily="34" charset="-120"/>
              </a:rPr>
              <a:t>Step 3:</a:t>
            </a:r>
            <a:r>
              <a:rPr lang="en-US" sz="1200" dirty="0">
                <a:solidFill>
                  <a:srgbClr val="CBD5E1"/>
                </a:solidFill>
                <a:latin typeface="Arial" pitchFamily="34" charset="0"/>
                <a:ea typeface="Arial" pitchFamily="34" charset="-122"/>
                <a:cs typeface="Arial" pitchFamily="34" charset="-120"/>
              </a:rPr>
              <a:t> Positional encoding added (tells model word position in sequence)</a:t>
            </a:r>
            <a:endParaRPr lang="en-US" sz="1200" dirty="0"/>
          </a:p>
        </p:txBody>
      </p:sp>
      <p:sp>
        <p:nvSpPr>
          <p:cNvPr id="6" name="Text 4"/>
          <p:cNvSpPr/>
          <p:nvPr/>
        </p:nvSpPr>
        <p:spPr>
          <a:xfrm>
            <a:off x="609600" y="2346871"/>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Step 4: Multi-head attention enriches vectors with contextual relationships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35"/>
            <a:ext cx="7924800" cy="2999259"/>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Transformer Architecture (High-Level)</a:t>
            </a:r>
            <a:endParaRPr lang="en-US" sz="2700" dirty="0"/>
          </a:p>
        </p:txBody>
      </p:sp>
      <p:sp>
        <p:nvSpPr>
          <p:cNvPr id="4" name="Text 2"/>
          <p:cNvSpPr/>
          <p:nvPr/>
        </p:nvSpPr>
        <p:spPr>
          <a:xfrm>
            <a:off x="914400" y="1554435"/>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38BDF8"/>
                </a:solidFill>
                <a:latin typeface="monospace" pitchFamily="34" charset="0"/>
                <a:ea typeface="monospace" pitchFamily="34" charset="-122"/>
                <a:cs typeface="monospace" pitchFamily="34" charset="-120"/>
              </a:rPr>
              <a:t>INPUT: "healthy eating habits"</a:t>
            </a:r>
            <a:endParaRPr lang="en-US" sz="1140" dirty="0"/>
          </a:p>
        </p:txBody>
      </p:sp>
      <p:sp>
        <p:nvSpPr>
          <p:cNvPr id="5" name="Text 3"/>
          <p:cNvSpPr/>
          <p:nvPr/>
        </p:nvSpPr>
        <p:spPr>
          <a:xfrm>
            <a:off x="914400" y="1862286"/>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CBD5E1"/>
                </a:solidFill>
                <a:latin typeface="monospace" pitchFamily="34" charset="0"/>
                <a:ea typeface="monospace" pitchFamily="34" charset="-122"/>
                <a:cs typeface="monospace" pitchFamily="34" charset="-120"/>
              </a:rPr>
              <a:t>↓</a:t>
            </a:r>
            <a:endParaRPr lang="en-US" sz="1140" dirty="0"/>
          </a:p>
        </p:txBody>
      </p:sp>
      <p:sp>
        <p:nvSpPr>
          <p:cNvPr id="6" name="Text 4"/>
          <p:cNvSpPr/>
          <p:nvPr/>
        </p:nvSpPr>
        <p:spPr>
          <a:xfrm>
            <a:off x="914400" y="2093937"/>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38BDF8"/>
                </a:solidFill>
                <a:latin typeface="monospace" pitchFamily="34" charset="0"/>
                <a:ea typeface="monospace" pitchFamily="34" charset="-122"/>
                <a:cs typeface="monospace" pitchFamily="34" charset="-120"/>
              </a:rPr>
              <a:t>TOKENIZATION: ["healthy", "eating", "habits"]</a:t>
            </a:r>
            <a:endParaRPr lang="en-US" sz="1140" dirty="0"/>
          </a:p>
        </p:txBody>
      </p:sp>
      <p:sp>
        <p:nvSpPr>
          <p:cNvPr id="7" name="Text 5"/>
          <p:cNvSpPr/>
          <p:nvPr/>
        </p:nvSpPr>
        <p:spPr>
          <a:xfrm>
            <a:off x="914400" y="2401788"/>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CBD5E1"/>
                </a:solidFill>
                <a:latin typeface="monospace" pitchFamily="34" charset="0"/>
                <a:ea typeface="monospace" pitchFamily="34" charset="-122"/>
                <a:cs typeface="monospace" pitchFamily="34" charset="-120"/>
              </a:rPr>
              <a:t>↓</a:t>
            </a:r>
            <a:endParaRPr lang="en-US" sz="1140" dirty="0"/>
          </a:p>
        </p:txBody>
      </p:sp>
      <p:sp>
        <p:nvSpPr>
          <p:cNvPr id="8" name="Text 6"/>
          <p:cNvSpPr/>
          <p:nvPr/>
        </p:nvSpPr>
        <p:spPr>
          <a:xfrm>
            <a:off x="914400" y="2633439"/>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FBBF24"/>
                </a:solidFill>
                <a:latin typeface="monospace" pitchFamily="34" charset="0"/>
                <a:ea typeface="monospace" pitchFamily="34" charset="-122"/>
                <a:cs typeface="monospace" pitchFamily="34" charset="-120"/>
              </a:rPr>
              <a:t>EMBEDDINGS + POSITIONAL ENCODING</a:t>
            </a:r>
            <a:endParaRPr lang="en-US" sz="1140" dirty="0"/>
          </a:p>
        </p:txBody>
      </p:sp>
      <p:sp>
        <p:nvSpPr>
          <p:cNvPr id="9" name="Text 7"/>
          <p:cNvSpPr/>
          <p:nvPr/>
        </p:nvSpPr>
        <p:spPr>
          <a:xfrm>
            <a:off x="914400" y="2941290"/>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CBD5E1"/>
                </a:solidFill>
                <a:latin typeface="monospace" pitchFamily="34" charset="0"/>
                <a:ea typeface="monospace" pitchFamily="34" charset="-122"/>
                <a:cs typeface="monospace" pitchFamily="34" charset="-120"/>
              </a:rPr>
              <a:t>↓</a:t>
            </a:r>
            <a:endParaRPr lang="en-US" sz="1140" dirty="0"/>
          </a:p>
        </p:txBody>
      </p:sp>
      <p:sp>
        <p:nvSpPr>
          <p:cNvPr id="10" name="Text 8"/>
          <p:cNvSpPr/>
          <p:nvPr/>
        </p:nvSpPr>
        <p:spPr>
          <a:xfrm>
            <a:off x="914400" y="3172941"/>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FBBF24"/>
                </a:solidFill>
                <a:latin typeface="monospace" pitchFamily="34" charset="0"/>
                <a:ea typeface="monospace" pitchFamily="34" charset="-122"/>
                <a:cs typeface="monospace" pitchFamily="34" charset="-120"/>
              </a:rPr>
              <a:t>MULTI-HEAD ATTENTION (context enrichment)</a:t>
            </a:r>
            <a:endParaRPr lang="en-US" sz="1140" dirty="0"/>
          </a:p>
        </p:txBody>
      </p:sp>
      <p:sp>
        <p:nvSpPr>
          <p:cNvPr id="11" name="Text 9"/>
          <p:cNvSpPr/>
          <p:nvPr/>
        </p:nvSpPr>
        <p:spPr>
          <a:xfrm>
            <a:off x="914400" y="3480792"/>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CBD5E1"/>
                </a:solidFill>
                <a:latin typeface="monospace" pitchFamily="34" charset="0"/>
                <a:ea typeface="monospace" pitchFamily="34" charset="-122"/>
                <a:cs typeface="monospace" pitchFamily="34" charset="-120"/>
              </a:rPr>
              <a:t>↓</a:t>
            </a:r>
            <a:endParaRPr lang="en-US" sz="1140" dirty="0"/>
          </a:p>
        </p:txBody>
      </p:sp>
      <p:sp>
        <p:nvSpPr>
          <p:cNvPr id="12" name="Text 10"/>
          <p:cNvSpPr/>
          <p:nvPr/>
        </p:nvSpPr>
        <p:spPr>
          <a:xfrm>
            <a:off x="914400" y="3712443"/>
            <a:ext cx="7461504" cy="231651"/>
          </a:xfrm>
          <a:prstGeom prst="rect">
            <a:avLst/>
          </a:prstGeom>
          <a:noFill/>
          <a:ln/>
        </p:spPr>
        <p:txBody>
          <a:bodyPr wrap="square" lIns="0" tIns="0" rIns="0" bIns="0" rtlCol="0" anchor="t"/>
          <a:lstStyle/>
          <a:p>
            <a:pPr marL="0" indent="0">
              <a:lnSpc>
                <a:spcPts val="2432"/>
              </a:lnSpc>
              <a:buNone/>
            </a:pPr>
            <a:r>
              <a:rPr lang="en-US" sz="1140" dirty="0">
                <a:solidFill>
                  <a:srgbClr val="38BDF8"/>
                </a:solidFill>
                <a:latin typeface="monospace" pitchFamily="34" charset="0"/>
                <a:ea typeface="monospace" pitchFamily="34" charset="-122"/>
                <a:cs typeface="monospace" pitchFamily="34" charset="-120"/>
              </a:rPr>
              <a:t>OUTPUT: Dense vector [0.234, -0.891, 0.456, ..., 0.123]</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Vector Space: The Geometry of Meaning</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Semantic Space:</a:t>
            </a:r>
            <a:r>
              <a:rPr lang="en-US" sz="1350" dirty="0">
                <a:solidFill>
                  <a:srgbClr val="CBD5E1"/>
                </a:solidFill>
                <a:latin typeface="Arial" pitchFamily="34" charset="0"/>
                <a:ea typeface="Arial" pitchFamily="34" charset="-122"/>
                <a:cs typeface="Arial" pitchFamily="34" charset="-120"/>
              </a:rPr>
              <a:t> Similar concepts are positioned close in high-dimensional space</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Example:</a:t>
            </a:r>
            <a:r>
              <a:rPr lang="en-US" sz="1350" dirty="0">
                <a:solidFill>
                  <a:srgbClr val="CBD5E1"/>
                </a:solidFill>
                <a:latin typeface="Arial" pitchFamily="34" charset="0"/>
                <a:ea typeface="Arial" pitchFamily="34" charset="-122"/>
                <a:cs typeface="Arial" pitchFamily="34" charset="-120"/>
              </a:rPr>
              <a:t> "cat", "dog", "pet" are vectors pointing in similar directions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Distance Measurement:</a:t>
            </a:r>
            <a:r>
              <a:rPr lang="en-US" sz="1350" dirty="0">
                <a:solidFill>
                  <a:srgbClr val="CBD5E1"/>
                </a:solidFill>
                <a:latin typeface="Arial" pitchFamily="34" charset="0"/>
                <a:ea typeface="Arial" pitchFamily="34" charset="-122"/>
                <a:cs typeface="Arial" pitchFamily="34" charset="-120"/>
              </a:rPr>
              <a:t> Cosine similarity measures angle between vectors (0 to 1)</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Why Cosine?</a:t>
            </a:r>
            <a:r>
              <a:rPr lang="en-US" sz="1350" dirty="0">
                <a:solidFill>
                  <a:srgbClr val="CBD5E1"/>
                </a:solidFill>
                <a:latin typeface="Arial" pitchFamily="34" charset="0"/>
                <a:ea typeface="Arial" pitchFamily="34" charset="-122"/>
                <a:cs typeface="Arial" pitchFamily="34" charset="-120"/>
              </a:rPr>
              <a:t> Fast computation, semantic accuracy, bounded range [-1, 1]</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1927473" y="2137395"/>
            <a:ext cx="5288979" cy="158487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2278762" y="1421160"/>
            <a:ext cx="4586475" cy="411435"/>
          </a:xfrm>
          <a:prstGeom prst="rect">
            <a:avLst/>
          </a:prstGeom>
          <a:noFill/>
          <a:ln/>
        </p:spPr>
        <p:txBody>
          <a:bodyPr wrap="square" lIns="0" tIns="0" rIns="0" bIns="0" rtlCol="0" anchor="t"/>
          <a:lstStyle/>
          <a:p>
            <a:pPr marL="0" indent="0" algn="ctr">
              <a:lnSpc>
                <a:spcPts val="4320"/>
              </a:lnSpc>
              <a:buNone/>
            </a:pPr>
            <a:r>
              <a:rPr lang="en-US" sz="2700" b="1" dirty="0">
                <a:solidFill>
                  <a:srgbClr val="38BDF8"/>
                </a:solidFill>
                <a:latin typeface="Arial" pitchFamily="34" charset="0"/>
                <a:ea typeface="Arial" pitchFamily="34" charset="-122"/>
                <a:cs typeface="Arial" pitchFamily="34" charset="-120"/>
              </a:rPr>
              <a:t>Cosine Similarity: The Math</a:t>
            </a:r>
            <a:endParaRPr lang="en-US" sz="2700" dirty="0"/>
          </a:p>
        </p:txBody>
      </p:sp>
      <p:sp>
        <p:nvSpPr>
          <p:cNvPr id="4" name="Text 2"/>
          <p:cNvSpPr/>
          <p:nvPr/>
        </p:nvSpPr>
        <p:spPr>
          <a:xfrm>
            <a:off x="2185479" y="2442195"/>
            <a:ext cx="4772967" cy="319980"/>
          </a:xfrm>
          <a:prstGeom prst="rect">
            <a:avLst/>
          </a:prstGeom>
          <a:noFill/>
          <a:ln/>
        </p:spPr>
        <p:txBody>
          <a:bodyPr wrap="square" lIns="0" tIns="0" rIns="0" bIns="0" rtlCol="0" anchor="t"/>
          <a:lstStyle/>
          <a:p>
            <a:pPr marL="0" indent="0" algn="ctr">
              <a:lnSpc>
                <a:spcPts val="3360"/>
              </a:lnSpc>
              <a:buNone/>
            </a:pPr>
            <a:r>
              <a:rPr lang="en-US" sz="1800" dirty="0">
                <a:solidFill>
                  <a:srgbClr val="FBBF24"/>
                </a:solidFill>
                <a:latin typeface="monospace" pitchFamily="34" charset="0"/>
                <a:ea typeface="monospace" pitchFamily="34" charset="-122"/>
                <a:cs typeface="monospace" pitchFamily="34" charset="-120"/>
              </a:rPr>
              <a:t>cos(θ) = (A · B) / (||A|| × ||B||)</a:t>
            </a:r>
            <a:endParaRPr lang="en-US" sz="1800" dirty="0"/>
          </a:p>
        </p:txBody>
      </p:sp>
      <p:sp>
        <p:nvSpPr>
          <p:cNvPr id="5" name="Text 3"/>
          <p:cNvSpPr/>
          <p:nvPr/>
        </p:nvSpPr>
        <p:spPr>
          <a:xfrm>
            <a:off x="2185479" y="2914576"/>
            <a:ext cx="4772967" cy="213345"/>
          </a:xfrm>
          <a:prstGeom prst="rect">
            <a:avLst/>
          </a:prstGeom>
          <a:noFill/>
          <a:ln/>
        </p:spPr>
        <p:txBody>
          <a:bodyPr wrap="square" lIns="0" tIns="0" rIns="0" bIns="0" rtlCol="0" anchor="t"/>
          <a:lstStyle/>
          <a:p>
            <a:pPr marL="0" indent="0" algn="ctr">
              <a:lnSpc>
                <a:spcPts val="2240"/>
              </a:lnSpc>
              <a:buNone/>
            </a:pPr>
            <a:r>
              <a:rPr lang="en-US" sz="1200" dirty="0">
                <a:solidFill>
                  <a:srgbClr val="38BDF8"/>
                </a:solidFill>
                <a:latin typeface="Arial" pitchFamily="34" charset="0"/>
                <a:ea typeface="Arial" pitchFamily="34" charset="-122"/>
                <a:cs typeface="Arial" pitchFamily="34" charset="-120"/>
              </a:rPr>
              <a:t>Result Range:</a:t>
            </a:r>
            <a:r>
              <a:rPr lang="en-US" sz="1200" dirty="0">
                <a:solidFill>
                  <a:srgbClr val="CBD5E1"/>
                </a:solidFill>
                <a:latin typeface="Arial" pitchFamily="34" charset="0"/>
                <a:ea typeface="Arial" pitchFamily="34" charset="-122"/>
                <a:cs typeface="Arial" pitchFamily="34" charset="-120"/>
              </a:rPr>
              <a:t> -1 (opposite) to 1 (identical)</a:t>
            </a:r>
            <a:endParaRPr lang="en-US" sz="1200" dirty="0"/>
          </a:p>
        </p:txBody>
      </p:sp>
      <p:sp>
        <p:nvSpPr>
          <p:cNvPr id="6" name="Text 4"/>
          <p:cNvSpPr/>
          <p:nvPr/>
        </p:nvSpPr>
        <p:spPr>
          <a:xfrm>
            <a:off x="2185479" y="3204121"/>
            <a:ext cx="4772967" cy="213345"/>
          </a:xfrm>
          <a:prstGeom prst="rect">
            <a:avLst/>
          </a:prstGeom>
          <a:noFill/>
          <a:ln/>
        </p:spPr>
        <p:txBody>
          <a:bodyPr wrap="square" lIns="0" tIns="0" rIns="0" bIns="0" rtlCol="0" anchor="t"/>
          <a:lstStyle/>
          <a:p>
            <a:pPr marL="0" indent="0" algn="ctr">
              <a:lnSpc>
                <a:spcPts val="2240"/>
              </a:lnSpc>
              <a:buNone/>
            </a:pPr>
            <a:r>
              <a:rPr lang="en-US" sz="1200" dirty="0">
                <a:solidFill>
                  <a:srgbClr val="38BDF8"/>
                </a:solidFill>
                <a:latin typeface="Arial" pitchFamily="34" charset="0"/>
                <a:ea typeface="Arial" pitchFamily="34" charset="-122"/>
                <a:cs typeface="Arial" pitchFamily="34" charset="-120"/>
              </a:rPr>
              <a:t>Practical:</a:t>
            </a:r>
            <a:r>
              <a:rPr lang="en-US" sz="1200" dirty="0">
                <a:solidFill>
                  <a:srgbClr val="CBD5E1"/>
                </a:solidFill>
                <a:latin typeface="Arial" pitchFamily="34" charset="0"/>
                <a:ea typeface="Arial" pitchFamily="34" charset="-122"/>
                <a:cs typeface="Arial" pitchFamily="34" charset="-120"/>
              </a:rPr>
              <a:t> 0.85+ = semantically similar documents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133526"/>
            <a:ext cx="7924800" cy="1097235"/>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Real-World Example: Semantic Search</a:t>
            </a:r>
            <a:endParaRPr lang="en-US" sz="2700" dirty="0"/>
          </a:p>
        </p:txBody>
      </p:sp>
      <p:sp>
        <p:nvSpPr>
          <p:cNvPr id="4" name="Text 2"/>
          <p:cNvSpPr/>
          <p:nvPr/>
        </p:nvSpPr>
        <p:spPr>
          <a:xfrm>
            <a:off x="609600" y="12496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FBBF24"/>
                </a:solidFill>
                <a:latin typeface="Arial" pitchFamily="34" charset="0"/>
                <a:ea typeface="Arial" pitchFamily="34" charset="-122"/>
                <a:cs typeface="Arial" pitchFamily="34" charset="-120"/>
              </a:rPr>
              <a:t>Query:</a:t>
            </a:r>
            <a:r>
              <a:rPr lang="en-US" sz="1200" dirty="0">
                <a:solidFill>
                  <a:srgbClr val="CBD5E1"/>
                </a:solidFill>
                <a:latin typeface="Arial" pitchFamily="34" charset="0"/>
                <a:ea typeface="Arial" pitchFamily="34" charset="-122"/>
                <a:cs typeface="Arial" pitchFamily="34" charset="-120"/>
              </a:rPr>
              <a:t> "I feel anxious"</a:t>
            </a:r>
            <a:endParaRPr lang="en-US" sz="1200" dirty="0"/>
          </a:p>
        </p:txBody>
      </p:sp>
      <p:sp>
        <p:nvSpPr>
          <p:cNvPr id="5" name="Text 3"/>
          <p:cNvSpPr/>
          <p:nvPr/>
        </p:nvSpPr>
        <p:spPr>
          <a:xfrm>
            <a:off x="609600" y="1615380"/>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Results (by cosine similarity):</a:t>
            </a:r>
            <a:endParaRPr lang="en-US" sz="1200" dirty="0"/>
          </a:p>
        </p:txBody>
      </p:sp>
      <p:sp>
        <p:nvSpPr>
          <p:cNvPr id="6" name="Text 4"/>
          <p:cNvSpPr/>
          <p:nvPr/>
        </p:nvSpPr>
        <p:spPr>
          <a:xfrm>
            <a:off x="838200" y="2362126"/>
            <a:ext cx="7616952" cy="213345"/>
          </a:xfrm>
          <a:prstGeom prst="rect">
            <a:avLst/>
          </a:prstGeom>
          <a:noFill/>
          <a:ln/>
        </p:spPr>
        <p:txBody>
          <a:bodyPr wrap="square" lIns="0" tIns="0" rIns="0" bIns="0" rtlCol="0" anchor="t"/>
          <a:lstStyle/>
          <a:p>
            <a:pPr marL="0" indent="0">
              <a:lnSpc>
                <a:spcPts val="2240"/>
              </a:lnSpc>
              <a:buNone/>
            </a:pPr>
            <a:r>
              <a:rPr lang="en-US" sz="1200" dirty="0">
                <a:solidFill>
                  <a:srgbClr val="38BDF8"/>
                </a:solidFill>
                <a:latin typeface="Arial" pitchFamily="34" charset="0"/>
                <a:ea typeface="Arial" pitchFamily="34" charset="-122"/>
                <a:cs typeface="Arial" pitchFamily="34" charset="-120"/>
              </a:rPr>
              <a:t>1. "I feel nervous" - </a:t>
            </a:r>
            <a:r>
              <a:rPr lang="en-US" sz="1200" dirty="0">
                <a:solidFill>
                  <a:srgbClr val="FBBF24"/>
                </a:solidFill>
                <a:latin typeface="Arial" pitchFamily="34" charset="0"/>
                <a:ea typeface="Arial" pitchFamily="34" charset="-122"/>
                <a:cs typeface="Arial" pitchFamily="34" charset="-120"/>
              </a:rPr>
              <a:t>0.95</a:t>
            </a:r>
            <a:r>
              <a:rPr lang="en-US" sz="1200" dirty="0">
                <a:solidFill>
                  <a:srgbClr val="38BDF8"/>
                </a:solidFill>
                <a:latin typeface="Arial" pitchFamily="34" charset="0"/>
                <a:ea typeface="Arial" pitchFamily="34" charset="-122"/>
                <a:cs typeface="Arial" pitchFamily="34" charset="-120"/>
              </a:rPr>
              <a:t> ✓ High match</a:t>
            </a:r>
            <a:endParaRPr lang="en-US" sz="1200" dirty="0"/>
          </a:p>
        </p:txBody>
      </p:sp>
      <p:sp>
        <p:nvSpPr>
          <p:cNvPr id="7" name="Text 5"/>
          <p:cNvSpPr/>
          <p:nvPr/>
        </p:nvSpPr>
        <p:spPr>
          <a:xfrm>
            <a:off x="838200" y="2575471"/>
            <a:ext cx="7616952" cy="213345"/>
          </a:xfrm>
          <a:prstGeom prst="rect">
            <a:avLst/>
          </a:prstGeom>
          <a:noFill/>
          <a:ln/>
        </p:spPr>
        <p:txBody>
          <a:bodyPr wrap="square" lIns="0" tIns="0" rIns="0" bIns="0" rtlCol="0" anchor="t"/>
          <a:lstStyle/>
          <a:p>
            <a:pPr marL="0" indent="0">
              <a:lnSpc>
                <a:spcPts val="2240"/>
              </a:lnSpc>
              <a:buNone/>
            </a:pPr>
            <a:r>
              <a:rPr lang="en-US" sz="1200" dirty="0">
                <a:solidFill>
                  <a:srgbClr val="38BDF8"/>
                </a:solidFill>
                <a:latin typeface="Arial" pitchFamily="34" charset="0"/>
                <a:ea typeface="Arial" pitchFamily="34" charset="-122"/>
                <a:cs typeface="Arial" pitchFamily="34" charset="-120"/>
              </a:rPr>
              <a:t>2. "I feel worried" - </a:t>
            </a:r>
            <a:r>
              <a:rPr lang="en-US" sz="1200" dirty="0">
                <a:solidFill>
                  <a:srgbClr val="FBBF24"/>
                </a:solidFill>
                <a:latin typeface="Arial" pitchFamily="34" charset="0"/>
                <a:ea typeface="Arial" pitchFamily="34" charset="-122"/>
                <a:cs typeface="Arial" pitchFamily="34" charset="-120"/>
              </a:rPr>
              <a:t>0.92</a:t>
            </a:r>
            <a:r>
              <a:rPr lang="en-US" sz="1200" dirty="0">
                <a:solidFill>
                  <a:srgbClr val="38BDF8"/>
                </a:solidFill>
                <a:latin typeface="Arial" pitchFamily="34" charset="0"/>
                <a:ea typeface="Arial" pitchFamily="34" charset="-122"/>
                <a:cs typeface="Arial" pitchFamily="34" charset="-120"/>
              </a:rPr>
              <a:t> ✓ High match</a:t>
            </a:r>
            <a:endParaRPr lang="en-US" sz="1200" dirty="0"/>
          </a:p>
        </p:txBody>
      </p:sp>
      <p:sp>
        <p:nvSpPr>
          <p:cNvPr id="8" name="Text 6"/>
          <p:cNvSpPr/>
          <p:nvPr/>
        </p:nvSpPr>
        <p:spPr>
          <a:xfrm>
            <a:off x="838200" y="2788816"/>
            <a:ext cx="7616952" cy="213345"/>
          </a:xfrm>
          <a:prstGeom prst="rect">
            <a:avLst/>
          </a:prstGeom>
          <a:noFill/>
          <a:ln/>
        </p:spPr>
        <p:txBody>
          <a:bodyPr wrap="square" lIns="0" tIns="0" rIns="0" bIns="0" rtlCol="0" anchor="t"/>
          <a:lstStyle/>
          <a:p>
            <a:pPr marL="0" indent="0">
              <a:lnSpc>
                <a:spcPts val="2240"/>
              </a:lnSpc>
              <a:buNone/>
            </a:pPr>
            <a:r>
              <a:rPr lang="en-US" sz="1200" dirty="0">
                <a:solidFill>
                  <a:srgbClr val="38BDF8"/>
                </a:solidFill>
                <a:latin typeface="Arial" pitchFamily="34" charset="0"/>
                <a:ea typeface="Arial" pitchFamily="34" charset="-122"/>
                <a:cs typeface="Arial" pitchFamily="34" charset="-120"/>
              </a:rPr>
              <a:t>3. "I feel happy" - </a:t>
            </a:r>
            <a:r>
              <a:rPr lang="en-US" sz="1200" dirty="0">
                <a:solidFill>
                  <a:srgbClr val="FBBF24"/>
                </a:solidFill>
                <a:latin typeface="Arial" pitchFamily="34" charset="0"/>
                <a:ea typeface="Arial" pitchFamily="34" charset="-122"/>
                <a:cs typeface="Arial" pitchFamily="34" charset="-120"/>
              </a:rPr>
              <a:t>0.12</a:t>
            </a:r>
            <a:r>
              <a:rPr lang="en-US" sz="1200" dirty="0">
                <a:solidFill>
                  <a:srgbClr val="38BDF8"/>
                </a:solidFill>
                <a:latin typeface="Arial" pitchFamily="34" charset="0"/>
                <a:ea typeface="Arial" pitchFamily="34" charset="-122"/>
                <a:cs typeface="Arial" pitchFamily="34" charset="-120"/>
              </a:rPr>
              <a:t> ✗ Low match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Popular Embedding Models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Voyage AI (voyage-3-large):</a:t>
            </a:r>
            <a:r>
              <a:rPr lang="en-US" sz="1350" dirty="0">
                <a:solidFill>
                  <a:srgbClr val="CBD5E1"/>
                </a:solidFill>
                <a:latin typeface="Arial" pitchFamily="34" charset="0"/>
                <a:ea typeface="Arial" pitchFamily="34" charset="-122"/>
                <a:cs typeface="Arial" pitchFamily="34" charset="-120"/>
              </a:rPr>
              <a:t> State-of-the-art, 1024 dimensions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OpenAI (text-embedding-3-small):</a:t>
            </a:r>
            <a:r>
              <a:rPr lang="en-US" sz="1350" dirty="0">
                <a:solidFill>
                  <a:srgbClr val="CBD5E1"/>
                </a:solidFill>
                <a:latin typeface="Arial" pitchFamily="34" charset="0"/>
                <a:ea typeface="Arial" pitchFamily="34" charset="-122"/>
                <a:cs typeface="Arial" pitchFamily="34" charset="-120"/>
              </a:rPr>
              <a:t> 512 dimensions, production-ready</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BERT/Sentence-BERT:</a:t>
            </a:r>
            <a:r>
              <a:rPr lang="en-US" sz="1350" dirty="0">
                <a:solidFill>
                  <a:srgbClr val="CBD5E1"/>
                </a:solidFill>
                <a:latin typeface="Arial" pitchFamily="34" charset="0"/>
                <a:ea typeface="Arial" pitchFamily="34" charset="-122"/>
                <a:cs typeface="Arial" pitchFamily="34" charset="-120"/>
              </a:rPr>
              <a:t> Open-source, 768 dimensions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Dimension Impact:</a:t>
            </a:r>
            <a:r>
              <a:rPr lang="en-US" sz="1350" dirty="0">
                <a:solidFill>
                  <a:srgbClr val="CBD5E1"/>
                </a:solidFill>
                <a:latin typeface="Arial" pitchFamily="34" charset="0"/>
                <a:ea typeface="Arial" pitchFamily="34" charset="-122"/>
                <a:cs typeface="Arial" pitchFamily="34" charset="-120"/>
              </a:rPr>
              <a:t> Higher = richer meaning, but slower/more storage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MongoDB Atlas Vector Search</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Native Integration:</a:t>
            </a:r>
            <a:r>
              <a:rPr lang="en-US" sz="1350" dirty="0">
                <a:solidFill>
                  <a:srgbClr val="CBD5E1"/>
                </a:solidFill>
                <a:latin typeface="Arial" pitchFamily="34" charset="0"/>
                <a:ea typeface="Arial" pitchFamily="34" charset="-122"/>
                <a:cs typeface="Arial" pitchFamily="34" charset="-120"/>
              </a:rPr>
              <a:t> Vector search alongside operational data</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$vectorSearch Stage:</a:t>
            </a:r>
            <a:r>
              <a:rPr lang="en-US" sz="1350" dirty="0">
                <a:solidFill>
                  <a:srgbClr val="CBD5E1"/>
                </a:solidFill>
                <a:latin typeface="Arial" pitchFamily="34" charset="0"/>
                <a:ea typeface="Arial" pitchFamily="34" charset="-122"/>
                <a:cs typeface="Arial" pitchFamily="34" charset="-120"/>
              </a:rPr>
              <a:t> Aggregation pipeline operator for queries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ANN vs ENN:</a:t>
            </a:r>
            <a:r>
              <a:rPr lang="en-US" sz="1350" dirty="0">
                <a:solidFill>
                  <a:srgbClr val="CBD5E1"/>
                </a:solidFill>
                <a:latin typeface="Arial" pitchFamily="34" charset="0"/>
                <a:ea typeface="Arial" pitchFamily="34" charset="-122"/>
                <a:cs typeface="Arial" pitchFamily="34" charset="-120"/>
              </a:rPr>
              <a:t> Approximate (fast) or Exact (accurate) Nearest Neighbor search</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Hybrid Search:</a:t>
            </a:r>
            <a:r>
              <a:rPr lang="en-US" sz="1350" dirty="0">
                <a:solidFill>
                  <a:srgbClr val="CBD5E1"/>
                </a:solidFill>
                <a:latin typeface="Arial" pitchFamily="34" charset="0"/>
                <a:ea typeface="Arial" pitchFamily="34" charset="-122"/>
                <a:cs typeface="Arial" pitchFamily="34" charset="-120"/>
              </a:rPr>
              <a:t> Combine vector search with traditional MongoDB filters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691580"/>
            <a:ext cx="7924800" cy="2689920"/>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Step 1: Create Vector Index</a:t>
            </a:r>
            <a:endParaRPr lang="en-US" sz="2700" dirty="0"/>
          </a:p>
        </p:txBody>
      </p:sp>
      <p:sp>
        <p:nvSpPr>
          <p:cNvPr id="4" name="Text 2"/>
          <p:cNvSpPr/>
          <p:nvPr/>
        </p:nvSpPr>
        <p:spPr>
          <a:xfrm>
            <a:off x="609600" y="11734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Prepare MongoDB for vector search with an index definition:</a:t>
            </a:r>
            <a:endParaRPr lang="en-US" sz="1200" dirty="0"/>
          </a:p>
        </p:txBody>
      </p:sp>
      <p:sp>
        <p:nvSpPr>
          <p:cNvPr id="5" name="Text 3"/>
          <p:cNvSpPr/>
          <p:nvPr/>
        </p:nvSpPr>
        <p:spPr>
          <a:xfrm>
            <a:off x="609600" y="1691580"/>
            <a:ext cx="7924800" cy="2689920"/>
          </a:xfrm>
          <a:prstGeom prst="rect">
            <a:avLst/>
          </a:prstGeom>
          <a:noFill/>
          <a:ln/>
        </p:spPr>
        <p:txBody>
          <a:bodyPr wrap="square" lIns="0" tIns="0" rIns="0" bIns="0" rtlCol="0" anchor="t"/>
          <a:lstStyle/>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db.movies.createSearchIndex({</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"name": "plot_embedding_index",</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"definition":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"mappings":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"fields":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"type": "vector",</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"path": "plot_embedding",</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"numDimensions": 1024,</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"similarity": "cosine"</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a:t>
            </a:r>
            <a:endParaRPr lang="en-US" sz="1020" dirty="0"/>
          </a:p>
          <a:p>
            <a:pPr marL="0" indent="0">
              <a:lnSpc>
                <a:spcPts val="2040"/>
              </a:lnSpc>
              <a:buNone/>
            </a:pPr>
            <a:r>
              <a:rPr lang="en-US" sz="1020" dirty="0">
                <a:solidFill>
                  <a:srgbClr val="38BDF8"/>
                </a:solidFill>
                <a:latin typeface="Courier New" pitchFamily="34" charset="0"/>
                <a:ea typeface="Courier New" pitchFamily="34" charset="-122"/>
                <a:cs typeface="Courier New" pitchFamily="34" charset="-120"/>
              </a:rPr>
              <a:t> });</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Index Parameters Explained</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path:</a:t>
            </a:r>
            <a:r>
              <a:rPr lang="en-US" sz="1350" dirty="0">
                <a:solidFill>
                  <a:srgbClr val="CBD5E1"/>
                </a:solidFill>
                <a:latin typeface="Arial" pitchFamily="34" charset="0"/>
                <a:ea typeface="Arial" pitchFamily="34" charset="-122"/>
                <a:cs typeface="Arial" pitchFamily="34" charset="-120"/>
              </a:rPr>
              <a:t> Field name containing vector embeddings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numDimensions:</a:t>
            </a:r>
            <a:r>
              <a:rPr lang="en-US" sz="1350" dirty="0">
                <a:solidFill>
                  <a:srgbClr val="CBD5E1"/>
                </a:solidFill>
                <a:latin typeface="Arial" pitchFamily="34" charset="0"/>
                <a:ea typeface="Arial" pitchFamily="34" charset="-122"/>
                <a:cs typeface="Arial" pitchFamily="34" charset="-120"/>
              </a:rPr>
              <a:t> Length of embedding vectors (1024 for Voyage-3-large)</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similarity:</a:t>
            </a:r>
            <a:r>
              <a:rPr lang="en-US" sz="1350" dirty="0">
                <a:solidFill>
                  <a:srgbClr val="CBD5E1"/>
                </a:solidFill>
                <a:latin typeface="Arial" pitchFamily="34" charset="0"/>
                <a:ea typeface="Arial" pitchFamily="34" charset="-122"/>
                <a:cs typeface="Arial" pitchFamily="34" charset="-120"/>
              </a:rPr>
              <a:t> Distance metric (cosine, euclidean, dotProduct)</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Filter Support:</a:t>
            </a:r>
            <a:r>
              <a:rPr lang="en-US" sz="1350" dirty="0">
                <a:solidFill>
                  <a:srgbClr val="CBD5E1"/>
                </a:solidFill>
                <a:latin typeface="Arial" pitchFamily="34" charset="0"/>
                <a:ea typeface="Arial" pitchFamily="34" charset="-122"/>
                <a:cs typeface="Arial" pitchFamily="34" charset="-120"/>
              </a:rPr>
              <a:t> Can index other fields for pre-filtering results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691580"/>
            <a:ext cx="7924800" cy="2689920"/>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Step 2: Query with $vectorSearch</a:t>
            </a:r>
            <a:endParaRPr lang="en-US" sz="2700" dirty="0"/>
          </a:p>
        </p:txBody>
      </p:sp>
      <p:sp>
        <p:nvSpPr>
          <p:cNvPr id="4" name="Text 2"/>
          <p:cNvSpPr/>
          <p:nvPr/>
        </p:nvSpPr>
        <p:spPr>
          <a:xfrm>
            <a:off x="609600" y="11734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Execute semantic search using aggregation pipeline:</a:t>
            </a:r>
            <a:endParaRPr lang="en-US" sz="1200" dirty="0"/>
          </a:p>
        </p:txBody>
      </p:sp>
      <p:sp>
        <p:nvSpPr>
          <p:cNvPr id="5" name="Text 3"/>
          <p:cNvSpPr/>
          <p:nvPr/>
        </p:nvSpPr>
        <p:spPr>
          <a:xfrm>
            <a:off x="609600" y="1691580"/>
            <a:ext cx="7924800" cy="2689920"/>
          </a:xfrm>
          <a:prstGeom prst="rect">
            <a:avLst/>
          </a:prstGeom>
          <a:noFill/>
          <a:ln/>
        </p:spPr>
        <p:txBody>
          <a:bodyPr wrap="square" lIns="0" tIns="0" rIns="0" bIns="0" rtlCol="0" anchor="t"/>
          <a:lstStyle/>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db.movies.aggregate([</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$vectorSearch: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index: "plot_embedding_index",</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path: "plot_embedding",</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queryVector: [0.11, -0.22, 0.33,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numCandidates: 100,</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limit: 5</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$project: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title: 1, plot: 1,</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score: { $meta: "vectorSearchScore"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a:p>
            <a:pPr marL="0" indent="0">
              <a:lnSpc>
                <a:spcPts val="1920"/>
              </a:lnSpc>
              <a:buNone/>
            </a:pPr>
            <a:r>
              <a:rPr lang="en-US" sz="960" dirty="0">
                <a:solidFill>
                  <a:srgbClr val="38BDF8"/>
                </a:solidFill>
                <a:latin typeface="Courier New" pitchFamily="34" charset="0"/>
                <a:ea typeface="Courier New" pitchFamily="34" charset="-122"/>
                <a:cs typeface="Courier New" pitchFamily="34" charset="-120"/>
              </a:rPr>
              <a:t> ])</a:t>
            </a:r>
            <a:endParaRPr lang="en-US" sz="9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$vectorSearch Parameters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queryVector:</a:t>
            </a:r>
            <a:r>
              <a:rPr lang="en-US" sz="1350" dirty="0">
                <a:solidFill>
                  <a:srgbClr val="CBD5E1"/>
                </a:solidFill>
                <a:latin typeface="Arial" pitchFamily="34" charset="0"/>
                <a:ea typeface="Arial" pitchFamily="34" charset="-122"/>
                <a:cs typeface="Arial" pitchFamily="34" charset="-120"/>
              </a:rPr>
              <a:t> Your search query converted to embedding</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numCandidates:</a:t>
            </a:r>
            <a:r>
              <a:rPr lang="en-US" sz="1350" dirty="0">
                <a:solidFill>
                  <a:srgbClr val="CBD5E1"/>
                </a:solidFill>
                <a:latin typeface="Arial" pitchFamily="34" charset="0"/>
                <a:ea typeface="Arial" pitchFamily="34" charset="-122"/>
                <a:cs typeface="Arial" pitchFamily="34" charset="-120"/>
              </a:rPr>
              <a:t> Candidates to evaluate (higher = more accurate)</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limit:</a:t>
            </a:r>
            <a:r>
              <a:rPr lang="en-US" sz="1350" dirty="0">
                <a:solidFill>
                  <a:srgbClr val="CBD5E1"/>
                </a:solidFill>
                <a:latin typeface="Arial" pitchFamily="34" charset="0"/>
                <a:ea typeface="Arial" pitchFamily="34" charset="-122"/>
                <a:cs typeface="Arial" pitchFamily="34" charset="-120"/>
              </a:rPr>
              <a:t> How many results to return (top-k)</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filter:</a:t>
            </a:r>
            <a:r>
              <a:rPr lang="en-US" sz="1350" dirty="0">
                <a:solidFill>
                  <a:srgbClr val="CBD5E1"/>
                </a:solidFill>
                <a:latin typeface="Arial" pitchFamily="34" charset="0"/>
                <a:ea typeface="Arial" pitchFamily="34" charset="-122"/>
                <a:cs typeface="Arial" pitchFamily="34" charset="-120"/>
              </a:rPr>
              <a:t> Pre-filter on other fields (genre, year, etc.)</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691580"/>
            <a:ext cx="7924800" cy="2171700"/>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Advanced: Hybrid Search + Filtering</a:t>
            </a:r>
            <a:endParaRPr lang="en-US" sz="2700" dirty="0"/>
          </a:p>
        </p:txBody>
      </p:sp>
      <p:sp>
        <p:nvSpPr>
          <p:cNvPr id="4" name="Text 2"/>
          <p:cNvSpPr/>
          <p:nvPr/>
        </p:nvSpPr>
        <p:spPr>
          <a:xfrm>
            <a:off x="609600" y="11734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Combine semantic search with traditional database filters: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691580"/>
            <a:ext cx="7924800" cy="2538040"/>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Complete Implementation: Python</a:t>
            </a:r>
            <a:endParaRPr lang="en-US" sz="2700" dirty="0"/>
          </a:p>
        </p:txBody>
      </p:sp>
      <p:sp>
        <p:nvSpPr>
          <p:cNvPr id="4" name="Text 2"/>
          <p:cNvSpPr/>
          <p:nvPr/>
        </p:nvSpPr>
        <p:spPr>
          <a:xfrm>
            <a:off x="609600" y="1173435"/>
            <a:ext cx="8083296" cy="213345"/>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Generate embeddings and perform search:</a:t>
            </a:r>
            <a:endParaRPr lang="en-US" sz="1200" dirty="0"/>
          </a:p>
        </p:txBody>
      </p:sp>
      <p:sp>
        <p:nvSpPr>
          <p:cNvPr id="5" name="Text 3"/>
          <p:cNvSpPr/>
          <p:nvPr/>
        </p:nvSpPr>
        <p:spPr>
          <a:xfrm>
            <a:off x="609600" y="1691580"/>
            <a:ext cx="7924800" cy="2538040"/>
          </a:xfrm>
          <a:prstGeom prst="rect">
            <a:avLst/>
          </a:prstGeom>
          <a:noFill/>
          <a:ln/>
        </p:spPr>
        <p:txBody>
          <a:bodyPr wrap="square" lIns="0" tIns="0" rIns="0" bIns="0" rtlCol="0" anchor="t"/>
          <a:lstStyle/>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from pymongo import MongoClient</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from voyageai import Client as VoyageClient</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 Initialize clients</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mongo_client = MongoClient("mongodb+srv://...")</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db = mongo_client["sample_mflix"]</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voyage = VoyageClient(api_key="...")</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 Generate embedding for query</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query_text = "space exploration adventure"</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query_embedding = voyage.embed(</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query_text, model="voyage-3-large"</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).embeddings[0]</a:t>
            </a:r>
            <a:endParaRPr lang="en-US" sz="8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325835"/>
            <a:ext cx="7924800" cy="3055665"/>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Python Implementation: Vector Search</a:t>
            </a:r>
            <a:endParaRPr lang="en-US" sz="2700" dirty="0"/>
          </a:p>
        </p:txBody>
      </p:sp>
      <p:sp>
        <p:nvSpPr>
          <p:cNvPr id="4" name="Text 2"/>
          <p:cNvSpPr/>
          <p:nvPr/>
        </p:nvSpPr>
        <p:spPr>
          <a:xfrm>
            <a:off x="609600" y="1325835"/>
            <a:ext cx="7924800" cy="3055665"/>
          </a:xfrm>
          <a:prstGeom prst="rect">
            <a:avLst/>
          </a:prstGeom>
          <a:noFill/>
          <a:ln/>
        </p:spPr>
        <p:txBody>
          <a:bodyPr wrap="square" lIns="0" tIns="0" rIns="0" bIns="0" rtlCol="0" anchor="t"/>
          <a:lstStyle/>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Perform vector search</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results = db.embedded_movies.aggregate([</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"$vectorSearch":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"index": "plot_embedding_index",</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"path": "plot_embedding_voyage_3_large",</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"queryVector": query_embedding,</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"numCandidates": 100,</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"limit": 5</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 "$project":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"title": 1, "plot": 1,</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"score": {"$meta": "vectorSearchScore"}</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for doc in results:</a:t>
            </a:r>
            <a:endParaRPr lang="en-US" sz="840" dirty="0"/>
          </a:p>
          <a:p>
            <a:pPr marL="0" indent="0">
              <a:lnSpc>
                <a:spcPts val="1680"/>
              </a:lnSpc>
              <a:buNone/>
            </a:pPr>
            <a:r>
              <a:rPr lang="en-US" sz="840" dirty="0">
                <a:solidFill>
                  <a:srgbClr val="38BDF8"/>
                </a:solidFill>
                <a:latin typeface="Courier New" pitchFamily="34" charset="0"/>
                <a:ea typeface="Courier New" pitchFamily="34" charset="-122"/>
                <a:cs typeface="Courier New" pitchFamily="34" charset="-120"/>
              </a:rPr>
              <a:t> print(f"{doc['title']}: {doc['score']:.4f}")</a:t>
            </a:r>
            <a:endParaRPr lang="en-US" sz="8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35"/>
            <a:ext cx="7924800" cy="2347317"/>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Complete Workflow Summary</a:t>
            </a:r>
            <a:endParaRPr lang="en-US" sz="2700" dirty="0"/>
          </a:p>
        </p:txBody>
      </p:sp>
      <p:sp>
        <p:nvSpPr>
          <p:cNvPr id="4" name="Text 2"/>
          <p:cNvSpPr/>
          <p:nvPr/>
        </p:nvSpPr>
        <p:spPr>
          <a:xfrm>
            <a:off x="914400" y="1554435"/>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1. Embed data: Convert document text → vectors</a:t>
            </a:r>
            <a:endParaRPr lang="en-US" sz="1140" dirty="0"/>
          </a:p>
        </p:txBody>
      </p:sp>
      <p:sp>
        <p:nvSpPr>
          <p:cNvPr id="5" name="Text 3"/>
          <p:cNvSpPr/>
          <p:nvPr/>
        </p:nvSpPr>
        <p:spPr>
          <a:xfrm>
            <a:off x="914400" y="1844055"/>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2. Store: Save vectors in MongoDB collection</a:t>
            </a:r>
            <a:endParaRPr lang="en-US" sz="1140" dirty="0"/>
          </a:p>
        </p:txBody>
      </p:sp>
      <p:sp>
        <p:nvSpPr>
          <p:cNvPr id="6" name="Text 4"/>
          <p:cNvSpPr/>
          <p:nvPr/>
        </p:nvSpPr>
        <p:spPr>
          <a:xfrm>
            <a:off x="914400" y="2133674"/>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3. Index: Create $vectorSearch index on vector field</a:t>
            </a:r>
            <a:endParaRPr lang="en-US" sz="1140" dirty="0"/>
          </a:p>
        </p:txBody>
      </p:sp>
      <p:sp>
        <p:nvSpPr>
          <p:cNvPr id="7" name="Text 5"/>
          <p:cNvSpPr/>
          <p:nvPr/>
        </p:nvSpPr>
        <p:spPr>
          <a:xfrm>
            <a:off x="914400" y="2423294"/>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4. Query: Embed user search query</a:t>
            </a:r>
            <a:endParaRPr lang="en-US" sz="1140" dirty="0"/>
          </a:p>
        </p:txBody>
      </p:sp>
      <p:sp>
        <p:nvSpPr>
          <p:cNvPr id="8" name="Text 6"/>
          <p:cNvSpPr/>
          <p:nvPr/>
        </p:nvSpPr>
        <p:spPr>
          <a:xfrm>
            <a:off x="914400" y="2712913"/>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5. Search: Execute $vectorSearch aggregation</a:t>
            </a:r>
            <a:endParaRPr lang="en-US" sz="1140" dirty="0"/>
          </a:p>
        </p:txBody>
      </p:sp>
      <p:sp>
        <p:nvSpPr>
          <p:cNvPr id="9" name="Text 7"/>
          <p:cNvSpPr/>
          <p:nvPr/>
        </p:nvSpPr>
        <p:spPr>
          <a:xfrm>
            <a:off x="914400" y="3002533"/>
            <a:ext cx="7461504" cy="289620"/>
          </a:xfrm>
          <a:prstGeom prst="rect">
            <a:avLst/>
          </a:prstGeom>
          <a:noFill/>
          <a:ln/>
        </p:spPr>
        <p:txBody>
          <a:bodyPr wrap="square" lIns="0" tIns="0" rIns="0" bIns="0" rtlCol="0" anchor="t"/>
          <a:lstStyle/>
          <a:p>
            <a:pPr marL="0" indent="0">
              <a:lnSpc>
                <a:spcPts val="3040"/>
              </a:lnSpc>
              <a:buNone/>
            </a:pPr>
            <a:r>
              <a:rPr lang="en-US" sz="1140" dirty="0">
                <a:solidFill>
                  <a:srgbClr val="38BDF8"/>
                </a:solidFill>
                <a:latin typeface="monospace" pitchFamily="34" charset="0"/>
                <a:ea typeface="monospace" pitchFamily="34" charset="-122"/>
                <a:cs typeface="monospace" pitchFamily="34" charset="-120"/>
              </a:rPr>
              <a:t>6. Return: Get ranked results by cosine similarity</a:t>
            </a:r>
            <a:endParaRPr lang="en-US" sz="11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Real-World Use Cases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Semantic Search:</a:t>
            </a:r>
            <a:r>
              <a:rPr lang="en-US" sz="1350" dirty="0">
                <a:solidFill>
                  <a:srgbClr val="CBD5E1"/>
                </a:solidFill>
                <a:latin typeface="Arial" pitchFamily="34" charset="0"/>
                <a:ea typeface="Arial" pitchFamily="34" charset="-122"/>
                <a:cs typeface="Arial" pitchFamily="34" charset="-120"/>
              </a:rPr>
              <a:t> Find documents by meaning, not keywords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Recommendations:</a:t>
            </a:r>
            <a:r>
              <a:rPr lang="en-US" sz="1350" dirty="0">
                <a:solidFill>
                  <a:srgbClr val="CBD5E1"/>
                </a:solidFill>
                <a:latin typeface="Arial" pitchFamily="34" charset="0"/>
                <a:ea typeface="Arial" pitchFamily="34" charset="-122"/>
                <a:cs typeface="Arial" pitchFamily="34" charset="-120"/>
              </a:rPr>
              <a:t> "Users who liked X also liked Y"</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Duplicate Detection:</a:t>
            </a:r>
            <a:r>
              <a:rPr lang="en-US" sz="1350" dirty="0">
                <a:solidFill>
                  <a:srgbClr val="CBD5E1"/>
                </a:solidFill>
                <a:latin typeface="Arial" pitchFamily="34" charset="0"/>
                <a:ea typeface="Arial" pitchFamily="34" charset="-122"/>
                <a:cs typeface="Arial" pitchFamily="34" charset="-120"/>
              </a:rPr>
              <a:t> Find similar issues/tickets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Sentiment Analysis:</a:t>
            </a:r>
            <a:r>
              <a:rPr lang="en-US" sz="1350" dirty="0">
                <a:solidFill>
                  <a:srgbClr val="CBD5E1"/>
                </a:solidFill>
                <a:latin typeface="Arial" pitchFamily="34" charset="0"/>
                <a:ea typeface="Arial" pitchFamily="34" charset="-122"/>
                <a:cs typeface="Arial" pitchFamily="34" charset="-120"/>
              </a:rPr>
              <a:t> Cluster emotionally similar documents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Performance &amp; Optimization</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Dimensions:</a:t>
            </a:r>
            <a:r>
              <a:rPr lang="en-US" sz="1350" dirty="0">
                <a:solidFill>
                  <a:srgbClr val="CBD5E1"/>
                </a:solidFill>
                <a:latin typeface="Arial" pitchFamily="34" charset="0"/>
                <a:ea typeface="Arial" pitchFamily="34" charset="-122"/>
                <a:cs typeface="Arial" pitchFamily="34" charset="-120"/>
              </a:rPr>
              <a:t> More = accurate but slower (1024 is sweet spot)</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numCandidates:</a:t>
            </a:r>
            <a:r>
              <a:rPr lang="en-US" sz="1350" dirty="0">
                <a:solidFill>
                  <a:srgbClr val="CBD5E1"/>
                </a:solidFill>
                <a:latin typeface="Arial" pitchFamily="34" charset="0"/>
                <a:ea typeface="Arial" pitchFamily="34" charset="-122"/>
                <a:cs typeface="Arial" pitchFamily="34" charset="-120"/>
              </a:rPr>
              <a:t> Higher accuracy, lower speed tradeoff</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Pre-filtering:</a:t>
            </a:r>
            <a:r>
              <a:rPr lang="en-US" sz="1350" dirty="0">
                <a:solidFill>
                  <a:srgbClr val="CBD5E1"/>
                </a:solidFill>
                <a:latin typeface="Arial" pitchFamily="34" charset="0"/>
                <a:ea typeface="Arial" pitchFamily="34" charset="-122"/>
                <a:cs typeface="Arial" pitchFamily="34" charset="-120"/>
              </a:rPr>
              <a:t> Use filters in $vectorSearch to reduce candidates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Hardware:</a:t>
            </a:r>
            <a:r>
              <a:rPr lang="en-US" sz="1350" dirty="0">
                <a:solidFill>
                  <a:srgbClr val="CBD5E1"/>
                </a:solidFill>
                <a:latin typeface="Arial" pitchFamily="34" charset="0"/>
                <a:ea typeface="Arial" pitchFamily="34" charset="-122"/>
                <a:cs typeface="Arial" pitchFamily="34" charset="-120"/>
              </a:rPr>
              <a:t> Atlas M10+ clusters required for vector search</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MongoDB Vector Search Limits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Max Dimensions:</a:t>
            </a:r>
            <a:r>
              <a:rPr lang="en-US" sz="1350" dirty="0">
                <a:solidFill>
                  <a:srgbClr val="CBD5E1"/>
                </a:solidFill>
                <a:latin typeface="Arial" pitchFamily="34" charset="0"/>
                <a:ea typeface="Arial" pitchFamily="34" charset="-122"/>
                <a:cs typeface="Arial" pitchFamily="34" charset="-120"/>
              </a:rPr>
              <a:t> 4096 per embedding</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Atlas Only:</a:t>
            </a:r>
            <a:r>
              <a:rPr lang="en-US" sz="1350" dirty="0">
                <a:solidFill>
                  <a:srgbClr val="CBD5E1"/>
                </a:solidFill>
                <a:latin typeface="Arial" pitchFamily="34" charset="0"/>
                <a:ea typeface="Arial" pitchFamily="34" charset="-122"/>
                <a:cs typeface="Arial" pitchFamily="34" charset="-120"/>
              </a:rPr>
              <a:t> Not available in Community Edition</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Minimum Cluster:</a:t>
            </a:r>
            <a:r>
              <a:rPr lang="en-US" sz="1350" dirty="0">
                <a:solidFill>
                  <a:srgbClr val="CBD5E1"/>
                </a:solidFill>
                <a:latin typeface="Arial" pitchFamily="34" charset="0"/>
                <a:ea typeface="Arial" pitchFamily="34" charset="-122"/>
                <a:cs typeface="Arial" pitchFamily="34" charset="-120"/>
              </a:rPr>
              <a:t> M10 or higher tier</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Stage Position:</a:t>
            </a:r>
            <a:r>
              <a:rPr lang="en-US" sz="1350" dirty="0">
                <a:solidFill>
                  <a:srgbClr val="CBD5E1"/>
                </a:solidFill>
                <a:latin typeface="Arial" pitchFamily="34" charset="0"/>
                <a:ea typeface="Arial" pitchFamily="34" charset="-122"/>
                <a:cs typeface="Arial" pitchFamily="34" charset="-120"/>
              </a:rPr>
              <a:t> $vectorSearch must be first in pipeline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Best Practices</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Consistent Models:</a:t>
            </a:r>
            <a:r>
              <a:rPr lang="en-US" sz="1350" dirty="0">
                <a:solidFill>
                  <a:srgbClr val="CBD5E1"/>
                </a:solidFill>
                <a:latin typeface="Arial" pitchFamily="34" charset="0"/>
                <a:ea typeface="Arial" pitchFamily="34" charset="-122"/>
                <a:cs typeface="Arial" pitchFamily="34" charset="-120"/>
              </a:rPr>
              <a:t> Use same embedding model for storage &amp; queries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Cache Embeddings:</a:t>
            </a:r>
            <a:r>
              <a:rPr lang="en-US" sz="1350" dirty="0">
                <a:solidFill>
                  <a:srgbClr val="CBD5E1"/>
                </a:solidFill>
                <a:latin typeface="Arial" pitchFamily="34" charset="0"/>
                <a:ea typeface="Arial" pitchFamily="34" charset="-122"/>
                <a:cs typeface="Arial" pitchFamily="34" charset="-120"/>
              </a:rPr>
              <a:t> Avoid re-generating vectors</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Monitor Costs:</a:t>
            </a:r>
            <a:r>
              <a:rPr lang="en-US" sz="1350" dirty="0">
                <a:solidFill>
                  <a:srgbClr val="CBD5E1"/>
                </a:solidFill>
                <a:latin typeface="Arial" pitchFamily="34" charset="0"/>
                <a:ea typeface="Arial" pitchFamily="34" charset="-122"/>
                <a:cs typeface="Arial" pitchFamily="34" charset="-120"/>
              </a:rPr>
              <a:t> API calls for embedding generation add up</a:t>
            </a:r>
            <a:endParaRPr lang="en-US" sz="1350" dirty="0"/>
          </a:p>
          <a:p>
            <a:pPr marL="342900" indent="-342900">
              <a:lnSpc>
                <a:spcPts val="3240"/>
              </a:lnSpc>
              <a:buSzPct val="100000"/>
              <a:buChar char="•"/>
            </a:pPr>
            <a:r>
              <a:rPr lang="en-US" sz="1350" dirty="0">
                <a:solidFill>
                  <a:srgbClr val="38BDF8"/>
                </a:solidFill>
                <a:latin typeface="Arial" pitchFamily="34" charset="0"/>
                <a:ea typeface="Arial" pitchFamily="34" charset="-122"/>
                <a:cs typeface="Arial" pitchFamily="34" charset="-120"/>
              </a:rPr>
              <a:t>Tune numCandidates:</a:t>
            </a:r>
            <a:r>
              <a:rPr lang="en-US" sz="1350" dirty="0">
                <a:solidFill>
                  <a:srgbClr val="CBD5E1"/>
                </a:solidFill>
                <a:latin typeface="Arial" pitchFamily="34" charset="0"/>
                <a:ea typeface="Arial" pitchFamily="34" charset="-122"/>
                <a:cs typeface="Arial" pitchFamily="34" charset="-120"/>
              </a:rPr>
              <a:t> Start high, optimize down for latency</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4320"/>
              </a:lnSpc>
              <a:buNone/>
            </a:pPr>
            <a:r>
              <a:t>Data Preparation &amp; Storage Strategy</a:t>
            </a:r>
            <a:endParaRPr lang="en-US" sz="2700" dirty="0"/>
          </a:p>
        </p:txBody>
      </p:sp>
      <p:sp>
        <p:nvSpPr>
          <p:cNvPr id="3" name="Text 1"/>
          <p:cNvSpPr/>
          <p:nvPr/>
        </p:nvSpPr>
        <p:spPr>
          <a:xfrm>
            <a:off x="914400" y="1249635"/>
            <a:ext cx="7620000" cy="1577280"/>
          </a:xfrm>
          <a:prstGeom prst="rect">
            <a:avLst/>
          </a:prstGeom>
          <a:noFill/>
          <a:ln/>
        </p:spPr>
        <p:txBody>
          <a:bodyPr wrap="square" lIns="0" tIns="0" rIns="0" bIns="0" rtlCol="0" anchor="t"/>
          <a:lstStyle/>
          <a:p>
            <a:pPr marL="342900" indent="-342900">
              <a:lnSpc>
                <a:spcPts val="3240"/>
              </a:lnSpc>
              <a:buSzPct val="100000"/>
              <a:buChar char="•"/>
            </a:pPr>
            <a:r>
              <a:t>Clean/normalize text; chunk to ~200–400 tokens to keep context tight</a:t>
            </a:r>
            <a:br/>
            <a:r>
              <a:t>Attach metadata (topic, language, tenant/access flags) for pre-filtering</a:t>
            </a:r>
            <a:br/>
            <a:r>
              <a:t>Store raw text + embedding + model_version + createdAt/updatedAt</a:t>
            </a:r>
            <a:br/>
            <a:r>
              <a:t>Use deterministic chunk IDs to upsert/delete when content changes</a:t>
            </a:r>
            <a:br/>
            <a:r>
              <a:t>Schedule refresh jobs when upgrading the embedding model</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2865185" y="1630710"/>
            <a:ext cx="3413556" cy="548580"/>
          </a:xfrm>
          <a:prstGeom prst="rect">
            <a:avLst/>
          </a:prstGeom>
          <a:noFill/>
          <a:ln/>
        </p:spPr>
        <p:txBody>
          <a:bodyPr wrap="square" lIns="0" tIns="0" rIns="0" bIns="0" rtlCol="0" anchor="t"/>
          <a:lstStyle/>
          <a:p>
            <a:pPr marL="0" indent="0" algn="ctr">
              <a:lnSpc>
                <a:spcPts val="5760"/>
              </a:lnSpc>
              <a:buNone/>
            </a:pPr>
            <a:r>
              <a:t>Evaluation &amp; Monitoring</a:t>
            </a:r>
            <a:endParaRPr lang="en-US" sz="3600" dirty="0"/>
          </a:p>
        </p:txBody>
      </p:sp>
      <p:sp>
        <p:nvSpPr>
          <p:cNvPr id="3" name="Text 1"/>
          <p:cNvSpPr/>
          <p:nvPr/>
        </p:nvSpPr>
        <p:spPr>
          <a:xfrm>
            <a:off x="2292729" y="2407890"/>
            <a:ext cx="4558467" cy="266700"/>
          </a:xfrm>
          <a:prstGeom prst="rect">
            <a:avLst/>
          </a:prstGeom>
          <a:noFill/>
          <a:ln/>
        </p:spPr>
        <p:txBody>
          <a:bodyPr wrap="square" lIns="0" tIns="0" rIns="0" bIns="0" rtlCol="0" anchor="t"/>
          <a:lstStyle/>
          <a:p>
            <a:pPr marL="0" indent="0" algn="ctr">
              <a:lnSpc>
                <a:spcPts val="2800"/>
              </a:lnSpc>
              <a:buNone/>
            </a:pPr>
            <a:r>
              <a:t>Offline: golden queries with expected neighbors; track recall@k, MRR</a:t>
            </a:r>
            <a:br/>
            <a:r>
              <a:t>Online: click-through, dwell time, thumbs-up/down feedback</a:t>
            </a:r>
            <a:br/>
            <a:r>
              <a:t>Latency &amp; cost: enforce SLOs; monitor embedding API spend</a:t>
            </a:r>
            <a:br/>
            <a:r>
              <a:t>Drift: watch embedding distributions and model version rollouts</a:t>
            </a:r>
            <a:br/>
            <a:r>
              <a:t>Logging: keep query vectors, scores, filters for audits and regressions</a:t>
            </a:r>
            <a:endParaRPr lang="en-US" sz="1500" dirty="0"/>
          </a:p>
        </p:txBody>
      </p:sp>
      <p:sp>
        <p:nvSpPr>
          <p:cNvPr id="4" name="Text 2"/>
          <p:cNvSpPr/>
          <p:nvPr/>
        </p:nvSpPr>
        <p:spPr>
          <a:xfrm>
            <a:off x="2460549" y="2826990"/>
            <a:ext cx="4222827" cy="266700"/>
          </a:xfrm>
          <a:prstGeom prst="rect">
            <a:avLst/>
          </a:prstGeom>
          <a:noFill/>
          <a:ln/>
        </p:spPr>
        <p:txBody>
          <a:bodyPr wrap="square" lIns="0" tIns="0" rIns="0" bIns="0" rtlCol="0" anchor="t"/>
          <a:lstStyle/>
          <a:p>
            <a:pPr marL="0" indent="0" algn="ctr">
              <a:lnSpc>
                <a:spcPts val="2800"/>
              </a:lnSpc>
              <a:buNone/>
            </a:pPr>
            <a:endParaRPr lang="en-US" sz="1500" dirty="0"/>
          </a:p>
        </p:txBody>
      </p:sp>
      <p:sp>
        <p:nvSpPr>
          <p:cNvPr id="5" name="Text 3"/>
          <p:cNvSpPr/>
          <p:nvPr/>
        </p:nvSpPr>
        <p:spPr>
          <a:xfrm>
            <a:off x="2536072" y="3246090"/>
            <a:ext cx="4071781" cy="266700"/>
          </a:xfrm>
          <a:prstGeom prst="rect">
            <a:avLst/>
          </a:prstGeom>
          <a:noFill/>
          <a:ln/>
        </p:spPr>
        <p:txBody>
          <a:bodyPr wrap="square" lIns="0" tIns="0" rIns="0" bIns="0" rtlCol="0" anchor="t"/>
          <a:lstStyle/>
          <a:p>
            <a:pPr marL="0" indent="0" algn="ctr">
              <a:lnSpc>
                <a:spcPts val="2800"/>
              </a:lnSpc>
              <a:buNone/>
            </a:pPr>
            <a:endParaRPr lang="en-US" sz="15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09600"/>
            <a:ext cx="8083296" cy="411435"/>
          </a:xfrm>
          <a:prstGeom prst="rect">
            <a:avLst/>
          </a:prstGeom>
          <a:noFill/>
        </p:spPr>
        <p:txBody>
          <a:bodyPr wrap="none">
            <a:spAutoFit/>
          </a:bodyPr>
          <a:lstStyle/>
          <a:p>
            <a:r>
              <a:t>Resources &amp; Next Steps</a:t>
            </a:r>
          </a:p>
        </p:txBody>
      </p:sp>
      <p:sp>
        <p:nvSpPr>
          <p:cNvPr id="3" name="TextBox 2"/>
          <p:cNvSpPr txBox="1"/>
          <p:nvPr/>
        </p:nvSpPr>
        <p:spPr>
          <a:xfrm>
            <a:off x="914400" y="1249635"/>
            <a:ext cx="7620000" cy="1577280"/>
          </a:xfrm>
          <a:prstGeom prst="rect">
            <a:avLst/>
          </a:prstGeom>
          <a:noFill/>
        </p:spPr>
        <p:txBody>
          <a:bodyPr wrap="none">
            <a:spAutoFit/>
          </a:bodyPr>
          <a:lstStyle/>
          <a:p>
            <a:r>
              <a:t>MongoDB Docs: https://www.mongodb.com/docs/atlas/atlas-vector-search/</a:t>
            </a:r>
            <a:br/>
            <a:r>
              <a:t>Sample Data: Atlas sample_mflix embedded_movies with plot embeddings</a:t>
            </a:r>
            <a:br/>
            <a:r>
              <a:t>Try It: create the vector index, run $vectorSearch, test filters + numCandidates</a:t>
            </a:r>
            <a:br/>
            <a:r>
              <a:t>Experiment: compare cosine vs dotProduct; vary dimensions and chunk sizes</a:t>
            </a:r>
            <a:br/>
            <a:r>
              <a:t>Ship: add observability, cost limits, and rollback plan before production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09600"/>
            <a:ext cx="8083296" cy="411435"/>
          </a:xfrm>
          <a:prstGeom prst="rect">
            <a:avLst/>
          </a:prstGeom>
          <a:noFill/>
        </p:spPr>
        <p:txBody>
          <a:bodyPr wrap="none">
            <a:spAutoFit/>
          </a:bodyPr>
          <a:lstStyle/>
          <a:p>
            <a:r>
              <a:t>Key Takeaways</a:t>
            </a:r>
          </a:p>
        </p:txBody>
      </p:sp>
      <p:sp>
        <p:nvSpPr>
          <p:cNvPr id="3" name="TextBox 2"/>
          <p:cNvSpPr txBox="1"/>
          <p:nvPr/>
        </p:nvSpPr>
        <p:spPr>
          <a:xfrm>
            <a:off x="914400" y="1249635"/>
            <a:ext cx="7620000" cy="1577280"/>
          </a:xfrm>
          <a:prstGeom prst="rect">
            <a:avLst/>
          </a:prstGeom>
          <a:noFill/>
        </p:spPr>
        <p:txBody>
          <a:bodyPr wrap="none">
            <a:spAutoFit/>
          </a:bodyPr>
          <a:lstStyle/>
          <a:p>
            <a:r>
              <a:t>Embeddings turn meaning into math for intent-based search</a:t>
            </a:r>
            <a:br/>
            <a:r>
              <a:t>Atlas Vector Search keeps vectors with operational data in one query path</a:t>
            </a:r>
            <a:br/>
            <a:r>
              <a:t>Performance depends on prep, indexing, and tuned numCandidates</a:t>
            </a:r>
            <a:br/>
            <a:r>
              <a:t>Plan evaluation, monitoring, and model lifecycle from day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1250</Words>
  <Application>Microsoft Macintosh PowerPoint</Application>
  <PresentationFormat>On-screen Show (16:9)</PresentationFormat>
  <Paragraphs>188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Courier New</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Atilio Barreda</cp:lastModifiedBy>
  <cp:revision>1</cp:revision>
  <dcterms:created xsi:type="dcterms:W3CDTF">2025-12-02T22:30:54Z</dcterms:created>
  <dcterms:modified xsi:type="dcterms:W3CDTF">2025-12-02T22:31:17Z</dcterms:modified>
</cp:coreProperties>
</file>