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the last class meeting for CST4714. The goal is to connect everything you learned into a clear story you can use after the course. We are going to review database administration concepts, look at small notebooks that reinforce the technical ideas, and then build one GitHub artifact that explains a concept from the class. By the end of today, you should be able to point to something concrete and say, this shows that I can explain and apply a database administration concept.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course was not only about writing SQL or clicking through cloud dashboards. The course was about the responsibilities around databases. A database administrator plans structures, protects access, checks performance, prepares recovery, and explains tradeoffs clearly. The tools changed during the semester, but the operating mindset stayed the same: make a database decision, verify it with evidence, and explain the risk or tradeoff.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semester as one sequence. We started with database administration roles and managed cloud platforms. Then we practiced relational design and PostgreSQL operations. We moved into transactions, locking, and reliability. After that, we introduced NoSQL, JSON, MongoDB Atlas, MQL, data modeling, indexing, aggregation, and distributed tradeoffs. The final project is the place where these pieces come together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relational database organizes data into tables. Tables have rows, columns, keys, and constraints. The important idea is not just that data is stored in tables. The important idea is that the database can enforce rules about the data. Primary keys identify rows. Foreign keys connect rows. Constraints protect data quality. This is why relational design is still central to database administration.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operations are not just about getting the right answer once. A database administrator cares about repeatable questions and evidence. A useful query answers a real operational question. An index should match a real access pattern. Verification means checking the result before and after a change. This is the difference between casual querying and administration.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Transactions protect correctness when multiple actions need to succeed or fail together. Locking is how the database coordinates concurrent changes. This can create waits, and waits can look like performance problems. The professional move is to diagnose before reacting. Capture the blocker, the waiter, and the timeline before deciding how to mitigate.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Supabase makes Postgres easier to host and access, but it does not remove the need for administration. Students still need to understand schema quality, query quality, permissions, row-level security thinking, connection settings, and backup awareness. In an interview, the important language is managed service means fewer infrastructure chores, not zero operational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stores documents, and documents can contain nested objects and arrays. The main modeling question is how the application reads and writes data. Embedding can be good when data is read together. Referencing can be good when data changes independently or needs one source of truth. There can be more than one valid model, but the model should match the access pattern.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NoSQL is not one database model. It is a family of models. Key-value stores are good for simple fast lookups. Document databases are good for flexible nested records. Graph databases are good for relationships and paths. Vector databases are good for similarity search. The professional question is not which one is trendy. The question is what problem the data model is trying to solve.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means the system can continue or recover when something goes wrong. A backup matters, but it is not enough by itself. A team also needs a restore procedure, a verification check, and a clear source of truth. In distributed systems, the source of truth is what the application trusts when copied or derived data disagrees.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not just a password. Database security includes who can connect, what credentials exist, what network locations are allowed, what roles can do, and what rows users are allowed to see. The beginner version is least privilege: give the minimum access needed for the task, and do not expose secrets in GitHub, screenshots, or notebooks.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project is not only a database artifact. It is evidence that you can scope a small database, make platform choices, create data, write useful queries, explain access and reliability decisions, and communicate the work. The project does not need to be huge. It needs to be understandable, defensible, and complete enough to discuss.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talk about this course in an interview, do not say only that you know databases. Use a four-part structure. Name the concept, give an example from class, point to evidence, and explain one tradeoff. That structure makes your answer sound real because it connects knowledge to action and action to judgment.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GitHub artifact is useful if it teaches one idea clearly. It does not need to be a full application. It should have a title, a plain-language explanation, a small example, one tradeoff, and a sentence connecting the concept to the course. The goal is to make your thinking visible.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lab is simple and practical. Each student creates one GitHub artifact about one concept from the course. The artifact can be a markdown guide or a small code example with comments. The submission is one Brightspace text response with the GitHub URL, the concept chosen, and one sentence explaining why the concept matters.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sometimes freeze because they think the artifact needs to be impressive. It does not. The strongest choice is usually one concept they can explain clearly. Indexes, primary keys, embedding versus referencing, source of truth, backup and restore, transactions, and row-level security are all good choices. Clear and correct beats complicated.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end of class, each student should be able to fill in this story. I built or reviewed a database concept using a specific platform or example. I can explain the database decision. I can show evidence. I understand at least one tradeoff. This is exactly how technical learning becomes interview language.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project is due May twenty-sixth, twenty twenty-six. Between now and then, focus on completeness and clarity. Make sure your database artifact exists, your evidence is understandable, your access or submission method works, and your explanation includes tradeoffs. Do not hide uncertainty. Explain what you built, what you verified, and what you would improve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713232" y="658368"/>
            <a:ext cx="4389120" cy="320040"/>
          </a:xfrm>
          <a:prstGeom prst="rect">
            <a:avLst/>
          </a:prstGeom>
          <a:noFill/>
        </p:spPr>
        <p:txBody>
          <a:bodyPr wrap="none" lIns="73152" rIns="73152" tIns="36576" bIns="36576">
            <a:spAutoFit/>
          </a:bodyPr>
          <a:lstStyle/>
          <a:p>
            <a:r>
              <a:rPr sz="1200" b="1">
                <a:solidFill>
                  <a:srgbClr val="1F7A74"/>
                </a:solidFill>
                <a:latin typeface="Aptos Display"/>
              </a:rPr>
              <a:t>LAST CLASS | MAY 19, 2026</a:t>
            </a:r>
          </a:p>
        </p:txBody>
      </p:sp>
      <p:sp>
        <p:nvSpPr>
          <p:cNvPr id="3" name="TextBox 2"/>
          <p:cNvSpPr txBox="1"/>
          <p:nvPr/>
        </p:nvSpPr>
        <p:spPr>
          <a:xfrm>
            <a:off x="658368" y="1143000"/>
            <a:ext cx="8046720" cy="914400"/>
          </a:xfrm>
          <a:prstGeom prst="rect">
            <a:avLst/>
          </a:prstGeom>
          <a:noFill/>
        </p:spPr>
        <p:txBody>
          <a:bodyPr wrap="none" lIns="73152" rIns="73152" tIns="36576" bIns="36576">
            <a:spAutoFit/>
          </a:bodyPr>
          <a:lstStyle/>
          <a:p>
            <a:r>
              <a:rPr sz="3800" b="1">
                <a:solidFill>
                  <a:srgbClr val="1C2630"/>
                </a:solidFill>
                <a:latin typeface="Aptos Display"/>
              </a:rPr>
              <a:t>Database Administration Portfolio Review</a:t>
            </a:r>
          </a:p>
        </p:txBody>
      </p:sp>
      <p:sp>
        <p:nvSpPr>
          <p:cNvPr id="4" name="TextBox 3"/>
          <p:cNvSpPr txBox="1"/>
          <p:nvPr/>
        </p:nvSpPr>
        <p:spPr>
          <a:xfrm>
            <a:off x="713232" y="2121408"/>
            <a:ext cx="6949440" cy="502920"/>
          </a:xfrm>
          <a:prstGeom prst="rect">
            <a:avLst/>
          </a:prstGeom>
          <a:noFill/>
        </p:spPr>
        <p:txBody>
          <a:bodyPr wrap="none" lIns="73152" rIns="73152" tIns="36576" bIns="36576">
            <a:spAutoFit/>
          </a:bodyPr>
          <a:lstStyle/>
          <a:p>
            <a:r>
              <a:rPr sz="2000" b="0">
                <a:solidFill>
                  <a:srgbClr val="5D6976"/>
                </a:solidFill>
                <a:latin typeface="Aptos"/>
              </a:rPr>
              <a:t>Review the course. Translate skills into evidence. Leave with one GitHub artifact you can explain.</a:t>
            </a:r>
          </a:p>
        </p:txBody>
      </p:sp>
      <p:sp>
        <p:nvSpPr>
          <p:cNvPr id="5" name="Rounded Rectangle 4"/>
          <p:cNvSpPr/>
          <p:nvPr/>
        </p:nvSpPr>
        <p:spPr>
          <a:xfrm>
            <a:off x="7909560" y="1051560"/>
            <a:ext cx="1508760" cy="96012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909560" y="1051560"/>
            <a:ext cx="82296" cy="96012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74152" y="1161288"/>
            <a:ext cx="1188719" cy="320040"/>
          </a:xfrm>
          <a:prstGeom prst="rect">
            <a:avLst/>
          </a:prstGeom>
          <a:noFill/>
        </p:spPr>
        <p:txBody>
          <a:bodyPr wrap="none" lIns="73152" rIns="73152" tIns="36576" bIns="36576">
            <a:spAutoFit/>
          </a:bodyPr>
          <a:lstStyle/>
          <a:p>
            <a:r>
              <a:rPr sz="1500" b="1">
                <a:solidFill>
                  <a:srgbClr val="365E99"/>
                </a:solidFill>
                <a:latin typeface="Aptos Display"/>
              </a:rPr>
              <a:t>Design</a:t>
            </a:r>
          </a:p>
        </p:txBody>
      </p:sp>
      <p:sp>
        <p:nvSpPr>
          <p:cNvPr id="8" name="TextBox 7"/>
          <p:cNvSpPr txBox="1"/>
          <p:nvPr/>
        </p:nvSpPr>
        <p:spPr>
          <a:xfrm>
            <a:off x="8074152" y="1554480"/>
            <a:ext cx="1188719" cy="365760"/>
          </a:xfrm>
          <a:prstGeom prst="rect">
            <a:avLst/>
          </a:prstGeom>
          <a:noFill/>
        </p:spPr>
        <p:txBody>
          <a:bodyPr wrap="none" lIns="73152" rIns="73152" tIns="36576" bIns="36576">
            <a:spAutoFit/>
          </a:bodyPr>
          <a:lstStyle/>
          <a:p>
            <a:r>
              <a:rPr sz="1100" b="0">
                <a:solidFill>
                  <a:srgbClr val="1C2630"/>
                </a:solidFill>
                <a:latin typeface="Aptos"/>
              </a:rPr>
              <a:t>DBA skill</a:t>
            </a:r>
          </a:p>
        </p:txBody>
      </p:sp>
      <p:sp>
        <p:nvSpPr>
          <p:cNvPr id="9" name="Rounded Rectangle 8"/>
          <p:cNvSpPr/>
          <p:nvPr/>
        </p:nvSpPr>
        <p:spPr>
          <a:xfrm>
            <a:off x="9646920" y="1051560"/>
            <a:ext cx="1508760" cy="96012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46920" y="1051560"/>
            <a:ext cx="82296" cy="96012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1512" y="1161288"/>
            <a:ext cx="1188719" cy="320040"/>
          </a:xfrm>
          <a:prstGeom prst="rect">
            <a:avLst/>
          </a:prstGeom>
          <a:noFill/>
        </p:spPr>
        <p:txBody>
          <a:bodyPr wrap="none" lIns="73152" rIns="73152" tIns="36576" bIns="36576">
            <a:spAutoFit/>
          </a:bodyPr>
          <a:lstStyle/>
          <a:p>
            <a:r>
              <a:rPr sz="1500" b="1">
                <a:solidFill>
                  <a:srgbClr val="4F8B57"/>
                </a:solidFill>
                <a:latin typeface="Aptos Display"/>
              </a:rPr>
              <a:t>Secure</a:t>
            </a:r>
          </a:p>
        </p:txBody>
      </p:sp>
      <p:sp>
        <p:nvSpPr>
          <p:cNvPr id="12" name="TextBox 11"/>
          <p:cNvSpPr txBox="1"/>
          <p:nvPr/>
        </p:nvSpPr>
        <p:spPr>
          <a:xfrm>
            <a:off x="9811512" y="1554480"/>
            <a:ext cx="1188719" cy="365760"/>
          </a:xfrm>
          <a:prstGeom prst="rect">
            <a:avLst/>
          </a:prstGeom>
          <a:noFill/>
        </p:spPr>
        <p:txBody>
          <a:bodyPr wrap="none" lIns="73152" rIns="73152" tIns="36576" bIns="36576">
            <a:spAutoFit/>
          </a:bodyPr>
          <a:lstStyle/>
          <a:p>
            <a:r>
              <a:rPr sz="1100" b="0">
                <a:solidFill>
                  <a:srgbClr val="1C2630"/>
                </a:solidFill>
                <a:latin typeface="Aptos"/>
              </a:rPr>
              <a:t>DBA skill</a:t>
            </a:r>
          </a:p>
        </p:txBody>
      </p:sp>
      <p:sp>
        <p:nvSpPr>
          <p:cNvPr id="13" name="Rounded Rectangle 12"/>
          <p:cNvSpPr/>
          <p:nvPr/>
        </p:nvSpPr>
        <p:spPr>
          <a:xfrm>
            <a:off x="7909560" y="2468880"/>
            <a:ext cx="1508760" cy="96012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9560" y="2468880"/>
            <a:ext cx="82296" cy="96012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74152" y="2578608"/>
            <a:ext cx="1188719" cy="320040"/>
          </a:xfrm>
          <a:prstGeom prst="rect">
            <a:avLst/>
          </a:prstGeom>
          <a:noFill/>
        </p:spPr>
        <p:txBody>
          <a:bodyPr wrap="none" lIns="73152" rIns="73152" tIns="36576" bIns="36576">
            <a:spAutoFit/>
          </a:bodyPr>
          <a:lstStyle/>
          <a:p>
            <a:r>
              <a:rPr sz="1500" b="1">
                <a:solidFill>
                  <a:srgbClr val="D6703A"/>
                </a:solidFill>
                <a:latin typeface="Aptos Display"/>
              </a:rPr>
              <a:t>Tune</a:t>
            </a:r>
          </a:p>
        </p:txBody>
      </p:sp>
      <p:sp>
        <p:nvSpPr>
          <p:cNvPr id="16" name="TextBox 15"/>
          <p:cNvSpPr txBox="1"/>
          <p:nvPr/>
        </p:nvSpPr>
        <p:spPr>
          <a:xfrm>
            <a:off x="8074152" y="2971800"/>
            <a:ext cx="1188719" cy="365760"/>
          </a:xfrm>
          <a:prstGeom prst="rect">
            <a:avLst/>
          </a:prstGeom>
          <a:noFill/>
        </p:spPr>
        <p:txBody>
          <a:bodyPr wrap="none" lIns="73152" rIns="73152" tIns="36576" bIns="36576">
            <a:spAutoFit/>
          </a:bodyPr>
          <a:lstStyle/>
          <a:p>
            <a:r>
              <a:rPr sz="1100" b="0">
                <a:solidFill>
                  <a:srgbClr val="1C2630"/>
                </a:solidFill>
                <a:latin typeface="Aptos"/>
              </a:rPr>
              <a:t>DBA skill</a:t>
            </a:r>
          </a:p>
        </p:txBody>
      </p:sp>
      <p:sp>
        <p:nvSpPr>
          <p:cNvPr id="17" name="Rounded Rectangle 16"/>
          <p:cNvSpPr/>
          <p:nvPr/>
        </p:nvSpPr>
        <p:spPr>
          <a:xfrm>
            <a:off x="9646920" y="2468880"/>
            <a:ext cx="1508760" cy="96012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46920" y="2468880"/>
            <a:ext cx="82296" cy="960120"/>
          </a:xfrm>
          <a:prstGeom prst="rect">
            <a:avLst/>
          </a:prstGeom>
          <a:solidFill>
            <a:srgbClr val="B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1512" y="2578608"/>
            <a:ext cx="1188719" cy="320040"/>
          </a:xfrm>
          <a:prstGeom prst="rect">
            <a:avLst/>
          </a:prstGeom>
          <a:noFill/>
        </p:spPr>
        <p:txBody>
          <a:bodyPr wrap="none" lIns="73152" rIns="73152" tIns="36576" bIns="36576">
            <a:spAutoFit/>
          </a:bodyPr>
          <a:lstStyle/>
          <a:p>
            <a:r>
              <a:rPr sz="1500" b="1">
                <a:solidFill>
                  <a:srgbClr val="B24B4B"/>
                </a:solidFill>
                <a:latin typeface="Aptos Display"/>
              </a:rPr>
              <a:t>Recover</a:t>
            </a:r>
          </a:p>
        </p:txBody>
      </p:sp>
      <p:sp>
        <p:nvSpPr>
          <p:cNvPr id="20" name="TextBox 19"/>
          <p:cNvSpPr txBox="1"/>
          <p:nvPr/>
        </p:nvSpPr>
        <p:spPr>
          <a:xfrm>
            <a:off x="9811512" y="2971800"/>
            <a:ext cx="1188719" cy="365760"/>
          </a:xfrm>
          <a:prstGeom prst="rect">
            <a:avLst/>
          </a:prstGeom>
          <a:noFill/>
        </p:spPr>
        <p:txBody>
          <a:bodyPr wrap="none" lIns="73152" rIns="73152" tIns="36576" bIns="36576">
            <a:spAutoFit/>
          </a:bodyPr>
          <a:lstStyle/>
          <a:p>
            <a:r>
              <a:rPr sz="1100" b="0">
                <a:solidFill>
                  <a:srgbClr val="1C2630"/>
                </a:solidFill>
                <a:latin typeface="Aptos"/>
              </a:rPr>
              <a:t>DBA skill</a:t>
            </a:r>
          </a:p>
        </p:txBody>
      </p:sp>
      <p:sp>
        <p:nvSpPr>
          <p:cNvPr id="21" name="Rounded Rectangle 20"/>
          <p:cNvSpPr/>
          <p:nvPr/>
        </p:nvSpPr>
        <p:spPr>
          <a:xfrm>
            <a:off x="8412480" y="4160520"/>
            <a:ext cx="2331720" cy="9144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4160520"/>
            <a:ext cx="82296" cy="9144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77072" y="4270248"/>
            <a:ext cx="2011679" cy="320040"/>
          </a:xfrm>
          <a:prstGeom prst="rect">
            <a:avLst/>
          </a:prstGeom>
          <a:noFill/>
        </p:spPr>
        <p:txBody>
          <a:bodyPr wrap="none" lIns="73152" rIns="73152" tIns="36576" bIns="36576">
            <a:spAutoFit/>
          </a:bodyPr>
          <a:lstStyle/>
          <a:p>
            <a:r>
              <a:rPr sz="1500" b="1">
                <a:solidFill>
                  <a:srgbClr val="1F7A74"/>
                </a:solidFill>
                <a:latin typeface="Aptos Display"/>
              </a:rPr>
              <a:t>Explain It</a:t>
            </a:r>
          </a:p>
        </p:txBody>
      </p:sp>
      <p:sp>
        <p:nvSpPr>
          <p:cNvPr id="24" name="TextBox 23"/>
          <p:cNvSpPr txBox="1"/>
          <p:nvPr/>
        </p:nvSpPr>
        <p:spPr>
          <a:xfrm>
            <a:off x="8577072" y="4663440"/>
            <a:ext cx="2011679" cy="320040"/>
          </a:xfrm>
          <a:prstGeom prst="rect">
            <a:avLst/>
          </a:prstGeom>
          <a:noFill/>
        </p:spPr>
        <p:txBody>
          <a:bodyPr wrap="none" lIns="73152" rIns="73152" tIns="36576" bIns="36576">
            <a:spAutoFit/>
          </a:bodyPr>
          <a:lstStyle/>
          <a:p>
            <a:r>
              <a:rPr sz="1200" b="0">
                <a:solidFill>
                  <a:srgbClr val="1C2630"/>
                </a:solidFill>
                <a:latin typeface="Aptos"/>
              </a:rPr>
              <a:t>Portfolio + interview language</a:t>
            </a:r>
          </a:p>
        </p:txBody>
      </p:sp>
      <p:sp>
        <p:nvSpPr>
          <p:cNvPr id="25" name="TextBox 2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26" name="TextBox 2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COURSE MAP</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What This Course Was Really About</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2</a:t>
            </a:r>
          </a:p>
        </p:txBody>
      </p:sp>
      <p:sp>
        <p:nvSpPr>
          <p:cNvPr id="7" name="Rounded Rectangle 6"/>
          <p:cNvSpPr/>
          <p:nvPr/>
        </p:nvSpPr>
        <p:spPr>
          <a:xfrm>
            <a:off x="685800" y="1645920"/>
            <a:ext cx="20574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82296" cy="11430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755648"/>
            <a:ext cx="1737360" cy="320040"/>
          </a:xfrm>
          <a:prstGeom prst="rect">
            <a:avLst/>
          </a:prstGeom>
          <a:noFill/>
        </p:spPr>
        <p:txBody>
          <a:bodyPr wrap="none" lIns="73152" rIns="73152" tIns="36576" bIns="36576">
            <a:spAutoFit/>
          </a:bodyPr>
          <a:lstStyle/>
          <a:p>
            <a:r>
              <a:rPr sz="1500" b="1">
                <a:solidFill>
                  <a:srgbClr val="365E99"/>
                </a:solidFill>
                <a:latin typeface="Aptos Display"/>
              </a:rPr>
              <a:t>Plan</a:t>
            </a:r>
          </a:p>
        </p:txBody>
      </p:sp>
      <p:sp>
        <p:nvSpPr>
          <p:cNvPr id="10" name="TextBox 9"/>
          <p:cNvSpPr txBox="1"/>
          <p:nvPr/>
        </p:nvSpPr>
        <p:spPr>
          <a:xfrm>
            <a:off x="850392" y="2148840"/>
            <a:ext cx="1737360" cy="548640"/>
          </a:xfrm>
          <a:prstGeom prst="rect">
            <a:avLst/>
          </a:prstGeom>
          <a:noFill/>
        </p:spPr>
        <p:txBody>
          <a:bodyPr wrap="none" lIns="73152" rIns="73152" tIns="36576" bIns="36576">
            <a:spAutoFit/>
          </a:bodyPr>
          <a:lstStyle/>
          <a:p>
            <a:r>
              <a:rPr sz="1400" b="0">
                <a:solidFill>
                  <a:srgbClr val="1C2630"/>
                </a:solidFill>
                <a:latin typeface="Aptos"/>
              </a:rPr>
              <a:t>Schemas, documents, access patterns, project scope</a:t>
            </a:r>
          </a:p>
        </p:txBody>
      </p:sp>
      <p:sp>
        <p:nvSpPr>
          <p:cNvPr id="11" name="Rounded Rectangle 10"/>
          <p:cNvSpPr/>
          <p:nvPr/>
        </p:nvSpPr>
        <p:spPr>
          <a:xfrm>
            <a:off x="2971800" y="1645920"/>
            <a:ext cx="20574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71800" y="1645920"/>
            <a:ext cx="82296" cy="11430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36392" y="1755648"/>
            <a:ext cx="1737360" cy="320040"/>
          </a:xfrm>
          <a:prstGeom prst="rect">
            <a:avLst/>
          </a:prstGeom>
          <a:noFill/>
        </p:spPr>
        <p:txBody>
          <a:bodyPr wrap="none" lIns="73152" rIns="73152" tIns="36576" bIns="36576">
            <a:spAutoFit/>
          </a:bodyPr>
          <a:lstStyle/>
          <a:p>
            <a:r>
              <a:rPr sz="1500" b="1">
                <a:solidFill>
                  <a:srgbClr val="1F7A74"/>
                </a:solidFill>
                <a:latin typeface="Aptos Display"/>
              </a:rPr>
              <a:t>Build</a:t>
            </a:r>
          </a:p>
        </p:txBody>
      </p:sp>
      <p:sp>
        <p:nvSpPr>
          <p:cNvPr id="14" name="TextBox 13"/>
          <p:cNvSpPr txBox="1"/>
          <p:nvPr/>
        </p:nvSpPr>
        <p:spPr>
          <a:xfrm>
            <a:off x="3136392" y="2148840"/>
            <a:ext cx="1737360" cy="548640"/>
          </a:xfrm>
          <a:prstGeom prst="rect">
            <a:avLst/>
          </a:prstGeom>
          <a:noFill/>
        </p:spPr>
        <p:txBody>
          <a:bodyPr wrap="none" lIns="73152" rIns="73152" tIns="36576" bIns="36576">
            <a:spAutoFit/>
          </a:bodyPr>
          <a:lstStyle/>
          <a:p>
            <a:r>
              <a:rPr sz="1400" b="0">
                <a:solidFill>
                  <a:srgbClr val="1C2630"/>
                </a:solidFill>
                <a:latin typeface="Aptos"/>
              </a:rPr>
              <a:t>Tables, JSON, seed data, queries, cloud setup</a:t>
            </a:r>
          </a:p>
        </p:txBody>
      </p:sp>
      <p:sp>
        <p:nvSpPr>
          <p:cNvPr id="15" name="Rounded Rectangle 14"/>
          <p:cNvSpPr/>
          <p:nvPr/>
        </p:nvSpPr>
        <p:spPr>
          <a:xfrm>
            <a:off x="5257800" y="1645920"/>
            <a:ext cx="20574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57800" y="1645920"/>
            <a:ext cx="82296" cy="114300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22392" y="1755648"/>
            <a:ext cx="1737360" cy="320040"/>
          </a:xfrm>
          <a:prstGeom prst="rect">
            <a:avLst/>
          </a:prstGeom>
          <a:noFill/>
        </p:spPr>
        <p:txBody>
          <a:bodyPr wrap="none" lIns="73152" rIns="73152" tIns="36576" bIns="36576">
            <a:spAutoFit/>
          </a:bodyPr>
          <a:lstStyle/>
          <a:p>
            <a:r>
              <a:rPr sz="1500" b="1">
                <a:solidFill>
                  <a:srgbClr val="4F8B57"/>
                </a:solidFill>
                <a:latin typeface="Aptos Display"/>
              </a:rPr>
              <a:t>Secure</a:t>
            </a:r>
          </a:p>
        </p:txBody>
      </p:sp>
      <p:sp>
        <p:nvSpPr>
          <p:cNvPr id="18" name="TextBox 17"/>
          <p:cNvSpPr txBox="1"/>
          <p:nvPr/>
        </p:nvSpPr>
        <p:spPr>
          <a:xfrm>
            <a:off x="5422392" y="2148840"/>
            <a:ext cx="1737360" cy="548640"/>
          </a:xfrm>
          <a:prstGeom prst="rect">
            <a:avLst/>
          </a:prstGeom>
          <a:noFill/>
        </p:spPr>
        <p:txBody>
          <a:bodyPr wrap="none" lIns="73152" rIns="73152" tIns="36576" bIns="36576">
            <a:spAutoFit/>
          </a:bodyPr>
          <a:lstStyle/>
          <a:p>
            <a:r>
              <a:rPr sz="1400" b="0">
                <a:solidFill>
                  <a:srgbClr val="1C2630"/>
                </a:solidFill>
                <a:latin typeface="Aptos"/>
              </a:rPr>
              <a:t>Permissions, RLS thinking, secrets, IP access</a:t>
            </a:r>
          </a:p>
        </p:txBody>
      </p:sp>
      <p:sp>
        <p:nvSpPr>
          <p:cNvPr id="19" name="Rounded Rectangle 18"/>
          <p:cNvSpPr/>
          <p:nvPr/>
        </p:nvSpPr>
        <p:spPr>
          <a:xfrm>
            <a:off x="7543800" y="1645920"/>
            <a:ext cx="20574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43800" y="1645920"/>
            <a:ext cx="82296" cy="11430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08392" y="1755648"/>
            <a:ext cx="1737360" cy="320040"/>
          </a:xfrm>
          <a:prstGeom prst="rect">
            <a:avLst/>
          </a:prstGeom>
          <a:noFill/>
        </p:spPr>
        <p:txBody>
          <a:bodyPr wrap="none" lIns="73152" rIns="73152" tIns="36576" bIns="36576">
            <a:spAutoFit/>
          </a:bodyPr>
          <a:lstStyle/>
          <a:p>
            <a:r>
              <a:rPr sz="1500" b="1">
                <a:solidFill>
                  <a:srgbClr val="D6703A"/>
                </a:solidFill>
                <a:latin typeface="Aptos Display"/>
              </a:rPr>
              <a:t>Tune</a:t>
            </a:r>
          </a:p>
        </p:txBody>
      </p:sp>
      <p:sp>
        <p:nvSpPr>
          <p:cNvPr id="22" name="TextBox 21"/>
          <p:cNvSpPr txBox="1"/>
          <p:nvPr/>
        </p:nvSpPr>
        <p:spPr>
          <a:xfrm>
            <a:off x="7708392" y="2148840"/>
            <a:ext cx="1737360" cy="548640"/>
          </a:xfrm>
          <a:prstGeom prst="rect">
            <a:avLst/>
          </a:prstGeom>
          <a:noFill/>
        </p:spPr>
        <p:txBody>
          <a:bodyPr wrap="none" lIns="73152" rIns="73152" tIns="36576" bIns="36576">
            <a:spAutoFit/>
          </a:bodyPr>
          <a:lstStyle/>
          <a:p>
            <a:r>
              <a:rPr sz="1400" b="0">
                <a:solidFill>
                  <a:srgbClr val="1C2630"/>
                </a:solidFill>
                <a:latin typeface="Aptos"/>
              </a:rPr>
              <a:t>Indexes, query plans, aggregation, sort stages</a:t>
            </a:r>
          </a:p>
        </p:txBody>
      </p:sp>
      <p:sp>
        <p:nvSpPr>
          <p:cNvPr id="23" name="Rounded Rectangle 22"/>
          <p:cNvSpPr/>
          <p:nvPr/>
        </p:nvSpPr>
        <p:spPr>
          <a:xfrm>
            <a:off x="9829800" y="1645920"/>
            <a:ext cx="18288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829800" y="1645920"/>
            <a:ext cx="82296" cy="1143000"/>
          </a:xfrm>
          <a:prstGeom prst="rect">
            <a:avLst/>
          </a:prstGeom>
          <a:solidFill>
            <a:srgbClr val="B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4392" y="1755648"/>
            <a:ext cx="1508760" cy="320040"/>
          </a:xfrm>
          <a:prstGeom prst="rect">
            <a:avLst/>
          </a:prstGeom>
          <a:noFill/>
        </p:spPr>
        <p:txBody>
          <a:bodyPr wrap="none" lIns="73152" rIns="73152" tIns="36576" bIns="36576">
            <a:spAutoFit/>
          </a:bodyPr>
          <a:lstStyle/>
          <a:p>
            <a:r>
              <a:rPr sz="1500" b="1">
                <a:solidFill>
                  <a:srgbClr val="B24B4B"/>
                </a:solidFill>
                <a:latin typeface="Aptos Display"/>
              </a:rPr>
              <a:t>Recover</a:t>
            </a:r>
          </a:p>
        </p:txBody>
      </p:sp>
      <p:sp>
        <p:nvSpPr>
          <p:cNvPr id="26" name="TextBox 25"/>
          <p:cNvSpPr txBox="1"/>
          <p:nvPr/>
        </p:nvSpPr>
        <p:spPr>
          <a:xfrm>
            <a:off x="9994392" y="2148840"/>
            <a:ext cx="1508760" cy="548640"/>
          </a:xfrm>
          <a:prstGeom prst="rect">
            <a:avLst/>
          </a:prstGeom>
          <a:noFill/>
        </p:spPr>
        <p:txBody>
          <a:bodyPr wrap="none" lIns="73152" rIns="73152" tIns="36576" bIns="36576">
            <a:spAutoFit/>
          </a:bodyPr>
          <a:lstStyle/>
          <a:p>
            <a:r>
              <a:rPr sz="1400" b="0">
                <a:solidFill>
                  <a:srgbClr val="1C2630"/>
                </a:solidFill>
                <a:latin typeface="Aptos"/>
              </a:rPr>
              <a:t>Backups, restore checks, reliability choices</a:t>
            </a:r>
          </a:p>
        </p:txBody>
      </p:sp>
      <p:sp>
        <p:nvSpPr>
          <p:cNvPr id="27" name="TextBox 26"/>
          <p:cNvSpPr txBox="1"/>
          <p:nvPr/>
        </p:nvSpPr>
        <p:spPr>
          <a:xfrm>
            <a:off x="1097280" y="3703320"/>
            <a:ext cx="9784080" cy="502920"/>
          </a:xfrm>
          <a:prstGeom prst="rect">
            <a:avLst/>
          </a:prstGeom>
          <a:noFill/>
        </p:spPr>
        <p:txBody>
          <a:bodyPr wrap="none" lIns="73152" rIns="73152" tIns="36576" bIns="36576">
            <a:spAutoFit/>
          </a:bodyPr>
          <a:lstStyle/>
          <a:p>
            <a:pPr algn="ctr"/>
            <a:r>
              <a:rPr sz="2300" b="1">
                <a:solidFill>
                  <a:srgbClr val="1C2630"/>
                </a:solidFill>
                <a:latin typeface="Aptos Display"/>
              </a:rPr>
              <a:t>The main professional skill: explain what you changed, why it matters, and how you verified it.</a:t>
            </a:r>
          </a:p>
        </p:txBody>
      </p:sp>
      <p:sp>
        <p:nvSpPr>
          <p:cNvPr id="28" name="TextBox 27"/>
          <p:cNvSpPr txBox="1"/>
          <p:nvPr/>
        </p:nvSpPr>
        <p:spPr>
          <a:xfrm>
            <a:off x="2194560" y="4526280"/>
            <a:ext cx="7772400" cy="1051560"/>
          </a:xfrm>
          <a:prstGeom prst="rect">
            <a:avLst/>
          </a:prstGeom>
          <a:noFill/>
        </p:spPr>
        <p:txBody>
          <a:bodyPr wrap="square" lIns="109728" rIns="73152" tIns="36576">
            <a:spAutoFit/>
          </a:bodyPr>
          <a:lstStyle/>
          <a:p>
            <a:pPr>
              <a:spcAft>
                <a:spcPts val="800"/>
              </a:spcAft>
              <a:defRPr sz="1800">
                <a:solidFill>
                  <a:srgbClr val="1C2630"/>
                </a:solidFill>
                <a:latin typeface="Aptos"/>
              </a:defRPr>
            </a:pPr>
            <a:r>
              <a:t>Tools are evidence, not the whole story.</a:t>
            </a:r>
          </a:p>
          <a:p>
            <a:pPr>
              <a:spcAft>
                <a:spcPts val="800"/>
              </a:spcAft>
              <a:defRPr sz="1800">
                <a:solidFill>
                  <a:srgbClr val="1C2630"/>
                </a:solidFill>
                <a:latin typeface="Aptos"/>
              </a:defRPr>
            </a:pPr>
            <a:r>
              <a:t>A good database answer includes a tradeoff.</a:t>
            </a:r>
          </a:p>
          <a:p>
            <a:pPr>
              <a:spcAft>
                <a:spcPts val="800"/>
              </a:spcAft>
              <a:defRPr sz="1800">
                <a:solidFill>
                  <a:srgbClr val="1C2630"/>
                </a:solidFill>
                <a:latin typeface="Aptos"/>
              </a:defRPr>
            </a:pPr>
            <a:r>
              <a:t>A portfolio artifact should make your thinking visible.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REVIEW</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The Semester In One Timeline</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3</a:t>
            </a:r>
          </a:p>
        </p:txBody>
      </p:sp>
      <p:sp>
        <p:nvSpPr>
          <p:cNvPr id="7" name="Oval 6"/>
          <p:cNvSpPr/>
          <p:nvPr/>
        </p:nvSpPr>
        <p:spPr>
          <a:xfrm>
            <a:off x="777240" y="2514600"/>
            <a:ext cx="749808" cy="749808"/>
          </a:xfrm>
          <a:prstGeom prst="ellipse">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59" y="3383280"/>
            <a:ext cx="1143000" cy="228600"/>
          </a:xfrm>
          <a:prstGeom prst="rect">
            <a:avLst/>
          </a:prstGeom>
          <a:noFill/>
        </p:spPr>
        <p:txBody>
          <a:bodyPr wrap="none" lIns="73152" rIns="73152" tIns="36576" bIns="36576">
            <a:spAutoFit/>
          </a:bodyPr>
          <a:lstStyle/>
          <a:p>
            <a:pPr algn="ctr"/>
            <a:r>
              <a:rPr sz="900" b="1">
                <a:solidFill>
                  <a:srgbClr val="5D6976"/>
                </a:solidFill>
                <a:latin typeface="Aptos Display"/>
              </a:rPr>
              <a:t>Week 3</a:t>
            </a:r>
          </a:p>
        </p:txBody>
      </p:sp>
      <p:sp>
        <p:nvSpPr>
          <p:cNvPr id="9" name="TextBox 8"/>
          <p:cNvSpPr txBox="1"/>
          <p:nvPr/>
        </p:nvSpPr>
        <p:spPr>
          <a:xfrm>
            <a:off x="457200" y="3611880"/>
            <a:ext cx="1417320" cy="411480"/>
          </a:xfrm>
          <a:prstGeom prst="rect">
            <a:avLst/>
          </a:prstGeom>
          <a:noFill/>
        </p:spPr>
        <p:txBody>
          <a:bodyPr wrap="none" lIns="73152" rIns="73152" tIns="36576" bIns="36576">
            <a:spAutoFit/>
          </a:bodyPr>
          <a:lstStyle/>
          <a:p>
            <a:pPr algn="ctr"/>
            <a:r>
              <a:rPr sz="1100" b="1">
                <a:solidFill>
                  <a:srgbClr val="1C2630"/>
                </a:solidFill>
                <a:latin typeface="Aptos Display"/>
              </a:rPr>
              <a:t>DBA role</a:t>
            </a:r>
          </a:p>
        </p:txBody>
      </p:sp>
      <p:cxnSp>
        <p:nvCxnSpPr>
          <p:cNvPr id="10" name="Connector 9"/>
          <p:cNvCxnSpPr/>
          <p:nvPr/>
        </p:nvCxnSpPr>
        <p:spPr>
          <a:xfrm>
            <a:off x="1527048" y="2889504"/>
            <a:ext cx="576072" cy="22860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194560" y="2971800"/>
            <a:ext cx="749808" cy="749808"/>
          </a:xfrm>
          <a:prstGeom prst="ellipse">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79" y="3840480"/>
            <a:ext cx="1143000" cy="228600"/>
          </a:xfrm>
          <a:prstGeom prst="rect">
            <a:avLst/>
          </a:prstGeom>
          <a:noFill/>
        </p:spPr>
        <p:txBody>
          <a:bodyPr wrap="none" lIns="73152" rIns="73152" tIns="36576" bIns="36576">
            <a:spAutoFit/>
          </a:bodyPr>
          <a:lstStyle/>
          <a:p>
            <a:pPr algn="ctr"/>
            <a:r>
              <a:rPr sz="900" b="1">
                <a:solidFill>
                  <a:srgbClr val="5D6976"/>
                </a:solidFill>
                <a:latin typeface="Aptos Display"/>
              </a:rPr>
              <a:t>Weeks 3-5</a:t>
            </a:r>
          </a:p>
        </p:txBody>
      </p:sp>
      <p:sp>
        <p:nvSpPr>
          <p:cNvPr id="13" name="TextBox 12"/>
          <p:cNvSpPr txBox="1"/>
          <p:nvPr/>
        </p:nvSpPr>
        <p:spPr>
          <a:xfrm>
            <a:off x="1874519" y="4069080"/>
            <a:ext cx="1417320" cy="411480"/>
          </a:xfrm>
          <a:prstGeom prst="rect">
            <a:avLst/>
          </a:prstGeom>
          <a:noFill/>
        </p:spPr>
        <p:txBody>
          <a:bodyPr wrap="none" lIns="73152" rIns="73152" tIns="36576" bIns="36576">
            <a:spAutoFit/>
          </a:bodyPr>
          <a:lstStyle/>
          <a:p>
            <a:pPr algn="ctr"/>
            <a:r>
              <a:rPr sz="1100" b="1">
                <a:solidFill>
                  <a:srgbClr val="1C2630"/>
                </a:solidFill>
                <a:latin typeface="Aptos Display"/>
              </a:rPr>
              <a:t>Schema + SQL</a:t>
            </a:r>
          </a:p>
        </p:txBody>
      </p:sp>
      <p:cxnSp>
        <p:nvCxnSpPr>
          <p:cNvPr id="14" name="Connector 13"/>
          <p:cNvCxnSpPr/>
          <p:nvPr/>
        </p:nvCxnSpPr>
        <p:spPr>
          <a:xfrm flipV="1">
            <a:off x="2944368" y="3118104"/>
            <a:ext cx="576071" cy="22860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611880" y="2514600"/>
            <a:ext cx="749808" cy="749808"/>
          </a:xfrm>
          <a:prstGeom prst="ellipse">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3383280"/>
            <a:ext cx="1143000" cy="228600"/>
          </a:xfrm>
          <a:prstGeom prst="rect">
            <a:avLst/>
          </a:prstGeom>
          <a:noFill/>
        </p:spPr>
        <p:txBody>
          <a:bodyPr wrap="none" lIns="73152" rIns="73152" tIns="36576" bIns="36576">
            <a:spAutoFit/>
          </a:bodyPr>
          <a:lstStyle/>
          <a:p>
            <a:pPr algn="ctr"/>
            <a:r>
              <a:rPr sz="900" b="1">
                <a:solidFill>
                  <a:srgbClr val="5D6976"/>
                </a:solidFill>
                <a:latin typeface="Aptos Display"/>
              </a:rPr>
              <a:t>Week 5</a:t>
            </a:r>
          </a:p>
        </p:txBody>
      </p:sp>
      <p:sp>
        <p:nvSpPr>
          <p:cNvPr id="17" name="TextBox 16"/>
          <p:cNvSpPr txBox="1"/>
          <p:nvPr/>
        </p:nvSpPr>
        <p:spPr>
          <a:xfrm>
            <a:off x="3291840" y="3611880"/>
            <a:ext cx="1417320" cy="411480"/>
          </a:xfrm>
          <a:prstGeom prst="rect">
            <a:avLst/>
          </a:prstGeom>
          <a:noFill/>
        </p:spPr>
        <p:txBody>
          <a:bodyPr wrap="none" lIns="73152" rIns="73152" tIns="36576" bIns="36576">
            <a:spAutoFit/>
          </a:bodyPr>
          <a:lstStyle/>
          <a:p>
            <a:pPr algn="ctr"/>
            <a:r>
              <a:rPr sz="1100" b="1">
                <a:solidFill>
                  <a:srgbClr val="1C2630"/>
                </a:solidFill>
                <a:latin typeface="Aptos Display"/>
              </a:rPr>
              <a:t>Transactions</a:t>
            </a:r>
          </a:p>
        </p:txBody>
      </p:sp>
      <p:cxnSp>
        <p:nvCxnSpPr>
          <p:cNvPr id="18" name="Connector 17"/>
          <p:cNvCxnSpPr/>
          <p:nvPr/>
        </p:nvCxnSpPr>
        <p:spPr>
          <a:xfrm>
            <a:off x="4361688" y="2889504"/>
            <a:ext cx="576072" cy="22860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029200" y="2971800"/>
            <a:ext cx="749808" cy="749808"/>
          </a:xfrm>
          <a:prstGeom prst="ellipse">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3840480"/>
            <a:ext cx="1143000" cy="228600"/>
          </a:xfrm>
          <a:prstGeom prst="rect">
            <a:avLst/>
          </a:prstGeom>
          <a:noFill/>
        </p:spPr>
        <p:txBody>
          <a:bodyPr wrap="none" lIns="73152" rIns="73152" tIns="36576" bIns="36576">
            <a:spAutoFit/>
          </a:bodyPr>
          <a:lstStyle/>
          <a:p>
            <a:pPr algn="ctr"/>
            <a:r>
              <a:rPr sz="900" b="1">
                <a:solidFill>
                  <a:srgbClr val="5D6976"/>
                </a:solidFill>
                <a:latin typeface="Aptos Display"/>
              </a:rPr>
              <a:t>Weeks 7-9</a:t>
            </a:r>
          </a:p>
        </p:txBody>
      </p:sp>
      <p:sp>
        <p:nvSpPr>
          <p:cNvPr id="21" name="TextBox 20"/>
          <p:cNvSpPr txBox="1"/>
          <p:nvPr/>
        </p:nvSpPr>
        <p:spPr>
          <a:xfrm>
            <a:off x="4709160" y="4069080"/>
            <a:ext cx="1417320" cy="411480"/>
          </a:xfrm>
          <a:prstGeom prst="rect">
            <a:avLst/>
          </a:prstGeom>
          <a:noFill/>
        </p:spPr>
        <p:txBody>
          <a:bodyPr wrap="none" lIns="73152" rIns="73152" tIns="36576" bIns="36576">
            <a:spAutoFit/>
          </a:bodyPr>
          <a:lstStyle/>
          <a:p>
            <a:pPr algn="ctr"/>
            <a:r>
              <a:rPr sz="1100" b="1">
                <a:solidFill>
                  <a:srgbClr val="1C2630"/>
                </a:solidFill>
                <a:latin typeface="Aptos Display"/>
              </a:rPr>
              <a:t>NoSQL + JSON</a:t>
            </a:r>
          </a:p>
        </p:txBody>
      </p:sp>
      <p:cxnSp>
        <p:nvCxnSpPr>
          <p:cNvPr id="22" name="Connector 21"/>
          <p:cNvCxnSpPr/>
          <p:nvPr/>
        </p:nvCxnSpPr>
        <p:spPr>
          <a:xfrm flipV="1">
            <a:off x="5779008" y="3118104"/>
            <a:ext cx="576072" cy="22860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446520" y="2514600"/>
            <a:ext cx="749808" cy="749808"/>
          </a:xfrm>
          <a:prstGeom prst="ellipse">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383280"/>
            <a:ext cx="1143000" cy="228600"/>
          </a:xfrm>
          <a:prstGeom prst="rect">
            <a:avLst/>
          </a:prstGeom>
          <a:noFill/>
        </p:spPr>
        <p:txBody>
          <a:bodyPr wrap="none" lIns="73152" rIns="73152" tIns="36576" bIns="36576">
            <a:spAutoFit/>
          </a:bodyPr>
          <a:lstStyle/>
          <a:p>
            <a:pPr algn="ctr"/>
            <a:r>
              <a:rPr sz="900" b="1">
                <a:solidFill>
                  <a:srgbClr val="5D6976"/>
                </a:solidFill>
                <a:latin typeface="Aptos Display"/>
              </a:rPr>
              <a:t>Weeks 10-12</a:t>
            </a:r>
          </a:p>
        </p:txBody>
      </p:sp>
      <p:sp>
        <p:nvSpPr>
          <p:cNvPr id="25" name="TextBox 24"/>
          <p:cNvSpPr txBox="1"/>
          <p:nvPr/>
        </p:nvSpPr>
        <p:spPr>
          <a:xfrm>
            <a:off x="6126480" y="3611880"/>
            <a:ext cx="1417320" cy="411480"/>
          </a:xfrm>
          <a:prstGeom prst="rect">
            <a:avLst/>
          </a:prstGeom>
          <a:noFill/>
        </p:spPr>
        <p:txBody>
          <a:bodyPr wrap="none" lIns="73152" rIns="73152" tIns="36576" bIns="36576">
            <a:spAutoFit/>
          </a:bodyPr>
          <a:lstStyle/>
          <a:p>
            <a:pPr algn="ctr"/>
            <a:r>
              <a:rPr sz="1100" b="1">
                <a:solidFill>
                  <a:srgbClr val="1C2630"/>
                </a:solidFill>
                <a:latin typeface="Aptos Display"/>
              </a:rPr>
              <a:t>MongoDB Atlas</a:t>
            </a:r>
          </a:p>
        </p:txBody>
      </p:sp>
      <p:cxnSp>
        <p:nvCxnSpPr>
          <p:cNvPr id="26" name="Connector 25"/>
          <p:cNvCxnSpPr/>
          <p:nvPr/>
        </p:nvCxnSpPr>
        <p:spPr>
          <a:xfrm>
            <a:off x="7196328" y="2889504"/>
            <a:ext cx="576072" cy="22860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863840" y="2971800"/>
            <a:ext cx="749808" cy="749808"/>
          </a:xfrm>
          <a:prstGeom prst="ellipse">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0" y="3840480"/>
            <a:ext cx="1143000" cy="228600"/>
          </a:xfrm>
          <a:prstGeom prst="rect">
            <a:avLst/>
          </a:prstGeom>
          <a:noFill/>
        </p:spPr>
        <p:txBody>
          <a:bodyPr wrap="none" lIns="73152" rIns="73152" tIns="36576" bIns="36576">
            <a:spAutoFit/>
          </a:bodyPr>
          <a:lstStyle/>
          <a:p>
            <a:pPr algn="ctr"/>
            <a:r>
              <a:rPr sz="900" b="1">
                <a:solidFill>
                  <a:srgbClr val="5D6976"/>
                </a:solidFill>
                <a:latin typeface="Aptos Display"/>
              </a:rPr>
              <a:t>Weeks 11-13</a:t>
            </a:r>
          </a:p>
        </p:txBody>
      </p:sp>
      <p:sp>
        <p:nvSpPr>
          <p:cNvPr id="29" name="TextBox 28"/>
          <p:cNvSpPr txBox="1"/>
          <p:nvPr/>
        </p:nvSpPr>
        <p:spPr>
          <a:xfrm>
            <a:off x="7543800" y="4069080"/>
            <a:ext cx="1417320" cy="411480"/>
          </a:xfrm>
          <a:prstGeom prst="rect">
            <a:avLst/>
          </a:prstGeom>
          <a:noFill/>
        </p:spPr>
        <p:txBody>
          <a:bodyPr wrap="none" lIns="73152" rIns="73152" tIns="36576" bIns="36576">
            <a:spAutoFit/>
          </a:bodyPr>
          <a:lstStyle/>
          <a:p>
            <a:pPr algn="ctr"/>
            <a:r>
              <a:rPr sz="1100" b="1">
                <a:solidFill>
                  <a:srgbClr val="1C2630"/>
                </a:solidFill>
                <a:latin typeface="Aptos Display"/>
              </a:rPr>
              <a:t>Performance</a:t>
            </a:r>
          </a:p>
        </p:txBody>
      </p:sp>
      <p:cxnSp>
        <p:nvCxnSpPr>
          <p:cNvPr id="30" name="Connector 29"/>
          <p:cNvCxnSpPr/>
          <p:nvPr/>
        </p:nvCxnSpPr>
        <p:spPr>
          <a:xfrm flipV="1">
            <a:off x="8613648" y="3118104"/>
            <a:ext cx="576071" cy="22860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281160" y="2514600"/>
            <a:ext cx="749808" cy="749808"/>
          </a:xfrm>
          <a:prstGeom prst="ellipse">
            <a:avLst/>
          </a:prstGeom>
          <a:solidFill>
            <a:srgbClr val="B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98280" y="3383280"/>
            <a:ext cx="1143000" cy="228600"/>
          </a:xfrm>
          <a:prstGeom prst="rect">
            <a:avLst/>
          </a:prstGeom>
          <a:noFill/>
        </p:spPr>
        <p:txBody>
          <a:bodyPr wrap="none" lIns="73152" rIns="73152" tIns="36576" bIns="36576">
            <a:spAutoFit/>
          </a:bodyPr>
          <a:lstStyle/>
          <a:p>
            <a:pPr algn="ctr"/>
            <a:r>
              <a:rPr sz="900" b="1">
                <a:solidFill>
                  <a:srgbClr val="5D6976"/>
                </a:solidFill>
                <a:latin typeface="Aptos Display"/>
              </a:rPr>
              <a:t>Weeks 12-14</a:t>
            </a:r>
          </a:p>
        </p:txBody>
      </p:sp>
      <p:sp>
        <p:nvSpPr>
          <p:cNvPr id="33" name="TextBox 32"/>
          <p:cNvSpPr txBox="1"/>
          <p:nvPr/>
        </p:nvSpPr>
        <p:spPr>
          <a:xfrm>
            <a:off x="8961120" y="3611880"/>
            <a:ext cx="1417320" cy="411480"/>
          </a:xfrm>
          <a:prstGeom prst="rect">
            <a:avLst/>
          </a:prstGeom>
          <a:noFill/>
        </p:spPr>
        <p:txBody>
          <a:bodyPr wrap="none" lIns="73152" rIns="73152" tIns="36576" bIns="36576">
            <a:spAutoFit/>
          </a:bodyPr>
          <a:lstStyle/>
          <a:p>
            <a:pPr algn="ctr"/>
            <a:r>
              <a:rPr sz="1100" b="1">
                <a:solidFill>
                  <a:srgbClr val="1C2630"/>
                </a:solidFill>
                <a:latin typeface="Aptos Display"/>
              </a:rPr>
              <a:t>Reliability</a:t>
            </a:r>
          </a:p>
        </p:txBody>
      </p:sp>
      <p:cxnSp>
        <p:nvCxnSpPr>
          <p:cNvPr id="34" name="Connector 33"/>
          <p:cNvCxnSpPr/>
          <p:nvPr/>
        </p:nvCxnSpPr>
        <p:spPr>
          <a:xfrm>
            <a:off x="10030968" y="2889504"/>
            <a:ext cx="576072" cy="22860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0698480" y="2971800"/>
            <a:ext cx="749808" cy="749808"/>
          </a:xfrm>
          <a:prstGeom prst="ellipse">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0" y="3840480"/>
            <a:ext cx="1143000" cy="228600"/>
          </a:xfrm>
          <a:prstGeom prst="rect">
            <a:avLst/>
          </a:prstGeom>
          <a:noFill/>
        </p:spPr>
        <p:txBody>
          <a:bodyPr wrap="none" lIns="73152" rIns="73152" tIns="36576" bIns="36576">
            <a:spAutoFit/>
          </a:bodyPr>
          <a:lstStyle/>
          <a:p>
            <a:pPr algn="ctr"/>
            <a:r>
              <a:rPr sz="900" b="1">
                <a:solidFill>
                  <a:srgbClr val="5D6976"/>
                </a:solidFill>
                <a:latin typeface="Aptos Display"/>
              </a:rPr>
              <a:t>Week 15</a:t>
            </a:r>
          </a:p>
        </p:txBody>
      </p:sp>
      <p:sp>
        <p:nvSpPr>
          <p:cNvPr id="37" name="TextBox 36"/>
          <p:cNvSpPr txBox="1"/>
          <p:nvPr/>
        </p:nvSpPr>
        <p:spPr>
          <a:xfrm>
            <a:off x="10378440" y="4069080"/>
            <a:ext cx="1417320" cy="411480"/>
          </a:xfrm>
          <a:prstGeom prst="rect">
            <a:avLst/>
          </a:prstGeom>
          <a:noFill/>
        </p:spPr>
        <p:txBody>
          <a:bodyPr wrap="none" lIns="73152" rIns="73152" tIns="36576" bIns="36576">
            <a:spAutoFit/>
          </a:bodyPr>
          <a:lstStyle/>
          <a:p>
            <a:pPr algn="ctr"/>
            <a:r>
              <a:rPr sz="1100" b="1">
                <a:solidFill>
                  <a:srgbClr val="1C2630"/>
                </a:solidFill>
                <a:latin typeface="Aptos Display"/>
              </a:rPr>
              <a:t>Portfolio</a:t>
            </a:r>
          </a:p>
        </p:txBody>
      </p:sp>
      <p:sp>
        <p:nvSpPr>
          <p:cNvPr id="38" name="TextBox 37"/>
          <p:cNvSpPr txBox="1"/>
          <p:nvPr/>
        </p:nvSpPr>
        <p:spPr>
          <a:xfrm>
            <a:off x="1051560" y="1691640"/>
            <a:ext cx="10149840" cy="502920"/>
          </a:xfrm>
          <a:prstGeom prst="rect">
            <a:avLst/>
          </a:prstGeom>
          <a:noFill/>
        </p:spPr>
        <p:txBody>
          <a:bodyPr wrap="none" lIns="73152" rIns="73152" tIns="36576" bIns="36576">
            <a:spAutoFit/>
          </a:bodyPr>
          <a:lstStyle/>
          <a:p>
            <a:pPr algn="ctr"/>
            <a:r>
              <a:rPr sz="2000" b="0">
                <a:solidFill>
                  <a:srgbClr val="1C2630"/>
                </a:solidFill>
                <a:latin typeface="Aptos"/>
              </a:rPr>
              <a:t>The course moved from single-database mechanics to cloud, NoSQL, performance, reliability, and professional explanation.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SQL REVIEW</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Relational Databases: The Core Mental Model</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4</a:t>
            </a:r>
          </a:p>
        </p:txBody>
      </p:sp>
      <p:sp>
        <p:nvSpPr>
          <p:cNvPr id="7" name="Rounded Rectangle 6"/>
          <p:cNvSpPr/>
          <p:nvPr/>
        </p:nvSpPr>
        <p:spPr>
          <a:xfrm>
            <a:off x="822960" y="1691640"/>
            <a:ext cx="2468880" cy="19202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691640"/>
            <a:ext cx="82296" cy="192024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801368"/>
            <a:ext cx="2148840" cy="320040"/>
          </a:xfrm>
          <a:prstGeom prst="rect">
            <a:avLst/>
          </a:prstGeom>
          <a:noFill/>
        </p:spPr>
        <p:txBody>
          <a:bodyPr wrap="none" lIns="73152" rIns="73152" tIns="36576" bIns="36576">
            <a:spAutoFit/>
          </a:bodyPr>
          <a:lstStyle/>
          <a:p>
            <a:r>
              <a:rPr sz="1500" b="1">
                <a:solidFill>
                  <a:srgbClr val="365E99"/>
                </a:solidFill>
                <a:latin typeface="Aptos Display"/>
              </a:rPr>
              <a:t>students</a:t>
            </a:r>
          </a:p>
        </p:txBody>
      </p:sp>
      <p:sp>
        <p:nvSpPr>
          <p:cNvPr id="10" name="TextBox 9"/>
          <p:cNvSpPr txBox="1"/>
          <p:nvPr/>
        </p:nvSpPr>
        <p:spPr>
          <a:xfrm>
            <a:off x="987552" y="2194560"/>
            <a:ext cx="2148840" cy="1325880"/>
          </a:xfrm>
          <a:prstGeom prst="rect">
            <a:avLst/>
          </a:prstGeom>
          <a:noFill/>
        </p:spPr>
        <p:txBody>
          <a:bodyPr wrap="none" lIns="73152" rIns="73152" tIns="36576" bIns="36576">
            <a:spAutoFit/>
          </a:bodyPr>
          <a:lstStyle/>
          <a:p>
            <a:r>
              <a:rPr sz="1500" b="0">
                <a:solidFill>
                  <a:srgbClr val="1C2630"/>
                </a:solidFill>
                <a:latin typeface="Aptos"/>
              </a:rPr>
              <a:t>student_id PK</a:t>
            </a:r>
            <a:br/>
            <a:r>
              <a:t>full_name</a:t>
            </a:r>
            <a:br/>
            <a:r>
              <a:t>email UNIQUE</a:t>
            </a:r>
          </a:p>
        </p:txBody>
      </p:sp>
      <p:sp>
        <p:nvSpPr>
          <p:cNvPr id="11" name="Rounded Rectangle 10"/>
          <p:cNvSpPr/>
          <p:nvPr/>
        </p:nvSpPr>
        <p:spPr>
          <a:xfrm>
            <a:off x="4800600" y="1691640"/>
            <a:ext cx="2468880" cy="19202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00600" y="1691640"/>
            <a:ext cx="82296" cy="192024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5192" y="1801368"/>
            <a:ext cx="2148840" cy="320040"/>
          </a:xfrm>
          <a:prstGeom prst="rect">
            <a:avLst/>
          </a:prstGeom>
          <a:noFill/>
        </p:spPr>
        <p:txBody>
          <a:bodyPr wrap="none" lIns="73152" rIns="73152" tIns="36576" bIns="36576">
            <a:spAutoFit/>
          </a:bodyPr>
          <a:lstStyle/>
          <a:p>
            <a:r>
              <a:rPr sz="1500" b="1">
                <a:solidFill>
                  <a:srgbClr val="1F7A74"/>
                </a:solidFill>
                <a:latin typeface="Aptos Display"/>
              </a:rPr>
              <a:t>checkouts</a:t>
            </a:r>
          </a:p>
        </p:txBody>
      </p:sp>
      <p:sp>
        <p:nvSpPr>
          <p:cNvPr id="14" name="TextBox 13"/>
          <p:cNvSpPr txBox="1"/>
          <p:nvPr/>
        </p:nvSpPr>
        <p:spPr>
          <a:xfrm>
            <a:off x="4965192" y="2194560"/>
            <a:ext cx="2148840" cy="1325880"/>
          </a:xfrm>
          <a:prstGeom prst="rect">
            <a:avLst/>
          </a:prstGeom>
          <a:noFill/>
        </p:spPr>
        <p:txBody>
          <a:bodyPr wrap="none" lIns="73152" rIns="73152" tIns="36576" bIns="36576">
            <a:spAutoFit/>
          </a:bodyPr>
          <a:lstStyle/>
          <a:p>
            <a:r>
              <a:rPr sz="1500" b="0">
                <a:solidFill>
                  <a:srgbClr val="1C2630"/>
                </a:solidFill>
                <a:latin typeface="Aptos"/>
              </a:rPr>
              <a:t>checkout_id PK</a:t>
            </a:r>
            <a:br/>
            <a:r>
              <a:t>student_id FK</a:t>
            </a:r>
            <a:br/>
            <a:r>
              <a:t>equipment_id FK</a:t>
            </a:r>
            <a:br/>
            <a:r>
              <a:t>status CHECK</a:t>
            </a:r>
          </a:p>
        </p:txBody>
      </p:sp>
      <p:sp>
        <p:nvSpPr>
          <p:cNvPr id="15" name="Rounded Rectangle 14"/>
          <p:cNvSpPr/>
          <p:nvPr/>
        </p:nvSpPr>
        <p:spPr>
          <a:xfrm>
            <a:off x="8778240" y="1691640"/>
            <a:ext cx="2468880" cy="19202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78240" y="1691640"/>
            <a:ext cx="82296" cy="192024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42832" y="1801368"/>
            <a:ext cx="2148840" cy="320040"/>
          </a:xfrm>
          <a:prstGeom prst="rect">
            <a:avLst/>
          </a:prstGeom>
          <a:noFill/>
        </p:spPr>
        <p:txBody>
          <a:bodyPr wrap="none" lIns="73152" rIns="73152" tIns="36576" bIns="36576">
            <a:spAutoFit/>
          </a:bodyPr>
          <a:lstStyle/>
          <a:p>
            <a:r>
              <a:rPr sz="1500" b="1">
                <a:solidFill>
                  <a:srgbClr val="D6703A"/>
                </a:solidFill>
                <a:latin typeface="Aptos Display"/>
              </a:rPr>
              <a:t>equipment</a:t>
            </a:r>
          </a:p>
        </p:txBody>
      </p:sp>
      <p:sp>
        <p:nvSpPr>
          <p:cNvPr id="18" name="TextBox 17"/>
          <p:cNvSpPr txBox="1"/>
          <p:nvPr/>
        </p:nvSpPr>
        <p:spPr>
          <a:xfrm>
            <a:off x="8942832" y="2194560"/>
            <a:ext cx="2148840" cy="1325880"/>
          </a:xfrm>
          <a:prstGeom prst="rect">
            <a:avLst/>
          </a:prstGeom>
          <a:noFill/>
        </p:spPr>
        <p:txBody>
          <a:bodyPr wrap="none" lIns="73152" rIns="73152" tIns="36576" bIns="36576">
            <a:spAutoFit/>
          </a:bodyPr>
          <a:lstStyle/>
          <a:p>
            <a:r>
              <a:rPr sz="1500" b="0">
                <a:solidFill>
                  <a:srgbClr val="1C2630"/>
                </a:solidFill>
                <a:latin typeface="Aptos"/>
              </a:rPr>
              <a:t>equipment_id PK</a:t>
            </a:r>
            <a:br/>
            <a:r>
              <a:t>name</a:t>
            </a:r>
            <a:br/>
            <a:r>
              <a:t>category CHECK</a:t>
            </a:r>
            <a:br/>
            <a:r>
              <a:t>is_active</a:t>
            </a:r>
          </a:p>
        </p:txBody>
      </p:sp>
      <p:cxnSp>
        <p:nvCxnSpPr>
          <p:cNvPr id="19" name="Connector 18"/>
          <p:cNvCxnSpPr/>
          <p:nvPr/>
        </p:nvCxnSpPr>
        <p:spPr>
          <a:xfrm>
            <a:off x="3429000" y="2651760"/>
            <a:ext cx="1325880" cy="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315200" y="2651760"/>
            <a:ext cx="1417320" cy="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17320" y="4251960"/>
            <a:ext cx="9326880" cy="1051560"/>
          </a:xfrm>
          <a:prstGeom prst="rect">
            <a:avLst/>
          </a:prstGeom>
          <a:noFill/>
        </p:spPr>
        <p:txBody>
          <a:bodyPr wrap="square" lIns="109728" rIns="73152" tIns="36576">
            <a:spAutoFit/>
          </a:bodyPr>
          <a:lstStyle/>
          <a:p>
            <a:pPr>
              <a:spcAft>
                <a:spcPts val="800"/>
              </a:spcAft>
              <a:defRPr sz="1900">
                <a:solidFill>
                  <a:srgbClr val="1C2630"/>
                </a:solidFill>
                <a:latin typeface="Aptos"/>
              </a:defRPr>
            </a:pPr>
            <a:r>
              <a:t>Database administration question: what rules should the database enforce?</a:t>
            </a:r>
          </a:p>
          <a:p>
            <a:pPr>
              <a:spcAft>
                <a:spcPts val="800"/>
              </a:spcAft>
              <a:defRPr sz="1900">
                <a:solidFill>
                  <a:srgbClr val="1C2630"/>
                </a:solidFill>
                <a:latin typeface="Aptos"/>
              </a:defRPr>
            </a:pPr>
            <a:r>
              <a:t>Portfolio language: I can design tables, keys, relationships, and constraints for a small application.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SQL REVIEW</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SQL Operations: Query, Index, Verify</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5</a:t>
            </a:r>
          </a:p>
        </p:txBody>
      </p:sp>
      <p:sp>
        <p:nvSpPr>
          <p:cNvPr id="7" name="Rounded Rectangle 6"/>
          <p:cNvSpPr/>
          <p:nvPr/>
        </p:nvSpPr>
        <p:spPr>
          <a:xfrm>
            <a:off x="731520" y="1691640"/>
            <a:ext cx="3291840" cy="132588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82296" cy="132588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01368"/>
            <a:ext cx="2971800" cy="320040"/>
          </a:xfrm>
          <a:prstGeom prst="rect">
            <a:avLst/>
          </a:prstGeom>
          <a:noFill/>
        </p:spPr>
        <p:txBody>
          <a:bodyPr wrap="none" lIns="73152" rIns="73152" tIns="36576" bIns="36576">
            <a:spAutoFit/>
          </a:bodyPr>
          <a:lstStyle/>
          <a:p>
            <a:r>
              <a:rPr sz="1500" b="1">
                <a:solidFill>
                  <a:srgbClr val="365E99"/>
                </a:solidFill>
                <a:latin typeface="Aptos Display"/>
              </a:rPr>
              <a:t>1. Query</a:t>
            </a:r>
          </a:p>
        </p:txBody>
      </p:sp>
      <p:sp>
        <p:nvSpPr>
          <p:cNvPr id="10" name="TextBox 9"/>
          <p:cNvSpPr txBox="1"/>
          <p:nvPr/>
        </p:nvSpPr>
        <p:spPr>
          <a:xfrm>
            <a:off x="896112" y="2194560"/>
            <a:ext cx="2971800" cy="731519"/>
          </a:xfrm>
          <a:prstGeom prst="rect">
            <a:avLst/>
          </a:prstGeom>
          <a:noFill/>
        </p:spPr>
        <p:txBody>
          <a:bodyPr wrap="none" lIns="73152" rIns="73152" tIns="36576" bIns="36576">
            <a:spAutoFit/>
          </a:bodyPr>
          <a:lstStyle/>
          <a:p>
            <a:r>
              <a:rPr sz="1400" b="0">
                <a:solidFill>
                  <a:srgbClr val="1C2630"/>
                </a:solidFill>
                <a:latin typeface="Aptos"/>
              </a:rPr>
              <a:t>What question does the application or administrator need answered?</a:t>
            </a:r>
          </a:p>
        </p:txBody>
      </p:sp>
      <p:sp>
        <p:nvSpPr>
          <p:cNvPr id="11" name="Rounded Rectangle 10"/>
          <p:cNvSpPr/>
          <p:nvPr/>
        </p:nvSpPr>
        <p:spPr>
          <a:xfrm>
            <a:off x="4434840" y="1691640"/>
            <a:ext cx="3291840" cy="132588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840" y="1691640"/>
            <a:ext cx="82296" cy="132588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1" y="1801368"/>
            <a:ext cx="2971800" cy="320040"/>
          </a:xfrm>
          <a:prstGeom prst="rect">
            <a:avLst/>
          </a:prstGeom>
          <a:noFill/>
        </p:spPr>
        <p:txBody>
          <a:bodyPr wrap="none" lIns="73152" rIns="73152" tIns="36576" bIns="36576">
            <a:spAutoFit/>
          </a:bodyPr>
          <a:lstStyle/>
          <a:p>
            <a:r>
              <a:rPr sz="1500" b="1">
                <a:solidFill>
                  <a:srgbClr val="D6703A"/>
                </a:solidFill>
                <a:latin typeface="Aptos Display"/>
              </a:rPr>
              <a:t>2. Index</a:t>
            </a:r>
          </a:p>
        </p:txBody>
      </p:sp>
      <p:sp>
        <p:nvSpPr>
          <p:cNvPr id="14" name="TextBox 13"/>
          <p:cNvSpPr txBox="1"/>
          <p:nvPr/>
        </p:nvSpPr>
        <p:spPr>
          <a:xfrm>
            <a:off x="4599431" y="2194560"/>
            <a:ext cx="2971800" cy="731519"/>
          </a:xfrm>
          <a:prstGeom prst="rect">
            <a:avLst/>
          </a:prstGeom>
          <a:noFill/>
        </p:spPr>
        <p:txBody>
          <a:bodyPr wrap="none" lIns="73152" rIns="73152" tIns="36576" bIns="36576">
            <a:spAutoFit/>
          </a:bodyPr>
          <a:lstStyle/>
          <a:p>
            <a:r>
              <a:rPr sz="1400" b="0">
                <a:solidFill>
                  <a:srgbClr val="1C2630"/>
                </a:solidFill>
                <a:latin typeface="Aptos"/>
              </a:rPr>
              <a:t>Which filter, join, or sort pattern appears often enough to optimize?</a:t>
            </a:r>
          </a:p>
        </p:txBody>
      </p:sp>
      <p:sp>
        <p:nvSpPr>
          <p:cNvPr id="15" name="Rounded Rectangle 14"/>
          <p:cNvSpPr/>
          <p:nvPr/>
        </p:nvSpPr>
        <p:spPr>
          <a:xfrm>
            <a:off x="8138160" y="1691640"/>
            <a:ext cx="3291840" cy="132588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691640"/>
            <a:ext cx="82296" cy="132588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801368"/>
            <a:ext cx="2971800" cy="320040"/>
          </a:xfrm>
          <a:prstGeom prst="rect">
            <a:avLst/>
          </a:prstGeom>
          <a:noFill/>
        </p:spPr>
        <p:txBody>
          <a:bodyPr wrap="none" lIns="73152" rIns="73152" tIns="36576" bIns="36576">
            <a:spAutoFit/>
          </a:bodyPr>
          <a:lstStyle/>
          <a:p>
            <a:r>
              <a:rPr sz="1500" b="1">
                <a:solidFill>
                  <a:srgbClr val="4F8B57"/>
                </a:solidFill>
                <a:latin typeface="Aptos Display"/>
              </a:rPr>
              <a:t>3. Verify</a:t>
            </a:r>
          </a:p>
        </p:txBody>
      </p:sp>
      <p:sp>
        <p:nvSpPr>
          <p:cNvPr id="18" name="TextBox 17"/>
          <p:cNvSpPr txBox="1"/>
          <p:nvPr/>
        </p:nvSpPr>
        <p:spPr>
          <a:xfrm>
            <a:off x="8302752" y="2194560"/>
            <a:ext cx="2971800" cy="731519"/>
          </a:xfrm>
          <a:prstGeom prst="rect">
            <a:avLst/>
          </a:prstGeom>
          <a:noFill/>
        </p:spPr>
        <p:txBody>
          <a:bodyPr wrap="none" lIns="73152" rIns="73152" tIns="36576" bIns="36576">
            <a:spAutoFit/>
          </a:bodyPr>
          <a:lstStyle/>
          <a:p>
            <a:r>
              <a:rPr sz="1400" b="0">
                <a:solidFill>
                  <a:srgbClr val="1C2630"/>
                </a:solidFill>
                <a:latin typeface="Aptos"/>
              </a:rPr>
              <a:t>What evidence proves the change helped and did not break correctness?</a:t>
            </a:r>
          </a:p>
        </p:txBody>
      </p:sp>
      <p:sp>
        <p:nvSpPr>
          <p:cNvPr id="19" name="TextBox 18"/>
          <p:cNvSpPr txBox="1"/>
          <p:nvPr/>
        </p:nvSpPr>
        <p:spPr>
          <a:xfrm>
            <a:off x="914400" y="3749039"/>
            <a:ext cx="10241280" cy="411480"/>
          </a:xfrm>
          <a:prstGeom prst="rect">
            <a:avLst/>
          </a:prstGeom>
          <a:noFill/>
        </p:spPr>
        <p:txBody>
          <a:bodyPr wrap="none" lIns="73152" rIns="73152" tIns="36576" bIns="36576">
            <a:spAutoFit/>
          </a:bodyPr>
          <a:lstStyle/>
          <a:p>
            <a:r>
              <a:rPr sz="1600" b="1">
                <a:solidFill>
                  <a:srgbClr val="1F7A74"/>
                </a:solidFill>
                <a:latin typeface="Aptos Display"/>
              </a:rPr>
              <a:t>Interview sentence</a:t>
            </a:r>
          </a:p>
        </p:txBody>
      </p:sp>
      <p:sp>
        <p:nvSpPr>
          <p:cNvPr id="20" name="TextBox 19"/>
          <p:cNvSpPr txBox="1"/>
          <p:nvPr/>
        </p:nvSpPr>
        <p:spPr>
          <a:xfrm>
            <a:off x="914400" y="4160520"/>
            <a:ext cx="10241280" cy="685800"/>
          </a:xfrm>
          <a:prstGeom prst="rect">
            <a:avLst/>
          </a:prstGeom>
          <a:noFill/>
        </p:spPr>
        <p:txBody>
          <a:bodyPr wrap="none" lIns="73152" rIns="73152" tIns="36576" bIns="36576">
            <a:spAutoFit/>
          </a:bodyPr>
          <a:lstStyle/>
          <a:p>
            <a:r>
              <a:rPr sz="2100" b="0">
                <a:solidFill>
                  <a:srgbClr val="1C2630"/>
                </a:solidFill>
                <a:latin typeface="Aptos"/>
              </a:rPr>
              <a:t>“I learned to connect indexes to real query patterns instead of adding them randomly. I can explain that indexes can speed up reads, but they add storage and write-maintenance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RELIABILITY</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Transactions And Locking: Correctness Under Pressure</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6</a:t>
            </a:r>
          </a:p>
        </p:txBody>
      </p:sp>
      <p:sp>
        <p:nvSpPr>
          <p:cNvPr id="7" name="Rounded Rectangle 6"/>
          <p:cNvSpPr/>
          <p:nvPr/>
        </p:nvSpPr>
        <p:spPr>
          <a:xfrm>
            <a:off x="822960" y="1645920"/>
            <a:ext cx="210312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645920"/>
            <a:ext cx="82296" cy="11430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1783079" cy="320040"/>
          </a:xfrm>
          <a:prstGeom prst="rect">
            <a:avLst/>
          </a:prstGeom>
          <a:noFill/>
        </p:spPr>
        <p:txBody>
          <a:bodyPr wrap="none" lIns="73152" rIns="73152" tIns="36576" bIns="36576">
            <a:spAutoFit/>
          </a:bodyPr>
          <a:lstStyle/>
          <a:p>
            <a:r>
              <a:rPr sz="1500" b="1">
                <a:solidFill>
                  <a:srgbClr val="365E99"/>
                </a:solidFill>
                <a:latin typeface="Aptos Display"/>
              </a:rPr>
              <a:t>BEGIN</a:t>
            </a:r>
          </a:p>
        </p:txBody>
      </p:sp>
      <p:sp>
        <p:nvSpPr>
          <p:cNvPr id="10" name="TextBox 9"/>
          <p:cNvSpPr txBox="1"/>
          <p:nvPr/>
        </p:nvSpPr>
        <p:spPr>
          <a:xfrm>
            <a:off x="987552" y="2148840"/>
            <a:ext cx="1783079" cy="548640"/>
          </a:xfrm>
          <a:prstGeom prst="rect">
            <a:avLst/>
          </a:prstGeom>
          <a:noFill/>
        </p:spPr>
        <p:txBody>
          <a:bodyPr wrap="none" lIns="73152" rIns="73152" tIns="36576" bIns="36576">
            <a:spAutoFit/>
          </a:bodyPr>
          <a:lstStyle/>
          <a:p>
            <a:r>
              <a:rPr sz="1400" b="0">
                <a:solidFill>
                  <a:srgbClr val="1C2630"/>
                </a:solidFill>
                <a:latin typeface="Aptos"/>
              </a:rPr>
              <a:t>Start transaction scope</a:t>
            </a:r>
          </a:p>
        </p:txBody>
      </p:sp>
      <p:cxnSp>
        <p:nvCxnSpPr>
          <p:cNvPr id="11" name="Connector 10"/>
          <p:cNvCxnSpPr/>
          <p:nvPr/>
        </p:nvCxnSpPr>
        <p:spPr>
          <a:xfrm>
            <a:off x="3017520" y="2212848"/>
            <a:ext cx="822960" cy="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977639" y="1645920"/>
            <a:ext cx="210312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77639" y="1645920"/>
            <a:ext cx="82296" cy="11430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42231" y="1755648"/>
            <a:ext cx="1783079" cy="320040"/>
          </a:xfrm>
          <a:prstGeom prst="rect">
            <a:avLst/>
          </a:prstGeom>
          <a:noFill/>
        </p:spPr>
        <p:txBody>
          <a:bodyPr wrap="none" lIns="73152" rIns="73152" tIns="36576" bIns="36576">
            <a:spAutoFit/>
          </a:bodyPr>
          <a:lstStyle/>
          <a:p>
            <a:r>
              <a:rPr sz="1500" b="1">
                <a:solidFill>
                  <a:srgbClr val="D6703A"/>
                </a:solidFill>
                <a:latin typeface="Aptos Display"/>
              </a:rPr>
              <a:t>UPDATE</a:t>
            </a:r>
          </a:p>
        </p:txBody>
      </p:sp>
      <p:sp>
        <p:nvSpPr>
          <p:cNvPr id="15" name="TextBox 14"/>
          <p:cNvSpPr txBox="1"/>
          <p:nvPr/>
        </p:nvSpPr>
        <p:spPr>
          <a:xfrm>
            <a:off x="4142231" y="2148840"/>
            <a:ext cx="1783079" cy="548640"/>
          </a:xfrm>
          <a:prstGeom prst="rect">
            <a:avLst/>
          </a:prstGeom>
          <a:noFill/>
        </p:spPr>
        <p:txBody>
          <a:bodyPr wrap="none" lIns="73152" rIns="73152" tIns="36576" bIns="36576">
            <a:spAutoFit/>
          </a:bodyPr>
          <a:lstStyle/>
          <a:p>
            <a:r>
              <a:rPr sz="1400" b="0">
                <a:solidFill>
                  <a:srgbClr val="1C2630"/>
                </a:solidFill>
                <a:latin typeface="Aptos"/>
              </a:rPr>
              <a:t>Hold a row lock</a:t>
            </a:r>
          </a:p>
        </p:txBody>
      </p:sp>
      <p:cxnSp>
        <p:nvCxnSpPr>
          <p:cNvPr id="16" name="Connector 15"/>
          <p:cNvCxnSpPr/>
          <p:nvPr/>
        </p:nvCxnSpPr>
        <p:spPr>
          <a:xfrm>
            <a:off x="6172200" y="2212848"/>
            <a:ext cx="822960" cy="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20" y="1645920"/>
            <a:ext cx="210312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0" y="1645920"/>
            <a:ext cx="82296" cy="1143000"/>
          </a:xfrm>
          <a:prstGeom prst="rect">
            <a:avLst/>
          </a:prstGeom>
          <a:solidFill>
            <a:srgbClr val="B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96912" y="1755648"/>
            <a:ext cx="1783079" cy="320040"/>
          </a:xfrm>
          <a:prstGeom prst="rect">
            <a:avLst/>
          </a:prstGeom>
          <a:noFill/>
        </p:spPr>
        <p:txBody>
          <a:bodyPr wrap="none" lIns="73152" rIns="73152" tIns="36576" bIns="36576">
            <a:spAutoFit/>
          </a:bodyPr>
          <a:lstStyle/>
          <a:p>
            <a:r>
              <a:rPr sz="1500" b="1">
                <a:solidFill>
                  <a:srgbClr val="B24B4B"/>
                </a:solidFill>
                <a:latin typeface="Aptos Display"/>
              </a:rPr>
              <a:t>WAIT</a:t>
            </a:r>
          </a:p>
        </p:txBody>
      </p:sp>
      <p:sp>
        <p:nvSpPr>
          <p:cNvPr id="20" name="TextBox 19"/>
          <p:cNvSpPr txBox="1"/>
          <p:nvPr/>
        </p:nvSpPr>
        <p:spPr>
          <a:xfrm>
            <a:off x="7296912" y="2148840"/>
            <a:ext cx="1783079" cy="548640"/>
          </a:xfrm>
          <a:prstGeom prst="rect">
            <a:avLst/>
          </a:prstGeom>
          <a:noFill/>
        </p:spPr>
        <p:txBody>
          <a:bodyPr wrap="none" lIns="73152" rIns="73152" tIns="36576" bIns="36576">
            <a:spAutoFit/>
          </a:bodyPr>
          <a:lstStyle/>
          <a:p>
            <a:r>
              <a:rPr sz="1400" b="0">
                <a:solidFill>
                  <a:srgbClr val="1C2630"/>
                </a:solidFill>
                <a:latin typeface="Aptos"/>
              </a:rPr>
              <a:t>Another session blocks</a:t>
            </a:r>
          </a:p>
        </p:txBody>
      </p:sp>
      <p:cxnSp>
        <p:nvCxnSpPr>
          <p:cNvPr id="21" name="Connector 20"/>
          <p:cNvCxnSpPr/>
          <p:nvPr/>
        </p:nvCxnSpPr>
        <p:spPr>
          <a:xfrm>
            <a:off x="9326880" y="2212848"/>
            <a:ext cx="822960" cy="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287000" y="1645920"/>
            <a:ext cx="123444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287000" y="1645920"/>
            <a:ext cx="82296" cy="114300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51592" y="1755648"/>
            <a:ext cx="914400" cy="320040"/>
          </a:xfrm>
          <a:prstGeom prst="rect">
            <a:avLst/>
          </a:prstGeom>
          <a:noFill/>
        </p:spPr>
        <p:txBody>
          <a:bodyPr wrap="none" lIns="73152" rIns="73152" tIns="36576" bIns="36576">
            <a:spAutoFit/>
          </a:bodyPr>
          <a:lstStyle/>
          <a:p>
            <a:r>
              <a:rPr sz="1500" b="1">
                <a:solidFill>
                  <a:srgbClr val="4F8B57"/>
                </a:solidFill>
                <a:latin typeface="Aptos Display"/>
              </a:rPr>
              <a:t>END</a:t>
            </a:r>
          </a:p>
        </p:txBody>
      </p:sp>
      <p:sp>
        <p:nvSpPr>
          <p:cNvPr id="25" name="TextBox 24"/>
          <p:cNvSpPr txBox="1"/>
          <p:nvPr/>
        </p:nvSpPr>
        <p:spPr>
          <a:xfrm>
            <a:off x="10451592" y="2148840"/>
            <a:ext cx="914400" cy="548640"/>
          </a:xfrm>
          <a:prstGeom prst="rect">
            <a:avLst/>
          </a:prstGeom>
          <a:noFill/>
        </p:spPr>
        <p:txBody>
          <a:bodyPr wrap="none" lIns="73152" rIns="73152" tIns="36576" bIns="36576">
            <a:spAutoFit/>
          </a:bodyPr>
          <a:lstStyle/>
          <a:p>
            <a:r>
              <a:rPr sz="1400" b="0">
                <a:solidFill>
                  <a:srgbClr val="1C2630"/>
                </a:solidFill>
                <a:latin typeface="Aptos"/>
              </a:rPr>
              <a:t>Commit or rollback</a:t>
            </a:r>
          </a:p>
        </p:txBody>
      </p:sp>
      <p:sp>
        <p:nvSpPr>
          <p:cNvPr id="26" name="TextBox 25"/>
          <p:cNvSpPr txBox="1"/>
          <p:nvPr/>
        </p:nvSpPr>
        <p:spPr>
          <a:xfrm>
            <a:off x="1051560" y="3886200"/>
            <a:ext cx="9784080" cy="1051560"/>
          </a:xfrm>
          <a:prstGeom prst="rect">
            <a:avLst/>
          </a:prstGeom>
          <a:noFill/>
        </p:spPr>
        <p:txBody>
          <a:bodyPr wrap="square" lIns="109728" rIns="73152" tIns="36576">
            <a:spAutoFit/>
          </a:bodyPr>
          <a:lstStyle/>
          <a:p>
            <a:pPr>
              <a:spcAft>
                <a:spcPts val="800"/>
              </a:spcAft>
              <a:defRPr sz="1900">
                <a:solidFill>
                  <a:srgbClr val="1C2630"/>
                </a:solidFill>
                <a:latin typeface="Aptos"/>
              </a:defRPr>
            </a:pPr>
            <a:r>
              <a:t>Correctness sometimes creates waiting.</a:t>
            </a:r>
          </a:p>
          <a:p>
            <a:pPr>
              <a:spcAft>
                <a:spcPts val="800"/>
              </a:spcAft>
              <a:defRPr sz="1900">
                <a:solidFill>
                  <a:srgbClr val="1C2630"/>
                </a:solidFill>
                <a:latin typeface="Aptos"/>
              </a:defRPr>
            </a:pPr>
            <a:r>
              <a:t>A lock wait is not automatically a bug.</a:t>
            </a:r>
          </a:p>
          <a:p>
            <a:pPr>
              <a:spcAft>
                <a:spcPts val="800"/>
              </a:spcAft>
              <a:defRPr sz="1900">
                <a:solidFill>
                  <a:srgbClr val="1C2630"/>
                </a:solidFill>
                <a:latin typeface="Aptos"/>
              </a:defRPr>
            </a:pPr>
            <a:r>
              <a:t>A good incident report explains the timeline and the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CLOUD ADMINISTRATION</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Supabase/Postgres: Managed Does Not Mean No Responsibility</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7</a:t>
            </a:r>
          </a:p>
        </p:txBody>
      </p:sp>
      <p:sp>
        <p:nvSpPr>
          <p:cNvPr id="7" name="Rounded Rectangle 6"/>
          <p:cNvSpPr/>
          <p:nvPr/>
        </p:nvSpPr>
        <p:spPr>
          <a:xfrm>
            <a:off x="822960" y="1691640"/>
            <a:ext cx="256032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691640"/>
            <a:ext cx="82296" cy="123444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801368"/>
            <a:ext cx="2240279" cy="320040"/>
          </a:xfrm>
          <a:prstGeom prst="rect">
            <a:avLst/>
          </a:prstGeom>
          <a:noFill/>
        </p:spPr>
        <p:txBody>
          <a:bodyPr wrap="none" lIns="73152" rIns="73152" tIns="36576" bIns="36576">
            <a:spAutoFit/>
          </a:bodyPr>
          <a:lstStyle/>
          <a:p>
            <a:r>
              <a:rPr sz="1500" b="1">
                <a:solidFill>
                  <a:srgbClr val="365E99"/>
                </a:solidFill>
                <a:latin typeface="Aptos Display"/>
              </a:rPr>
              <a:t>Platform Helps With</a:t>
            </a:r>
          </a:p>
        </p:txBody>
      </p:sp>
      <p:sp>
        <p:nvSpPr>
          <p:cNvPr id="10" name="TextBox 9"/>
          <p:cNvSpPr txBox="1"/>
          <p:nvPr/>
        </p:nvSpPr>
        <p:spPr>
          <a:xfrm>
            <a:off x="987552" y="2194560"/>
            <a:ext cx="2240279" cy="640080"/>
          </a:xfrm>
          <a:prstGeom prst="rect">
            <a:avLst/>
          </a:prstGeom>
          <a:noFill/>
        </p:spPr>
        <p:txBody>
          <a:bodyPr wrap="none" lIns="73152" rIns="73152" tIns="36576" bIns="36576">
            <a:spAutoFit/>
          </a:bodyPr>
          <a:lstStyle/>
          <a:p>
            <a:r>
              <a:rPr sz="1400" b="0">
                <a:solidFill>
                  <a:srgbClr val="1C2630"/>
                </a:solidFill>
                <a:latin typeface="Aptos"/>
              </a:rPr>
              <a:t>hosting, dashboard, managed services, connection tools</a:t>
            </a:r>
          </a:p>
        </p:txBody>
      </p:sp>
      <p:sp>
        <p:nvSpPr>
          <p:cNvPr id="11" name="Rounded Rectangle 10"/>
          <p:cNvSpPr/>
          <p:nvPr/>
        </p:nvSpPr>
        <p:spPr>
          <a:xfrm>
            <a:off x="4800600" y="1691640"/>
            <a:ext cx="256032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00600" y="1691640"/>
            <a:ext cx="82296" cy="123444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5192" y="1801368"/>
            <a:ext cx="2240279" cy="320040"/>
          </a:xfrm>
          <a:prstGeom prst="rect">
            <a:avLst/>
          </a:prstGeom>
          <a:noFill/>
        </p:spPr>
        <p:txBody>
          <a:bodyPr wrap="none" lIns="73152" rIns="73152" tIns="36576" bIns="36576">
            <a:spAutoFit/>
          </a:bodyPr>
          <a:lstStyle/>
          <a:p>
            <a:r>
              <a:rPr sz="1500" b="1">
                <a:solidFill>
                  <a:srgbClr val="D6703A"/>
                </a:solidFill>
                <a:latin typeface="Aptos Display"/>
              </a:rPr>
              <a:t>You Still Own</a:t>
            </a:r>
          </a:p>
        </p:txBody>
      </p:sp>
      <p:sp>
        <p:nvSpPr>
          <p:cNvPr id="14" name="TextBox 13"/>
          <p:cNvSpPr txBox="1"/>
          <p:nvPr/>
        </p:nvSpPr>
        <p:spPr>
          <a:xfrm>
            <a:off x="4965192" y="2194560"/>
            <a:ext cx="2240279" cy="640080"/>
          </a:xfrm>
          <a:prstGeom prst="rect">
            <a:avLst/>
          </a:prstGeom>
          <a:noFill/>
        </p:spPr>
        <p:txBody>
          <a:bodyPr wrap="none" lIns="73152" rIns="73152" tIns="36576" bIns="36576">
            <a:spAutoFit/>
          </a:bodyPr>
          <a:lstStyle/>
          <a:p>
            <a:r>
              <a:rPr sz="1400" b="0">
                <a:solidFill>
                  <a:srgbClr val="1C2630"/>
                </a:solidFill>
                <a:latin typeface="Aptos"/>
              </a:rPr>
              <a:t>schema, SQL, permissions, indexes, data quality</a:t>
            </a:r>
          </a:p>
        </p:txBody>
      </p:sp>
      <p:sp>
        <p:nvSpPr>
          <p:cNvPr id="15" name="Rounded Rectangle 14"/>
          <p:cNvSpPr/>
          <p:nvPr/>
        </p:nvSpPr>
        <p:spPr>
          <a:xfrm>
            <a:off x="8732520" y="1691640"/>
            <a:ext cx="256032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32520" y="1691640"/>
            <a:ext cx="82296" cy="123444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7112" y="1801368"/>
            <a:ext cx="2240279" cy="320040"/>
          </a:xfrm>
          <a:prstGeom prst="rect">
            <a:avLst/>
          </a:prstGeom>
          <a:noFill/>
        </p:spPr>
        <p:txBody>
          <a:bodyPr wrap="none" lIns="73152" rIns="73152" tIns="36576" bIns="36576">
            <a:spAutoFit/>
          </a:bodyPr>
          <a:lstStyle/>
          <a:p>
            <a:r>
              <a:rPr sz="1500" b="1">
                <a:solidFill>
                  <a:srgbClr val="4F8B57"/>
                </a:solidFill>
                <a:latin typeface="Aptos Display"/>
              </a:rPr>
              <a:t>Evidence Looks Like</a:t>
            </a:r>
          </a:p>
        </p:txBody>
      </p:sp>
      <p:sp>
        <p:nvSpPr>
          <p:cNvPr id="18" name="TextBox 17"/>
          <p:cNvSpPr txBox="1"/>
          <p:nvPr/>
        </p:nvSpPr>
        <p:spPr>
          <a:xfrm>
            <a:off x="8897112" y="2194560"/>
            <a:ext cx="2240279" cy="640080"/>
          </a:xfrm>
          <a:prstGeom prst="rect">
            <a:avLst/>
          </a:prstGeom>
          <a:noFill/>
        </p:spPr>
        <p:txBody>
          <a:bodyPr wrap="none" lIns="73152" rIns="73152" tIns="36576" bIns="36576">
            <a:spAutoFit/>
          </a:bodyPr>
          <a:lstStyle/>
          <a:p>
            <a:r>
              <a:rPr sz="1400" b="0">
                <a:solidFill>
                  <a:srgbClr val="1C2630"/>
                </a:solidFill>
                <a:latin typeface="Aptos"/>
              </a:rPr>
              <a:t>queries, screenshots, admin notes, restore thinking</a:t>
            </a:r>
          </a:p>
        </p:txBody>
      </p:sp>
      <p:sp>
        <p:nvSpPr>
          <p:cNvPr id="19" name="TextBox 18"/>
          <p:cNvSpPr txBox="1"/>
          <p:nvPr/>
        </p:nvSpPr>
        <p:spPr>
          <a:xfrm>
            <a:off x="960120" y="3886200"/>
            <a:ext cx="10195560" cy="731520"/>
          </a:xfrm>
          <a:prstGeom prst="rect">
            <a:avLst/>
          </a:prstGeom>
          <a:noFill/>
        </p:spPr>
        <p:txBody>
          <a:bodyPr wrap="none" lIns="73152" rIns="73152" tIns="36576" bIns="36576">
            <a:spAutoFit/>
          </a:bodyPr>
          <a:lstStyle/>
          <a:p>
            <a:pPr algn="ctr"/>
            <a:r>
              <a:rPr sz="2300" b="1">
                <a:solidFill>
                  <a:srgbClr val="1C2630"/>
                </a:solidFill>
                <a:latin typeface="Aptos Display"/>
              </a:rPr>
              <a:t>A strong final project does not just show tables. It shows that you can explain how the database would be operated safely.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NOSQL REVIEW</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MongoDB/Atlas: Documents And Access Patterns</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8</a:t>
            </a:r>
          </a:p>
        </p:txBody>
      </p:sp>
      <p:sp>
        <p:nvSpPr>
          <p:cNvPr id="7" name="Rounded Rectangle 6"/>
          <p:cNvSpPr/>
          <p:nvPr/>
        </p:nvSpPr>
        <p:spPr>
          <a:xfrm>
            <a:off x="777240" y="1645920"/>
            <a:ext cx="2880360" cy="13716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45920"/>
            <a:ext cx="82296" cy="13716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755648"/>
            <a:ext cx="2560320" cy="320040"/>
          </a:xfrm>
          <a:prstGeom prst="rect">
            <a:avLst/>
          </a:prstGeom>
          <a:noFill/>
        </p:spPr>
        <p:txBody>
          <a:bodyPr wrap="none" lIns="73152" rIns="73152" tIns="36576" bIns="36576">
            <a:spAutoFit/>
          </a:bodyPr>
          <a:lstStyle/>
          <a:p>
            <a:r>
              <a:rPr sz="1500" b="1">
                <a:solidFill>
                  <a:srgbClr val="1F7A74"/>
                </a:solidFill>
                <a:latin typeface="Aptos Display"/>
              </a:rPr>
              <a:t>Embed</a:t>
            </a:r>
          </a:p>
        </p:txBody>
      </p:sp>
      <p:sp>
        <p:nvSpPr>
          <p:cNvPr id="10" name="TextBox 9"/>
          <p:cNvSpPr txBox="1"/>
          <p:nvPr/>
        </p:nvSpPr>
        <p:spPr>
          <a:xfrm>
            <a:off x="941832" y="2148840"/>
            <a:ext cx="2560320" cy="777240"/>
          </a:xfrm>
          <a:prstGeom prst="rect">
            <a:avLst/>
          </a:prstGeom>
          <a:noFill/>
        </p:spPr>
        <p:txBody>
          <a:bodyPr wrap="none" lIns="73152" rIns="73152" tIns="36576" bIns="36576">
            <a:spAutoFit/>
          </a:bodyPr>
          <a:lstStyle/>
          <a:p>
            <a:r>
              <a:rPr sz="1400" b="0">
                <a:solidFill>
                  <a:srgbClr val="1C2630"/>
                </a:solidFill>
                <a:latin typeface="Aptos"/>
              </a:rPr>
              <a:t>Keep related data together when it is usually read together.</a:t>
            </a:r>
          </a:p>
        </p:txBody>
      </p:sp>
      <p:sp>
        <p:nvSpPr>
          <p:cNvPr id="11" name="Rounded Rectangle 10"/>
          <p:cNvSpPr/>
          <p:nvPr/>
        </p:nvSpPr>
        <p:spPr>
          <a:xfrm>
            <a:off x="4617720" y="1645920"/>
            <a:ext cx="2880360" cy="13716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1645920"/>
            <a:ext cx="82296" cy="13716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82312" y="1755648"/>
            <a:ext cx="2560320" cy="320040"/>
          </a:xfrm>
          <a:prstGeom prst="rect">
            <a:avLst/>
          </a:prstGeom>
          <a:noFill/>
        </p:spPr>
        <p:txBody>
          <a:bodyPr wrap="none" lIns="73152" rIns="73152" tIns="36576" bIns="36576">
            <a:spAutoFit/>
          </a:bodyPr>
          <a:lstStyle/>
          <a:p>
            <a:r>
              <a:rPr sz="1500" b="1">
                <a:solidFill>
                  <a:srgbClr val="365E99"/>
                </a:solidFill>
                <a:latin typeface="Aptos Display"/>
              </a:rPr>
              <a:t>Reference</a:t>
            </a:r>
          </a:p>
        </p:txBody>
      </p:sp>
      <p:sp>
        <p:nvSpPr>
          <p:cNvPr id="14" name="TextBox 13"/>
          <p:cNvSpPr txBox="1"/>
          <p:nvPr/>
        </p:nvSpPr>
        <p:spPr>
          <a:xfrm>
            <a:off x="4782312" y="2148840"/>
            <a:ext cx="2560320" cy="777240"/>
          </a:xfrm>
          <a:prstGeom prst="rect">
            <a:avLst/>
          </a:prstGeom>
          <a:noFill/>
        </p:spPr>
        <p:txBody>
          <a:bodyPr wrap="none" lIns="73152" rIns="73152" tIns="36576" bIns="36576">
            <a:spAutoFit/>
          </a:bodyPr>
          <a:lstStyle/>
          <a:p>
            <a:r>
              <a:rPr sz="1400" b="0">
                <a:solidFill>
                  <a:srgbClr val="1C2630"/>
                </a:solidFill>
                <a:latin typeface="Aptos"/>
              </a:rPr>
              <a:t>Store identifiers when data changes separately or is shared.</a:t>
            </a:r>
          </a:p>
        </p:txBody>
      </p:sp>
      <p:sp>
        <p:nvSpPr>
          <p:cNvPr id="15" name="Rounded Rectangle 14"/>
          <p:cNvSpPr/>
          <p:nvPr/>
        </p:nvSpPr>
        <p:spPr>
          <a:xfrm>
            <a:off x="8458200" y="1645920"/>
            <a:ext cx="2880360" cy="13716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58200" y="1645920"/>
            <a:ext cx="82296" cy="13716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1755648"/>
            <a:ext cx="2560320" cy="320040"/>
          </a:xfrm>
          <a:prstGeom prst="rect">
            <a:avLst/>
          </a:prstGeom>
          <a:noFill/>
        </p:spPr>
        <p:txBody>
          <a:bodyPr wrap="none" lIns="73152" rIns="73152" tIns="36576" bIns="36576">
            <a:spAutoFit/>
          </a:bodyPr>
          <a:lstStyle/>
          <a:p>
            <a:r>
              <a:rPr sz="1500" b="1">
                <a:solidFill>
                  <a:srgbClr val="D6703A"/>
                </a:solidFill>
                <a:latin typeface="Aptos Display"/>
              </a:rPr>
              <a:t>Aggregate</a:t>
            </a:r>
          </a:p>
        </p:txBody>
      </p:sp>
      <p:sp>
        <p:nvSpPr>
          <p:cNvPr id="18" name="TextBox 17"/>
          <p:cNvSpPr txBox="1"/>
          <p:nvPr/>
        </p:nvSpPr>
        <p:spPr>
          <a:xfrm>
            <a:off x="8622792" y="2148840"/>
            <a:ext cx="2560320" cy="777240"/>
          </a:xfrm>
          <a:prstGeom prst="rect">
            <a:avLst/>
          </a:prstGeom>
          <a:noFill/>
        </p:spPr>
        <p:txBody>
          <a:bodyPr wrap="none" lIns="73152" rIns="73152" tIns="36576" bIns="36576">
            <a:spAutoFit/>
          </a:bodyPr>
          <a:lstStyle/>
          <a:p>
            <a:r>
              <a:rPr sz="1400" b="0">
                <a:solidFill>
                  <a:srgbClr val="1C2630"/>
                </a:solidFill>
                <a:latin typeface="Aptos"/>
              </a:rPr>
              <a:t>Filter, group, reshape, and summarize documents.</a:t>
            </a:r>
          </a:p>
        </p:txBody>
      </p:sp>
      <p:sp>
        <p:nvSpPr>
          <p:cNvPr id="19" name="TextBox 18"/>
          <p:cNvSpPr txBox="1"/>
          <p:nvPr/>
        </p:nvSpPr>
        <p:spPr>
          <a:xfrm>
            <a:off x="914400" y="3886200"/>
            <a:ext cx="10241280" cy="594360"/>
          </a:xfrm>
          <a:prstGeom prst="rect">
            <a:avLst/>
          </a:prstGeom>
          <a:noFill/>
        </p:spPr>
        <p:txBody>
          <a:bodyPr wrap="none" lIns="73152" rIns="73152" tIns="36576" bIns="36576">
            <a:spAutoFit/>
          </a:bodyPr>
          <a:lstStyle/>
          <a:p>
            <a:r>
              <a:rPr sz="1600" b="1">
                <a:solidFill>
                  <a:srgbClr val="1F7A74"/>
                </a:solidFill>
                <a:latin typeface="Aptos Display"/>
              </a:rPr>
              <a:t>Interview sentence</a:t>
            </a:r>
          </a:p>
        </p:txBody>
      </p:sp>
      <p:sp>
        <p:nvSpPr>
          <p:cNvPr id="20" name="TextBox 19"/>
          <p:cNvSpPr txBox="1"/>
          <p:nvPr/>
        </p:nvSpPr>
        <p:spPr>
          <a:xfrm>
            <a:off x="914400" y="4315968"/>
            <a:ext cx="10149840" cy="731520"/>
          </a:xfrm>
          <a:prstGeom prst="rect">
            <a:avLst/>
          </a:prstGeom>
          <a:noFill/>
        </p:spPr>
        <p:txBody>
          <a:bodyPr wrap="none" lIns="73152" rIns="73152" tIns="36576" bIns="36576">
            <a:spAutoFit/>
          </a:bodyPr>
          <a:lstStyle/>
          <a:p>
            <a:r>
              <a:rPr sz="2100" b="0">
                <a:solidFill>
                  <a:srgbClr val="1C2630"/>
                </a:solidFill>
                <a:latin typeface="Aptos"/>
              </a:rPr>
              <a:t>“I learned that MongoDB modeling is driven by access patterns. I can explain when embedding is simpler and when referencing better protects a source of truth.”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NOSQL REVIEW</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NoSQL Models: Different Tools For Different Problems</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9</a:t>
            </a:r>
          </a:p>
        </p:txBody>
      </p:sp>
      <p:sp>
        <p:nvSpPr>
          <p:cNvPr id="7" name="Rounded Rectangle 6"/>
          <p:cNvSpPr/>
          <p:nvPr/>
        </p:nvSpPr>
        <p:spPr>
          <a:xfrm>
            <a:off x="685800" y="1645920"/>
            <a:ext cx="256032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82296" cy="123444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755648"/>
            <a:ext cx="2240279" cy="320040"/>
          </a:xfrm>
          <a:prstGeom prst="rect">
            <a:avLst/>
          </a:prstGeom>
          <a:noFill/>
        </p:spPr>
        <p:txBody>
          <a:bodyPr wrap="none" lIns="73152" rIns="73152" tIns="36576" bIns="36576">
            <a:spAutoFit/>
          </a:bodyPr>
          <a:lstStyle/>
          <a:p>
            <a:r>
              <a:rPr sz="1500" b="1">
                <a:solidFill>
                  <a:srgbClr val="365E99"/>
                </a:solidFill>
                <a:latin typeface="Aptos Display"/>
              </a:rPr>
              <a:t>Key-Value</a:t>
            </a:r>
          </a:p>
        </p:txBody>
      </p:sp>
      <p:sp>
        <p:nvSpPr>
          <p:cNvPr id="10" name="TextBox 9"/>
          <p:cNvSpPr txBox="1"/>
          <p:nvPr/>
        </p:nvSpPr>
        <p:spPr>
          <a:xfrm>
            <a:off x="850392" y="2148840"/>
            <a:ext cx="2240279" cy="640080"/>
          </a:xfrm>
          <a:prstGeom prst="rect">
            <a:avLst/>
          </a:prstGeom>
          <a:noFill/>
        </p:spPr>
        <p:txBody>
          <a:bodyPr wrap="none" lIns="73152" rIns="73152" tIns="36576" bIns="36576">
            <a:spAutoFit/>
          </a:bodyPr>
          <a:lstStyle/>
          <a:p>
            <a:r>
              <a:rPr sz="1400" b="0">
                <a:solidFill>
                  <a:srgbClr val="1C2630"/>
                </a:solidFill>
                <a:latin typeface="Aptos"/>
              </a:rPr>
              <a:t>Fast lookup by key</a:t>
            </a:r>
            <a:br/>
            <a:r>
              <a:t>Example: sessions, cache</a:t>
            </a:r>
          </a:p>
        </p:txBody>
      </p:sp>
      <p:sp>
        <p:nvSpPr>
          <p:cNvPr id="11" name="Rounded Rectangle 10"/>
          <p:cNvSpPr/>
          <p:nvPr/>
        </p:nvSpPr>
        <p:spPr>
          <a:xfrm>
            <a:off x="3520440" y="1645920"/>
            <a:ext cx="256032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0440" y="1645920"/>
            <a:ext cx="82296" cy="123444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5032" y="1755648"/>
            <a:ext cx="2240279" cy="320040"/>
          </a:xfrm>
          <a:prstGeom prst="rect">
            <a:avLst/>
          </a:prstGeom>
          <a:noFill/>
        </p:spPr>
        <p:txBody>
          <a:bodyPr wrap="none" lIns="73152" rIns="73152" tIns="36576" bIns="36576">
            <a:spAutoFit/>
          </a:bodyPr>
          <a:lstStyle/>
          <a:p>
            <a:r>
              <a:rPr sz="1500" b="1">
                <a:solidFill>
                  <a:srgbClr val="1F7A74"/>
                </a:solidFill>
                <a:latin typeface="Aptos Display"/>
              </a:rPr>
              <a:t>Document</a:t>
            </a:r>
          </a:p>
        </p:txBody>
      </p:sp>
      <p:sp>
        <p:nvSpPr>
          <p:cNvPr id="14" name="TextBox 13"/>
          <p:cNvSpPr txBox="1"/>
          <p:nvPr/>
        </p:nvSpPr>
        <p:spPr>
          <a:xfrm>
            <a:off x="3685032" y="2148840"/>
            <a:ext cx="2240279" cy="640080"/>
          </a:xfrm>
          <a:prstGeom prst="rect">
            <a:avLst/>
          </a:prstGeom>
          <a:noFill/>
        </p:spPr>
        <p:txBody>
          <a:bodyPr wrap="none" lIns="73152" rIns="73152" tIns="36576" bIns="36576">
            <a:spAutoFit/>
          </a:bodyPr>
          <a:lstStyle/>
          <a:p>
            <a:r>
              <a:rPr sz="1400" b="0">
                <a:solidFill>
                  <a:srgbClr val="1C2630"/>
                </a:solidFill>
                <a:latin typeface="Aptos"/>
              </a:rPr>
              <a:t>Nested flexible records</a:t>
            </a:r>
            <a:br/>
            <a:r>
              <a:t>Example: orders, events</a:t>
            </a:r>
          </a:p>
        </p:txBody>
      </p:sp>
      <p:sp>
        <p:nvSpPr>
          <p:cNvPr id="15" name="Rounded Rectangle 14"/>
          <p:cNvSpPr/>
          <p:nvPr/>
        </p:nvSpPr>
        <p:spPr>
          <a:xfrm>
            <a:off x="6355080" y="1645920"/>
            <a:ext cx="256032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1645920"/>
            <a:ext cx="82296" cy="123444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1755648"/>
            <a:ext cx="2240279" cy="320040"/>
          </a:xfrm>
          <a:prstGeom prst="rect">
            <a:avLst/>
          </a:prstGeom>
          <a:noFill/>
        </p:spPr>
        <p:txBody>
          <a:bodyPr wrap="none" lIns="73152" rIns="73152" tIns="36576" bIns="36576">
            <a:spAutoFit/>
          </a:bodyPr>
          <a:lstStyle/>
          <a:p>
            <a:r>
              <a:rPr sz="1500" b="1">
                <a:solidFill>
                  <a:srgbClr val="4F8B57"/>
                </a:solidFill>
                <a:latin typeface="Aptos Display"/>
              </a:rPr>
              <a:t>Graph</a:t>
            </a:r>
          </a:p>
        </p:txBody>
      </p:sp>
      <p:sp>
        <p:nvSpPr>
          <p:cNvPr id="18" name="TextBox 17"/>
          <p:cNvSpPr txBox="1"/>
          <p:nvPr/>
        </p:nvSpPr>
        <p:spPr>
          <a:xfrm>
            <a:off x="6519672" y="2148840"/>
            <a:ext cx="2240279" cy="640080"/>
          </a:xfrm>
          <a:prstGeom prst="rect">
            <a:avLst/>
          </a:prstGeom>
          <a:noFill/>
        </p:spPr>
        <p:txBody>
          <a:bodyPr wrap="none" lIns="73152" rIns="73152" tIns="36576" bIns="36576">
            <a:spAutoFit/>
          </a:bodyPr>
          <a:lstStyle/>
          <a:p>
            <a:r>
              <a:rPr sz="1400" b="0">
                <a:solidFill>
                  <a:srgbClr val="1C2630"/>
                </a:solidFill>
                <a:latin typeface="Aptos"/>
              </a:rPr>
              <a:t>Relationships and paths</a:t>
            </a:r>
            <a:br/>
            <a:r>
              <a:t>Example: networks, recommendations</a:t>
            </a:r>
          </a:p>
        </p:txBody>
      </p:sp>
      <p:sp>
        <p:nvSpPr>
          <p:cNvPr id="19" name="Rounded Rectangle 18"/>
          <p:cNvSpPr/>
          <p:nvPr/>
        </p:nvSpPr>
        <p:spPr>
          <a:xfrm>
            <a:off x="9189720" y="1645920"/>
            <a:ext cx="233172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89720" y="1645920"/>
            <a:ext cx="82296" cy="123444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54312" y="1755648"/>
            <a:ext cx="2011679" cy="320040"/>
          </a:xfrm>
          <a:prstGeom prst="rect">
            <a:avLst/>
          </a:prstGeom>
          <a:noFill/>
        </p:spPr>
        <p:txBody>
          <a:bodyPr wrap="none" lIns="73152" rIns="73152" tIns="36576" bIns="36576">
            <a:spAutoFit/>
          </a:bodyPr>
          <a:lstStyle/>
          <a:p>
            <a:r>
              <a:rPr sz="1500" b="1">
                <a:solidFill>
                  <a:srgbClr val="D6703A"/>
                </a:solidFill>
                <a:latin typeface="Aptos Display"/>
              </a:rPr>
              <a:t>Vector</a:t>
            </a:r>
          </a:p>
        </p:txBody>
      </p:sp>
      <p:sp>
        <p:nvSpPr>
          <p:cNvPr id="22" name="TextBox 21"/>
          <p:cNvSpPr txBox="1"/>
          <p:nvPr/>
        </p:nvSpPr>
        <p:spPr>
          <a:xfrm>
            <a:off x="9354312" y="2148840"/>
            <a:ext cx="2011679" cy="640080"/>
          </a:xfrm>
          <a:prstGeom prst="rect">
            <a:avLst/>
          </a:prstGeom>
          <a:noFill/>
        </p:spPr>
        <p:txBody>
          <a:bodyPr wrap="none" lIns="73152" rIns="73152" tIns="36576" bIns="36576">
            <a:spAutoFit/>
          </a:bodyPr>
          <a:lstStyle/>
          <a:p>
            <a:r>
              <a:rPr sz="1400" b="0">
                <a:solidFill>
                  <a:srgbClr val="1C2630"/>
                </a:solidFill>
                <a:latin typeface="Aptos"/>
              </a:rPr>
              <a:t>Similarity search</a:t>
            </a:r>
            <a:br/>
            <a:r>
              <a:t>Example: semantic search</a:t>
            </a:r>
          </a:p>
        </p:txBody>
      </p:sp>
      <p:sp>
        <p:nvSpPr>
          <p:cNvPr id="23" name="TextBox 22"/>
          <p:cNvSpPr txBox="1"/>
          <p:nvPr/>
        </p:nvSpPr>
        <p:spPr>
          <a:xfrm>
            <a:off x="1143000" y="3977639"/>
            <a:ext cx="9601200" cy="822960"/>
          </a:xfrm>
          <a:prstGeom prst="rect">
            <a:avLst/>
          </a:prstGeom>
          <a:noFill/>
        </p:spPr>
        <p:txBody>
          <a:bodyPr wrap="square" lIns="109728" rIns="73152" tIns="36576">
            <a:spAutoFit/>
          </a:bodyPr>
          <a:lstStyle/>
          <a:p>
            <a:pPr>
              <a:spcAft>
                <a:spcPts val="800"/>
              </a:spcAft>
              <a:defRPr sz="2000">
                <a:solidFill>
                  <a:srgbClr val="1C2630"/>
                </a:solidFill>
                <a:latin typeface="Aptos"/>
              </a:defRPr>
            </a:pPr>
            <a:r>
              <a:t>Different data models optimize for different questions.</a:t>
            </a:r>
          </a:p>
          <a:p>
            <a:pPr>
              <a:spcAft>
                <a:spcPts val="800"/>
              </a:spcAft>
              <a:defRPr sz="2000">
                <a:solidFill>
                  <a:srgbClr val="1C2630"/>
                </a:solidFill>
                <a:latin typeface="Aptos"/>
              </a:defRPr>
            </a:pPr>
            <a:r>
              <a:t>Using two databases can help, but it also creates ownership and synchronization problems.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OPERATIONS</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Reliability: Backups Are Not Enough</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10</a:t>
            </a:r>
          </a:p>
        </p:txBody>
      </p:sp>
      <p:sp>
        <p:nvSpPr>
          <p:cNvPr id="7" name="Rounded Rectangle 6"/>
          <p:cNvSpPr/>
          <p:nvPr/>
        </p:nvSpPr>
        <p:spPr>
          <a:xfrm>
            <a:off x="822960" y="1600200"/>
            <a:ext cx="242316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600200"/>
            <a:ext cx="82296" cy="11430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09928"/>
            <a:ext cx="2103120" cy="320040"/>
          </a:xfrm>
          <a:prstGeom prst="rect">
            <a:avLst/>
          </a:prstGeom>
          <a:noFill/>
        </p:spPr>
        <p:txBody>
          <a:bodyPr wrap="none" lIns="73152" rIns="73152" tIns="36576" bIns="36576">
            <a:spAutoFit/>
          </a:bodyPr>
          <a:lstStyle/>
          <a:p>
            <a:r>
              <a:rPr sz="1500" b="1">
                <a:solidFill>
                  <a:srgbClr val="365E99"/>
                </a:solidFill>
                <a:latin typeface="Aptos Display"/>
              </a:rPr>
              <a:t>Backup</a:t>
            </a:r>
          </a:p>
        </p:txBody>
      </p:sp>
      <p:sp>
        <p:nvSpPr>
          <p:cNvPr id="10" name="TextBox 9"/>
          <p:cNvSpPr txBox="1"/>
          <p:nvPr/>
        </p:nvSpPr>
        <p:spPr>
          <a:xfrm>
            <a:off x="987552" y="2103120"/>
            <a:ext cx="2103120" cy="548640"/>
          </a:xfrm>
          <a:prstGeom prst="rect">
            <a:avLst/>
          </a:prstGeom>
          <a:noFill/>
        </p:spPr>
        <p:txBody>
          <a:bodyPr wrap="none" lIns="73152" rIns="73152" tIns="36576" bIns="36576">
            <a:spAutoFit/>
          </a:bodyPr>
          <a:lstStyle/>
          <a:p>
            <a:r>
              <a:rPr sz="1400" b="0">
                <a:solidFill>
                  <a:srgbClr val="1C2630"/>
                </a:solidFill>
                <a:latin typeface="Aptos"/>
              </a:rPr>
              <a:t>Can we recover data?</a:t>
            </a:r>
          </a:p>
        </p:txBody>
      </p:sp>
      <p:cxnSp>
        <p:nvCxnSpPr>
          <p:cNvPr id="11" name="Connector 10"/>
          <p:cNvCxnSpPr/>
          <p:nvPr/>
        </p:nvCxnSpPr>
        <p:spPr>
          <a:xfrm>
            <a:off x="3383280" y="2167128"/>
            <a:ext cx="868680" cy="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89120" y="1600200"/>
            <a:ext cx="242316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600200"/>
            <a:ext cx="82296" cy="11430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709928"/>
            <a:ext cx="2103120" cy="320040"/>
          </a:xfrm>
          <a:prstGeom prst="rect">
            <a:avLst/>
          </a:prstGeom>
          <a:noFill/>
        </p:spPr>
        <p:txBody>
          <a:bodyPr wrap="none" lIns="73152" rIns="73152" tIns="36576" bIns="36576">
            <a:spAutoFit/>
          </a:bodyPr>
          <a:lstStyle/>
          <a:p>
            <a:r>
              <a:rPr sz="1500" b="1">
                <a:solidFill>
                  <a:srgbClr val="D6703A"/>
                </a:solidFill>
                <a:latin typeface="Aptos Display"/>
              </a:rPr>
              <a:t>Restore</a:t>
            </a:r>
          </a:p>
        </p:txBody>
      </p:sp>
      <p:sp>
        <p:nvSpPr>
          <p:cNvPr id="15" name="TextBox 14"/>
          <p:cNvSpPr txBox="1"/>
          <p:nvPr/>
        </p:nvSpPr>
        <p:spPr>
          <a:xfrm>
            <a:off x="4553712" y="2103120"/>
            <a:ext cx="2103120" cy="548640"/>
          </a:xfrm>
          <a:prstGeom prst="rect">
            <a:avLst/>
          </a:prstGeom>
          <a:noFill/>
        </p:spPr>
        <p:txBody>
          <a:bodyPr wrap="none" lIns="73152" rIns="73152" tIns="36576" bIns="36576">
            <a:spAutoFit/>
          </a:bodyPr>
          <a:lstStyle/>
          <a:p>
            <a:r>
              <a:rPr sz="1400" b="0">
                <a:solidFill>
                  <a:srgbClr val="1C2630"/>
                </a:solidFill>
                <a:latin typeface="Aptos"/>
              </a:rPr>
              <a:t>Can we actually bring it back?</a:t>
            </a:r>
          </a:p>
        </p:txBody>
      </p:sp>
      <p:cxnSp>
        <p:nvCxnSpPr>
          <p:cNvPr id="16" name="Connector 15"/>
          <p:cNvCxnSpPr/>
          <p:nvPr/>
        </p:nvCxnSpPr>
        <p:spPr>
          <a:xfrm>
            <a:off x="6949440" y="2167128"/>
            <a:ext cx="868680" cy="0"/>
          </a:xfrm>
          <a:prstGeom prst="line">
            <a:avLst/>
          </a:prstGeom>
          <a:ln w="25400">
            <a:solidFill>
              <a:srgbClr val="5D697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55279" y="1600200"/>
            <a:ext cx="242316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1600200"/>
            <a:ext cx="82296" cy="114300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1" y="1709928"/>
            <a:ext cx="2103120" cy="320040"/>
          </a:xfrm>
          <a:prstGeom prst="rect">
            <a:avLst/>
          </a:prstGeom>
          <a:noFill/>
        </p:spPr>
        <p:txBody>
          <a:bodyPr wrap="none" lIns="73152" rIns="73152" tIns="36576" bIns="36576">
            <a:spAutoFit/>
          </a:bodyPr>
          <a:lstStyle/>
          <a:p>
            <a:r>
              <a:rPr sz="1500" b="1">
                <a:solidFill>
                  <a:srgbClr val="4F8B57"/>
                </a:solidFill>
                <a:latin typeface="Aptos Display"/>
              </a:rPr>
              <a:t>Verify</a:t>
            </a:r>
          </a:p>
        </p:txBody>
      </p:sp>
      <p:sp>
        <p:nvSpPr>
          <p:cNvPr id="20" name="TextBox 19"/>
          <p:cNvSpPr txBox="1"/>
          <p:nvPr/>
        </p:nvSpPr>
        <p:spPr>
          <a:xfrm>
            <a:off x="8119871" y="2103120"/>
            <a:ext cx="2103120" cy="548640"/>
          </a:xfrm>
          <a:prstGeom prst="rect">
            <a:avLst/>
          </a:prstGeom>
          <a:noFill/>
        </p:spPr>
        <p:txBody>
          <a:bodyPr wrap="none" lIns="73152" rIns="73152" tIns="36576" bIns="36576">
            <a:spAutoFit/>
          </a:bodyPr>
          <a:lstStyle/>
          <a:p>
            <a:r>
              <a:rPr sz="1400" b="0">
                <a:solidFill>
                  <a:srgbClr val="1C2630"/>
                </a:solidFill>
                <a:latin typeface="Aptos"/>
              </a:rPr>
              <a:t>Does the restored data work?</a:t>
            </a:r>
          </a:p>
        </p:txBody>
      </p:sp>
      <p:sp>
        <p:nvSpPr>
          <p:cNvPr id="21" name="TextBox 20"/>
          <p:cNvSpPr txBox="1"/>
          <p:nvPr/>
        </p:nvSpPr>
        <p:spPr>
          <a:xfrm>
            <a:off x="1051560" y="3840480"/>
            <a:ext cx="9966960" cy="731520"/>
          </a:xfrm>
          <a:prstGeom prst="rect">
            <a:avLst/>
          </a:prstGeom>
          <a:noFill/>
        </p:spPr>
        <p:txBody>
          <a:bodyPr wrap="none" lIns="73152" rIns="73152" tIns="36576" bIns="36576">
            <a:spAutoFit/>
          </a:bodyPr>
          <a:lstStyle/>
          <a:p>
            <a:pPr algn="ctr"/>
            <a:r>
              <a:rPr sz="2300" b="1">
                <a:solidFill>
                  <a:srgbClr val="1C2630"/>
                </a:solidFill>
                <a:latin typeface="Aptos Display"/>
              </a:rPr>
              <a:t>Source of truth question: if the table, event log, cache, and dashboard disagree, which one does the application trust?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OPERATIONS</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Security: Protect The Data And The Path To The Data</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11</a:t>
            </a:r>
          </a:p>
        </p:txBody>
      </p:sp>
      <p:sp>
        <p:nvSpPr>
          <p:cNvPr id="7" name="Rounded Rectangle 6"/>
          <p:cNvSpPr/>
          <p:nvPr/>
        </p:nvSpPr>
        <p:spPr>
          <a:xfrm>
            <a:off x="731520" y="1600200"/>
            <a:ext cx="242316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00200"/>
            <a:ext cx="82296" cy="1234440"/>
          </a:xfrm>
          <a:prstGeom prst="rect">
            <a:avLst/>
          </a:prstGeom>
          <a:solidFill>
            <a:srgbClr val="B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709928"/>
            <a:ext cx="2103120" cy="320040"/>
          </a:xfrm>
          <a:prstGeom prst="rect">
            <a:avLst/>
          </a:prstGeom>
          <a:noFill/>
        </p:spPr>
        <p:txBody>
          <a:bodyPr wrap="none" lIns="73152" rIns="73152" tIns="36576" bIns="36576">
            <a:spAutoFit/>
          </a:bodyPr>
          <a:lstStyle/>
          <a:p>
            <a:r>
              <a:rPr sz="1500" b="1">
                <a:solidFill>
                  <a:srgbClr val="B24B4B"/>
                </a:solidFill>
                <a:latin typeface="Aptos Display"/>
              </a:rPr>
              <a:t>Secrets</a:t>
            </a:r>
          </a:p>
        </p:txBody>
      </p:sp>
      <p:sp>
        <p:nvSpPr>
          <p:cNvPr id="10" name="TextBox 9"/>
          <p:cNvSpPr txBox="1"/>
          <p:nvPr/>
        </p:nvSpPr>
        <p:spPr>
          <a:xfrm>
            <a:off x="896112" y="2103120"/>
            <a:ext cx="2103120" cy="640080"/>
          </a:xfrm>
          <a:prstGeom prst="rect">
            <a:avLst/>
          </a:prstGeom>
          <a:noFill/>
        </p:spPr>
        <p:txBody>
          <a:bodyPr wrap="none" lIns="73152" rIns="73152" tIns="36576" bIns="36576">
            <a:spAutoFit/>
          </a:bodyPr>
          <a:lstStyle/>
          <a:p>
            <a:r>
              <a:rPr sz="1400" b="0">
                <a:solidFill>
                  <a:srgbClr val="1C2630"/>
                </a:solidFill>
                <a:latin typeface="Aptos"/>
              </a:rPr>
              <a:t>Do not expose passwords, keys, or connection strings.</a:t>
            </a:r>
          </a:p>
        </p:txBody>
      </p:sp>
      <p:sp>
        <p:nvSpPr>
          <p:cNvPr id="11" name="Rounded Rectangle 10"/>
          <p:cNvSpPr/>
          <p:nvPr/>
        </p:nvSpPr>
        <p:spPr>
          <a:xfrm>
            <a:off x="3474720" y="1600200"/>
            <a:ext cx="242316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600200"/>
            <a:ext cx="82296" cy="123444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1709928"/>
            <a:ext cx="2103120" cy="320040"/>
          </a:xfrm>
          <a:prstGeom prst="rect">
            <a:avLst/>
          </a:prstGeom>
          <a:noFill/>
        </p:spPr>
        <p:txBody>
          <a:bodyPr wrap="none" lIns="73152" rIns="73152" tIns="36576" bIns="36576">
            <a:spAutoFit/>
          </a:bodyPr>
          <a:lstStyle/>
          <a:p>
            <a:r>
              <a:rPr sz="1500" b="1">
                <a:solidFill>
                  <a:srgbClr val="365E99"/>
                </a:solidFill>
                <a:latin typeface="Aptos Display"/>
              </a:rPr>
              <a:t>Access</a:t>
            </a:r>
          </a:p>
        </p:txBody>
      </p:sp>
      <p:sp>
        <p:nvSpPr>
          <p:cNvPr id="14" name="TextBox 13"/>
          <p:cNvSpPr txBox="1"/>
          <p:nvPr/>
        </p:nvSpPr>
        <p:spPr>
          <a:xfrm>
            <a:off x="3639312" y="2103120"/>
            <a:ext cx="2103120" cy="640080"/>
          </a:xfrm>
          <a:prstGeom prst="rect">
            <a:avLst/>
          </a:prstGeom>
          <a:noFill/>
        </p:spPr>
        <p:txBody>
          <a:bodyPr wrap="none" lIns="73152" rIns="73152" tIns="36576" bIns="36576">
            <a:spAutoFit/>
          </a:bodyPr>
          <a:lstStyle/>
          <a:p>
            <a:r>
              <a:rPr sz="1400" b="0">
                <a:solidFill>
                  <a:srgbClr val="1C2630"/>
                </a:solidFill>
                <a:latin typeface="Aptos"/>
              </a:rPr>
              <a:t>Use users, roles, and platform permissions deliberately.</a:t>
            </a:r>
          </a:p>
        </p:txBody>
      </p:sp>
      <p:sp>
        <p:nvSpPr>
          <p:cNvPr id="15" name="Rounded Rectangle 14"/>
          <p:cNvSpPr/>
          <p:nvPr/>
        </p:nvSpPr>
        <p:spPr>
          <a:xfrm>
            <a:off x="6217920" y="1600200"/>
            <a:ext cx="242316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600200"/>
            <a:ext cx="82296" cy="123444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709928"/>
            <a:ext cx="2103120" cy="320040"/>
          </a:xfrm>
          <a:prstGeom prst="rect">
            <a:avLst/>
          </a:prstGeom>
          <a:noFill/>
        </p:spPr>
        <p:txBody>
          <a:bodyPr wrap="none" lIns="73152" rIns="73152" tIns="36576" bIns="36576">
            <a:spAutoFit/>
          </a:bodyPr>
          <a:lstStyle/>
          <a:p>
            <a:r>
              <a:rPr sz="1500" b="1">
                <a:solidFill>
                  <a:srgbClr val="D6703A"/>
                </a:solidFill>
                <a:latin typeface="Aptos Display"/>
              </a:rPr>
              <a:t>Network</a:t>
            </a:r>
          </a:p>
        </p:txBody>
      </p:sp>
      <p:sp>
        <p:nvSpPr>
          <p:cNvPr id="18" name="TextBox 17"/>
          <p:cNvSpPr txBox="1"/>
          <p:nvPr/>
        </p:nvSpPr>
        <p:spPr>
          <a:xfrm>
            <a:off x="6382512" y="2103120"/>
            <a:ext cx="2103120" cy="640080"/>
          </a:xfrm>
          <a:prstGeom prst="rect">
            <a:avLst/>
          </a:prstGeom>
          <a:noFill/>
        </p:spPr>
        <p:txBody>
          <a:bodyPr wrap="none" lIns="73152" rIns="73152" tIns="36576" bIns="36576">
            <a:spAutoFit/>
          </a:bodyPr>
          <a:lstStyle/>
          <a:p>
            <a:r>
              <a:rPr sz="1400" b="0">
                <a:solidFill>
                  <a:srgbClr val="1C2630"/>
                </a:solidFill>
                <a:latin typeface="Aptos"/>
              </a:rPr>
              <a:t>Atlas IP access lists and connection rules matter.</a:t>
            </a:r>
          </a:p>
        </p:txBody>
      </p:sp>
      <p:sp>
        <p:nvSpPr>
          <p:cNvPr id="19" name="Rounded Rectangle 18"/>
          <p:cNvSpPr/>
          <p:nvPr/>
        </p:nvSpPr>
        <p:spPr>
          <a:xfrm>
            <a:off x="8961120" y="1600200"/>
            <a:ext cx="2423160" cy="123444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20" y="1600200"/>
            <a:ext cx="82296" cy="123444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1709928"/>
            <a:ext cx="2103120" cy="320040"/>
          </a:xfrm>
          <a:prstGeom prst="rect">
            <a:avLst/>
          </a:prstGeom>
          <a:noFill/>
        </p:spPr>
        <p:txBody>
          <a:bodyPr wrap="none" lIns="73152" rIns="73152" tIns="36576" bIns="36576">
            <a:spAutoFit/>
          </a:bodyPr>
          <a:lstStyle/>
          <a:p>
            <a:r>
              <a:rPr sz="1500" b="1">
                <a:solidFill>
                  <a:srgbClr val="4F8B57"/>
                </a:solidFill>
                <a:latin typeface="Aptos Display"/>
              </a:rPr>
              <a:t>Rows</a:t>
            </a:r>
          </a:p>
        </p:txBody>
      </p:sp>
      <p:sp>
        <p:nvSpPr>
          <p:cNvPr id="22" name="TextBox 21"/>
          <p:cNvSpPr txBox="1"/>
          <p:nvPr/>
        </p:nvSpPr>
        <p:spPr>
          <a:xfrm>
            <a:off x="9125712" y="2103120"/>
            <a:ext cx="2103120" cy="640080"/>
          </a:xfrm>
          <a:prstGeom prst="rect">
            <a:avLst/>
          </a:prstGeom>
          <a:noFill/>
        </p:spPr>
        <p:txBody>
          <a:bodyPr wrap="none" lIns="73152" rIns="73152" tIns="36576" bIns="36576">
            <a:spAutoFit/>
          </a:bodyPr>
          <a:lstStyle/>
          <a:p>
            <a:r>
              <a:rPr sz="1400" b="0">
                <a:solidFill>
                  <a:srgbClr val="1C2630"/>
                </a:solidFill>
                <a:latin typeface="Aptos"/>
              </a:rPr>
              <a:t>RLS thinking asks who can see which records.</a:t>
            </a:r>
          </a:p>
        </p:txBody>
      </p:sp>
      <p:sp>
        <p:nvSpPr>
          <p:cNvPr id="23" name="TextBox 22"/>
          <p:cNvSpPr txBox="1"/>
          <p:nvPr/>
        </p:nvSpPr>
        <p:spPr>
          <a:xfrm>
            <a:off x="1005840" y="4023360"/>
            <a:ext cx="9966960" cy="640080"/>
          </a:xfrm>
          <a:prstGeom prst="rect">
            <a:avLst/>
          </a:prstGeom>
          <a:noFill/>
        </p:spPr>
        <p:txBody>
          <a:bodyPr wrap="none" lIns="73152" rIns="73152" tIns="36576" bIns="36576">
            <a:spAutoFit/>
          </a:bodyPr>
          <a:lstStyle/>
          <a:p>
            <a:pPr algn="ctr"/>
            <a:r>
              <a:rPr sz="2400" b="1">
                <a:solidFill>
                  <a:srgbClr val="1C2630"/>
                </a:solidFill>
                <a:latin typeface="Aptos Display"/>
              </a:rPr>
              <a:t>Portfolio rule: show security thinking without showing private security material.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PORTFOLIO</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Final Project: What The Work Proves</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12</a:t>
            </a:r>
          </a:p>
        </p:txBody>
      </p:sp>
      <p:sp>
        <p:nvSpPr>
          <p:cNvPr id="7" name="Rounded Rectangle 6"/>
          <p:cNvSpPr/>
          <p:nvPr/>
        </p:nvSpPr>
        <p:spPr>
          <a:xfrm>
            <a:off x="777240" y="1600200"/>
            <a:ext cx="22860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00200"/>
            <a:ext cx="82296" cy="11430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709928"/>
            <a:ext cx="1965960" cy="320040"/>
          </a:xfrm>
          <a:prstGeom prst="rect">
            <a:avLst/>
          </a:prstGeom>
          <a:noFill/>
        </p:spPr>
        <p:txBody>
          <a:bodyPr wrap="none" lIns="73152" rIns="73152" tIns="36576" bIns="36576">
            <a:spAutoFit/>
          </a:bodyPr>
          <a:lstStyle/>
          <a:p>
            <a:r>
              <a:rPr sz="1500" b="1">
                <a:solidFill>
                  <a:srgbClr val="365E99"/>
                </a:solidFill>
                <a:latin typeface="Aptos Display"/>
              </a:rPr>
              <a:t>Model</a:t>
            </a:r>
          </a:p>
        </p:txBody>
      </p:sp>
      <p:sp>
        <p:nvSpPr>
          <p:cNvPr id="10" name="TextBox 9"/>
          <p:cNvSpPr txBox="1"/>
          <p:nvPr/>
        </p:nvSpPr>
        <p:spPr>
          <a:xfrm>
            <a:off x="941832" y="2103120"/>
            <a:ext cx="1965960" cy="548640"/>
          </a:xfrm>
          <a:prstGeom prst="rect">
            <a:avLst/>
          </a:prstGeom>
          <a:noFill/>
        </p:spPr>
        <p:txBody>
          <a:bodyPr wrap="none" lIns="73152" rIns="73152" tIns="36576" bIns="36576">
            <a:spAutoFit/>
          </a:bodyPr>
          <a:lstStyle/>
          <a:p>
            <a:r>
              <a:rPr sz="1400" b="0">
                <a:solidFill>
                  <a:srgbClr val="1C2630"/>
                </a:solidFill>
                <a:latin typeface="Aptos"/>
              </a:rPr>
              <a:t>Schema or document design</a:t>
            </a:r>
          </a:p>
        </p:txBody>
      </p:sp>
      <p:sp>
        <p:nvSpPr>
          <p:cNvPr id="11" name="Rounded Rectangle 10"/>
          <p:cNvSpPr/>
          <p:nvPr/>
        </p:nvSpPr>
        <p:spPr>
          <a:xfrm>
            <a:off x="3337560" y="1600200"/>
            <a:ext cx="22860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1600200"/>
            <a:ext cx="82296" cy="11430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709928"/>
            <a:ext cx="1965960" cy="320040"/>
          </a:xfrm>
          <a:prstGeom prst="rect">
            <a:avLst/>
          </a:prstGeom>
          <a:noFill/>
        </p:spPr>
        <p:txBody>
          <a:bodyPr wrap="none" lIns="73152" rIns="73152" tIns="36576" bIns="36576">
            <a:spAutoFit/>
          </a:bodyPr>
          <a:lstStyle/>
          <a:p>
            <a:r>
              <a:rPr sz="1500" b="1">
                <a:solidFill>
                  <a:srgbClr val="1F7A74"/>
                </a:solidFill>
                <a:latin typeface="Aptos Display"/>
              </a:rPr>
              <a:t>Data</a:t>
            </a:r>
          </a:p>
        </p:txBody>
      </p:sp>
      <p:sp>
        <p:nvSpPr>
          <p:cNvPr id="14" name="TextBox 13"/>
          <p:cNvSpPr txBox="1"/>
          <p:nvPr/>
        </p:nvSpPr>
        <p:spPr>
          <a:xfrm>
            <a:off x="3502152" y="2103120"/>
            <a:ext cx="1965960" cy="548640"/>
          </a:xfrm>
          <a:prstGeom prst="rect">
            <a:avLst/>
          </a:prstGeom>
          <a:noFill/>
        </p:spPr>
        <p:txBody>
          <a:bodyPr wrap="none" lIns="73152" rIns="73152" tIns="36576" bIns="36576">
            <a:spAutoFit/>
          </a:bodyPr>
          <a:lstStyle/>
          <a:p>
            <a:r>
              <a:rPr sz="1400" b="0">
                <a:solidFill>
                  <a:srgbClr val="1C2630"/>
                </a:solidFill>
                <a:latin typeface="Aptos"/>
              </a:rPr>
              <a:t>Seed data or dataset import</a:t>
            </a:r>
          </a:p>
        </p:txBody>
      </p:sp>
      <p:sp>
        <p:nvSpPr>
          <p:cNvPr id="15" name="Rounded Rectangle 14"/>
          <p:cNvSpPr/>
          <p:nvPr/>
        </p:nvSpPr>
        <p:spPr>
          <a:xfrm>
            <a:off x="5897880" y="1600200"/>
            <a:ext cx="22860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97880" y="1600200"/>
            <a:ext cx="82296" cy="11430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62472" y="1709928"/>
            <a:ext cx="1965960" cy="320040"/>
          </a:xfrm>
          <a:prstGeom prst="rect">
            <a:avLst/>
          </a:prstGeom>
          <a:noFill/>
        </p:spPr>
        <p:txBody>
          <a:bodyPr wrap="none" lIns="73152" rIns="73152" tIns="36576" bIns="36576">
            <a:spAutoFit/>
          </a:bodyPr>
          <a:lstStyle/>
          <a:p>
            <a:r>
              <a:rPr sz="1500" b="1">
                <a:solidFill>
                  <a:srgbClr val="D6703A"/>
                </a:solidFill>
                <a:latin typeface="Aptos Display"/>
              </a:rPr>
              <a:t>Queries</a:t>
            </a:r>
          </a:p>
        </p:txBody>
      </p:sp>
      <p:sp>
        <p:nvSpPr>
          <p:cNvPr id="18" name="TextBox 17"/>
          <p:cNvSpPr txBox="1"/>
          <p:nvPr/>
        </p:nvSpPr>
        <p:spPr>
          <a:xfrm>
            <a:off x="6062472" y="2103120"/>
            <a:ext cx="1965960" cy="548640"/>
          </a:xfrm>
          <a:prstGeom prst="rect">
            <a:avLst/>
          </a:prstGeom>
          <a:noFill/>
        </p:spPr>
        <p:txBody>
          <a:bodyPr wrap="none" lIns="73152" rIns="73152" tIns="36576" bIns="36576">
            <a:spAutoFit/>
          </a:bodyPr>
          <a:lstStyle/>
          <a:p>
            <a:r>
              <a:rPr sz="1400" b="0">
                <a:solidFill>
                  <a:srgbClr val="1C2630"/>
                </a:solidFill>
                <a:latin typeface="Aptos"/>
              </a:rPr>
              <a:t>Questions the project answers</a:t>
            </a:r>
          </a:p>
        </p:txBody>
      </p:sp>
      <p:sp>
        <p:nvSpPr>
          <p:cNvPr id="19" name="Rounded Rectangle 18"/>
          <p:cNvSpPr/>
          <p:nvPr/>
        </p:nvSpPr>
        <p:spPr>
          <a:xfrm>
            <a:off x="8458200" y="1600200"/>
            <a:ext cx="22860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58200" y="1600200"/>
            <a:ext cx="82296" cy="114300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22792" y="1709928"/>
            <a:ext cx="1965960" cy="320040"/>
          </a:xfrm>
          <a:prstGeom prst="rect">
            <a:avLst/>
          </a:prstGeom>
          <a:noFill/>
        </p:spPr>
        <p:txBody>
          <a:bodyPr wrap="none" lIns="73152" rIns="73152" tIns="36576" bIns="36576">
            <a:spAutoFit/>
          </a:bodyPr>
          <a:lstStyle/>
          <a:p>
            <a:r>
              <a:rPr sz="1500" b="1">
                <a:solidFill>
                  <a:srgbClr val="4F8B57"/>
                </a:solidFill>
                <a:latin typeface="Aptos Display"/>
              </a:rPr>
              <a:t>Admin</a:t>
            </a:r>
          </a:p>
        </p:txBody>
      </p:sp>
      <p:sp>
        <p:nvSpPr>
          <p:cNvPr id="22" name="TextBox 21"/>
          <p:cNvSpPr txBox="1"/>
          <p:nvPr/>
        </p:nvSpPr>
        <p:spPr>
          <a:xfrm>
            <a:off x="8622792" y="2103120"/>
            <a:ext cx="1965960" cy="548640"/>
          </a:xfrm>
          <a:prstGeom prst="rect">
            <a:avLst/>
          </a:prstGeom>
          <a:noFill/>
        </p:spPr>
        <p:txBody>
          <a:bodyPr wrap="none" lIns="73152" rIns="73152" tIns="36576" bIns="36576">
            <a:spAutoFit/>
          </a:bodyPr>
          <a:lstStyle/>
          <a:p>
            <a:r>
              <a:rPr sz="1400" b="0">
                <a:solidFill>
                  <a:srgbClr val="1C2630"/>
                </a:solidFill>
                <a:latin typeface="Aptos"/>
              </a:rPr>
              <a:t>Access, backup, index, reliability evidence</a:t>
            </a:r>
          </a:p>
        </p:txBody>
      </p:sp>
      <p:sp>
        <p:nvSpPr>
          <p:cNvPr id="23" name="TextBox 22"/>
          <p:cNvSpPr txBox="1"/>
          <p:nvPr/>
        </p:nvSpPr>
        <p:spPr>
          <a:xfrm>
            <a:off x="914400" y="3794760"/>
            <a:ext cx="10241280" cy="594360"/>
          </a:xfrm>
          <a:prstGeom prst="rect">
            <a:avLst/>
          </a:prstGeom>
          <a:noFill/>
        </p:spPr>
        <p:txBody>
          <a:bodyPr wrap="none" lIns="73152" rIns="73152" tIns="36576" bIns="36576">
            <a:spAutoFit/>
          </a:bodyPr>
          <a:lstStyle/>
          <a:p>
            <a:pPr algn="ctr"/>
            <a:r>
              <a:rPr sz="2400" b="1">
                <a:solidFill>
                  <a:srgbClr val="B24B4B"/>
                </a:solidFill>
                <a:latin typeface="Aptos Display"/>
              </a:rPr>
              <a:t>Final project due date: May 26, 2026</a:t>
            </a:r>
          </a:p>
        </p:txBody>
      </p:sp>
      <p:sp>
        <p:nvSpPr>
          <p:cNvPr id="24" name="TextBox 23"/>
          <p:cNvSpPr txBox="1"/>
          <p:nvPr/>
        </p:nvSpPr>
        <p:spPr>
          <a:xfrm>
            <a:off x="1280160" y="4526280"/>
            <a:ext cx="9601200" cy="502920"/>
          </a:xfrm>
          <a:prstGeom prst="rect">
            <a:avLst/>
          </a:prstGeom>
          <a:noFill/>
        </p:spPr>
        <p:txBody>
          <a:bodyPr wrap="none" lIns="73152" rIns="73152" tIns="36576" bIns="36576">
            <a:spAutoFit/>
          </a:bodyPr>
          <a:lstStyle/>
          <a:p>
            <a:pPr algn="ctr"/>
            <a:r>
              <a:rPr sz="2000" b="0">
                <a:solidFill>
                  <a:srgbClr val="1C2630"/>
                </a:solidFill>
                <a:latin typeface="Aptos"/>
              </a:rPr>
              <a:t>The best final project explanation is specific: what did you build, what database choice did you make, and what tradeoff did you understand?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CAREER TRANSLATION</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How To Talk About This In Interviews</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13</a:t>
            </a:r>
          </a:p>
        </p:txBody>
      </p:sp>
      <p:sp>
        <p:nvSpPr>
          <p:cNvPr id="7" name="Rounded Rectangle 6"/>
          <p:cNvSpPr/>
          <p:nvPr/>
        </p:nvSpPr>
        <p:spPr>
          <a:xfrm>
            <a:off x="777240" y="1554480"/>
            <a:ext cx="256032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554480"/>
            <a:ext cx="82296" cy="11430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664207"/>
            <a:ext cx="2240279" cy="320040"/>
          </a:xfrm>
          <a:prstGeom prst="rect">
            <a:avLst/>
          </a:prstGeom>
          <a:noFill/>
        </p:spPr>
        <p:txBody>
          <a:bodyPr wrap="none" lIns="73152" rIns="73152" tIns="36576" bIns="36576">
            <a:spAutoFit/>
          </a:bodyPr>
          <a:lstStyle/>
          <a:p>
            <a:r>
              <a:rPr sz="1500" b="1">
                <a:solidFill>
                  <a:srgbClr val="365E99"/>
                </a:solidFill>
                <a:latin typeface="Aptos Display"/>
              </a:rPr>
              <a:t>1. Concept</a:t>
            </a:r>
          </a:p>
        </p:txBody>
      </p:sp>
      <p:sp>
        <p:nvSpPr>
          <p:cNvPr id="10" name="TextBox 9"/>
          <p:cNvSpPr txBox="1"/>
          <p:nvPr/>
        </p:nvSpPr>
        <p:spPr>
          <a:xfrm>
            <a:off x="941832" y="2057400"/>
            <a:ext cx="2240279" cy="548640"/>
          </a:xfrm>
          <a:prstGeom prst="rect">
            <a:avLst/>
          </a:prstGeom>
          <a:noFill/>
        </p:spPr>
        <p:txBody>
          <a:bodyPr wrap="none" lIns="73152" rIns="73152" tIns="36576" bIns="36576">
            <a:spAutoFit/>
          </a:bodyPr>
          <a:lstStyle/>
          <a:p>
            <a:r>
              <a:rPr sz="1400" b="0">
                <a:solidFill>
                  <a:srgbClr val="1C2630"/>
                </a:solidFill>
                <a:latin typeface="Aptos"/>
              </a:rPr>
              <a:t>Name the database idea.</a:t>
            </a:r>
          </a:p>
        </p:txBody>
      </p:sp>
      <p:sp>
        <p:nvSpPr>
          <p:cNvPr id="11" name="Rounded Rectangle 10"/>
          <p:cNvSpPr/>
          <p:nvPr/>
        </p:nvSpPr>
        <p:spPr>
          <a:xfrm>
            <a:off x="3520440" y="1554480"/>
            <a:ext cx="256032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0440" y="1554480"/>
            <a:ext cx="82296" cy="11430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5032" y="1664207"/>
            <a:ext cx="2240279" cy="320040"/>
          </a:xfrm>
          <a:prstGeom prst="rect">
            <a:avLst/>
          </a:prstGeom>
          <a:noFill/>
        </p:spPr>
        <p:txBody>
          <a:bodyPr wrap="none" lIns="73152" rIns="73152" tIns="36576" bIns="36576">
            <a:spAutoFit/>
          </a:bodyPr>
          <a:lstStyle/>
          <a:p>
            <a:r>
              <a:rPr sz="1500" b="1">
                <a:solidFill>
                  <a:srgbClr val="1F7A74"/>
                </a:solidFill>
                <a:latin typeface="Aptos Display"/>
              </a:rPr>
              <a:t>2. Example</a:t>
            </a:r>
          </a:p>
        </p:txBody>
      </p:sp>
      <p:sp>
        <p:nvSpPr>
          <p:cNvPr id="14" name="TextBox 13"/>
          <p:cNvSpPr txBox="1"/>
          <p:nvPr/>
        </p:nvSpPr>
        <p:spPr>
          <a:xfrm>
            <a:off x="3685032" y="2057400"/>
            <a:ext cx="2240279" cy="548640"/>
          </a:xfrm>
          <a:prstGeom prst="rect">
            <a:avLst/>
          </a:prstGeom>
          <a:noFill/>
        </p:spPr>
        <p:txBody>
          <a:bodyPr wrap="none" lIns="73152" rIns="73152" tIns="36576" bIns="36576">
            <a:spAutoFit/>
          </a:bodyPr>
          <a:lstStyle/>
          <a:p>
            <a:r>
              <a:rPr sz="1400" b="0">
                <a:solidFill>
                  <a:srgbClr val="1C2630"/>
                </a:solidFill>
                <a:latin typeface="Aptos"/>
              </a:rPr>
              <a:t>Say where you used it.</a:t>
            </a:r>
          </a:p>
        </p:txBody>
      </p:sp>
      <p:sp>
        <p:nvSpPr>
          <p:cNvPr id="15" name="Rounded Rectangle 14"/>
          <p:cNvSpPr/>
          <p:nvPr/>
        </p:nvSpPr>
        <p:spPr>
          <a:xfrm>
            <a:off x="6263640" y="1554480"/>
            <a:ext cx="256032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554480"/>
            <a:ext cx="82296" cy="11430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1" y="1664207"/>
            <a:ext cx="2240279" cy="320040"/>
          </a:xfrm>
          <a:prstGeom prst="rect">
            <a:avLst/>
          </a:prstGeom>
          <a:noFill/>
        </p:spPr>
        <p:txBody>
          <a:bodyPr wrap="none" lIns="73152" rIns="73152" tIns="36576" bIns="36576">
            <a:spAutoFit/>
          </a:bodyPr>
          <a:lstStyle/>
          <a:p>
            <a:r>
              <a:rPr sz="1500" b="1">
                <a:solidFill>
                  <a:srgbClr val="D6703A"/>
                </a:solidFill>
                <a:latin typeface="Aptos Display"/>
              </a:rPr>
              <a:t>3. Evidence</a:t>
            </a:r>
          </a:p>
        </p:txBody>
      </p:sp>
      <p:sp>
        <p:nvSpPr>
          <p:cNvPr id="18" name="TextBox 17"/>
          <p:cNvSpPr txBox="1"/>
          <p:nvPr/>
        </p:nvSpPr>
        <p:spPr>
          <a:xfrm>
            <a:off x="6428231" y="2057400"/>
            <a:ext cx="2240279" cy="548640"/>
          </a:xfrm>
          <a:prstGeom prst="rect">
            <a:avLst/>
          </a:prstGeom>
          <a:noFill/>
        </p:spPr>
        <p:txBody>
          <a:bodyPr wrap="none" lIns="73152" rIns="73152" tIns="36576" bIns="36576">
            <a:spAutoFit/>
          </a:bodyPr>
          <a:lstStyle/>
          <a:p>
            <a:r>
              <a:rPr sz="1400" b="0">
                <a:solidFill>
                  <a:srgbClr val="1C2630"/>
                </a:solidFill>
                <a:latin typeface="Aptos"/>
              </a:rPr>
              <a:t>Point to a file, query, lab, or project.</a:t>
            </a:r>
          </a:p>
        </p:txBody>
      </p:sp>
      <p:sp>
        <p:nvSpPr>
          <p:cNvPr id="19" name="Rounded Rectangle 18"/>
          <p:cNvSpPr/>
          <p:nvPr/>
        </p:nvSpPr>
        <p:spPr>
          <a:xfrm>
            <a:off x="9006840" y="1554480"/>
            <a:ext cx="233172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554480"/>
            <a:ext cx="82296" cy="114300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1432" y="1664207"/>
            <a:ext cx="2011679" cy="320040"/>
          </a:xfrm>
          <a:prstGeom prst="rect">
            <a:avLst/>
          </a:prstGeom>
          <a:noFill/>
        </p:spPr>
        <p:txBody>
          <a:bodyPr wrap="none" lIns="73152" rIns="73152" tIns="36576" bIns="36576">
            <a:spAutoFit/>
          </a:bodyPr>
          <a:lstStyle/>
          <a:p>
            <a:r>
              <a:rPr sz="1500" b="1">
                <a:solidFill>
                  <a:srgbClr val="4F8B57"/>
                </a:solidFill>
                <a:latin typeface="Aptos Display"/>
              </a:rPr>
              <a:t>4. Tradeoff</a:t>
            </a:r>
          </a:p>
        </p:txBody>
      </p:sp>
      <p:sp>
        <p:nvSpPr>
          <p:cNvPr id="22" name="TextBox 21"/>
          <p:cNvSpPr txBox="1"/>
          <p:nvPr/>
        </p:nvSpPr>
        <p:spPr>
          <a:xfrm>
            <a:off x="9171432" y="2057400"/>
            <a:ext cx="2011679" cy="548640"/>
          </a:xfrm>
          <a:prstGeom prst="rect">
            <a:avLst/>
          </a:prstGeom>
          <a:noFill/>
        </p:spPr>
        <p:txBody>
          <a:bodyPr wrap="none" lIns="73152" rIns="73152" tIns="36576" bIns="36576">
            <a:spAutoFit/>
          </a:bodyPr>
          <a:lstStyle/>
          <a:p>
            <a:r>
              <a:rPr sz="1400" b="0">
                <a:solidFill>
                  <a:srgbClr val="1C2630"/>
                </a:solidFill>
                <a:latin typeface="Aptos"/>
              </a:rPr>
              <a:t>Explain the limitation or risk.</a:t>
            </a:r>
          </a:p>
        </p:txBody>
      </p:sp>
      <p:sp>
        <p:nvSpPr>
          <p:cNvPr id="23" name="TextBox 22"/>
          <p:cNvSpPr txBox="1"/>
          <p:nvPr/>
        </p:nvSpPr>
        <p:spPr>
          <a:xfrm>
            <a:off x="914400" y="3749039"/>
            <a:ext cx="10241280" cy="822960"/>
          </a:xfrm>
          <a:prstGeom prst="rect">
            <a:avLst/>
          </a:prstGeom>
          <a:noFill/>
        </p:spPr>
        <p:txBody>
          <a:bodyPr wrap="none" lIns="73152" rIns="73152" tIns="36576" bIns="36576">
            <a:spAutoFit/>
          </a:bodyPr>
          <a:lstStyle/>
          <a:p>
            <a:r>
              <a:rPr sz="2100" b="0">
                <a:solidFill>
                  <a:srgbClr val="1C2630"/>
                </a:solidFill>
                <a:latin typeface="Aptos"/>
              </a:rPr>
              <a:t>“I practiced indexing by matching an index to a real query pattern. The evidence is my query and index example. The tradeoff is that indexes speed up reads but add write and storage cost.”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PORTFOLIO</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What A GitHub Artifact Should Do</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14</a:t>
            </a:r>
          </a:p>
        </p:txBody>
      </p:sp>
      <p:sp>
        <p:nvSpPr>
          <p:cNvPr id="7" name="Rounded Rectangle 6"/>
          <p:cNvSpPr/>
          <p:nvPr/>
        </p:nvSpPr>
        <p:spPr>
          <a:xfrm>
            <a:off x="777240" y="1600200"/>
            <a:ext cx="20574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00200"/>
            <a:ext cx="82296" cy="11430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709928"/>
            <a:ext cx="1737360" cy="320040"/>
          </a:xfrm>
          <a:prstGeom prst="rect">
            <a:avLst/>
          </a:prstGeom>
          <a:noFill/>
        </p:spPr>
        <p:txBody>
          <a:bodyPr wrap="none" lIns="73152" rIns="73152" tIns="36576" bIns="36576">
            <a:spAutoFit/>
          </a:bodyPr>
          <a:lstStyle/>
          <a:p>
            <a:r>
              <a:rPr sz="1500" b="1">
                <a:solidFill>
                  <a:srgbClr val="365E99"/>
                </a:solidFill>
                <a:latin typeface="Aptos Display"/>
              </a:rPr>
              <a:t>Title</a:t>
            </a:r>
          </a:p>
        </p:txBody>
      </p:sp>
      <p:sp>
        <p:nvSpPr>
          <p:cNvPr id="10" name="TextBox 9"/>
          <p:cNvSpPr txBox="1"/>
          <p:nvPr/>
        </p:nvSpPr>
        <p:spPr>
          <a:xfrm>
            <a:off x="941832" y="2103120"/>
            <a:ext cx="1737360" cy="548640"/>
          </a:xfrm>
          <a:prstGeom prst="rect">
            <a:avLst/>
          </a:prstGeom>
          <a:noFill/>
        </p:spPr>
        <p:txBody>
          <a:bodyPr wrap="none" lIns="73152" rIns="73152" tIns="36576" bIns="36576">
            <a:spAutoFit/>
          </a:bodyPr>
          <a:lstStyle/>
          <a:p>
            <a:r>
              <a:rPr sz="1400" b="0">
                <a:solidFill>
                  <a:srgbClr val="1C2630"/>
                </a:solidFill>
                <a:latin typeface="Aptos"/>
              </a:rPr>
              <a:t>What concept is this?</a:t>
            </a:r>
          </a:p>
        </p:txBody>
      </p:sp>
      <p:sp>
        <p:nvSpPr>
          <p:cNvPr id="11" name="Rounded Rectangle 10"/>
          <p:cNvSpPr/>
          <p:nvPr/>
        </p:nvSpPr>
        <p:spPr>
          <a:xfrm>
            <a:off x="2971800" y="1600200"/>
            <a:ext cx="20574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71800" y="1600200"/>
            <a:ext cx="82296" cy="11430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36392" y="1709928"/>
            <a:ext cx="1737360" cy="320040"/>
          </a:xfrm>
          <a:prstGeom prst="rect">
            <a:avLst/>
          </a:prstGeom>
          <a:noFill/>
        </p:spPr>
        <p:txBody>
          <a:bodyPr wrap="none" lIns="73152" rIns="73152" tIns="36576" bIns="36576">
            <a:spAutoFit/>
          </a:bodyPr>
          <a:lstStyle/>
          <a:p>
            <a:r>
              <a:rPr sz="1500" b="1">
                <a:solidFill>
                  <a:srgbClr val="1F7A74"/>
                </a:solidFill>
                <a:latin typeface="Aptos Display"/>
              </a:rPr>
              <a:t>Explain</a:t>
            </a:r>
          </a:p>
        </p:txBody>
      </p:sp>
      <p:sp>
        <p:nvSpPr>
          <p:cNvPr id="14" name="TextBox 13"/>
          <p:cNvSpPr txBox="1"/>
          <p:nvPr/>
        </p:nvSpPr>
        <p:spPr>
          <a:xfrm>
            <a:off x="3136392" y="2103120"/>
            <a:ext cx="1737360" cy="548640"/>
          </a:xfrm>
          <a:prstGeom prst="rect">
            <a:avLst/>
          </a:prstGeom>
          <a:noFill/>
        </p:spPr>
        <p:txBody>
          <a:bodyPr wrap="none" lIns="73152" rIns="73152" tIns="36576" bIns="36576">
            <a:spAutoFit/>
          </a:bodyPr>
          <a:lstStyle/>
          <a:p>
            <a:r>
              <a:rPr sz="1400" b="0">
                <a:solidFill>
                  <a:srgbClr val="1C2630"/>
                </a:solidFill>
                <a:latin typeface="Aptos"/>
              </a:rPr>
              <a:t>What does it mean?</a:t>
            </a:r>
          </a:p>
        </p:txBody>
      </p:sp>
      <p:sp>
        <p:nvSpPr>
          <p:cNvPr id="15" name="Rounded Rectangle 14"/>
          <p:cNvSpPr/>
          <p:nvPr/>
        </p:nvSpPr>
        <p:spPr>
          <a:xfrm>
            <a:off x="5166360" y="1600200"/>
            <a:ext cx="20574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66360" y="1600200"/>
            <a:ext cx="82296" cy="11430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30952" y="1709928"/>
            <a:ext cx="1737360" cy="320040"/>
          </a:xfrm>
          <a:prstGeom prst="rect">
            <a:avLst/>
          </a:prstGeom>
          <a:noFill/>
        </p:spPr>
        <p:txBody>
          <a:bodyPr wrap="none" lIns="73152" rIns="73152" tIns="36576" bIns="36576">
            <a:spAutoFit/>
          </a:bodyPr>
          <a:lstStyle/>
          <a:p>
            <a:r>
              <a:rPr sz="1500" b="1">
                <a:solidFill>
                  <a:srgbClr val="D6703A"/>
                </a:solidFill>
                <a:latin typeface="Aptos Display"/>
              </a:rPr>
              <a:t>Example</a:t>
            </a:r>
          </a:p>
        </p:txBody>
      </p:sp>
      <p:sp>
        <p:nvSpPr>
          <p:cNvPr id="18" name="TextBox 17"/>
          <p:cNvSpPr txBox="1"/>
          <p:nvPr/>
        </p:nvSpPr>
        <p:spPr>
          <a:xfrm>
            <a:off x="5330952" y="2103120"/>
            <a:ext cx="1737360" cy="548640"/>
          </a:xfrm>
          <a:prstGeom prst="rect">
            <a:avLst/>
          </a:prstGeom>
          <a:noFill/>
        </p:spPr>
        <p:txBody>
          <a:bodyPr wrap="none" lIns="73152" rIns="73152" tIns="36576" bIns="36576">
            <a:spAutoFit/>
          </a:bodyPr>
          <a:lstStyle/>
          <a:p>
            <a:r>
              <a:rPr sz="1400" b="0">
                <a:solidFill>
                  <a:srgbClr val="1C2630"/>
                </a:solidFill>
                <a:latin typeface="Aptos"/>
              </a:rPr>
              <a:t>Show code or data.</a:t>
            </a:r>
          </a:p>
        </p:txBody>
      </p:sp>
      <p:sp>
        <p:nvSpPr>
          <p:cNvPr id="19" name="Rounded Rectangle 18"/>
          <p:cNvSpPr/>
          <p:nvPr/>
        </p:nvSpPr>
        <p:spPr>
          <a:xfrm>
            <a:off x="7360920" y="1600200"/>
            <a:ext cx="205740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1600200"/>
            <a:ext cx="82296" cy="1143000"/>
          </a:xfrm>
          <a:prstGeom prst="rect">
            <a:avLst/>
          </a:prstGeom>
          <a:solidFill>
            <a:srgbClr val="B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512" y="1709928"/>
            <a:ext cx="1737360" cy="320040"/>
          </a:xfrm>
          <a:prstGeom prst="rect">
            <a:avLst/>
          </a:prstGeom>
          <a:noFill/>
        </p:spPr>
        <p:txBody>
          <a:bodyPr wrap="none" lIns="73152" rIns="73152" tIns="36576" bIns="36576">
            <a:spAutoFit/>
          </a:bodyPr>
          <a:lstStyle/>
          <a:p>
            <a:r>
              <a:rPr sz="1500" b="1">
                <a:solidFill>
                  <a:srgbClr val="B24B4B"/>
                </a:solidFill>
                <a:latin typeface="Aptos Display"/>
              </a:rPr>
              <a:t>Tradeoff</a:t>
            </a:r>
          </a:p>
        </p:txBody>
      </p:sp>
      <p:sp>
        <p:nvSpPr>
          <p:cNvPr id="22" name="TextBox 21"/>
          <p:cNvSpPr txBox="1"/>
          <p:nvPr/>
        </p:nvSpPr>
        <p:spPr>
          <a:xfrm>
            <a:off x="7525512" y="2103120"/>
            <a:ext cx="1737360" cy="548640"/>
          </a:xfrm>
          <a:prstGeom prst="rect">
            <a:avLst/>
          </a:prstGeom>
          <a:noFill/>
        </p:spPr>
        <p:txBody>
          <a:bodyPr wrap="none" lIns="73152" rIns="73152" tIns="36576" bIns="36576">
            <a:spAutoFit/>
          </a:bodyPr>
          <a:lstStyle/>
          <a:p>
            <a:r>
              <a:rPr sz="1400" b="0">
                <a:solidFill>
                  <a:srgbClr val="1C2630"/>
                </a:solidFill>
                <a:latin typeface="Aptos"/>
              </a:rPr>
              <a:t>What can go wrong?</a:t>
            </a:r>
          </a:p>
        </p:txBody>
      </p:sp>
      <p:sp>
        <p:nvSpPr>
          <p:cNvPr id="23" name="Rounded Rectangle 22"/>
          <p:cNvSpPr/>
          <p:nvPr/>
        </p:nvSpPr>
        <p:spPr>
          <a:xfrm>
            <a:off x="9555480" y="1600200"/>
            <a:ext cx="1874519"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55480" y="1600200"/>
            <a:ext cx="82296" cy="114300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1709928"/>
            <a:ext cx="1554479" cy="320040"/>
          </a:xfrm>
          <a:prstGeom prst="rect">
            <a:avLst/>
          </a:prstGeom>
          <a:noFill/>
        </p:spPr>
        <p:txBody>
          <a:bodyPr wrap="none" lIns="73152" rIns="73152" tIns="36576" bIns="36576">
            <a:spAutoFit/>
          </a:bodyPr>
          <a:lstStyle/>
          <a:p>
            <a:r>
              <a:rPr sz="1500" b="1">
                <a:solidFill>
                  <a:srgbClr val="4F8B57"/>
                </a:solidFill>
                <a:latin typeface="Aptos Display"/>
              </a:rPr>
              <a:t>Interview</a:t>
            </a:r>
          </a:p>
        </p:txBody>
      </p:sp>
      <p:sp>
        <p:nvSpPr>
          <p:cNvPr id="26" name="TextBox 25"/>
          <p:cNvSpPr txBox="1"/>
          <p:nvPr/>
        </p:nvSpPr>
        <p:spPr>
          <a:xfrm>
            <a:off x="9720072" y="2103120"/>
            <a:ext cx="1554479" cy="548640"/>
          </a:xfrm>
          <a:prstGeom prst="rect">
            <a:avLst/>
          </a:prstGeom>
          <a:noFill/>
        </p:spPr>
        <p:txBody>
          <a:bodyPr wrap="none" lIns="73152" rIns="73152" tIns="36576" bIns="36576">
            <a:spAutoFit/>
          </a:bodyPr>
          <a:lstStyle/>
          <a:p>
            <a:r>
              <a:rPr sz="1400" b="0">
                <a:solidFill>
                  <a:srgbClr val="1C2630"/>
                </a:solidFill>
                <a:latin typeface="Aptos"/>
              </a:rPr>
              <a:t>How would you say it?</a:t>
            </a:r>
          </a:p>
        </p:txBody>
      </p:sp>
      <p:sp>
        <p:nvSpPr>
          <p:cNvPr id="27" name="TextBox 26"/>
          <p:cNvSpPr txBox="1"/>
          <p:nvPr/>
        </p:nvSpPr>
        <p:spPr>
          <a:xfrm>
            <a:off x="1097280" y="4069080"/>
            <a:ext cx="9784080" cy="594360"/>
          </a:xfrm>
          <a:prstGeom prst="rect">
            <a:avLst/>
          </a:prstGeom>
          <a:noFill/>
        </p:spPr>
        <p:txBody>
          <a:bodyPr wrap="none" lIns="73152" rIns="73152" tIns="36576" bIns="36576">
            <a:spAutoFit/>
          </a:bodyPr>
          <a:lstStyle/>
          <a:p>
            <a:pPr algn="ctr"/>
            <a:r>
              <a:rPr sz="2400" b="1">
                <a:solidFill>
                  <a:srgbClr val="1C2630"/>
                </a:solidFill>
                <a:latin typeface="Aptos Display"/>
              </a:rPr>
              <a:t>If another student can understand the concept from your page, the artifact is doing its job.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IN-CLASS WORK</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Today’s Final Lab</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15</a:t>
            </a:r>
          </a:p>
        </p:txBody>
      </p:sp>
      <p:sp>
        <p:nvSpPr>
          <p:cNvPr id="7" name="TextBox 6"/>
          <p:cNvSpPr txBox="1"/>
          <p:nvPr/>
        </p:nvSpPr>
        <p:spPr>
          <a:xfrm>
            <a:off x="960120" y="1737360"/>
            <a:ext cx="5029200" cy="2194560"/>
          </a:xfrm>
          <a:prstGeom prst="rect">
            <a:avLst/>
          </a:prstGeom>
          <a:noFill/>
        </p:spPr>
        <p:txBody>
          <a:bodyPr wrap="square" lIns="109728" rIns="73152" tIns="36576">
            <a:spAutoFit/>
          </a:bodyPr>
          <a:lstStyle/>
          <a:p>
            <a:pPr>
              <a:spcAft>
                <a:spcPts val="800"/>
              </a:spcAft>
              <a:defRPr sz="2100">
                <a:solidFill>
                  <a:srgbClr val="1C2630"/>
                </a:solidFill>
                <a:latin typeface="Aptos"/>
              </a:defRPr>
            </a:pPr>
            <a:r>
              <a:t>Choose one course concept.</a:t>
            </a:r>
          </a:p>
          <a:p>
            <a:pPr>
              <a:spcAft>
                <a:spcPts val="800"/>
              </a:spcAft>
              <a:defRPr sz="2100">
                <a:solidFill>
                  <a:srgbClr val="1C2630"/>
                </a:solidFill>
                <a:latin typeface="Aptos"/>
              </a:defRPr>
            </a:pPr>
            <a:r>
              <a:t>Create a GitHub README or small code example.</a:t>
            </a:r>
          </a:p>
          <a:p>
            <a:pPr>
              <a:spcAft>
                <a:spcPts val="800"/>
              </a:spcAft>
              <a:defRPr sz="2100">
                <a:solidFill>
                  <a:srgbClr val="1C2630"/>
                </a:solidFill>
                <a:latin typeface="Aptos"/>
              </a:defRPr>
            </a:pPr>
            <a:r>
              <a:t>Explain the concept in beginner-friendly language.</a:t>
            </a:r>
          </a:p>
          <a:p>
            <a:pPr>
              <a:spcAft>
                <a:spcPts val="800"/>
              </a:spcAft>
              <a:defRPr sz="2100">
                <a:solidFill>
                  <a:srgbClr val="1C2630"/>
                </a:solidFill>
                <a:latin typeface="Aptos"/>
              </a:defRPr>
            </a:pPr>
            <a:r>
              <a:t>Include one tradeoff or mistake to avoid.</a:t>
            </a:r>
          </a:p>
          <a:p>
            <a:pPr>
              <a:spcAft>
                <a:spcPts val="800"/>
              </a:spcAft>
              <a:defRPr sz="2100">
                <a:solidFill>
                  <a:srgbClr val="1C2630"/>
                </a:solidFill>
                <a:latin typeface="Aptos"/>
              </a:defRPr>
            </a:pPr>
            <a:r>
              <a:t>Submit the GitHub URL in Brightspace.</a:t>
            </a:r>
          </a:p>
        </p:txBody>
      </p:sp>
      <p:sp>
        <p:nvSpPr>
          <p:cNvPr id="8" name="Rounded Rectangle 7"/>
          <p:cNvSpPr/>
          <p:nvPr/>
        </p:nvSpPr>
        <p:spPr>
          <a:xfrm>
            <a:off x="6583680" y="1828800"/>
            <a:ext cx="4343400" cy="16002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1828800"/>
            <a:ext cx="82296" cy="16002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48272" y="1938528"/>
            <a:ext cx="4023360" cy="320040"/>
          </a:xfrm>
          <a:prstGeom prst="rect">
            <a:avLst/>
          </a:prstGeom>
          <a:noFill/>
        </p:spPr>
        <p:txBody>
          <a:bodyPr wrap="none" lIns="73152" rIns="73152" tIns="36576" bIns="36576">
            <a:spAutoFit/>
          </a:bodyPr>
          <a:lstStyle/>
          <a:p>
            <a:r>
              <a:rPr sz="1500" b="1">
                <a:solidFill>
                  <a:srgbClr val="1F7A74"/>
                </a:solidFill>
                <a:latin typeface="Aptos Display"/>
              </a:rPr>
              <a:t>Acceptable Formats</a:t>
            </a:r>
          </a:p>
        </p:txBody>
      </p:sp>
      <p:sp>
        <p:nvSpPr>
          <p:cNvPr id="11" name="TextBox 10"/>
          <p:cNvSpPr txBox="1"/>
          <p:nvPr/>
        </p:nvSpPr>
        <p:spPr>
          <a:xfrm>
            <a:off x="6748272" y="2331720"/>
            <a:ext cx="4023360" cy="1005840"/>
          </a:xfrm>
          <a:prstGeom prst="rect">
            <a:avLst/>
          </a:prstGeom>
          <a:noFill/>
        </p:spPr>
        <p:txBody>
          <a:bodyPr wrap="none" lIns="73152" rIns="73152" tIns="36576" bIns="36576">
            <a:spAutoFit/>
          </a:bodyPr>
          <a:lstStyle/>
          <a:p>
            <a:r>
              <a:rPr sz="1600" b="0">
                <a:solidFill>
                  <a:srgbClr val="1C2630"/>
                </a:solidFill>
                <a:latin typeface="Aptos"/>
              </a:rPr>
              <a:t>Markdown guide</a:t>
            </a:r>
            <a:br/>
            <a:r>
              <a:t>SQL file + README</a:t>
            </a:r>
            <a:br/>
            <a:r>
              <a:t>Python example + README</a:t>
            </a:r>
            <a:br/>
            <a:r>
              <a:t>JSON/MongoDB example + README</a:t>
            </a:r>
          </a:p>
        </p:txBody>
      </p:sp>
      <p:sp>
        <p:nvSpPr>
          <p:cNvPr id="12" name="Rounded Rectangle 11"/>
          <p:cNvSpPr/>
          <p:nvPr/>
        </p:nvSpPr>
        <p:spPr>
          <a:xfrm>
            <a:off x="6583680" y="3794760"/>
            <a:ext cx="4343400" cy="96012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3794760"/>
            <a:ext cx="82296" cy="960120"/>
          </a:xfrm>
          <a:prstGeom prst="rect">
            <a:avLst/>
          </a:prstGeom>
          <a:solidFill>
            <a:srgbClr val="B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3904488"/>
            <a:ext cx="4023360" cy="320040"/>
          </a:xfrm>
          <a:prstGeom prst="rect">
            <a:avLst/>
          </a:prstGeom>
          <a:noFill/>
        </p:spPr>
        <p:txBody>
          <a:bodyPr wrap="none" lIns="73152" rIns="73152" tIns="36576" bIns="36576">
            <a:spAutoFit/>
          </a:bodyPr>
          <a:lstStyle/>
          <a:p>
            <a:r>
              <a:rPr sz="1500" b="1">
                <a:solidFill>
                  <a:srgbClr val="B24B4B"/>
                </a:solidFill>
                <a:latin typeface="Aptos Display"/>
              </a:rPr>
              <a:t>Not Required</a:t>
            </a:r>
          </a:p>
        </p:txBody>
      </p:sp>
      <p:sp>
        <p:nvSpPr>
          <p:cNvPr id="15" name="TextBox 14"/>
          <p:cNvSpPr txBox="1"/>
          <p:nvPr/>
        </p:nvSpPr>
        <p:spPr>
          <a:xfrm>
            <a:off x="6748272" y="4297680"/>
            <a:ext cx="4023360" cy="365760"/>
          </a:xfrm>
          <a:prstGeom prst="rect">
            <a:avLst/>
          </a:prstGeom>
          <a:noFill/>
        </p:spPr>
        <p:txBody>
          <a:bodyPr wrap="none" lIns="73152" rIns="73152" tIns="36576" bIns="36576">
            <a:spAutoFit/>
          </a:bodyPr>
          <a:lstStyle/>
          <a:p>
            <a:r>
              <a:rPr sz="1600" b="0">
                <a:solidFill>
                  <a:srgbClr val="1C2630"/>
                </a:solidFill>
                <a:latin typeface="Aptos"/>
              </a:rPr>
              <a:t>No full app. No group work. No secrets. No long report.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LAB SUPPORT</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Good Concept Choices</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16</a:t>
            </a:r>
          </a:p>
        </p:txBody>
      </p:sp>
      <p:sp>
        <p:nvSpPr>
          <p:cNvPr id="7" name="Rounded Rectangle 6"/>
          <p:cNvSpPr/>
          <p:nvPr/>
        </p:nvSpPr>
        <p:spPr>
          <a:xfrm>
            <a:off x="777240" y="1600200"/>
            <a:ext cx="315468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00200"/>
            <a:ext cx="82296" cy="11430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709928"/>
            <a:ext cx="2834640" cy="320040"/>
          </a:xfrm>
          <a:prstGeom prst="rect">
            <a:avLst/>
          </a:prstGeom>
          <a:noFill/>
        </p:spPr>
        <p:txBody>
          <a:bodyPr wrap="none" lIns="73152" rIns="73152" tIns="36576" bIns="36576">
            <a:spAutoFit/>
          </a:bodyPr>
          <a:lstStyle/>
          <a:p>
            <a:r>
              <a:rPr sz="1500" b="1">
                <a:solidFill>
                  <a:srgbClr val="365E99"/>
                </a:solidFill>
                <a:latin typeface="Aptos Display"/>
              </a:rPr>
              <a:t>SQL</a:t>
            </a:r>
          </a:p>
        </p:txBody>
      </p:sp>
      <p:sp>
        <p:nvSpPr>
          <p:cNvPr id="10" name="TextBox 9"/>
          <p:cNvSpPr txBox="1"/>
          <p:nvPr/>
        </p:nvSpPr>
        <p:spPr>
          <a:xfrm>
            <a:off x="941832" y="2103120"/>
            <a:ext cx="2834640" cy="548640"/>
          </a:xfrm>
          <a:prstGeom prst="rect">
            <a:avLst/>
          </a:prstGeom>
          <a:noFill/>
        </p:spPr>
        <p:txBody>
          <a:bodyPr wrap="none" lIns="73152" rIns="73152" tIns="36576" bIns="36576">
            <a:spAutoFit/>
          </a:bodyPr>
          <a:lstStyle/>
          <a:p>
            <a:r>
              <a:rPr sz="1400" b="0">
                <a:solidFill>
                  <a:srgbClr val="1C2630"/>
                </a:solidFill>
                <a:latin typeface="Aptos"/>
              </a:rPr>
              <a:t>joins, keys, indexes, transactions</a:t>
            </a:r>
          </a:p>
        </p:txBody>
      </p:sp>
      <p:sp>
        <p:nvSpPr>
          <p:cNvPr id="11" name="Rounded Rectangle 10"/>
          <p:cNvSpPr/>
          <p:nvPr/>
        </p:nvSpPr>
        <p:spPr>
          <a:xfrm>
            <a:off x="4526279" y="1600200"/>
            <a:ext cx="315468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79" y="1600200"/>
            <a:ext cx="82296" cy="114300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90871" y="1709928"/>
            <a:ext cx="2834640" cy="320040"/>
          </a:xfrm>
          <a:prstGeom prst="rect">
            <a:avLst/>
          </a:prstGeom>
          <a:noFill/>
        </p:spPr>
        <p:txBody>
          <a:bodyPr wrap="none" lIns="73152" rIns="73152" tIns="36576" bIns="36576">
            <a:spAutoFit/>
          </a:bodyPr>
          <a:lstStyle/>
          <a:p>
            <a:r>
              <a:rPr sz="1500" b="1">
                <a:solidFill>
                  <a:srgbClr val="4F8B57"/>
                </a:solidFill>
                <a:latin typeface="Aptos Display"/>
              </a:rPr>
              <a:t>Security</a:t>
            </a:r>
          </a:p>
        </p:txBody>
      </p:sp>
      <p:sp>
        <p:nvSpPr>
          <p:cNvPr id="14" name="TextBox 13"/>
          <p:cNvSpPr txBox="1"/>
          <p:nvPr/>
        </p:nvSpPr>
        <p:spPr>
          <a:xfrm>
            <a:off x="4690871" y="2103120"/>
            <a:ext cx="2834640" cy="548640"/>
          </a:xfrm>
          <a:prstGeom prst="rect">
            <a:avLst/>
          </a:prstGeom>
          <a:noFill/>
        </p:spPr>
        <p:txBody>
          <a:bodyPr wrap="none" lIns="73152" rIns="73152" tIns="36576" bIns="36576">
            <a:spAutoFit/>
          </a:bodyPr>
          <a:lstStyle/>
          <a:p>
            <a:r>
              <a:rPr sz="1400" b="0">
                <a:solidFill>
                  <a:srgbClr val="1C2630"/>
                </a:solidFill>
                <a:latin typeface="Aptos"/>
              </a:rPr>
              <a:t>least privilege, RLS, secrets</a:t>
            </a:r>
          </a:p>
        </p:txBody>
      </p:sp>
      <p:sp>
        <p:nvSpPr>
          <p:cNvPr id="15" name="Rounded Rectangle 14"/>
          <p:cNvSpPr/>
          <p:nvPr/>
        </p:nvSpPr>
        <p:spPr>
          <a:xfrm>
            <a:off x="8275319" y="1600200"/>
            <a:ext cx="315468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19" y="1600200"/>
            <a:ext cx="82296" cy="11430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1" y="1709928"/>
            <a:ext cx="2834640" cy="320040"/>
          </a:xfrm>
          <a:prstGeom prst="rect">
            <a:avLst/>
          </a:prstGeom>
          <a:noFill/>
        </p:spPr>
        <p:txBody>
          <a:bodyPr wrap="none" lIns="73152" rIns="73152" tIns="36576" bIns="36576">
            <a:spAutoFit/>
          </a:bodyPr>
          <a:lstStyle/>
          <a:p>
            <a:r>
              <a:rPr sz="1500" b="1">
                <a:solidFill>
                  <a:srgbClr val="1F7A74"/>
                </a:solidFill>
                <a:latin typeface="Aptos Display"/>
              </a:rPr>
              <a:t>MongoDB</a:t>
            </a:r>
          </a:p>
        </p:txBody>
      </p:sp>
      <p:sp>
        <p:nvSpPr>
          <p:cNvPr id="18" name="TextBox 17"/>
          <p:cNvSpPr txBox="1"/>
          <p:nvPr/>
        </p:nvSpPr>
        <p:spPr>
          <a:xfrm>
            <a:off x="8439911" y="2103120"/>
            <a:ext cx="2834640" cy="548640"/>
          </a:xfrm>
          <a:prstGeom prst="rect">
            <a:avLst/>
          </a:prstGeom>
          <a:noFill/>
        </p:spPr>
        <p:txBody>
          <a:bodyPr wrap="none" lIns="73152" rIns="73152" tIns="36576" bIns="36576">
            <a:spAutoFit/>
          </a:bodyPr>
          <a:lstStyle/>
          <a:p>
            <a:r>
              <a:rPr sz="1400" b="0">
                <a:solidFill>
                  <a:srgbClr val="1C2630"/>
                </a:solidFill>
                <a:latin typeface="Aptos"/>
              </a:rPr>
              <a:t>documents, embedding, aggregation</a:t>
            </a:r>
          </a:p>
        </p:txBody>
      </p:sp>
      <p:sp>
        <p:nvSpPr>
          <p:cNvPr id="19" name="Rounded Rectangle 18"/>
          <p:cNvSpPr/>
          <p:nvPr/>
        </p:nvSpPr>
        <p:spPr>
          <a:xfrm>
            <a:off x="777240" y="3200400"/>
            <a:ext cx="315468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200400"/>
            <a:ext cx="82296" cy="1143000"/>
          </a:xfrm>
          <a:prstGeom prst="rect">
            <a:avLst/>
          </a:prstGeom>
          <a:solidFill>
            <a:srgbClr val="B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3310128"/>
            <a:ext cx="2834640" cy="320040"/>
          </a:xfrm>
          <a:prstGeom prst="rect">
            <a:avLst/>
          </a:prstGeom>
          <a:noFill/>
        </p:spPr>
        <p:txBody>
          <a:bodyPr wrap="none" lIns="73152" rIns="73152" tIns="36576" bIns="36576">
            <a:spAutoFit/>
          </a:bodyPr>
          <a:lstStyle/>
          <a:p>
            <a:r>
              <a:rPr sz="1500" b="1">
                <a:solidFill>
                  <a:srgbClr val="B24B4B"/>
                </a:solidFill>
                <a:latin typeface="Aptos Display"/>
              </a:rPr>
              <a:t>Reliability</a:t>
            </a:r>
          </a:p>
        </p:txBody>
      </p:sp>
      <p:sp>
        <p:nvSpPr>
          <p:cNvPr id="22" name="TextBox 21"/>
          <p:cNvSpPr txBox="1"/>
          <p:nvPr/>
        </p:nvSpPr>
        <p:spPr>
          <a:xfrm>
            <a:off x="941832" y="3703320"/>
            <a:ext cx="2834640" cy="548640"/>
          </a:xfrm>
          <a:prstGeom prst="rect">
            <a:avLst/>
          </a:prstGeom>
          <a:noFill/>
        </p:spPr>
        <p:txBody>
          <a:bodyPr wrap="none" lIns="73152" rIns="73152" tIns="36576" bIns="36576">
            <a:spAutoFit/>
          </a:bodyPr>
          <a:lstStyle/>
          <a:p>
            <a:r>
              <a:rPr sz="1400" b="0">
                <a:solidFill>
                  <a:srgbClr val="1C2630"/>
                </a:solidFill>
                <a:latin typeface="Aptos"/>
              </a:rPr>
              <a:t>backup, restore, source of truth</a:t>
            </a:r>
          </a:p>
        </p:txBody>
      </p:sp>
      <p:sp>
        <p:nvSpPr>
          <p:cNvPr id="23" name="Rounded Rectangle 22"/>
          <p:cNvSpPr/>
          <p:nvPr/>
        </p:nvSpPr>
        <p:spPr>
          <a:xfrm>
            <a:off x="4526279" y="3200400"/>
            <a:ext cx="315468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26279" y="3200400"/>
            <a:ext cx="82296" cy="11430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90871" y="3310128"/>
            <a:ext cx="2834640" cy="320040"/>
          </a:xfrm>
          <a:prstGeom prst="rect">
            <a:avLst/>
          </a:prstGeom>
          <a:noFill/>
        </p:spPr>
        <p:txBody>
          <a:bodyPr wrap="none" lIns="73152" rIns="73152" tIns="36576" bIns="36576">
            <a:spAutoFit/>
          </a:bodyPr>
          <a:lstStyle/>
          <a:p>
            <a:r>
              <a:rPr sz="1500" b="1">
                <a:solidFill>
                  <a:srgbClr val="D6703A"/>
                </a:solidFill>
                <a:latin typeface="Aptos Display"/>
              </a:rPr>
              <a:t>NoSQL</a:t>
            </a:r>
          </a:p>
        </p:txBody>
      </p:sp>
      <p:sp>
        <p:nvSpPr>
          <p:cNvPr id="26" name="TextBox 25"/>
          <p:cNvSpPr txBox="1"/>
          <p:nvPr/>
        </p:nvSpPr>
        <p:spPr>
          <a:xfrm>
            <a:off x="4690871" y="3703320"/>
            <a:ext cx="2834640" cy="548640"/>
          </a:xfrm>
          <a:prstGeom prst="rect">
            <a:avLst/>
          </a:prstGeom>
          <a:noFill/>
        </p:spPr>
        <p:txBody>
          <a:bodyPr wrap="none" lIns="73152" rIns="73152" tIns="36576" bIns="36576">
            <a:spAutoFit/>
          </a:bodyPr>
          <a:lstStyle/>
          <a:p>
            <a:r>
              <a:rPr sz="1400" b="0">
                <a:solidFill>
                  <a:srgbClr val="1C2630"/>
                </a:solidFill>
                <a:latin typeface="Aptos"/>
              </a:rPr>
              <a:t>key-value, graph, vector, polyglot</a:t>
            </a:r>
          </a:p>
        </p:txBody>
      </p:sp>
      <p:sp>
        <p:nvSpPr>
          <p:cNvPr id="27" name="TextBox 26"/>
          <p:cNvSpPr txBox="1"/>
          <p:nvPr/>
        </p:nvSpPr>
        <p:spPr>
          <a:xfrm>
            <a:off x="1280160" y="4983480"/>
            <a:ext cx="9601200" cy="502920"/>
          </a:xfrm>
          <a:prstGeom prst="rect">
            <a:avLst/>
          </a:prstGeom>
          <a:noFill/>
        </p:spPr>
        <p:txBody>
          <a:bodyPr wrap="none" lIns="73152" rIns="73152" tIns="36576" bIns="36576">
            <a:spAutoFit/>
          </a:bodyPr>
          <a:lstStyle/>
          <a:p>
            <a:pPr algn="ctr"/>
            <a:r>
              <a:rPr sz="2200" b="1">
                <a:solidFill>
                  <a:srgbClr val="1C2630"/>
                </a:solidFill>
                <a:latin typeface="Aptos Display"/>
              </a:rPr>
              <a:t>Pick the concept you can explain most clearly, not the concept that sounds most advanced.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WRAP-UP</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Exit Check: Your Database Admin Story</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17</a:t>
            </a:r>
          </a:p>
        </p:txBody>
      </p:sp>
      <p:sp>
        <p:nvSpPr>
          <p:cNvPr id="7" name="TextBox 6"/>
          <p:cNvSpPr txBox="1"/>
          <p:nvPr/>
        </p:nvSpPr>
        <p:spPr>
          <a:xfrm>
            <a:off x="914400" y="1691640"/>
            <a:ext cx="10149840" cy="411480"/>
          </a:xfrm>
          <a:prstGeom prst="rect">
            <a:avLst/>
          </a:prstGeom>
          <a:noFill/>
        </p:spPr>
        <p:txBody>
          <a:bodyPr wrap="none" lIns="73152" rIns="73152" tIns="36576" bIns="36576">
            <a:spAutoFit/>
          </a:bodyPr>
          <a:lstStyle/>
          <a:p>
            <a:r>
              <a:rPr sz="1800" b="1">
                <a:solidFill>
                  <a:srgbClr val="1F7A74"/>
                </a:solidFill>
                <a:latin typeface="Aptos Display"/>
              </a:rPr>
              <a:t>Fill this in:</a:t>
            </a:r>
          </a:p>
        </p:txBody>
      </p:sp>
      <p:sp>
        <p:nvSpPr>
          <p:cNvPr id="8" name="TextBox 7"/>
          <p:cNvSpPr txBox="1"/>
          <p:nvPr/>
        </p:nvSpPr>
        <p:spPr>
          <a:xfrm>
            <a:off x="914400" y="2240280"/>
            <a:ext cx="10149840" cy="1828800"/>
          </a:xfrm>
          <a:prstGeom prst="rect">
            <a:avLst/>
          </a:prstGeom>
          <a:noFill/>
        </p:spPr>
        <p:txBody>
          <a:bodyPr wrap="none" lIns="73152" rIns="73152" tIns="36576" bIns="36576">
            <a:spAutoFit/>
          </a:bodyPr>
          <a:lstStyle/>
          <a:p>
            <a:r>
              <a:rPr sz="2800" b="1">
                <a:solidFill>
                  <a:srgbClr val="1C2630"/>
                </a:solidFill>
                <a:latin typeface="Aptos Display"/>
              </a:rPr>
              <a:t>“I practiced database administration by working with _____.</a:t>
            </a:r>
            <a:br/>
            <a:r>
              <a:t>The concept I can explain best is _____.</a:t>
            </a:r>
            <a:br/>
            <a:r>
              <a:t>My evidence is _____.</a:t>
            </a:r>
            <a:br/>
            <a:r>
              <a:t>One tradeoff I understand is _____.”</a:t>
            </a:r>
          </a:p>
        </p:txBody>
      </p:sp>
      <p:sp>
        <p:nvSpPr>
          <p:cNvPr id="9" name="TextBox 8"/>
          <p:cNvSpPr txBox="1"/>
          <p:nvPr/>
        </p:nvSpPr>
        <p:spPr>
          <a:xfrm>
            <a:off x="914400" y="4754880"/>
            <a:ext cx="10058400" cy="457200"/>
          </a:xfrm>
          <a:prstGeom prst="rect">
            <a:avLst/>
          </a:prstGeom>
          <a:noFill/>
        </p:spPr>
        <p:txBody>
          <a:bodyPr wrap="none" lIns="73152" rIns="73152" tIns="36576" bIns="36576">
            <a:spAutoFit/>
          </a:bodyPr>
          <a:lstStyle/>
          <a:p>
            <a:pPr algn="ctr"/>
            <a:r>
              <a:rPr sz="2100" b="0">
                <a:solidFill>
                  <a:srgbClr val="5D6976"/>
                </a:solidFill>
                <a:latin typeface="Aptos"/>
              </a:rPr>
              <a:t>This is the sentence that turns class work into portfolio language.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594360" y="320040"/>
            <a:ext cx="6400800" cy="320040"/>
          </a:xfrm>
          <a:prstGeom prst="rect">
            <a:avLst/>
          </a:prstGeom>
          <a:noFill/>
        </p:spPr>
        <p:txBody>
          <a:bodyPr wrap="none" lIns="73152" rIns="73152" tIns="36576" bIns="36576">
            <a:spAutoFit/>
          </a:bodyPr>
          <a:lstStyle/>
          <a:p>
            <a:r>
              <a:rPr sz="1100" b="1">
                <a:solidFill>
                  <a:srgbClr val="1F7A74"/>
                </a:solidFill>
                <a:latin typeface="Aptos Display"/>
              </a:rPr>
              <a:t>FINAL PROJECT</a:t>
            </a:r>
          </a:p>
        </p:txBody>
      </p:sp>
      <p:sp>
        <p:nvSpPr>
          <p:cNvPr id="3" name="TextBox 2"/>
          <p:cNvSpPr txBox="1"/>
          <p:nvPr/>
        </p:nvSpPr>
        <p:spPr>
          <a:xfrm>
            <a:off x="566928" y="658368"/>
            <a:ext cx="8412480" cy="594360"/>
          </a:xfrm>
          <a:prstGeom prst="rect">
            <a:avLst/>
          </a:prstGeom>
          <a:noFill/>
        </p:spPr>
        <p:txBody>
          <a:bodyPr wrap="none" lIns="73152" rIns="73152" tIns="36576" bIns="36576">
            <a:spAutoFit/>
          </a:bodyPr>
          <a:lstStyle/>
          <a:p>
            <a:r>
              <a:rPr sz="3000" b="1">
                <a:solidFill>
                  <a:srgbClr val="1C2630"/>
                </a:solidFill>
                <a:latin typeface="Aptos Display"/>
              </a:rPr>
              <a:t>Last Reminder</a:t>
            </a:r>
          </a:p>
        </p:txBody>
      </p:sp>
      <p:sp>
        <p:nvSpPr>
          <p:cNvPr id="4" name="Rectangle 3"/>
          <p:cNvSpPr/>
          <p:nvPr/>
        </p:nvSpPr>
        <p:spPr>
          <a:xfrm>
            <a:off x="621792" y="1298448"/>
            <a:ext cx="1828800" cy="36576"/>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5943600" cy="228600"/>
          </a:xfrm>
          <a:prstGeom prst="rect">
            <a:avLst/>
          </a:prstGeom>
          <a:noFill/>
        </p:spPr>
        <p:txBody>
          <a:bodyPr wrap="none" lIns="73152" rIns="73152" tIns="36576" bIns="36576">
            <a:spAutoFit/>
          </a:bodyPr>
          <a:lstStyle/>
          <a:p>
            <a:r>
              <a:rPr sz="800" b="0">
                <a:solidFill>
                  <a:srgbClr val="5D6976"/>
                </a:solidFill>
                <a:latin typeface="Aptos"/>
              </a:rPr>
              <a:t>CST4714 Database Administration | Last Class | May 19, 2026</a:t>
            </a:r>
          </a:p>
        </p:txBody>
      </p:sp>
      <p:sp>
        <p:nvSpPr>
          <p:cNvPr id="6" name="TextBox 5"/>
          <p:cNvSpPr txBox="1"/>
          <p:nvPr/>
        </p:nvSpPr>
        <p:spPr>
          <a:xfrm>
            <a:off x="11109960" y="6446520"/>
            <a:ext cx="457200" cy="228600"/>
          </a:xfrm>
          <a:prstGeom prst="rect">
            <a:avLst/>
          </a:prstGeom>
          <a:noFill/>
        </p:spPr>
        <p:txBody>
          <a:bodyPr wrap="none" lIns="73152" rIns="73152" tIns="36576" bIns="36576">
            <a:spAutoFit/>
          </a:bodyPr>
          <a:lstStyle/>
          <a:p>
            <a:pPr algn="r"/>
            <a:r>
              <a:rPr sz="800" b="0">
                <a:solidFill>
                  <a:srgbClr val="5D6976"/>
                </a:solidFill>
                <a:latin typeface="Aptos"/>
              </a:rPr>
              <a:t>18</a:t>
            </a:r>
          </a:p>
        </p:txBody>
      </p:sp>
      <p:sp>
        <p:nvSpPr>
          <p:cNvPr id="7" name="TextBox 6"/>
          <p:cNvSpPr txBox="1"/>
          <p:nvPr/>
        </p:nvSpPr>
        <p:spPr>
          <a:xfrm>
            <a:off x="914400" y="1645920"/>
            <a:ext cx="10332720" cy="731520"/>
          </a:xfrm>
          <a:prstGeom prst="rect">
            <a:avLst/>
          </a:prstGeom>
          <a:noFill/>
        </p:spPr>
        <p:txBody>
          <a:bodyPr wrap="none" lIns="73152" rIns="73152" tIns="36576" bIns="36576">
            <a:spAutoFit/>
          </a:bodyPr>
          <a:lstStyle/>
          <a:p>
            <a:pPr algn="ctr"/>
            <a:r>
              <a:rPr sz="3600" b="1">
                <a:solidFill>
                  <a:srgbClr val="B24B4B"/>
                </a:solidFill>
                <a:latin typeface="Aptos Display"/>
              </a:rPr>
              <a:t>Final project due: May 26, 2026</a:t>
            </a:r>
          </a:p>
        </p:txBody>
      </p:sp>
      <p:sp>
        <p:nvSpPr>
          <p:cNvPr id="8" name="Rounded Rectangle 7"/>
          <p:cNvSpPr/>
          <p:nvPr/>
        </p:nvSpPr>
        <p:spPr>
          <a:xfrm>
            <a:off x="1051560" y="2971800"/>
            <a:ext cx="246888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1560" y="2971800"/>
            <a:ext cx="82296" cy="1143000"/>
          </a:xfrm>
          <a:prstGeom prst="rect">
            <a:avLst/>
          </a:prstGeom>
          <a:solidFill>
            <a:srgbClr val="365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6151" y="3081528"/>
            <a:ext cx="2148840" cy="320040"/>
          </a:xfrm>
          <a:prstGeom prst="rect">
            <a:avLst/>
          </a:prstGeom>
          <a:noFill/>
        </p:spPr>
        <p:txBody>
          <a:bodyPr wrap="none" lIns="73152" rIns="73152" tIns="36576" bIns="36576">
            <a:spAutoFit/>
          </a:bodyPr>
          <a:lstStyle/>
          <a:p>
            <a:r>
              <a:rPr sz="1500" b="1">
                <a:solidFill>
                  <a:srgbClr val="365E99"/>
                </a:solidFill>
                <a:latin typeface="Aptos Display"/>
              </a:rPr>
              <a:t>Complete</a:t>
            </a:r>
          </a:p>
        </p:txBody>
      </p:sp>
      <p:sp>
        <p:nvSpPr>
          <p:cNvPr id="11" name="TextBox 10"/>
          <p:cNvSpPr txBox="1"/>
          <p:nvPr/>
        </p:nvSpPr>
        <p:spPr>
          <a:xfrm>
            <a:off x="1216151" y="3474720"/>
            <a:ext cx="2148840" cy="548640"/>
          </a:xfrm>
          <a:prstGeom prst="rect">
            <a:avLst/>
          </a:prstGeom>
          <a:noFill/>
        </p:spPr>
        <p:txBody>
          <a:bodyPr wrap="none" lIns="73152" rIns="73152" tIns="36576" bIns="36576">
            <a:spAutoFit/>
          </a:bodyPr>
          <a:lstStyle/>
          <a:p>
            <a:r>
              <a:rPr sz="1400" b="0">
                <a:solidFill>
                  <a:srgbClr val="1C2630"/>
                </a:solidFill>
                <a:latin typeface="Aptos"/>
              </a:rPr>
              <a:t>The database artifacts exist.</a:t>
            </a:r>
          </a:p>
        </p:txBody>
      </p:sp>
      <p:sp>
        <p:nvSpPr>
          <p:cNvPr id="12" name="Rounded Rectangle 11"/>
          <p:cNvSpPr/>
          <p:nvPr/>
        </p:nvSpPr>
        <p:spPr>
          <a:xfrm>
            <a:off x="3703320" y="2971800"/>
            <a:ext cx="246888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03320" y="2971800"/>
            <a:ext cx="82296" cy="1143000"/>
          </a:xfrm>
          <a:prstGeom prst="rect">
            <a:avLst/>
          </a:prstGeom>
          <a:solidFill>
            <a:srgbClr val="1F7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67911" y="3081528"/>
            <a:ext cx="2148840" cy="320040"/>
          </a:xfrm>
          <a:prstGeom prst="rect">
            <a:avLst/>
          </a:prstGeom>
          <a:noFill/>
        </p:spPr>
        <p:txBody>
          <a:bodyPr wrap="none" lIns="73152" rIns="73152" tIns="36576" bIns="36576">
            <a:spAutoFit/>
          </a:bodyPr>
          <a:lstStyle/>
          <a:p>
            <a:r>
              <a:rPr sz="1500" b="1">
                <a:solidFill>
                  <a:srgbClr val="1F7A74"/>
                </a:solidFill>
                <a:latin typeface="Aptos Display"/>
              </a:rPr>
              <a:t>Clear</a:t>
            </a:r>
          </a:p>
        </p:txBody>
      </p:sp>
      <p:sp>
        <p:nvSpPr>
          <p:cNvPr id="15" name="TextBox 14"/>
          <p:cNvSpPr txBox="1"/>
          <p:nvPr/>
        </p:nvSpPr>
        <p:spPr>
          <a:xfrm>
            <a:off x="3867911" y="3474720"/>
            <a:ext cx="2148840" cy="548640"/>
          </a:xfrm>
          <a:prstGeom prst="rect">
            <a:avLst/>
          </a:prstGeom>
          <a:noFill/>
        </p:spPr>
        <p:txBody>
          <a:bodyPr wrap="none" lIns="73152" rIns="73152" tIns="36576" bIns="36576">
            <a:spAutoFit/>
          </a:bodyPr>
          <a:lstStyle/>
          <a:p>
            <a:r>
              <a:rPr sz="1400" b="0">
                <a:solidFill>
                  <a:srgbClr val="1C2630"/>
                </a:solidFill>
                <a:latin typeface="Aptos"/>
              </a:rPr>
              <a:t>The explanation is readable.</a:t>
            </a:r>
          </a:p>
        </p:txBody>
      </p:sp>
      <p:sp>
        <p:nvSpPr>
          <p:cNvPr id="16" name="Rounded Rectangle 15"/>
          <p:cNvSpPr/>
          <p:nvPr/>
        </p:nvSpPr>
        <p:spPr>
          <a:xfrm>
            <a:off x="6355080" y="2971800"/>
            <a:ext cx="246888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971800"/>
            <a:ext cx="82296" cy="1143000"/>
          </a:xfrm>
          <a:prstGeom prst="rect">
            <a:avLst/>
          </a:prstGeom>
          <a:solidFill>
            <a:srgbClr val="4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3081528"/>
            <a:ext cx="2148840" cy="320040"/>
          </a:xfrm>
          <a:prstGeom prst="rect">
            <a:avLst/>
          </a:prstGeom>
          <a:noFill/>
        </p:spPr>
        <p:txBody>
          <a:bodyPr wrap="none" lIns="73152" rIns="73152" tIns="36576" bIns="36576">
            <a:spAutoFit/>
          </a:bodyPr>
          <a:lstStyle/>
          <a:p>
            <a:r>
              <a:rPr sz="1500" b="1">
                <a:solidFill>
                  <a:srgbClr val="4F8B57"/>
                </a:solidFill>
                <a:latin typeface="Aptos Display"/>
              </a:rPr>
              <a:t>Verified</a:t>
            </a:r>
          </a:p>
        </p:txBody>
      </p:sp>
      <p:sp>
        <p:nvSpPr>
          <p:cNvPr id="19" name="TextBox 18"/>
          <p:cNvSpPr txBox="1"/>
          <p:nvPr/>
        </p:nvSpPr>
        <p:spPr>
          <a:xfrm>
            <a:off x="6519672" y="3474720"/>
            <a:ext cx="2148840" cy="548640"/>
          </a:xfrm>
          <a:prstGeom prst="rect">
            <a:avLst/>
          </a:prstGeom>
          <a:noFill/>
        </p:spPr>
        <p:txBody>
          <a:bodyPr wrap="none" lIns="73152" rIns="73152" tIns="36576" bIns="36576">
            <a:spAutoFit/>
          </a:bodyPr>
          <a:lstStyle/>
          <a:p>
            <a:r>
              <a:rPr sz="1400" b="0">
                <a:solidFill>
                  <a:srgbClr val="1C2630"/>
                </a:solidFill>
                <a:latin typeface="Aptos"/>
              </a:rPr>
              <a:t>The evidence supports the claim.</a:t>
            </a:r>
          </a:p>
        </p:txBody>
      </p:sp>
      <p:sp>
        <p:nvSpPr>
          <p:cNvPr id="20" name="Rounded Rectangle 19"/>
          <p:cNvSpPr/>
          <p:nvPr/>
        </p:nvSpPr>
        <p:spPr>
          <a:xfrm>
            <a:off x="9006840" y="2971800"/>
            <a:ext cx="2103120" cy="1143000"/>
          </a:xfrm>
          <a:prstGeom prst="roundRect">
            <a:avLst/>
          </a:prstGeom>
          <a:solidFill>
            <a:srgbClr val="FFFFFF"/>
          </a:solidFill>
          <a:ln w="12700">
            <a:solidFill>
              <a:srgbClr val="D3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840" y="2971800"/>
            <a:ext cx="82296" cy="1143000"/>
          </a:xfrm>
          <a:prstGeom prst="rect">
            <a:avLst/>
          </a:prstGeom>
          <a:solidFill>
            <a:srgbClr val="D67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71432" y="3081528"/>
            <a:ext cx="1783079" cy="320040"/>
          </a:xfrm>
          <a:prstGeom prst="rect">
            <a:avLst/>
          </a:prstGeom>
          <a:noFill/>
        </p:spPr>
        <p:txBody>
          <a:bodyPr wrap="none" lIns="73152" rIns="73152" tIns="36576" bIns="36576">
            <a:spAutoFit/>
          </a:bodyPr>
          <a:lstStyle/>
          <a:p>
            <a:r>
              <a:rPr sz="1500" b="1">
                <a:solidFill>
                  <a:srgbClr val="D6703A"/>
                </a:solidFill>
                <a:latin typeface="Aptos Display"/>
              </a:rPr>
              <a:t>Honest</a:t>
            </a:r>
          </a:p>
        </p:txBody>
      </p:sp>
      <p:sp>
        <p:nvSpPr>
          <p:cNvPr id="23" name="TextBox 22"/>
          <p:cNvSpPr txBox="1"/>
          <p:nvPr/>
        </p:nvSpPr>
        <p:spPr>
          <a:xfrm>
            <a:off x="9171432" y="3474720"/>
            <a:ext cx="1783079" cy="548640"/>
          </a:xfrm>
          <a:prstGeom prst="rect">
            <a:avLst/>
          </a:prstGeom>
          <a:noFill/>
        </p:spPr>
        <p:txBody>
          <a:bodyPr wrap="none" lIns="73152" rIns="73152" tIns="36576" bIns="36576">
            <a:spAutoFit/>
          </a:bodyPr>
          <a:lstStyle/>
          <a:p>
            <a:r>
              <a:rPr sz="1400" b="0">
                <a:solidFill>
                  <a:srgbClr val="1C2630"/>
                </a:solidFill>
                <a:latin typeface="Aptos"/>
              </a:rPr>
              <a:t>Tradeoffs are included.</a:t>
            </a:r>
          </a:p>
        </p:txBody>
      </p:sp>
      <p:sp>
        <p:nvSpPr>
          <p:cNvPr id="24" name="TextBox 23"/>
          <p:cNvSpPr txBox="1"/>
          <p:nvPr/>
        </p:nvSpPr>
        <p:spPr>
          <a:xfrm>
            <a:off x="1097280" y="4983480"/>
            <a:ext cx="9875520" cy="457200"/>
          </a:xfrm>
          <a:prstGeom prst="rect">
            <a:avLst/>
          </a:prstGeom>
          <a:noFill/>
        </p:spPr>
        <p:txBody>
          <a:bodyPr wrap="none" lIns="73152" rIns="73152" tIns="36576" bIns="36576">
            <a:spAutoFit/>
          </a:bodyPr>
          <a:lstStyle/>
          <a:p>
            <a:pPr algn="ctr"/>
            <a:r>
              <a:rPr sz="2200" b="1">
                <a:solidFill>
                  <a:srgbClr val="1C2630"/>
                </a:solidFill>
                <a:latin typeface="Aptos Display"/>
              </a:rPr>
              <a:t>The goal is not a giant project. The goal is a defensible database administration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