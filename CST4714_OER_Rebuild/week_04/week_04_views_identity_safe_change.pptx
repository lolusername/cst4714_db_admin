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b3b7b5887ba4160" /><Relationship Type="http://schemas.openxmlformats.org/officeDocument/2006/relationships/extended-properties" Target="/docProps/app.xml" Id="Rb491ccd7cf304bc1" /><Relationship Type="http://schemas.openxmlformats.org/officeDocument/2006/relationships/officeDocument" Target="/ppt/presentation.xml" Id="Racf644e97c984842" /></Relationships>
</file>

<file path=ppt/presentation.xml><?xml version="1.0" encoding="utf-8"?>
<p:presentation xmlns:p="http://schemas.openxmlformats.org/presentationml/2006/main">
  <p:sldMasterIdLst>
    <p:sldMasterId xmlns:r="http://schemas.openxmlformats.org/officeDocument/2006/relationships" id="2147483648" r:id="Rcb4f5f2fb28244e2"/>
  </p:sldMasterIdLst>
  <p:notesMasterIdLst>
    <p:notesMasterId xmlns:r="http://schemas.openxmlformats.org/officeDocument/2006/relationships" r:id="R07f4ba669d254002"/>
  </p:notesMasterIdLst>
  <p:sldIdLst>
    <p:sldId xmlns:r="http://schemas.openxmlformats.org/officeDocument/2006/relationships" id="256" r:id="R036487fa31224a76"/>
    <p:sldId xmlns:r="http://schemas.openxmlformats.org/officeDocument/2006/relationships" id="257" r:id="Rd83e0a2a17274a6c"/>
    <p:sldId xmlns:r="http://schemas.openxmlformats.org/officeDocument/2006/relationships" id="258" r:id="Rba2a8c259ff74fb1"/>
    <p:sldId xmlns:r="http://schemas.openxmlformats.org/officeDocument/2006/relationships" id="259" r:id="R77f41c2dfad24059"/>
    <p:sldId xmlns:r="http://schemas.openxmlformats.org/officeDocument/2006/relationships" id="260" r:id="Rf2ea652a571f46a1"/>
    <p:sldId xmlns:r="http://schemas.openxmlformats.org/officeDocument/2006/relationships" id="261" r:id="R32765be9fe2e4f3e"/>
    <p:sldId xmlns:r="http://schemas.openxmlformats.org/officeDocument/2006/relationships" id="262" r:id="Ra48c6ff44e1b4c3b"/>
    <p:sldId xmlns:r="http://schemas.openxmlformats.org/officeDocument/2006/relationships" id="263" r:id="R9cd8d457178a48da"/>
    <p:sldId xmlns:r="http://schemas.openxmlformats.org/officeDocument/2006/relationships" id="264" r:id="R858a4c18457e4b45"/>
    <p:sldId xmlns:r="http://schemas.openxmlformats.org/officeDocument/2006/relationships" id="265" r:id="R8fc77e6be2264e52"/>
    <p:sldId xmlns:r="http://schemas.openxmlformats.org/officeDocument/2006/relationships" id="266" r:id="R20592134fcfa4e5e"/>
    <p:sldId xmlns:r="http://schemas.openxmlformats.org/officeDocument/2006/relationships" id="267" r:id="R9c68b2a45d234fca"/>
    <p:sldId xmlns:r="http://schemas.openxmlformats.org/officeDocument/2006/relationships" id="268" r:id="Re22d0b7ba13e4365"/>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6b21b80c61147eb" /><Relationship Type="http://schemas.openxmlformats.org/officeDocument/2006/relationships/slideMaster" Target="/ppt/slideMasters/slideMaster1.xml" Id="Rcb4f5f2fb28244e2" /><Relationship Type="http://schemas.openxmlformats.org/officeDocument/2006/relationships/notesMaster" Target="/ppt/notesMasters/notesMaster1.xml" Id="R07f4ba669d254002" /><Relationship Type="http://schemas.openxmlformats.org/officeDocument/2006/relationships/presProps" Target="/ppt/presProps.xml" Id="R6e71202520294f98" /><Relationship Type="http://schemas.openxmlformats.org/officeDocument/2006/relationships/tableStyles" Target="/ppt/tableStyles.xml" Id="Rf7e9d0cd755e47c5" /><Relationship Type="http://schemas.openxmlformats.org/officeDocument/2006/relationships/slide" Target="/ppt/slides/slide1.xml" Id="R036487fa31224a76" /><Relationship Type="http://schemas.openxmlformats.org/officeDocument/2006/relationships/slide" Target="/ppt/slides/slide2.xml" Id="Rd83e0a2a17274a6c" /><Relationship Type="http://schemas.openxmlformats.org/officeDocument/2006/relationships/slide" Target="/ppt/slides/slide3.xml" Id="Rba2a8c259ff74fb1" /><Relationship Type="http://schemas.openxmlformats.org/officeDocument/2006/relationships/slide" Target="/ppt/slides/slide4.xml" Id="R77f41c2dfad24059" /><Relationship Type="http://schemas.openxmlformats.org/officeDocument/2006/relationships/slide" Target="/ppt/slides/slide5.xml" Id="Rf2ea652a571f46a1" /><Relationship Type="http://schemas.openxmlformats.org/officeDocument/2006/relationships/slide" Target="/ppt/slides/slide6.xml" Id="R32765be9fe2e4f3e" /><Relationship Type="http://schemas.openxmlformats.org/officeDocument/2006/relationships/slide" Target="/ppt/slides/slide7.xml" Id="Ra48c6ff44e1b4c3b" /><Relationship Type="http://schemas.openxmlformats.org/officeDocument/2006/relationships/slide" Target="/ppt/slides/slide8.xml" Id="R9cd8d457178a48da" /><Relationship Type="http://schemas.openxmlformats.org/officeDocument/2006/relationships/slide" Target="/ppt/slides/slide9.xml" Id="R858a4c18457e4b45" /><Relationship Type="http://schemas.openxmlformats.org/officeDocument/2006/relationships/slide" Target="/ppt/slides/slide10.xml" Id="R8fc77e6be2264e52" /><Relationship Type="http://schemas.openxmlformats.org/officeDocument/2006/relationships/slide" Target="/ppt/slides/slide11.xml" Id="R20592134fcfa4e5e" /><Relationship Type="http://schemas.openxmlformats.org/officeDocument/2006/relationships/slide" Target="/ppt/slides/slide12.xml" Id="R9c68b2a45d234fca" /><Relationship Type="http://schemas.openxmlformats.org/officeDocument/2006/relationships/slide" Target="/ppt/slides/slide13.xml" Id="Re22d0b7ba13e436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ef4e4ad9eb141f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3b38e2074814aea" /><Relationship Type="http://schemas.openxmlformats.org/officeDocument/2006/relationships/notesMaster" Target="/ppt/notesMasters/notesMaster1.xml" Id="R969926d4a041472f" /></Relationships>
</file>

<file path=ppt/notesSlides/_rels/notesSlide2.xml.rels>&#65279;<?xml version="1.0" encoding="utf-8"?><Relationships xmlns="http://schemas.openxmlformats.org/package/2006/relationships"><Relationship Type="http://schemas.openxmlformats.org/officeDocument/2006/relationships/slide" Target="/ppt/slides/slide2.xml" Id="R481e47d7c4404dfa" /><Relationship Type="http://schemas.openxmlformats.org/officeDocument/2006/relationships/notesMaster" Target="/ppt/notesMasters/notesMaster1.xml" Id="R3865ff0baf7f47ff" /></Relationships>
</file>

<file path=ppt/notesSlides/_rels/notesSlide3.xml.rels>&#65279;<?xml version="1.0" encoding="utf-8"?><Relationships xmlns="http://schemas.openxmlformats.org/package/2006/relationships"><Relationship Type="http://schemas.openxmlformats.org/officeDocument/2006/relationships/slide" Target="/ppt/slides/slide3.xml" Id="R47e5db9be4894fdb" /><Relationship Type="http://schemas.openxmlformats.org/officeDocument/2006/relationships/notesMaster" Target="/ppt/notesMasters/notesMaster1.xml" Id="R4555607d900d4821" /></Relationships>
</file>

<file path=ppt/notesSlides/_rels/notesSlide4.xml.rels>&#65279;<?xml version="1.0" encoding="utf-8"?><Relationships xmlns="http://schemas.openxmlformats.org/package/2006/relationships"><Relationship Type="http://schemas.openxmlformats.org/officeDocument/2006/relationships/slide" Target="/ppt/slides/slide4.xml" Id="R73d9b1956f364b42" /><Relationship Type="http://schemas.openxmlformats.org/officeDocument/2006/relationships/notesMaster" Target="/ppt/notesMasters/notesMaster1.xml" Id="Rb446923e30d04041" /></Relationships>
</file>

<file path=ppt/notesSlides/_rels/notesSlide5.xml.rels>&#65279;<?xml version="1.0" encoding="utf-8"?><Relationships xmlns="http://schemas.openxmlformats.org/package/2006/relationships"><Relationship Type="http://schemas.openxmlformats.org/officeDocument/2006/relationships/slide" Target="/ppt/slides/slide5.xml" Id="R5c96750c57664254" /><Relationship Type="http://schemas.openxmlformats.org/officeDocument/2006/relationships/notesMaster" Target="/ppt/notesMasters/notesMaster1.xml" Id="Raba6cddc8d1c423e" /></Relationships>
</file>

<file path=ppt/notesSlides/_rels/notesSlide6.xml.rels>&#65279;<?xml version="1.0" encoding="utf-8"?><Relationships xmlns="http://schemas.openxmlformats.org/package/2006/relationships"><Relationship Type="http://schemas.openxmlformats.org/officeDocument/2006/relationships/slide" Target="/ppt/slides/slide6.xml" Id="R6df9df494f0c41c8" /><Relationship Type="http://schemas.openxmlformats.org/officeDocument/2006/relationships/notesMaster" Target="/ppt/notesMasters/notesMaster1.xml" Id="R3235f7670b664e57" /></Relationships>
</file>

<file path=ppt/notesSlides/_rels/notesSlide7.xml.rels>&#65279;<?xml version="1.0" encoding="utf-8"?><Relationships xmlns="http://schemas.openxmlformats.org/package/2006/relationships"><Relationship Type="http://schemas.openxmlformats.org/officeDocument/2006/relationships/slide" Target="/ppt/slides/slide7.xml" Id="R1348f25bd654439c" /><Relationship Type="http://schemas.openxmlformats.org/officeDocument/2006/relationships/notesMaster" Target="/ppt/notesMasters/notesMaster1.xml" Id="R4c3707de258a45b1" /></Relationships>
</file>

<file path=ppt/notesSlides/_rels/notesSlide8.xml.rels>&#65279;<?xml version="1.0" encoding="utf-8"?><Relationships xmlns="http://schemas.openxmlformats.org/package/2006/relationships"><Relationship Type="http://schemas.openxmlformats.org/officeDocument/2006/relationships/slide" Target="/ppt/slides/slide8.xml" Id="R1b3d29b49e8e492d" /><Relationship Type="http://schemas.openxmlformats.org/officeDocument/2006/relationships/notesMaster" Target="/ppt/notesMasters/notesMaster1.xml" Id="Rc7c54f45cfc44d77" /></Relationships>
</file>

<file path=ppt/notesSlides/_rels/notesSlide9.xml.rels>&#65279;<?xml version="1.0" encoding="utf-8"?><Relationships xmlns="http://schemas.openxmlformats.org/package/2006/relationships"><Relationship Type="http://schemas.openxmlformats.org/officeDocument/2006/relationships/slide" Target="/ppt/slides/slide9.xml" Id="R9789e77eb24b4c31" /><Relationship Type="http://schemas.openxmlformats.org/officeDocument/2006/relationships/notesMaster" Target="/ppt/notesMasters/notesMaster1.xml" Id="R0ec1b03074d54f88"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af12a2bb3624b69" /><Relationship Type="http://schemas.openxmlformats.org/officeDocument/2006/relationships/notesMaster" Target="/ppt/notesMasters/notesMaster1.xml" Id="R78fbef77865047b9"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043d4bfded6a4681" /><Relationship Type="http://schemas.openxmlformats.org/officeDocument/2006/relationships/notesMaster" Target="/ppt/notesMasters/notesMaster1.xml" Id="R0f743b91f1044796"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9786bca665b34710" /><Relationship Type="http://schemas.openxmlformats.org/officeDocument/2006/relationships/notesMaster" Target="/ppt/notesMasters/notesMaster1.xml" Id="R536e8dcce7eb4f1b"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d2d863d75a994096" /><Relationship Type="http://schemas.openxmlformats.org/officeDocument/2006/relationships/notesMaster" Target="/ppt/notesMasters/notesMaster1.xml" Id="Rf42e854df4c34a5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week asks how a database can change without surprising every client at once. We begin with views and execution identity, then move into a beginner-safe migration pattern. The technical commands are only one part of the work. A change also has a starting-state check, dependency boundary, verification query, rollback or forward-repair plan, and remaining risk.</a:t>
            </a:r>
          </a:p>
          <a:p xmlns:a="http://schemas.openxmlformats.org/drawingml/2006/main">
            <a:r>
              <a:t/>
            </a:r>
          </a:p>
          <a:p xmlns:a="http://schemas.openxmlformats.org/drawingml/2006/main">
            <a:r>
              <a:t>The same evidence habits from constraints apply here. We will not assume that a successful `ALTER TABLE` means applications still work. We will inspect the current context, expose a stable interface where useful, make one controlled change, and verify behavior through the interface a client actually uses.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standard PostgreSQL view is a named query. It normally stores the definition rather than an independent copy of every result row. When a client selects from the view, PostgreSQL evaluates the view within the database's rules and current data.</a:t>
            </a:r>
          </a:p>
          <a:p xmlns:a="http://schemas.openxmlformats.org/drawingml/2006/main">
            <a:r>
              <a:t/>
            </a:r>
          </a:p>
          <a:p xmlns:a="http://schemas.openxmlformats.org/drawingml/2006/main">
            <a:r>
              <a:t>Views can create a stable column shape, hide implementation detail, centralize a repeated relational expression, and provide a narrower permission boundary. They are not automatic security barriers or performance caches. The view owner, caller identity, security options, underlying permissions, and query plan all matter. Use a view when the database interface is a deliberate contract, not simply to avoid writing a join twice.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SQL does not execute without an identity. The current user, active role, database, schema search path, and provider context influence object resolution and authorization. An administrator can often query a table that an application role cannot see. That success is not evidence that the application works.</a:t>
            </a:r>
          </a:p>
          <a:p xmlns:a="http://schemas.openxmlformats.org/drawingml/2006/main">
            <a:r>
              <a:t/>
            </a:r>
          </a:p>
          <a:p xmlns:a="http://schemas.openxmlformats.org/drawingml/2006/main">
            <a:r>
              <a:t>When investigating access or a view, record the identity under which the query ran. In Supabase, the SQL editor may use a privileged database role, while browser requests use roles and claims derived from an authenticated request. Those layers will receive fuller treatment in Week 6. For now, the durable rule is simple: test behavior under the identity whose promise you are making.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first query records four context facts. `current_database()` identifies the database named by the connection. `current_user` identifies the role used for permission checks. `current_schema()` reports the first valid schema in the effective search path. The setting itself shows the schema-resolution order.</a:t>
            </a:r>
          </a:p>
          <a:p xmlns:a="http://schemas.openxmlformats.org/drawingml/2006/main">
            <a:r>
              <a:t/>
            </a:r>
          </a:p>
          <a:p xmlns:a="http://schemas.openxmlformats.org/drawingml/2006/main">
            <a:r>
              <a:t>These facts can explain why identical unqualified SQL resolves to different objects or receives different permissions. The second query lists views in the Metro Support schema. If a client reports that a view is missing, verify database, schema, search path, object spelling, and privilege before recreating anything. Context evidence prevents a common troubleshooting mistake: changing the schema when the connection or identity is the actual difference.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view defines one row per active ticket. The join attaches the matching requester's display name, and the alias `requester_name` becomes part of the visible column contract. The status list defines active for this interface.</a:t>
            </a:r>
          </a:p>
          <a:p xmlns:a="http://schemas.openxmlformats.org/drawingml/2006/main">
            <a:r>
              <a:t/>
            </a:r>
          </a:p>
          <a:p xmlns:a="http://schemas.openxmlformats.org/drawingml/2006/main">
            <a:r>
              <a:t>After creation, query the view using the intended role and verify stable ticket identifiers, column names, and row count. Inspect the view definition in metadata so a later change does not rely on memory. A view can reduce direct base-table exposure, but it does not automatically prevent every inference or update. Permissions, row-level policies, and security behavior must be tested separately.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individual lab begins by recording the execution context. Then create the assigned view in the disposable Metro Support schema. State the view's result grain and choose client-facing column names deliberately.</a:t>
            </a:r>
          </a:p>
          <a:p xmlns:a="http://schemas.openxmlformats.org/drawingml/2006/main">
            <a:r>
              <a:t/>
            </a:r>
          </a:p>
          <a:p xmlns:a="http://schemas.openxmlformats.org/drawingml/2006/main">
            <a:r>
              <a:t>Query the view and verify its shape with identifiers and a count. If the environment permits role testing, use the intended limited role; otherwise state the context limitation explicitly. Include copied SQL and relevant text output, not a private project screenshot. Submit one record containing context, view definition, verification, and one limitation.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On the second day, we treat a migration as a sequence. The goal is to preserve service while storage or interfaces evolve. The beginner-safe pattern is expand, migrate, verify, and contract.</a:t>
            </a:r>
          </a:p>
          <a:p xmlns:a="http://schemas.openxmlformats.org/drawingml/2006/main">
            <a:r>
              <a:t/>
            </a:r>
          </a:p>
          <a:p xmlns:a="http://schemas.openxmlformats.org/drawingml/2006/main">
            <a:r>
              <a:t>Expansion adds a compatible new path without removing the old one. Migration copies or transforms existing data and moves writers or readers. Verification checks data, dependencies, and client behavior. Contraction removes the old path only after evidence shows it is no longer needed. Not every classroom change needs a long deployment, but reasoning in stages exposes assumptions that a one-command migration hides.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sequence starts with a precondition because a migration written for one schema can damage another. Confirm columns, types, constraints, row counts, and dependencies. Expansion then adds the new structure while preserving the old path. A nullable column, compatibility view, or additional write path may support that transition.</a:t>
            </a:r>
          </a:p>
          <a:p xmlns:a="http://schemas.openxmlformats.org/drawingml/2006/main">
            <a:r>
              <a:t/>
            </a:r>
          </a:p>
          <a:p xmlns:a="http://schemas.openxmlformats.org/drawingml/2006/main">
            <a:r>
              <a:t>Migration backfills data or moves clients in a controlled scope. Verification compares old and new representations, checks nulls and counts, and exercises dependent queries. Contraction is last. Removing the old path too early turns a reversible transition into an outage. In a simple classroom database, the stages may occur in one session; the reasoning still matters.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simplified sequence first checks a data precondition. It then adds a compatible column, backfills a derived label, and verifies that no current ticket remains without the new value. Those steps do not yet establish a production-ready migration.</a:t>
            </a:r>
          </a:p>
          <a:p xmlns:a="http://schemas.openxmlformats.org/drawingml/2006/main">
            <a:r>
              <a:t/>
            </a:r>
          </a:p>
          <a:p xmlns:a="http://schemas.openxmlformats.org/drawingml/2006/main">
            <a:r>
              <a:t>We still need to inspect dependencies, concurrent writes, repeated execution, transaction boundaries, and which representation is authoritative. A rollback might remove the new column if no client depends on it, while a forward repair may be safer after clients begin using it. The example is useful because it exposes the questions. A migration record should never imply that one successful backfill proves every reader, writer, permission, index, and recovery path remains correct.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Rollback is not always the opposite DDL command. Dropping a new column can destroy data written after the migration began. Reversing a type conversion may be lossy. Once clients depend on a new interface, rollback can create another outage.</a:t>
            </a:r>
          </a:p>
          <a:p xmlns:a="http://schemas.openxmlformats.org/drawingml/2006/main">
            <a:r>
              <a:t/>
            </a:r>
          </a:p>
          <a:p xmlns:a="http://schemas.openxmlformats.org/drawingml/2006/main">
            <a:r>
              <a:t>A forward repair keeps the current direction and corrects the defect, such as backfilling missed rows, repairing a view, or adding a compatibility alias. The right response depends on the observed state, data written since the change, client adoption, and recovery options. Record the decision point before executing either path. Every rollback or forward repair needs its own verification; its label does not guarantee safety.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five-part record begins with a precondition. The change section states exactly what was executed and under which identity. Verification covers more than the table definition: inspect transformed data and a representative client-facing query or view.</a:t>
            </a:r>
          </a:p>
          <a:p xmlns:a="http://schemas.openxmlformats.org/drawingml/2006/main">
            <a:r>
              <a:t/>
            </a:r>
          </a:p>
          <a:p xmlns:a="http://schemas.openxmlformats.org/drawingml/2006/main">
            <a:r>
              <a:t>Recovery names either rollback or forward repair and the state in which it remains safe. The fifth part is the remaining risk. Examples include concurrent writes not tested, a client outside the repository, a large-table lock, or a provider feature not available on the free tier. This record is compact enough for classroom use but follows the same reasoning expected in a professional change request.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the migration individually in the disposable course schema. Do not begin with `ALTER TABLE`. First query the expected columns, data condition, and any view named in the lab. If the precondition fails, stop and diagnose rather than forcing the script.</a:t>
            </a:r>
          </a:p>
          <a:p xmlns:a="http://schemas.openxmlformats.org/drawingml/2006/main">
            <a:r>
              <a:t/>
            </a:r>
          </a:p>
          <a:p xmlns:a="http://schemas.openxmlformats.org/drawingml/2006/main">
            <a:r>
              <a:t>Apply the compatible change and migration step. Verify both metadata and data, then run the representative client query. Record whether rollback or forward repair is safer at that point and why. Submit one five-part record. If live PostgreSQL is unavailable, use the supplied before-and-after transcript and write the same evidence-based decision.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week treated views, identity, and migrations as one topic: preserving understandable interfaces while the database evolves. A view can provide a stable shape, but its permissions and behavior must be tested under the intended identity. Context queries reveal which database, user, schema, and search path actually execute the SQL.</a:t>
            </a:r>
          </a:p>
          <a:p xmlns:a="http://schemas.openxmlformats.org/drawingml/2006/main">
            <a:r>
              <a:t/>
            </a:r>
          </a:p>
          <a:p xmlns:a="http://schemas.openxmlformats.org/drawingml/2006/main">
            <a:r>
              <a:t>A safe migration begins with a precondition and expands compatibility before removing the old path. Data and client behavior are verified before contraction. Rollback and forward repair are choices based on state, not magic words. Next week, independent sessions will make state more complicated. Transactions, MVCC, and locks will show why concurrent operators need the same disciplined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8aaa082488343a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c18960029564039" /><Relationship Type="http://schemas.openxmlformats.org/officeDocument/2006/relationships/slideLayout" Target="/ppt/slideLayouts/slideLayout1.xml" Id="R26154c64d2b24d2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6154c64d2b24d2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382736c2e1804c16" /><Relationship Type="http://schemas.openxmlformats.org/officeDocument/2006/relationships/notesSlide" Target="/ppt/notesSlides/notesSlide1.xml" Id="Re93c6ca2dbca4939"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f732bf592f814602" /><Relationship Type="http://schemas.openxmlformats.org/officeDocument/2006/relationships/notesSlide" Target="/ppt/notesSlides/notesSlide2.xml" Id="Rc85ee0f4524a4a16"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6d82323c6ee7457e" /><Relationship Type="http://schemas.openxmlformats.org/officeDocument/2006/relationships/notesSlide" Target="/ppt/notesSlides/notesSlide3.xml" Id="R79c692e590904299"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b8955a1c2b90431f" /><Relationship Type="http://schemas.openxmlformats.org/officeDocument/2006/relationships/notesSlide" Target="/ppt/notesSlides/notesSlide4.xml" Id="R811b9fc548f440bd"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8da26967b4d04f33" /><Relationship Type="http://schemas.openxmlformats.org/officeDocument/2006/relationships/notesSlide" Target="/ppt/notesSlides/notesSlide5.xml" Id="Ra75cdc6308ac4834"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8f05cdc7943347c1" /><Relationship Type="http://schemas.openxmlformats.org/officeDocument/2006/relationships/notesSlide" Target="/ppt/notesSlides/notesSlide6.xml" Id="R0911b1de88444bcb"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a04b219cd591484d" /><Relationship Type="http://schemas.openxmlformats.org/officeDocument/2006/relationships/notesSlide" Target="/ppt/notesSlides/notesSlide7.xml" Id="Ra54fc3c524584487"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33fc028d90a847eb" /><Relationship Type="http://schemas.openxmlformats.org/officeDocument/2006/relationships/notesSlide" Target="/ppt/notesSlides/notesSlide8.xml" Id="R056b9965a1ca455d"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370b131ac02b46dc" /><Relationship Type="http://schemas.openxmlformats.org/officeDocument/2006/relationships/notesSlide" Target="/ppt/notesSlides/notesSlide9.xml" Id="Rc92b6f844fb6446c"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7847f8267ca64b20" /><Relationship Type="http://schemas.openxmlformats.org/officeDocument/2006/relationships/notesSlide" Target="/ppt/notesSlides/notesSlide10.xml" Id="Ree95d3eedb144deb"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1cc77d6338dc4f0b" /><Relationship Type="http://schemas.openxmlformats.org/officeDocument/2006/relationships/notesSlide" Target="/ppt/notesSlides/notesSlide11.xml" Id="Rb7381e05261846d2"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e4fb87b859904027" /><Relationship Type="http://schemas.openxmlformats.org/officeDocument/2006/relationships/notesSlide" Target="/ppt/notesSlides/notesSlide12.xml" Id="Rf944ffa44dc04a98"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b512febfbbe3493e" /><Relationship Type="http://schemas.openxmlformats.org/officeDocument/2006/relationships/notesSlide" Target="/ppt/notesSlides/notesSlide13.xml" Id="R3319061926914664" /></Relationships>
</file>

<file path=ppt/slides/slide1.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F76F1F9E-8EBA-4A96-B295-26A45FA0ACA6}"/>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CFCFA"/>
          </a:solidFill>
          <a:ln xmlns:a="http://schemas.openxmlformats.org/drawingml/2006/main" w="0">
            <a:solidFill>
              <a:srgbClr val="FCFCFA"/>
            </a:solidFill>
            <a:prstDash val="solid"/>
          </a:ln>
        </p:spPr>
      </p:sp>
      <p:sp>
        <p:nvSpPr>
          <p:cNvPr id="2" name="">
            <a:extLst xmlns:a="http://schemas.openxmlformats.org/drawingml/2006/main">
              <a:ext uri="{FF2B5EF4-FFF2-40B4-BE49-F238E27FC236}">
                <a16:creationId xmlns:a16="http://schemas.microsoft.com/office/drawing/2014/main" id="{98AA7642-EF32-4510-81E2-4A0FB5A09D48}"/>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0F766E"/>
          </a:solidFill>
          <a:ln xmlns:a="http://schemas.openxmlformats.org/drawingml/2006/main" w="0">
            <a:solidFill>
              <a:srgbClr val="0F766E"/>
            </a:solidFill>
            <a:prstDash val="solid"/>
          </a:ln>
        </p:spPr>
      </p:sp>
      <p:sp>
        <p:nvSpPr>
          <p:cNvPr id="3" name="">
            <a:extLst xmlns:a="http://schemas.openxmlformats.org/drawingml/2006/main">
              <a:ext uri="{FF2B5EF4-FFF2-40B4-BE49-F238E27FC236}">
                <a16:creationId xmlns:a16="http://schemas.microsoft.com/office/drawing/2014/main" id="{F9CDF657-F55B-47C4-8267-9BA2D87CB9D1}"/>
              </a:ext>
            </a:extLst>
          </p:cNvPr>
          <p:cNvSpPr>
            <a:spLocks xmlns:a="http://schemas.openxmlformats.org/drawingml/2006/main" noGrp="1"/>
          </p:cNvSpPr>
          <p:nvPr/>
        </p:nvSpPr>
        <p:spPr>
          <a:xfrm xmlns:a="http://schemas.openxmlformats.org/drawingml/2006/main">
            <a:off x="685800" y="523875"/>
            <a:ext cx="2476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1350" b="1">
                <a:solidFill>
                  <a:srgbClr val="0F766E"/>
                </a:solidFill>
                <a:latin typeface="Helvetica Neue"/>
                <a:ea typeface="Helvetica Neue"/>
                <a:cs typeface="Helvetica Neue"/>
              </a:defRPr>
            </a:pPr>
            <a:r>
              <a:rPr sz="1350" b="1">
                <a:solidFill>
                  <a:srgbClr val="0F766E"/>
                </a:solidFill>
                <a:latin typeface="Helvetica Neue"/>
                <a:ea typeface="Helvetica Neue"/>
                <a:cs typeface="Helvetica Neue"/>
              </a:rPr>
              <a:t>WEEK 04</a:t>
            </a:r>
          </a:p>
        </p:txBody>
      </p:sp>
      <p:sp>
        <p:nvSpPr>
          <p:cNvPr id="4" name="cover-title">
            <a:extLst xmlns:a="http://schemas.openxmlformats.org/drawingml/2006/main">
              <a:ext uri="{FF2B5EF4-FFF2-40B4-BE49-F238E27FC236}">
                <a16:creationId xmlns:a16="http://schemas.microsoft.com/office/drawing/2014/main" id="{B46E5B9F-DBFF-4205-9BCC-7E56322CDCAD}"/>
              </a:ext>
            </a:extLst>
          </p:cNvPr>
          <p:cNvSpPr>
            <a:spLocks xmlns:a="http://schemas.openxmlformats.org/drawingml/2006/main" noGrp="1"/>
          </p:cNvSpPr>
          <p:nvPr/>
        </p:nvSpPr>
        <p:spPr>
          <a:xfrm xmlns:a="http://schemas.openxmlformats.org/drawingml/2006/main">
            <a:off x="685800" y="1524000"/>
            <a:ext cx="8572500" cy="2000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4350" b="1">
                <a:solidFill>
                  <a:srgbClr val="111827"/>
                </a:solidFill>
                <a:latin typeface="Helvetica Neue"/>
                <a:ea typeface="Helvetica Neue"/>
                <a:cs typeface="Helvetica Neue"/>
              </a:defRPr>
            </a:pPr>
            <a:r>
              <a:rPr sz="4350" b="1">
                <a:solidFill>
                  <a:srgbClr val="111827"/>
                </a:solidFill>
                <a:latin typeface="Helvetica Neue"/>
                <a:ea typeface="Helvetica Neue"/>
                <a:cs typeface="Helvetica Neue"/>
              </a:rPr>
              <a:t>Views, Identity, and Safe Change</a:t>
            </a:r>
          </a:p>
        </p:txBody>
      </p:sp>
      <p:sp>
        <p:nvSpPr>
          <p:cNvPr id="5" name="cover-subtitle">
            <a:extLst xmlns:a="http://schemas.openxmlformats.org/drawingml/2006/main">
              <a:ext uri="{FF2B5EF4-FFF2-40B4-BE49-F238E27FC236}">
                <a16:creationId xmlns:a16="http://schemas.microsoft.com/office/drawing/2014/main" id="{6044A076-431A-47EB-9254-A95E1C2AAD2B}"/>
              </a:ext>
            </a:extLst>
          </p:cNvPr>
          <p:cNvSpPr>
            <a:spLocks xmlns:a="http://schemas.openxmlformats.org/drawingml/2006/main" noGrp="1"/>
          </p:cNvSpPr>
          <p:nvPr/>
        </p:nvSpPr>
        <p:spPr>
          <a:xfrm xmlns:a="http://schemas.openxmlformats.org/drawingml/2006/main">
            <a:off x="723900" y="3905250"/>
            <a:ext cx="80962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1875">
                <a:solidFill>
                  <a:srgbClr val="475569"/>
                </a:solidFill>
                <a:latin typeface="Helvetica Neue"/>
                <a:ea typeface="Helvetica Neue"/>
                <a:cs typeface="Helvetica Neue"/>
              </a:defRPr>
            </a:pPr>
            <a:r>
              <a:rPr sz="1875">
                <a:solidFill>
                  <a:srgbClr val="475569"/>
                </a:solidFill>
                <a:latin typeface="Helvetica Neue"/>
                <a:ea typeface="Helvetica Neue"/>
                <a:cs typeface="Helvetica Neue"/>
              </a:rPr>
              <a:t>Expose a stable interface, inspect dependencies, and migrate without guessing.</a:t>
            </a:r>
          </a:p>
        </p:txBody>
      </p:sp>
      <p:sp>
        <p:nvSpPr>
          <p:cNvPr id="6" name="">
            <a:extLst xmlns:a="http://schemas.openxmlformats.org/drawingml/2006/main">
              <a:ext uri="{FF2B5EF4-FFF2-40B4-BE49-F238E27FC236}">
                <a16:creationId xmlns:a16="http://schemas.microsoft.com/office/drawing/2014/main" id="{59C9A040-DA87-453E-9ADF-647FC8E89D4B}"/>
              </a:ext>
            </a:extLst>
          </p:cNvPr>
          <p:cNvSpPr>
            <a:spLocks xmlns:a="http://schemas.openxmlformats.org/drawingml/2006/main" noGrp="1"/>
          </p:cNvSpPr>
          <p:nvPr/>
        </p:nvSpPr>
        <p:spPr>
          <a:xfrm xmlns:a="http://schemas.openxmlformats.org/drawingml/2006/main">
            <a:off x="685800" y="6172200"/>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975" b="1">
                <a:solidFill>
                  <a:srgbClr val="94A3B8"/>
                </a:solidFill>
                <a:latin typeface="Helvetica Neue"/>
                <a:ea typeface="Helvetica Neue"/>
                <a:cs typeface="Helvetica Neue"/>
              </a:defRPr>
            </a:pPr>
            <a:r>
              <a:rPr sz="975" b="1">
                <a:solidFill>
                  <a:srgbClr val="94A3B8"/>
                </a:solidFill>
                <a:latin typeface="Helvetica Neue"/>
                <a:ea typeface="Helvetica Neue"/>
                <a:cs typeface="Helvetica Neue"/>
              </a:rPr>
              <a:t>OPERATING CLOUD DATABASES</a:t>
            </a:r>
          </a:p>
        </p:txBody>
      </p:sp>
      <p:sp>
        <p:nvSpPr>
          <p:cNvPr id="7" name="">
            <a:extLst xmlns:a="http://schemas.openxmlformats.org/drawingml/2006/main">
              <a:ext uri="{FF2B5EF4-FFF2-40B4-BE49-F238E27FC236}">
                <a16:creationId xmlns:a16="http://schemas.microsoft.com/office/drawing/2014/main" id="{3C3AF1A1-11FE-408E-B9FA-7DB21B612255}"/>
              </a:ext>
            </a:extLst>
          </p:cNvPr>
          <p:cNvSpPr>
            <a:spLocks xmlns:a="http://schemas.openxmlformats.org/drawingml/2006/main" noGrp="1"/>
          </p:cNvSpPr>
          <p:nvPr/>
        </p:nvSpPr>
        <p:spPr>
          <a:xfrm xmlns:a="http://schemas.openxmlformats.org/drawingml/2006/main">
            <a:off x="9525000" y="4667250"/>
            <a:ext cx="20955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r">
              <a:defRPr sz="8400" b="1">
                <a:solidFill>
                  <a:srgbClr val="0F766E"/>
                </a:solidFill>
                <a:latin typeface="Helvetica Neue"/>
                <a:ea typeface="Helvetica Neue"/>
                <a:cs typeface="Helvetica Neue"/>
              </a:defRPr>
            </a:pPr>
            <a:r>
              <a:rPr sz="8400" b="1">
                <a:solidFill>
                  <a:srgbClr val="0F766E"/>
                </a:solidFill>
                <a:latin typeface="Helvetica Neue"/>
                <a:ea typeface="Helvetica Neue"/>
                <a:cs typeface="Helvetica Neue"/>
              </a:rPr>
              <a:t>04</a:t>
            </a:r>
          </a:p>
        </p:txBody>
      </p:sp>
    </p:spTree>
    <p:extLst>
      <p:ext uri="{BB962C8B-B14F-4D97-AF65-F5344CB8AC3E}">
        <p14:creationId xmlns:p14="http://schemas.microsoft.com/office/powerpoint/2010/main" val="691176687"/>
      </p:ext>
    </p:extLst>
  </p:cSld>
</p:sld>
</file>

<file path=ppt/slides/slide2.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81865D70-3184-4D3F-A47C-B78171A6E1A1}"/>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CFCFA"/>
          </a:solidFill>
          <a:ln xmlns:a="http://schemas.openxmlformats.org/drawingml/2006/main" w="0">
            <a:solidFill>
              <a:srgbClr val="FCFCFA"/>
            </a:solidFill>
            <a:prstDash val="solid"/>
          </a:ln>
        </p:spPr>
      </p:sp>
      <p:sp>
        <p:nvSpPr>
          <p:cNvPr id="2" name="eyebrow">
            <a:extLst xmlns:a="http://schemas.openxmlformats.org/drawingml/2006/main">
              <a:ext uri="{FF2B5EF4-FFF2-40B4-BE49-F238E27FC236}">
                <a16:creationId xmlns:a16="http://schemas.microsoft.com/office/drawing/2014/main" id="{8614A827-C4D7-4780-9D36-FE09315DD9CB}"/>
              </a:ext>
            </a:extLst>
          </p:cNvPr>
          <p:cNvSpPr>
            <a:spLocks xmlns:a="http://schemas.openxmlformats.org/drawingml/2006/main" noGrp="1"/>
          </p:cNvSpPr>
          <p:nvPr/>
        </p:nvSpPr>
        <p:spPr>
          <a:xfrm xmlns:a="http://schemas.openxmlformats.org/drawingml/2006/main">
            <a:off x="609600" y="295275"/>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975" b="1">
                <a:solidFill>
                  <a:srgbClr val="0F766E"/>
                </a:solidFill>
                <a:latin typeface="Helvetica Neue"/>
                <a:ea typeface="Helvetica Neue"/>
                <a:cs typeface="Helvetica Neue"/>
              </a:defRPr>
            </a:pPr>
            <a:r>
              <a:rPr sz="975" b="1">
                <a:solidFill>
                  <a:srgbClr val="0F766E"/>
                </a:solidFill>
                <a:latin typeface="Helvetica Neue"/>
                <a:ea typeface="Helvetica Neue"/>
                <a:cs typeface="Helvetica Neue"/>
              </a:rPr>
              <a:t>WEEK 04  /  CST4714</a:t>
            </a:r>
          </a:p>
        </p:txBody>
      </p:sp>
      <p:sp>
        <p:nvSpPr>
          <p:cNvPr id="3" name="slide-title">
            <a:extLst xmlns:a="http://schemas.openxmlformats.org/drawingml/2006/main">
              <a:ext uri="{FF2B5EF4-FFF2-40B4-BE49-F238E27FC236}">
                <a16:creationId xmlns:a16="http://schemas.microsoft.com/office/drawing/2014/main" id="{9101FAE3-BA27-4780-8B34-6FE957C0175F}"/>
              </a:ext>
            </a:extLst>
          </p:cNvPr>
          <p:cNvSpPr>
            <a:spLocks xmlns:a="http://schemas.openxmlformats.org/drawingml/2006/main" noGrp="1"/>
          </p:cNvSpPr>
          <p:nvPr/>
        </p:nvSpPr>
        <p:spPr>
          <a:xfrm xmlns:a="http://schemas.openxmlformats.org/drawingml/2006/main">
            <a:off x="609600" y="590550"/>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2850" b="1">
                <a:solidFill>
                  <a:srgbClr val="111827"/>
                </a:solidFill>
                <a:latin typeface="Helvetica Neue"/>
                <a:ea typeface="Helvetica Neue"/>
                <a:cs typeface="Helvetica Neue"/>
              </a:defRPr>
            </a:pPr>
            <a:r>
              <a:rPr sz="2850" b="1">
                <a:solidFill>
                  <a:srgbClr val="111827"/>
                </a:solidFill>
                <a:latin typeface="Helvetica Neue"/>
                <a:ea typeface="Helvetica Neue"/>
                <a:cs typeface="Helvetica Neue"/>
              </a:rPr>
              <a:t>A view can separate a stable interface from changing storage</a:t>
            </a:r>
          </a:p>
        </p:txBody>
      </p:sp>
      <p:sp>
        <p:nvSpPr>
          <p:cNvPr id="4" name="">
            <a:extLst xmlns:a="http://schemas.openxmlformats.org/drawingml/2006/main">
              <a:ext uri="{FF2B5EF4-FFF2-40B4-BE49-F238E27FC236}">
                <a16:creationId xmlns:a16="http://schemas.microsoft.com/office/drawing/2014/main" id="{D1DD2D99-FC4F-4EF4-AA2D-5926707F2481}"/>
              </a:ext>
            </a:extLst>
          </p:cNvPr>
          <p:cNvSpPr>
            <a:spLocks xmlns:a="http://schemas.openxmlformats.org/drawingml/2006/main" noGrp="1"/>
          </p:cNvSpPr>
          <p:nvPr/>
        </p:nvSpPr>
        <p:spPr>
          <a:xfrm xmlns:a="http://schemas.openxmlformats.org/drawingml/2006/main">
            <a:off x="609600" y="1295400"/>
            <a:ext cx="1097280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
        <p:nvSpPr>
          <p:cNvPr id="5" name="slide-number">
            <a:extLst xmlns:a="http://schemas.openxmlformats.org/drawingml/2006/main">
              <a:ext uri="{FF2B5EF4-FFF2-40B4-BE49-F238E27FC236}">
                <a16:creationId xmlns:a16="http://schemas.microsoft.com/office/drawing/2014/main" id="{6B8A39A7-A12F-4F77-B29F-D8F393F7E457}"/>
              </a:ext>
            </a:extLst>
          </p:cNvPr>
          <p:cNvSpPr>
            <a:spLocks xmlns:a="http://schemas.openxmlformats.org/drawingml/2006/main" noGrp="1"/>
          </p:cNvSpPr>
          <p:nvPr/>
        </p:nvSpPr>
        <p:spPr>
          <a:xfrm xmlns:a="http://schemas.openxmlformats.org/drawingml/2006/main">
            <a:off x="11144250" y="64865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r">
              <a:defRPr sz="825">
                <a:solidFill>
                  <a:srgbClr val="94A3B8"/>
                </a:solidFill>
                <a:latin typeface="Helvetica Neue"/>
                <a:ea typeface="Helvetica Neue"/>
                <a:cs typeface="Helvetica Neue"/>
              </a:defRPr>
            </a:pPr>
            <a:r>
              <a:rPr sz="825">
                <a:solidFill>
                  <a:srgbClr val="94A3B8"/>
                </a:solidFill>
                <a:latin typeface="Helvetica Neue"/>
                <a:ea typeface="Helvetica Neue"/>
                <a:cs typeface="Helvetica Neue"/>
              </a:rPr>
              <a:t>2</a:t>
            </a:r>
          </a:p>
        </p:txBody>
      </p:sp>
      <p:sp>
        <p:nvSpPr>
          <p:cNvPr id="6" name="primary-claim">
            <a:extLst xmlns:a="http://schemas.openxmlformats.org/drawingml/2006/main">
              <a:ext uri="{FF2B5EF4-FFF2-40B4-BE49-F238E27FC236}">
                <a16:creationId xmlns:a16="http://schemas.microsoft.com/office/drawing/2014/main" id="{929016E0-F104-4937-8191-B753888FE907}"/>
              </a:ext>
            </a:extLst>
          </p:cNvPr>
          <p:cNvSpPr>
            <a:spLocks xmlns:a="http://schemas.openxmlformats.org/drawingml/2006/main" noGrp="1"/>
          </p:cNvSpPr>
          <p:nvPr/>
        </p:nvSpPr>
        <p:spPr>
          <a:xfrm xmlns:a="http://schemas.openxmlformats.org/drawingml/2006/main">
            <a:off x="723900" y="1676400"/>
            <a:ext cx="9906000"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2925" b="1">
                <a:solidFill>
                  <a:srgbClr val="0F766E"/>
                </a:solidFill>
                <a:latin typeface="Helvetica Neue"/>
                <a:ea typeface="Helvetica Neue"/>
                <a:cs typeface="Helvetica Neue"/>
              </a:defRPr>
            </a:pPr>
            <a:r>
              <a:rPr sz="2925" b="1">
                <a:solidFill>
                  <a:srgbClr val="0F766E"/>
                </a:solidFill>
                <a:latin typeface="Helvetica Neue"/>
                <a:ea typeface="Helvetica Neue"/>
                <a:cs typeface="Helvetica Neue"/>
              </a:rPr>
              <a:t>Clients need a contract, not permission to depend on every table detail.</a:t>
            </a:r>
          </a:p>
        </p:txBody>
      </p:sp>
      <p:sp>
        <p:nvSpPr>
          <p:cNvPr id="7" name="">
            <a:extLst xmlns:a="http://schemas.openxmlformats.org/drawingml/2006/main">
              <a:ext uri="{FF2B5EF4-FFF2-40B4-BE49-F238E27FC236}">
                <a16:creationId xmlns:a16="http://schemas.microsoft.com/office/drawing/2014/main" id="{6A2D5B14-F727-4C62-BBCB-782C32F5270B}"/>
              </a:ext>
            </a:extLst>
          </p:cNvPr>
          <p:cNvSpPr>
            <a:spLocks xmlns:a="http://schemas.openxmlformats.org/drawingml/2006/main" noGrp="1"/>
          </p:cNvSpPr>
          <p:nvPr/>
        </p:nvSpPr>
        <p:spPr>
          <a:xfrm xmlns:a="http://schemas.openxmlformats.org/drawingml/2006/main">
            <a:off x="723900" y="3857625"/>
            <a:ext cx="3238500" cy="0"/>
          </a:xfrm>
          <a:prstGeom xmlns:a="http://schemas.openxmlformats.org/drawingml/2006/main" prst="line">
            <a:avLst/>
          </a:prstGeom>
          <a:noFill xmlns:a="http://schemas.openxmlformats.org/drawingml/2006/main"/>
          <a:ln xmlns:a="http://schemas.openxmlformats.org/drawingml/2006/main" w="38100">
            <a:solidFill>
              <a:srgbClr val="0F766E"/>
            </a:solidFill>
            <a:prstDash val="solid"/>
          </a:ln>
        </p:spPr>
      </p:sp>
      <p:sp>
        <p:nvSpPr>
          <p:cNvPr id="8" name="">
            <a:extLst xmlns:a="http://schemas.openxmlformats.org/drawingml/2006/main">
              <a:ext uri="{FF2B5EF4-FFF2-40B4-BE49-F238E27FC236}">
                <a16:creationId xmlns:a16="http://schemas.microsoft.com/office/drawing/2014/main" id="{C9AB3DD3-30C1-4BC1-BA27-98D7E91FF495}"/>
              </a:ext>
            </a:extLst>
          </p:cNvPr>
          <p:cNvSpPr>
            <a:spLocks xmlns:a="http://schemas.openxmlformats.org/drawingml/2006/main" noGrp="1"/>
          </p:cNvSpPr>
          <p:nvPr/>
        </p:nvSpPr>
        <p:spPr>
          <a:xfrm xmlns:a="http://schemas.openxmlformats.org/drawingml/2006/main">
            <a:off x="723900" y="4048125"/>
            <a:ext cx="3238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1125" b="1">
                <a:solidFill>
                  <a:srgbClr val="0F766E"/>
                </a:solidFill>
                <a:latin typeface="Helvetica Neue"/>
                <a:ea typeface="Helvetica Neue"/>
                <a:cs typeface="Helvetica Neue"/>
              </a:defRPr>
            </a:pPr>
            <a:r>
              <a:rPr sz="1125" b="1">
                <a:solidFill>
                  <a:srgbClr val="0F766E"/>
                </a:solidFill>
                <a:latin typeface="Helvetica Neue"/>
                <a:ea typeface="Helvetica Neue"/>
                <a:cs typeface="Helvetica Neue"/>
              </a:rPr>
              <a:t>NAME</a:t>
            </a:r>
          </a:p>
        </p:txBody>
      </p:sp>
      <p:sp>
        <p:nvSpPr>
          <p:cNvPr id="9" name="">
            <a:extLst xmlns:a="http://schemas.openxmlformats.org/drawingml/2006/main">
              <a:ext uri="{FF2B5EF4-FFF2-40B4-BE49-F238E27FC236}">
                <a16:creationId xmlns:a16="http://schemas.microsoft.com/office/drawing/2014/main" id="{317BDDAD-4F72-41DA-9EE0-4DB69F54F66E}"/>
              </a:ext>
            </a:extLst>
          </p:cNvPr>
          <p:cNvSpPr>
            <a:spLocks xmlns:a="http://schemas.openxmlformats.org/drawingml/2006/main" noGrp="1"/>
          </p:cNvSpPr>
          <p:nvPr/>
        </p:nvSpPr>
        <p:spPr>
          <a:xfrm xmlns:a="http://schemas.openxmlformats.org/drawingml/2006/main">
            <a:off x="723900" y="4400550"/>
            <a:ext cx="323850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1500">
                <a:solidFill>
                  <a:srgbClr val="111827"/>
                </a:solidFill>
                <a:latin typeface="Helvetica Neue"/>
                <a:ea typeface="Helvetica Neue"/>
                <a:cs typeface="Helvetica Neue"/>
              </a:defRPr>
            </a:pPr>
            <a:r>
              <a:rPr sz="1500">
                <a:solidFill>
                  <a:srgbClr val="111827"/>
                </a:solidFill>
                <a:latin typeface="Helvetica Neue"/>
                <a:ea typeface="Helvetica Neue"/>
                <a:cs typeface="Helvetica Neue"/>
              </a:rPr>
              <a:t>A view gives a query a reusable database object name.</a:t>
            </a:r>
          </a:p>
        </p:txBody>
      </p:sp>
      <p:sp>
        <p:nvSpPr>
          <p:cNvPr id="10" name="">
            <a:extLst xmlns:a="http://schemas.openxmlformats.org/drawingml/2006/main">
              <a:ext uri="{FF2B5EF4-FFF2-40B4-BE49-F238E27FC236}">
                <a16:creationId xmlns:a16="http://schemas.microsoft.com/office/drawing/2014/main" id="{99A51903-4BDF-411F-BA56-703D16F5A88B}"/>
              </a:ext>
            </a:extLst>
          </p:cNvPr>
          <p:cNvSpPr>
            <a:spLocks xmlns:a="http://schemas.openxmlformats.org/drawingml/2006/main" noGrp="1"/>
          </p:cNvSpPr>
          <p:nvPr/>
        </p:nvSpPr>
        <p:spPr>
          <a:xfrm xmlns:a="http://schemas.openxmlformats.org/drawingml/2006/main">
            <a:off x="4324350" y="3857625"/>
            <a:ext cx="3238500" cy="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sp>
      <p:sp>
        <p:nvSpPr>
          <p:cNvPr id="11" name="">
            <a:extLst xmlns:a="http://schemas.openxmlformats.org/drawingml/2006/main">
              <a:ext uri="{FF2B5EF4-FFF2-40B4-BE49-F238E27FC236}">
                <a16:creationId xmlns:a16="http://schemas.microsoft.com/office/drawing/2014/main" id="{414DDEBD-AB2F-47FC-ABA2-81730627E46E}"/>
              </a:ext>
            </a:extLst>
          </p:cNvPr>
          <p:cNvSpPr>
            <a:spLocks xmlns:a="http://schemas.openxmlformats.org/drawingml/2006/main" noGrp="1"/>
          </p:cNvSpPr>
          <p:nvPr/>
        </p:nvSpPr>
        <p:spPr>
          <a:xfrm xmlns:a="http://schemas.openxmlformats.org/drawingml/2006/main">
            <a:off x="4324350" y="4048125"/>
            <a:ext cx="3238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1125" b="1">
                <a:solidFill>
                  <a:srgbClr val="0F766E"/>
                </a:solidFill>
                <a:latin typeface="Helvetica Neue"/>
                <a:ea typeface="Helvetica Neue"/>
                <a:cs typeface="Helvetica Neue"/>
              </a:defRPr>
            </a:pPr>
            <a:r>
              <a:rPr sz="1125" b="1">
                <a:solidFill>
                  <a:srgbClr val="0F766E"/>
                </a:solidFill>
                <a:latin typeface="Helvetica Neue"/>
                <a:ea typeface="Helvetica Neue"/>
                <a:cs typeface="Helvetica Neue"/>
              </a:rPr>
              <a:t>SHAPE</a:t>
            </a:r>
          </a:p>
        </p:txBody>
      </p:sp>
      <p:sp>
        <p:nvSpPr>
          <p:cNvPr id="12" name="">
            <a:extLst xmlns:a="http://schemas.openxmlformats.org/drawingml/2006/main">
              <a:ext uri="{FF2B5EF4-FFF2-40B4-BE49-F238E27FC236}">
                <a16:creationId xmlns:a16="http://schemas.microsoft.com/office/drawing/2014/main" id="{3FB8B026-0D18-4352-B745-F38B1E525872}"/>
              </a:ext>
            </a:extLst>
          </p:cNvPr>
          <p:cNvSpPr>
            <a:spLocks xmlns:a="http://schemas.openxmlformats.org/drawingml/2006/main" noGrp="1"/>
          </p:cNvSpPr>
          <p:nvPr/>
        </p:nvSpPr>
        <p:spPr>
          <a:xfrm xmlns:a="http://schemas.openxmlformats.org/drawingml/2006/main">
            <a:off x="4324350" y="4400550"/>
            <a:ext cx="323850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1500">
                <a:solidFill>
                  <a:srgbClr val="111827"/>
                </a:solidFill>
                <a:latin typeface="Helvetica Neue"/>
                <a:ea typeface="Helvetica Neue"/>
                <a:cs typeface="Helvetica Neue"/>
              </a:defRPr>
            </a:pPr>
            <a:r>
              <a:rPr sz="1500">
                <a:solidFill>
                  <a:srgbClr val="111827"/>
                </a:solidFill>
                <a:latin typeface="Helvetica Neue"/>
                <a:ea typeface="Helvetica Neue"/>
                <a:cs typeface="Helvetica Neue"/>
              </a:rPr>
              <a:t>Selected columns and aliases define an interface.</a:t>
            </a:r>
          </a:p>
        </p:txBody>
      </p:sp>
      <p:sp>
        <p:nvSpPr>
          <p:cNvPr id="13" name="">
            <a:extLst xmlns:a="http://schemas.openxmlformats.org/drawingml/2006/main">
              <a:ext uri="{FF2B5EF4-FFF2-40B4-BE49-F238E27FC236}">
                <a16:creationId xmlns:a16="http://schemas.microsoft.com/office/drawing/2014/main" id="{D93B71DF-BBCA-4EC0-BE6D-16812289180E}"/>
              </a:ext>
            </a:extLst>
          </p:cNvPr>
          <p:cNvSpPr>
            <a:spLocks xmlns:a="http://schemas.openxmlformats.org/drawingml/2006/main" noGrp="1"/>
          </p:cNvSpPr>
          <p:nvPr/>
        </p:nvSpPr>
        <p:spPr>
          <a:xfrm xmlns:a="http://schemas.openxmlformats.org/drawingml/2006/main">
            <a:off x="7924800" y="3857625"/>
            <a:ext cx="3238500" cy="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sp>
      <p:sp>
        <p:nvSpPr>
          <p:cNvPr id="14" name="">
            <a:extLst xmlns:a="http://schemas.openxmlformats.org/drawingml/2006/main">
              <a:ext uri="{FF2B5EF4-FFF2-40B4-BE49-F238E27FC236}">
                <a16:creationId xmlns:a16="http://schemas.microsoft.com/office/drawing/2014/main" id="{123C962A-FBC2-43BE-B721-58030B286403}"/>
              </a:ext>
            </a:extLst>
          </p:cNvPr>
          <p:cNvSpPr>
            <a:spLocks xmlns:a="http://schemas.openxmlformats.org/drawingml/2006/main" noGrp="1"/>
          </p:cNvSpPr>
          <p:nvPr/>
        </p:nvSpPr>
        <p:spPr>
          <a:xfrm xmlns:a="http://schemas.openxmlformats.org/drawingml/2006/main">
            <a:off x="7924800" y="4048125"/>
            <a:ext cx="3238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1125" b="1">
                <a:solidFill>
                  <a:srgbClr val="0F766E"/>
                </a:solidFill>
                <a:latin typeface="Helvetica Neue"/>
                <a:ea typeface="Helvetica Neue"/>
                <a:cs typeface="Helvetica Neue"/>
              </a:defRPr>
            </a:pPr>
            <a:r>
              <a:rPr sz="1125" b="1">
                <a:solidFill>
                  <a:srgbClr val="0F766E"/>
                </a:solidFill>
                <a:latin typeface="Helvetica Neue"/>
                <a:ea typeface="Helvetica Neue"/>
                <a:cs typeface="Helvetica Neue"/>
              </a:rPr>
              <a:t>BOUNDARY</a:t>
            </a:r>
          </a:p>
        </p:txBody>
      </p:sp>
      <p:sp>
        <p:nvSpPr>
          <p:cNvPr id="15" name="">
            <a:extLst xmlns:a="http://schemas.openxmlformats.org/drawingml/2006/main">
              <a:ext uri="{FF2B5EF4-FFF2-40B4-BE49-F238E27FC236}">
                <a16:creationId xmlns:a16="http://schemas.microsoft.com/office/drawing/2014/main" id="{806D75E0-51C7-419C-B70B-3AD2B5F1AA20}"/>
              </a:ext>
            </a:extLst>
          </p:cNvPr>
          <p:cNvSpPr>
            <a:spLocks xmlns:a="http://schemas.openxmlformats.org/drawingml/2006/main" noGrp="1"/>
          </p:cNvSpPr>
          <p:nvPr/>
        </p:nvSpPr>
        <p:spPr>
          <a:xfrm xmlns:a="http://schemas.openxmlformats.org/drawingml/2006/main">
            <a:off x="7924800" y="4400550"/>
            <a:ext cx="323850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1500">
                <a:solidFill>
                  <a:srgbClr val="111827"/>
                </a:solidFill>
                <a:latin typeface="Helvetica Neue"/>
                <a:ea typeface="Helvetica Neue"/>
                <a:cs typeface="Helvetica Neue"/>
              </a:defRPr>
            </a:pPr>
            <a:r>
              <a:rPr sz="1500">
                <a:solidFill>
                  <a:srgbClr val="111827"/>
                </a:solidFill>
                <a:latin typeface="Helvetica Neue"/>
                <a:ea typeface="Helvetica Neue"/>
                <a:cs typeface="Helvetica Neue"/>
              </a:rPr>
              <a:t>Permissions and dependencies can target the view instead of base tables.</a:t>
            </a:r>
          </a:p>
        </p:txBody>
      </p:sp>
    </p:spTree>
    <p:extLst>
      <p:ext uri="{BB962C8B-B14F-4D97-AF65-F5344CB8AC3E}">
        <p14:creationId xmlns:p14="http://schemas.microsoft.com/office/powerpoint/2010/main" val="284384996"/>
      </p:ext>
    </p:extLst>
  </p:cSld>
</p:sld>
</file>

<file path=ppt/slides/slide3.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38183B31-36AC-4A0B-8483-49BCD415E356}"/>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CFCFA"/>
          </a:solidFill>
          <a:ln xmlns:a="http://schemas.openxmlformats.org/drawingml/2006/main" w="0">
            <a:solidFill>
              <a:srgbClr val="FCFCFA"/>
            </a:solidFill>
            <a:prstDash val="solid"/>
          </a:ln>
        </p:spPr>
      </p:sp>
      <p:sp>
        <p:nvSpPr>
          <p:cNvPr id="2" name="eyebrow">
            <a:extLst xmlns:a="http://schemas.openxmlformats.org/drawingml/2006/main">
              <a:ext uri="{FF2B5EF4-FFF2-40B4-BE49-F238E27FC236}">
                <a16:creationId xmlns:a16="http://schemas.microsoft.com/office/drawing/2014/main" id="{94FBC9AB-9AF2-4F94-BC49-7B2397DA21F9}"/>
              </a:ext>
            </a:extLst>
          </p:cNvPr>
          <p:cNvSpPr>
            <a:spLocks xmlns:a="http://schemas.openxmlformats.org/drawingml/2006/main" noGrp="1"/>
          </p:cNvSpPr>
          <p:nvPr/>
        </p:nvSpPr>
        <p:spPr>
          <a:xfrm xmlns:a="http://schemas.openxmlformats.org/drawingml/2006/main">
            <a:off x="609600" y="295275"/>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975" b="1">
                <a:solidFill>
                  <a:srgbClr val="0F766E"/>
                </a:solidFill>
                <a:latin typeface="Helvetica Neue"/>
                <a:ea typeface="Helvetica Neue"/>
                <a:cs typeface="Helvetica Neue"/>
              </a:defRPr>
            </a:pPr>
            <a:r>
              <a:rPr sz="975" b="1">
                <a:solidFill>
                  <a:srgbClr val="0F766E"/>
                </a:solidFill>
                <a:latin typeface="Helvetica Neue"/>
                <a:ea typeface="Helvetica Neue"/>
                <a:cs typeface="Helvetica Neue"/>
              </a:rPr>
              <a:t>WEEK 04  /  CST4714</a:t>
            </a:r>
          </a:p>
        </p:txBody>
      </p:sp>
      <p:sp>
        <p:nvSpPr>
          <p:cNvPr id="3" name="slide-title">
            <a:extLst xmlns:a="http://schemas.openxmlformats.org/drawingml/2006/main">
              <a:ext uri="{FF2B5EF4-FFF2-40B4-BE49-F238E27FC236}">
                <a16:creationId xmlns:a16="http://schemas.microsoft.com/office/drawing/2014/main" id="{3700D3B4-A1E5-469B-90A7-B5F0C6350066}"/>
              </a:ext>
            </a:extLst>
          </p:cNvPr>
          <p:cNvSpPr>
            <a:spLocks xmlns:a="http://schemas.openxmlformats.org/drawingml/2006/main" noGrp="1"/>
          </p:cNvSpPr>
          <p:nvPr/>
        </p:nvSpPr>
        <p:spPr>
          <a:xfrm xmlns:a="http://schemas.openxmlformats.org/drawingml/2006/main">
            <a:off x="609600" y="590550"/>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2850" b="1">
                <a:solidFill>
                  <a:srgbClr val="111827"/>
                </a:solidFill>
                <a:latin typeface="Helvetica Neue"/>
                <a:ea typeface="Helvetica Neue"/>
                <a:cs typeface="Helvetica Neue"/>
              </a:defRPr>
            </a:pPr>
            <a:r>
              <a:rPr sz="2850" b="1">
                <a:solidFill>
                  <a:srgbClr val="111827"/>
                </a:solidFill>
                <a:latin typeface="Helvetica Neue"/>
                <a:ea typeface="Helvetica Neue"/>
                <a:cs typeface="Helvetica Neue"/>
              </a:rPr>
              <a:t>Identity changes what the same SQL is allowed to do</a:t>
            </a:r>
          </a:p>
        </p:txBody>
      </p:sp>
      <p:sp>
        <p:nvSpPr>
          <p:cNvPr id="4" name="">
            <a:extLst xmlns:a="http://schemas.openxmlformats.org/drawingml/2006/main">
              <a:ext uri="{FF2B5EF4-FFF2-40B4-BE49-F238E27FC236}">
                <a16:creationId xmlns:a16="http://schemas.microsoft.com/office/drawing/2014/main" id="{BE0A7DFE-10BF-40D3-A292-544DE4FA8649}"/>
              </a:ext>
            </a:extLst>
          </p:cNvPr>
          <p:cNvSpPr>
            <a:spLocks xmlns:a="http://schemas.openxmlformats.org/drawingml/2006/main" noGrp="1"/>
          </p:cNvSpPr>
          <p:nvPr/>
        </p:nvSpPr>
        <p:spPr>
          <a:xfrm xmlns:a="http://schemas.openxmlformats.org/drawingml/2006/main">
            <a:off x="609600" y="1295400"/>
            <a:ext cx="1097280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
        <p:nvSpPr>
          <p:cNvPr id="5" name="slide-number">
            <a:extLst xmlns:a="http://schemas.openxmlformats.org/drawingml/2006/main">
              <a:ext uri="{FF2B5EF4-FFF2-40B4-BE49-F238E27FC236}">
                <a16:creationId xmlns:a16="http://schemas.microsoft.com/office/drawing/2014/main" id="{43197406-F800-4157-BDB1-D8564755FE51}"/>
              </a:ext>
            </a:extLst>
          </p:cNvPr>
          <p:cNvSpPr>
            <a:spLocks xmlns:a="http://schemas.openxmlformats.org/drawingml/2006/main" noGrp="1"/>
          </p:cNvSpPr>
          <p:nvPr/>
        </p:nvSpPr>
        <p:spPr>
          <a:xfrm xmlns:a="http://schemas.openxmlformats.org/drawingml/2006/main">
            <a:off x="11144250" y="64865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r">
              <a:defRPr sz="825">
                <a:solidFill>
                  <a:srgbClr val="94A3B8"/>
                </a:solidFill>
                <a:latin typeface="Helvetica Neue"/>
                <a:ea typeface="Helvetica Neue"/>
                <a:cs typeface="Helvetica Neue"/>
              </a:defRPr>
            </a:pPr>
            <a:r>
              <a:rPr sz="825">
                <a:solidFill>
                  <a:srgbClr val="94A3B8"/>
                </a:solidFill>
                <a:latin typeface="Helvetica Neue"/>
                <a:ea typeface="Helvetica Neue"/>
                <a:cs typeface="Helvetica Neue"/>
              </a:rPr>
              <a:t>3</a:t>
            </a:r>
          </a:p>
        </p:txBody>
      </p:sp>
      <p:sp>
        <p:nvSpPr>
          <p:cNvPr id="6" name="">
            <a:extLst xmlns:a="http://schemas.openxmlformats.org/drawingml/2006/main">
              <a:ext uri="{FF2B5EF4-FFF2-40B4-BE49-F238E27FC236}">
                <a16:creationId xmlns:a16="http://schemas.microsoft.com/office/drawing/2014/main" id="{FE2124C1-4966-4246-AAB9-640353105C87}"/>
              </a:ext>
            </a:extLst>
          </p:cNvPr>
          <p:cNvSpPr>
            <a:spLocks xmlns:a="http://schemas.openxmlformats.org/drawingml/2006/main" noGrp="1"/>
          </p:cNvSpPr>
          <p:nvPr/>
        </p:nvSpPr>
        <p:spPr>
          <a:xfrm xmlns:a="http://schemas.openxmlformats.org/drawingml/2006/main">
            <a:off x="723900" y="1676400"/>
            <a:ext cx="4762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1950" b="1">
                <a:solidFill>
                  <a:srgbClr val="0F766E"/>
                </a:solidFill>
                <a:latin typeface="Helvetica Neue"/>
                <a:ea typeface="Helvetica Neue"/>
                <a:cs typeface="Helvetica Neue"/>
              </a:defRPr>
            </a:pPr>
            <a:r>
              <a:rPr sz="1950" b="1">
                <a:solidFill>
                  <a:srgbClr val="0F766E"/>
                </a:solidFill>
                <a:latin typeface="Helvetica Neue"/>
                <a:ea typeface="Helvetica Neue"/>
                <a:cs typeface="Helvetica Neue"/>
              </a:rPr>
              <a:t>Administrative context</a:t>
            </a:r>
          </a:p>
        </p:txBody>
      </p:sp>
      <p:sp>
        <p:nvSpPr>
          <p:cNvPr id="7" name="">
            <a:extLst xmlns:a="http://schemas.openxmlformats.org/drawingml/2006/main">
              <a:ext uri="{FF2B5EF4-FFF2-40B4-BE49-F238E27FC236}">
                <a16:creationId xmlns:a16="http://schemas.microsoft.com/office/drawing/2014/main" id="{1AB9C327-0F02-49DD-9574-DB291276C3ED}"/>
              </a:ext>
            </a:extLst>
          </p:cNvPr>
          <p:cNvSpPr>
            <a:spLocks xmlns:a="http://schemas.openxmlformats.org/drawingml/2006/main" noGrp="1"/>
          </p:cNvSpPr>
          <p:nvPr/>
        </p:nvSpPr>
        <p:spPr>
          <a:xfrm xmlns:a="http://schemas.openxmlformats.org/drawingml/2006/main">
            <a:off x="6705600" y="1676400"/>
            <a:ext cx="4762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1950" b="1">
                <a:solidFill>
                  <a:srgbClr val="111827"/>
                </a:solidFill>
                <a:latin typeface="Helvetica Neue"/>
                <a:ea typeface="Helvetica Neue"/>
                <a:cs typeface="Helvetica Neue"/>
              </a:defRPr>
            </a:pPr>
            <a:r>
              <a:rPr sz="1950" b="1">
                <a:solidFill>
                  <a:srgbClr val="111827"/>
                </a:solidFill>
                <a:latin typeface="Helvetica Neue"/>
                <a:ea typeface="Helvetica Neue"/>
                <a:cs typeface="Helvetica Neue"/>
              </a:rPr>
              <a:t>Application context</a:t>
            </a:r>
          </a:p>
        </p:txBody>
      </p:sp>
      <p:sp>
        <p:nvSpPr>
          <p:cNvPr id="8" name="">
            <a:extLst xmlns:a="http://schemas.openxmlformats.org/drawingml/2006/main">
              <a:ext uri="{FF2B5EF4-FFF2-40B4-BE49-F238E27FC236}">
                <a16:creationId xmlns:a16="http://schemas.microsoft.com/office/drawing/2014/main" id="{D2676A09-B079-4644-B4F0-99F87AA6AD84}"/>
              </a:ext>
            </a:extLst>
          </p:cNvPr>
          <p:cNvSpPr>
            <a:spLocks xmlns:a="http://schemas.openxmlformats.org/drawingml/2006/main" noGrp="1"/>
          </p:cNvSpPr>
          <p:nvPr/>
        </p:nvSpPr>
        <p:spPr>
          <a:xfrm xmlns:a="http://schemas.openxmlformats.org/drawingml/2006/main">
            <a:off x="6096000" y="1638300"/>
            <a:ext cx="0" cy="430530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sp>
      <p:sp>
        <p:nvSpPr>
          <p:cNvPr id="9" name="">
            <a:extLst xmlns:a="http://schemas.openxmlformats.org/drawingml/2006/main">
              <a:ext uri="{FF2B5EF4-FFF2-40B4-BE49-F238E27FC236}">
                <a16:creationId xmlns:a16="http://schemas.microsoft.com/office/drawing/2014/main" id="{BA620814-4433-45DF-A01D-68D109396A40}"/>
              </a:ext>
            </a:extLst>
          </p:cNvPr>
          <p:cNvSpPr>
            <a:spLocks xmlns:a="http://schemas.openxmlformats.org/drawingml/2006/main" noGrp="1"/>
          </p:cNvSpPr>
          <p:nvPr/>
        </p:nvSpPr>
        <p:spPr>
          <a:xfrm xmlns:a="http://schemas.openxmlformats.org/drawingml/2006/main">
            <a:off x="762000" y="2400300"/>
            <a:ext cx="85725" cy="304800"/>
          </a:xfrm>
          <a:prstGeom xmlns:a="http://schemas.openxmlformats.org/drawingml/2006/main" prst="rect">
            <a:avLst/>
          </a:prstGeom>
          <a:solidFill xmlns:a="http://schemas.openxmlformats.org/drawingml/2006/main">
            <a:srgbClr val="0F766E"/>
          </a:solidFill>
          <a:ln xmlns:a="http://schemas.openxmlformats.org/drawingml/2006/main" w="0">
            <a:solidFill>
              <a:srgbClr val="0F766E"/>
            </a:solidFill>
            <a:prstDash val="solid"/>
          </a:ln>
        </p:spPr>
      </p:sp>
      <p:sp>
        <p:nvSpPr>
          <p:cNvPr id="10" name="">
            <a:extLst xmlns:a="http://schemas.openxmlformats.org/drawingml/2006/main">
              <a:ext uri="{FF2B5EF4-FFF2-40B4-BE49-F238E27FC236}">
                <a16:creationId xmlns:a16="http://schemas.microsoft.com/office/drawing/2014/main" id="{AB90CD29-EAE9-433D-BD26-FE6CAC0B01E9}"/>
              </a:ext>
            </a:extLst>
          </p:cNvPr>
          <p:cNvSpPr>
            <a:spLocks xmlns:a="http://schemas.openxmlformats.org/drawingml/2006/main" noGrp="1"/>
          </p:cNvSpPr>
          <p:nvPr/>
        </p:nvSpPr>
        <p:spPr>
          <a:xfrm xmlns:a="http://schemas.openxmlformats.org/drawingml/2006/main">
            <a:off x="1028700" y="2343150"/>
            <a:ext cx="4495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1575">
                <a:solidFill>
                  <a:srgbClr val="111827"/>
                </a:solidFill>
                <a:latin typeface="Helvetica Neue"/>
                <a:ea typeface="Helvetica Neue"/>
                <a:cs typeface="Helvetica Neue"/>
              </a:defRPr>
            </a:pPr>
            <a:r>
              <a:rPr sz="1575">
                <a:solidFill>
                  <a:srgbClr val="111827"/>
                </a:solidFill>
                <a:latin typeface="Helvetica Neue"/>
                <a:ea typeface="Helvetica Neue"/>
                <a:cs typeface="Helvetica Neue"/>
              </a:rPr>
              <a:t>May own objects or hold broad privileges</a:t>
            </a:r>
          </a:p>
        </p:txBody>
      </p:sp>
      <p:sp>
        <p:nvSpPr>
          <p:cNvPr id="11" name="">
            <a:extLst xmlns:a="http://schemas.openxmlformats.org/drawingml/2006/main">
              <a:ext uri="{FF2B5EF4-FFF2-40B4-BE49-F238E27FC236}">
                <a16:creationId xmlns:a16="http://schemas.microsoft.com/office/drawing/2014/main" id="{85DC89F5-DD67-417E-8366-C0E92D773318}"/>
              </a:ext>
            </a:extLst>
          </p:cNvPr>
          <p:cNvSpPr>
            <a:spLocks xmlns:a="http://schemas.openxmlformats.org/drawingml/2006/main" noGrp="1"/>
          </p:cNvSpPr>
          <p:nvPr/>
        </p:nvSpPr>
        <p:spPr>
          <a:xfrm xmlns:a="http://schemas.openxmlformats.org/drawingml/2006/main">
            <a:off x="762000" y="3143250"/>
            <a:ext cx="85725" cy="304800"/>
          </a:xfrm>
          <a:prstGeom xmlns:a="http://schemas.openxmlformats.org/drawingml/2006/main" prst="rect">
            <a:avLst/>
          </a:prstGeom>
          <a:solidFill xmlns:a="http://schemas.openxmlformats.org/drawingml/2006/main">
            <a:srgbClr val="0F766E"/>
          </a:solidFill>
          <a:ln xmlns:a="http://schemas.openxmlformats.org/drawingml/2006/main" w="0">
            <a:solidFill>
              <a:srgbClr val="0F766E"/>
            </a:solidFill>
            <a:prstDash val="solid"/>
          </a:ln>
        </p:spPr>
      </p:sp>
      <p:sp>
        <p:nvSpPr>
          <p:cNvPr id="12" name="">
            <a:extLst xmlns:a="http://schemas.openxmlformats.org/drawingml/2006/main">
              <a:ext uri="{FF2B5EF4-FFF2-40B4-BE49-F238E27FC236}">
                <a16:creationId xmlns:a16="http://schemas.microsoft.com/office/drawing/2014/main" id="{429EC29C-E673-4CF9-BFFD-0E2C92D89E03}"/>
              </a:ext>
            </a:extLst>
          </p:cNvPr>
          <p:cNvSpPr>
            <a:spLocks xmlns:a="http://schemas.openxmlformats.org/drawingml/2006/main" noGrp="1"/>
          </p:cNvSpPr>
          <p:nvPr/>
        </p:nvSpPr>
        <p:spPr>
          <a:xfrm xmlns:a="http://schemas.openxmlformats.org/drawingml/2006/main">
            <a:off x="1028700" y="3086100"/>
            <a:ext cx="4495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1575">
                <a:solidFill>
                  <a:srgbClr val="111827"/>
                </a:solidFill>
                <a:latin typeface="Helvetica Neue"/>
                <a:ea typeface="Helvetica Neue"/>
                <a:cs typeface="Helvetica Neue"/>
              </a:defRPr>
            </a:pPr>
            <a:r>
              <a:rPr sz="1575">
                <a:solidFill>
                  <a:srgbClr val="111827"/>
                </a:solidFill>
                <a:latin typeface="Helvetica Neue"/>
                <a:ea typeface="Helvetica Neue"/>
                <a:cs typeface="Helvetica Neue"/>
              </a:rPr>
              <a:t>Can bypass restrictions that ordinary clients face</a:t>
            </a:r>
          </a:p>
        </p:txBody>
      </p:sp>
      <p:sp>
        <p:nvSpPr>
          <p:cNvPr id="13" name="">
            <a:extLst xmlns:a="http://schemas.openxmlformats.org/drawingml/2006/main">
              <a:ext uri="{FF2B5EF4-FFF2-40B4-BE49-F238E27FC236}">
                <a16:creationId xmlns:a16="http://schemas.microsoft.com/office/drawing/2014/main" id="{699C7287-743D-4625-8220-6477412F678F}"/>
              </a:ext>
            </a:extLst>
          </p:cNvPr>
          <p:cNvSpPr>
            <a:spLocks xmlns:a="http://schemas.openxmlformats.org/drawingml/2006/main" noGrp="1"/>
          </p:cNvSpPr>
          <p:nvPr/>
        </p:nvSpPr>
        <p:spPr>
          <a:xfrm xmlns:a="http://schemas.openxmlformats.org/drawingml/2006/main">
            <a:off x="762000" y="3886200"/>
            <a:ext cx="85725" cy="304800"/>
          </a:xfrm>
          <a:prstGeom xmlns:a="http://schemas.openxmlformats.org/drawingml/2006/main" prst="rect">
            <a:avLst/>
          </a:prstGeom>
          <a:solidFill xmlns:a="http://schemas.openxmlformats.org/drawingml/2006/main">
            <a:srgbClr val="0F766E"/>
          </a:solidFill>
          <a:ln xmlns:a="http://schemas.openxmlformats.org/drawingml/2006/main" w="0">
            <a:solidFill>
              <a:srgbClr val="0F766E"/>
            </a:solidFill>
            <a:prstDash val="solid"/>
          </a:ln>
        </p:spPr>
      </p:sp>
      <p:sp>
        <p:nvSpPr>
          <p:cNvPr id="14" name="">
            <a:extLst xmlns:a="http://schemas.openxmlformats.org/drawingml/2006/main">
              <a:ext uri="{FF2B5EF4-FFF2-40B4-BE49-F238E27FC236}">
                <a16:creationId xmlns:a16="http://schemas.microsoft.com/office/drawing/2014/main" id="{2B628D2C-D2D5-481D-B1E5-035842285243}"/>
              </a:ext>
            </a:extLst>
          </p:cNvPr>
          <p:cNvSpPr>
            <a:spLocks xmlns:a="http://schemas.openxmlformats.org/drawingml/2006/main" noGrp="1"/>
          </p:cNvSpPr>
          <p:nvPr/>
        </p:nvSpPr>
        <p:spPr>
          <a:xfrm xmlns:a="http://schemas.openxmlformats.org/drawingml/2006/main">
            <a:off x="1028700" y="3829050"/>
            <a:ext cx="4495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1575">
                <a:solidFill>
                  <a:srgbClr val="111827"/>
                </a:solidFill>
                <a:latin typeface="Helvetica Neue"/>
                <a:ea typeface="Helvetica Neue"/>
                <a:cs typeface="Helvetica Neue"/>
              </a:defRPr>
            </a:pPr>
            <a:r>
              <a:rPr sz="1575">
                <a:solidFill>
                  <a:srgbClr val="111827"/>
                </a:solidFill>
                <a:latin typeface="Helvetica Neue"/>
                <a:ea typeface="Helvetica Neue"/>
                <a:cs typeface="Helvetica Neue"/>
              </a:rPr>
              <a:t>Useful for setup, weak as application-access evidence</a:t>
            </a:r>
          </a:p>
        </p:txBody>
      </p:sp>
      <p:sp>
        <p:nvSpPr>
          <p:cNvPr id="15" name="">
            <a:extLst xmlns:a="http://schemas.openxmlformats.org/drawingml/2006/main">
              <a:ext uri="{FF2B5EF4-FFF2-40B4-BE49-F238E27FC236}">
                <a16:creationId xmlns:a16="http://schemas.microsoft.com/office/drawing/2014/main" id="{8DA1C01D-4EDE-4512-A0FD-0FB7F44E4C33}"/>
              </a:ext>
            </a:extLst>
          </p:cNvPr>
          <p:cNvSpPr>
            <a:spLocks xmlns:a="http://schemas.openxmlformats.org/drawingml/2006/main" noGrp="1"/>
          </p:cNvSpPr>
          <p:nvPr/>
        </p:nvSpPr>
        <p:spPr>
          <a:xfrm xmlns:a="http://schemas.openxmlformats.org/drawingml/2006/main">
            <a:off x="6743700" y="2400300"/>
            <a:ext cx="85725" cy="304800"/>
          </a:xfrm>
          <a:prstGeom xmlns:a="http://schemas.openxmlformats.org/drawingml/2006/main" prst="rect">
            <a:avLst/>
          </a:prstGeom>
          <a:solidFill xmlns:a="http://schemas.openxmlformats.org/drawingml/2006/main">
            <a:srgbClr val="475569"/>
          </a:solidFill>
          <a:ln xmlns:a="http://schemas.openxmlformats.org/drawingml/2006/main" w="0">
            <a:solidFill>
              <a:srgbClr val="475569"/>
            </a:solidFill>
            <a:prstDash val="solid"/>
          </a:ln>
        </p:spPr>
      </p:sp>
      <p:sp>
        <p:nvSpPr>
          <p:cNvPr id="16" name="">
            <a:extLst xmlns:a="http://schemas.openxmlformats.org/drawingml/2006/main">
              <a:ext uri="{FF2B5EF4-FFF2-40B4-BE49-F238E27FC236}">
                <a16:creationId xmlns:a16="http://schemas.microsoft.com/office/drawing/2014/main" id="{2F08483E-9CA6-4723-9E1C-BEADDD59446A}"/>
              </a:ext>
            </a:extLst>
          </p:cNvPr>
          <p:cNvSpPr>
            <a:spLocks xmlns:a="http://schemas.openxmlformats.org/drawingml/2006/main" noGrp="1"/>
          </p:cNvSpPr>
          <p:nvPr/>
        </p:nvSpPr>
        <p:spPr>
          <a:xfrm xmlns:a="http://schemas.openxmlformats.org/drawingml/2006/main">
            <a:off x="7010400" y="2343150"/>
            <a:ext cx="4495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1575">
                <a:solidFill>
                  <a:srgbClr val="111827"/>
                </a:solidFill>
                <a:latin typeface="Helvetica Neue"/>
                <a:ea typeface="Helvetica Neue"/>
                <a:cs typeface="Helvetica Neue"/>
              </a:defRPr>
            </a:pPr>
            <a:r>
              <a:rPr sz="1575">
                <a:solidFill>
                  <a:srgbClr val="111827"/>
                </a:solidFill>
                <a:latin typeface="Helvetica Neue"/>
                <a:ea typeface="Helvetica Neue"/>
                <a:cs typeface="Helvetica Neue"/>
              </a:rPr>
              <a:t>Uses a specific role or token-derived identity</a:t>
            </a:r>
          </a:p>
        </p:txBody>
      </p:sp>
      <p:sp>
        <p:nvSpPr>
          <p:cNvPr id="17" name="">
            <a:extLst xmlns:a="http://schemas.openxmlformats.org/drawingml/2006/main">
              <a:ext uri="{FF2B5EF4-FFF2-40B4-BE49-F238E27FC236}">
                <a16:creationId xmlns:a16="http://schemas.microsoft.com/office/drawing/2014/main" id="{D90D405F-1821-4F4B-B223-35F1405D51B4}"/>
              </a:ext>
            </a:extLst>
          </p:cNvPr>
          <p:cNvSpPr>
            <a:spLocks xmlns:a="http://schemas.openxmlformats.org/drawingml/2006/main" noGrp="1"/>
          </p:cNvSpPr>
          <p:nvPr/>
        </p:nvSpPr>
        <p:spPr>
          <a:xfrm xmlns:a="http://schemas.openxmlformats.org/drawingml/2006/main">
            <a:off x="6743700" y="3143250"/>
            <a:ext cx="85725" cy="304800"/>
          </a:xfrm>
          <a:prstGeom xmlns:a="http://schemas.openxmlformats.org/drawingml/2006/main" prst="rect">
            <a:avLst/>
          </a:prstGeom>
          <a:solidFill xmlns:a="http://schemas.openxmlformats.org/drawingml/2006/main">
            <a:srgbClr val="475569"/>
          </a:solidFill>
          <a:ln xmlns:a="http://schemas.openxmlformats.org/drawingml/2006/main" w="0">
            <a:solidFill>
              <a:srgbClr val="475569"/>
            </a:solidFill>
            <a:prstDash val="solid"/>
          </a:ln>
        </p:spPr>
      </p:sp>
      <p:sp>
        <p:nvSpPr>
          <p:cNvPr id="18" name="">
            <a:extLst xmlns:a="http://schemas.openxmlformats.org/drawingml/2006/main">
              <a:ext uri="{FF2B5EF4-FFF2-40B4-BE49-F238E27FC236}">
                <a16:creationId xmlns:a16="http://schemas.microsoft.com/office/drawing/2014/main" id="{AB59F19E-3FC7-4370-B295-73BB2A52ED63}"/>
              </a:ext>
            </a:extLst>
          </p:cNvPr>
          <p:cNvSpPr>
            <a:spLocks xmlns:a="http://schemas.openxmlformats.org/drawingml/2006/main" noGrp="1"/>
          </p:cNvSpPr>
          <p:nvPr/>
        </p:nvSpPr>
        <p:spPr>
          <a:xfrm xmlns:a="http://schemas.openxmlformats.org/drawingml/2006/main">
            <a:off x="7010400" y="3086100"/>
            <a:ext cx="4495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1575">
                <a:solidFill>
                  <a:srgbClr val="111827"/>
                </a:solidFill>
                <a:latin typeface="Helvetica Neue"/>
                <a:ea typeface="Helvetica Neue"/>
                <a:cs typeface="Helvetica Neue"/>
              </a:defRPr>
            </a:pPr>
            <a:r>
              <a:rPr sz="1575">
                <a:solidFill>
                  <a:srgbClr val="111827"/>
                </a:solidFill>
                <a:latin typeface="Helvetica Neue"/>
                <a:ea typeface="Helvetica Neue"/>
                <a:cs typeface="Helvetica Neue"/>
              </a:rPr>
              <a:t>Receives only granted operations and policy-visible rows</a:t>
            </a:r>
          </a:p>
        </p:txBody>
      </p:sp>
      <p:sp>
        <p:nvSpPr>
          <p:cNvPr id="19" name="">
            <a:extLst xmlns:a="http://schemas.openxmlformats.org/drawingml/2006/main">
              <a:ext uri="{FF2B5EF4-FFF2-40B4-BE49-F238E27FC236}">
                <a16:creationId xmlns:a16="http://schemas.microsoft.com/office/drawing/2014/main" id="{71CDBEE9-BDDE-4445-9942-D6125E790E75}"/>
              </a:ext>
            </a:extLst>
          </p:cNvPr>
          <p:cNvSpPr>
            <a:spLocks xmlns:a="http://schemas.openxmlformats.org/drawingml/2006/main" noGrp="1"/>
          </p:cNvSpPr>
          <p:nvPr/>
        </p:nvSpPr>
        <p:spPr>
          <a:xfrm xmlns:a="http://schemas.openxmlformats.org/drawingml/2006/main">
            <a:off x="6743700" y="3886200"/>
            <a:ext cx="85725" cy="304800"/>
          </a:xfrm>
          <a:prstGeom xmlns:a="http://schemas.openxmlformats.org/drawingml/2006/main" prst="rect">
            <a:avLst/>
          </a:prstGeom>
          <a:solidFill xmlns:a="http://schemas.openxmlformats.org/drawingml/2006/main">
            <a:srgbClr val="475569"/>
          </a:solidFill>
          <a:ln xmlns:a="http://schemas.openxmlformats.org/drawingml/2006/main" w="0">
            <a:solidFill>
              <a:srgbClr val="475569"/>
            </a:solidFill>
            <a:prstDash val="solid"/>
          </a:ln>
        </p:spPr>
      </p:sp>
      <p:sp>
        <p:nvSpPr>
          <p:cNvPr id="20" name="">
            <a:extLst xmlns:a="http://schemas.openxmlformats.org/drawingml/2006/main">
              <a:ext uri="{FF2B5EF4-FFF2-40B4-BE49-F238E27FC236}">
                <a16:creationId xmlns:a16="http://schemas.microsoft.com/office/drawing/2014/main" id="{4966E86E-C7A8-4F5C-8FB6-744818EC6645}"/>
              </a:ext>
            </a:extLst>
          </p:cNvPr>
          <p:cNvSpPr>
            <a:spLocks xmlns:a="http://schemas.openxmlformats.org/drawingml/2006/main" noGrp="1"/>
          </p:cNvSpPr>
          <p:nvPr/>
        </p:nvSpPr>
        <p:spPr>
          <a:xfrm xmlns:a="http://schemas.openxmlformats.org/drawingml/2006/main">
            <a:off x="7010400" y="3829050"/>
            <a:ext cx="4495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1575">
                <a:solidFill>
                  <a:srgbClr val="111827"/>
                </a:solidFill>
                <a:latin typeface="Helvetica Neue"/>
                <a:ea typeface="Helvetica Neue"/>
                <a:cs typeface="Helvetica Neue"/>
              </a:defRPr>
            </a:pPr>
            <a:r>
              <a:rPr sz="1575">
                <a:solidFill>
                  <a:srgbClr val="111827"/>
                </a:solidFill>
                <a:latin typeface="Helvetica Neue"/>
                <a:ea typeface="Helvetica Neue"/>
                <a:cs typeface="Helvetica Neue"/>
              </a:rPr>
              <a:t>Must be tested through its real boundary</a:t>
            </a:r>
          </a:p>
        </p:txBody>
      </p:sp>
    </p:spTree>
    <p:extLst>
      <p:ext uri="{BB962C8B-B14F-4D97-AF65-F5344CB8AC3E}">
        <p14:creationId xmlns:p14="http://schemas.microsoft.com/office/powerpoint/2010/main" val="107354751"/>
      </p:ext>
    </p:extLst>
  </p:cSld>
</p:sld>
</file>

<file path=ppt/slides/slide4.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1895E548-E07B-4F15-9F26-E4A5A1833A6F}"/>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CFCFA"/>
          </a:solidFill>
          <a:ln xmlns:a="http://schemas.openxmlformats.org/drawingml/2006/main" w="0">
            <a:solidFill>
              <a:srgbClr val="FCFCFA"/>
            </a:solidFill>
            <a:prstDash val="solid"/>
          </a:ln>
        </p:spPr>
      </p:sp>
      <p:sp>
        <p:nvSpPr>
          <p:cNvPr id="2" name="eyebrow">
            <a:extLst xmlns:a="http://schemas.openxmlformats.org/drawingml/2006/main">
              <a:ext uri="{FF2B5EF4-FFF2-40B4-BE49-F238E27FC236}">
                <a16:creationId xmlns:a16="http://schemas.microsoft.com/office/drawing/2014/main" id="{DC66BF8F-0F69-43BD-B7C0-F666FE454CD8}"/>
              </a:ext>
            </a:extLst>
          </p:cNvPr>
          <p:cNvSpPr>
            <a:spLocks xmlns:a="http://schemas.openxmlformats.org/drawingml/2006/main" noGrp="1"/>
          </p:cNvSpPr>
          <p:nvPr/>
        </p:nvSpPr>
        <p:spPr>
          <a:xfrm xmlns:a="http://schemas.openxmlformats.org/drawingml/2006/main">
            <a:off x="609600" y="295275"/>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975" b="1">
                <a:solidFill>
                  <a:srgbClr val="0F766E"/>
                </a:solidFill>
                <a:latin typeface="Helvetica Neue"/>
                <a:ea typeface="Helvetica Neue"/>
                <a:cs typeface="Helvetica Neue"/>
              </a:defRPr>
            </a:pPr>
            <a:r>
              <a:rPr sz="975" b="1">
                <a:solidFill>
                  <a:srgbClr val="0F766E"/>
                </a:solidFill>
                <a:latin typeface="Helvetica Neue"/>
                <a:ea typeface="Helvetica Neue"/>
                <a:cs typeface="Helvetica Neue"/>
              </a:rPr>
              <a:t>WEEK 04  /  CST4714</a:t>
            </a:r>
          </a:p>
        </p:txBody>
      </p:sp>
      <p:sp>
        <p:nvSpPr>
          <p:cNvPr id="3" name="slide-title">
            <a:extLst xmlns:a="http://schemas.openxmlformats.org/drawingml/2006/main">
              <a:ext uri="{FF2B5EF4-FFF2-40B4-BE49-F238E27FC236}">
                <a16:creationId xmlns:a16="http://schemas.microsoft.com/office/drawing/2014/main" id="{85F3B3D8-CF90-4CD2-B637-89282AE32DCB}"/>
              </a:ext>
            </a:extLst>
          </p:cNvPr>
          <p:cNvSpPr>
            <a:spLocks xmlns:a="http://schemas.openxmlformats.org/drawingml/2006/main" noGrp="1"/>
          </p:cNvSpPr>
          <p:nvPr/>
        </p:nvSpPr>
        <p:spPr>
          <a:xfrm xmlns:a="http://schemas.openxmlformats.org/drawingml/2006/main">
            <a:off x="609600" y="590550"/>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2850" b="1">
                <a:solidFill>
                  <a:srgbClr val="111827"/>
                </a:solidFill>
                <a:latin typeface="Helvetica Neue"/>
                <a:ea typeface="Helvetica Neue"/>
                <a:cs typeface="Helvetica Neue"/>
              </a:defRPr>
            </a:pPr>
            <a:r>
              <a:rPr sz="2850" b="1">
                <a:solidFill>
                  <a:srgbClr val="111827"/>
                </a:solidFill>
                <a:latin typeface="Helvetica Neue"/>
                <a:ea typeface="Helvetica Neue"/>
                <a:cs typeface="Helvetica Neue"/>
              </a:rPr>
              <a:t>Interrogate the execution context before blaming the query</a:t>
            </a:r>
          </a:p>
        </p:txBody>
      </p:sp>
      <p:sp>
        <p:nvSpPr>
          <p:cNvPr id="4" name="">
            <a:extLst xmlns:a="http://schemas.openxmlformats.org/drawingml/2006/main">
              <a:ext uri="{FF2B5EF4-FFF2-40B4-BE49-F238E27FC236}">
                <a16:creationId xmlns:a16="http://schemas.microsoft.com/office/drawing/2014/main" id="{621985B8-088B-4460-8F84-4E52CF9637F8}"/>
              </a:ext>
            </a:extLst>
          </p:cNvPr>
          <p:cNvSpPr>
            <a:spLocks xmlns:a="http://schemas.openxmlformats.org/drawingml/2006/main" noGrp="1"/>
          </p:cNvSpPr>
          <p:nvPr/>
        </p:nvSpPr>
        <p:spPr>
          <a:xfrm xmlns:a="http://schemas.openxmlformats.org/drawingml/2006/main">
            <a:off x="609600" y="1295400"/>
            <a:ext cx="1097280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
        <p:nvSpPr>
          <p:cNvPr id="5" name="slide-number">
            <a:extLst xmlns:a="http://schemas.openxmlformats.org/drawingml/2006/main">
              <a:ext uri="{FF2B5EF4-FFF2-40B4-BE49-F238E27FC236}">
                <a16:creationId xmlns:a16="http://schemas.microsoft.com/office/drawing/2014/main" id="{BB8A88C5-FAD8-4822-8C07-1F54B46DED22}"/>
              </a:ext>
            </a:extLst>
          </p:cNvPr>
          <p:cNvSpPr>
            <a:spLocks xmlns:a="http://schemas.openxmlformats.org/drawingml/2006/main" noGrp="1"/>
          </p:cNvSpPr>
          <p:nvPr/>
        </p:nvSpPr>
        <p:spPr>
          <a:xfrm xmlns:a="http://schemas.openxmlformats.org/drawingml/2006/main">
            <a:off x="11144250" y="64865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r">
              <a:defRPr sz="825">
                <a:solidFill>
                  <a:srgbClr val="94A3B8"/>
                </a:solidFill>
                <a:latin typeface="Helvetica Neue"/>
                <a:ea typeface="Helvetica Neue"/>
                <a:cs typeface="Helvetica Neue"/>
              </a:defRPr>
            </a:pPr>
            <a:r>
              <a:rPr sz="825">
                <a:solidFill>
                  <a:srgbClr val="94A3B8"/>
                </a:solidFill>
                <a:latin typeface="Helvetica Neue"/>
                <a:ea typeface="Helvetica Neue"/>
                <a:cs typeface="Helvetica Neue"/>
              </a:rPr>
              <a:t>4</a:t>
            </a:r>
          </a:p>
        </p:txBody>
      </p:sp>
      <p:sp>
        <p:nvSpPr>
          <p:cNvPr id="6" name="code-frame">
            <a:extLst xmlns:a="http://schemas.openxmlformats.org/drawingml/2006/main">
              <a:ext uri="{FF2B5EF4-FFF2-40B4-BE49-F238E27FC236}">
                <a16:creationId xmlns:a16="http://schemas.microsoft.com/office/drawing/2014/main" id="{D4A2A868-B3A9-4AC3-8915-0F66847475C1}"/>
              </a:ext>
            </a:extLst>
          </p:cNvPr>
          <p:cNvSpPr>
            <a:spLocks xmlns:a="http://schemas.openxmlformats.org/drawingml/2006/main" noGrp="1"/>
          </p:cNvSpPr>
          <p:nvPr/>
        </p:nvSpPr>
        <p:spPr>
          <a:xfrm xmlns:a="http://schemas.openxmlformats.org/drawingml/2006/main">
            <a:off x="685800" y="1657350"/>
            <a:ext cx="6762750" cy="4095750"/>
          </a:xfrm>
          <a:prstGeom xmlns:a="http://schemas.openxmlformats.org/drawingml/2006/main" prst="rect">
            <a:avLst/>
          </a:prstGeom>
          <a:solidFill xmlns:a="http://schemas.openxmlformats.org/drawingml/2006/main">
            <a:srgbClr val="0F172A"/>
          </a:solidFill>
          <a:ln xmlns:a="http://schemas.openxmlformats.org/drawingml/2006/main" w="9525">
            <a:solidFill>
              <a:srgbClr val="0F172A"/>
            </a:solidFill>
            <a:prstDash val="solid"/>
          </a:ln>
        </p:spPr>
      </p:sp>
      <p:sp>
        <p:nvSpPr>
          <p:cNvPr id="7" name="code">
            <a:extLst xmlns:a="http://schemas.openxmlformats.org/drawingml/2006/main">
              <a:ext uri="{FF2B5EF4-FFF2-40B4-BE49-F238E27FC236}">
                <a16:creationId xmlns:a16="http://schemas.microsoft.com/office/drawing/2014/main" id="{C4322F4F-8CD0-4C98-9B37-5204C1BC5D1B}"/>
              </a:ext>
            </a:extLst>
          </p:cNvPr>
          <p:cNvSpPr>
            <a:spLocks xmlns:a="http://schemas.openxmlformats.org/drawingml/2006/main" noGrp="1"/>
          </p:cNvSpPr>
          <p:nvPr/>
        </p:nvSpPr>
        <p:spPr>
          <a:xfrm xmlns:a="http://schemas.openxmlformats.org/drawingml/2006/main">
            <a:off x="933450" y="1885950"/>
            <a:ext cx="6286500" cy="3638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1350">
                <a:solidFill>
                  <a:srgbClr val="E2E8F0"/>
                </a:solidFill>
                <a:latin typeface="Menlo"/>
                <a:ea typeface="Menlo"/>
                <a:cs typeface="Menlo"/>
              </a:defRPr>
            </a:pPr>
            <a:r>
              <a:rPr sz="1350">
                <a:solidFill>
                  <a:srgbClr val="E2E8F0"/>
                </a:solidFill>
                <a:latin typeface="Menlo"/>
                <a:ea typeface="Menlo"/>
                <a:cs typeface="Menlo"/>
              </a:rPr>
              <a:t>SELECT current_database(),</a:t>
            </a:r>
          </a:p>
          <a:p xmlns:a="http://schemas.openxmlformats.org/drawingml/2006/main">
            <a:pPr>
              <a:defRPr sz="1350">
                <a:solidFill>
                  <a:srgbClr val="E2E8F0"/>
                </a:solidFill>
                <a:latin typeface="Menlo"/>
                <a:ea typeface="Menlo"/>
                <a:cs typeface="Menlo"/>
              </a:defRPr>
            </a:pPr>
            <a:r>
              <a:rPr sz="1350">
                <a:solidFill>
                  <a:srgbClr val="E2E8F0"/>
                </a:solidFill>
                <a:latin typeface="Menlo"/>
                <a:ea typeface="Menlo"/>
                <a:cs typeface="Menlo"/>
              </a:rPr>
              <a:t>       current_user,</a:t>
            </a:r>
          </a:p>
          <a:p xmlns:a="http://schemas.openxmlformats.org/drawingml/2006/main">
            <a:pPr>
              <a:defRPr sz="1350">
                <a:solidFill>
                  <a:srgbClr val="E2E8F0"/>
                </a:solidFill>
                <a:latin typeface="Menlo"/>
                <a:ea typeface="Menlo"/>
                <a:cs typeface="Menlo"/>
              </a:defRPr>
            </a:pPr>
            <a:r>
              <a:rPr sz="1350">
                <a:solidFill>
                  <a:srgbClr val="E2E8F0"/>
                </a:solidFill>
                <a:latin typeface="Menlo"/>
                <a:ea typeface="Menlo"/>
                <a:cs typeface="Menlo"/>
              </a:rPr>
              <a:t>       current_schema(),</a:t>
            </a:r>
          </a:p>
          <a:p xmlns:a="http://schemas.openxmlformats.org/drawingml/2006/main">
            <a:pPr>
              <a:defRPr sz="1350">
                <a:solidFill>
                  <a:srgbClr val="E2E8F0"/>
                </a:solidFill>
                <a:latin typeface="Menlo"/>
                <a:ea typeface="Menlo"/>
                <a:cs typeface="Menlo"/>
              </a:defRPr>
            </a:pPr>
            <a:r>
              <a:rPr sz="1350">
                <a:solidFill>
                  <a:srgbClr val="E2E8F0"/>
                </a:solidFill>
                <a:latin typeface="Menlo"/>
                <a:ea typeface="Menlo"/>
                <a:cs typeface="Menlo"/>
              </a:rPr>
              <a:t>       current_setting('search_path');</a:t>
            </a:r>
          </a:p>
          <a:p xmlns:a="http://schemas.openxmlformats.org/drawingml/2006/main">
            <a:r>
              <a:t/>
            </a:r>
          </a:p>
          <a:p xmlns:a="http://schemas.openxmlformats.org/drawingml/2006/main">
            <a:pPr>
              <a:defRPr sz="1350">
                <a:solidFill>
                  <a:srgbClr val="E2E8F0"/>
                </a:solidFill>
                <a:latin typeface="Menlo"/>
                <a:ea typeface="Menlo"/>
                <a:cs typeface="Menlo"/>
              </a:defRPr>
            </a:pPr>
            <a:r>
              <a:rPr sz="1350">
                <a:solidFill>
                  <a:srgbClr val="E2E8F0"/>
                </a:solidFill>
                <a:latin typeface="Menlo"/>
                <a:ea typeface="Menlo"/>
                <a:cs typeface="Menlo"/>
              </a:rPr>
              <a:t>SELECT table_schema, table_name</a:t>
            </a:r>
          </a:p>
          <a:p xmlns:a="http://schemas.openxmlformats.org/drawingml/2006/main">
            <a:pPr>
              <a:defRPr sz="1350">
                <a:solidFill>
                  <a:srgbClr val="E2E8F0"/>
                </a:solidFill>
                <a:latin typeface="Menlo"/>
                <a:ea typeface="Menlo"/>
                <a:cs typeface="Menlo"/>
              </a:defRPr>
            </a:pPr>
            <a:r>
              <a:rPr sz="1350">
                <a:solidFill>
                  <a:srgbClr val="E2E8F0"/>
                </a:solidFill>
                <a:latin typeface="Menlo"/>
                <a:ea typeface="Menlo"/>
                <a:cs typeface="Menlo"/>
              </a:rPr>
              <a:t>FROM information_schema.views</a:t>
            </a:r>
          </a:p>
          <a:p xmlns:a="http://schemas.openxmlformats.org/drawingml/2006/main">
            <a:pPr>
              <a:defRPr sz="1350">
                <a:solidFill>
                  <a:srgbClr val="E2E8F0"/>
                </a:solidFill>
                <a:latin typeface="Menlo"/>
                <a:ea typeface="Menlo"/>
                <a:cs typeface="Menlo"/>
              </a:defRPr>
            </a:pPr>
            <a:r>
              <a:rPr sz="1350">
                <a:solidFill>
                  <a:srgbClr val="E2E8F0"/>
                </a:solidFill>
                <a:latin typeface="Menlo"/>
                <a:ea typeface="Menlo"/>
                <a:cs typeface="Menlo"/>
              </a:rPr>
              <a:t>WHERE table_schema = 'metro_support';</a:t>
            </a:r>
          </a:p>
        </p:txBody>
      </p:sp>
      <p:sp>
        <p:nvSpPr>
          <p:cNvPr id="8" name="">
            <a:extLst xmlns:a="http://schemas.openxmlformats.org/drawingml/2006/main">
              <a:ext uri="{FF2B5EF4-FFF2-40B4-BE49-F238E27FC236}">
                <a16:creationId xmlns:a16="http://schemas.microsoft.com/office/drawing/2014/main" id="{CD56DD94-9173-4009-B0ED-DE8F69CE09AE}"/>
              </a:ext>
            </a:extLst>
          </p:cNvPr>
          <p:cNvSpPr>
            <a:spLocks xmlns:a="http://schemas.openxmlformats.org/drawingml/2006/main" noGrp="1"/>
          </p:cNvSpPr>
          <p:nvPr/>
        </p:nvSpPr>
        <p:spPr>
          <a:xfrm xmlns:a="http://schemas.openxmlformats.org/drawingml/2006/main">
            <a:off x="7905750" y="1733550"/>
            <a:ext cx="3429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1725" b="1">
                <a:solidFill>
                  <a:srgbClr val="0F766E"/>
                </a:solidFill>
                <a:latin typeface="Helvetica Neue"/>
                <a:ea typeface="Helvetica Neue"/>
                <a:cs typeface="Helvetica Neue"/>
              </a:defRPr>
            </a:pPr>
            <a:r>
              <a:rPr sz="1725" b="1">
                <a:solidFill>
                  <a:srgbClr val="0F766E"/>
                </a:solidFill>
                <a:latin typeface="Helvetica Neue"/>
                <a:ea typeface="Helvetica Neue"/>
                <a:cs typeface="Helvetica Neue"/>
              </a:rPr>
              <a:t>Context evidence</a:t>
            </a:r>
          </a:p>
        </p:txBody>
      </p:sp>
      <p:sp>
        <p:nvSpPr>
          <p:cNvPr id="9" name="">
            <a:extLst xmlns:a="http://schemas.openxmlformats.org/drawingml/2006/main">
              <a:ext uri="{FF2B5EF4-FFF2-40B4-BE49-F238E27FC236}">
                <a16:creationId xmlns:a16="http://schemas.microsoft.com/office/drawing/2014/main" id="{0A9A9FB2-8AA9-46AC-A9CC-B05ED1E17542}"/>
              </a:ext>
            </a:extLst>
          </p:cNvPr>
          <p:cNvSpPr>
            <a:spLocks xmlns:a="http://schemas.openxmlformats.org/drawingml/2006/main" noGrp="1"/>
          </p:cNvSpPr>
          <p:nvPr/>
        </p:nvSpPr>
        <p:spPr>
          <a:xfrm xmlns:a="http://schemas.openxmlformats.org/drawingml/2006/main">
            <a:off x="7981950" y="2514600"/>
            <a:ext cx="85725" cy="304800"/>
          </a:xfrm>
          <a:prstGeom xmlns:a="http://schemas.openxmlformats.org/drawingml/2006/main" prst="rect">
            <a:avLst/>
          </a:prstGeom>
          <a:solidFill xmlns:a="http://schemas.openxmlformats.org/drawingml/2006/main">
            <a:srgbClr val="0F766E"/>
          </a:solidFill>
          <a:ln xmlns:a="http://schemas.openxmlformats.org/drawingml/2006/main" w="0">
            <a:solidFill>
              <a:srgbClr val="0F766E"/>
            </a:solidFill>
            <a:prstDash val="solid"/>
          </a:ln>
        </p:spPr>
      </p:sp>
      <p:sp>
        <p:nvSpPr>
          <p:cNvPr id="10" name="">
            <a:extLst xmlns:a="http://schemas.openxmlformats.org/drawingml/2006/main">
              <a:ext uri="{FF2B5EF4-FFF2-40B4-BE49-F238E27FC236}">
                <a16:creationId xmlns:a16="http://schemas.microsoft.com/office/drawing/2014/main" id="{C698874F-1AEA-4B46-9284-A52691439969}"/>
              </a:ext>
            </a:extLst>
          </p:cNvPr>
          <p:cNvSpPr>
            <a:spLocks xmlns:a="http://schemas.openxmlformats.org/drawingml/2006/main" noGrp="1"/>
          </p:cNvSpPr>
          <p:nvPr/>
        </p:nvSpPr>
        <p:spPr>
          <a:xfrm xmlns:a="http://schemas.openxmlformats.org/drawingml/2006/main">
            <a:off x="8248650" y="2457450"/>
            <a:ext cx="30670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1425">
                <a:solidFill>
                  <a:srgbClr val="111827"/>
                </a:solidFill>
                <a:latin typeface="Helvetica Neue"/>
                <a:ea typeface="Helvetica Neue"/>
                <a:cs typeface="Helvetica Neue"/>
              </a:defRPr>
            </a:pPr>
            <a:r>
              <a:rPr sz="1425">
                <a:solidFill>
                  <a:srgbClr val="111827"/>
                </a:solidFill>
                <a:latin typeface="Helvetica Neue"/>
                <a:ea typeface="Helvetica Neue"/>
                <a:cs typeface="Helvetica Neue"/>
              </a:rPr>
              <a:t>Confirm database and identity.</a:t>
            </a:r>
          </a:p>
        </p:txBody>
      </p:sp>
      <p:sp>
        <p:nvSpPr>
          <p:cNvPr id="11" name="">
            <a:extLst xmlns:a="http://schemas.openxmlformats.org/drawingml/2006/main">
              <a:ext uri="{FF2B5EF4-FFF2-40B4-BE49-F238E27FC236}">
                <a16:creationId xmlns:a16="http://schemas.microsoft.com/office/drawing/2014/main" id="{40ACE051-7A45-48C0-9DBE-31CC8CD0D618}"/>
              </a:ext>
            </a:extLst>
          </p:cNvPr>
          <p:cNvSpPr>
            <a:spLocks xmlns:a="http://schemas.openxmlformats.org/drawingml/2006/main" noGrp="1"/>
          </p:cNvSpPr>
          <p:nvPr/>
        </p:nvSpPr>
        <p:spPr>
          <a:xfrm xmlns:a="http://schemas.openxmlformats.org/drawingml/2006/main">
            <a:off x="7981950" y="3333750"/>
            <a:ext cx="85725" cy="304800"/>
          </a:xfrm>
          <a:prstGeom xmlns:a="http://schemas.openxmlformats.org/drawingml/2006/main" prst="rect">
            <a:avLst/>
          </a:prstGeom>
          <a:solidFill xmlns:a="http://schemas.openxmlformats.org/drawingml/2006/main">
            <a:srgbClr val="0F766E"/>
          </a:solidFill>
          <a:ln xmlns:a="http://schemas.openxmlformats.org/drawingml/2006/main" w="0">
            <a:solidFill>
              <a:srgbClr val="0F766E"/>
            </a:solidFill>
            <a:prstDash val="solid"/>
          </a:ln>
        </p:spPr>
      </p:sp>
      <p:sp>
        <p:nvSpPr>
          <p:cNvPr id="12" name="">
            <a:extLst xmlns:a="http://schemas.openxmlformats.org/drawingml/2006/main">
              <a:ext uri="{FF2B5EF4-FFF2-40B4-BE49-F238E27FC236}">
                <a16:creationId xmlns:a16="http://schemas.microsoft.com/office/drawing/2014/main" id="{D8742ACF-CD7A-4956-9BA6-18D8171BAB8A}"/>
              </a:ext>
            </a:extLst>
          </p:cNvPr>
          <p:cNvSpPr>
            <a:spLocks xmlns:a="http://schemas.openxmlformats.org/drawingml/2006/main" noGrp="1"/>
          </p:cNvSpPr>
          <p:nvPr/>
        </p:nvSpPr>
        <p:spPr>
          <a:xfrm xmlns:a="http://schemas.openxmlformats.org/drawingml/2006/main">
            <a:off x="8248650" y="3276600"/>
            <a:ext cx="30670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1425">
                <a:solidFill>
                  <a:srgbClr val="111827"/>
                </a:solidFill>
                <a:latin typeface="Helvetica Neue"/>
                <a:ea typeface="Helvetica Neue"/>
                <a:cs typeface="Helvetica Neue"/>
              </a:defRPr>
            </a:pPr>
            <a:r>
              <a:rPr sz="1425">
                <a:solidFill>
                  <a:srgbClr val="111827"/>
                </a:solidFill>
                <a:latin typeface="Helvetica Neue"/>
                <a:ea typeface="Helvetica Neue"/>
                <a:cs typeface="Helvetica Neue"/>
              </a:rPr>
              <a:t>Record schema resolution rules.</a:t>
            </a:r>
          </a:p>
        </p:txBody>
      </p:sp>
      <p:sp>
        <p:nvSpPr>
          <p:cNvPr id="13" name="">
            <a:extLst xmlns:a="http://schemas.openxmlformats.org/drawingml/2006/main">
              <a:ext uri="{FF2B5EF4-FFF2-40B4-BE49-F238E27FC236}">
                <a16:creationId xmlns:a16="http://schemas.microsoft.com/office/drawing/2014/main" id="{27111F5D-4B09-4563-8B13-BC4BA3D6E170}"/>
              </a:ext>
            </a:extLst>
          </p:cNvPr>
          <p:cNvSpPr>
            <a:spLocks xmlns:a="http://schemas.openxmlformats.org/drawingml/2006/main" noGrp="1"/>
          </p:cNvSpPr>
          <p:nvPr/>
        </p:nvSpPr>
        <p:spPr>
          <a:xfrm xmlns:a="http://schemas.openxmlformats.org/drawingml/2006/main">
            <a:off x="7981950" y="4152900"/>
            <a:ext cx="85725" cy="304800"/>
          </a:xfrm>
          <a:prstGeom xmlns:a="http://schemas.openxmlformats.org/drawingml/2006/main" prst="rect">
            <a:avLst/>
          </a:prstGeom>
          <a:solidFill xmlns:a="http://schemas.openxmlformats.org/drawingml/2006/main">
            <a:srgbClr val="0F766E"/>
          </a:solidFill>
          <a:ln xmlns:a="http://schemas.openxmlformats.org/drawingml/2006/main" w="0">
            <a:solidFill>
              <a:srgbClr val="0F766E"/>
            </a:solidFill>
            <a:prstDash val="solid"/>
          </a:ln>
        </p:spPr>
      </p:sp>
      <p:sp>
        <p:nvSpPr>
          <p:cNvPr id="14" name="">
            <a:extLst xmlns:a="http://schemas.openxmlformats.org/drawingml/2006/main">
              <a:ext uri="{FF2B5EF4-FFF2-40B4-BE49-F238E27FC236}">
                <a16:creationId xmlns:a16="http://schemas.microsoft.com/office/drawing/2014/main" id="{7570883F-93B4-4114-A7F5-0D1E1DB57517}"/>
              </a:ext>
            </a:extLst>
          </p:cNvPr>
          <p:cNvSpPr>
            <a:spLocks xmlns:a="http://schemas.openxmlformats.org/drawingml/2006/main" noGrp="1"/>
          </p:cNvSpPr>
          <p:nvPr/>
        </p:nvSpPr>
        <p:spPr>
          <a:xfrm xmlns:a="http://schemas.openxmlformats.org/drawingml/2006/main">
            <a:off x="8248650" y="4095750"/>
            <a:ext cx="30670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1425">
                <a:solidFill>
                  <a:srgbClr val="111827"/>
                </a:solidFill>
                <a:latin typeface="Helvetica Neue"/>
                <a:ea typeface="Helvetica Neue"/>
                <a:cs typeface="Helvetica Neue"/>
              </a:defRPr>
            </a:pPr>
            <a:r>
              <a:rPr sz="1425">
                <a:solidFill>
                  <a:srgbClr val="111827"/>
                </a:solidFill>
                <a:latin typeface="Helvetica Neue"/>
                <a:ea typeface="Helvetica Neue"/>
                <a:cs typeface="Helvetica Neue"/>
              </a:rPr>
              <a:t>List the interface objects that actually exist.</a:t>
            </a:r>
          </a:p>
        </p:txBody>
      </p:sp>
    </p:spTree>
    <p:extLst>
      <p:ext uri="{BB962C8B-B14F-4D97-AF65-F5344CB8AC3E}">
        <p14:creationId xmlns:p14="http://schemas.microsoft.com/office/powerpoint/2010/main" val="1945441737"/>
      </p:ext>
    </p:extLst>
  </p:cSld>
</p:sld>
</file>

<file path=ppt/slides/slide5.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ABD7498A-4D87-43D4-A70F-B75F74E2FADA}"/>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CFCFA"/>
          </a:solidFill>
          <a:ln xmlns:a="http://schemas.openxmlformats.org/drawingml/2006/main" w="0">
            <a:solidFill>
              <a:srgbClr val="FCFCFA"/>
            </a:solidFill>
            <a:prstDash val="solid"/>
          </a:ln>
        </p:spPr>
      </p:sp>
      <p:sp>
        <p:nvSpPr>
          <p:cNvPr id="2" name="eyebrow">
            <a:extLst xmlns:a="http://schemas.openxmlformats.org/drawingml/2006/main">
              <a:ext uri="{FF2B5EF4-FFF2-40B4-BE49-F238E27FC236}">
                <a16:creationId xmlns:a16="http://schemas.microsoft.com/office/drawing/2014/main" id="{2A70E13F-D30A-4262-B6F4-8B1507C46694}"/>
              </a:ext>
            </a:extLst>
          </p:cNvPr>
          <p:cNvSpPr>
            <a:spLocks xmlns:a="http://schemas.openxmlformats.org/drawingml/2006/main" noGrp="1"/>
          </p:cNvSpPr>
          <p:nvPr/>
        </p:nvSpPr>
        <p:spPr>
          <a:xfrm xmlns:a="http://schemas.openxmlformats.org/drawingml/2006/main">
            <a:off x="609600" y="295275"/>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975" b="1">
                <a:solidFill>
                  <a:srgbClr val="0F766E"/>
                </a:solidFill>
                <a:latin typeface="Helvetica Neue"/>
                <a:ea typeface="Helvetica Neue"/>
                <a:cs typeface="Helvetica Neue"/>
              </a:defRPr>
            </a:pPr>
            <a:r>
              <a:rPr sz="975" b="1">
                <a:solidFill>
                  <a:srgbClr val="0F766E"/>
                </a:solidFill>
                <a:latin typeface="Helvetica Neue"/>
                <a:ea typeface="Helvetica Neue"/>
                <a:cs typeface="Helvetica Neue"/>
              </a:rPr>
              <a:t>WEEK 04  /  CST4714</a:t>
            </a:r>
          </a:p>
        </p:txBody>
      </p:sp>
      <p:sp>
        <p:nvSpPr>
          <p:cNvPr id="3" name="slide-title">
            <a:extLst xmlns:a="http://schemas.openxmlformats.org/drawingml/2006/main">
              <a:ext uri="{FF2B5EF4-FFF2-40B4-BE49-F238E27FC236}">
                <a16:creationId xmlns:a16="http://schemas.microsoft.com/office/drawing/2014/main" id="{25AF923B-5F1D-49AE-8220-2C434D354535}"/>
              </a:ext>
            </a:extLst>
          </p:cNvPr>
          <p:cNvSpPr>
            <a:spLocks xmlns:a="http://schemas.openxmlformats.org/drawingml/2006/main" noGrp="1"/>
          </p:cNvSpPr>
          <p:nvPr/>
        </p:nvSpPr>
        <p:spPr>
          <a:xfrm xmlns:a="http://schemas.openxmlformats.org/drawingml/2006/main">
            <a:off x="609600" y="590550"/>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2850" b="1">
                <a:solidFill>
                  <a:srgbClr val="111827"/>
                </a:solidFill>
                <a:latin typeface="Helvetica Neue"/>
                <a:ea typeface="Helvetica Neue"/>
                <a:cs typeface="Helvetica Neue"/>
              </a:defRPr>
            </a:pPr>
            <a:r>
              <a:rPr sz="2850" b="1">
                <a:solidFill>
                  <a:srgbClr val="111827"/>
                </a:solidFill>
                <a:latin typeface="Helvetica Neue"/>
                <a:ea typeface="Helvetica Neue"/>
                <a:cs typeface="Helvetica Neue"/>
              </a:rPr>
              <a:t>A view states its result grain and column contract</a:t>
            </a:r>
          </a:p>
        </p:txBody>
      </p:sp>
      <p:sp>
        <p:nvSpPr>
          <p:cNvPr id="4" name="">
            <a:extLst xmlns:a="http://schemas.openxmlformats.org/drawingml/2006/main">
              <a:ext uri="{FF2B5EF4-FFF2-40B4-BE49-F238E27FC236}">
                <a16:creationId xmlns:a16="http://schemas.microsoft.com/office/drawing/2014/main" id="{2B6A0AEE-5879-4FDD-B249-FF261F3E4097}"/>
              </a:ext>
            </a:extLst>
          </p:cNvPr>
          <p:cNvSpPr>
            <a:spLocks xmlns:a="http://schemas.openxmlformats.org/drawingml/2006/main" noGrp="1"/>
          </p:cNvSpPr>
          <p:nvPr/>
        </p:nvSpPr>
        <p:spPr>
          <a:xfrm xmlns:a="http://schemas.openxmlformats.org/drawingml/2006/main">
            <a:off x="609600" y="1295400"/>
            <a:ext cx="1097280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
        <p:nvSpPr>
          <p:cNvPr id="5" name="slide-number">
            <a:extLst xmlns:a="http://schemas.openxmlformats.org/drawingml/2006/main">
              <a:ext uri="{FF2B5EF4-FFF2-40B4-BE49-F238E27FC236}">
                <a16:creationId xmlns:a16="http://schemas.microsoft.com/office/drawing/2014/main" id="{EFEAA31A-E516-491F-9E9D-42661BCCF2BE}"/>
              </a:ext>
            </a:extLst>
          </p:cNvPr>
          <p:cNvSpPr>
            <a:spLocks xmlns:a="http://schemas.openxmlformats.org/drawingml/2006/main" noGrp="1"/>
          </p:cNvSpPr>
          <p:nvPr/>
        </p:nvSpPr>
        <p:spPr>
          <a:xfrm xmlns:a="http://schemas.openxmlformats.org/drawingml/2006/main">
            <a:off x="11144250" y="64865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r">
              <a:defRPr sz="825">
                <a:solidFill>
                  <a:srgbClr val="94A3B8"/>
                </a:solidFill>
                <a:latin typeface="Helvetica Neue"/>
                <a:ea typeface="Helvetica Neue"/>
                <a:cs typeface="Helvetica Neue"/>
              </a:defRPr>
            </a:pPr>
            <a:r>
              <a:rPr sz="825">
                <a:solidFill>
                  <a:srgbClr val="94A3B8"/>
                </a:solidFill>
                <a:latin typeface="Helvetica Neue"/>
                <a:ea typeface="Helvetica Neue"/>
                <a:cs typeface="Helvetica Neue"/>
              </a:rPr>
              <a:t>5</a:t>
            </a:r>
          </a:p>
        </p:txBody>
      </p:sp>
      <p:sp>
        <p:nvSpPr>
          <p:cNvPr id="6" name="code-frame">
            <a:extLst xmlns:a="http://schemas.openxmlformats.org/drawingml/2006/main">
              <a:ext uri="{FF2B5EF4-FFF2-40B4-BE49-F238E27FC236}">
                <a16:creationId xmlns:a16="http://schemas.microsoft.com/office/drawing/2014/main" id="{8C37E830-2AB2-47E3-A9BE-9E59D8F0DA9D}"/>
              </a:ext>
            </a:extLst>
          </p:cNvPr>
          <p:cNvSpPr>
            <a:spLocks xmlns:a="http://schemas.openxmlformats.org/drawingml/2006/main" noGrp="1"/>
          </p:cNvSpPr>
          <p:nvPr/>
        </p:nvSpPr>
        <p:spPr>
          <a:xfrm xmlns:a="http://schemas.openxmlformats.org/drawingml/2006/main">
            <a:off x="685800" y="1657350"/>
            <a:ext cx="6762750" cy="4095750"/>
          </a:xfrm>
          <a:prstGeom xmlns:a="http://schemas.openxmlformats.org/drawingml/2006/main" prst="rect">
            <a:avLst/>
          </a:prstGeom>
          <a:solidFill xmlns:a="http://schemas.openxmlformats.org/drawingml/2006/main">
            <a:srgbClr val="0F172A"/>
          </a:solidFill>
          <a:ln xmlns:a="http://schemas.openxmlformats.org/drawingml/2006/main" w="9525">
            <a:solidFill>
              <a:srgbClr val="0F172A"/>
            </a:solidFill>
            <a:prstDash val="solid"/>
          </a:ln>
        </p:spPr>
      </p:sp>
      <p:sp>
        <p:nvSpPr>
          <p:cNvPr id="7" name="code">
            <a:extLst xmlns:a="http://schemas.openxmlformats.org/drawingml/2006/main">
              <a:ext uri="{FF2B5EF4-FFF2-40B4-BE49-F238E27FC236}">
                <a16:creationId xmlns:a16="http://schemas.microsoft.com/office/drawing/2014/main" id="{70D684A1-97CD-4DA3-9739-B09B881C14C5}"/>
              </a:ext>
            </a:extLst>
          </p:cNvPr>
          <p:cNvSpPr>
            <a:spLocks xmlns:a="http://schemas.openxmlformats.org/drawingml/2006/main" noGrp="1"/>
          </p:cNvSpPr>
          <p:nvPr/>
        </p:nvSpPr>
        <p:spPr>
          <a:xfrm xmlns:a="http://schemas.openxmlformats.org/drawingml/2006/main">
            <a:off x="933450" y="1885950"/>
            <a:ext cx="6286500" cy="3638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1350">
                <a:solidFill>
                  <a:srgbClr val="E2E8F0"/>
                </a:solidFill>
                <a:latin typeface="Menlo"/>
                <a:ea typeface="Menlo"/>
                <a:cs typeface="Menlo"/>
              </a:defRPr>
            </a:pPr>
            <a:r>
              <a:rPr sz="1350">
                <a:solidFill>
                  <a:srgbClr val="E2E8F0"/>
                </a:solidFill>
                <a:latin typeface="Menlo"/>
                <a:ea typeface="Menlo"/>
                <a:cs typeface="Menlo"/>
              </a:rPr>
              <a:t>CREATE VIEW metro_support.active_ticket_summary AS</a:t>
            </a:r>
          </a:p>
          <a:p xmlns:a="http://schemas.openxmlformats.org/drawingml/2006/main">
            <a:pPr>
              <a:defRPr sz="1350">
                <a:solidFill>
                  <a:srgbClr val="E2E8F0"/>
                </a:solidFill>
                <a:latin typeface="Menlo"/>
                <a:ea typeface="Menlo"/>
                <a:cs typeface="Menlo"/>
              </a:defRPr>
            </a:pPr>
            <a:r>
              <a:rPr sz="1350">
                <a:solidFill>
                  <a:srgbClr val="E2E8F0"/>
                </a:solidFill>
                <a:latin typeface="Menlo"/>
                <a:ea typeface="Menlo"/>
                <a:cs typeface="Menlo"/>
              </a:rPr>
              <a:t>SELECT t.ticket_id,</a:t>
            </a:r>
          </a:p>
          <a:p xmlns:a="http://schemas.openxmlformats.org/drawingml/2006/main">
            <a:pPr>
              <a:defRPr sz="1350">
                <a:solidFill>
                  <a:srgbClr val="E2E8F0"/>
                </a:solidFill>
                <a:latin typeface="Menlo"/>
                <a:ea typeface="Menlo"/>
                <a:cs typeface="Menlo"/>
              </a:defRPr>
            </a:pPr>
            <a:r>
              <a:rPr sz="1350">
                <a:solidFill>
                  <a:srgbClr val="E2E8F0"/>
                </a:solidFill>
                <a:latin typeface="Menlo"/>
                <a:ea typeface="Menlo"/>
                <a:cs typeface="Menlo"/>
              </a:rPr>
              <a:t>       t.subject,</a:t>
            </a:r>
          </a:p>
          <a:p xmlns:a="http://schemas.openxmlformats.org/drawingml/2006/main">
            <a:pPr>
              <a:defRPr sz="1350">
                <a:solidFill>
                  <a:srgbClr val="E2E8F0"/>
                </a:solidFill>
                <a:latin typeface="Menlo"/>
                <a:ea typeface="Menlo"/>
                <a:cs typeface="Menlo"/>
              </a:defRPr>
            </a:pPr>
            <a:r>
              <a:rPr sz="1350">
                <a:solidFill>
                  <a:srgbClr val="E2E8F0"/>
                </a:solidFill>
                <a:latin typeface="Menlo"/>
                <a:ea typeface="Menlo"/>
                <a:cs typeface="Menlo"/>
              </a:rPr>
              <a:t>       t.priority,</a:t>
            </a:r>
          </a:p>
          <a:p xmlns:a="http://schemas.openxmlformats.org/drawingml/2006/main">
            <a:pPr>
              <a:defRPr sz="1350">
                <a:solidFill>
                  <a:srgbClr val="E2E8F0"/>
                </a:solidFill>
                <a:latin typeface="Menlo"/>
                <a:ea typeface="Menlo"/>
                <a:cs typeface="Menlo"/>
              </a:defRPr>
            </a:pPr>
            <a:r>
              <a:rPr sz="1350">
                <a:solidFill>
                  <a:srgbClr val="E2E8F0"/>
                </a:solidFill>
                <a:latin typeface="Menlo"/>
                <a:ea typeface="Menlo"/>
                <a:cs typeface="Menlo"/>
              </a:rPr>
              <a:t>       u.display_name AS requester_name</a:t>
            </a:r>
          </a:p>
          <a:p xmlns:a="http://schemas.openxmlformats.org/drawingml/2006/main">
            <a:pPr>
              <a:defRPr sz="1350">
                <a:solidFill>
                  <a:srgbClr val="E2E8F0"/>
                </a:solidFill>
                <a:latin typeface="Menlo"/>
                <a:ea typeface="Menlo"/>
                <a:cs typeface="Menlo"/>
              </a:defRPr>
            </a:pPr>
            <a:r>
              <a:rPr sz="1350">
                <a:solidFill>
                  <a:srgbClr val="E2E8F0"/>
                </a:solidFill>
                <a:latin typeface="Menlo"/>
                <a:ea typeface="Menlo"/>
                <a:cs typeface="Menlo"/>
              </a:rPr>
              <a:t>FROM metro_support.tickets AS t</a:t>
            </a:r>
          </a:p>
          <a:p xmlns:a="http://schemas.openxmlformats.org/drawingml/2006/main">
            <a:pPr>
              <a:defRPr sz="1350">
                <a:solidFill>
                  <a:srgbClr val="E2E8F0"/>
                </a:solidFill>
                <a:latin typeface="Menlo"/>
                <a:ea typeface="Menlo"/>
                <a:cs typeface="Menlo"/>
              </a:defRPr>
            </a:pPr>
            <a:r>
              <a:rPr sz="1350">
                <a:solidFill>
                  <a:srgbClr val="E2E8F0"/>
                </a:solidFill>
                <a:latin typeface="Menlo"/>
                <a:ea typeface="Menlo"/>
                <a:cs typeface="Menlo"/>
              </a:rPr>
              <a:t>JOIN metro_support.users AS u</a:t>
            </a:r>
          </a:p>
          <a:p xmlns:a="http://schemas.openxmlformats.org/drawingml/2006/main">
            <a:pPr>
              <a:defRPr sz="1350">
                <a:solidFill>
                  <a:srgbClr val="E2E8F0"/>
                </a:solidFill>
                <a:latin typeface="Menlo"/>
                <a:ea typeface="Menlo"/>
                <a:cs typeface="Menlo"/>
              </a:defRPr>
            </a:pPr>
            <a:r>
              <a:rPr sz="1350">
                <a:solidFill>
                  <a:srgbClr val="E2E8F0"/>
                </a:solidFill>
                <a:latin typeface="Menlo"/>
                <a:ea typeface="Menlo"/>
                <a:cs typeface="Menlo"/>
              </a:rPr>
              <a:t>  ON u.user_id = t.requester_id</a:t>
            </a:r>
          </a:p>
          <a:p xmlns:a="http://schemas.openxmlformats.org/drawingml/2006/main">
            <a:pPr>
              <a:defRPr sz="1350">
                <a:solidFill>
                  <a:srgbClr val="E2E8F0"/>
                </a:solidFill>
                <a:latin typeface="Menlo"/>
                <a:ea typeface="Menlo"/>
                <a:cs typeface="Menlo"/>
              </a:defRPr>
            </a:pPr>
            <a:r>
              <a:rPr sz="1350">
                <a:solidFill>
                  <a:srgbClr val="E2E8F0"/>
                </a:solidFill>
                <a:latin typeface="Menlo"/>
                <a:ea typeface="Menlo"/>
                <a:cs typeface="Menlo"/>
              </a:rPr>
              <a:t>WHERE t.status IN ('new','open','in_progress');</a:t>
            </a:r>
          </a:p>
        </p:txBody>
      </p:sp>
      <p:sp>
        <p:nvSpPr>
          <p:cNvPr id="8" name="">
            <a:extLst xmlns:a="http://schemas.openxmlformats.org/drawingml/2006/main">
              <a:ext uri="{FF2B5EF4-FFF2-40B4-BE49-F238E27FC236}">
                <a16:creationId xmlns:a16="http://schemas.microsoft.com/office/drawing/2014/main" id="{482E6DF6-7242-414D-A14B-16C243E936DC}"/>
              </a:ext>
            </a:extLst>
          </p:cNvPr>
          <p:cNvSpPr>
            <a:spLocks xmlns:a="http://schemas.openxmlformats.org/drawingml/2006/main" noGrp="1"/>
          </p:cNvSpPr>
          <p:nvPr/>
        </p:nvSpPr>
        <p:spPr>
          <a:xfrm xmlns:a="http://schemas.openxmlformats.org/drawingml/2006/main">
            <a:off x="7905750" y="1733550"/>
            <a:ext cx="3429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1725" b="1">
                <a:solidFill>
                  <a:srgbClr val="0F766E"/>
                </a:solidFill>
                <a:latin typeface="Helvetica Neue"/>
                <a:ea typeface="Helvetica Neue"/>
                <a:cs typeface="Helvetica Neue"/>
              </a:defRPr>
            </a:pPr>
            <a:r>
              <a:rPr sz="1725" b="1">
                <a:solidFill>
                  <a:srgbClr val="0F766E"/>
                </a:solidFill>
                <a:latin typeface="Helvetica Neue"/>
                <a:ea typeface="Helvetica Neue"/>
                <a:cs typeface="Helvetica Neue"/>
              </a:rPr>
              <a:t>Contract</a:t>
            </a:r>
          </a:p>
        </p:txBody>
      </p:sp>
      <p:sp>
        <p:nvSpPr>
          <p:cNvPr id="9" name="">
            <a:extLst xmlns:a="http://schemas.openxmlformats.org/drawingml/2006/main">
              <a:ext uri="{FF2B5EF4-FFF2-40B4-BE49-F238E27FC236}">
                <a16:creationId xmlns:a16="http://schemas.microsoft.com/office/drawing/2014/main" id="{CD2FD13F-EB96-4357-8ABC-7A0BB198172F}"/>
              </a:ext>
            </a:extLst>
          </p:cNvPr>
          <p:cNvSpPr>
            <a:spLocks xmlns:a="http://schemas.openxmlformats.org/drawingml/2006/main" noGrp="1"/>
          </p:cNvSpPr>
          <p:nvPr/>
        </p:nvSpPr>
        <p:spPr>
          <a:xfrm xmlns:a="http://schemas.openxmlformats.org/drawingml/2006/main">
            <a:off x="7981950" y="2514600"/>
            <a:ext cx="85725" cy="304800"/>
          </a:xfrm>
          <a:prstGeom xmlns:a="http://schemas.openxmlformats.org/drawingml/2006/main" prst="rect">
            <a:avLst/>
          </a:prstGeom>
          <a:solidFill xmlns:a="http://schemas.openxmlformats.org/drawingml/2006/main">
            <a:srgbClr val="0F766E"/>
          </a:solidFill>
          <a:ln xmlns:a="http://schemas.openxmlformats.org/drawingml/2006/main" w="0">
            <a:solidFill>
              <a:srgbClr val="0F766E"/>
            </a:solidFill>
            <a:prstDash val="solid"/>
          </a:ln>
        </p:spPr>
      </p:sp>
      <p:sp>
        <p:nvSpPr>
          <p:cNvPr id="10" name="">
            <a:extLst xmlns:a="http://schemas.openxmlformats.org/drawingml/2006/main">
              <a:ext uri="{FF2B5EF4-FFF2-40B4-BE49-F238E27FC236}">
                <a16:creationId xmlns:a16="http://schemas.microsoft.com/office/drawing/2014/main" id="{59C56625-E490-46F5-B83E-5F94B3006E0A}"/>
              </a:ext>
            </a:extLst>
          </p:cNvPr>
          <p:cNvSpPr>
            <a:spLocks xmlns:a="http://schemas.openxmlformats.org/drawingml/2006/main" noGrp="1"/>
          </p:cNvSpPr>
          <p:nvPr/>
        </p:nvSpPr>
        <p:spPr>
          <a:xfrm xmlns:a="http://schemas.openxmlformats.org/drawingml/2006/main">
            <a:off x="8248650" y="2457450"/>
            <a:ext cx="30670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1425">
                <a:solidFill>
                  <a:srgbClr val="111827"/>
                </a:solidFill>
                <a:latin typeface="Helvetica Neue"/>
                <a:ea typeface="Helvetica Neue"/>
                <a:cs typeface="Helvetica Neue"/>
              </a:defRPr>
            </a:pPr>
            <a:r>
              <a:rPr sz="1425">
                <a:solidFill>
                  <a:srgbClr val="111827"/>
                </a:solidFill>
                <a:latin typeface="Helvetica Neue"/>
                <a:ea typeface="Helvetica Neue"/>
                <a:cs typeface="Helvetica Neue"/>
              </a:rPr>
              <a:t>One row per active ticket</a:t>
            </a:r>
          </a:p>
        </p:txBody>
      </p:sp>
      <p:sp>
        <p:nvSpPr>
          <p:cNvPr id="11" name="">
            <a:extLst xmlns:a="http://schemas.openxmlformats.org/drawingml/2006/main">
              <a:ext uri="{FF2B5EF4-FFF2-40B4-BE49-F238E27FC236}">
                <a16:creationId xmlns:a16="http://schemas.microsoft.com/office/drawing/2014/main" id="{6A5725C9-0D33-469B-8666-701328886C27}"/>
              </a:ext>
            </a:extLst>
          </p:cNvPr>
          <p:cNvSpPr>
            <a:spLocks xmlns:a="http://schemas.openxmlformats.org/drawingml/2006/main" noGrp="1"/>
          </p:cNvSpPr>
          <p:nvPr/>
        </p:nvSpPr>
        <p:spPr>
          <a:xfrm xmlns:a="http://schemas.openxmlformats.org/drawingml/2006/main">
            <a:off x="7981950" y="3333750"/>
            <a:ext cx="85725" cy="304800"/>
          </a:xfrm>
          <a:prstGeom xmlns:a="http://schemas.openxmlformats.org/drawingml/2006/main" prst="rect">
            <a:avLst/>
          </a:prstGeom>
          <a:solidFill xmlns:a="http://schemas.openxmlformats.org/drawingml/2006/main">
            <a:srgbClr val="0F766E"/>
          </a:solidFill>
          <a:ln xmlns:a="http://schemas.openxmlformats.org/drawingml/2006/main" w="0">
            <a:solidFill>
              <a:srgbClr val="0F766E"/>
            </a:solidFill>
            <a:prstDash val="solid"/>
          </a:ln>
        </p:spPr>
      </p:sp>
      <p:sp>
        <p:nvSpPr>
          <p:cNvPr id="12" name="">
            <a:extLst xmlns:a="http://schemas.openxmlformats.org/drawingml/2006/main">
              <a:ext uri="{FF2B5EF4-FFF2-40B4-BE49-F238E27FC236}">
                <a16:creationId xmlns:a16="http://schemas.microsoft.com/office/drawing/2014/main" id="{3B7B5A49-AAB3-4902-8903-AF45CD6AA242}"/>
              </a:ext>
            </a:extLst>
          </p:cNvPr>
          <p:cNvSpPr>
            <a:spLocks xmlns:a="http://schemas.openxmlformats.org/drawingml/2006/main" noGrp="1"/>
          </p:cNvSpPr>
          <p:nvPr/>
        </p:nvSpPr>
        <p:spPr>
          <a:xfrm xmlns:a="http://schemas.openxmlformats.org/drawingml/2006/main">
            <a:off x="8248650" y="3276600"/>
            <a:ext cx="30670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1425">
                <a:solidFill>
                  <a:srgbClr val="111827"/>
                </a:solidFill>
                <a:latin typeface="Helvetica Neue"/>
                <a:ea typeface="Helvetica Neue"/>
                <a:cs typeface="Helvetica Neue"/>
              </a:defRPr>
            </a:pPr>
            <a:r>
              <a:rPr sz="1425">
                <a:solidFill>
                  <a:srgbClr val="111827"/>
                </a:solidFill>
                <a:latin typeface="Helvetica Neue"/>
                <a:ea typeface="Helvetica Neue"/>
                <a:cs typeface="Helvetica Neue"/>
              </a:rPr>
              <a:t>Stable client-facing column names</a:t>
            </a:r>
          </a:p>
        </p:txBody>
      </p:sp>
      <p:sp>
        <p:nvSpPr>
          <p:cNvPr id="13" name="">
            <a:extLst xmlns:a="http://schemas.openxmlformats.org/drawingml/2006/main">
              <a:ext uri="{FF2B5EF4-FFF2-40B4-BE49-F238E27FC236}">
                <a16:creationId xmlns:a16="http://schemas.microsoft.com/office/drawing/2014/main" id="{57DCA1C2-7736-403A-BED2-2619B19AA301}"/>
              </a:ext>
            </a:extLst>
          </p:cNvPr>
          <p:cNvSpPr>
            <a:spLocks xmlns:a="http://schemas.openxmlformats.org/drawingml/2006/main" noGrp="1"/>
          </p:cNvSpPr>
          <p:nvPr/>
        </p:nvSpPr>
        <p:spPr>
          <a:xfrm xmlns:a="http://schemas.openxmlformats.org/drawingml/2006/main">
            <a:off x="7981950" y="4152900"/>
            <a:ext cx="85725" cy="304800"/>
          </a:xfrm>
          <a:prstGeom xmlns:a="http://schemas.openxmlformats.org/drawingml/2006/main" prst="rect">
            <a:avLst/>
          </a:prstGeom>
          <a:solidFill xmlns:a="http://schemas.openxmlformats.org/drawingml/2006/main">
            <a:srgbClr val="0F766E"/>
          </a:solidFill>
          <a:ln xmlns:a="http://schemas.openxmlformats.org/drawingml/2006/main" w="0">
            <a:solidFill>
              <a:srgbClr val="0F766E"/>
            </a:solidFill>
            <a:prstDash val="solid"/>
          </a:ln>
        </p:spPr>
      </p:sp>
      <p:sp>
        <p:nvSpPr>
          <p:cNvPr id="14" name="">
            <a:extLst xmlns:a="http://schemas.openxmlformats.org/drawingml/2006/main">
              <a:ext uri="{FF2B5EF4-FFF2-40B4-BE49-F238E27FC236}">
                <a16:creationId xmlns:a16="http://schemas.microsoft.com/office/drawing/2014/main" id="{ED43BDE4-31F6-4464-B8DF-1CBB34186544}"/>
              </a:ext>
            </a:extLst>
          </p:cNvPr>
          <p:cNvSpPr>
            <a:spLocks xmlns:a="http://schemas.openxmlformats.org/drawingml/2006/main" noGrp="1"/>
          </p:cNvSpPr>
          <p:nvPr/>
        </p:nvSpPr>
        <p:spPr>
          <a:xfrm xmlns:a="http://schemas.openxmlformats.org/drawingml/2006/main">
            <a:off x="8248650" y="4095750"/>
            <a:ext cx="30670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1425">
                <a:solidFill>
                  <a:srgbClr val="111827"/>
                </a:solidFill>
                <a:latin typeface="Helvetica Neue"/>
                <a:ea typeface="Helvetica Neue"/>
                <a:cs typeface="Helvetica Neue"/>
              </a:defRPr>
            </a:pPr>
            <a:r>
              <a:rPr sz="1425">
                <a:solidFill>
                  <a:srgbClr val="111827"/>
                </a:solidFill>
                <a:latin typeface="Helvetica Neue"/>
                <a:ea typeface="Helvetica Neue"/>
                <a:cs typeface="Helvetica Neue"/>
              </a:rPr>
              <a:t>Relationship and status definition remain explicit</a:t>
            </a:r>
          </a:p>
        </p:txBody>
      </p:sp>
    </p:spTree>
    <p:extLst>
      <p:ext uri="{BB962C8B-B14F-4D97-AF65-F5344CB8AC3E}">
        <p14:creationId xmlns:p14="http://schemas.microsoft.com/office/powerpoint/2010/main" val="1091922280"/>
      </p:ext>
    </p:extLst>
  </p:cSld>
</p:sld>
</file>

<file path=ppt/slides/slide6.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8A8334AE-9B08-4DB3-88D2-0C0EF2051D8A}"/>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CFCFA"/>
          </a:solidFill>
          <a:ln xmlns:a="http://schemas.openxmlformats.org/drawingml/2006/main" w="0">
            <a:solidFill>
              <a:srgbClr val="FCFCFA"/>
            </a:solidFill>
            <a:prstDash val="solid"/>
          </a:ln>
        </p:spPr>
      </p:sp>
      <p:sp>
        <p:nvSpPr>
          <p:cNvPr id="2" name="eyebrow">
            <a:extLst xmlns:a="http://schemas.openxmlformats.org/drawingml/2006/main">
              <a:ext uri="{FF2B5EF4-FFF2-40B4-BE49-F238E27FC236}">
                <a16:creationId xmlns:a16="http://schemas.microsoft.com/office/drawing/2014/main" id="{C5309FB9-B860-48BD-A7AE-1C37FC6DA7CA}"/>
              </a:ext>
            </a:extLst>
          </p:cNvPr>
          <p:cNvSpPr>
            <a:spLocks xmlns:a="http://schemas.openxmlformats.org/drawingml/2006/main" noGrp="1"/>
          </p:cNvSpPr>
          <p:nvPr/>
        </p:nvSpPr>
        <p:spPr>
          <a:xfrm xmlns:a="http://schemas.openxmlformats.org/drawingml/2006/main">
            <a:off x="609600" y="295275"/>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975" b="1">
                <a:solidFill>
                  <a:srgbClr val="0F766E"/>
                </a:solidFill>
                <a:latin typeface="Helvetica Neue"/>
                <a:ea typeface="Helvetica Neue"/>
                <a:cs typeface="Helvetica Neue"/>
              </a:defRPr>
            </a:pPr>
            <a:r>
              <a:rPr sz="975" b="1">
                <a:solidFill>
                  <a:srgbClr val="0F766E"/>
                </a:solidFill>
                <a:latin typeface="Helvetica Neue"/>
                <a:ea typeface="Helvetica Neue"/>
                <a:cs typeface="Helvetica Neue"/>
              </a:rPr>
              <a:t>WEEK 04  /  CST4714</a:t>
            </a:r>
          </a:p>
        </p:txBody>
      </p:sp>
      <p:sp>
        <p:nvSpPr>
          <p:cNvPr id="3" name="slide-title">
            <a:extLst xmlns:a="http://schemas.openxmlformats.org/drawingml/2006/main">
              <a:ext uri="{FF2B5EF4-FFF2-40B4-BE49-F238E27FC236}">
                <a16:creationId xmlns:a16="http://schemas.microsoft.com/office/drawing/2014/main" id="{2E7BDC29-2524-471D-B7EB-00470E60EA8B}"/>
              </a:ext>
            </a:extLst>
          </p:cNvPr>
          <p:cNvSpPr>
            <a:spLocks xmlns:a="http://schemas.openxmlformats.org/drawingml/2006/main" noGrp="1"/>
          </p:cNvSpPr>
          <p:nvPr/>
        </p:nvSpPr>
        <p:spPr>
          <a:xfrm xmlns:a="http://schemas.openxmlformats.org/drawingml/2006/main">
            <a:off x="609600" y="590550"/>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2850" b="1">
                <a:solidFill>
                  <a:srgbClr val="111827"/>
                </a:solidFill>
                <a:latin typeface="Helvetica Neue"/>
                <a:ea typeface="Helvetica Neue"/>
                <a:cs typeface="Helvetica Neue"/>
              </a:defRPr>
            </a:pPr>
            <a:r>
              <a:rPr sz="2850" b="1">
                <a:solidFill>
                  <a:srgbClr val="111827"/>
                </a:solidFill>
                <a:latin typeface="Helvetica Neue"/>
                <a:ea typeface="Helvetica Neue"/>
                <a:cs typeface="Helvetica Neue"/>
              </a:rPr>
              <a:t>Lab 1: Create and verify one stable view</a:t>
            </a:r>
          </a:p>
        </p:txBody>
      </p:sp>
      <p:sp>
        <p:nvSpPr>
          <p:cNvPr id="4" name="">
            <a:extLst xmlns:a="http://schemas.openxmlformats.org/drawingml/2006/main">
              <a:ext uri="{FF2B5EF4-FFF2-40B4-BE49-F238E27FC236}">
                <a16:creationId xmlns:a16="http://schemas.microsoft.com/office/drawing/2014/main" id="{B0289F34-EA2D-4B65-BB15-51F7D5BE6764}"/>
              </a:ext>
            </a:extLst>
          </p:cNvPr>
          <p:cNvSpPr>
            <a:spLocks xmlns:a="http://schemas.openxmlformats.org/drawingml/2006/main" noGrp="1"/>
          </p:cNvSpPr>
          <p:nvPr/>
        </p:nvSpPr>
        <p:spPr>
          <a:xfrm xmlns:a="http://schemas.openxmlformats.org/drawingml/2006/main">
            <a:off x="609600" y="1295400"/>
            <a:ext cx="1097280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
        <p:nvSpPr>
          <p:cNvPr id="5" name="slide-number">
            <a:extLst xmlns:a="http://schemas.openxmlformats.org/drawingml/2006/main">
              <a:ext uri="{FF2B5EF4-FFF2-40B4-BE49-F238E27FC236}">
                <a16:creationId xmlns:a16="http://schemas.microsoft.com/office/drawing/2014/main" id="{A3808654-54E5-430E-9E0B-D569BE43C47D}"/>
              </a:ext>
            </a:extLst>
          </p:cNvPr>
          <p:cNvSpPr>
            <a:spLocks xmlns:a="http://schemas.openxmlformats.org/drawingml/2006/main" noGrp="1"/>
          </p:cNvSpPr>
          <p:nvPr/>
        </p:nvSpPr>
        <p:spPr>
          <a:xfrm xmlns:a="http://schemas.openxmlformats.org/drawingml/2006/main">
            <a:off x="11144250" y="64865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r">
              <a:defRPr sz="825">
                <a:solidFill>
                  <a:srgbClr val="94A3B8"/>
                </a:solidFill>
                <a:latin typeface="Helvetica Neue"/>
                <a:ea typeface="Helvetica Neue"/>
                <a:cs typeface="Helvetica Neue"/>
              </a:defRPr>
            </a:pPr>
            <a:r>
              <a:rPr sz="825">
                <a:solidFill>
                  <a:srgbClr val="94A3B8"/>
                </a:solidFill>
                <a:latin typeface="Helvetica Neue"/>
                <a:ea typeface="Helvetica Neue"/>
                <a:cs typeface="Helvetica Neue"/>
              </a:rPr>
              <a:t>6</a:t>
            </a:r>
          </a:p>
        </p:txBody>
      </p:sp>
      <p:sp>
        <p:nvSpPr>
          <p:cNvPr id="6" name="">
            <a:extLst xmlns:a="http://schemas.openxmlformats.org/drawingml/2006/main">
              <a:ext uri="{FF2B5EF4-FFF2-40B4-BE49-F238E27FC236}">
                <a16:creationId xmlns:a16="http://schemas.microsoft.com/office/drawing/2014/main" id="{01D9181A-71ED-4312-AE13-CC93EA19F2AE}"/>
              </a:ext>
            </a:extLst>
          </p:cNvPr>
          <p:cNvSpPr>
            <a:spLocks xmlns:a="http://schemas.openxmlformats.org/drawingml/2006/main" noGrp="1"/>
          </p:cNvSpPr>
          <p:nvPr/>
        </p:nvSpPr>
        <p:spPr>
          <a:xfrm xmlns:a="http://schemas.openxmlformats.org/drawingml/2006/main">
            <a:off x="723900" y="160020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1875">
                <a:solidFill>
                  <a:srgbClr val="475569"/>
                </a:solidFill>
                <a:latin typeface="Helvetica Neue"/>
                <a:ea typeface="Helvetica Neue"/>
                <a:cs typeface="Helvetica Neue"/>
              </a:defRPr>
            </a:pPr>
            <a:r>
              <a:rPr sz="1875">
                <a:solidFill>
                  <a:srgbClr val="475569"/>
                </a:solidFill>
                <a:latin typeface="Helvetica Neue"/>
                <a:ea typeface="Helvetica Neue"/>
                <a:cs typeface="Helvetica Neue"/>
              </a:rPr>
              <a:t>Record execution identity, create a client-facing query interface, and test its result contract.</a:t>
            </a:r>
          </a:p>
        </p:txBody>
      </p:sp>
      <p:sp>
        <p:nvSpPr>
          <p:cNvPr id="7" name="">
            <a:extLst xmlns:a="http://schemas.openxmlformats.org/drawingml/2006/main">
              <a:ext uri="{FF2B5EF4-FFF2-40B4-BE49-F238E27FC236}">
                <a16:creationId xmlns:a16="http://schemas.microsoft.com/office/drawing/2014/main" id="{78CE6256-8070-4A24-95DD-BA9824718D87}"/>
              </a:ext>
            </a:extLst>
          </p:cNvPr>
          <p:cNvSpPr>
            <a:spLocks xmlns:a="http://schemas.openxmlformats.org/drawingml/2006/main" noGrp="1"/>
          </p:cNvSpPr>
          <p:nvPr/>
        </p:nvSpPr>
        <p:spPr>
          <a:xfrm xmlns:a="http://schemas.openxmlformats.org/drawingml/2006/main">
            <a:off x="876300" y="2571750"/>
            <a:ext cx="85725" cy="304800"/>
          </a:xfrm>
          <a:prstGeom xmlns:a="http://schemas.openxmlformats.org/drawingml/2006/main" prst="rect">
            <a:avLst/>
          </a:prstGeom>
          <a:solidFill xmlns:a="http://schemas.openxmlformats.org/drawingml/2006/main">
            <a:srgbClr val="0F766E"/>
          </a:solidFill>
          <a:ln xmlns:a="http://schemas.openxmlformats.org/drawingml/2006/main" w="0">
            <a:solidFill>
              <a:srgbClr val="0F766E"/>
            </a:solidFill>
            <a:prstDash val="solid"/>
          </a:ln>
        </p:spPr>
      </p:sp>
      <p:sp>
        <p:nvSpPr>
          <p:cNvPr id="8" name="">
            <a:extLst xmlns:a="http://schemas.openxmlformats.org/drawingml/2006/main">
              <a:ext uri="{FF2B5EF4-FFF2-40B4-BE49-F238E27FC236}">
                <a16:creationId xmlns:a16="http://schemas.microsoft.com/office/drawing/2014/main" id="{9CEF2366-C2A2-4F60-98BF-C5BB39D5686E}"/>
              </a:ext>
            </a:extLst>
          </p:cNvPr>
          <p:cNvSpPr>
            <a:spLocks xmlns:a="http://schemas.openxmlformats.org/drawingml/2006/main" noGrp="1"/>
          </p:cNvSpPr>
          <p:nvPr/>
        </p:nvSpPr>
        <p:spPr>
          <a:xfrm xmlns:a="http://schemas.openxmlformats.org/drawingml/2006/main">
            <a:off x="1143000" y="2514600"/>
            <a:ext cx="100203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1650">
                <a:solidFill>
                  <a:srgbClr val="111827"/>
                </a:solidFill>
                <a:latin typeface="Helvetica Neue"/>
                <a:ea typeface="Helvetica Neue"/>
                <a:cs typeface="Helvetica Neue"/>
              </a:defRPr>
            </a:pPr>
            <a:r>
              <a:rPr sz="1650">
                <a:solidFill>
                  <a:srgbClr val="111827"/>
                </a:solidFill>
                <a:latin typeface="Helvetica Neue"/>
                <a:ea typeface="Helvetica Neue"/>
                <a:cs typeface="Helvetica Neue"/>
              </a:rPr>
              <a:t>Record database, current user, schema, and search path.</a:t>
            </a:r>
          </a:p>
        </p:txBody>
      </p:sp>
      <p:sp>
        <p:nvSpPr>
          <p:cNvPr id="9" name="">
            <a:extLst xmlns:a="http://schemas.openxmlformats.org/drawingml/2006/main">
              <a:ext uri="{FF2B5EF4-FFF2-40B4-BE49-F238E27FC236}">
                <a16:creationId xmlns:a16="http://schemas.microsoft.com/office/drawing/2014/main" id="{32A1BDDF-D0BC-44B5-B231-3DC15D0160A3}"/>
              </a:ext>
            </a:extLst>
          </p:cNvPr>
          <p:cNvSpPr>
            <a:spLocks xmlns:a="http://schemas.openxmlformats.org/drawingml/2006/main" noGrp="1"/>
          </p:cNvSpPr>
          <p:nvPr/>
        </p:nvSpPr>
        <p:spPr>
          <a:xfrm xmlns:a="http://schemas.openxmlformats.org/drawingml/2006/main">
            <a:off x="876300" y="3286125"/>
            <a:ext cx="85725" cy="304800"/>
          </a:xfrm>
          <a:prstGeom xmlns:a="http://schemas.openxmlformats.org/drawingml/2006/main" prst="rect">
            <a:avLst/>
          </a:prstGeom>
          <a:solidFill xmlns:a="http://schemas.openxmlformats.org/drawingml/2006/main">
            <a:srgbClr val="0F766E"/>
          </a:solidFill>
          <a:ln xmlns:a="http://schemas.openxmlformats.org/drawingml/2006/main" w="0">
            <a:solidFill>
              <a:srgbClr val="0F766E"/>
            </a:solidFill>
            <a:prstDash val="solid"/>
          </a:ln>
        </p:spPr>
      </p:sp>
      <p:sp>
        <p:nvSpPr>
          <p:cNvPr id="10" name="">
            <a:extLst xmlns:a="http://schemas.openxmlformats.org/drawingml/2006/main">
              <a:ext uri="{FF2B5EF4-FFF2-40B4-BE49-F238E27FC236}">
                <a16:creationId xmlns:a16="http://schemas.microsoft.com/office/drawing/2014/main" id="{4B8EDC0B-C15B-481B-974A-79BA90BD3391}"/>
              </a:ext>
            </a:extLst>
          </p:cNvPr>
          <p:cNvSpPr>
            <a:spLocks xmlns:a="http://schemas.openxmlformats.org/drawingml/2006/main" noGrp="1"/>
          </p:cNvSpPr>
          <p:nvPr/>
        </p:nvSpPr>
        <p:spPr>
          <a:xfrm xmlns:a="http://schemas.openxmlformats.org/drawingml/2006/main">
            <a:off x="1143000" y="3228975"/>
            <a:ext cx="100203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1650">
                <a:solidFill>
                  <a:srgbClr val="111827"/>
                </a:solidFill>
                <a:latin typeface="Helvetica Neue"/>
                <a:ea typeface="Helvetica Neue"/>
                <a:cs typeface="Helvetica Neue"/>
              </a:defRPr>
            </a:pPr>
            <a:r>
              <a:rPr sz="1650">
                <a:solidFill>
                  <a:srgbClr val="111827"/>
                </a:solidFill>
                <a:latin typeface="Helvetica Neue"/>
                <a:ea typeface="Helvetica Neue"/>
                <a:cs typeface="Helvetica Neue"/>
              </a:rPr>
              <a:t>Create one view with an explicit result grain and stable column names.</a:t>
            </a:r>
          </a:p>
        </p:txBody>
      </p:sp>
      <p:sp>
        <p:nvSpPr>
          <p:cNvPr id="11" name="">
            <a:extLst xmlns:a="http://schemas.openxmlformats.org/drawingml/2006/main">
              <a:ext uri="{FF2B5EF4-FFF2-40B4-BE49-F238E27FC236}">
                <a16:creationId xmlns:a16="http://schemas.microsoft.com/office/drawing/2014/main" id="{DCA15C92-C912-44DF-AB63-86AB430ED6DF}"/>
              </a:ext>
            </a:extLst>
          </p:cNvPr>
          <p:cNvSpPr>
            <a:spLocks xmlns:a="http://schemas.openxmlformats.org/drawingml/2006/main" noGrp="1"/>
          </p:cNvSpPr>
          <p:nvPr/>
        </p:nvSpPr>
        <p:spPr>
          <a:xfrm xmlns:a="http://schemas.openxmlformats.org/drawingml/2006/main">
            <a:off x="876300" y="4000500"/>
            <a:ext cx="85725" cy="304800"/>
          </a:xfrm>
          <a:prstGeom xmlns:a="http://schemas.openxmlformats.org/drawingml/2006/main" prst="rect">
            <a:avLst/>
          </a:prstGeom>
          <a:solidFill xmlns:a="http://schemas.openxmlformats.org/drawingml/2006/main">
            <a:srgbClr val="0F766E"/>
          </a:solidFill>
          <a:ln xmlns:a="http://schemas.openxmlformats.org/drawingml/2006/main" w="0">
            <a:solidFill>
              <a:srgbClr val="0F766E"/>
            </a:solidFill>
            <a:prstDash val="solid"/>
          </a:ln>
        </p:spPr>
      </p:sp>
      <p:sp>
        <p:nvSpPr>
          <p:cNvPr id="12" name="">
            <a:extLst xmlns:a="http://schemas.openxmlformats.org/drawingml/2006/main">
              <a:ext uri="{FF2B5EF4-FFF2-40B4-BE49-F238E27FC236}">
                <a16:creationId xmlns:a16="http://schemas.microsoft.com/office/drawing/2014/main" id="{D19AF19F-ABE8-450B-A328-0D3661877CE7}"/>
              </a:ext>
            </a:extLst>
          </p:cNvPr>
          <p:cNvSpPr>
            <a:spLocks xmlns:a="http://schemas.openxmlformats.org/drawingml/2006/main" noGrp="1"/>
          </p:cNvSpPr>
          <p:nvPr/>
        </p:nvSpPr>
        <p:spPr>
          <a:xfrm xmlns:a="http://schemas.openxmlformats.org/drawingml/2006/main">
            <a:off x="1143000" y="3943350"/>
            <a:ext cx="100203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1650">
                <a:solidFill>
                  <a:srgbClr val="111827"/>
                </a:solidFill>
                <a:latin typeface="Helvetica Neue"/>
                <a:ea typeface="Helvetica Neue"/>
                <a:cs typeface="Helvetica Neue"/>
              </a:defRPr>
            </a:pPr>
            <a:r>
              <a:rPr sz="1650">
                <a:solidFill>
                  <a:srgbClr val="111827"/>
                </a:solidFill>
                <a:latin typeface="Helvetica Neue"/>
                <a:ea typeface="Helvetica Neue"/>
                <a:cs typeface="Helvetica Neue"/>
              </a:rPr>
              <a:t>Query it under the intended context and verify identifiers, columns, and count.</a:t>
            </a:r>
          </a:p>
        </p:txBody>
      </p:sp>
      <p:sp>
        <p:nvSpPr>
          <p:cNvPr id="13" name="">
            <a:extLst xmlns:a="http://schemas.openxmlformats.org/drawingml/2006/main">
              <a:ext uri="{FF2B5EF4-FFF2-40B4-BE49-F238E27FC236}">
                <a16:creationId xmlns:a16="http://schemas.microsoft.com/office/drawing/2014/main" id="{7038C815-4789-492B-8AA7-006F2AAD1B27}"/>
              </a:ext>
            </a:extLst>
          </p:cNvPr>
          <p:cNvSpPr>
            <a:spLocks xmlns:a="http://schemas.openxmlformats.org/drawingml/2006/main" noGrp="1"/>
          </p:cNvSpPr>
          <p:nvPr/>
        </p:nvSpPr>
        <p:spPr>
          <a:xfrm xmlns:a="http://schemas.openxmlformats.org/drawingml/2006/main">
            <a:off x="723900" y="5429250"/>
            <a:ext cx="10287000" cy="666750"/>
          </a:xfrm>
          <a:prstGeom xmlns:a="http://schemas.openxmlformats.org/drawingml/2006/main" prst="rect">
            <a:avLst/>
          </a:prstGeom>
          <a:solidFill xmlns:a="http://schemas.openxmlformats.org/drawingml/2006/main">
            <a:srgbClr val="0F766E"/>
          </a:solidFill>
          <a:ln xmlns:a="http://schemas.openxmlformats.org/drawingml/2006/main" w="9525">
            <a:solidFill>
              <a:srgbClr val="0F766E"/>
            </a:solidFill>
            <a:prstDash val="solid"/>
          </a:ln>
        </p:spPr>
      </p:sp>
      <p:sp>
        <p:nvSpPr>
          <p:cNvPr id="14" name="">
            <a:extLst xmlns:a="http://schemas.openxmlformats.org/drawingml/2006/main">
              <a:ext uri="{FF2B5EF4-FFF2-40B4-BE49-F238E27FC236}">
                <a16:creationId xmlns:a16="http://schemas.microsoft.com/office/drawing/2014/main" id="{95877B2C-AA0C-44FF-BE5E-E2A1FA5FAE54}"/>
              </a:ext>
            </a:extLst>
          </p:cNvPr>
          <p:cNvSpPr>
            <a:spLocks xmlns:a="http://schemas.openxmlformats.org/drawingml/2006/main" noGrp="1"/>
          </p:cNvSpPr>
          <p:nvPr/>
        </p:nvSpPr>
        <p:spPr>
          <a:xfrm xmlns:a="http://schemas.openxmlformats.org/drawingml/2006/main">
            <a:off x="933450" y="5591175"/>
            <a:ext cx="98583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defRPr sz="1425" b="1">
                <a:solidFill>
                  <a:srgbClr val="FFFFFF"/>
                </a:solidFill>
                <a:latin typeface="Helvetica Neue"/>
                <a:ea typeface="Helvetica Neue"/>
                <a:cs typeface="Helvetica Neue"/>
              </a:defRPr>
            </a:pPr>
            <a:r>
              <a:rPr sz="1425" b="1">
                <a:solidFill>
                  <a:srgbClr val="FFFFFF"/>
                </a:solidFill>
                <a:latin typeface="Helvetica Neue"/>
                <a:ea typeface="Helvetica Neue"/>
                <a:cs typeface="Helvetica Neue"/>
              </a:rPr>
              <a:t>SUBMIT ONE THING  /  one view-and-context evidence record</a:t>
            </a:r>
          </a:p>
        </p:txBody>
      </p:sp>
    </p:spTree>
    <p:extLst>
      <p:ext uri="{BB962C8B-B14F-4D97-AF65-F5344CB8AC3E}">
        <p14:creationId xmlns:p14="http://schemas.microsoft.com/office/powerpoint/2010/main" val="992484883"/>
      </p:ext>
    </p:extLst>
  </p:cSld>
</p:sld>
</file>

<file path=ppt/slides/slide7.xml><?xml version="1.0" encoding="utf-8"?>
<p:sld xmlns:p="http://schemas.openxmlformats.org/presentationml/2006/main">
  <p:cSld>
    <p:bg>
      <p:bgPr>
        <a:solidFill xmlns:a="http://schemas.openxmlformats.org/drawingml/2006/main">
          <a:srgbClr val="0F766E"/>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CB99E365-3A0D-4256-BD1D-CF46795762D0}"/>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F766E"/>
          </a:solidFill>
          <a:ln xmlns:a="http://schemas.openxmlformats.org/drawingml/2006/main" w="0">
            <a:solidFill>
              <a:srgbClr val="0F766E"/>
            </a:solidFill>
            <a:prstDash val="solid"/>
          </a:ln>
        </p:spPr>
      </p:sp>
      <p:sp>
        <p:nvSpPr>
          <p:cNvPr id="2" name="">
            <a:extLst xmlns:a="http://schemas.openxmlformats.org/drawingml/2006/main">
              <a:ext uri="{FF2B5EF4-FFF2-40B4-BE49-F238E27FC236}">
                <a16:creationId xmlns:a16="http://schemas.microsoft.com/office/drawing/2014/main" id="{4F789FE8-761A-419A-B5CC-AC849CBB0251}"/>
              </a:ext>
            </a:extLst>
          </p:cNvPr>
          <p:cNvSpPr>
            <a:spLocks xmlns:a="http://schemas.openxmlformats.org/drawingml/2006/main" noGrp="1"/>
          </p:cNvSpPr>
          <p:nvPr/>
        </p:nvSpPr>
        <p:spPr>
          <a:xfrm xmlns:a="http://schemas.openxmlformats.org/drawingml/2006/main">
            <a:off x="685800" y="590550"/>
            <a:ext cx="4000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DAY 2</a:t>
            </a:r>
          </a:p>
        </p:txBody>
      </p:sp>
      <p:sp>
        <p:nvSpPr>
          <p:cNvPr id="3" name="">
            <a:extLst xmlns:a="http://schemas.openxmlformats.org/drawingml/2006/main">
              <a:ext uri="{FF2B5EF4-FFF2-40B4-BE49-F238E27FC236}">
                <a16:creationId xmlns:a16="http://schemas.microsoft.com/office/drawing/2014/main" id="{90343B8E-A9D5-456D-9DC3-091E3B0EBBFF}"/>
              </a:ext>
            </a:extLst>
          </p:cNvPr>
          <p:cNvSpPr>
            <a:spLocks xmlns:a="http://schemas.openxmlformats.org/drawingml/2006/main" noGrp="1"/>
          </p:cNvSpPr>
          <p:nvPr/>
        </p:nvSpPr>
        <p:spPr>
          <a:xfrm xmlns:a="http://schemas.openxmlformats.org/drawingml/2006/main">
            <a:off x="685800" y="1809750"/>
            <a:ext cx="9906000" cy="1905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4350" b="1">
                <a:solidFill>
                  <a:srgbClr val="FFFFFF"/>
                </a:solidFill>
                <a:latin typeface="Helvetica Neue"/>
                <a:ea typeface="Helvetica Neue"/>
                <a:cs typeface="Helvetica Neue"/>
              </a:defRPr>
            </a:pPr>
            <a:r>
              <a:rPr sz="4350" b="1">
                <a:solidFill>
                  <a:srgbClr val="FFFFFF"/>
                </a:solidFill>
                <a:latin typeface="Helvetica Neue"/>
                <a:ea typeface="Helvetica Neue"/>
                <a:cs typeface="Helvetica Neue"/>
              </a:rPr>
              <a:t>Change compatibility before removing the old path</a:t>
            </a:r>
          </a:p>
        </p:txBody>
      </p:sp>
      <p:sp>
        <p:nvSpPr>
          <p:cNvPr id="4" name="">
            <a:extLst xmlns:a="http://schemas.openxmlformats.org/drawingml/2006/main">
              <a:ext uri="{FF2B5EF4-FFF2-40B4-BE49-F238E27FC236}">
                <a16:creationId xmlns:a16="http://schemas.microsoft.com/office/drawing/2014/main" id="{B58DDCBE-877D-4133-A32A-A69EB73807C5}"/>
              </a:ext>
            </a:extLst>
          </p:cNvPr>
          <p:cNvSpPr>
            <a:spLocks xmlns:a="http://schemas.openxmlformats.org/drawingml/2006/main" noGrp="1"/>
          </p:cNvSpPr>
          <p:nvPr/>
        </p:nvSpPr>
        <p:spPr>
          <a:xfrm xmlns:a="http://schemas.openxmlformats.org/drawingml/2006/main">
            <a:off x="723900" y="4095750"/>
            <a:ext cx="83820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1950">
                <a:solidFill>
                  <a:srgbClr val="F8FAFC"/>
                </a:solidFill>
                <a:latin typeface="Helvetica Neue"/>
                <a:ea typeface="Helvetica Neue"/>
                <a:cs typeface="Helvetica Neue"/>
              </a:defRPr>
            </a:pPr>
            <a:r>
              <a:rPr sz="1950">
                <a:solidFill>
                  <a:srgbClr val="F8FAFC"/>
                </a:solidFill>
                <a:latin typeface="Helvetica Neue"/>
                <a:ea typeface="Helvetica Neue"/>
                <a:cs typeface="Helvetica Neue"/>
              </a:rPr>
              <a:t>A migration is a sequence of observable states, not one dramatic command.</a:t>
            </a:r>
          </a:p>
        </p:txBody>
      </p:sp>
      <p:sp>
        <p:nvSpPr>
          <p:cNvPr id="5" name="">
            <a:extLst xmlns:a="http://schemas.openxmlformats.org/drawingml/2006/main">
              <a:ext uri="{FF2B5EF4-FFF2-40B4-BE49-F238E27FC236}">
                <a16:creationId xmlns:a16="http://schemas.microsoft.com/office/drawing/2014/main" id="{5C219F02-A26A-4374-864D-B92379F381F1}"/>
              </a:ext>
            </a:extLst>
          </p:cNvPr>
          <p:cNvSpPr>
            <a:spLocks xmlns:a="http://schemas.openxmlformats.org/drawingml/2006/main" noGrp="1"/>
          </p:cNvSpPr>
          <p:nvPr/>
        </p:nvSpPr>
        <p:spPr>
          <a:xfrm xmlns:a="http://schemas.openxmlformats.org/drawingml/2006/main">
            <a:off x="11144250" y="64865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r">
              <a:defRPr sz="825">
                <a:solidFill>
                  <a:srgbClr val="E2E8F0"/>
                </a:solidFill>
                <a:latin typeface="Helvetica Neue"/>
                <a:ea typeface="Helvetica Neue"/>
                <a:cs typeface="Helvetica Neue"/>
              </a:defRPr>
            </a:pPr>
            <a:r>
              <a:rPr sz="825">
                <a:solidFill>
                  <a:srgbClr val="E2E8F0"/>
                </a:solidFill>
                <a:latin typeface="Helvetica Neue"/>
                <a:ea typeface="Helvetica Neue"/>
                <a:cs typeface="Helvetica Neue"/>
              </a:rPr>
              <a:t>7</a:t>
            </a:r>
          </a:p>
        </p:txBody>
      </p:sp>
    </p:spTree>
    <p:extLst>
      <p:ext uri="{BB962C8B-B14F-4D97-AF65-F5344CB8AC3E}">
        <p14:creationId xmlns:p14="http://schemas.microsoft.com/office/powerpoint/2010/main" val="485872845"/>
      </p:ext>
    </p:extLst>
  </p:cSld>
</p:sld>
</file>

<file path=ppt/slides/slide8.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3A6B7A99-0991-49AA-B4AB-A7CBB8B1B0F5}"/>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CFCFA"/>
          </a:solidFill>
          <a:ln xmlns:a="http://schemas.openxmlformats.org/drawingml/2006/main" w="0">
            <a:solidFill>
              <a:srgbClr val="FCFCFA"/>
            </a:solidFill>
            <a:prstDash val="solid"/>
          </a:ln>
        </p:spPr>
      </p:sp>
      <p:sp>
        <p:nvSpPr>
          <p:cNvPr id="2" name="eyebrow">
            <a:extLst xmlns:a="http://schemas.openxmlformats.org/drawingml/2006/main">
              <a:ext uri="{FF2B5EF4-FFF2-40B4-BE49-F238E27FC236}">
                <a16:creationId xmlns:a16="http://schemas.microsoft.com/office/drawing/2014/main" id="{FC784746-08BB-4EAD-AF3C-35DAD07DB315}"/>
              </a:ext>
            </a:extLst>
          </p:cNvPr>
          <p:cNvSpPr>
            <a:spLocks xmlns:a="http://schemas.openxmlformats.org/drawingml/2006/main" noGrp="1"/>
          </p:cNvSpPr>
          <p:nvPr/>
        </p:nvSpPr>
        <p:spPr>
          <a:xfrm xmlns:a="http://schemas.openxmlformats.org/drawingml/2006/main">
            <a:off x="609600" y="295275"/>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975" b="1">
                <a:solidFill>
                  <a:srgbClr val="0F766E"/>
                </a:solidFill>
                <a:latin typeface="Helvetica Neue"/>
                <a:ea typeface="Helvetica Neue"/>
                <a:cs typeface="Helvetica Neue"/>
              </a:defRPr>
            </a:pPr>
            <a:r>
              <a:rPr sz="975" b="1">
                <a:solidFill>
                  <a:srgbClr val="0F766E"/>
                </a:solidFill>
                <a:latin typeface="Helvetica Neue"/>
                <a:ea typeface="Helvetica Neue"/>
                <a:cs typeface="Helvetica Neue"/>
              </a:rPr>
              <a:t>WEEK 04  /  CST4714</a:t>
            </a:r>
          </a:p>
        </p:txBody>
      </p:sp>
      <p:sp>
        <p:nvSpPr>
          <p:cNvPr id="3" name="slide-title">
            <a:extLst xmlns:a="http://schemas.openxmlformats.org/drawingml/2006/main">
              <a:ext uri="{FF2B5EF4-FFF2-40B4-BE49-F238E27FC236}">
                <a16:creationId xmlns:a16="http://schemas.microsoft.com/office/drawing/2014/main" id="{B1975B28-5D90-4D12-86EC-D51A39BDDED1}"/>
              </a:ext>
            </a:extLst>
          </p:cNvPr>
          <p:cNvSpPr>
            <a:spLocks xmlns:a="http://schemas.openxmlformats.org/drawingml/2006/main" noGrp="1"/>
          </p:cNvSpPr>
          <p:nvPr/>
        </p:nvSpPr>
        <p:spPr>
          <a:xfrm xmlns:a="http://schemas.openxmlformats.org/drawingml/2006/main">
            <a:off x="609600" y="590550"/>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2850" b="1">
                <a:solidFill>
                  <a:srgbClr val="111827"/>
                </a:solidFill>
                <a:latin typeface="Helvetica Neue"/>
                <a:ea typeface="Helvetica Neue"/>
                <a:cs typeface="Helvetica Neue"/>
              </a:defRPr>
            </a:pPr>
            <a:r>
              <a:rPr sz="2850" b="1">
                <a:solidFill>
                  <a:srgbClr val="111827"/>
                </a:solidFill>
                <a:latin typeface="Helvetica Neue"/>
                <a:ea typeface="Helvetica Neue"/>
                <a:cs typeface="Helvetica Neue"/>
              </a:rPr>
              <a:t>Expand, migrate, verify, then contract</a:t>
            </a:r>
          </a:p>
        </p:txBody>
      </p:sp>
      <p:sp>
        <p:nvSpPr>
          <p:cNvPr id="4" name="">
            <a:extLst xmlns:a="http://schemas.openxmlformats.org/drawingml/2006/main">
              <a:ext uri="{FF2B5EF4-FFF2-40B4-BE49-F238E27FC236}">
                <a16:creationId xmlns:a16="http://schemas.microsoft.com/office/drawing/2014/main" id="{128FA210-21F2-4F97-80FB-448EEA88A587}"/>
              </a:ext>
            </a:extLst>
          </p:cNvPr>
          <p:cNvSpPr>
            <a:spLocks xmlns:a="http://schemas.openxmlformats.org/drawingml/2006/main" noGrp="1"/>
          </p:cNvSpPr>
          <p:nvPr/>
        </p:nvSpPr>
        <p:spPr>
          <a:xfrm xmlns:a="http://schemas.openxmlformats.org/drawingml/2006/main">
            <a:off x="609600" y="1295400"/>
            <a:ext cx="1097280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
        <p:nvSpPr>
          <p:cNvPr id="5" name="slide-number">
            <a:extLst xmlns:a="http://schemas.openxmlformats.org/drawingml/2006/main">
              <a:ext uri="{FF2B5EF4-FFF2-40B4-BE49-F238E27FC236}">
                <a16:creationId xmlns:a16="http://schemas.microsoft.com/office/drawing/2014/main" id="{7CB70488-F635-4B03-B49F-AA30A165A704}"/>
              </a:ext>
            </a:extLst>
          </p:cNvPr>
          <p:cNvSpPr>
            <a:spLocks xmlns:a="http://schemas.openxmlformats.org/drawingml/2006/main" noGrp="1"/>
          </p:cNvSpPr>
          <p:nvPr/>
        </p:nvSpPr>
        <p:spPr>
          <a:xfrm xmlns:a="http://schemas.openxmlformats.org/drawingml/2006/main">
            <a:off x="11144250" y="64865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r">
              <a:defRPr sz="825">
                <a:solidFill>
                  <a:srgbClr val="94A3B8"/>
                </a:solidFill>
                <a:latin typeface="Helvetica Neue"/>
                <a:ea typeface="Helvetica Neue"/>
                <a:cs typeface="Helvetica Neue"/>
              </a:defRPr>
            </a:pPr>
            <a:r>
              <a:rPr sz="825">
                <a:solidFill>
                  <a:srgbClr val="94A3B8"/>
                </a:solidFill>
                <a:latin typeface="Helvetica Neue"/>
                <a:ea typeface="Helvetica Neue"/>
                <a:cs typeface="Helvetica Neue"/>
              </a:rPr>
              <a:t>8</a:t>
            </a:r>
          </a:p>
        </p:txBody>
      </p:sp>
      <p:sp>
        <p:nvSpPr>
          <p:cNvPr id="6" name="">
            <a:extLst xmlns:a="http://schemas.openxmlformats.org/drawingml/2006/main">
              <a:ext uri="{FF2B5EF4-FFF2-40B4-BE49-F238E27FC236}">
                <a16:creationId xmlns:a16="http://schemas.microsoft.com/office/drawing/2014/main" id="{A29B963E-440D-498A-B6DE-66E42E537939}"/>
              </a:ext>
            </a:extLst>
          </p:cNvPr>
          <p:cNvSpPr>
            <a:spLocks xmlns:a="http://schemas.openxmlformats.org/drawingml/2006/main" noGrp="1"/>
          </p:cNvSpPr>
          <p:nvPr/>
        </p:nvSpPr>
        <p:spPr>
          <a:xfrm xmlns:a="http://schemas.openxmlformats.org/drawingml/2006/main">
            <a:off x="1524000" y="2952750"/>
            <a:ext cx="9144000" cy="0"/>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sp>
      <p:sp>
        <p:nvSpPr>
          <p:cNvPr id="7" name="">
            <a:extLst xmlns:a="http://schemas.openxmlformats.org/drawingml/2006/main">
              <a:ext uri="{FF2B5EF4-FFF2-40B4-BE49-F238E27FC236}">
                <a16:creationId xmlns:a16="http://schemas.microsoft.com/office/drawing/2014/main" id="{2D2251D7-964C-441B-81D3-777954F2AC04}"/>
              </a:ext>
            </a:extLst>
          </p:cNvPr>
          <p:cNvSpPr>
            <a:spLocks xmlns:a="http://schemas.openxmlformats.org/drawingml/2006/main" noGrp="1"/>
          </p:cNvSpPr>
          <p:nvPr/>
        </p:nvSpPr>
        <p:spPr>
          <a:xfrm xmlns:a="http://schemas.openxmlformats.org/drawingml/2006/main">
            <a:off x="1381125" y="2809875"/>
            <a:ext cx="285750" cy="285750"/>
          </a:xfrm>
          <a:prstGeom xmlns:a="http://schemas.openxmlformats.org/drawingml/2006/main" prst="ellipse">
            <a:avLst/>
          </a:prstGeom>
          <a:solidFill xmlns:a="http://schemas.openxmlformats.org/drawingml/2006/main">
            <a:srgbClr val="0F766E"/>
          </a:solidFill>
          <a:ln xmlns:a="http://schemas.openxmlformats.org/drawingml/2006/main" w="28575">
            <a:solidFill>
              <a:srgbClr val="0F766E"/>
            </a:solidFill>
            <a:prstDash val="solid"/>
          </a:ln>
        </p:spPr>
      </p:sp>
      <p:sp>
        <p:nvSpPr>
          <p:cNvPr id="8" name="">
            <a:extLst xmlns:a="http://schemas.openxmlformats.org/drawingml/2006/main">
              <a:ext uri="{FF2B5EF4-FFF2-40B4-BE49-F238E27FC236}">
                <a16:creationId xmlns:a16="http://schemas.microsoft.com/office/drawing/2014/main" id="{542D1FC1-854D-460E-8A8E-DAC94F63FB0F}"/>
              </a:ext>
            </a:extLst>
          </p:cNvPr>
          <p:cNvSpPr>
            <a:spLocks xmlns:a="http://schemas.openxmlformats.org/drawingml/2006/main" noGrp="1"/>
          </p:cNvSpPr>
          <p:nvPr/>
        </p:nvSpPr>
        <p:spPr>
          <a:xfrm xmlns:a="http://schemas.openxmlformats.org/drawingml/2006/main">
            <a:off x="1409700" y="2847975"/>
            <a:ext cx="228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1</a:t>
            </a:r>
          </a:p>
        </p:txBody>
      </p:sp>
      <p:sp>
        <p:nvSpPr>
          <p:cNvPr id="9" name="">
            <a:extLst xmlns:a="http://schemas.openxmlformats.org/drawingml/2006/main">
              <a:ext uri="{FF2B5EF4-FFF2-40B4-BE49-F238E27FC236}">
                <a16:creationId xmlns:a16="http://schemas.microsoft.com/office/drawing/2014/main" id="{A29EF926-1E19-4293-9253-0D5908300B03}"/>
              </a:ext>
            </a:extLst>
          </p:cNvPr>
          <p:cNvSpPr>
            <a:spLocks xmlns:a="http://schemas.openxmlformats.org/drawingml/2006/main" noGrp="1"/>
          </p:cNvSpPr>
          <p:nvPr/>
        </p:nvSpPr>
        <p:spPr>
          <a:xfrm xmlns:a="http://schemas.openxmlformats.org/drawingml/2006/main">
            <a:off x="685800" y="3333750"/>
            <a:ext cx="1676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defRPr sz="1500" b="1">
                <a:solidFill>
                  <a:srgbClr val="111827"/>
                </a:solidFill>
                <a:latin typeface="Helvetica Neue"/>
                <a:ea typeface="Helvetica Neue"/>
                <a:cs typeface="Helvetica Neue"/>
              </a:defRPr>
            </a:pPr>
            <a:r>
              <a:rPr sz="1500" b="1">
                <a:solidFill>
                  <a:srgbClr val="111827"/>
                </a:solidFill>
                <a:latin typeface="Helvetica Neue"/>
                <a:ea typeface="Helvetica Neue"/>
                <a:cs typeface="Helvetica Neue"/>
              </a:rPr>
              <a:t>Precondition</a:t>
            </a:r>
          </a:p>
        </p:txBody>
      </p:sp>
      <p:sp>
        <p:nvSpPr>
          <p:cNvPr id="10" name="">
            <a:extLst xmlns:a="http://schemas.openxmlformats.org/drawingml/2006/main">
              <a:ext uri="{FF2B5EF4-FFF2-40B4-BE49-F238E27FC236}">
                <a16:creationId xmlns:a16="http://schemas.microsoft.com/office/drawing/2014/main" id="{0A1BF2BF-5DF7-4AA5-93C7-AF12127D3A6B}"/>
              </a:ext>
            </a:extLst>
          </p:cNvPr>
          <p:cNvSpPr>
            <a:spLocks xmlns:a="http://schemas.openxmlformats.org/drawingml/2006/main" noGrp="1"/>
          </p:cNvSpPr>
          <p:nvPr/>
        </p:nvSpPr>
        <p:spPr>
          <a:xfrm xmlns:a="http://schemas.openxmlformats.org/drawingml/2006/main">
            <a:off x="647700" y="3867150"/>
            <a:ext cx="17526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defRPr sz="1200">
                <a:solidFill>
                  <a:srgbClr val="475569"/>
                </a:solidFill>
                <a:latin typeface="Helvetica Neue"/>
                <a:ea typeface="Helvetica Neue"/>
                <a:cs typeface="Helvetica Neue"/>
              </a:defRPr>
            </a:pPr>
            <a:r>
              <a:rPr sz="1200">
                <a:solidFill>
                  <a:srgbClr val="475569"/>
                </a:solidFill>
                <a:latin typeface="Helvetica Neue"/>
                <a:ea typeface="Helvetica Neue"/>
                <a:cs typeface="Helvetica Neue"/>
              </a:rPr>
              <a:t>Confirm current schema, data, and dependencies</a:t>
            </a:r>
          </a:p>
        </p:txBody>
      </p:sp>
      <p:sp>
        <p:nvSpPr>
          <p:cNvPr id="11" name="">
            <a:extLst xmlns:a="http://schemas.openxmlformats.org/drawingml/2006/main">
              <a:ext uri="{FF2B5EF4-FFF2-40B4-BE49-F238E27FC236}">
                <a16:creationId xmlns:a16="http://schemas.microsoft.com/office/drawing/2014/main" id="{43384D38-B964-4D11-AE1C-AA55B985EC3B}"/>
              </a:ext>
            </a:extLst>
          </p:cNvPr>
          <p:cNvSpPr>
            <a:spLocks xmlns:a="http://schemas.openxmlformats.org/drawingml/2006/main" noGrp="1"/>
          </p:cNvSpPr>
          <p:nvPr/>
        </p:nvSpPr>
        <p:spPr>
          <a:xfrm xmlns:a="http://schemas.openxmlformats.org/drawingml/2006/main">
            <a:off x="3667125" y="2809875"/>
            <a:ext cx="285750" cy="285750"/>
          </a:xfrm>
          <a:prstGeom xmlns:a="http://schemas.openxmlformats.org/drawingml/2006/main" prst="ellipse">
            <a:avLst/>
          </a:prstGeom>
          <a:solidFill xmlns:a="http://schemas.openxmlformats.org/drawingml/2006/main">
            <a:srgbClr val="FFFFFF"/>
          </a:solidFill>
          <a:ln xmlns:a="http://schemas.openxmlformats.org/drawingml/2006/main" w="28575">
            <a:solidFill>
              <a:srgbClr val="0F766E"/>
            </a:solidFill>
            <a:prstDash val="solid"/>
          </a:ln>
        </p:spPr>
      </p:sp>
      <p:sp>
        <p:nvSpPr>
          <p:cNvPr id="12" name="">
            <a:extLst xmlns:a="http://schemas.openxmlformats.org/drawingml/2006/main">
              <a:ext uri="{FF2B5EF4-FFF2-40B4-BE49-F238E27FC236}">
                <a16:creationId xmlns:a16="http://schemas.microsoft.com/office/drawing/2014/main" id="{BF63B85E-D07A-42B8-A02D-B406D5981DB9}"/>
              </a:ext>
            </a:extLst>
          </p:cNvPr>
          <p:cNvSpPr>
            <a:spLocks xmlns:a="http://schemas.openxmlformats.org/drawingml/2006/main" noGrp="1"/>
          </p:cNvSpPr>
          <p:nvPr/>
        </p:nvSpPr>
        <p:spPr>
          <a:xfrm xmlns:a="http://schemas.openxmlformats.org/drawingml/2006/main">
            <a:off x="3695700" y="2847975"/>
            <a:ext cx="228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lgn="ctr">
              <a:defRPr sz="975" b="1">
                <a:solidFill>
                  <a:srgbClr val="0F766E"/>
                </a:solidFill>
                <a:latin typeface="Helvetica Neue"/>
                <a:ea typeface="Helvetica Neue"/>
                <a:cs typeface="Helvetica Neue"/>
              </a:defRPr>
            </a:pPr>
            <a:r>
              <a:rPr sz="975" b="1">
                <a:solidFill>
                  <a:srgbClr val="0F766E"/>
                </a:solidFill>
                <a:latin typeface="Helvetica Neue"/>
                <a:ea typeface="Helvetica Neue"/>
                <a:cs typeface="Helvetica Neue"/>
              </a:rPr>
              <a:t>2</a:t>
            </a:r>
          </a:p>
        </p:txBody>
      </p:sp>
      <p:sp>
        <p:nvSpPr>
          <p:cNvPr id="13" name="">
            <a:extLst xmlns:a="http://schemas.openxmlformats.org/drawingml/2006/main">
              <a:ext uri="{FF2B5EF4-FFF2-40B4-BE49-F238E27FC236}">
                <a16:creationId xmlns:a16="http://schemas.microsoft.com/office/drawing/2014/main" id="{A021A06C-F9ED-4475-ADB7-4A2DE725E892}"/>
              </a:ext>
            </a:extLst>
          </p:cNvPr>
          <p:cNvSpPr>
            <a:spLocks xmlns:a="http://schemas.openxmlformats.org/drawingml/2006/main" noGrp="1"/>
          </p:cNvSpPr>
          <p:nvPr/>
        </p:nvSpPr>
        <p:spPr>
          <a:xfrm xmlns:a="http://schemas.openxmlformats.org/drawingml/2006/main">
            <a:off x="2971800" y="3333750"/>
            <a:ext cx="1676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defRPr sz="1500" b="1">
                <a:solidFill>
                  <a:srgbClr val="111827"/>
                </a:solidFill>
                <a:latin typeface="Helvetica Neue"/>
                <a:ea typeface="Helvetica Neue"/>
                <a:cs typeface="Helvetica Neue"/>
              </a:defRPr>
            </a:pPr>
            <a:r>
              <a:rPr sz="1500" b="1">
                <a:solidFill>
                  <a:srgbClr val="111827"/>
                </a:solidFill>
                <a:latin typeface="Helvetica Neue"/>
                <a:ea typeface="Helvetica Neue"/>
                <a:cs typeface="Helvetica Neue"/>
              </a:rPr>
              <a:t>Expand</a:t>
            </a:r>
          </a:p>
        </p:txBody>
      </p:sp>
      <p:sp>
        <p:nvSpPr>
          <p:cNvPr id="14" name="">
            <a:extLst xmlns:a="http://schemas.openxmlformats.org/drawingml/2006/main">
              <a:ext uri="{FF2B5EF4-FFF2-40B4-BE49-F238E27FC236}">
                <a16:creationId xmlns:a16="http://schemas.microsoft.com/office/drawing/2014/main" id="{24097F33-161B-4DD5-888C-7594CC2F7C15}"/>
              </a:ext>
            </a:extLst>
          </p:cNvPr>
          <p:cNvSpPr>
            <a:spLocks xmlns:a="http://schemas.openxmlformats.org/drawingml/2006/main" noGrp="1"/>
          </p:cNvSpPr>
          <p:nvPr/>
        </p:nvSpPr>
        <p:spPr>
          <a:xfrm xmlns:a="http://schemas.openxmlformats.org/drawingml/2006/main">
            <a:off x="2933700" y="3867150"/>
            <a:ext cx="17526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defRPr sz="1200">
                <a:solidFill>
                  <a:srgbClr val="475569"/>
                </a:solidFill>
                <a:latin typeface="Helvetica Neue"/>
                <a:ea typeface="Helvetica Neue"/>
                <a:cs typeface="Helvetica Neue"/>
              </a:defRPr>
            </a:pPr>
            <a:r>
              <a:rPr sz="1200">
                <a:solidFill>
                  <a:srgbClr val="475569"/>
                </a:solidFill>
                <a:latin typeface="Helvetica Neue"/>
                <a:ea typeface="Helvetica Neue"/>
                <a:cs typeface="Helvetica Neue"/>
              </a:rPr>
              <a:t>Add a compatible column, view, or interface</a:t>
            </a:r>
          </a:p>
        </p:txBody>
      </p:sp>
      <p:sp>
        <p:nvSpPr>
          <p:cNvPr id="15" name="">
            <a:extLst xmlns:a="http://schemas.openxmlformats.org/drawingml/2006/main">
              <a:ext uri="{FF2B5EF4-FFF2-40B4-BE49-F238E27FC236}">
                <a16:creationId xmlns:a16="http://schemas.microsoft.com/office/drawing/2014/main" id="{B592644C-E202-4E02-B8BC-59C724EEC6B1}"/>
              </a:ext>
            </a:extLst>
          </p:cNvPr>
          <p:cNvSpPr>
            <a:spLocks xmlns:a="http://schemas.openxmlformats.org/drawingml/2006/main" noGrp="1"/>
          </p:cNvSpPr>
          <p:nvPr/>
        </p:nvSpPr>
        <p:spPr>
          <a:xfrm xmlns:a="http://schemas.openxmlformats.org/drawingml/2006/main">
            <a:off x="5953125" y="2809875"/>
            <a:ext cx="285750" cy="285750"/>
          </a:xfrm>
          <a:prstGeom xmlns:a="http://schemas.openxmlformats.org/drawingml/2006/main" prst="ellipse">
            <a:avLst/>
          </a:prstGeom>
          <a:solidFill xmlns:a="http://schemas.openxmlformats.org/drawingml/2006/main">
            <a:srgbClr val="FFFFFF"/>
          </a:solidFill>
          <a:ln xmlns:a="http://schemas.openxmlformats.org/drawingml/2006/main" w="28575">
            <a:solidFill>
              <a:srgbClr val="0F766E"/>
            </a:solidFill>
            <a:prstDash val="solid"/>
          </a:ln>
        </p:spPr>
      </p:sp>
      <p:sp>
        <p:nvSpPr>
          <p:cNvPr id="16" name="">
            <a:extLst xmlns:a="http://schemas.openxmlformats.org/drawingml/2006/main">
              <a:ext uri="{FF2B5EF4-FFF2-40B4-BE49-F238E27FC236}">
                <a16:creationId xmlns:a16="http://schemas.microsoft.com/office/drawing/2014/main" id="{C849703C-4994-4E0F-B5A4-D3078BACF86D}"/>
              </a:ext>
            </a:extLst>
          </p:cNvPr>
          <p:cNvSpPr>
            <a:spLocks xmlns:a="http://schemas.openxmlformats.org/drawingml/2006/main" noGrp="1"/>
          </p:cNvSpPr>
          <p:nvPr/>
        </p:nvSpPr>
        <p:spPr>
          <a:xfrm xmlns:a="http://schemas.openxmlformats.org/drawingml/2006/main">
            <a:off x="5981700" y="2847975"/>
            <a:ext cx="228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lgn="ctr">
              <a:defRPr sz="975" b="1">
                <a:solidFill>
                  <a:srgbClr val="0F766E"/>
                </a:solidFill>
                <a:latin typeface="Helvetica Neue"/>
                <a:ea typeface="Helvetica Neue"/>
                <a:cs typeface="Helvetica Neue"/>
              </a:defRPr>
            </a:pPr>
            <a:r>
              <a:rPr sz="975" b="1">
                <a:solidFill>
                  <a:srgbClr val="0F766E"/>
                </a:solidFill>
                <a:latin typeface="Helvetica Neue"/>
                <a:ea typeface="Helvetica Neue"/>
                <a:cs typeface="Helvetica Neue"/>
              </a:rPr>
              <a:t>3</a:t>
            </a:r>
          </a:p>
        </p:txBody>
      </p:sp>
      <p:sp>
        <p:nvSpPr>
          <p:cNvPr id="17" name="">
            <a:extLst xmlns:a="http://schemas.openxmlformats.org/drawingml/2006/main">
              <a:ext uri="{FF2B5EF4-FFF2-40B4-BE49-F238E27FC236}">
                <a16:creationId xmlns:a16="http://schemas.microsoft.com/office/drawing/2014/main" id="{E0236DDD-0C3C-48A4-A8F2-80D343D44400}"/>
              </a:ext>
            </a:extLst>
          </p:cNvPr>
          <p:cNvSpPr>
            <a:spLocks xmlns:a="http://schemas.openxmlformats.org/drawingml/2006/main" noGrp="1"/>
          </p:cNvSpPr>
          <p:nvPr/>
        </p:nvSpPr>
        <p:spPr>
          <a:xfrm xmlns:a="http://schemas.openxmlformats.org/drawingml/2006/main">
            <a:off x="5257800" y="3333750"/>
            <a:ext cx="1676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defRPr sz="1500" b="1">
                <a:solidFill>
                  <a:srgbClr val="111827"/>
                </a:solidFill>
                <a:latin typeface="Helvetica Neue"/>
                <a:ea typeface="Helvetica Neue"/>
                <a:cs typeface="Helvetica Neue"/>
              </a:defRPr>
            </a:pPr>
            <a:r>
              <a:rPr sz="1500" b="1">
                <a:solidFill>
                  <a:srgbClr val="111827"/>
                </a:solidFill>
                <a:latin typeface="Helvetica Neue"/>
                <a:ea typeface="Helvetica Neue"/>
                <a:cs typeface="Helvetica Neue"/>
              </a:rPr>
              <a:t>Migrate</a:t>
            </a:r>
          </a:p>
        </p:txBody>
      </p:sp>
      <p:sp>
        <p:nvSpPr>
          <p:cNvPr id="18" name="">
            <a:extLst xmlns:a="http://schemas.openxmlformats.org/drawingml/2006/main">
              <a:ext uri="{FF2B5EF4-FFF2-40B4-BE49-F238E27FC236}">
                <a16:creationId xmlns:a16="http://schemas.microsoft.com/office/drawing/2014/main" id="{FD9A4346-D950-48F4-82F5-7D03FD704496}"/>
              </a:ext>
            </a:extLst>
          </p:cNvPr>
          <p:cNvSpPr>
            <a:spLocks xmlns:a="http://schemas.openxmlformats.org/drawingml/2006/main" noGrp="1"/>
          </p:cNvSpPr>
          <p:nvPr/>
        </p:nvSpPr>
        <p:spPr>
          <a:xfrm xmlns:a="http://schemas.openxmlformats.org/drawingml/2006/main">
            <a:off x="5219700" y="3867150"/>
            <a:ext cx="17526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defRPr sz="1200">
                <a:solidFill>
                  <a:srgbClr val="475569"/>
                </a:solidFill>
                <a:latin typeface="Helvetica Neue"/>
                <a:ea typeface="Helvetica Neue"/>
                <a:cs typeface="Helvetica Neue"/>
              </a:defRPr>
            </a:pPr>
            <a:r>
              <a:rPr sz="1200">
                <a:solidFill>
                  <a:srgbClr val="475569"/>
                </a:solidFill>
                <a:latin typeface="Helvetica Neue"/>
                <a:ea typeface="Helvetica Neue"/>
                <a:cs typeface="Helvetica Neue"/>
              </a:rPr>
              <a:t>Backfill or move writers in controlled scope</a:t>
            </a:r>
          </a:p>
        </p:txBody>
      </p:sp>
      <p:sp>
        <p:nvSpPr>
          <p:cNvPr id="19" name="">
            <a:extLst xmlns:a="http://schemas.openxmlformats.org/drawingml/2006/main">
              <a:ext uri="{FF2B5EF4-FFF2-40B4-BE49-F238E27FC236}">
                <a16:creationId xmlns:a16="http://schemas.microsoft.com/office/drawing/2014/main" id="{494FB80B-34D1-430F-95EC-229FB8A8814D}"/>
              </a:ext>
            </a:extLst>
          </p:cNvPr>
          <p:cNvSpPr>
            <a:spLocks xmlns:a="http://schemas.openxmlformats.org/drawingml/2006/main" noGrp="1"/>
          </p:cNvSpPr>
          <p:nvPr/>
        </p:nvSpPr>
        <p:spPr>
          <a:xfrm xmlns:a="http://schemas.openxmlformats.org/drawingml/2006/main">
            <a:off x="8239125" y="2809875"/>
            <a:ext cx="285750" cy="285750"/>
          </a:xfrm>
          <a:prstGeom xmlns:a="http://schemas.openxmlformats.org/drawingml/2006/main" prst="ellipse">
            <a:avLst/>
          </a:prstGeom>
          <a:solidFill xmlns:a="http://schemas.openxmlformats.org/drawingml/2006/main">
            <a:srgbClr val="FFFFFF"/>
          </a:solidFill>
          <a:ln xmlns:a="http://schemas.openxmlformats.org/drawingml/2006/main" w="28575">
            <a:solidFill>
              <a:srgbClr val="0F766E"/>
            </a:solidFill>
            <a:prstDash val="solid"/>
          </a:ln>
        </p:spPr>
      </p:sp>
      <p:sp>
        <p:nvSpPr>
          <p:cNvPr id="20" name="">
            <a:extLst xmlns:a="http://schemas.openxmlformats.org/drawingml/2006/main">
              <a:ext uri="{FF2B5EF4-FFF2-40B4-BE49-F238E27FC236}">
                <a16:creationId xmlns:a16="http://schemas.microsoft.com/office/drawing/2014/main" id="{964161B8-1C2D-4502-9D14-E4521A415398}"/>
              </a:ext>
            </a:extLst>
          </p:cNvPr>
          <p:cNvSpPr>
            <a:spLocks xmlns:a="http://schemas.openxmlformats.org/drawingml/2006/main" noGrp="1"/>
          </p:cNvSpPr>
          <p:nvPr/>
        </p:nvSpPr>
        <p:spPr>
          <a:xfrm xmlns:a="http://schemas.openxmlformats.org/drawingml/2006/main">
            <a:off x="8267700" y="2847975"/>
            <a:ext cx="228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lgn="ctr">
              <a:defRPr sz="975" b="1">
                <a:solidFill>
                  <a:srgbClr val="0F766E"/>
                </a:solidFill>
                <a:latin typeface="Helvetica Neue"/>
                <a:ea typeface="Helvetica Neue"/>
                <a:cs typeface="Helvetica Neue"/>
              </a:defRPr>
            </a:pPr>
            <a:r>
              <a:rPr sz="975" b="1">
                <a:solidFill>
                  <a:srgbClr val="0F766E"/>
                </a:solidFill>
                <a:latin typeface="Helvetica Neue"/>
                <a:ea typeface="Helvetica Neue"/>
                <a:cs typeface="Helvetica Neue"/>
              </a:rPr>
              <a:t>4</a:t>
            </a:r>
          </a:p>
        </p:txBody>
      </p:sp>
      <p:sp>
        <p:nvSpPr>
          <p:cNvPr id="21" name="">
            <a:extLst xmlns:a="http://schemas.openxmlformats.org/drawingml/2006/main">
              <a:ext uri="{FF2B5EF4-FFF2-40B4-BE49-F238E27FC236}">
                <a16:creationId xmlns:a16="http://schemas.microsoft.com/office/drawing/2014/main" id="{8C326626-6CE0-481B-90CE-949DB000F093}"/>
              </a:ext>
            </a:extLst>
          </p:cNvPr>
          <p:cNvSpPr>
            <a:spLocks xmlns:a="http://schemas.openxmlformats.org/drawingml/2006/main" noGrp="1"/>
          </p:cNvSpPr>
          <p:nvPr/>
        </p:nvSpPr>
        <p:spPr>
          <a:xfrm xmlns:a="http://schemas.openxmlformats.org/drawingml/2006/main">
            <a:off x="7543800" y="3333750"/>
            <a:ext cx="1676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defRPr sz="1500" b="1">
                <a:solidFill>
                  <a:srgbClr val="111827"/>
                </a:solidFill>
                <a:latin typeface="Helvetica Neue"/>
                <a:ea typeface="Helvetica Neue"/>
                <a:cs typeface="Helvetica Neue"/>
              </a:defRPr>
            </a:pPr>
            <a:r>
              <a:rPr sz="1500" b="1">
                <a:solidFill>
                  <a:srgbClr val="111827"/>
                </a:solidFill>
                <a:latin typeface="Helvetica Neue"/>
                <a:ea typeface="Helvetica Neue"/>
                <a:cs typeface="Helvetica Neue"/>
              </a:rPr>
              <a:t>Verify</a:t>
            </a:r>
          </a:p>
        </p:txBody>
      </p:sp>
      <p:sp>
        <p:nvSpPr>
          <p:cNvPr id="22" name="">
            <a:extLst xmlns:a="http://schemas.openxmlformats.org/drawingml/2006/main">
              <a:ext uri="{FF2B5EF4-FFF2-40B4-BE49-F238E27FC236}">
                <a16:creationId xmlns:a16="http://schemas.microsoft.com/office/drawing/2014/main" id="{64D5A318-C92B-4878-AEBA-4000828B6911}"/>
              </a:ext>
            </a:extLst>
          </p:cNvPr>
          <p:cNvSpPr>
            <a:spLocks xmlns:a="http://schemas.openxmlformats.org/drawingml/2006/main" noGrp="1"/>
          </p:cNvSpPr>
          <p:nvPr/>
        </p:nvSpPr>
        <p:spPr>
          <a:xfrm xmlns:a="http://schemas.openxmlformats.org/drawingml/2006/main">
            <a:off x="7505700" y="3867150"/>
            <a:ext cx="17526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defRPr sz="1200">
                <a:solidFill>
                  <a:srgbClr val="475569"/>
                </a:solidFill>
                <a:latin typeface="Helvetica Neue"/>
                <a:ea typeface="Helvetica Neue"/>
                <a:cs typeface="Helvetica Neue"/>
              </a:defRPr>
            </a:pPr>
            <a:r>
              <a:rPr sz="1200">
                <a:solidFill>
                  <a:srgbClr val="475569"/>
                </a:solidFill>
                <a:latin typeface="Helvetica Neue"/>
                <a:ea typeface="Helvetica Neue"/>
                <a:cs typeface="Helvetica Neue"/>
              </a:rPr>
              <a:t>Compare data and client behavior</a:t>
            </a:r>
          </a:p>
        </p:txBody>
      </p:sp>
      <p:sp>
        <p:nvSpPr>
          <p:cNvPr id="23" name="">
            <a:extLst xmlns:a="http://schemas.openxmlformats.org/drawingml/2006/main">
              <a:ext uri="{FF2B5EF4-FFF2-40B4-BE49-F238E27FC236}">
                <a16:creationId xmlns:a16="http://schemas.microsoft.com/office/drawing/2014/main" id="{355A3F77-6CC8-4314-A51D-1C4665E6E7DD}"/>
              </a:ext>
            </a:extLst>
          </p:cNvPr>
          <p:cNvSpPr>
            <a:spLocks xmlns:a="http://schemas.openxmlformats.org/drawingml/2006/main" noGrp="1"/>
          </p:cNvSpPr>
          <p:nvPr/>
        </p:nvSpPr>
        <p:spPr>
          <a:xfrm xmlns:a="http://schemas.openxmlformats.org/drawingml/2006/main">
            <a:off x="10525125" y="2809875"/>
            <a:ext cx="285750" cy="285750"/>
          </a:xfrm>
          <a:prstGeom xmlns:a="http://schemas.openxmlformats.org/drawingml/2006/main" prst="ellipse">
            <a:avLst/>
          </a:prstGeom>
          <a:solidFill xmlns:a="http://schemas.openxmlformats.org/drawingml/2006/main">
            <a:srgbClr val="FFFFFF"/>
          </a:solidFill>
          <a:ln xmlns:a="http://schemas.openxmlformats.org/drawingml/2006/main" w="28575">
            <a:solidFill>
              <a:srgbClr val="0F766E"/>
            </a:solidFill>
            <a:prstDash val="solid"/>
          </a:ln>
        </p:spPr>
      </p:sp>
      <p:sp>
        <p:nvSpPr>
          <p:cNvPr id="24" name="">
            <a:extLst xmlns:a="http://schemas.openxmlformats.org/drawingml/2006/main">
              <a:ext uri="{FF2B5EF4-FFF2-40B4-BE49-F238E27FC236}">
                <a16:creationId xmlns:a16="http://schemas.microsoft.com/office/drawing/2014/main" id="{84D275F8-16FB-4F21-9B36-4D4FD19A743C}"/>
              </a:ext>
            </a:extLst>
          </p:cNvPr>
          <p:cNvSpPr>
            <a:spLocks xmlns:a="http://schemas.openxmlformats.org/drawingml/2006/main" noGrp="1"/>
          </p:cNvSpPr>
          <p:nvPr/>
        </p:nvSpPr>
        <p:spPr>
          <a:xfrm xmlns:a="http://schemas.openxmlformats.org/drawingml/2006/main">
            <a:off x="10553700" y="2847975"/>
            <a:ext cx="228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lgn="ctr">
              <a:defRPr sz="975" b="1">
                <a:solidFill>
                  <a:srgbClr val="0F766E"/>
                </a:solidFill>
                <a:latin typeface="Helvetica Neue"/>
                <a:ea typeface="Helvetica Neue"/>
                <a:cs typeface="Helvetica Neue"/>
              </a:defRPr>
            </a:pPr>
            <a:r>
              <a:rPr sz="975" b="1">
                <a:solidFill>
                  <a:srgbClr val="0F766E"/>
                </a:solidFill>
                <a:latin typeface="Helvetica Neue"/>
                <a:ea typeface="Helvetica Neue"/>
                <a:cs typeface="Helvetica Neue"/>
              </a:rPr>
              <a:t>5</a:t>
            </a:r>
          </a:p>
        </p:txBody>
      </p:sp>
      <p:sp>
        <p:nvSpPr>
          <p:cNvPr id="25" name="">
            <a:extLst xmlns:a="http://schemas.openxmlformats.org/drawingml/2006/main">
              <a:ext uri="{FF2B5EF4-FFF2-40B4-BE49-F238E27FC236}">
                <a16:creationId xmlns:a16="http://schemas.microsoft.com/office/drawing/2014/main" id="{4087DE27-BA6A-475C-9534-34C0AB31797E}"/>
              </a:ext>
            </a:extLst>
          </p:cNvPr>
          <p:cNvSpPr>
            <a:spLocks xmlns:a="http://schemas.openxmlformats.org/drawingml/2006/main" noGrp="1"/>
          </p:cNvSpPr>
          <p:nvPr/>
        </p:nvSpPr>
        <p:spPr>
          <a:xfrm xmlns:a="http://schemas.openxmlformats.org/drawingml/2006/main">
            <a:off x="9829800" y="3333750"/>
            <a:ext cx="1676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defRPr sz="1500" b="1">
                <a:solidFill>
                  <a:srgbClr val="111827"/>
                </a:solidFill>
                <a:latin typeface="Helvetica Neue"/>
                <a:ea typeface="Helvetica Neue"/>
                <a:cs typeface="Helvetica Neue"/>
              </a:defRPr>
            </a:pPr>
            <a:r>
              <a:rPr sz="1500" b="1">
                <a:solidFill>
                  <a:srgbClr val="111827"/>
                </a:solidFill>
                <a:latin typeface="Helvetica Neue"/>
                <a:ea typeface="Helvetica Neue"/>
                <a:cs typeface="Helvetica Neue"/>
              </a:rPr>
              <a:t>Contract</a:t>
            </a:r>
          </a:p>
        </p:txBody>
      </p:sp>
      <p:sp>
        <p:nvSpPr>
          <p:cNvPr id="26" name="">
            <a:extLst xmlns:a="http://schemas.openxmlformats.org/drawingml/2006/main">
              <a:ext uri="{FF2B5EF4-FFF2-40B4-BE49-F238E27FC236}">
                <a16:creationId xmlns:a16="http://schemas.microsoft.com/office/drawing/2014/main" id="{A1DB5F23-6547-47E3-B0B7-E551E6DDB0AB}"/>
              </a:ext>
            </a:extLst>
          </p:cNvPr>
          <p:cNvSpPr>
            <a:spLocks xmlns:a="http://schemas.openxmlformats.org/drawingml/2006/main" noGrp="1"/>
          </p:cNvSpPr>
          <p:nvPr/>
        </p:nvSpPr>
        <p:spPr>
          <a:xfrm xmlns:a="http://schemas.openxmlformats.org/drawingml/2006/main">
            <a:off x="9791700" y="3867150"/>
            <a:ext cx="17526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defRPr sz="1200">
                <a:solidFill>
                  <a:srgbClr val="475569"/>
                </a:solidFill>
                <a:latin typeface="Helvetica Neue"/>
                <a:ea typeface="Helvetica Neue"/>
                <a:cs typeface="Helvetica Neue"/>
              </a:defRPr>
            </a:pPr>
            <a:r>
              <a:rPr sz="1200">
                <a:solidFill>
                  <a:srgbClr val="475569"/>
                </a:solidFill>
                <a:latin typeface="Helvetica Neue"/>
                <a:ea typeface="Helvetica Neue"/>
                <a:cs typeface="Helvetica Neue"/>
              </a:rPr>
              <a:t>Remove old path after the evidence supports it</a:t>
            </a:r>
          </a:p>
        </p:txBody>
      </p:sp>
      <p:sp>
        <p:nvSpPr>
          <p:cNvPr id="27" name="">
            <a:extLst xmlns:a="http://schemas.openxmlformats.org/drawingml/2006/main">
              <a:ext uri="{FF2B5EF4-FFF2-40B4-BE49-F238E27FC236}">
                <a16:creationId xmlns:a16="http://schemas.microsoft.com/office/drawing/2014/main" id="{85B6C547-34B8-4240-B452-10FFBEB216AB}"/>
              </a:ext>
            </a:extLst>
          </p:cNvPr>
          <p:cNvSpPr>
            <a:spLocks xmlns:a="http://schemas.openxmlformats.org/drawingml/2006/main" noGrp="1"/>
          </p:cNvSpPr>
          <p:nvPr/>
        </p:nvSpPr>
        <p:spPr>
          <a:xfrm xmlns:a="http://schemas.openxmlformats.org/drawingml/2006/main">
            <a:off x="914400" y="1619250"/>
            <a:ext cx="100012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1875">
                <a:solidFill>
                  <a:srgbClr val="475569"/>
                </a:solidFill>
                <a:latin typeface="Helvetica Neue"/>
                <a:ea typeface="Helvetica Neue"/>
                <a:cs typeface="Helvetica Neue"/>
              </a:defRPr>
            </a:pPr>
            <a:r>
              <a:rPr sz="1875">
                <a:solidFill>
                  <a:srgbClr val="475569"/>
                </a:solidFill>
                <a:latin typeface="Helvetica Neue"/>
                <a:ea typeface="Helvetica Neue"/>
                <a:cs typeface="Helvetica Neue"/>
              </a:rPr>
              <a:t>Each state should remain understandable and recoverable before the next transition.</a:t>
            </a:r>
          </a:p>
        </p:txBody>
      </p:sp>
    </p:spTree>
    <p:extLst>
      <p:ext uri="{BB962C8B-B14F-4D97-AF65-F5344CB8AC3E}">
        <p14:creationId xmlns:p14="http://schemas.microsoft.com/office/powerpoint/2010/main" val="827116332"/>
      </p:ext>
    </p:extLst>
  </p:cSld>
</p:sld>
</file>

<file path=ppt/slides/slide9.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AC358D9D-66A6-42BD-9E03-3FC5BC434653}"/>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CFCFA"/>
          </a:solidFill>
          <a:ln xmlns:a="http://schemas.openxmlformats.org/drawingml/2006/main" w="0">
            <a:solidFill>
              <a:srgbClr val="FCFCFA"/>
            </a:solidFill>
            <a:prstDash val="solid"/>
          </a:ln>
        </p:spPr>
      </p:sp>
      <p:sp>
        <p:nvSpPr>
          <p:cNvPr id="2" name="eyebrow">
            <a:extLst xmlns:a="http://schemas.openxmlformats.org/drawingml/2006/main">
              <a:ext uri="{FF2B5EF4-FFF2-40B4-BE49-F238E27FC236}">
                <a16:creationId xmlns:a16="http://schemas.microsoft.com/office/drawing/2014/main" id="{6FFE8852-8F60-4075-8B3E-BB1EB8D91766}"/>
              </a:ext>
            </a:extLst>
          </p:cNvPr>
          <p:cNvSpPr>
            <a:spLocks xmlns:a="http://schemas.openxmlformats.org/drawingml/2006/main" noGrp="1"/>
          </p:cNvSpPr>
          <p:nvPr/>
        </p:nvSpPr>
        <p:spPr>
          <a:xfrm xmlns:a="http://schemas.openxmlformats.org/drawingml/2006/main">
            <a:off x="609600" y="295275"/>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975" b="1">
                <a:solidFill>
                  <a:srgbClr val="0F766E"/>
                </a:solidFill>
                <a:latin typeface="Helvetica Neue"/>
                <a:ea typeface="Helvetica Neue"/>
                <a:cs typeface="Helvetica Neue"/>
              </a:defRPr>
            </a:pPr>
            <a:r>
              <a:rPr sz="975" b="1">
                <a:solidFill>
                  <a:srgbClr val="0F766E"/>
                </a:solidFill>
                <a:latin typeface="Helvetica Neue"/>
                <a:ea typeface="Helvetica Neue"/>
                <a:cs typeface="Helvetica Neue"/>
              </a:rPr>
              <a:t>WEEK 04  /  CST4714</a:t>
            </a:r>
          </a:p>
        </p:txBody>
      </p:sp>
      <p:sp>
        <p:nvSpPr>
          <p:cNvPr id="3" name="slide-title">
            <a:extLst xmlns:a="http://schemas.openxmlformats.org/drawingml/2006/main">
              <a:ext uri="{FF2B5EF4-FFF2-40B4-BE49-F238E27FC236}">
                <a16:creationId xmlns:a16="http://schemas.microsoft.com/office/drawing/2014/main" id="{1B88C08C-46C2-4206-9ACF-95696179F352}"/>
              </a:ext>
            </a:extLst>
          </p:cNvPr>
          <p:cNvSpPr>
            <a:spLocks xmlns:a="http://schemas.openxmlformats.org/drawingml/2006/main" noGrp="1"/>
          </p:cNvSpPr>
          <p:nvPr/>
        </p:nvSpPr>
        <p:spPr>
          <a:xfrm xmlns:a="http://schemas.openxmlformats.org/drawingml/2006/main">
            <a:off x="609600" y="590550"/>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2850" b="1">
                <a:solidFill>
                  <a:srgbClr val="111827"/>
                </a:solidFill>
                <a:latin typeface="Helvetica Neue"/>
                <a:ea typeface="Helvetica Neue"/>
                <a:cs typeface="Helvetica Neue"/>
              </a:defRPr>
            </a:pPr>
            <a:r>
              <a:rPr sz="2850" b="1">
                <a:solidFill>
                  <a:srgbClr val="111827"/>
                </a:solidFill>
                <a:latin typeface="Helvetica Neue"/>
                <a:ea typeface="Helvetica Neue"/>
                <a:cs typeface="Helvetica Neue"/>
              </a:rPr>
              <a:t>A safe change record makes the transition reviewable</a:t>
            </a:r>
          </a:p>
        </p:txBody>
      </p:sp>
      <p:sp>
        <p:nvSpPr>
          <p:cNvPr id="4" name="">
            <a:extLst xmlns:a="http://schemas.openxmlformats.org/drawingml/2006/main">
              <a:ext uri="{FF2B5EF4-FFF2-40B4-BE49-F238E27FC236}">
                <a16:creationId xmlns:a16="http://schemas.microsoft.com/office/drawing/2014/main" id="{650CA7BB-5F2F-4E20-A783-680FE7EED853}"/>
              </a:ext>
            </a:extLst>
          </p:cNvPr>
          <p:cNvSpPr>
            <a:spLocks xmlns:a="http://schemas.openxmlformats.org/drawingml/2006/main" noGrp="1"/>
          </p:cNvSpPr>
          <p:nvPr/>
        </p:nvSpPr>
        <p:spPr>
          <a:xfrm xmlns:a="http://schemas.openxmlformats.org/drawingml/2006/main">
            <a:off x="609600" y="1295400"/>
            <a:ext cx="1097280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
        <p:nvSpPr>
          <p:cNvPr id="5" name="slide-number">
            <a:extLst xmlns:a="http://schemas.openxmlformats.org/drawingml/2006/main">
              <a:ext uri="{FF2B5EF4-FFF2-40B4-BE49-F238E27FC236}">
                <a16:creationId xmlns:a16="http://schemas.microsoft.com/office/drawing/2014/main" id="{A9992B4F-AE80-4381-8C94-934772664654}"/>
              </a:ext>
            </a:extLst>
          </p:cNvPr>
          <p:cNvSpPr>
            <a:spLocks xmlns:a="http://schemas.openxmlformats.org/drawingml/2006/main" noGrp="1"/>
          </p:cNvSpPr>
          <p:nvPr/>
        </p:nvSpPr>
        <p:spPr>
          <a:xfrm xmlns:a="http://schemas.openxmlformats.org/drawingml/2006/main">
            <a:off x="11144250" y="64865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r">
              <a:defRPr sz="825">
                <a:solidFill>
                  <a:srgbClr val="94A3B8"/>
                </a:solidFill>
                <a:latin typeface="Helvetica Neue"/>
                <a:ea typeface="Helvetica Neue"/>
                <a:cs typeface="Helvetica Neue"/>
              </a:defRPr>
            </a:pPr>
            <a:r>
              <a:rPr sz="825">
                <a:solidFill>
                  <a:srgbClr val="94A3B8"/>
                </a:solidFill>
                <a:latin typeface="Helvetica Neue"/>
                <a:ea typeface="Helvetica Neue"/>
                <a:cs typeface="Helvetica Neue"/>
              </a:rPr>
              <a:t>9</a:t>
            </a:r>
          </a:p>
        </p:txBody>
      </p:sp>
      <p:sp>
        <p:nvSpPr>
          <p:cNvPr id="6" name="code-frame">
            <a:extLst xmlns:a="http://schemas.openxmlformats.org/drawingml/2006/main">
              <a:ext uri="{FF2B5EF4-FFF2-40B4-BE49-F238E27FC236}">
                <a16:creationId xmlns:a16="http://schemas.microsoft.com/office/drawing/2014/main" id="{C7D51D79-F613-4400-88D0-9B34F0C4D4E4}"/>
              </a:ext>
            </a:extLst>
          </p:cNvPr>
          <p:cNvSpPr>
            <a:spLocks xmlns:a="http://schemas.openxmlformats.org/drawingml/2006/main" noGrp="1"/>
          </p:cNvSpPr>
          <p:nvPr/>
        </p:nvSpPr>
        <p:spPr>
          <a:xfrm xmlns:a="http://schemas.openxmlformats.org/drawingml/2006/main">
            <a:off x="685800" y="1657350"/>
            <a:ext cx="6762750" cy="4095750"/>
          </a:xfrm>
          <a:prstGeom xmlns:a="http://schemas.openxmlformats.org/drawingml/2006/main" prst="rect">
            <a:avLst/>
          </a:prstGeom>
          <a:solidFill xmlns:a="http://schemas.openxmlformats.org/drawingml/2006/main">
            <a:srgbClr val="0F172A"/>
          </a:solidFill>
          <a:ln xmlns:a="http://schemas.openxmlformats.org/drawingml/2006/main" w="9525">
            <a:solidFill>
              <a:srgbClr val="0F172A"/>
            </a:solidFill>
            <a:prstDash val="solid"/>
          </a:ln>
        </p:spPr>
      </p:sp>
      <p:sp>
        <p:nvSpPr>
          <p:cNvPr id="7" name="code">
            <a:extLst xmlns:a="http://schemas.openxmlformats.org/drawingml/2006/main">
              <a:ext uri="{FF2B5EF4-FFF2-40B4-BE49-F238E27FC236}">
                <a16:creationId xmlns:a16="http://schemas.microsoft.com/office/drawing/2014/main" id="{160DC491-9DC4-45D1-8922-13E5E7E753AF}"/>
              </a:ext>
            </a:extLst>
          </p:cNvPr>
          <p:cNvSpPr>
            <a:spLocks xmlns:a="http://schemas.openxmlformats.org/drawingml/2006/main" noGrp="1"/>
          </p:cNvSpPr>
          <p:nvPr/>
        </p:nvSpPr>
        <p:spPr>
          <a:xfrm xmlns:a="http://schemas.openxmlformats.org/drawingml/2006/main">
            <a:off x="933450" y="1885950"/>
            <a:ext cx="6286500" cy="3638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1350">
                <a:solidFill>
                  <a:srgbClr val="E2E8F0"/>
                </a:solidFill>
                <a:latin typeface="Menlo"/>
                <a:ea typeface="Menlo"/>
                <a:cs typeface="Menlo"/>
              </a:defRPr>
            </a:pPr>
            <a:r>
              <a:rPr sz="1350">
                <a:solidFill>
                  <a:srgbClr val="E2E8F0"/>
                </a:solidFill>
                <a:latin typeface="Menlo"/>
                <a:ea typeface="Menlo"/>
                <a:cs typeface="Menlo"/>
              </a:rPr>
              <a:t>-- Precondition</a:t>
            </a:r>
          </a:p>
          <a:p xmlns:a="http://schemas.openxmlformats.org/drawingml/2006/main">
            <a:pPr>
              <a:defRPr sz="1350">
                <a:solidFill>
                  <a:srgbClr val="E2E8F0"/>
                </a:solidFill>
                <a:latin typeface="Menlo"/>
                <a:ea typeface="Menlo"/>
                <a:cs typeface="Menlo"/>
              </a:defRPr>
            </a:pPr>
            <a:r>
              <a:rPr sz="1350">
                <a:solidFill>
                  <a:srgbClr val="E2E8F0"/>
                </a:solidFill>
                <a:latin typeface="Menlo"/>
                <a:ea typeface="Menlo"/>
                <a:cs typeface="Menlo"/>
              </a:rPr>
              <a:t>SELECT count(*) FROM metro_support.tickets</a:t>
            </a:r>
          </a:p>
          <a:p xmlns:a="http://schemas.openxmlformats.org/drawingml/2006/main">
            <a:pPr>
              <a:defRPr sz="1350">
                <a:solidFill>
                  <a:srgbClr val="E2E8F0"/>
                </a:solidFill>
                <a:latin typeface="Menlo"/>
                <a:ea typeface="Menlo"/>
                <a:cs typeface="Menlo"/>
              </a:defRPr>
            </a:pPr>
            <a:r>
              <a:rPr sz="1350">
                <a:solidFill>
                  <a:srgbClr val="E2E8F0"/>
                </a:solidFill>
                <a:latin typeface="Menlo"/>
                <a:ea typeface="Menlo"/>
                <a:cs typeface="Menlo"/>
              </a:rPr>
              <a:t>WHERE category IS NULL;</a:t>
            </a:r>
          </a:p>
          <a:p xmlns:a="http://schemas.openxmlformats.org/drawingml/2006/main">
            <a:r>
              <a:t/>
            </a:r>
          </a:p>
          <a:p xmlns:a="http://schemas.openxmlformats.org/drawingml/2006/main">
            <a:pPr>
              <a:defRPr sz="1350">
                <a:solidFill>
                  <a:srgbClr val="E2E8F0"/>
                </a:solidFill>
                <a:latin typeface="Menlo"/>
                <a:ea typeface="Menlo"/>
                <a:cs typeface="Menlo"/>
              </a:defRPr>
            </a:pPr>
            <a:r>
              <a:rPr sz="1350">
                <a:solidFill>
                  <a:srgbClr val="E2E8F0"/>
                </a:solidFill>
                <a:latin typeface="Menlo"/>
                <a:ea typeface="Menlo"/>
                <a:cs typeface="Menlo"/>
              </a:rPr>
              <a:t>-- Expand</a:t>
            </a:r>
          </a:p>
          <a:p xmlns:a="http://schemas.openxmlformats.org/drawingml/2006/main">
            <a:pPr>
              <a:defRPr sz="1350">
                <a:solidFill>
                  <a:srgbClr val="E2E8F0"/>
                </a:solidFill>
                <a:latin typeface="Menlo"/>
                <a:ea typeface="Menlo"/>
                <a:cs typeface="Menlo"/>
              </a:defRPr>
            </a:pPr>
            <a:r>
              <a:rPr sz="1350">
                <a:solidFill>
                  <a:srgbClr val="E2E8F0"/>
                </a:solidFill>
                <a:latin typeface="Menlo"/>
                <a:ea typeface="Menlo"/>
                <a:cs typeface="Menlo"/>
              </a:rPr>
              <a:t>ALTER TABLE metro_support.tickets</a:t>
            </a:r>
          </a:p>
          <a:p xmlns:a="http://schemas.openxmlformats.org/drawingml/2006/main">
            <a:pPr>
              <a:defRPr sz="1350">
                <a:solidFill>
                  <a:srgbClr val="E2E8F0"/>
                </a:solidFill>
                <a:latin typeface="Menlo"/>
                <a:ea typeface="Menlo"/>
                <a:cs typeface="Menlo"/>
              </a:defRPr>
            </a:pPr>
            <a:r>
              <a:rPr sz="1350">
                <a:solidFill>
                  <a:srgbClr val="E2E8F0"/>
                </a:solidFill>
                <a:latin typeface="Menlo"/>
                <a:ea typeface="Menlo"/>
                <a:cs typeface="Menlo"/>
              </a:rPr>
              <a:t>ADD COLUMN category_label text;</a:t>
            </a:r>
          </a:p>
          <a:p xmlns:a="http://schemas.openxmlformats.org/drawingml/2006/main">
            <a:r>
              <a:t/>
            </a:r>
          </a:p>
          <a:p xmlns:a="http://schemas.openxmlformats.org/drawingml/2006/main">
            <a:pPr>
              <a:defRPr sz="1350">
                <a:solidFill>
                  <a:srgbClr val="E2E8F0"/>
                </a:solidFill>
                <a:latin typeface="Menlo"/>
                <a:ea typeface="Menlo"/>
                <a:cs typeface="Menlo"/>
              </a:defRPr>
            </a:pPr>
            <a:r>
              <a:rPr sz="1350">
                <a:solidFill>
                  <a:srgbClr val="E2E8F0"/>
                </a:solidFill>
                <a:latin typeface="Menlo"/>
                <a:ea typeface="Menlo"/>
                <a:cs typeface="Menlo"/>
              </a:rPr>
              <a:t>-- Migrate</a:t>
            </a:r>
          </a:p>
          <a:p xmlns:a="http://schemas.openxmlformats.org/drawingml/2006/main">
            <a:pPr>
              <a:defRPr sz="1350">
                <a:solidFill>
                  <a:srgbClr val="E2E8F0"/>
                </a:solidFill>
                <a:latin typeface="Menlo"/>
                <a:ea typeface="Menlo"/>
                <a:cs typeface="Menlo"/>
              </a:defRPr>
            </a:pPr>
            <a:r>
              <a:rPr sz="1350">
                <a:solidFill>
                  <a:srgbClr val="E2E8F0"/>
                </a:solidFill>
                <a:latin typeface="Menlo"/>
                <a:ea typeface="Menlo"/>
                <a:cs typeface="Menlo"/>
              </a:rPr>
              <a:t>UPDATE metro_support.tickets</a:t>
            </a:r>
          </a:p>
          <a:p xmlns:a="http://schemas.openxmlformats.org/drawingml/2006/main">
            <a:pPr>
              <a:defRPr sz="1350">
                <a:solidFill>
                  <a:srgbClr val="E2E8F0"/>
                </a:solidFill>
                <a:latin typeface="Menlo"/>
                <a:ea typeface="Menlo"/>
                <a:cs typeface="Menlo"/>
              </a:defRPr>
            </a:pPr>
            <a:r>
              <a:rPr sz="1350">
                <a:solidFill>
                  <a:srgbClr val="E2E8F0"/>
                </a:solidFill>
                <a:latin typeface="Menlo"/>
                <a:ea typeface="Menlo"/>
                <a:cs typeface="Menlo"/>
              </a:rPr>
              <a:t>SET category_label = initcap(category);</a:t>
            </a:r>
          </a:p>
          <a:p xmlns:a="http://schemas.openxmlformats.org/drawingml/2006/main">
            <a:r>
              <a:t/>
            </a:r>
          </a:p>
          <a:p xmlns:a="http://schemas.openxmlformats.org/drawingml/2006/main">
            <a:pPr>
              <a:defRPr sz="1350">
                <a:solidFill>
                  <a:srgbClr val="E2E8F0"/>
                </a:solidFill>
                <a:latin typeface="Menlo"/>
                <a:ea typeface="Menlo"/>
                <a:cs typeface="Menlo"/>
              </a:defRPr>
            </a:pPr>
            <a:r>
              <a:rPr sz="1350">
                <a:solidFill>
                  <a:srgbClr val="E2E8F0"/>
                </a:solidFill>
                <a:latin typeface="Menlo"/>
                <a:ea typeface="Menlo"/>
                <a:cs typeface="Menlo"/>
              </a:rPr>
              <a:t>-- Verify</a:t>
            </a:r>
          </a:p>
          <a:p xmlns:a="http://schemas.openxmlformats.org/drawingml/2006/main">
            <a:pPr>
              <a:defRPr sz="1350">
                <a:solidFill>
                  <a:srgbClr val="E2E8F0"/>
                </a:solidFill>
                <a:latin typeface="Menlo"/>
                <a:ea typeface="Menlo"/>
                <a:cs typeface="Menlo"/>
              </a:defRPr>
            </a:pPr>
            <a:r>
              <a:rPr sz="1350">
                <a:solidFill>
                  <a:srgbClr val="E2E8F0"/>
                </a:solidFill>
                <a:latin typeface="Menlo"/>
                <a:ea typeface="Menlo"/>
                <a:cs typeface="Menlo"/>
              </a:rPr>
              <a:t>SELECT count(*) FROM metro_support.tickets</a:t>
            </a:r>
          </a:p>
          <a:p xmlns:a="http://schemas.openxmlformats.org/drawingml/2006/main">
            <a:pPr>
              <a:defRPr sz="1350">
                <a:solidFill>
                  <a:srgbClr val="E2E8F0"/>
                </a:solidFill>
                <a:latin typeface="Menlo"/>
                <a:ea typeface="Menlo"/>
                <a:cs typeface="Menlo"/>
              </a:defRPr>
            </a:pPr>
            <a:r>
              <a:rPr sz="1350">
                <a:solidFill>
                  <a:srgbClr val="E2E8F0"/>
                </a:solidFill>
                <a:latin typeface="Menlo"/>
                <a:ea typeface="Menlo"/>
                <a:cs typeface="Menlo"/>
              </a:rPr>
              <a:t>WHERE category_label IS NULL;</a:t>
            </a:r>
          </a:p>
        </p:txBody>
      </p:sp>
      <p:sp>
        <p:nvSpPr>
          <p:cNvPr id="8" name="">
            <a:extLst xmlns:a="http://schemas.openxmlformats.org/drawingml/2006/main">
              <a:ext uri="{FF2B5EF4-FFF2-40B4-BE49-F238E27FC236}">
                <a16:creationId xmlns:a16="http://schemas.microsoft.com/office/drawing/2014/main" id="{00ED4622-860C-40F7-B9C5-AC21998CA9F7}"/>
              </a:ext>
            </a:extLst>
          </p:cNvPr>
          <p:cNvSpPr>
            <a:spLocks xmlns:a="http://schemas.openxmlformats.org/drawingml/2006/main" noGrp="1"/>
          </p:cNvSpPr>
          <p:nvPr/>
        </p:nvSpPr>
        <p:spPr>
          <a:xfrm xmlns:a="http://schemas.openxmlformats.org/drawingml/2006/main">
            <a:off x="7905750" y="1733550"/>
            <a:ext cx="3429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1725" b="1">
                <a:solidFill>
                  <a:srgbClr val="0F766E"/>
                </a:solidFill>
                <a:latin typeface="Helvetica Neue"/>
                <a:ea typeface="Helvetica Neue"/>
                <a:cs typeface="Helvetica Neue"/>
              </a:defRPr>
            </a:pPr>
            <a:r>
              <a:rPr sz="1725" b="1">
                <a:solidFill>
                  <a:srgbClr val="0F766E"/>
                </a:solidFill>
                <a:latin typeface="Helvetica Neue"/>
                <a:ea typeface="Helvetica Neue"/>
                <a:cs typeface="Helvetica Neue"/>
              </a:rPr>
              <a:t>Still missing</a:t>
            </a:r>
          </a:p>
        </p:txBody>
      </p:sp>
      <p:sp>
        <p:nvSpPr>
          <p:cNvPr id="9" name="">
            <a:extLst xmlns:a="http://schemas.openxmlformats.org/drawingml/2006/main">
              <a:ext uri="{FF2B5EF4-FFF2-40B4-BE49-F238E27FC236}">
                <a16:creationId xmlns:a16="http://schemas.microsoft.com/office/drawing/2014/main" id="{05EFBD1F-8324-4B2F-A51F-94FD5B2AE514}"/>
              </a:ext>
            </a:extLst>
          </p:cNvPr>
          <p:cNvSpPr>
            <a:spLocks xmlns:a="http://schemas.openxmlformats.org/drawingml/2006/main" noGrp="1"/>
          </p:cNvSpPr>
          <p:nvPr/>
        </p:nvSpPr>
        <p:spPr>
          <a:xfrm xmlns:a="http://schemas.openxmlformats.org/drawingml/2006/main">
            <a:off x="7981950" y="2514600"/>
            <a:ext cx="85725" cy="304800"/>
          </a:xfrm>
          <a:prstGeom xmlns:a="http://schemas.openxmlformats.org/drawingml/2006/main" prst="rect">
            <a:avLst/>
          </a:prstGeom>
          <a:solidFill xmlns:a="http://schemas.openxmlformats.org/drawingml/2006/main">
            <a:srgbClr val="0F766E"/>
          </a:solidFill>
          <a:ln xmlns:a="http://schemas.openxmlformats.org/drawingml/2006/main" w="0">
            <a:solidFill>
              <a:srgbClr val="0F766E"/>
            </a:solidFill>
            <a:prstDash val="solid"/>
          </a:ln>
        </p:spPr>
      </p:sp>
      <p:sp>
        <p:nvSpPr>
          <p:cNvPr id="10" name="">
            <a:extLst xmlns:a="http://schemas.openxmlformats.org/drawingml/2006/main">
              <a:ext uri="{FF2B5EF4-FFF2-40B4-BE49-F238E27FC236}">
                <a16:creationId xmlns:a16="http://schemas.microsoft.com/office/drawing/2014/main" id="{CA8E43AD-F373-41ED-9916-FC7332E57BDD}"/>
              </a:ext>
            </a:extLst>
          </p:cNvPr>
          <p:cNvSpPr>
            <a:spLocks xmlns:a="http://schemas.openxmlformats.org/drawingml/2006/main" noGrp="1"/>
          </p:cNvSpPr>
          <p:nvPr/>
        </p:nvSpPr>
        <p:spPr>
          <a:xfrm xmlns:a="http://schemas.openxmlformats.org/drawingml/2006/main">
            <a:off x="8248650" y="2457450"/>
            <a:ext cx="30670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1425">
                <a:solidFill>
                  <a:srgbClr val="111827"/>
                </a:solidFill>
                <a:latin typeface="Helvetica Neue"/>
                <a:ea typeface="Helvetica Neue"/>
                <a:cs typeface="Helvetica Neue"/>
              </a:defRPr>
            </a:pPr>
            <a:r>
              <a:rPr sz="1425">
                <a:solidFill>
                  <a:srgbClr val="111827"/>
                </a:solidFill>
                <a:latin typeface="Helvetica Neue"/>
                <a:ea typeface="Helvetica Neue"/>
                <a:cs typeface="Helvetica Neue"/>
              </a:rPr>
              <a:t>Dependency and client checks</a:t>
            </a:r>
          </a:p>
        </p:txBody>
      </p:sp>
      <p:sp>
        <p:nvSpPr>
          <p:cNvPr id="11" name="">
            <a:extLst xmlns:a="http://schemas.openxmlformats.org/drawingml/2006/main">
              <a:ext uri="{FF2B5EF4-FFF2-40B4-BE49-F238E27FC236}">
                <a16:creationId xmlns:a16="http://schemas.microsoft.com/office/drawing/2014/main" id="{14A676ED-0082-4D4C-A478-BE1C589941C6}"/>
              </a:ext>
            </a:extLst>
          </p:cNvPr>
          <p:cNvSpPr>
            <a:spLocks xmlns:a="http://schemas.openxmlformats.org/drawingml/2006/main" noGrp="1"/>
          </p:cNvSpPr>
          <p:nvPr/>
        </p:nvSpPr>
        <p:spPr>
          <a:xfrm xmlns:a="http://schemas.openxmlformats.org/drawingml/2006/main">
            <a:off x="7981950" y="3333750"/>
            <a:ext cx="85725" cy="304800"/>
          </a:xfrm>
          <a:prstGeom xmlns:a="http://schemas.openxmlformats.org/drawingml/2006/main" prst="rect">
            <a:avLst/>
          </a:prstGeom>
          <a:solidFill xmlns:a="http://schemas.openxmlformats.org/drawingml/2006/main">
            <a:srgbClr val="0F766E"/>
          </a:solidFill>
          <a:ln xmlns:a="http://schemas.openxmlformats.org/drawingml/2006/main" w="0">
            <a:solidFill>
              <a:srgbClr val="0F766E"/>
            </a:solidFill>
            <a:prstDash val="solid"/>
          </a:ln>
        </p:spPr>
      </p:sp>
      <p:sp>
        <p:nvSpPr>
          <p:cNvPr id="12" name="">
            <a:extLst xmlns:a="http://schemas.openxmlformats.org/drawingml/2006/main">
              <a:ext uri="{FF2B5EF4-FFF2-40B4-BE49-F238E27FC236}">
                <a16:creationId xmlns:a16="http://schemas.microsoft.com/office/drawing/2014/main" id="{995D2B3F-01E2-482C-9702-F6147E01A980}"/>
              </a:ext>
            </a:extLst>
          </p:cNvPr>
          <p:cNvSpPr>
            <a:spLocks xmlns:a="http://schemas.openxmlformats.org/drawingml/2006/main" noGrp="1"/>
          </p:cNvSpPr>
          <p:nvPr/>
        </p:nvSpPr>
        <p:spPr>
          <a:xfrm xmlns:a="http://schemas.openxmlformats.org/drawingml/2006/main">
            <a:off x="8248650" y="3276600"/>
            <a:ext cx="30670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1425">
                <a:solidFill>
                  <a:srgbClr val="111827"/>
                </a:solidFill>
                <a:latin typeface="Helvetica Neue"/>
                <a:ea typeface="Helvetica Neue"/>
                <a:cs typeface="Helvetica Neue"/>
              </a:defRPr>
            </a:pPr>
            <a:r>
              <a:rPr sz="1425">
                <a:solidFill>
                  <a:srgbClr val="111827"/>
                </a:solidFill>
                <a:latin typeface="Helvetica Neue"/>
                <a:ea typeface="Helvetica Neue"/>
                <a:cs typeface="Helvetica Neue"/>
              </a:rPr>
              <a:t>Rollback or forward-repair decision</a:t>
            </a:r>
          </a:p>
        </p:txBody>
      </p:sp>
      <p:sp>
        <p:nvSpPr>
          <p:cNvPr id="13" name="">
            <a:extLst xmlns:a="http://schemas.openxmlformats.org/drawingml/2006/main">
              <a:ext uri="{FF2B5EF4-FFF2-40B4-BE49-F238E27FC236}">
                <a16:creationId xmlns:a16="http://schemas.microsoft.com/office/drawing/2014/main" id="{5E4AE638-9F42-4284-B4E6-3F6C29510D3E}"/>
              </a:ext>
            </a:extLst>
          </p:cNvPr>
          <p:cNvSpPr>
            <a:spLocks xmlns:a="http://schemas.openxmlformats.org/drawingml/2006/main" noGrp="1"/>
          </p:cNvSpPr>
          <p:nvPr/>
        </p:nvSpPr>
        <p:spPr>
          <a:xfrm xmlns:a="http://schemas.openxmlformats.org/drawingml/2006/main">
            <a:off x="7981950" y="4152900"/>
            <a:ext cx="85725" cy="304800"/>
          </a:xfrm>
          <a:prstGeom xmlns:a="http://schemas.openxmlformats.org/drawingml/2006/main" prst="rect">
            <a:avLst/>
          </a:prstGeom>
          <a:solidFill xmlns:a="http://schemas.openxmlformats.org/drawingml/2006/main">
            <a:srgbClr val="0F766E"/>
          </a:solidFill>
          <a:ln xmlns:a="http://schemas.openxmlformats.org/drawingml/2006/main" w="0">
            <a:solidFill>
              <a:srgbClr val="0F766E"/>
            </a:solidFill>
            <a:prstDash val="solid"/>
          </a:ln>
        </p:spPr>
      </p:sp>
      <p:sp>
        <p:nvSpPr>
          <p:cNvPr id="14" name="">
            <a:extLst xmlns:a="http://schemas.openxmlformats.org/drawingml/2006/main">
              <a:ext uri="{FF2B5EF4-FFF2-40B4-BE49-F238E27FC236}">
                <a16:creationId xmlns:a16="http://schemas.microsoft.com/office/drawing/2014/main" id="{0CE8AC83-56DF-428B-B59B-AFFF420D49D7}"/>
              </a:ext>
            </a:extLst>
          </p:cNvPr>
          <p:cNvSpPr>
            <a:spLocks xmlns:a="http://schemas.openxmlformats.org/drawingml/2006/main" noGrp="1"/>
          </p:cNvSpPr>
          <p:nvPr/>
        </p:nvSpPr>
        <p:spPr>
          <a:xfrm xmlns:a="http://schemas.openxmlformats.org/drawingml/2006/main">
            <a:off x="8248650" y="4095750"/>
            <a:ext cx="30670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1425">
                <a:solidFill>
                  <a:srgbClr val="111827"/>
                </a:solidFill>
                <a:latin typeface="Helvetica Neue"/>
                <a:ea typeface="Helvetica Neue"/>
                <a:cs typeface="Helvetica Neue"/>
              </a:defRPr>
            </a:pPr>
            <a:r>
              <a:rPr sz="1425">
                <a:solidFill>
                  <a:srgbClr val="111827"/>
                </a:solidFill>
                <a:latin typeface="Helvetica Neue"/>
                <a:ea typeface="Helvetica Neue"/>
                <a:cs typeface="Helvetica Neue"/>
              </a:rPr>
              <a:t>Contract only after old usage stops</a:t>
            </a:r>
          </a:p>
        </p:txBody>
      </p:sp>
    </p:spTree>
    <p:extLst>
      <p:ext uri="{BB962C8B-B14F-4D97-AF65-F5344CB8AC3E}">
        <p14:creationId xmlns:p14="http://schemas.microsoft.com/office/powerpoint/2010/main" val="1426534640"/>
      </p:ext>
    </p:extLst>
  </p:cSld>
</p:sld>
</file>

<file path=ppt/slides/slide10.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DB881284-78CB-4135-A787-385D1979AD33}"/>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CFCFA"/>
          </a:solidFill>
          <a:ln xmlns:a="http://schemas.openxmlformats.org/drawingml/2006/main" w="0">
            <a:solidFill>
              <a:srgbClr val="FCFCFA"/>
            </a:solidFill>
            <a:prstDash val="solid"/>
          </a:ln>
        </p:spPr>
      </p:sp>
      <p:sp>
        <p:nvSpPr>
          <p:cNvPr id="2" name="eyebrow">
            <a:extLst xmlns:a="http://schemas.openxmlformats.org/drawingml/2006/main">
              <a:ext uri="{FF2B5EF4-FFF2-40B4-BE49-F238E27FC236}">
                <a16:creationId xmlns:a16="http://schemas.microsoft.com/office/drawing/2014/main" id="{E1A4367C-8895-4786-9181-F13FD607483C}"/>
              </a:ext>
            </a:extLst>
          </p:cNvPr>
          <p:cNvSpPr>
            <a:spLocks xmlns:a="http://schemas.openxmlformats.org/drawingml/2006/main" noGrp="1"/>
          </p:cNvSpPr>
          <p:nvPr/>
        </p:nvSpPr>
        <p:spPr>
          <a:xfrm xmlns:a="http://schemas.openxmlformats.org/drawingml/2006/main">
            <a:off x="609600" y="295275"/>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975" b="1">
                <a:solidFill>
                  <a:srgbClr val="0F766E"/>
                </a:solidFill>
                <a:latin typeface="Helvetica Neue"/>
                <a:ea typeface="Helvetica Neue"/>
                <a:cs typeface="Helvetica Neue"/>
              </a:defRPr>
            </a:pPr>
            <a:r>
              <a:rPr sz="975" b="1">
                <a:solidFill>
                  <a:srgbClr val="0F766E"/>
                </a:solidFill>
                <a:latin typeface="Helvetica Neue"/>
                <a:ea typeface="Helvetica Neue"/>
                <a:cs typeface="Helvetica Neue"/>
              </a:rPr>
              <a:t>WEEK 04  /  CST4714</a:t>
            </a:r>
          </a:p>
        </p:txBody>
      </p:sp>
      <p:sp>
        <p:nvSpPr>
          <p:cNvPr id="3" name="slide-title">
            <a:extLst xmlns:a="http://schemas.openxmlformats.org/drawingml/2006/main">
              <a:ext uri="{FF2B5EF4-FFF2-40B4-BE49-F238E27FC236}">
                <a16:creationId xmlns:a16="http://schemas.microsoft.com/office/drawing/2014/main" id="{C30CF993-0213-4B69-8B0F-F1EF27754DEC}"/>
              </a:ext>
            </a:extLst>
          </p:cNvPr>
          <p:cNvSpPr>
            <a:spLocks xmlns:a="http://schemas.openxmlformats.org/drawingml/2006/main" noGrp="1"/>
          </p:cNvSpPr>
          <p:nvPr/>
        </p:nvSpPr>
        <p:spPr>
          <a:xfrm xmlns:a="http://schemas.openxmlformats.org/drawingml/2006/main">
            <a:off x="609600" y="590550"/>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2850" b="1">
                <a:solidFill>
                  <a:srgbClr val="111827"/>
                </a:solidFill>
                <a:latin typeface="Helvetica Neue"/>
                <a:ea typeface="Helvetica Neue"/>
                <a:cs typeface="Helvetica Neue"/>
              </a:defRPr>
            </a:pPr>
            <a:r>
              <a:rPr sz="2850" b="1">
                <a:solidFill>
                  <a:srgbClr val="111827"/>
                </a:solidFill>
                <a:latin typeface="Helvetica Neue"/>
                <a:ea typeface="Helvetica Neue"/>
                <a:cs typeface="Helvetica Neue"/>
              </a:rPr>
              <a:t>Rollback and forward repair solve different situations</a:t>
            </a:r>
          </a:p>
        </p:txBody>
      </p:sp>
      <p:sp>
        <p:nvSpPr>
          <p:cNvPr id="4" name="">
            <a:extLst xmlns:a="http://schemas.openxmlformats.org/drawingml/2006/main">
              <a:ext uri="{FF2B5EF4-FFF2-40B4-BE49-F238E27FC236}">
                <a16:creationId xmlns:a16="http://schemas.microsoft.com/office/drawing/2014/main" id="{053B2E77-556F-42A9-89F2-B1B10708C353}"/>
              </a:ext>
            </a:extLst>
          </p:cNvPr>
          <p:cNvSpPr>
            <a:spLocks xmlns:a="http://schemas.openxmlformats.org/drawingml/2006/main" noGrp="1"/>
          </p:cNvSpPr>
          <p:nvPr/>
        </p:nvSpPr>
        <p:spPr>
          <a:xfrm xmlns:a="http://schemas.openxmlformats.org/drawingml/2006/main">
            <a:off x="609600" y="1295400"/>
            <a:ext cx="1097280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
        <p:nvSpPr>
          <p:cNvPr id="5" name="slide-number">
            <a:extLst xmlns:a="http://schemas.openxmlformats.org/drawingml/2006/main">
              <a:ext uri="{FF2B5EF4-FFF2-40B4-BE49-F238E27FC236}">
                <a16:creationId xmlns:a16="http://schemas.microsoft.com/office/drawing/2014/main" id="{79370940-AB16-4090-8700-C12C96D580CA}"/>
              </a:ext>
            </a:extLst>
          </p:cNvPr>
          <p:cNvSpPr>
            <a:spLocks xmlns:a="http://schemas.openxmlformats.org/drawingml/2006/main" noGrp="1"/>
          </p:cNvSpPr>
          <p:nvPr/>
        </p:nvSpPr>
        <p:spPr>
          <a:xfrm xmlns:a="http://schemas.openxmlformats.org/drawingml/2006/main">
            <a:off x="11144250" y="64865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r">
              <a:defRPr sz="825">
                <a:solidFill>
                  <a:srgbClr val="94A3B8"/>
                </a:solidFill>
                <a:latin typeface="Helvetica Neue"/>
                <a:ea typeface="Helvetica Neue"/>
                <a:cs typeface="Helvetica Neue"/>
              </a:defRPr>
            </a:pPr>
            <a:r>
              <a:rPr sz="825">
                <a:solidFill>
                  <a:srgbClr val="94A3B8"/>
                </a:solidFill>
                <a:latin typeface="Helvetica Neue"/>
                <a:ea typeface="Helvetica Neue"/>
                <a:cs typeface="Helvetica Neue"/>
              </a:rPr>
              <a:t>10</a:t>
            </a:r>
          </a:p>
        </p:txBody>
      </p:sp>
      <p:sp>
        <p:nvSpPr>
          <p:cNvPr id="6" name="">
            <a:extLst xmlns:a="http://schemas.openxmlformats.org/drawingml/2006/main">
              <a:ext uri="{FF2B5EF4-FFF2-40B4-BE49-F238E27FC236}">
                <a16:creationId xmlns:a16="http://schemas.microsoft.com/office/drawing/2014/main" id="{9D9F6B41-15E5-4AA1-BA1E-65FDEECB0495}"/>
              </a:ext>
            </a:extLst>
          </p:cNvPr>
          <p:cNvSpPr>
            <a:spLocks xmlns:a="http://schemas.openxmlformats.org/drawingml/2006/main" noGrp="1"/>
          </p:cNvSpPr>
          <p:nvPr/>
        </p:nvSpPr>
        <p:spPr>
          <a:xfrm xmlns:a="http://schemas.openxmlformats.org/drawingml/2006/main">
            <a:off x="723900" y="1676400"/>
            <a:ext cx="4762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1950" b="1">
                <a:solidFill>
                  <a:srgbClr val="0F766E"/>
                </a:solidFill>
                <a:latin typeface="Helvetica Neue"/>
                <a:ea typeface="Helvetica Neue"/>
                <a:cs typeface="Helvetica Neue"/>
              </a:defRPr>
            </a:pPr>
            <a:r>
              <a:rPr sz="1950" b="1">
                <a:solidFill>
                  <a:srgbClr val="0F766E"/>
                </a:solidFill>
                <a:latin typeface="Helvetica Neue"/>
                <a:ea typeface="Helvetica Neue"/>
                <a:cs typeface="Helvetica Neue"/>
              </a:rPr>
              <a:t>Rollback</a:t>
            </a:r>
          </a:p>
        </p:txBody>
      </p:sp>
      <p:sp>
        <p:nvSpPr>
          <p:cNvPr id="7" name="">
            <a:extLst xmlns:a="http://schemas.openxmlformats.org/drawingml/2006/main">
              <a:ext uri="{FF2B5EF4-FFF2-40B4-BE49-F238E27FC236}">
                <a16:creationId xmlns:a16="http://schemas.microsoft.com/office/drawing/2014/main" id="{64435403-6E7A-48B2-A76B-7AAB48EB2F8E}"/>
              </a:ext>
            </a:extLst>
          </p:cNvPr>
          <p:cNvSpPr>
            <a:spLocks xmlns:a="http://schemas.openxmlformats.org/drawingml/2006/main" noGrp="1"/>
          </p:cNvSpPr>
          <p:nvPr/>
        </p:nvSpPr>
        <p:spPr>
          <a:xfrm xmlns:a="http://schemas.openxmlformats.org/drawingml/2006/main">
            <a:off x="6705600" y="1676400"/>
            <a:ext cx="4762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1950" b="1">
                <a:solidFill>
                  <a:srgbClr val="111827"/>
                </a:solidFill>
                <a:latin typeface="Helvetica Neue"/>
                <a:ea typeface="Helvetica Neue"/>
                <a:cs typeface="Helvetica Neue"/>
              </a:defRPr>
            </a:pPr>
            <a:r>
              <a:rPr sz="1950" b="1">
                <a:solidFill>
                  <a:srgbClr val="111827"/>
                </a:solidFill>
                <a:latin typeface="Helvetica Neue"/>
                <a:ea typeface="Helvetica Neue"/>
                <a:cs typeface="Helvetica Neue"/>
              </a:rPr>
              <a:t>Forward repair</a:t>
            </a:r>
          </a:p>
        </p:txBody>
      </p:sp>
      <p:sp>
        <p:nvSpPr>
          <p:cNvPr id="8" name="">
            <a:extLst xmlns:a="http://schemas.openxmlformats.org/drawingml/2006/main">
              <a:ext uri="{FF2B5EF4-FFF2-40B4-BE49-F238E27FC236}">
                <a16:creationId xmlns:a16="http://schemas.microsoft.com/office/drawing/2014/main" id="{9021101D-FB9D-4392-BCD4-22FAC833F8B2}"/>
              </a:ext>
            </a:extLst>
          </p:cNvPr>
          <p:cNvSpPr>
            <a:spLocks xmlns:a="http://schemas.openxmlformats.org/drawingml/2006/main" noGrp="1"/>
          </p:cNvSpPr>
          <p:nvPr/>
        </p:nvSpPr>
        <p:spPr>
          <a:xfrm xmlns:a="http://schemas.openxmlformats.org/drawingml/2006/main">
            <a:off x="6096000" y="1638300"/>
            <a:ext cx="0" cy="430530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sp>
      <p:sp>
        <p:nvSpPr>
          <p:cNvPr id="9" name="">
            <a:extLst xmlns:a="http://schemas.openxmlformats.org/drawingml/2006/main">
              <a:ext uri="{FF2B5EF4-FFF2-40B4-BE49-F238E27FC236}">
                <a16:creationId xmlns:a16="http://schemas.microsoft.com/office/drawing/2014/main" id="{9D1BCDF9-65E1-466D-8E22-6F4237840086}"/>
              </a:ext>
            </a:extLst>
          </p:cNvPr>
          <p:cNvSpPr>
            <a:spLocks xmlns:a="http://schemas.openxmlformats.org/drawingml/2006/main" noGrp="1"/>
          </p:cNvSpPr>
          <p:nvPr/>
        </p:nvSpPr>
        <p:spPr>
          <a:xfrm xmlns:a="http://schemas.openxmlformats.org/drawingml/2006/main">
            <a:off x="762000" y="2400300"/>
            <a:ext cx="85725" cy="304800"/>
          </a:xfrm>
          <a:prstGeom xmlns:a="http://schemas.openxmlformats.org/drawingml/2006/main" prst="rect">
            <a:avLst/>
          </a:prstGeom>
          <a:solidFill xmlns:a="http://schemas.openxmlformats.org/drawingml/2006/main">
            <a:srgbClr val="0F766E"/>
          </a:solidFill>
          <a:ln xmlns:a="http://schemas.openxmlformats.org/drawingml/2006/main" w="0">
            <a:solidFill>
              <a:srgbClr val="0F766E"/>
            </a:solidFill>
            <a:prstDash val="solid"/>
          </a:ln>
        </p:spPr>
      </p:sp>
      <p:sp>
        <p:nvSpPr>
          <p:cNvPr id="10" name="">
            <a:extLst xmlns:a="http://schemas.openxmlformats.org/drawingml/2006/main">
              <a:ext uri="{FF2B5EF4-FFF2-40B4-BE49-F238E27FC236}">
                <a16:creationId xmlns:a16="http://schemas.microsoft.com/office/drawing/2014/main" id="{E06DB0AD-7630-46C6-AA46-B101B46C146D}"/>
              </a:ext>
            </a:extLst>
          </p:cNvPr>
          <p:cNvSpPr>
            <a:spLocks xmlns:a="http://schemas.openxmlformats.org/drawingml/2006/main" noGrp="1"/>
          </p:cNvSpPr>
          <p:nvPr/>
        </p:nvSpPr>
        <p:spPr>
          <a:xfrm xmlns:a="http://schemas.openxmlformats.org/drawingml/2006/main">
            <a:off x="1028700" y="2343150"/>
            <a:ext cx="4495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1575">
                <a:solidFill>
                  <a:srgbClr val="111827"/>
                </a:solidFill>
                <a:latin typeface="Helvetica Neue"/>
                <a:ea typeface="Helvetica Neue"/>
                <a:cs typeface="Helvetica Neue"/>
              </a:defRPr>
            </a:pPr>
            <a:r>
              <a:rPr sz="1575">
                <a:solidFill>
                  <a:srgbClr val="111827"/>
                </a:solidFill>
                <a:latin typeface="Helvetica Neue"/>
                <a:ea typeface="Helvetica Neue"/>
                <a:cs typeface="Helvetica Neue"/>
              </a:rPr>
              <a:t>Return to a known earlier state</a:t>
            </a:r>
          </a:p>
        </p:txBody>
      </p:sp>
      <p:sp>
        <p:nvSpPr>
          <p:cNvPr id="11" name="">
            <a:extLst xmlns:a="http://schemas.openxmlformats.org/drawingml/2006/main">
              <a:ext uri="{FF2B5EF4-FFF2-40B4-BE49-F238E27FC236}">
                <a16:creationId xmlns:a16="http://schemas.microsoft.com/office/drawing/2014/main" id="{09799419-A746-4E0F-8E69-7C988DC27023}"/>
              </a:ext>
            </a:extLst>
          </p:cNvPr>
          <p:cNvSpPr>
            <a:spLocks xmlns:a="http://schemas.openxmlformats.org/drawingml/2006/main" noGrp="1"/>
          </p:cNvSpPr>
          <p:nvPr/>
        </p:nvSpPr>
        <p:spPr>
          <a:xfrm xmlns:a="http://schemas.openxmlformats.org/drawingml/2006/main">
            <a:off x="762000" y="3143250"/>
            <a:ext cx="85725" cy="304800"/>
          </a:xfrm>
          <a:prstGeom xmlns:a="http://schemas.openxmlformats.org/drawingml/2006/main" prst="rect">
            <a:avLst/>
          </a:prstGeom>
          <a:solidFill xmlns:a="http://schemas.openxmlformats.org/drawingml/2006/main">
            <a:srgbClr val="0F766E"/>
          </a:solidFill>
          <a:ln xmlns:a="http://schemas.openxmlformats.org/drawingml/2006/main" w="0">
            <a:solidFill>
              <a:srgbClr val="0F766E"/>
            </a:solidFill>
            <a:prstDash val="solid"/>
          </a:ln>
        </p:spPr>
      </p:sp>
      <p:sp>
        <p:nvSpPr>
          <p:cNvPr id="12" name="">
            <a:extLst xmlns:a="http://schemas.openxmlformats.org/drawingml/2006/main">
              <a:ext uri="{FF2B5EF4-FFF2-40B4-BE49-F238E27FC236}">
                <a16:creationId xmlns:a16="http://schemas.microsoft.com/office/drawing/2014/main" id="{A41F2983-3F55-4423-81CA-A90D2FC2394A}"/>
              </a:ext>
            </a:extLst>
          </p:cNvPr>
          <p:cNvSpPr>
            <a:spLocks xmlns:a="http://schemas.openxmlformats.org/drawingml/2006/main" noGrp="1"/>
          </p:cNvSpPr>
          <p:nvPr/>
        </p:nvSpPr>
        <p:spPr>
          <a:xfrm xmlns:a="http://schemas.openxmlformats.org/drawingml/2006/main">
            <a:off x="1028700" y="3086100"/>
            <a:ext cx="4495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1575">
                <a:solidFill>
                  <a:srgbClr val="111827"/>
                </a:solidFill>
                <a:latin typeface="Helvetica Neue"/>
                <a:ea typeface="Helvetica Neue"/>
                <a:cs typeface="Helvetica Neue"/>
              </a:defRPr>
            </a:pPr>
            <a:r>
              <a:rPr sz="1575">
                <a:solidFill>
                  <a:srgbClr val="111827"/>
                </a:solidFill>
                <a:latin typeface="Helvetica Neue"/>
                <a:ea typeface="Helvetica Neue"/>
                <a:cs typeface="Helvetica Neue"/>
              </a:rPr>
              <a:t>Best when the transition is still isolated</a:t>
            </a:r>
          </a:p>
        </p:txBody>
      </p:sp>
      <p:sp>
        <p:nvSpPr>
          <p:cNvPr id="13" name="">
            <a:extLst xmlns:a="http://schemas.openxmlformats.org/drawingml/2006/main">
              <a:ext uri="{FF2B5EF4-FFF2-40B4-BE49-F238E27FC236}">
                <a16:creationId xmlns:a16="http://schemas.microsoft.com/office/drawing/2014/main" id="{7247F296-E360-43F9-90F7-0F04E3E3E364}"/>
              </a:ext>
            </a:extLst>
          </p:cNvPr>
          <p:cNvSpPr>
            <a:spLocks xmlns:a="http://schemas.openxmlformats.org/drawingml/2006/main" noGrp="1"/>
          </p:cNvSpPr>
          <p:nvPr/>
        </p:nvSpPr>
        <p:spPr>
          <a:xfrm xmlns:a="http://schemas.openxmlformats.org/drawingml/2006/main">
            <a:off x="762000" y="3886200"/>
            <a:ext cx="85725" cy="304800"/>
          </a:xfrm>
          <a:prstGeom xmlns:a="http://schemas.openxmlformats.org/drawingml/2006/main" prst="rect">
            <a:avLst/>
          </a:prstGeom>
          <a:solidFill xmlns:a="http://schemas.openxmlformats.org/drawingml/2006/main">
            <a:srgbClr val="0F766E"/>
          </a:solidFill>
          <a:ln xmlns:a="http://schemas.openxmlformats.org/drawingml/2006/main" w="0">
            <a:solidFill>
              <a:srgbClr val="0F766E"/>
            </a:solidFill>
            <a:prstDash val="solid"/>
          </a:ln>
        </p:spPr>
      </p:sp>
      <p:sp>
        <p:nvSpPr>
          <p:cNvPr id="14" name="">
            <a:extLst xmlns:a="http://schemas.openxmlformats.org/drawingml/2006/main">
              <a:ext uri="{FF2B5EF4-FFF2-40B4-BE49-F238E27FC236}">
                <a16:creationId xmlns:a16="http://schemas.microsoft.com/office/drawing/2014/main" id="{F8F1FA3F-0F2C-4683-9DEB-8B0CF990737F}"/>
              </a:ext>
            </a:extLst>
          </p:cNvPr>
          <p:cNvSpPr>
            <a:spLocks xmlns:a="http://schemas.openxmlformats.org/drawingml/2006/main" noGrp="1"/>
          </p:cNvSpPr>
          <p:nvPr/>
        </p:nvSpPr>
        <p:spPr>
          <a:xfrm xmlns:a="http://schemas.openxmlformats.org/drawingml/2006/main">
            <a:off x="1028700" y="3829050"/>
            <a:ext cx="4495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1575">
                <a:solidFill>
                  <a:srgbClr val="111827"/>
                </a:solidFill>
                <a:latin typeface="Helvetica Neue"/>
                <a:ea typeface="Helvetica Neue"/>
                <a:cs typeface="Helvetica Neue"/>
              </a:defRPr>
            </a:pPr>
            <a:r>
              <a:rPr sz="1575">
                <a:solidFill>
                  <a:srgbClr val="111827"/>
                </a:solidFill>
                <a:latin typeface="Helvetica Neue"/>
                <a:ea typeface="Helvetica Neue"/>
                <a:cs typeface="Helvetica Neue"/>
              </a:rPr>
              <a:t>May be unsafe after new writes depend on the change</a:t>
            </a:r>
          </a:p>
        </p:txBody>
      </p:sp>
      <p:sp>
        <p:nvSpPr>
          <p:cNvPr id="15" name="">
            <a:extLst xmlns:a="http://schemas.openxmlformats.org/drawingml/2006/main">
              <a:ext uri="{FF2B5EF4-FFF2-40B4-BE49-F238E27FC236}">
                <a16:creationId xmlns:a16="http://schemas.microsoft.com/office/drawing/2014/main" id="{AD388BDD-B6D7-4892-B865-986CDBFEE740}"/>
              </a:ext>
            </a:extLst>
          </p:cNvPr>
          <p:cNvSpPr>
            <a:spLocks xmlns:a="http://schemas.openxmlformats.org/drawingml/2006/main" noGrp="1"/>
          </p:cNvSpPr>
          <p:nvPr/>
        </p:nvSpPr>
        <p:spPr>
          <a:xfrm xmlns:a="http://schemas.openxmlformats.org/drawingml/2006/main">
            <a:off x="6743700" y="2400300"/>
            <a:ext cx="85725" cy="304800"/>
          </a:xfrm>
          <a:prstGeom xmlns:a="http://schemas.openxmlformats.org/drawingml/2006/main" prst="rect">
            <a:avLst/>
          </a:prstGeom>
          <a:solidFill xmlns:a="http://schemas.openxmlformats.org/drawingml/2006/main">
            <a:srgbClr val="475569"/>
          </a:solidFill>
          <a:ln xmlns:a="http://schemas.openxmlformats.org/drawingml/2006/main" w="0">
            <a:solidFill>
              <a:srgbClr val="475569"/>
            </a:solidFill>
            <a:prstDash val="solid"/>
          </a:ln>
        </p:spPr>
      </p:sp>
      <p:sp>
        <p:nvSpPr>
          <p:cNvPr id="16" name="">
            <a:extLst xmlns:a="http://schemas.openxmlformats.org/drawingml/2006/main">
              <a:ext uri="{FF2B5EF4-FFF2-40B4-BE49-F238E27FC236}">
                <a16:creationId xmlns:a16="http://schemas.microsoft.com/office/drawing/2014/main" id="{D4FDBE2C-2E53-4268-8D9B-B995DE1867FC}"/>
              </a:ext>
            </a:extLst>
          </p:cNvPr>
          <p:cNvSpPr>
            <a:spLocks xmlns:a="http://schemas.openxmlformats.org/drawingml/2006/main" noGrp="1"/>
          </p:cNvSpPr>
          <p:nvPr/>
        </p:nvSpPr>
        <p:spPr>
          <a:xfrm xmlns:a="http://schemas.openxmlformats.org/drawingml/2006/main">
            <a:off x="7010400" y="2343150"/>
            <a:ext cx="4495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1575">
                <a:solidFill>
                  <a:srgbClr val="111827"/>
                </a:solidFill>
                <a:latin typeface="Helvetica Neue"/>
                <a:ea typeface="Helvetica Neue"/>
                <a:cs typeface="Helvetica Neue"/>
              </a:defRPr>
            </a:pPr>
            <a:r>
              <a:rPr sz="1575">
                <a:solidFill>
                  <a:srgbClr val="111827"/>
                </a:solidFill>
                <a:latin typeface="Helvetica Neue"/>
                <a:ea typeface="Helvetica Neue"/>
                <a:cs typeface="Helvetica Neue"/>
              </a:rPr>
              <a:t>Correct the current state without reversing history</a:t>
            </a:r>
          </a:p>
        </p:txBody>
      </p:sp>
      <p:sp>
        <p:nvSpPr>
          <p:cNvPr id="17" name="">
            <a:extLst xmlns:a="http://schemas.openxmlformats.org/drawingml/2006/main">
              <a:ext uri="{FF2B5EF4-FFF2-40B4-BE49-F238E27FC236}">
                <a16:creationId xmlns:a16="http://schemas.microsoft.com/office/drawing/2014/main" id="{93617E83-F6EB-4562-B778-30DDDCC085CC}"/>
              </a:ext>
            </a:extLst>
          </p:cNvPr>
          <p:cNvSpPr>
            <a:spLocks xmlns:a="http://schemas.openxmlformats.org/drawingml/2006/main" noGrp="1"/>
          </p:cNvSpPr>
          <p:nvPr/>
        </p:nvSpPr>
        <p:spPr>
          <a:xfrm xmlns:a="http://schemas.openxmlformats.org/drawingml/2006/main">
            <a:off x="6743700" y="3143250"/>
            <a:ext cx="85725" cy="304800"/>
          </a:xfrm>
          <a:prstGeom xmlns:a="http://schemas.openxmlformats.org/drawingml/2006/main" prst="rect">
            <a:avLst/>
          </a:prstGeom>
          <a:solidFill xmlns:a="http://schemas.openxmlformats.org/drawingml/2006/main">
            <a:srgbClr val="475569"/>
          </a:solidFill>
          <a:ln xmlns:a="http://schemas.openxmlformats.org/drawingml/2006/main" w="0">
            <a:solidFill>
              <a:srgbClr val="475569"/>
            </a:solidFill>
            <a:prstDash val="solid"/>
          </a:ln>
        </p:spPr>
      </p:sp>
      <p:sp>
        <p:nvSpPr>
          <p:cNvPr id="18" name="">
            <a:extLst xmlns:a="http://schemas.openxmlformats.org/drawingml/2006/main">
              <a:ext uri="{FF2B5EF4-FFF2-40B4-BE49-F238E27FC236}">
                <a16:creationId xmlns:a16="http://schemas.microsoft.com/office/drawing/2014/main" id="{60A53083-0532-4B16-B41D-2E2CC4B6DA15}"/>
              </a:ext>
            </a:extLst>
          </p:cNvPr>
          <p:cNvSpPr>
            <a:spLocks xmlns:a="http://schemas.openxmlformats.org/drawingml/2006/main" noGrp="1"/>
          </p:cNvSpPr>
          <p:nvPr/>
        </p:nvSpPr>
        <p:spPr>
          <a:xfrm xmlns:a="http://schemas.openxmlformats.org/drawingml/2006/main">
            <a:off x="7010400" y="3086100"/>
            <a:ext cx="4495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1575">
                <a:solidFill>
                  <a:srgbClr val="111827"/>
                </a:solidFill>
                <a:latin typeface="Helvetica Neue"/>
                <a:ea typeface="Helvetica Neue"/>
                <a:cs typeface="Helvetica Neue"/>
              </a:defRPr>
            </a:pPr>
            <a:r>
              <a:rPr sz="1575">
                <a:solidFill>
                  <a:srgbClr val="111827"/>
                </a:solidFill>
                <a:latin typeface="Helvetica Neue"/>
                <a:ea typeface="Helvetica Neue"/>
                <a:cs typeface="Helvetica Neue"/>
              </a:rPr>
              <a:t>Useful after adoption or irreversible transformation</a:t>
            </a:r>
          </a:p>
        </p:txBody>
      </p:sp>
      <p:sp>
        <p:nvSpPr>
          <p:cNvPr id="19" name="">
            <a:extLst xmlns:a="http://schemas.openxmlformats.org/drawingml/2006/main">
              <a:ext uri="{FF2B5EF4-FFF2-40B4-BE49-F238E27FC236}">
                <a16:creationId xmlns:a16="http://schemas.microsoft.com/office/drawing/2014/main" id="{55195D4C-D409-47AE-B7A6-9ED1DA974778}"/>
              </a:ext>
            </a:extLst>
          </p:cNvPr>
          <p:cNvSpPr>
            <a:spLocks xmlns:a="http://schemas.openxmlformats.org/drawingml/2006/main" noGrp="1"/>
          </p:cNvSpPr>
          <p:nvPr/>
        </p:nvSpPr>
        <p:spPr>
          <a:xfrm xmlns:a="http://schemas.openxmlformats.org/drawingml/2006/main">
            <a:off x="6743700" y="3886200"/>
            <a:ext cx="85725" cy="304800"/>
          </a:xfrm>
          <a:prstGeom xmlns:a="http://schemas.openxmlformats.org/drawingml/2006/main" prst="rect">
            <a:avLst/>
          </a:prstGeom>
          <a:solidFill xmlns:a="http://schemas.openxmlformats.org/drawingml/2006/main">
            <a:srgbClr val="475569"/>
          </a:solidFill>
          <a:ln xmlns:a="http://schemas.openxmlformats.org/drawingml/2006/main" w="0">
            <a:solidFill>
              <a:srgbClr val="475569"/>
            </a:solidFill>
            <a:prstDash val="solid"/>
          </a:ln>
        </p:spPr>
      </p:sp>
      <p:sp>
        <p:nvSpPr>
          <p:cNvPr id="20" name="">
            <a:extLst xmlns:a="http://schemas.openxmlformats.org/drawingml/2006/main">
              <a:ext uri="{FF2B5EF4-FFF2-40B4-BE49-F238E27FC236}">
                <a16:creationId xmlns:a16="http://schemas.microsoft.com/office/drawing/2014/main" id="{08E70347-BF34-4D8F-ABF1-6600ECD45452}"/>
              </a:ext>
            </a:extLst>
          </p:cNvPr>
          <p:cNvSpPr>
            <a:spLocks xmlns:a="http://schemas.openxmlformats.org/drawingml/2006/main" noGrp="1"/>
          </p:cNvSpPr>
          <p:nvPr/>
        </p:nvSpPr>
        <p:spPr>
          <a:xfrm xmlns:a="http://schemas.openxmlformats.org/drawingml/2006/main">
            <a:off x="7010400" y="3829050"/>
            <a:ext cx="4495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1575">
                <a:solidFill>
                  <a:srgbClr val="111827"/>
                </a:solidFill>
                <a:latin typeface="Helvetica Neue"/>
                <a:ea typeface="Helvetica Neue"/>
                <a:cs typeface="Helvetica Neue"/>
              </a:defRPr>
            </a:pPr>
            <a:r>
              <a:rPr sz="1575">
                <a:solidFill>
                  <a:srgbClr val="111827"/>
                </a:solidFill>
                <a:latin typeface="Helvetica Neue"/>
                <a:ea typeface="Helvetica Neue"/>
                <a:cs typeface="Helvetica Neue"/>
              </a:rPr>
              <a:t>Requires its own precondition and verification</a:t>
            </a:r>
          </a:p>
        </p:txBody>
      </p:sp>
    </p:spTree>
    <p:extLst>
      <p:ext uri="{BB962C8B-B14F-4D97-AF65-F5344CB8AC3E}">
        <p14:creationId xmlns:p14="http://schemas.microsoft.com/office/powerpoint/2010/main" val="1874427671"/>
      </p:ext>
    </p:extLst>
  </p:cSld>
</p:sld>
</file>

<file path=ppt/slides/slide11.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090F315A-D38B-46E6-87EF-82E51ACCB7C1}"/>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CFCFA"/>
          </a:solidFill>
          <a:ln xmlns:a="http://schemas.openxmlformats.org/drawingml/2006/main" w="0">
            <a:solidFill>
              <a:srgbClr val="FCFCFA"/>
            </a:solidFill>
            <a:prstDash val="solid"/>
          </a:ln>
        </p:spPr>
      </p:sp>
      <p:sp>
        <p:nvSpPr>
          <p:cNvPr id="2" name="eyebrow">
            <a:extLst xmlns:a="http://schemas.openxmlformats.org/drawingml/2006/main">
              <a:ext uri="{FF2B5EF4-FFF2-40B4-BE49-F238E27FC236}">
                <a16:creationId xmlns:a16="http://schemas.microsoft.com/office/drawing/2014/main" id="{ACA7D479-03AC-4A6A-B1B1-6F79D5F778ED}"/>
              </a:ext>
            </a:extLst>
          </p:cNvPr>
          <p:cNvSpPr>
            <a:spLocks xmlns:a="http://schemas.openxmlformats.org/drawingml/2006/main" noGrp="1"/>
          </p:cNvSpPr>
          <p:nvPr/>
        </p:nvSpPr>
        <p:spPr>
          <a:xfrm xmlns:a="http://schemas.openxmlformats.org/drawingml/2006/main">
            <a:off x="609600" y="295275"/>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975" b="1">
                <a:solidFill>
                  <a:srgbClr val="0F766E"/>
                </a:solidFill>
                <a:latin typeface="Helvetica Neue"/>
                <a:ea typeface="Helvetica Neue"/>
                <a:cs typeface="Helvetica Neue"/>
              </a:defRPr>
            </a:pPr>
            <a:r>
              <a:rPr sz="975" b="1">
                <a:solidFill>
                  <a:srgbClr val="0F766E"/>
                </a:solidFill>
                <a:latin typeface="Helvetica Neue"/>
                <a:ea typeface="Helvetica Neue"/>
                <a:cs typeface="Helvetica Neue"/>
              </a:rPr>
              <a:t>WEEK 04  /  CST4714</a:t>
            </a:r>
          </a:p>
        </p:txBody>
      </p:sp>
      <p:sp>
        <p:nvSpPr>
          <p:cNvPr id="3" name="slide-title">
            <a:extLst xmlns:a="http://schemas.openxmlformats.org/drawingml/2006/main">
              <a:ext uri="{FF2B5EF4-FFF2-40B4-BE49-F238E27FC236}">
                <a16:creationId xmlns:a16="http://schemas.microsoft.com/office/drawing/2014/main" id="{585F5E88-A7D1-46FD-8F6E-28CC7390D0E6}"/>
              </a:ext>
            </a:extLst>
          </p:cNvPr>
          <p:cNvSpPr>
            <a:spLocks xmlns:a="http://schemas.openxmlformats.org/drawingml/2006/main" noGrp="1"/>
          </p:cNvSpPr>
          <p:nvPr/>
        </p:nvSpPr>
        <p:spPr>
          <a:xfrm xmlns:a="http://schemas.openxmlformats.org/drawingml/2006/main">
            <a:off x="609600" y="590550"/>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2850" b="1">
                <a:solidFill>
                  <a:srgbClr val="111827"/>
                </a:solidFill>
                <a:latin typeface="Helvetica Neue"/>
                <a:ea typeface="Helvetica Neue"/>
                <a:cs typeface="Helvetica Neue"/>
              </a:defRPr>
            </a:pPr>
            <a:r>
              <a:rPr sz="2850" b="1">
                <a:solidFill>
                  <a:srgbClr val="111827"/>
                </a:solidFill>
                <a:latin typeface="Helvetica Neue"/>
                <a:ea typeface="Helvetica Neue"/>
                <a:cs typeface="Helvetica Neue"/>
              </a:rPr>
              <a:t>A five-part change record keeps the claim bounded</a:t>
            </a:r>
          </a:p>
        </p:txBody>
      </p:sp>
      <p:sp>
        <p:nvSpPr>
          <p:cNvPr id="4" name="">
            <a:extLst xmlns:a="http://schemas.openxmlformats.org/drawingml/2006/main">
              <a:ext uri="{FF2B5EF4-FFF2-40B4-BE49-F238E27FC236}">
                <a16:creationId xmlns:a16="http://schemas.microsoft.com/office/drawing/2014/main" id="{54F1C2AA-C8EF-4097-8B80-AB01D0663C6D}"/>
              </a:ext>
            </a:extLst>
          </p:cNvPr>
          <p:cNvSpPr>
            <a:spLocks xmlns:a="http://schemas.openxmlformats.org/drawingml/2006/main" noGrp="1"/>
          </p:cNvSpPr>
          <p:nvPr/>
        </p:nvSpPr>
        <p:spPr>
          <a:xfrm xmlns:a="http://schemas.openxmlformats.org/drawingml/2006/main">
            <a:off x="609600" y="1295400"/>
            <a:ext cx="1097280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
        <p:nvSpPr>
          <p:cNvPr id="5" name="slide-number">
            <a:extLst xmlns:a="http://schemas.openxmlformats.org/drawingml/2006/main">
              <a:ext uri="{FF2B5EF4-FFF2-40B4-BE49-F238E27FC236}">
                <a16:creationId xmlns:a16="http://schemas.microsoft.com/office/drawing/2014/main" id="{794227E2-4E2D-40DD-8443-8FF7DBECD464}"/>
              </a:ext>
            </a:extLst>
          </p:cNvPr>
          <p:cNvSpPr>
            <a:spLocks xmlns:a="http://schemas.openxmlformats.org/drawingml/2006/main" noGrp="1"/>
          </p:cNvSpPr>
          <p:nvPr/>
        </p:nvSpPr>
        <p:spPr>
          <a:xfrm xmlns:a="http://schemas.openxmlformats.org/drawingml/2006/main">
            <a:off x="11144250" y="64865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r">
              <a:defRPr sz="825">
                <a:solidFill>
                  <a:srgbClr val="94A3B8"/>
                </a:solidFill>
                <a:latin typeface="Helvetica Neue"/>
                <a:ea typeface="Helvetica Neue"/>
                <a:cs typeface="Helvetica Neue"/>
              </a:defRPr>
            </a:pPr>
            <a:r>
              <a:rPr sz="825">
                <a:solidFill>
                  <a:srgbClr val="94A3B8"/>
                </a:solidFill>
                <a:latin typeface="Helvetica Neue"/>
                <a:ea typeface="Helvetica Neue"/>
                <a:cs typeface="Helvetica Neue"/>
              </a:rPr>
              <a:t>11</a:t>
            </a:r>
          </a:p>
        </p:txBody>
      </p:sp>
      <p:sp>
        <p:nvSpPr>
          <p:cNvPr id="6" name="">
            <a:extLst xmlns:a="http://schemas.openxmlformats.org/drawingml/2006/main">
              <a:ext uri="{FF2B5EF4-FFF2-40B4-BE49-F238E27FC236}">
                <a16:creationId xmlns:a16="http://schemas.microsoft.com/office/drawing/2014/main" id="{2C302535-CA27-4C19-B17E-0A3D5E224059}"/>
              </a:ext>
            </a:extLst>
          </p:cNvPr>
          <p:cNvSpPr>
            <a:spLocks xmlns:a="http://schemas.openxmlformats.org/drawingml/2006/main" noGrp="1"/>
          </p:cNvSpPr>
          <p:nvPr/>
        </p:nvSpPr>
        <p:spPr>
          <a:xfrm xmlns:a="http://schemas.openxmlformats.org/drawingml/2006/main">
            <a:off x="800100" y="1733550"/>
            <a:ext cx="361950" cy="361950"/>
          </a:xfrm>
          <a:prstGeom xmlns:a="http://schemas.openxmlformats.org/drawingml/2006/main" prst="ellipse">
            <a:avLst/>
          </a:prstGeom>
          <a:solidFill xmlns:a="http://schemas.openxmlformats.org/drawingml/2006/main">
            <a:srgbClr val="0F766E"/>
          </a:solidFill>
          <a:ln xmlns:a="http://schemas.openxmlformats.org/drawingml/2006/main" w="19050">
            <a:solidFill>
              <a:srgbClr val="0F766E"/>
            </a:solidFill>
            <a:prstDash val="solid"/>
          </a:ln>
        </p:spPr>
      </p:sp>
      <p:sp>
        <p:nvSpPr>
          <p:cNvPr id="7" name="">
            <a:extLst xmlns:a="http://schemas.openxmlformats.org/drawingml/2006/main">
              <a:ext uri="{FF2B5EF4-FFF2-40B4-BE49-F238E27FC236}">
                <a16:creationId xmlns:a16="http://schemas.microsoft.com/office/drawing/2014/main" id="{476FF428-0BA8-4651-8028-77AA94BA5C95}"/>
              </a:ext>
            </a:extLst>
          </p:cNvPr>
          <p:cNvSpPr>
            <a:spLocks xmlns:a="http://schemas.openxmlformats.org/drawingml/2006/main" noGrp="1"/>
          </p:cNvSpPr>
          <p:nvPr/>
        </p:nvSpPr>
        <p:spPr>
          <a:xfrm xmlns:a="http://schemas.openxmlformats.org/drawingml/2006/main">
            <a:off x="838200" y="1790700"/>
            <a:ext cx="285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defRPr sz="1050" b="1">
                <a:solidFill>
                  <a:srgbClr val="FFFFFF"/>
                </a:solidFill>
                <a:latin typeface="Helvetica Neue"/>
                <a:ea typeface="Helvetica Neue"/>
                <a:cs typeface="Helvetica Neue"/>
              </a:defRPr>
            </a:pPr>
            <a:r>
              <a:rPr sz="1050" b="1">
                <a:solidFill>
                  <a:srgbClr val="FFFFFF"/>
                </a:solidFill>
                <a:latin typeface="Helvetica Neue"/>
                <a:ea typeface="Helvetica Neue"/>
                <a:cs typeface="Helvetica Neue"/>
              </a:rPr>
              <a:t>1</a:t>
            </a:r>
          </a:p>
        </p:txBody>
      </p:sp>
      <p:sp>
        <p:nvSpPr>
          <p:cNvPr id="8" name="">
            <a:extLst xmlns:a="http://schemas.openxmlformats.org/drawingml/2006/main">
              <a:ext uri="{FF2B5EF4-FFF2-40B4-BE49-F238E27FC236}">
                <a16:creationId xmlns:a16="http://schemas.microsoft.com/office/drawing/2014/main" id="{082ADE5D-57B1-4CC9-A1E6-43EB2767F49D}"/>
              </a:ext>
            </a:extLst>
          </p:cNvPr>
          <p:cNvSpPr>
            <a:spLocks xmlns:a="http://schemas.openxmlformats.org/drawingml/2006/main" noGrp="1"/>
          </p:cNvSpPr>
          <p:nvPr/>
        </p:nvSpPr>
        <p:spPr>
          <a:xfrm xmlns:a="http://schemas.openxmlformats.org/drawingml/2006/main">
            <a:off x="1390650" y="1695450"/>
            <a:ext cx="9525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1725">
                <a:solidFill>
                  <a:srgbClr val="111827"/>
                </a:solidFill>
                <a:latin typeface="Helvetica Neue"/>
                <a:ea typeface="Helvetica Neue"/>
                <a:cs typeface="Helvetica Neue"/>
              </a:defRPr>
            </a:pPr>
            <a:r>
              <a:rPr sz="1725">
                <a:solidFill>
                  <a:srgbClr val="111827"/>
                </a:solidFill>
                <a:latin typeface="Helvetica Neue"/>
                <a:ea typeface="Helvetica Neue"/>
                <a:cs typeface="Helvetica Neue"/>
              </a:rPr>
              <a:t>Precondition: the starting schema, data, identity, and dependencies match expectations.</a:t>
            </a:r>
          </a:p>
        </p:txBody>
      </p:sp>
      <p:sp>
        <p:nvSpPr>
          <p:cNvPr id="9" name="">
            <a:extLst xmlns:a="http://schemas.openxmlformats.org/drawingml/2006/main">
              <a:ext uri="{FF2B5EF4-FFF2-40B4-BE49-F238E27FC236}">
                <a16:creationId xmlns:a16="http://schemas.microsoft.com/office/drawing/2014/main" id="{B0D797B1-1C79-49D9-8BDB-2ECE1689EBD8}"/>
              </a:ext>
            </a:extLst>
          </p:cNvPr>
          <p:cNvSpPr>
            <a:spLocks xmlns:a="http://schemas.openxmlformats.org/drawingml/2006/main" noGrp="1"/>
          </p:cNvSpPr>
          <p:nvPr/>
        </p:nvSpPr>
        <p:spPr>
          <a:xfrm xmlns:a="http://schemas.openxmlformats.org/drawingml/2006/main">
            <a:off x="1390650" y="2381250"/>
            <a:ext cx="952500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
        <p:nvSpPr>
          <p:cNvPr id="10" name="">
            <a:extLst xmlns:a="http://schemas.openxmlformats.org/drawingml/2006/main">
              <a:ext uri="{FF2B5EF4-FFF2-40B4-BE49-F238E27FC236}">
                <a16:creationId xmlns:a16="http://schemas.microsoft.com/office/drawing/2014/main" id="{469FCC5B-EC21-4A71-BF8E-9FE2392B4852}"/>
              </a:ext>
            </a:extLst>
          </p:cNvPr>
          <p:cNvSpPr>
            <a:spLocks xmlns:a="http://schemas.openxmlformats.org/drawingml/2006/main" noGrp="1"/>
          </p:cNvSpPr>
          <p:nvPr/>
        </p:nvSpPr>
        <p:spPr>
          <a:xfrm xmlns:a="http://schemas.openxmlformats.org/drawingml/2006/main">
            <a:off x="800100" y="2628900"/>
            <a:ext cx="361950" cy="361950"/>
          </a:xfrm>
          <a:prstGeom xmlns:a="http://schemas.openxmlformats.org/drawingml/2006/main" prst="ellipse">
            <a:avLst/>
          </a:prstGeom>
          <a:solidFill xmlns:a="http://schemas.openxmlformats.org/drawingml/2006/main">
            <a:srgbClr val="FFFFFF"/>
          </a:solidFill>
          <a:ln xmlns:a="http://schemas.openxmlformats.org/drawingml/2006/main" w="19050">
            <a:solidFill>
              <a:srgbClr val="0F766E"/>
            </a:solidFill>
            <a:prstDash val="solid"/>
          </a:ln>
        </p:spPr>
      </p:sp>
      <p:sp>
        <p:nvSpPr>
          <p:cNvPr id="11" name="">
            <a:extLst xmlns:a="http://schemas.openxmlformats.org/drawingml/2006/main">
              <a:ext uri="{FF2B5EF4-FFF2-40B4-BE49-F238E27FC236}">
                <a16:creationId xmlns:a16="http://schemas.microsoft.com/office/drawing/2014/main" id="{B91FC6D8-430B-499F-8A94-3680ADF10DB5}"/>
              </a:ext>
            </a:extLst>
          </p:cNvPr>
          <p:cNvSpPr>
            <a:spLocks xmlns:a="http://schemas.openxmlformats.org/drawingml/2006/main" noGrp="1"/>
          </p:cNvSpPr>
          <p:nvPr/>
        </p:nvSpPr>
        <p:spPr>
          <a:xfrm xmlns:a="http://schemas.openxmlformats.org/drawingml/2006/main">
            <a:off x="838200" y="2686050"/>
            <a:ext cx="285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defRPr sz="1050" b="1">
                <a:solidFill>
                  <a:srgbClr val="0F766E"/>
                </a:solidFill>
                <a:latin typeface="Helvetica Neue"/>
                <a:ea typeface="Helvetica Neue"/>
                <a:cs typeface="Helvetica Neue"/>
              </a:defRPr>
            </a:pPr>
            <a:r>
              <a:rPr sz="1050" b="1">
                <a:solidFill>
                  <a:srgbClr val="0F766E"/>
                </a:solidFill>
                <a:latin typeface="Helvetica Neue"/>
                <a:ea typeface="Helvetica Neue"/>
                <a:cs typeface="Helvetica Neue"/>
              </a:rPr>
              <a:t>2</a:t>
            </a:r>
          </a:p>
        </p:txBody>
      </p:sp>
      <p:sp>
        <p:nvSpPr>
          <p:cNvPr id="12" name="">
            <a:extLst xmlns:a="http://schemas.openxmlformats.org/drawingml/2006/main">
              <a:ext uri="{FF2B5EF4-FFF2-40B4-BE49-F238E27FC236}">
                <a16:creationId xmlns:a16="http://schemas.microsoft.com/office/drawing/2014/main" id="{902A2E3B-674E-4CB3-8904-40681CB63D4A}"/>
              </a:ext>
            </a:extLst>
          </p:cNvPr>
          <p:cNvSpPr>
            <a:spLocks xmlns:a="http://schemas.openxmlformats.org/drawingml/2006/main" noGrp="1"/>
          </p:cNvSpPr>
          <p:nvPr/>
        </p:nvSpPr>
        <p:spPr>
          <a:xfrm xmlns:a="http://schemas.openxmlformats.org/drawingml/2006/main">
            <a:off x="1390650" y="2590800"/>
            <a:ext cx="9525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1725">
                <a:solidFill>
                  <a:srgbClr val="111827"/>
                </a:solidFill>
                <a:latin typeface="Helvetica Neue"/>
                <a:ea typeface="Helvetica Neue"/>
                <a:cs typeface="Helvetica Neue"/>
              </a:defRPr>
            </a:pPr>
            <a:r>
              <a:rPr sz="1725">
                <a:solidFill>
                  <a:srgbClr val="111827"/>
                </a:solidFill>
                <a:latin typeface="Helvetica Neue"/>
                <a:ea typeface="Helvetica Neue"/>
                <a:cs typeface="Helvetica Neue"/>
              </a:rPr>
              <a:t>Change: one controlled transition with its scope and transaction behavior.</a:t>
            </a:r>
          </a:p>
        </p:txBody>
      </p:sp>
      <p:sp>
        <p:nvSpPr>
          <p:cNvPr id="13" name="">
            <a:extLst xmlns:a="http://schemas.openxmlformats.org/drawingml/2006/main">
              <a:ext uri="{FF2B5EF4-FFF2-40B4-BE49-F238E27FC236}">
                <a16:creationId xmlns:a16="http://schemas.microsoft.com/office/drawing/2014/main" id="{C435B7F7-9CA6-41F1-A22D-351CB8485C82}"/>
              </a:ext>
            </a:extLst>
          </p:cNvPr>
          <p:cNvSpPr>
            <a:spLocks xmlns:a="http://schemas.openxmlformats.org/drawingml/2006/main" noGrp="1"/>
          </p:cNvSpPr>
          <p:nvPr/>
        </p:nvSpPr>
        <p:spPr>
          <a:xfrm xmlns:a="http://schemas.openxmlformats.org/drawingml/2006/main">
            <a:off x="1390650" y="3276600"/>
            <a:ext cx="952500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
        <p:nvSpPr>
          <p:cNvPr id="14" name="">
            <a:extLst xmlns:a="http://schemas.openxmlformats.org/drawingml/2006/main">
              <a:ext uri="{FF2B5EF4-FFF2-40B4-BE49-F238E27FC236}">
                <a16:creationId xmlns:a16="http://schemas.microsoft.com/office/drawing/2014/main" id="{33D55F28-9FD2-4233-B650-9D431C7E0DDE}"/>
              </a:ext>
            </a:extLst>
          </p:cNvPr>
          <p:cNvSpPr>
            <a:spLocks xmlns:a="http://schemas.openxmlformats.org/drawingml/2006/main" noGrp="1"/>
          </p:cNvSpPr>
          <p:nvPr/>
        </p:nvSpPr>
        <p:spPr>
          <a:xfrm xmlns:a="http://schemas.openxmlformats.org/drawingml/2006/main">
            <a:off x="800100" y="3524250"/>
            <a:ext cx="361950" cy="361950"/>
          </a:xfrm>
          <a:prstGeom xmlns:a="http://schemas.openxmlformats.org/drawingml/2006/main" prst="ellipse">
            <a:avLst/>
          </a:prstGeom>
          <a:solidFill xmlns:a="http://schemas.openxmlformats.org/drawingml/2006/main">
            <a:srgbClr val="FFFFFF"/>
          </a:solidFill>
          <a:ln xmlns:a="http://schemas.openxmlformats.org/drawingml/2006/main" w="19050">
            <a:solidFill>
              <a:srgbClr val="0F766E"/>
            </a:solidFill>
            <a:prstDash val="solid"/>
          </a:ln>
        </p:spPr>
      </p:sp>
      <p:sp>
        <p:nvSpPr>
          <p:cNvPr id="15" name="">
            <a:extLst xmlns:a="http://schemas.openxmlformats.org/drawingml/2006/main">
              <a:ext uri="{FF2B5EF4-FFF2-40B4-BE49-F238E27FC236}">
                <a16:creationId xmlns:a16="http://schemas.microsoft.com/office/drawing/2014/main" id="{45B04576-5D05-4A73-8A3D-A816ACE1B168}"/>
              </a:ext>
            </a:extLst>
          </p:cNvPr>
          <p:cNvSpPr>
            <a:spLocks xmlns:a="http://schemas.openxmlformats.org/drawingml/2006/main" noGrp="1"/>
          </p:cNvSpPr>
          <p:nvPr/>
        </p:nvSpPr>
        <p:spPr>
          <a:xfrm xmlns:a="http://schemas.openxmlformats.org/drawingml/2006/main">
            <a:off x="838200" y="3581400"/>
            <a:ext cx="285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defRPr sz="1050" b="1">
                <a:solidFill>
                  <a:srgbClr val="0F766E"/>
                </a:solidFill>
                <a:latin typeface="Helvetica Neue"/>
                <a:ea typeface="Helvetica Neue"/>
                <a:cs typeface="Helvetica Neue"/>
              </a:defRPr>
            </a:pPr>
            <a:r>
              <a:rPr sz="1050" b="1">
                <a:solidFill>
                  <a:srgbClr val="0F766E"/>
                </a:solidFill>
                <a:latin typeface="Helvetica Neue"/>
                <a:ea typeface="Helvetica Neue"/>
                <a:cs typeface="Helvetica Neue"/>
              </a:rPr>
              <a:t>3</a:t>
            </a:r>
          </a:p>
        </p:txBody>
      </p:sp>
      <p:sp>
        <p:nvSpPr>
          <p:cNvPr id="16" name="">
            <a:extLst xmlns:a="http://schemas.openxmlformats.org/drawingml/2006/main">
              <a:ext uri="{FF2B5EF4-FFF2-40B4-BE49-F238E27FC236}">
                <a16:creationId xmlns:a16="http://schemas.microsoft.com/office/drawing/2014/main" id="{541E36ED-0C2D-4FDD-BDF4-2A26A576851B}"/>
              </a:ext>
            </a:extLst>
          </p:cNvPr>
          <p:cNvSpPr>
            <a:spLocks xmlns:a="http://schemas.openxmlformats.org/drawingml/2006/main" noGrp="1"/>
          </p:cNvSpPr>
          <p:nvPr/>
        </p:nvSpPr>
        <p:spPr>
          <a:xfrm xmlns:a="http://schemas.openxmlformats.org/drawingml/2006/main">
            <a:off x="1390650" y="3486150"/>
            <a:ext cx="9525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1725">
                <a:solidFill>
                  <a:srgbClr val="111827"/>
                </a:solidFill>
                <a:latin typeface="Helvetica Neue"/>
                <a:ea typeface="Helvetica Neue"/>
                <a:cs typeface="Helvetica Neue"/>
              </a:defRPr>
            </a:pPr>
            <a:r>
              <a:rPr sz="1725">
                <a:solidFill>
                  <a:srgbClr val="111827"/>
                </a:solidFill>
                <a:latin typeface="Helvetica Neue"/>
                <a:ea typeface="Helvetica Neue"/>
                <a:cs typeface="Helvetica Neue"/>
              </a:rPr>
              <a:t>Verification: metadata, data, and representative client behavior are checked.</a:t>
            </a:r>
          </a:p>
        </p:txBody>
      </p:sp>
      <p:sp>
        <p:nvSpPr>
          <p:cNvPr id="17" name="">
            <a:extLst xmlns:a="http://schemas.openxmlformats.org/drawingml/2006/main">
              <a:ext uri="{FF2B5EF4-FFF2-40B4-BE49-F238E27FC236}">
                <a16:creationId xmlns:a16="http://schemas.microsoft.com/office/drawing/2014/main" id="{8EA821C3-0064-445C-8F65-7049021A8A5D}"/>
              </a:ext>
            </a:extLst>
          </p:cNvPr>
          <p:cNvSpPr>
            <a:spLocks xmlns:a="http://schemas.openxmlformats.org/drawingml/2006/main" noGrp="1"/>
          </p:cNvSpPr>
          <p:nvPr/>
        </p:nvSpPr>
        <p:spPr>
          <a:xfrm xmlns:a="http://schemas.openxmlformats.org/drawingml/2006/main">
            <a:off x="1390650" y="4171950"/>
            <a:ext cx="952500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
        <p:nvSpPr>
          <p:cNvPr id="18" name="">
            <a:extLst xmlns:a="http://schemas.openxmlformats.org/drawingml/2006/main">
              <a:ext uri="{FF2B5EF4-FFF2-40B4-BE49-F238E27FC236}">
                <a16:creationId xmlns:a16="http://schemas.microsoft.com/office/drawing/2014/main" id="{22BCC8DE-EA73-476C-8DC7-9151033D0C22}"/>
              </a:ext>
            </a:extLst>
          </p:cNvPr>
          <p:cNvSpPr>
            <a:spLocks xmlns:a="http://schemas.openxmlformats.org/drawingml/2006/main" noGrp="1"/>
          </p:cNvSpPr>
          <p:nvPr/>
        </p:nvSpPr>
        <p:spPr>
          <a:xfrm xmlns:a="http://schemas.openxmlformats.org/drawingml/2006/main">
            <a:off x="800100" y="4419600"/>
            <a:ext cx="361950" cy="361950"/>
          </a:xfrm>
          <a:prstGeom xmlns:a="http://schemas.openxmlformats.org/drawingml/2006/main" prst="ellipse">
            <a:avLst/>
          </a:prstGeom>
          <a:solidFill xmlns:a="http://schemas.openxmlformats.org/drawingml/2006/main">
            <a:srgbClr val="FFFFFF"/>
          </a:solidFill>
          <a:ln xmlns:a="http://schemas.openxmlformats.org/drawingml/2006/main" w="19050">
            <a:solidFill>
              <a:srgbClr val="0F766E"/>
            </a:solidFill>
            <a:prstDash val="solid"/>
          </a:ln>
        </p:spPr>
      </p:sp>
      <p:sp>
        <p:nvSpPr>
          <p:cNvPr id="19" name="">
            <a:extLst xmlns:a="http://schemas.openxmlformats.org/drawingml/2006/main">
              <a:ext uri="{FF2B5EF4-FFF2-40B4-BE49-F238E27FC236}">
                <a16:creationId xmlns:a16="http://schemas.microsoft.com/office/drawing/2014/main" id="{F604E382-8097-4A84-A80C-8FB3ABB513D3}"/>
              </a:ext>
            </a:extLst>
          </p:cNvPr>
          <p:cNvSpPr>
            <a:spLocks xmlns:a="http://schemas.openxmlformats.org/drawingml/2006/main" noGrp="1"/>
          </p:cNvSpPr>
          <p:nvPr/>
        </p:nvSpPr>
        <p:spPr>
          <a:xfrm xmlns:a="http://schemas.openxmlformats.org/drawingml/2006/main">
            <a:off x="838200" y="4476750"/>
            <a:ext cx="285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defRPr sz="1050" b="1">
                <a:solidFill>
                  <a:srgbClr val="0F766E"/>
                </a:solidFill>
                <a:latin typeface="Helvetica Neue"/>
                <a:ea typeface="Helvetica Neue"/>
                <a:cs typeface="Helvetica Neue"/>
              </a:defRPr>
            </a:pPr>
            <a:r>
              <a:rPr sz="1050" b="1">
                <a:solidFill>
                  <a:srgbClr val="0F766E"/>
                </a:solidFill>
                <a:latin typeface="Helvetica Neue"/>
                <a:ea typeface="Helvetica Neue"/>
                <a:cs typeface="Helvetica Neue"/>
              </a:rPr>
              <a:t>4</a:t>
            </a:r>
          </a:p>
        </p:txBody>
      </p:sp>
      <p:sp>
        <p:nvSpPr>
          <p:cNvPr id="20" name="">
            <a:extLst xmlns:a="http://schemas.openxmlformats.org/drawingml/2006/main">
              <a:ext uri="{FF2B5EF4-FFF2-40B4-BE49-F238E27FC236}">
                <a16:creationId xmlns:a16="http://schemas.microsoft.com/office/drawing/2014/main" id="{14DAB37A-B235-4DF7-AAB4-6B4E30E90068}"/>
              </a:ext>
            </a:extLst>
          </p:cNvPr>
          <p:cNvSpPr>
            <a:spLocks xmlns:a="http://schemas.openxmlformats.org/drawingml/2006/main" noGrp="1"/>
          </p:cNvSpPr>
          <p:nvPr/>
        </p:nvSpPr>
        <p:spPr>
          <a:xfrm xmlns:a="http://schemas.openxmlformats.org/drawingml/2006/main">
            <a:off x="1390650" y="4381500"/>
            <a:ext cx="9525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1725">
                <a:solidFill>
                  <a:srgbClr val="111827"/>
                </a:solidFill>
                <a:latin typeface="Helvetica Neue"/>
                <a:ea typeface="Helvetica Neue"/>
                <a:cs typeface="Helvetica Neue"/>
              </a:defRPr>
            </a:pPr>
            <a:r>
              <a:rPr sz="1725">
                <a:solidFill>
                  <a:srgbClr val="111827"/>
                </a:solidFill>
                <a:latin typeface="Helvetica Neue"/>
                <a:ea typeface="Helvetica Neue"/>
                <a:cs typeface="Helvetica Neue"/>
              </a:rPr>
              <a:t>Recovery: rollback or forward repair is selected with one remaining risk.</a:t>
            </a:r>
          </a:p>
        </p:txBody>
      </p:sp>
      <p:sp>
        <p:nvSpPr>
          <p:cNvPr id="21" name="">
            <a:extLst xmlns:a="http://schemas.openxmlformats.org/drawingml/2006/main">
              <a:ext uri="{FF2B5EF4-FFF2-40B4-BE49-F238E27FC236}">
                <a16:creationId xmlns:a16="http://schemas.microsoft.com/office/drawing/2014/main" id="{C113B61E-BB14-4A39-A8AF-0A87DDF76A3E}"/>
              </a:ext>
            </a:extLst>
          </p:cNvPr>
          <p:cNvSpPr>
            <a:spLocks xmlns:a="http://schemas.openxmlformats.org/drawingml/2006/main" noGrp="1"/>
          </p:cNvSpPr>
          <p:nvPr/>
        </p:nvSpPr>
        <p:spPr>
          <a:xfrm xmlns:a="http://schemas.openxmlformats.org/drawingml/2006/main">
            <a:off x="1390650" y="5067300"/>
            <a:ext cx="952500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Tree>
    <p:extLst>
      <p:ext uri="{BB962C8B-B14F-4D97-AF65-F5344CB8AC3E}">
        <p14:creationId xmlns:p14="http://schemas.microsoft.com/office/powerpoint/2010/main" val="1278114540"/>
      </p:ext>
    </p:extLst>
  </p:cSld>
</p:sld>
</file>

<file path=ppt/slides/slide12.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AF57747F-11F9-4234-B289-E075D1D64EDB}"/>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CFCFA"/>
          </a:solidFill>
          <a:ln xmlns:a="http://schemas.openxmlformats.org/drawingml/2006/main" w="0">
            <a:solidFill>
              <a:srgbClr val="FCFCFA"/>
            </a:solidFill>
            <a:prstDash val="solid"/>
          </a:ln>
        </p:spPr>
      </p:sp>
      <p:sp>
        <p:nvSpPr>
          <p:cNvPr id="2" name="eyebrow">
            <a:extLst xmlns:a="http://schemas.openxmlformats.org/drawingml/2006/main">
              <a:ext uri="{FF2B5EF4-FFF2-40B4-BE49-F238E27FC236}">
                <a16:creationId xmlns:a16="http://schemas.microsoft.com/office/drawing/2014/main" id="{535C7517-D1FA-46A1-9B3C-2A91E400EEE0}"/>
              </a:ext>
            </a:extLst>
          </p:cNvPr>
          <p:cNvSpPr>
            <a:spLocks xmlns:a="http://schemas.openxmlformats.org/drawingml/2006/main" noGrp="1"/>
          </p:cNvSpPr>
          <p:nvPr/>
        </p:nvSpPr>
        <p:spPr>
          <a:xfrm xmlns:a="http://schemas.openxmlformats.org/drawingml/2006/main">
            <a:off x="609600" y="295275"/>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975" b="1">
                <a:solidFill>
                  <a:srgbClr val="0F766E"/>
                </a:solidFill>
                <a:latin typeface="Helvetica Neue"/>
                <a:ea typeface="Helvetica Neue"/>
                <a:cs typeface="Helvetica Neue"/>
              </a:defRPr>
            </a:pPr>
            <a:r>
              <a:rPr sz="975" b="1">
                <a:solidFill>
                  <a:srgbClr val="0F766E"/>
                </a:solidFill>
                <a:latin typeface="Helvetica Neue"/>
                <a:ea typeface="Helvetica Neue"/>
                <a:cs typeface="Helvetica Neue"/>
              </a:rPr>
              <a:t>WEEK 04  /  CST4714</a:t>
            </a:r>
          </a:p>
        </p:txBody>
      </p:sp>
      <p:sp>
        <p:nvSpPr>
          <p:cNvPr id="3" name="slide-title">
            <a:extLst xmlns:a="http://schemas.openxmlformats.org/drawingml/2006/main">
              <a:ext uri="{FF2B5EF4-FFF2-40B4-BE49-F238E27FC236}">
                <a16:creationId xmlns:a16="http://schemas.microsoft.com/office/drawing/2014/main" id="{6EE7D772-29D4-47BE-9E5F-081290EF55F8}"/>
              </a:ext>
            </a:extLst>
          </p:cNvPr>
          <p:cNvSpPr>
            <a:spLocks xmlns:a="http://schemas.openxmlformats.org/drawingml/2006/main" noGrp="1"/>
          </p:cNvSpPr>
          <p:nvPr/>
        </p:nvSpPr>
        <p:spPr>
          <a:xfrm xmlns:a="http://schemas.openxmlformats.org/drawingml/2006/main">
            <a:off x="609600" y="590550"/>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2850" b="1">
                <a:solidFill>
                  <a:srgbClr val="111827"/>
                </a:solidFill>
                <a:latin typeface="Helvetica Neue"/>
                <a:ea typeface="Helvetica Neue"/>
                <a:cs typeface="Helvetica Neue"/>
              </a:defRPr>
            </a:pPr>
            <a:r>
              <a:rPr sz="2850" b="1">
                <a:solidFill>
                  <a:srgbClr val="111827"/>
                </a:solidFill>
                <a:latin typeface="Helvetica Neue"/>
                <a:ea typeface="Helvetica Neue"/>
                <a:cs typeface="Helvetica Neue"/>
              </a:rPr>
              <a:t>Lab 2: Perform one reversible migration</a:t>
            </a:r>
          </a:p>
        </p:txBody>
      </p:sp>
      <p:sp>
        <p:nvSpPr>
          <p:cNvPr id="4" name="">
            <a:extLst xmlns:a="http://schemas.openxmlformats.org/drawingml/2006/main">
              <a:ext uri="{FF2B5EF4-FFF2-40B4-BE49-F238E27FC236}">
                <a16:creationId xmlns:a16="http://schemas.microsoft.com/office/drawing/2014/main" id="{284E162D-B646-4496-8DBD-C8B4753996B6}"/>
              </a:ext>
            </a:extLst>
          </p:cNvPr>
          <p:cNvSpPr>
            <a:spLocks xmlns:a="http://schemas.openxmlformats.org/drawingml/2006/main" noGrp="1"/>
          </p:cNvSpPr>
          <p:nvPr/>
        </p:nvSpPr>
        <p:spPr>
          <a:xfrm xmlns:a="http://schemas.openxmlformats.org/drawingml/2006/main">
            <a:off x="609600" y="1295400"/>
            <a:ext cx="1097280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
        <p:nvSpPr>
          <p:cNvPr id="5" name="slide-number">
            <a:extLst xmlns:a="http://schemas.openxmlformats.org/drawingml/2006/main">
              <a:ext uri="{FF2B5EF4-FFF2-40B4-BE49-F238E27FC236}">
                <a16:creationId xmlns:a16="http://schemas.microsoft.com/office/drawing/2014/main" id="{20953A4C-00F1-4645-B189-E8E13AADF145}"/>
              </a:ext>
            </a:extLst>
          </p:cNvPr>
          <p:cNvSpPr>
            <a:spLocks xmlns:a="http://schemas.openxmlformats.org/drawingml/2006/main" noGrp="1"/>
          </p:cNvSpPr>
          <p:nvPr/>
        </p:nvSpPr>
        <p:spPr>
          <a:xfrm xmlns:a="http://schemas.openxmlformats.org/drawingml/2006/main">
            <a:off x="11144250" y="64865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r">
              <a:defRPr sz="825">
                <a:solidFill>
                  <a:srgbClr val="94A3B8"/>
                </a:solidFill>
                <a:latin typeface="Helvetica Neue"/>
                <a:ea typeface="Helvetica Neue"/>
                <a:cs typeface="Helvetica Neue"/>
              </a:defRPr>
            </a:pPr>
            <a:r>
              <a:rPr sz="825">
                <a:solidFill>
                  <a:srgbClr val="94A3B8"/>
                </a:solidFill>
                <a:latin typeface="Helvetica Neue"/>
                <a:ea typeface="Helvetica Neue"/>
                <a:cs typeface="Helvetica Neue"/>
              </a:rPr>
              <a:t>12</a:t>
            </a:r>
          </a:p>
        </p:txBody>
      </p:sp>
      <p:sp>
        <p:nvSpPr>
          <p:cNvPr id="6" name="">
            <a:extLst xmlns:a="http://schemas.openxmlformats.org/drawingml/2006/main">
              <a:ext uri="{FF2B5EF4-FFF2-40B4-BE49-F238E27FC236}">
                <a16:creationId xmlns:a16="http://schemas.microsoft.com/office/drawing/2014/main" id="{27331D0F-4F14-4A2C-BD75-4CEBB991DF86}"/>
              </a:ext>
            </a:extLst>
          </p:cNvPr>
          <p:cNvSpPr>
            <a:spLocks xmlns:a="http://schemas.openxmlformats.org/drawingml/2006/main" noGrp="1"/>
          </p:cNvSpPr>
          <p:nvPr/>
        </p:nvSpPr>
        <p:spPr>
          <a:xfrm xmlns:a="http://schemas.openxmlformats.org/drawingml/2006/main">
            <a:off x="723900" y="160020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1875">
                <a:solidFill>
                  <a:srgbClr val="475569"/>
                </a:solidFill>
                <a:latin typeface="Helvetica Neue"/>
                <a:ea typeface="Helvetica Neue"/>
                <a:cs typeface="Helvetica Neue"/>
              </a:defRPr>
            </a:pPr>
            <a:r>
              <a:rPr sz="1875">
                <a:solidFill>
                  <a:srgbClr val="475569"/>
                </a:solidFill>
                <a:latin typeface="Helvetica Neue"/>
                <a:ea typeface="Helvetica Neue"/>
                <a:cs typeface="Helvetica Neue"/>
              </a:rPr>
              <a:t>Inspect the starting state, make one compatible change, verify it, and document recovery.</a:t>
            </a:r>
          </a:p>
        </p:txBody>
      </p:sp>
      <p:sp>
        <p:nvSpPr>
          <p:cNvPr id="7" name="">
            <a:extLst xmlns:a="http://schemas.openxmlformats.org/drawingml/2006/main">
              <a:ext uri="{FF2B5EF4-FFF2-40B4-BE49-F238E27FC236}">
                <a16:creationId xmlns:a16="http://schemas.microsoft.com/office/drawing/2014/main" id="{95B94042-53FA-459F-8046-3847D6AAAB4E}"/>
              </a:ext>
            </a:extLst>
          </p:cNvPr>
          <p:cNvSpPr>
            <a:spLocks xmlns:a="http://schemas.openxmlformats.org/drawingml/2006/main" noGrp="1"/>
          </p:cNvSpPr>
          <p:nvPr/>
        </p:nvSpPr>
        <p:spPr>
          <a:xfrm xmlns:a="http://schemas.openxmlformats.org/drawingml/2006/main">
            <a:off x="876300" y="2571750"/>
            <a:ext cx="85725" cy="304800"/>
          </a:xfrm>
          <a:prstGeom xmlns:a="http://schemas.openxmlformats.org/drawingml/2006/main" prst="rect">
            <a:avLst/>
          </a:prstGeom>
          <a:solidFill xmlns:a="http://schemas.openxmlformats.org/drawingml/2006/main">
            <a:srgbClr val="0F766E"/>
          </a:solidFill>
          <a:ln xmlns:a="http://schemas.openxmlformats.org/drawingml/2006/main" w="0">
            <a:solidFill>
              <a:srgbClr val="0F766E"/>
            </a:solidFill>
            <a:prstDash val="solid"/>
          </a:ln>
        </p:spPr>
      </p:sp>
      <p:sp>
        <p:nvSpPr>
          <p:cNvPr id="8" name="">
            <a:extLst xmlns:a="http://schemas.openxmlformats.org/drawingml/2006/main">
              <a:ext uri="{FF2B5EF4-FFF2-40B4-BE49-F238E27FC236}">
                <a16:creationId xmlns:a16="http://schemas.microsoft.com/office/drawing/2014/main" id="{35D6F6F0-9136-433C-917C-2C96D88E1D5C}"/>
              </a:ext>
            </a:extLst>
          </p:cNvPr>
          <p:cNvSpPr>
            <a:spLocks xmlns:a="http://schemas.openxmlformats.org/drawingml/2006/main" noGrp="1"/>
          </p:cNvSpPr>
          <p:nvPr/>
        </p:nvSpPr>
        <p:spPr>
          <a:xfrm xmlns:a="http://schemas.openxmlformats.org/drawingml/2006/main">
            <a:off x="1143000" y="2514600"/>
            <a:ext cx="100203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1650">
                <a:solidFill>
                  <a:srgbClr val="111827"/>
                </a:solidFill>
                <a:latin typeface="Helvetica Neue"/>
                <a:ea typeface="Helvetica Neue"/>
                <a:cs typeface="Helvetica Neue"/>
              </a:defRPr>
            </a:pPr>
            <a:r>
              <a:rPr sz="1650">
                <a:solidFill>
                  <a:srgbClr val="111827"/>
                </a:solidFill>
                <a:latin typeface="Helvetica Neue"/>
                <a:ea typeface="Helvetica Neue"/>
                <a:cs typeface="Helvetica Neue"/>
              </a:rPr>
              <a:t>Write and run the metadata/data precondition before changing anything.</a:t>
            </a:r>
          </a:p>
        </p:txBody>
      </p:sp>
      <p:sp>
        <p:nvSpPr>
          <p:cNvPr id="9" name="">
            <a:extLst xmlns:a="http://schemas.openxmlformats.org/drawingml/2006/main">
              <a:ext uri="{FF2B5EF4-FFF2-40B4-BE49-F238E27FC236}">
                <a16:creationId xmlns:a16="http://schemas.microsoft.com/office/drawing/2014/main" id="{7B3FC22E-ED08-4000-943B-9B3CCF2F4FD9}"/>
              </a:ext>
            </a:extLst>
          </p:cNvPr>
          <p:cNvSpPr>
            <a:spLocks xmlns:a="http://schemas.openxmlformats.org/drawingml/2006/main" noGrp="1"/>
          </p:cNvSpPr>
          <p:nvPr/>
        </p:nvSpPr>
        <p:spPr>
          <a:xfrm xmlns:a="http://schemas.openxmlformats.org/drawingml/2006/main">
            <a:off x="876300" y="3286125"/>
            <a:ext cx="85725" cy="304800"/>
          </a:xfrm>
          <a:prstGeom xmlns:a="http://schemas.openxmlformats.org/drawingml/2006/main" prst="rect">
            <a:avLst/>
          </a:prstGeom>
          <a:solidFill xmlns:a="http://schemas.openxmlformats.org/drawingml/2006/main">
            <a:srgbClr val="0F766E"/>
          </a:solidFill>
          <a:ln xmlns:a="http://schemas.openxmlformats.org/drawingml/2006/main" w="0">
            <a:solidFill>
              <a:srgbClr val="0F766E"/>
            </a:solidFill>
            <a:prstDash val="solid"/>
          </a:ln>
        </p:spPr>
      </p:sp>
      <p:sp>
        <p:nvSpPr>
          <p:cNvPr id="10" name="">
            <a:extLst xmlns:a="http://schemas.openxmlformats.org/drawingml/2006/main">
              <a:ext uri="{FF2B5EF4-FFF2-40B4-BE49-F238E27FC236}">
                <a16:creationId xmlns:a16="http://schemas.microsoft.com/office/drawing/2014/main" id="{35CEEF2B-F018-42CE-86E8-F3C0E8D03E7A}"/>
              </a:ext>
            </a:extLst>
          </p:cNvPr>
          <p:cNvSpPr>
            <a:spLocks xmlns:a="http://schemas.openxmlformats.org/drawingml/2006/main" noGrp="1"/>
          </p:cNvSpPr>
          <p:nvPr/>
        </p:nvSpPr>
        <p:spPr>
          <a:xfrm xmlns:a="http://schemas.openxmlformats.org/drawingml/2006/main">
            <a:off x="1143000" y="3228975"/>
            <a:ext cx="100203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1650">
                <a:solidFill>
                  <a:srgbClr val="111827"/>
                </a:solidFill>
                <a:latin typeface="Helvetica Neue"/>
                <a:ea typeface="Helvetica Neue"/>
                <a:cs typeface="Helvetica Neue"/>
              </a:defRPr>
            </a:pPr>
            <a:r>
              <a:rPr sz="1650">
                <a:solidFill>
                  <a:srgbClr val="111827"/>
                </a:solidFill>
                <a:latin typeface="Helvetica Neue"/>
                <a:ea typeface="Helvetica Neue"/>
                <a:cs typeface="Helvetica Neue"/>
              </a:rPr>
              <a:t>Apply one expand-and-migrate sequence in the disposable schema.</a:t>
            </a:r>
          </a:p>
        </p:txBody>
      </p:sp>
      <p:sp>
        <p:nvSpPr>
          <p:cNvPr id="11" name="">
            <a:extLst xmlns:a="http://schemas.openxmlformats.org/drawingml/2006/main">
              <a:ext uri="{FF2B5EF4-FFF2-40B4-BE49-F238E27FC236}">
                <a16:creationId xmlns:a16="http://schemas.microsoft.com/office/drawing/2014/main" id="{7E363052-290D-4643-8BEF-7E316518D382}"/>
              </a:ext>
            </a:extLst>
          </p:cNvPr>
          <p:cNvSpPr>
            <a:spLocks xmlns:a="http://schemas.openxmlformats.org/drawingml/2006/main" noGrp="1"/>
          </p:cNvSpPr>
          <p:nvPr/>
        </p:nvSpPr>
        <p:spPr>
          <a:xfrm xmlns:a="http://schemas.openxmlformats.org/drawingml/2006/main">
            <a:off x="876300" y="4000500"/>
            <a:ext cx="85725" cy="304800"/>
          </a:xfrm>
          <a:prstGeom xmlns:a="http://schemas.openxmlformats.org/drawingml/2006/main" prst="rect">
            <a:avLst/>
          </a:prstGeom>
          <a:solidFill xmlns:a="http://schemas.openxmlformats.org/drawingml/2006/main">
            <a:srgbClr val="0F766E"/>
          </a:solidFill>
          <a:ln xmlns:a="http://schemas.openxmlformats.org/drawingml/2006/main" w="0">
            <a:solidFill>
              <a:srgbClr val="0F766E"/>
            </a:solidFill>
            <a:prstDash val="solid"/>
          </a:ln>
        </p:spPr>
      </p:sp>
      <p:sp>
        <p:nvSpPr>
          <p:cNvPr id="12" name="">
            <a:extLst xmlns:a="http://schemas.openxmlformats.org/drawingml/2006/main">
              <a:ext uri="{FF2B5EF4-FFF2-40B4-BE49-F238E27FC236}">
                <a16:creationId xmlns:a16="http://schemas.microsoft.com/office/drawing/2014/main" id="{8A345279-5082-4079-82E7-36ECB6202F99}"/>
              </a:ext>
            </a:extLst>
          </p:cNvPr>
          <p:cNvSpPr>
            <a:spLocks xmlns:a="http://schemas.openxmlformats.org/drawingml/2006/main" noGrp="1"/>
          </p:cNvSpPr>
          <p:nvPr/>
        </p:nvSpPr>
        <p:spPr>
          <a:xfrm xmlns:a="http://schemas.openxmlformats.org/drawingml/2006/main">
            <a:off x="1143000" y="3943350"/>
            <a:ext cx="100203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1650">
                <a:solidFill>
                  <a:srgbClr val="111827"/>
                </a:solidFill>
                <a:latin typeface="Helvetica Neue"/>
                <a:ea typeface="Helvetica Neue"/>
                <a:cs typeface="Helvetica Neue"/>
              </a:defRPr>
            </a:pPr>
            <a:r>
              <a:rPr sz="1650">
                <a:solidFill>
                  <a:srgbClr val="111827"/>
                </a:solidFill>
                <a:latin typeface="Helvetica Neue"/>
                <a:ea typeface="Helvetica Neue"/>
                <a:cs typeface="Helvetica Neue"/>
              </a:rPr>
              <a:t>Verify the new state and record rollback or forward repair plus one risk.</a:t>
            </a:r>
          </a:p>
        </p:txBody>
      </p:sp>
      <p:sp>
        <p:nvSpPr>
          <p:cNvPr id="13" name="">
            <a:extLst xmlns:a="http://schemas.openxmlformats.org/drawingml/2006/main">
              <a:ext uri="{FF2B5EF4-FFF2-40B4-BE49-F238E27FC236}">
                <a16:creationId xmlns:a16="http://schemas.microsoft.com/office/drawing/2014/main" id="{0040595F-9589-4FD7-B665-0D102E49BD82}"/>
              </a:ext>
            </a:extLst>
          </p:cNvPr>
          <p:cNvSpPr>
            <a:spLocks xmlns:a="http://schemas.openxmlformats.org/drawingml/2006/main" noGrp="1"/>
          </p:cNvSpPr>
          <p:nvPr/>
        </p:nvSpPr>
        <p:spPr>
          <a:xfrm xmlns:a="http://schemas.openxmlformats.org/drawingml/2006/main">
            <a:off x="723900" y="5429250"/>
            <a:ext cx="10287000" cy="666750"/>
          </a:xfrm>
          <a:prstGeom xmlns:a="http://schemas.openxmlformats.org/drawingml/2006/main" prst="rect">
            <a:avLst/>
          </a:prstGeom>
          <a:solidFill xmlns:a="http://schemas.openxmlformats.org/drawingml/2006/main">
            <a:srgbClr val="0F766E"/>
          </a:solidFill>
          <a:ln xmlns:a="http://schemas.openxmlformats.org/drawingml/2006/main" w="9525">
            <a:solidFill>
              <a:srgbClr val="0F766E"/>
            </a:solidFill>
            <a:prstDash val="solid"/>
          </a:ln>
        </p:spPr>
      </p:sp>
      <p:sp>
        <p:nvSpPr>
          <p:cNvPr id="14" name="">
            <a:extLst xmlns:a="http://schemas.openxmlformats.org/drawingml/2006/main">
              <a:ext uri="{FF2B5EF4-FFF2-40B4-BE49-F238E27FC236}">
                <a16:creationId xmlns:a16="http://schemas.microsoft.com/office/drawing/2014/main" id="{2720CB0B-10E6-4373-BC6C-22F9F8DEB496}"/>
              </a:ext>
            </a:extLst>
          </p:cNvPr>
          <p:cNvSpPr>
            <a:spLocks xmlns:a="http://schemas.openxmlformats.org/drawingml/2006/main" noGrp="1"/>
          </p:cNvSpPr>
          <p:nvPr/>
        </p:nvSpPr>
        <p:spPr>
          <a:xfrm xmlns:a="http://schemas.openxmlformats.org/drawingml/2006/main">
            <a:off x="933450" y="5591175"/>
            <a:ext cx="98583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defRPr sz="1425" b="1">
                <a:solidFill>
                  <a:srgbClr val="FFFFFF"/>
                </a:solidFill>
                <a:latin typeface="Helvetica Neue"/>
                <a:ea typeface="Helvetica Neue"/>
                <a:cs typeface="Helvetica Neue"/>
              </a:defRPr>
            </a:pPr>
            <a:r>
              <a:rPr sz="1425" b="1">
                <a:solidFill>
                  <a:srgbClr val="FFFFFF"/>
                </a:solidFill>
                <a:latin typeface="Helvetica Neue"/>
                <a:ea typeface="Helvetica Neue"/>
                <a:cs typeface="Helvetica Neue"/>
              </a:rPr>
              <a:t>SUBMIT ONE THING  /  one five-part migration record</a:t>
            </a:r>
          </a:p>
        </p:txBody>
      </p:sp>
    </p:spTree>
    <p:extLst>
      <p:ext uri="{BB962C8B-B14F-4D97-AF65-F5344CB8AC3E}">
        <p14:creationId xmlns:p14="http://schemas.microsoft.com/office/powerpoint/2010/main" val="247541082"/>
      </p:ext>
    </p:extLst>
  </p:cSld>
</p:sld>
</file>

<file path=ppt/slides/slide13.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421F376A-AC3F-4C6A-9F7B-068B89461E23}"/>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CFCFA"/>
          </a:solidFill>
          <a:ln xmlns:a="http://schemas.openxmlformats.org/drawingml/2006/main" w="0">
            <a:solidFill>
              <a:srgbClr val="FCFCFA"/>
            </a:solidFill>
            <a:prstDash val="solid"/>
          </a:ln>
        </p:spPr>
      </p:sp>
      <p:sp>
        <p:nvSpPr>
          <p:cNvPr id="2" name="">
            <a:extLst xmlns:a="http://schemas.openxmlformats.org/drawingml/2006/main">
              <a:ext uri="{FF2B5EF4-FFF2-40B4-BE49-F238E27FC236}">
                <a16:creationId xmlns:a16="http://schemas.microsoft.com/office/drawing/2014/main" id="{69DB197B-733F-465A-B1FE-DE79BCCA1FF6}"/>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0F766E"/>
          </a:solidFill>
          <a:ln xmlns:a="http://schemas.openxmlformats.org/drawingml/2006/main" w="0">
            <a:solidFill>
              <a:srgbClr val="0F766E"/>
            </a:solidFill>
            <a:prstDash val="solid"/>
          </a:ln>
        </p:spPr>
      </p:sp>
      <p:sp>
        <p:nvSpPr>
          <p:cNvPr id="3" name="">
            <a:extLst xmlns:a="http://schemas.openxmlformats.org/drawingml/2006/main">
              <a:ext uri="{FF2B5EF4-FFF2-40B4-BE49-F238E27FC236}">
                <a16:creationId xmlns:a16="http://schemas.microsoft.com/office/drawing/2014/main" id="{0C9F73BB-5453-4DE5-962F-16A1B5B7F1D3}"/>
              </a:ext>
            </a:extLst>
          </p:cNvPr>
          <p:cNvSpPr>
            <a:spLocks xmlns:a="http://schemas.openxmlformats.org/drawingml/2006/main" noGrp="1"/>
          </p:cNvSpPr>
          <p:nvPr/>
        </p:nvSpPr>
        <p:spPr>
          <a:xfrm xmlns:a="http://schemas.openxmlformats.org/drawingml/2006/main">
            <a:off x="685800" y="952500"/>
            <a:ext cx="9906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85317"/>
          </a:bodyPr>
          <a:lstStyle xmlns:a="http://schemas.openxmlformats.org/drawingml/2006/main"/>
          <a:p xmlns:a="http://schemas.openxmlformats.org/drawingml/2006/main">
            <a:pPr>
              <a:defRPr sz="3150" b="1">
                <a:solidFill>
                  <a:srgbClr val="111827"/>
                </a:solidFill>
                <a:latin typeface="Helvetica Neue"/>
                <a:ea typeface="Helvetica Neue"/>
                <a:cs typeface="Helvetica Neue"/>
              </a:defRPr>
            </a:pPr>
            <a:r>
              <a:rPr sz="3150" b="1">
                <a:solidFill>
                  <a:srgbClr val="111827"/>
                </a:solidFill>
                <a:latin typeface="Helvetica Neue"/>
                <a:ea typeface="Helvetica Neue"/>
                <a:cs typeface="Helvetica Neue"/>
              </a:rPr>
              <a:t>Safe change preserves a contract while the implementation moves</a:t>
            </a:r>
          </a:p>
        </p:txBody>
      </p:sp>
      <p:sp>
        <p:nvSpPr>
          <p:cNvPr id="4" name="">
            <a:extLst xmlns:a="http://schemas.openxmlformats.org/drawingml/2006/main">
              <a:ext uri="{FF2B5EF4-FFF2-40B4-BE49-F238E27FC236}">
                <a16:creationId xmlns:a16="http://schemas.microsoft.com/office/drawing/2014/main" id="{61F9CECE-34D1-4DDC-BCBD-956E13CEA65A}"/>
              </a:ext>
            </a:extLst>
          </p:cNvPr>
          <p:cNvSpPr>
            <a:spLocks xmlns:a="http://schemas.openxmlformats.org/drawingml/2006/main" noGrp="1"/>
          </p:cNvSpPr>
          <p:nvPr/>
        </p:nvSpPr>
        <p:spPr>
          <a:xfrm xmlns:a="http://schemas.openxmlformats.org/drawingml/2006/main">
            <a:off x="723900" y="2286000"/>
            <a:ext cx="9144000" cy="133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2550" b="1">
                <a:solidFill>
                  <a:srgbClr val="0F766E"/>
                </a:solidFill>
                <a:latin typeface="Helvetica Neue"/>
                <a:ea typeface="Helvetica Neue"/>
                <a:cs typeface="Helvetica Neue"/>
              </a:defRPr>
            </a:pPr>
            <a:r>
              <a:rPr sz="2550" b="1">
                <a:solidFill>
                  <a:srgbClr val="0F766E"/>
                </a:solidFill>
                <a:latin typeface="Helvetica Neue"/>
                <a:ea typeface="Helvetica Neue"/>
                <a:cs typeface="Helvetica Neue"/>
              </a:rPr>
              <a:t>Know the identity, inspect dependencies, change in stages, and verify through the client boundary.</a:t>
            </a:r>
          </a:p>
        </p:txBody>
      </p:sp>
      <p:sp>
        <p:nvSpPr>
          <p:cNvPr id="5" name="">
            <a:extLst xmlns:a="http://schemas.openxmlformats.org/drawingml/2006/main">
              <a:ext uri="{FF2B5EF4-FFF2-40B4-BE49-F238E27FC236}">
                <a16:creationId xmlns:a16="http://schemas.microsoft.com/office/drawing/2014/main" id="{B2F253DE-194D-4EFD-A7F2-5EF6D966BC96}"/>
              </a:ext>
            </a:extLst>
          </p:cNvPr>
          <p:cNvSpPr>
            <a:spLocks xmlns:a="http://schemas.openxmlformats.org/drawingml/2006/main" noGrp="1"/>
          </p:cNvSpPr>
          <p:nvPr/>
        </p:nvSpPr>
        <p:spPr>
          <a:xfrm xmlns:a="http://schemas.openxmlformats.org/drawingml/2006/main">
            <a:off x="781050" y="4248150"/>
            <a:ext cx="85725" cy="304800"/>
          </a:xfrm>
          <a:prstGeom xmlns:a="http://schemas.openxmlformats.org/drawingml/2006/main" prst="rect">
            <a:avLst/>
          </a:prstGeom>
          <a:solidFill xmlns:a="http://schemas.openxmlformats.org/drawingml/2006/main">
            <a:srgbClr val="0F766E"/>
          </a:solidFill>
          <a:ln xmlns:a="http://schemas.openxmlformats.org/drawingml/2006/main" w="0">
            <a:solidFill>
              <a:srgbClr val="0F766E"/>
            </a:solidFill>
            <a:prstDash val="solid"/>
          </a:ln>
        </p:spPr>
      </p:sp>
      <p:sp>
        <p:nvSpPr>
          <p:cNvPr id="6" name="">
            <a:extLst xmlns:a="http://schemas.openxmlformats.org/drawingml/2006/main">
              <a:ext uri="{FF2B5EF4-FFF2-40B4-BE49-F238E27FC236}">
                <a16:creationId xmlns:a16="http://schemas.microsoft.com/office/drawing/2014/main" id="{19C3C281-144F-4F4A-8C9B-6CE558C43189}"/>
              </a:ext>
            </a:extLst>
          </p:cNvPr>
          <p:cNvSpPr>
            <a:spLocks xmlns:a="http://schemas.openxmlformats.org/drawingml/2006/main" noGrp="1"/>
          </p:cNvSpPr>
          <p:nvPr/>
        </p:nvSpPr>
        <p:spPr>
          <a:xfrm xmlns:a="http://schemas.openxmlformats.org/drawingml/2006/main">
            <a:off x="1047750" y="4191000"/>
            <a:ext cx="97345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1575">
                <a:solidFill>
                  <a:srgbClr val="111827"/>
                </a:solidFill>
                <a:latin typeface="Helvetica Neue"/>
                <a:ea typeface="Helvetica Neue"/>
                <a:cs typeface="Helvetica Neue"/>
              </a:defRPr>
            </a:pPr>
            <a:r>
              <a:rPr sz="1575">
                <a:solidFill>
                  <a:srgbClr val="111827"/>
                </a:solidFill>
                <a:latin typeface="Helvetica Neue"/>
                <a:ea typeface="Helvetica Neue"/>
                <a:cs typeface="Helvetica Neue"/>
              </a:rPr>
              <a:t>What must be true before the change?</a:t>
            </a:r>
          </a:p>
        </p:txBody>
      </p:sp>
      <p:sp>
        <p:nvSpPr>
          <p:cNvPr id="7" name="">
            <a:extLst xmlns:a="http://schemas.openxmlformats.org/drawingml/2006/main">
              <a:ext uri="{FF2B5EF4-FFF2-40B4-BE49-F238E27FC236}">
                <a16:creationId xmlns:a16="http://schemas.microsoft.com/office/drawing/2014/main" id="{91B9D250-70C8-4B22-BB7F-7257059A46CD}"/>
              </a:ext>
            </a:extLst>
          </p:cNvPr>
          <p:cNvSpPr>
            <a:spLocks xmlns:a="http://schemas.openxmlformats.org/drawingml/2006/main" noGrp="1"/>
          </p:cNvSpPr>
          <p:nvPr/>
        </p:nvSpPr>
        <p:spPr>
          <a:xfrm xmlns:a="http://schemas.openxmlformats.org/drawingml/2006/main">
            <a:off x="781050" y="4895850"/>
            <a:ext cx="85725" cy="304800"/>
          </a:xfrm>
          <a:prstGeom xmlns:a="http://schemas.openxmlformats.org/drawingml/2006/main" prst="rect">
            <a:avLst/>
          </a:prstGeom>
          <a:solidFill xmlns:a="http://schemas.openxmlformats.org/drawingml/2006/main">
            <a:srgbClr val="0F766E"/>
          </a:solidFill>
          <a:ln xmlns:a="http://schemas.openxmlformats.org/drawingml/2006/main" w="0">
            <a:solidFill>
              <a:srgbClr val="0F766E"/>
            </a:solidFill>
            <a:prstDash val="solid"/>
          </a:ln>
        </p:spPr>
      </p:sp>
      <p:sp>
        <p:nvSpPr>
          <p:cNvPr id="8" name="">
            <a:extLst xmlns:a="http://schemas.openxmlformats.org/drawingml/2006/main">
              <a:ext uri="{FF2B5EF4-FFF2-40B4-BE49-F238E27FC236}">
                <a16:creationId xmlns:a16="http://schemas.microsoft.com/office/drawing/2014/main" id="{5727F9EF-E30A-40DD-ACE8-970C0278BCAB}"/>
              </a:ext>
            </a:extLst>
          </p:cNvPr>
          <p:cNvSpPr>
            <a:spLocks xmlns:a="http://schemas.openxmlformats.org/drawingml/2006/main" noGrp="1"/>
          </p:cNvSpPr>
          <p:nvPr/>
        </p:nvSpPr>
        <p:spPr>
          <a:xfrm xmlns:a="http://schemas.openxmlformats.org/drawingml/2006/main">
            <a:off x="1047750" y="4838700"/>
            <a:ext cx="97345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1575">
                <a:solidFill>
                  <a:srgbClr val="111827"/>
                </a:solidFill>
                <a:latin typeface="Helvetica Neue"/>
                <a:ea typeface="Helvetica Neue"/>
                <a:cs typeface="Helvetica Neue"/>
              </a:defRPr>
            </a:pPr>
            <a:r>
              <a:rPr sz="1575">
                <a:solidFill>
                  <a:srgbClr val="111827"/>
                </a:solidFill>
                <a:latin typeface="Helvetica Neue"/>
                <a:ea typeface="Helvetica Neue"/>
                <a:cs typeface="Helvetica Neue"/>
              </a:rPr>
              <a:t>Which old and new paths coexist?</a:t>
            </a:r>
          </a:p>
        </p:txBody>
      </p:sp>
      <p:sp>
        <p:nvSpPr>
          <p:cNvPr id="9" name="">
            <a:extLst xmlns:a="http://schemas.openxmlformats.org/drawingml/2006/main">
              <a:ext uri="{FF2B5EF4-FFF2-40B4-BE49-F238E27FC236}">
                <a16:creationId xmlns:a16="http://schemas.microsoft.com/office/drawing/2014/main" id="{A55461A7-8684-4A4B-BAA0-CF47FD330B5E}"/>
              </a:ext>
            </a:extLst>
          </p:cNvPr>
          <p:cNvSpPr>
            <a:spLocks xmlns:a="http://schemas.openxmlformats.org/drawingml/2006/main" noGrp="1"/>
          </p:cNvSpPr>
          <p:nvPr/>
        </p:nvSpPr>
        <p:spPr>
          <a:xfrm xmlns:a="http://schemas.openxmlformats.org/drawingml/2006/main">
            <a:off x="781050" y="5543550"/>
            <a:ext cx="85725" cy="304800"/>
          </a:xfrm>
          <a:prstGeom xmlns:a="http://schemas.openxmlformats.org/drawingml/2006/main" prst="rect">
            <a:avLst/>
          </a:prstGeom>
          <a:solidFill xmlns:a="http://schemas.openxmlformats.org/drawingml/2006/main">
            <a:srgbClr val="0F766E"/>
          </a:solidFill>
          <a:ln xmlns:a="http://schemas.openxmlformats.org/drawingml/2006/main" w="0">
            <a:solidFill>
              <a:srgbClr val="0F766E"/>
            </a:solidFill>
            <a:prstDash val="solid"/>
          </a:ln>
        </p:spPr>
      </p:sp>
      <p:sp>
        <p:nvSpPr>
          <p:cNvPr id="10" name="">
            <a:extLst xmlns:a="http://schemas.openxmlformats.org/drawingml/2006/main">
              <a:ext uri="{FF2B5EF4-FFF2-40B4-BE49-F238E27FC236}">
                <a16:creationId xmlns:a16="http://schemas.microsoft.com/office/drawing/2014/main" id="{95F7F808-876E-401F-AF07-A78306C69E69}"/>
              </a:ext>
            </a:extLst>
          </p:cNvPr>
          <p:cNvSpPr>
            <a:spLocks xmlns:a="http://schemas.openxmlformats.org/drawingml/2006/main" noGrp="1"/>
          </p:cNvSpPr>
          <p:nvPr/>
        </p:nvSpPr>
        <p:spPr>
          <a:xfrm xmlns:a="http://schemas.openxmlformats.org/drawingml/2006/main">
            <a:off x="1047750" y="5486400"/>
            <a:ext cx="97345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1575">
                <a:solidFill>
                  <a:srgbClr val="111827"/>
                </a:solidFill>
                <a:latin typeface="Helvetica Neue"/>
                <a:ea typeface="Helvetica Neue"/>
                <a:cs typeface="Helvetica Neue"/>
              </a:defRPr>
            </a:pPr>
            <a:r>
              <a:rPr sz="1575">
                <a:solidFill>
                  <a:srgbClr val="111827"/>
                </a:solidFill>
                <a:latin typeface="Helvetica Neue"/>
                <a:ea typeface="Helvetica Neue"/>
                <a:cs typeface="Helvetica Neue"/>
              </a:rPr>
              <a:t>When is rollback no longer the safest recovery?</a:t>
            </a:r>
          </a:p>
        </p:txBody>
      </p:sp>
      <p:sp>
        <p:nvSpPr>
          <p:cNvPr id="11" name="">
            <a:extLst xmlns:a="http://schemas.openxmlformats.org/drawingml/2006/main">
              <a:ext uri="{FF2B5EF4-FFF2-40B4-BE49-F238E27FC236}">
                <a16:creationId xmlns:a16="http://schemas.microsoft.com/office/drawing/2014/main" id="{171F2277-73CF-45D6-8C25-B53CEF27B61D}"/>
              </a:ext>
            </a:extLst>
          </p:cNvPr>
          <p:cNvSpPr>
            <a:spLocks xmlns:a="http://schemas.openxmlformats.org/drawingml/2006/main" noGrp="1"/>
          </p:cNvSpPr>
          <p:nvPr/>
        </p:nvSpPr>
        <p:spPr>
          <a:xfrm xmlns:a="http://schemas.openxmlformats.org/drawingml/2006/main">
            <a:off x="11144250" y="64865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r">
              <a:defRPr sz="825">
                <a:solidFill>
                  <a:srgbClr val="94A3B8"/>
                </a:solidFill>
                <a:latin typeface="Helvetica Neue"/>
                <a:ea typeface="Helvetica Neue"/>
                <a:cs typeface="Helvetica Neue"/>
              </a:defRPr>
            </a:pPr>
            <a:r>
              <a:rPr sz="825">
                <a:solidFill>
                  <a:srgbClr val="94A3B8"/>
                </a:solidFill>
                <a:latin typeface="Helvetica Neue"/>
                <a:ea typeface="Helvetica Neue"/>
                <a:cs typeface="Helvetica Neue"/>
              </a:rPr>
              <a:t>13</a:t>
            </a:r>
          </a:p>
        </p:txBody>
      </p:sp>
    </p:spTree>
    <p:extLst>
      <p:ext uri="{BB962C8B-B14F-4D97-AF65-F5344CB8AC3E}">
        <p14:creationId xmlns:p14="http://schemas.microsoft.com/office/powerpoint/2010/main" val="49784083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http://schemas.openxmlformats.org/package/2006/metadata/core-properties" xmlns:dc="http://purl.org/dc/elements/1.1/" xmlns:dcterms="http://purl.org/dc/terms/" xmlns:xsi="http://www.w3.org/2001/XMLSchema-instance">
  <dc:creator>Atilio Barreda</dc:creator>
  <lastModifiedBy>Atilio Barreda</lastModifiedBy>
  <dc:title>Week 4: Views, Identity, and Safe Change</dc:title>
  <dcterms:created xsi:type="dcterms:W3CDTF">2026-07-13T07:44:14.1960000Z</dcterms:created>
  <dcterms:modified xsi:type="dcterms:W3CDTF">2026-08-09T00:00:00Z</dcterms:modified>
  <dc:subject>CST 4714 Database Administration</dc:subject>
  <dc:description>Week 4 presentation for Operating Cloud Databases.</dc:description>
  <dc:language>en-US</dc:language>
  <keywords>database administration; PostgreSQL; MongoDB; cloud databases; OER</keywords>
  <category>Open Educational Resource</category>
  <contentStatus>Release Candidate</contentStatus>
</coreProperties>
</file>