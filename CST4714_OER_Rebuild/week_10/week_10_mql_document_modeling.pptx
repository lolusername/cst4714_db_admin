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34739eca3a4d70" /><Relationship Type="http://schemas.openxmlformats.org/officeDocument/2006/relationships/extended-properties" Target="/docProps/app.xml" Id="R002d164d31074352" /><Relationship Type="http://schemas.openxmlformats.org/officeDocument/2006/relationships/officeDocument" Target="/ppt/presentation.xml" Id="R4f4c597ad0bd4ebc" /></Relationships>
</file>

<file path=ppt/presentation.xml><?xml version="1.0" encoding="utf-8"?>
<p:presentation xmlns:p="http://schemas.openxmlformats.org/presentationml/2006/main">
  <p:sldMasterIdLst>
    <p:sldMasterId xmlns:r="http://schemas.openxmlformats.org/officeDocument/2006/relationships" id="2147483648" r:id="Ra4808bd34e8d4f36"/>
  </p:sldMasterIdLst>
  <p:notesMasterIdLst>
    <p:notesMasterId xmlns:r="http://schemas.openxmlformats.org/officeDocument/2006/relationships" r:id="R9db4d92ef8284968"/>
  </p:notesMasterIdLst>
  <p:sldIdLst>
    <p:sldId xmlns:r="http://schemas.openxmlformats.org/officeDocument/2006/relationships" id="256" r:id="R81e629daf3b24af7"/>
    <p:sldId xmlns:r="http://schemas.openxmlformats.org/officeDocument/2006/relationships" id="257" r:id="R75a4d52f171b421b"/>
    <p:sldId xmlns:r="http://schemas.openxmlformats.org/officeDocument/2006/relationships" id="258" r:id="Ra899e669231c4a93"/>
    <p:sldId xmlns:r="http://schemas.openxmlformats.org/officeDocument/2006/relationships" id="259" r:id="Rc32f4270ee8c4ec5"/>
    <p:sldId xmlns:r="http://schemas.openxmlformats.org/officeDocument/2006/relationships" id="260" r:id="Rea119287bd774311"/>
    <p:sldId xmlns:r="http://schemas.openxmlformats.org/officeDocument/2006/relationships" id="261" r:id="R02a4017868df4611"/>
    <p:sldId xmlns:r="http://schemas.openxmlformats.org/officeDocument/2006/relationships" id="262" r:id="R00eaa896fe244345"/>
    <p:sldId xmlns:r="http://schemas.openxmlformats.org/officeDocument/2006/relationships" id="263" r:id="Rea62e6ac126747a7"/>
    <p:sldId xmlns:r="http://schemas.openxmlformats.org/officeDocument/2006/relationships" id="264" r:id="R2c7d0c68c6c941b0"/>
    <p:sldId xmlns:r="http://schemas.openxmlformats.org/officeDocument/2006/relationships" id="265" r:id="R09fc09f4a0fa4ba8"/>
    <p:sldId xmlns:r="http://schemas.openxmlformats.org/officeDocument/2006/relationships" id="266" r:id="Rfb5c14e33dd8489a"/>
    <p:sldId xmlns:r="http://schemas.openxmlformats.org/officeDocument/2006/relationships" id="267" r:id="R602ddbe09b424572"/>
    <p:sldId xmlns:r="http://schemas.openxmlformats.org/officeDocument/2006/relationships" id="268" r:id="R7e42a8c93db44120"/>
    <p:sldId xmlns:r="http://schemas.openxmlformats.org/officeDocument/2006/relationships" id="269" r:id="Recb76c152e4245eb"/>
    <p:sldId xmlns:r="http://schemas.openxmlformats.org/officeDocument/2006/relationships" id="270" r:id="R6acb7782886b4d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89a670928348fb" /><Relationship Type="http://schemas.openxmlformats.org/officeDocument/2006/relationships/slideMaster" Target="/ppt/slideMasters/slideMaster1.xml" Id="Ra4808bd34e8d4f36" /><Relationship Type="http://schemas.openxmlformats.org/officeDocument/2006/relationships/notesMaster" Target="/ppt/notesMasters/notesMaster1.xml" Id="R9db4d92ef8284968" /><Relationship Type="http://schemas.openxmlformats.org/officeDocument/2006/relationships/presProps" Target="/ppt/presProps.xml" Id="R187a07829b794437" /><Relationship Type="http://schemas.openxmlformats.org/officeDocument/2006/relationships/tableStyles" Target="/ppt/tableStyles.xml" Id="R8b8511d458fc413b" /><Relationship Type="http://schemas.openxmlformats.org/officeDocument/2006/relationships/slide" Target="/ppt/slides/slide1.xml" Id="R81e629daf3b24af7" /><Relationship Type="http://schemas.openxmlformats.org/officeDocument/2006/relationships/slide" Target="/ppt/slides/slide2.xml" Id="R75a4d52f171b421b" /><Relationship Type="http://schemas.openxmlformats.org/officeDocument/2006/relationships/slide" Target="/ppt/slides/slide3.xml" Id="Ra899e669231c4a93" /><Relationship Type="http://schemas.openxmlformats.org/officeDocument/2006/relationships/slide" Target="/ppt/slides/slide4.xml" Id="Rc32f4270ee8c4ec5" /><Relationship Type="http://schemas.openxmlformats.org/officeDocument/2006/relationships/slide" Target="/ppt/slides/slide5.xml" Id="Rea119287bd774311" /><Relationship Type="http://schemas.openxmlformats.org/officeDocument/2006/relationships/slide" Target="/ppt/slides/slide6.xml" Id="R02a4017868df4611" /><Relationship Type="http://schemas.openxmlformats.org/officeDocument/2006/relationships/slide" Target="/ppt/slides/slide7.xml" Id="R00eaa896fe244345" /><Relationship Type="http://schemas.openxmlformats.org/officeDocument/2006/relationships/slide" Target="/ppt/slides/slide8.xml" Id="Rea62e6ac126747a7" /><Relationship Type="http://schemas.openxmlformats.org/officeDocument/2006/relationships/slide" Target="/ppt/slides/slide9.xml" Id="R2c7d0c68c6c941b0" /><Relationship Type="http://schemas.openxmlformats.org/officeDocument/2006/relationships/slide" Target="/ppt/slides/slide10.xml" Id="R09fc09f4a0fa4ba8" /><Relationship Type="http://schemas.openxmlformats.org/officeDocument/2006/relationships/slide" Target="/ppt/slides/slide11.xml" Id="Rfb5c14e33dd8489a" /><Relationship Type="http://schemas.openxmlformats.org/officeDocument/2006/relationships/slide" Target="/ppt/slides/slide12.xml" Id="R602ddbe09b424572" /><Relationship Type="http://schemas.openxmlformats.org/officeDocument/2006/relationships/slide" Target="/ppt/slides/slide13.xml" Id="R7e42a8c93db44120" /><Relationship Type="http://schemas.openxmlformats.org/officeDocument/2006/relationships/slide" Target="/ppt/slides/slide14.xml" Id="Recb76c152e4245eb" /><Relationship Type="http://schemas.openxmlformats.org/officeDocument/2006/relationships/slide" Target="/ppt/slides/slide15.xml" Id="R6acb7782886b4d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63f5bf65fe49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cc8898deb14785" /><Relationship Type="http://schemas.openxmlformats.org/officeDocument/2006/relationships/notesMaster" Target="/ppt/notesMasters/notesMaster1.xml" Id="R29547454cfa74f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c73fd949414787" /><Relationship Type="http://schemas.openxmlformats.org/officeDocument/2006/relationships/notesMaster" Target="/ppt/notesMasters/notesMaster1.xml" Id="Rf76b09ea3d3d4b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c8ae1e56d54476" /><Relationship Type="http://schemas.openxmlformats.org/officeDocument/2006/relationships/notesMaster" Target="/ppt/notesMasters/notesMaster1.xml" Id="R0a79167e04d446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e3546332c8410c" /><Relationship Type="http://schemas.openxmlformats.org/officeDocument/2006/relationships/notesMaster" Target="/ppt/notesMasters/notesMaster1.xml" Id="R4a6fb29a758044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1e6a2c44c44b80" /><Relationship Type="http://schemas.openxmlformats.org/officeDocument/2006/relationships/notesMaster" Target="/ppt/notesMasters/notesMaster1.xml" Id="R4cbd57ce69604d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1955fe51c742b4" /><Relationship Type="http://schemas.openxmlformats.org/officeDocument/2006/relationships/notesMaster" Target="/ppt/notesMasters/notesMaster1.xml" Id="Rad1d540fbb2148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8877cc1cf2445d" /><Relationship Type="http://schemas.openxmlformats.org/officeDocument/2006/relationships/notesMaster" Target="/ppt/notesMasters/notesMaster1.xml" Id="R14701a64f3d346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8724fa4d684691" /><Relationship Type="http://schemas.openxmlformats.org/officeDocument/2006/relationships/notesMaster" Target="/ppt/notesMasters/notesMaster1.xml" Id="R8a2318ac88c54f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c4470d751e48a8" /><Relationship Type="http://schemas.openxmlformats.org/officeDocument/2006/relationships/notesMaster" Target="/ppt/notesMasters/notesMaster1.xml" Id="R0aa7d1cb33d841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37db1a2bb64413" /><Relationship Type="http://schemas.openxmlformats.org/officeDocument/2006/relationships/notesMaster" Target="/ppt/notesMasters/notesMaster1.xml" Id="R6f35f23e3d5342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10dd770074439d" /><Relationship Type="http://schemas.openxmlformats.org/officeDocument/2006/relationships/notesMaster" Target="/ppt/notesMasters/notesMaster1.xml" Id="R449928c6208c4a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bf869d745f42b5" /><Relationship Type="http://schemas.openxmlformats.org/officeDocument/2006/relationships/notesMaster" Target="/ppt/notesMasters/notesMaster1.xml" Id="Rf058ab20a42345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48df2b6e9a417f" /><Relationship Type="http://schemas.openxmlformats.org/officeDocument/2006/relationships/notesMaster" Target="/ppt/notesMasters/notesMaster1.xml" Id="R37642f511a6e4d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cccc5017a94fd4" /><Relationship Type="http://schemas.openxmlformats.org/officeDocument/2006/relationships/notesMaster" Target="/ppt/notesMasters/notesMaster1.xml" Id="Rfd47dfd73c0c47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c8b0ab798d4cfc" /><Relationship Type="http://schemas.openxmlformats.org/officeDocument/2006/relationships/notesMaster" Target="/ppt/notesMasters/notesMaster1.xml" Id="Rdb93f0ad943a4c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begins practical MongoDB work at a beginner level. The first class uses a disposable collection or the offline notebook to run filters, projections, sorting, updates, and a controlled delete. We will compare MQL with familiar SQL ideas without pretending the languages have identical semantics.</a:t>
            </a:r>
          </a:p>
          <a:p xmlns:a="http://schemas.openxmlformats.org/drawingml/2006/main">
            <a:r>
              <a:t/>
            </a:r>
          </a:p>
          <a:p xmlns:a="http://schemas.openxmlformats.org/drawingml/2006/main">
            <a:r>
              <a:t>The second class focuses on data modeling. Embedding and referencing are not stylistic choices. They affect read locality, update ownership, document growth, duplication, and consistency. The instructor live activity and the individual MongoDB University activity are intentionally different, and the course-authored model decision remains the central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Familiar SQL concepts can reduce initial cognitive load. A MongoDB collection is the query source, a filter document selects matching documents, a projection document controls returned fields, and cursor methods can sort and limit results.</a:t>
            </a:r>
          </a:p>
          <a:p xmlns:a="http://schemas.openxmlformats.org/drawingml/2006/main">
            <a:r>
              <a:t/>
            </a:r>
          </a:p>
          <a:p xmlns:a="http://schemas.openxmlformats.org/drawingml/2006/main">
            <a:r>
              <a:t>The bridge has limits. MongoDB fields can be missing, nested, arrays, or BSON types not present in ordinary JSON. Projection has inclusion and exclusion rules, with `_id` handled specially. A filter document is not a SQL string, and dot notation refers to nested paths. Use the comparison to recover the question structure, then learn MQL's actual document and array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Atlas connection needs an active deployment, a database user, network access, DNS, TLS, and a current driver. The course notebook uses `getpass` so the connection URI is not stored in a code cell or ordinary output. The first operation is an administrative ping, which separates connection evidence from later collection mistakes.</a:t>
            </a:r>
          </a:p>
          <a:p xmlns:a="http://schemas.openxmlformats.org/drawingml/2006/main">
            <a:r>
              <a:t/>
            </a:r>
          </a:p>
          <a:p xmlns:a="http://schemas.openxmlformats.org/drawingml/2006/main">
            <a:r>
              <a:t>A TLS handshake error is not a reason to disable certificate verification. Check the current URI, PyMongo version, system time, DNS and SRV resolution, network inspection, and Atlas access list. If the environment remains blocked, use the notebook's `mongomock` path. That path demonstrates document operations while clearly not claiming Atlas server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filter requires an active status and high priority. `$in` compares the status field with the listed values. The projection includes ticket identifier, status, and subject while explicitly excluding MongoDB's `_id` field. The cursor sorts by ticket identifier before iteration.</a:t>
            </a:r>
          </a:p>
          <a:p xmlns:a="http://schemas.openxmlformats.org/drawingml/2006/main">
            <a:r>
              <a:t/>
            </a:r>
          </a:p>
          <a:p xmlns:a="http://schemas.openxmlformats.org/drawingml/2006/main">
            <a:r>
              <a:t>State result grain as one output item per matching ticket document. Before running, inspect the six-document fixture and predict identifiers. If no documents match, check database and collection names, field spelling, type, and actual values before inserting more data. A numeric identifier does not match a string containing the same digits. Verification uses stable identifiers and a count, not only the printed document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Dot notation addresses a nested path: the neighborhood field inside the requester object. The `events` field is an array of event objects. `$elemMatch` requires one array element to satisfy both the event type and destination status conditions.</a:t>
            </a:r>
          </a:p>
          <a:p xmlns:a="http://schemas.openxmlformats.org/drawingml/2006/main">
            <a:r>
              <a:t/>
            </a:r>
          </a:p>
          <a:p xmlns:a="http://schemas.openxmlformats.org/drawingml/2006/main">
            <a:r>
              <a:t>Without `$elemMatch`, separate predicates on `events.type` and `events.to` can be satisfied by different array elements, producing a document that has a status-changed event somewhere and a resolved destination somewhere else. The intended question is about one event with both properties. Array semantics are a central reason to inspect the document shape rather than translating SQL clauses mechanically.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update results distinguish matching from modification. If the filter identifies ticket 1002, `matched_count` can be one. If the priority is already the requested value, `modified_count` can be zero even though the target was found. That is not automatically a failure.</a:t>
            </a:r>
          </a:p>
          <a:p xmlns:a="http://schemas.openxmlformats.org/drawingml/2006/main">
            <a:r>
              <a:t/>
            </a:r>
          </a:p>
          <a:p xmlns:a="http://schemas.openxmlformats.org/drawingml/2006/main">
            <a:r>
              <a:t>A matched count of zero can indicate the wrong database, collection, identifier type, field path, or current state. A modified count larger than expected indicates a scope problem. Always verify with a follow-up read of the stable identifier and changed field. For a course fixture, record the before value, update result, after value, and cleanup or reset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delete is not made safe by being short. Begin with the exact filter and preview matching stable identifiers. In a teaching collection, select one disposable identifier and use `delete_one`. Inspect `deleted_count`, then query the identifier again to verify absence.</a:t>
            </a:r>
          </a:p>
          <a:p xmlns:a="http://schemas.openxmlformats.org/drawingml/2006/main">
            <a:r>
              <a:t/>
            </a:r>
          </a:p>
          <a:p xmlns:a="http://schemas.openxmlformats.org/drawingml/2006/main">
            <a:r>
              <a:t>MongoDB does not provide a general multi-document transaction around every casual Data Explorer action, and a successful delete can replicate. Use a disposable course database and a known reset path. Never demonstrate an empty filter such as `{}` on a shared collection. The same scope-and-verification habits from SQL DML carry into MQL even though the command syntax differs.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in Notebook 4. Choose the Atlas path or the default `mongomock` path. Run from the first cell so the fixture and database names are known. Modify the assigned filter rather than only pressing Run.</a:t>
            </a:r>
          </a:p>
          <a:p xmlns:a="http://schemas.openxmlformats.org/drawingml/2006/main">
            <a:r>
              <a:t/>
            </a:r>
          </a:p>
          <a:p xmlns:a="http://schemas.openxmlformats.org/drawingml/2006/main">
            <a:r>
              <a:t>Record stable identifiers for scalar, nested, and array queries. Update one known ticket and interpret matched and modified counts before verifying the field. Complete the safe disposable delete and reset. If using Atlas, record that temporary network access was narrowed or removed without publishing the address or project details. Submit one completed notebook evidence record with no connection URI in source or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second day, the question shifts from how to query a document to why the document has that shape. A document boundary can support atomic updates and read locality for a bounded aggregate. It can also create duplication, large documents, and update fan-out when shared facts are embedded widely.</a:t>
            </a:r>
          </a:p>
          <a:p xmlns:a="http://schemas.openxmlformats.org/drawingml/2006/main">
            <a:r>
              <a:t/>
            </a:r>
          </a:p>
          <a:p xmlns:a="http://schemas.openxmlformats.org/drawingml/2006/main">
            <a:r>
              <a:t>We will begin with access patterns: which facts are normally read together, which facts change together, who owns each fact, how many related items can exist, and how quickly the collection grows. Embedding and referencing are consequences of those answers, not universal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is strong when child data belongs to one parent, is normally read with that parent, and remains bounded. A shipping address snapshot inside an order can preserve what was used at purchase time. A small set of ticket tags can be naturally embedded.</a:t>
            </a:r>
          </a:p>
          <a:p xmlns:a="http://schemas.openxmlformats.org/drawingml/2006/main">
            <a:r>
              <a:t/>
            </a:r>
          </a:p>
          <a:p xmlns:a="http://schemas.openxmlformats.org/drawingml/2006/main">
            <a:r>
              <a:t>Referencing is strong when the related entity has independent identity, is shared by many parents, grows without a safe bound, or changes on its own schedule. An agent profile referenced by many tickets avoids updating every ticket when the current profile changes. Hybrid designs are common: embed a deliberate snapshot for read context and reference the authoritative identity. The model must document which copy owns which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array of events can make a ticket easy to display, but event history may grow for years. MongoDB documents have a size limit, and large frequently changing arrays increase rewrite, indexing, and concurrency costs. The problem may appear long before the hard limit if the application reads the whole document unnecessarily.</a:t>
            </a:r>
          </a:p>
          <a:p xmlns:a="http://schemas.openxmlformats.org/drawingml/2006/main">
            <a:r>
              <a:t/>
            </a:r>
          </a:p>
          <a:p xmlns:a="http://schemas.openxmlformats.org/drawingml/2006/main">
            <a:r>
              <a:t>Estimate cardinality and arrival rate. Define retention and archival behavior. Ask whether old events are queried independently, whether one event must be updated separately, and whether many writers append concurrently. A bounded recent-events array plus a referenced event collection can be a justified hybrid. The word flexible does not remove capacity planning.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dominant read: fields, relationships, sort, and acceptable freshness. Then document writes: which facts change together, which change independently, and whether several writers contend on the same aggregate. Name ownership so duplicated snapshots are not confused with authoritative current data.</a:t>
            </a:r>
          </a:p>
          <a:p xmlns:a="http://schemas.openxmlformats.org/drawingml/2006/main">
            <a:r>
              <a:t/>
            </a:r>
          </a:p>
          <a:p xmlns:a="http://schemas.openxmlformats.org/drawingml/2006/main">
            <a:r>
              <a:t>Estimate bounds and growth over the retention horizon. Finally, name a query and update that can verify the proposed shape serves the workload. A model diagram without access and update evidence is only a picture. The same five questions can justify embedding, referencing, or a hybrid, and they reveal when a relational model remains the simpler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instructor live-codes the Modeling Data Relationships activity to make the reasoning visible. Students are not assigned that same activity as their individual lab. The individual MongoDB University activity is Relational SQL to Document Model, which provides distinct practice translating a small relational design.</a:t>
            </a:r>
          </a:p>
          <a:p xmlns:a="http://schemas.openxmlformats.org/drawingml/2006/main">
            <a:r>
              <a:t/>
            </a:r>
          </a:p>
          <a:p xmlns:a="http://schemas.openxmlformats.org/drawingml/2006/main">
            <a:r>
              <a:t>The course-authored model decision remains essential because vendor completion alone does not show why a shape fits the Metro Support workload. If MongoDB University is unavailable, the module and notebook fixture provide an open fallback with the same access, update, ownership, and growth questions. No student must pay for either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student modeling activity individually. The activity is different from the instructor's live example. Then apply the course model-decision questions to the assigned Metro Support relationship.</a:t>
            </a:r>
          </a:p>
          <a:p xmlns:a="http://schemas.openxmlformats.org/drawingml/2006/main">
            <a:r>
              <a:t/>
            </a:r>
          </a:p>
          <a:p xmlns:a="http://schemas.openxmlformats.org/drawingml/2006/main">
            <a:r>
              <a:t>Provide one document shape in JSON or a labeled outline. State the read it makes easier, the update it makes harder, where the authoritative fact lives, and whether the related data remains bounded. Include activity completion evidence if the external path worked, but do not submit a private account screenshot. The open fallback can earn the same credit. Submit one model decision, not a team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established basic MQL and document modeling. Filters, projections, nested paths, arrays, updates, and deletes must be predicted and verified with stable identifiers. Write results separate matching from actual modification. Connection safety keeps credentials and TLS verification intact.</a:t>
            </a:r>
          </a:p>
          <a:p xmlns:a="http://schemas.openxmlformats.org/drawingml/2006/main">
            <a:r>
              <a:t/>
            </a:r>
          </a:p>
          <a:p xmlns:a="http://schemas.openxmlformats.org/drawingml/2006/main">
            <a:r>
              <a:t>Modeling then asks which facts are read together, changed together, owned together, and bounded together. Embedding improves locality and one-document operations for suitable aggregates. Referencing protects independent identity and growth. Next week we will process documents through aggregation pipelines, enforce document rules with validation, and evaluate indexes for a filter-and-sort workload.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820c085a6b45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9b7ed6c9c44591" /><Relationship Type="http://schemas.openxmlformats.org/officeDocument/2006/relationships/slideLayout" Target="/ppt/slideLayouts/slideLayout1.xml" Id="R2f77b6b87d1f48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77b6b87d1f48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4b7f04704d4d79" /><Relationship Type="http://schemas.openxmlformats.org/officeDocument/2006/relationships/notesSlide" Target="/ppt/notesSlides/notesSlide1.xml" Id="R084fa1981f1c4f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2c1ef1b98b4b64" /><Relationship Type="http://schemas.openxmlformats.org/officeDocument/2006/relationships/notesSlide" Target="/ppt/notesSlides/notesSlide2.xml" Id="R342e85ca49374f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af37a3cabd4914" /><Relationship Type="http://schemas.openxmlformats.org/officeDocument/2006/relationships/notesSlide" Target="/ppt/notesSlides/notesSlide3.xml" Id="R1fac30ea6ae94e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3fd660b21a4591" /><Relationship Type="http://schemas.openxmlformats.org/officeDocument/2006/relationships/notesSlide" Target="/ppt/notesSlides/notesSlide4.xml" Id="R7f37cc4bde7148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5c57cadce84e95" /><Relationship Type="http://schemas.openxmlformats.org/officeDocument/2006/relationships/notesSlide" Target="/ppt/notesSlides/notesSlide5.xml" Id="R92099d9183e74b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0b20d439524c3e" /><Relationship Type="http://schemas.openxmlformats.org/officeDocument/2006/relationships/notesSlide" Target="/ppt/notesSlides/notesSlide6.xml" Id="Rcf8639b561ae46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d85890bc6f4713" /><Relationship Type="http://schemas.openxmlformats.org/officeDocument/2006/relationships/notesSlide" Target="/ppt/notesSlides/notesSlide7.xml" Id="Rf2759a55a2d248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eaa756ba2d4e87" /><Relationship Type="http://schemas.openxmlformats.org/officeDocument/2006/relationships/notesSlide" Target="/ppt/notesSlides/notesSlide8.xml" Id="R74ffe3ea4a1641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a7ca9617b147c6" /><Relationship Type="http://schemas.openxmlformats.org/officeDocument/2006/relationships/notesSlide" Target="/ppt/notesSlides/notesSlide9.xml" Id="R618124c3eb3147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e13fe29cfc41f3" /><Relationship Type="http://schemas.openxmlformats.org/officeDocument/2006/relationships/notesSlide" Target="/ppt/notesSlides/notesSlide10.xml" Id="Rdbcb4076371b4c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c84a93028245c3" /><Relationship Type="http://schemas.openxmlformats.org/officeDocument/2006/relationships/notesSlide" Target="/ppt/notesSlides/notesSlide11.xml" Id="Rc1816ecace1349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de043d43c54234" /><Relationship Type="http://schemas.openxmlformats.org/officeDocument/2006/relationships/notesSlide" Target="/ppt/notesSlides/notesSlide12.xml" Id="Rac6a2bafcaf042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4dc72e057a4a93" /><Relationship Type="http://schemas.openxmlformats.org/officeDocument/2006/relationships/notesSlide" Target="/ppt/notesSlides/notesSlide13.xml" Id="Rbfce1b1f621445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e57747bf3504bf1" /><Relationship Type="http://schemas.openxmlformats.org/officeDocument/2006/relationships/notesSlide" Target="/ppt/notesSlides/notesSlide14.xml" Id="R6eeec3f9c6f34d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4f45820b854fe9" /><Relationship Type="http://schemas.openxmlformats.org/officeDocument/2006/relationships/notesSlide" Target="/ppt/notesSlides/notesSlide15.xml" Id="Rd30edecdce4c416f"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CCA835-7080-4E6E-A16D-4B8427D0C0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12D730D4-6A56-4503-ACDC-6CF2DFFCB5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B664518D-00AB-46D9-8F51-E9F5CD0EE5B5}"/>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D4ED8"/>
                </a:solidFill>
                <a:latin typeface="Helvetica Neue"/>
                <a:ea typeface="Helvetica Neue"/>
                <a:cs typeface="Helvetica Neue"/>
              </a:defRPr>
            </a:pPr>
            <a:r>
              <a:rPr sz="1350" b="1">
                <a:solidFill>
                  <a:srgbClr val="1D4ED8"/>
                </a:solidFill>
                <a:latin typeface="Helvetica Neue"/>
                <a:ea typeface="Helvetica Neue"/>
                <a:cs typeface="Helvetica Neue"/>
              </a:rPr>
              <a:t>WEEK 10</a:t>
            </a:r>
          </a:p>
        </p:txBody>
      </p:sp>
      <p:sp>
        <p:nvSpPr>
          <p:cNvPr id="4" name="cover-title">
            <a:extLst xmlns:a="http://schemas.openxmlformats.org/drawingml/2006/main">
              <a:ext uri="{FF2B5EF4-FFF2-40B4-BE49-F238E27FC236}">
                <a16:creationId xmlns:a16="http://schemas.microsoft.com/office/drawing/2014/main" id="{190D6A12-E72F-44DF-BE9C-F94259101F72}"/>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Basic MQL and Document Modeling</a:t>
            </a:r>
          </a:p>
        </p:txBody>
      </p:sp>
      <p:sp>
        <p:nvSpPr>
          <p:cNvPr id="5" name="cover-subtitle">
            <a:extLst xmlns:a="http://schemas.openxmlformats.org/drawingml/2006/main">
              <a:ext uri="{FF2B5EF4-FFF2-40B4-BE49-F238E27FC236}">
                <a16:creationId xmlns:a16="http://schemas.microsoft.com/office/drawing/2014/main" id="{83575C07-B0D1-4A37-9F16-1E1E8B5D570C}"/>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Query nested documents safely, observe write results, and decide what belongs together from access patterns.</a:t>
            </a:r>
          </a:p>
        </p:txBody>
      </p:sp>
      <p:sp>
        <p:nvSpPr>
          <p:cNvPr id="6" name="">
            <a:extLst xmlns:a="http://schemas.openxmlformats.org/drawingml/2006/main">
              <a:ext uri="{FF2B5EF4-FFF2-40B4-BE49-F238E27FC236}">
                <a16:creationId xmlns:a16="http://schemas.microsoft.com/office/drawing/2014/main" id="{0EA08E38-AC68-41B4-A372-BCEBCB1D06B0}"/>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2A416ABD-C1CA-444A-8542-758B8146F8B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D4ED8"/>
                </a:solidFill>
                <a:latin typeface="Helvetica Neue"/>
                <a:ea typeface="Helvetica Neue"/>
                <a:cs typeface="Helvetica Neue"/>
              </a:defRPr>
            </a:pPr>
            <a:r>
              <a:rPr sz="8400" b="1">
                <a:solidFill>
                  <a:srgbClr val="1D4ED8"/>
                </a:solidFill>
                <a:latin typeface="Helvetica Neue"/>
                <a:ea typeface="Helvetica Neue"/>
                <a:cs typeface="Helvetica Neue"/>
              </a:rPr>
              <a:t>10</a:t>
            </a:r>
          </a:p>
        </p:txBody>
      </p:sp>
    </p:spTree>
    <p:extLst>
      <p:ext uri="{BB962C8B-B14F-4D97-AF65-F5344CB8AC3E}">
        <p14:creationId xmlns:p14="http://schemas.microsoft.com/office/powerpoint/2010/main" val="1077958959"/>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7309E82-B153-4271-B96F-A4BDF85974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DC5EB9E-ACFC-477A-88D5-2D87290A5B6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7EEC162E-F22E-4797-AE0D-24DBBCF935E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SQL concepts provide a bridge, not a one-to-one translation</a:t>
            </a:r>
          </a:p>
        </p:txBody>
      </p:sp>
      <p:sp>
        <p:nvSpPr>
          <p:cNvPr id="4" name="">
            <a:extLst xmlns:a="http://schemas.openxmlformats.org/drawingml/2006/main">
              <a:ext uri="{FF2B5EF4-FFF2-40B4-BE49-F238E27FC236}">
                <a16:creationId xmlns:a16="http://schemas.microsoft.com/office/drawing/2014/main" id="{CD3273BF-60E2-4520-927A-63A6C27AB8F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951FB2B-2BC6-4E38-9685-2D5D5325CDB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9CF386B9-4FB2-4499-A0BB-B8C96D329AA7}"/>
              </a:ext>
            </a:extLst>
          </p:cNvPr>
          <p:cNvSpPr>
            <a:spLocks xmlns:a="http://schemas.openxmlformats.org/drawingml/2006/main" noGrp="1"/>
          </p:cNvSpPr>
          <p:nvPr/>
        </p:nvSpPr>
        <p:spPr>
          <a:xfrm xmlns:a="http://schemas.openxmlformats.org/drawingml/2006/main">
            <a:off x="685800" y="1714500"/>
            <a:ext cx="2095500" cy="5143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7" name="">
            <a:extLst xmlns:a="http://schemas.openxmlformats.org/drawingml/2006/main">
              <a:ext uri="{FF2B5EF4-FFF2-40B4-BE49-F238E27FC236}">
                <a16:creationId xmlns:a16="http://schemas.microsoft.com/office/drawing/2014/main" id="{F2B2DFD7-D419-4C49-A571-DAEAB7D4FAD9}"/>
              </a:ext>
            </a:extLst>
          </p:cNvPr>
          <p:cNvSpPr>
            <a:spLocks xmlns:a="http://schemas.openxmlformats.org/drawingml/2006/main" noGrp="1"/>
          </p:cNvSpPr>
          <p:nvPr/>
        </p:nvSpPr>
        <p:spPr>
          <a:xfrm xmlns:a="http://schemas.openxmlformats.org/drawingml/2006/main">
            <a:off x="762000" y="18097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part</a:t>
            </a:r>
          </a:p>
        </p:txBody>
      </p:sp>
      <p:sp>
        <p:nvSpPr>
          <p:cNvPr id="8" name="">
            <a:extLst xmlns:a="http://schemas.openxmlformats.org/drawingml/2006/main">
              <a:ext uri="{FF2B5EF4-FFF2-40B4-BE49-F238E27FC236}">
                <a16:creationId xmlns:a16="http://schemas.microsoft.com/office/drawing/2014/main" id="{9A389A5C-1F58-42D7-834C-2C1F158BBF30}"/>
              </a:ext>
            </a:extLst>
          </p:cNvPr>
          <p:cNvSpPr>
            <a:spLocks xmlns:a="http://schemas.openxmlformats.org/drawingml/2006/main" noGrp="1"/>
          </p:cNvSpPr>
          <p:nvPr/>
        </p:nvSpPr>
        <p:spPr>
          <a:xfrm xmlns:a="http://schemas.openxmlformats.org/drawingml/2006/main">
            <a:off x="2781300" y="1714500"/>
            <a:ext cx="2857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D367BD0E-83FA-45DB-9675-0F9D7BE58561}"/>
              </a:ext>
            </a:extLst>
          </p:cNvPr>
          <p:cNvSpPr>
            <a:spLocks xmlns:a="http://schemas.openxmlformats.org/drawingml/2006/main" noGrp="1"/>
          </p:cNvSpPr>
          <p:nvPr/>
        </p:nvSpPr>
        <p:spPr>
          <a:xfrm xmlns:a="http://schemas.openxmlformats.org/drawingml/2006/main">
            <a:off x="2857500" y="18097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PostgreSQL example</a:t>
            </a:r>
          </a:p>
        </p:txBody>
      </p:sp>
      <p:sp>
        <p:nvSpPr>
          <p:cNvPr id="10" name="">
            <a:extLst xmlns:a="http://schemas.openxmlformats.org/drawingml/2006/main">
              <a:ext uri="{FF2B5EF4-FFF2-40B4-BE49-F238E27FC236}">
                <a16:creationId xmlns:a16="http://schemas.microsoft.com/office/drawing/2014/main" id="{A5918DDC-86AB-4BD4-842B-C759459E4520}"/>
              </a:ext>
            </a:extLst>
          </p:cNvPr>
          <p:cNvSpPr>
            <a:spLocks xmlns:a="http://schemas.openxmlformats.org/drawingml/2006/main" noGrp="1"/>
          </p:cNvSpPr>
          <p:nvPr/>
        </p:nvSpPr>
        <p:spPr>
          <a:xfrm xmlns:a="http://schemas.openxmlformats.org/drawingml/2006/main">
            <a:off x="5638800" y="1714500"/>
            <a:ext cx="31432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8A7E4C7-FA9E-4A27-9DCE-4B702E2ECF9F}"/>
              </a:ext>
            </a:extLst>
          </p:cNvPr>
          <p:cNvSpPr>
            <a:spLocks xmlns:a="http://schemas.openxmlformats.org/drawingml/2006/main" noGrp="1"/>
          </p:cNvSpPr>
          <p:nvPr/>
        </p:nvSpPr>
        <p:spPr>
          <a:xfrm xmlns:a="http://schemas.openxmlformats.org/drawingml/2006/main">
            <a:off x="5715000" y="18097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MongoDB example</a:t>
            </a:r>
          </a:p>
        </p:txBody>
      </p:sp>
      <p:sp>
        <p:nvSpPr>
          <p:cNvPr id="12" name="">
            <a:extLst xmlns:a="http://schemas.openxmlformats.org/drawingml/2006/main">
              <a:ext uri="{FF2B5EF4-FFF2-40B4-BE49-F238E27FC236}">
                <a16:creationId xmlns:a16="http://schemas.microsoft.com/office/drawing/2014/main" id="{B23584EA-7F49-4CF6-83EA-96D7F82D70B7}"/>
              </a:ext>
            </a:extLst>
          </p:cNvPr>
          <p:cNvSpPr>
            <a:spLocks xmlns:a="http://schemas.openxmlformats.org/drawingml/2006/main" noGrp="1"/>
          </p:cNvSpPr>
          <p:nvPr/>
        </p:nvSpPr>
        <p:spPr>
          <a:xfrm xmlns:a="http://schemas.openxmlformats.org/drawingml/2006/main">
            <a:off x="8782050" y="1714500"/>
            <a:ext cx="27241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ED333880-B431-4261-8E40-A5F42F9E475E}"/>
              </a:ext>
            </a:extLst>
          </p:cNvPr>
          <p:cNvSpPr>
            <a:spLocks xmlns:a="http://schemas.openxmlformats.org/drawingml/2006/main" noGrp="1"/>
          </p:cNvSpPr>
          <p:nvPr/>
        </p:nvSpPr>
        <p:spPr>
          <a:xfrm xmlns:a="http://schemas.openxmlformats.org/drawingml/2006/main">
            <a:off x="8858250" y="1809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Semantic caution</a:t>
            </a:r>
          </a:p>
        </p:txBody>
      </p:sp>
      <p:sp>
        <p:nvSpPr>
          <p:cNvPr id="14" name="">
            <a:extLst xmlns:a="http://schemas.openxmlformats.org/drawingml/2006/main">
              <a:ext uri="{FF2B5EF4-FFF2-40B4-BE49-F238E27FC236}">
                <a16:creationId xmlns:a16="http://schemas.microsoft.com/office/drawing/2014/main" id="{A26D806D-79BF-4069-8A69-62FC0679E769}"/>
              </a:ext>
            </a:extLst>
          </p:cNvPr>
          <p:cNvSpPr>
            <a:spLocks xmlns:a="http://schemas.openxmlformats.org/drawingml/2006/main" noGrp="1"/>
          </p:cNvSpPr>
          <p:nvPr/>
        </p:nvSpPr>
        <p:spPr>
          <a:xfrm xmlns:a="http://schemas.openxmlformats.org/drawingml/2006/main">
            <a:off x="685800" y="2228850"/>
            <a:ext cx="2095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83704F1A-3D67-482F-909B-550194ABA6ED}"/>
              </a:ext>
            </a:extLst>
          </p:cNvPr>
          <p:cNvSpPr>
            <a:spLocks xmlns:a="http://schemas.openxmlformats.org/drawingml/2006/main" noGrp="1"/>
          </p:cNvSpPr>
          <p:nvPr/>
        </p:nvSpPr>
        <p:spPr>
          <a:xfrm xmlns:a="http://schemas.openxmlformats.org/drawingml/2006/main">
            <a:off x="762000" y="23050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Source</a:t>
            </a:r>
          </a:p>
        </p:txBody>
      </p:sp>
      <p:sp>
        <p:nvSpPr>
          <p:cNvPr id="16" name="">
            <a:extLst xmlns:a="http://schemas.openxmlformats.org/drawingml/2006/main">
              <a:ext uri="{FF2B5EF4-FFF2-40B4-BE49-F238E27FC236}">
                <a16:creationId xmlns:a16="http://schemas.microsoft.com/office/drawing/2014/main" id="{B30A67CA-D8D5-4DE4-92F8-8D20146F5177}"/>
              </a:ext>
            </a:extLst>
          </p:cNvPr>
          <p:cNvSpPr>
            <a:spLocks xmlns:a="http://schemas.openxmlformats.org/drawingml/2006/main" noGrp="1"/>
          </p:cNvSpPr>
          <p:nvPr/>
        </p:nvSpPr>
        <p:spPr>
          <a:xfrm xmlns:a="http://schemas.openxmlformats.org/drawingml/2006/main">
            <a:off x="2781300" y="2228850"/>
            <a:ext cx="2857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E7BCBB94-396B-4365-8C74-A0C6DCB9F65B}"/>
              </a:ext>
            </a:extLst>
          </p:cNvPr>
          <p:cNvSpPr>
            <a:spLocks xmlns:a="http://schemas.openxmlformats.org/drawingml/2006/main" noGrp="1"/>
          </p:cNvSpPr>
          <p:nvPr/>
        </p:nvSpPr>
        <p:spPr>
          <a:xfrm xmlns:a="http://schemas.openxmlformats.org/drawingml/2006/main">
            <a:off x="2857500" y="23050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FROM tickets</a:t>
            </a:r>
          </a:p>
        </p:txBody>
      </p:sp>
      <p:sp>
        <p:nvSpPr>
          <p:cNvPr id="18" name="">
            <a:extLst xmlns:a="http://schemas.openxmlformats.org/drawingml/2006/main">
              <a:ext uri="{FF2B5EF4-FFF2-40B4-BE49-F238E27FC236}">
                <a16:creationId xmlns:a16="http://schemas.microsoft.com/office/drawing/2014/main" id="{2CEE591A-4E31-42BC-8F36-74757DB425BA}"/>
              </a:ext>
            </a:extLst>
          </p:cNvPr>
          <p:cNvSpPr>
            <a:spLocks xmlns:a="http://schemas.openxmlformats.org/drawingml/2006/main" noGrp="1"/>
          </p:cNvSpPr>
          <p:nvPr/>
        </p:nvSpPr>
        <p:spPr>
          <a:xfrm xmlns:a="http://schemas.openxmlformats.org/drawingml/2006/main">
            <a:off x="5638800" y="2228850"/>
            <a:ext cx="3143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85BE0765-32D4-40A7-869F-3CEAE2A9DBD4}"/>
              </a:ext>
            </a:extLst>
          </p:cNvPr>
          <p:cNvSpPr>
            <a:spLocks xmlns:a="http://schemas.openxmlformats.org/drawingml/2006/main" noGrp="1"/>
          </p:cNvSpPr>
          <p:nvPr/>
        </p:nvSpPr>
        <p:spPr>
          <a:xfrm xmlns:a="http://schemas.openxmlformats.org/drawingml/2006/main">
            <a:off x="5715000" y="23050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db.tickets</a:t>
            </a:r>
          </a:p>
        </p:txBody>
      </p:sp>
      <p:sp>
        <p:nvSpPr>
          <p:cNvPr id="20" name="">
            <a:extLst xmlns:a="http://schemas.openxmlformats.org/drawingml/2006/main">
              <a:ext uri="{FF2B5EF4-FFF2-40B4-BE49-F238E27FC236}">
                <a16:creationId xmlns:a16="http://schemas.microsoft.com/office/drawing/2014/main" id="{89C5144B-6295-4D1E-B47B-4AE2A9DAD0BC}"/>
              </a:ext>
            </a:extLst>
          </p:cNvPr>
          <p:cNvSpPr>
            <a:spLocks xmlns:a="http://schemas.openxmlformats.org/drawingml/2006/main" noGrp="1"/>
          </p:cNvSpPr>
          <p:nvPr/>
        </p:nvSpPr>
        <p:spPr>
          <a:xfrm xmlns:a="http://schemas.openxmlformats.org/drawingml/2006/main">
            <a:off x="8782050" y="2228850"/>
            <a:ext cx="27241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D66E5760-3755-4D96-81B6-E2981252FA11}"/>
              </a:ext>
            </a:extLst>
          </p:cNvPr>
          <p:cNvSpPr>
            <a:spLocks xmlns:a="http://schemas.openxmlformats.org/drawingml/2006/main" noGrp="1"/>
          </p:cNvSpPr>
          <p:nvPr/>
        </p:nvSpPr>
        <p:spPr>
          <a:xfrm xmlns:a="http://schemas.openxmlformats.org/drawingml/2006/main">
            <a:off x="8858250" y="23050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database and collection context</a:t>
            </a:r>
          </a:p>
        </p:txBody>
      </p:sp>
      <p:sp>
        <p:nvSpPr>
          <p:cNvPr id="22" name="">
            <a:extLst xmlns:a="http://schemas.openxmlformats.org/drawingml/2006/main">
              <a:ext uri="{FF2B5EF4-FFF2-40B4-BE49-F238E27FC236}">
                <a16:creationId xmlns:a16="http://schemas.microsoft.com/office/drawing/2014/main" id="{08393EBA-53D0-4425-9BD5-70F8050D19FB}"/>
              </a:ext>
            </a:extLst>
          </p:cNvPr>
          <p:cNvSpPr>
            <a:spLocks xmlns:a="http://schemas.openxmlformats.org/drawingml/2006/main" noGrp="1"/>
          </p:cNvSpPr>
          <p:nvPr/>
        </p:nvSpPr>
        <p:spPr>
          <a:xfrm xmlns:a="http://schemas.openxmlformats.org/drawingml/2006/main">
            <a:off x="685800" y="2914650"/>
            <a:ext cx="20955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88F1CAF0-30F1-41EF-8F7D-3196D52E0259}"/>
              </a:ext>
            </a:extLst>
          </p:cNvPr>
          <p:cNvSpPr>
            <a:spLocks xmlns:a="http://schemas.openxmlformats.org/drawingml/2006/main" noGrp="1"/>
          </p:cNvSpPr>
          <p:nvPr/>
        </p:nvSpPr>
        <p:spPr>
          <a:xfrm xmlns:a="http://schemas.openxmlformats.org/drawingml/2006/main">
            <a:off x="762000" y="29908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Filter</a:t>
            </a:r>
          </a:p>
        </p:txBody>
      </p:sp>
      <p:sp>
        <p:nvSpPr>
          <p:cNvPr id="24" name="">
            <a:extLst xmlns:a="http://schemas.openxmlformats.org/drawingml/2006/main">
              <a:ext uri="{FF2B5EF4-FFF2-40B4-BE49-F238E27FC236}">
                <a16:creationId xmlns:a16="http://schemas.microsoft.com/office/drawing/2014/main" id="{75D801C2-2562-48C9-8D70-BE87AFA94355}"/>
              </a:ext>
            </a:extLst>
          </p:cNvPr>
          <p:cNvSpPr>
            <a:spLocks xmlns:a="http://schemas.openxmlformats.org/drawingml/2006/main" noGrp="1"/>
          </p:cNvSpPr>
          <p:nvPr/>
        </p:nvSpPr>
        <p:spPr>
          <a:xfrm xmlns:a="http://schemas.openxmlformats.org/drawingml/2006/main">
            <a:off x="2781300" y="2914650"/>
            <a:ext cx="28575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4402DB60-A0D6-4E3A-B3DC-B7B31A4B40FA}"/>
              </a:ext>
            </a:extLst>
          </p:cNvPr>
          <p:cNvSpPr>
            <a:spLocks xmlns:a="http://schemas.openxmlformats.org/drawingml/2006/main" noGrp="1"/>
          </p:cNvSpPr>
          <p:nvPr/>
        </p:nvSpPr>
        <p:spPr>
          <a:xfrm xmlns:a="http://schemas.openxmlformats.org/drawingml/2006/main">
            <a:off x="2857500" y="29908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WHERE status = 'open'</a:t>
            </a:r>
          </a:p>
        </p:txBody>
      </p:sp>
      <p:sp>
        <p:nvSpPr>
          <p:cNvPr id="26" name="">
            <a:extLst xmlns:a="http://schemas.openxmlformats.org/drawingml/2006/main">
              <a:ext uri="{FF2B5EF4-FFF2-40B4-BE49-F238E27FC236}">
                <a16:creationId xmlns:a16="http://schemas.microsoft.com/office/drawing/2014/main" id="{599A8095-E1B6-492D-A7D8-A3C9D56CD00E}"/>
              </a:ext>
            </a:extLst>
          </p:cNvPr>
          <p:cNvSpPr>
            <a:spLocks xmlns:a="http://schemas.openxmlformats.org/drawingml/2006/main" noGrp="1"/>
          </p:cNvSpPr>
          <p:nvPr/>
        </p:nvSpPr>
        <p:spPr>
          <a:xfrm xmlns:a="http://schemas.openxmlformats.org/drawingml/2006/main">
            <a:off x="5638800" y="2914650"/>
            <a:ext cx="31432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FC22CFD1-F86C-4385-B140-40DA5DCFAC5F}"/>
              </a:ext>
            </a:extLst>
          </p:cNvPr>
          <p:cNvSpPr>
            <a:spLocks xmlns:a="http://schemas.openxmlformats.org/drawingml/2006/main" noGrp="1"/>
          </p:cNvSpPr>
          <p:nvPr/>
        </p:nvSpPr>
        <p:spPr>
          <a:xfrm xmlns:a="http://schemas.openxmlformats.org/drawingml/2006/main">
            <a:off x="5715000" y="29908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 status: 'open' }</a:t>
            </a:r>
          </a:p>
        </p:txBody>
      </p:sp>
      <p:sp>
        <p:nvSpPr>
          <p:cNvPr id="28" name="">
            <a:extLst xmlns:a="http://schemas.openxmlformats.org/drawingml/2006/main">
              <a:ext uri="{FF2B5EF4-FFF2-40B4-BE49-F238E27FC236}">
                <a16:creationId xmlns:a16="http://schemas.microsoft.com/office/drawing/2014/main" id="{05171214-7CE2-41C7-9C25-AF3A1489D3B3}"/>
              </a:ext>
            </a:extLst>
          </p:cNvPr>
          <p:cNvSpPr>
            <a:spLocks xmlns:a="http://schemas.openxmlformats.org/drawingml/2006/main" noGrp="1"/>
          </p:cNvSpPr>
          <p:nvPr/>
        </p:nvSpPr>
        <p:spPr>
          <a:xfrm xmlns:a="http://schemas.openxmlformats.org/drawingml/2006/main">
            <a:off x="8782050" y="2914650"/>
            <a:ext cx="27241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F97D04EE-B394-4E69-A413-72F67AC1A498}"/>
              </a:ext>
            </a:extLst>
          </p:cNvPr>
          <p:cNvSpPr>
            <a:spLocks xmlns:a="http://schemas.openxmlformats.org/drawingml/2006/main" noGrp="1"/>
          </p:cNvSpPr>
          <p:nvPr/>
        </p:nvSpPr>
        <p:spPr>
          <a:xfrm xmlns:a="http://schemas.openxmlformats.org/drawingml/2006/main">
            <a:off x="8858250" y="29908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document and BSON type match</a:t>
            </a:r>
          </a:p>
        </p:txBody>
      </p:sp>
      <p:sp>
        <p:nvSpPr>
          <p:cNvPr id="30" name="">
            <a:extLst xmlns:a="http://schemas.openxmlformats.org/drawingml/2006/main">
              <a:ext uri="{FF2B5EF4-FFF2-40B4-BE49-F238E27FC236}">
                <a16:creationId xmlns:a16="http://schemas.microsoft.com/office/drawing/2014/main" id="{ED5E0430-81BD-44C0-933C-38E6B0DDE979}"/>
              </a:ext>
            </a:extLst>
          </p:cNvPr>
          <p:cNvSpPr>
            <a:spLocks xmlns:a="http://schemas.openxmlformats.org/drawingml/2006/main" noGrp="1"/>
          </p:cNvSpPr>
          <p:nvPr/>
        </p:nvSpPr>
        <p:spPr>
          <a:xfrm xmlns:a="http://schemas.openxmlformats.org/drawingml/2006/main">
            <a:off x="685800" y="3600450"/>
            <a:ext cx="2095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431102A0-567F-459A-A394-799CBAB97BEA}"/>
              </a:ext>
            </a:extLst>
          </p:cNvPr>
          <p:cNvSpPr>
            <a:spLocks xmlns:a="http://schemas.openxmlformats.org/drawingml/2006/main" noGrp="1"/>
          </p:cNvSpPr>
          <p:nvPr/>
        </p:nvSpPr>
        <p:spPr>
          <a:xfrm xmlns:a="http://schemas.openxmlformats.org/drawingml/2006/main">
            <a:off x="762000" y="36766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a:t>
            </a:r>
          </a:p>
        </p:txBody>
      </p:sp>
      <p:sp>
        <p:nvSpPr>
          <p:cNvPr id="32" name="">
            <a:extLst xmlns:a="http://schemas.openxmlformats.org/drawingml/2006/main">
              <a:ext uri="{FF2B5EF4-FFF2-40B4-BE49-F238E27FC236}">
                <a16:creationId xmlns:a16="http://schemas.microsoft.com/office/drawing/2014/main" id="{6DCC37CD-AF76-4A7F-909B-A98E112790D3}"/>
              </a:ext>
            </a:extLst>
          </p:cNvPr>
          <p:cNvSpPr>
            <a:spLocks xmlns:a="http://schemas.openxmlformats.org/drawingml/2006/main" noGrp="1"/>
          </p:cNvSpPr>
          <p:nvPr/>
        </p:nvSpPr>
        <p:spPr>
          <a:xfrm xmlns:a="http://schemas.openxmlformats.org/drawingml/2006/main">
            <a:off x="2781300" y="3600450"/>
            <a:ext cx="2857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E3B897E6-C251-4C1F-80CD-168D89846745}"/>
              </a:ext>
            </a:extLst>
          </p:cNvPr>
          <p:cNvSpPr>
            <a:spLocks xmlns:a="http://schemas.openxmlformats.org/drawingml/2006/main" noGrp="1"/>
          </p:cNvSpPr>
          <p:nvPr/>
        </p:nvSpPr>
        <p:spPr>
          <a:xfrm xmlns:a="http://schemas.openxmlformats.org/drawingml/2006/main">
            <a:off x="2857500" y="36766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SELECT ticket_id</a:t>
            </a:r>
          </a:p>
        </p:txBody>
      </p:sp>
      <p:sp>
        <p:nvSpPr>
          <p:cNvPr id="34" name="">
            <a:extLst xmlns:a="http://schemas.openxmlformats.org/drawingml/2006/main">
              <a:ext uri="{FF2B5EF4-FFF2-40B4-BE49-F238E27FC236}">
                <a16:creationId xmlns:a16="http://schemas.microsoft.com/office/drawing/2014/main" id="{44E6A717-845D-4214-9A25-F67409D5536E}"/>
              </a:ext>
            </a:extLst>
          </p:cNvPr>
          <p:cNvSpPr>
            <a:spLocks xmlns:a="http://schemas.openxmlformats.org/drawingml/2006/main" noGrp="1"/>
          </p:cNvSpPr>
          <p:nvPr/>
        </p:nvSpPr>
        <p:spPr>
          <a:xfrm xmlns:a="http://schemas.openxmlformats.org/drawingml/2006/main">
            <a:off x="5638800" y="3600450"/>
            <a:ext cx="3143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EC7FB417-D610-499F-BBB4-A89AA7CD157A}"/>
              </a:ext>
            </a:extLst>
          </p:cNvPr>
          <p:cNvSpPr>
            <a:spLocks xmlns:a="http://schemas.openxmlformats.org/drawingml/2006/main" noGrp="1"/>
          </p:cNvSpPr>
          <p:nvPr/>
        </p:nvSpPr>
        <p:spPr>
          <a:xfrm xmlns:a="http://schemas.openxmlformats.org/drawingml/2006/main">
            <a:off x="5715000" y="36766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 ticket_id: 1, _id: 0 }</a:t>
            </a:r>
          </a:p>
        </p:txBody>
      </p:sp>
      <p:sp>
        <p:nvSpPr>
          <p:cNvPr id="36" name="">
            <a:extLst xmlns:a="http://schemas.openxmlformats.org/drawingml/2006/main">
              <a:ext uri="{FF2B5EF4-FFF2-40B4-BE49-F238E27FC236}">
                <a16:creationId xmlns:a16="http://schemas.microsoft.com/office/drawing/2014/main" id="{968395B8-4B6B-49EF-A085-B58A6257390E}"/>
              </a:ext>
            </a:extLst>
          </p:cNvPr>
          <p:cNvSpPr>
            <a:spLocks xmlns:a="http://schemas.openxmlformats.org/drawingml/2006/main" noGrp="1"/>
          </p:cNvSpPr>
          <p:nvPr/>
        </p:nvSpPr>
        <p:spPr>
          <a:xfrm xmlns:a="http://schemas.openxmlformats.org/drawingml/2006/main">
            <a:off x="8782050" y="3600450"/>
            <a:ext cx="27241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325B1386-D4C3-4592-85F9-82152219BC25}"/>
              </a:ext>
            </a:extLst>
          </p:cNvPr>
          <p:cNvSpPr>
            <a:spLocks xmlns:a="http://schemas.openxmlformats.org/drawingml/2006/main" noGrp="1"/>
          </p:cNvSpPr>
          <p:nvPr/>
        </p:nvSpPr>
        <p:spPr>
          <a:xfrm xmlns:a="http://schemas.openxmlformats.org/drawingml/2006/main">
            <a:off x="8858250" y="36766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inclusion/exclusion rules</a:t>
            </a:r>
          </a:p>
        </p:txBody>
      </p:sp>
      <p:sp>
        <p:nvSpPr>
          <p:cNvPr id="38" name="">
            <a:extLst xmlns:a="http://schemas.openxmlformats.org/drawingml/2006/main">
              <a:ext uri="{FF2B5EF4-FFF2-40B4-BE49-F238E27FC236}">
                <a16:creationId xmlns:a16="http://schemas.microsoft.com/office/drawing/2014/main" id="{037D1EC8-F88D-4D77-AF9C-20CEAA863EC0}"/>
              </a:ext>
            </a:extLst>
          </p:cNvPr>
          <p:cNvSpPr>
            <a:spLocks xmlns:a="http://schemas.openxmlformats.org/drawingml/2006/main" noGrp="1"/>
          </p:cNvSpPr>
          <p:nvPr/>
        </p:nvSpPr>
        <p:spPr>
          <a:xfrm xmlns:a="http://schemas.openxmlformats.org/drawingml/2006/main">
            <a:off x="685800" y="4286250"/>
            <a:ext cx="20955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8560AE86-BF4C-4C2C-80A1-1A97745B1181}"/>
              </a:ext>
            </a:extLst>
          </p:cNvPr>
          <p:cNvSpPr>
            <a:spLocks xmlns:a="http://schemas.openxmlformats.org/drawingml/2006/main" noGrp="1"/>
          </p:cNvSpPr>
          <p:nvPr/>
        </p:nvSpPr>
        <p:spPr>
          <a:xfrm xmlns:a="http://schemas.openxmlformats.org/drawingml/2006/main">
            <a:off x="762000" y="43624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Order + limit</a:t>
            </a:r>
          </a:p>
        </p:txBody>
      </p:sp>
      <p:sp>
        <p:nvSpPr>
          <p:cNvPr id="40" name="">
            <a:extLst xmlns:a="http://schemas.openxmlformats.org/drawingml/2006/main">
              <a:ext uri="{FF2B5EF4-FFF2-40B4-BE49-F238E27FC236}">
                <a16:creationId xmlns:a16="http://schemas.microsoft.com/office/drawing/2014/main" id="{5E12BC18-E814-4AD3-BF3E-7B5C659E1D6B}"/>
              </a:ext>
            </a:extLst>
          </p:cNvPr>
          <p:cNvSpPr>
            <a:spLocks xmlns:a="http://schemas.openxmlformats.org/drawingml/2006/main" noGrp="1"/>
          </p:cNvSpPr>
          <p:nvPr/>
        </p:nvSpPr>
        <p:spPr>
          <a:xfrm xmlns:a="http://schemas.openxmlformats.org/drawingml/2006/main">
            <a:off x="2781300" y="4286250"/>
            <a:ext cx="285750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15A22CA9-BE84-468B-8C83-294CA02BEEC0}"/>
              </a:ext>
            </a:extLst>
          </p:cNvPr>
          <p:cNvSpPr>
            <a:spLocks xmlns:a="http://schemas.openxmlformats.org/drawingml/2006/main" noGrp="1"/>
          </p:cNvSpPr>
          <p:nvPr/>
        </p:nvSpPr>
        <p:spPr>
          <a:xfrm xmlns:a="http://schemas.openxmlformats.org/drawingml/2006/main">
            <a:off x="2857500" y="4362450"/>
            <a:ext cx="2705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ORDER BY ... LIMIT</a:t>
            </a:r>
          </a:p>
        </p:txBody>
      </p:sp>
      <p:sp>
        <p:nvSpPr>
          <p:cNvPr id="42" name="">
            <a:extLst xmlns:a="http://schemas.openxmlformats.org/drawingml/2006/main">
              <a:ext uri="{FF2B5EF4-FFF2-40B4-BE49-F238E27FC236}">
                <a16:creationId xmlns:a16="http://schemas.microsoft.com/office/drawing/2014/main" id="{79BC7584-D12F-4402-8501-E18FD58FD07E}"/>
              </a:ext>
            </a:extLst>
          </p:cNvPr>
          <p:cNvSpPr>
            <a:spLocks xmlns:a="http://schemas.openxmlformats.org/drawingml/2006/main" noGrp="1"/>
          </p:cNvSpPr>
          <p:nvPr/>
        </p:nvSpPr>
        <p:spPr>
          <a:xfrm xmlns:a="http://schemas.openxmlformats.org/drawingml/2006/main">
            <a:off x="5638800" y="4286250"/>
            <a:ext cx="31432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DA3AB41F-246B-48D0-BBA1-4A60A7A3BFD1}"/>
              </a:ext>
            </a:extLst>
          </p:cNvPr>
          <p:cNvSpPr>
            <a:spLocks xmlns:a="http://schemas.openxmlformats.org/drawingml/2006/main" noGrp="1"/>
          </p:cNvSpPr>
          <p:nvPr/>
        </p:nvSpPr>
        <p:spPr>
          <a:xfrm xmlns:a="http://schemas.openxmlformats.org/drawingml/2006/main">
            <a:off x="5715000" y="436245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.sort(...).limit(...) </a:t>
            </a:r>
          </a:p>
        </p:txBody>
      </p:sp>
      <p:sp>
        <p:nvSpPr>
          <p:cNvPr id="44" name="">
            <a:extLst xmlns:a="http://schemas.openxmlformats.org/drawingml/2006/main">
              <a:ext uri="{FF2B5EF4-FFF2-40B4-BE49-F238E27FC236}">
                <a16:creationId xmlns:a16="http://schemas.microsoft.com/office/drawing/2014/main" id="{EF3A9F22-CF2D-4472-8BC7-E29B2F8A6E16}"/>
              </a:ext>
            </a:extLst>
          </p:cNvPr>
          <p:cNvSpPr>
            <a:spLocks xmlns:a="http://schemas.openxmlformats.org/drawingml/2006/main" noGrp="1"/>
          </p:cNvSpPr>
          <p:nvPr/>
        </p:nvSpPr>
        <p:spPr>
          <a:xfrm xmlns:a="http://schemas.openxmlformats.org/drawingml/2006/main">
            <a:off x="8782050" y="4286250"/>
            <a:ext cx="27241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57CF4095-BD25-44DA-8D9B-D99066BBB02E}"/>
              </a:ext>
            </a:extLst>
          </p:cNvPr>
          <p:cNvSpPr>
            <a:spLocks xmlns:a="http://schemas.openxmlformats.org/drawingml/2006/main" noGrp="1"/>
          </p:cNvSpPr>
          <p:nvPr/>
        </p:nvSpPr>
        <p:spPr>
          <a:xfrm xmlns:a="http://schemas.openxmlformats.org/drawingml/2006/main">
            <a:off x="8858250" y="43624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cursor operation order</a:t>
            </a:r>
          </a:p>
        </p:txBody>
      </p:sp>
    </p:spTree>
    <p:extLst>
      <p:ext uri="{BB962C8B-B14F-4D97-AF65-F5344CB8AC3E}">
        <p14:creationId xmlns:p14="http://schemas.microsoft.com/office/powerpoint/2010/main" val="622708442"/>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CE66DFA-E558-479F-B89C-6047BA0231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BA3ABCC-F1C2-45E3-B551-4A9D8689975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E4400AB0-497F-4D1B-AE93-871A184CF6F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Connect to Atlas without weakening the credential boundary</a:t>
            </a:r>
          </a:p>
        </p:txBody>
      </p:sp>
      <p:sp>
        <p:nvSpPr>
          <p:cNvPr id="4" name="">
            <a:extLst xmlns:a="http://schemas.openxmlformats.org/drawingml/2006/main">
              <a:ext uri="{FF2B5EF4-FFF2-40B4-BE49-F238E27FC236}">
                <a16:creationId xmlns:a16="http://schemas.microsoft.com/office/drawing/2014/main" id="{78B993EF-EAC7-4D5A-9F4B-25034823A9D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53899E3-C11C-4659-A49B-583CDDBA444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E605775C-9526-41AD-B6A2-DD908CEF3052}"/>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D4ED8"/>
          </a:solidFill>
          <a:ln xmlns:a="http://schemas.openxmlformats.org/drawingml/2006/main" w="19050">
            <a:solidFill>
              <a:srgbClr val="1D4ED8"/>
            </a:solidFill>
            <a:prstDash val="solid"/>
          </a:ln>
        </p:spPr>
      </p:sp>
      <p:sp>
        <p:nvSpPr>
          <p:cNvPr id="7" name="">
            <a:extLst xmlns:a="http://schemas.openxmlformats.org/drawingml/2006/main">
              <a:ext uri="{FF2B5EF4-FFF2-40B4-BE49-F238E27FC236}">
                <a16:creationId xmlns:a16="http://schemas.microsoft.com/office/drawing/2014/main" id="{599F542D-D684-4012-A6FE-EE07695723FD}"/>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8653262E-16EC-4EEA-BA7C-97A08873757E}"/>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Copy the current mongodb+srv URI for the intended free deployment and database user.</a:t>
            </a:r>
          </a:p>
        </p:txBody>
      </p:sp>
      <p:sp>
        <p:nvSpPr>
          <p:cNvPr id="9" name="">
            <a:extLst xmlns:a="http://schemas.openxmlformats.org/drawingml/2006/main">
              <a:ext uri="{FF2B5EF4-FFF2-40B4-BE49-F238E27FC236}">
                <a16:creationId xmlns:a16="http://schemas.microsoft.com/office/drawing/2014/main" id="{917136A0-27F9-48FB-9C5A-B1D9A9C9AE1E}"/>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CFD3F13-7E91-4DD7-96E1-6F6B14E2E3DE}"/>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1" name="">
            <a:extLst xmlns:a="http://schemas.openxmlformats.org/drawingml/2006/main">
              <a:ext uri="{FF2B5EF4-FFF2-40B4-BE49-F238E27FC236}">
                <a16:creationId xmlns:a16="http://schemas.microsoft.com/office/drawing/2014/main" id="{EECFB56F-E0E4-42C3-9271-33E53E9A184C}"/>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AD74F3CF-E7D6-45EA-BAAE-002B031EBFFE}"/>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Enter the URI at runtime with getpass; never print or commit it.</a:t>
            </a:r>
          </a:p>
        </p:txBody>
      </p:sp>
      <p:sp>
        <p:nvSpPr>
          <p:cNvPr id="13" name="">
            <a:extLst xmlns:a="http://schemas.openxmlformats.org/drawingml/2006/main">
              <a:ext uri="{FF2B5EF4-FFF2-40B4-BE49-F238E27FC236}">
                <a16:creationId xmlns:a16="http://schemas.microsoft.com/office/drawing/2014/main" id="{A0BF67E8-351F-4FA1-ABBD-3E76568C5043}"/>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956C91C-CA2B-4495-8B9A-F1654796D863}"/>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5" name="">
            <a:extLst xmlns:a="http://schemas.openxmlformats.org/drawingml/2006/main">
              <a:ext uri="{FF2B5EF4-FFF2-40B4-BE49-F238E27FC236}">
                <a16:creationId xmlns:a16="http://schemas.microsoft.com/office/drawing/2014/main" id="{C38A8395-F3F2-44F8-86B4-3788F4932995}"/>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997B9040-7C85-441A-BDBE-CDE428BB96D8}"/>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Permit only the temporary network path needed by the runtime and run ping first.</a:t>
            </a:r>
          </a:p>
        </p:txBody>
      </p:sp>
      <p:sp>
        <p:nvSpPr>
          <p:cNvPr id="17" name="">
            <a:extLst xmlns:a="http://schemas.openxmlformats.org/drawingml/2006/main">
              <a:ext uri="{FF2B5EF4-FFF2-40B4-BE49-F238E27FC236}">
                <a16:creationId xmlns:a16="http://schemas.microsoft.com/office/drawing/2014/main" id="{4C083DE1-AB1D-4C63-9C1D-54BF97F8DE75}"/>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3AB4A704-0BAE-4DB7-8A48-66E17049C18D}"/>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9" name="">
            <a:extLst xmlns:a="http://schemas.openxmlformats.org/drawingml/2006/main">
              <a:ext uri="{FF2B5EF4-FFF2-40B4-BE49-F238E27FC236}">
                <a16:creationId xmlns:a16="http://schemas.microsoft.com/office/drawing/2014/main" id="{D397C173-C836-4002-9E72-0843725E08CF}"/>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2491ADFF-790B-4A5B-AD20-E316706F1FF9}"/>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If TLS fails, inspect URI, driver, DNS, clock, and network; do not use tlsInsecure=True.</a:t>
            </a:r>
          </a:p>
        </p:txBody>
      </p:sp>
      <p:sp>
        <p:nvSpPr>
          <p:cNvPr id="21" name="">
            <a:extLst xmlns:a="http://schemas.openxmlformats.org/drawingml/2006/main">
              <a:ext uri="{FF2B5EF4-FFF2-40B4-BE49-F238E27FC236}">
                <a16:creationId xmlns:a16="http://schemas.microsoft.com/office/drawing/2014/main" id="{0CAF5059-4179-4B84-8384-34CD071146DA}"/>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519812087"/>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BDD9E9B-E745-4936-90BA-5A5972F805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256667C-4B90-4403-8BA4-13396A40E36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38B869BC-9949-4831-BCC2-FE4E9918B64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filter selects documents; a projection selects returned fields</a:t>
            </a:r>
          </a:p>
        </p:txBody>
      </p:sp>
      <p:sp>
        <p:nvSpPr>
          <p:cNvPr id="4" name="">
            <a:extLst xmlns:a="http://schemas.openxmlformats.org/drawingml/2006/main">
              <a:ext uri="{FF2B5EF4-FFF2-40B4-BE49-F238E27FC236}">
                <a16:creationId xmlns:a16="http://schemas.microsoft.com/office/drawing/2014/main" id="{443782B8-E2FD-4783-926D-0202996F935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82275BE-7F5A-4D0E-989E-CC117504AD9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code-frame">
            <a:extLst xmlns:a="http://schemas.openxmlformats.org/drawingml/2006/main">
              <a:ext uri="{FF2B5EF4-FFF2-40B4-BE49-F238E27FC236}">
                <a16:creationId xmlns:a16="http://schemas.microsoft.com/office/drawing/2014/main" id="{0F0EEE7E-0EDA-4651-8D54-7F8425F89DAD}"/>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FECC492C-E83B-41B2-A92A-031E9B71EB51}"/>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filter_doc =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"status": {"$in": ["new", "open", "in_progress"]},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"priority": "high"</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projection =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"_id": 0, "ticket_id": 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"status": 1, "subject": 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for doc in tickets.find(filter_doc, projection)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.sort("ticket_id", 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print(doc)</a:t>
            </a:r>
          </a:p>
        </p:txBody>
      </p:sp>
      <p:sp>
        <p:nvSpPr>
          <p:cNvPr id="8" name="">
            <a:extLst xmlns:a="http://schemas.openxmlformats.org/drawingml/2006/main">
              <a:ext uri="{FF2B5EF4-FFF2-40B4-BE49-F238E27FC236}">
                <a16:creationId xmlns:a16="http://schemas.microsoft.com/office/drawing/2014/main" id="{746DFBAE-C80D-4F10-B82E-74EE0A6D3945}"/>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1D4ED8"/>
                </a:solidFill>
                <a:latin typeface="Helvetica Neue"/>
                <a:ea typeface="Helvetica Neue"/>
                <a:cs typeface="Helvetica Neue"/>
              </a:defRPr>
            </a:pPr>
            <a:r>
              <a:rPr sz="1725" b="1">
                <a:solidFill>
                  <a:srgbClr val="1D4ED8"/>
                </a:solidFill>
                <a:latin typeface="Helvetica Neue"/>
                <a:ea typeface="Helvetica Neue"/>
                <a:cs typeface="Helvetica Neue"/>
              </a:rPr>
              <a:t>Predict</a:t>
            </a:r>
          </a:p>
        </p:txBody>
      </p:sp>
      <p:sp>
        <p:nvSpPr>
          <p:cNvPr id="9" name="">
            <a:extLst xmlns:a="http://schemas.openxmlformats.org/drawingml/2006/main">
              <a:ext uri="{FF2B5EF4-FFF2-40B4-BE49-F238E27FC236}">
                <a16:creationId xmlns:a16="http://schemas.microsoft.com/office/drawing/2014/main" id="{798A5823-203C-4F6E-B095-8E271321F7A4}"/>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59FB7210-2060-4C98-A53F-F3550E35CD95}"/>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One output item per matching document</a:t>
            </a:r>
          </a:p>
        </p:txBody>
      </p:sp>
      <p:sp>
        <p:nvSpPr>
          <p:cNvPr id="11" name="">
            <a:extLst xmlns:a="http://schemas.openxmlformats.org/drawingml/2006/main">
              <a:ext uri="{FF2B5EF4-FFF2-40B4-BE49-F238E27FC236}">
                <a16:creationId xmlns:a16="http://schemas.microsoft.com/office/drawing/2014/main" id="{2A4765EF-D7D3-494F-92EC-1F86F806DA0B}"/>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D4674AE8-EA28-48AF-9869-8952D2BCF0AF}"/>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Only named fields plus the chosen _id behavior</a:t>
            </a:r>
          </a:p>
        </p:txBody>
      </p:sp>
      <p:sp>
        <p:nvSpPr>
          <p:cNvPr id="13" name="">
            <a:extLst xmlns:a="http://schemas.openxmlformats.org/drawingml/2006/main">
              <a:ext uri="{FF2B5EF4-FFF2-40B4-BE49-F238E27FC236}">
                <a16:creationId xmlns:a16="http://schemas.microsoft.com/office/drawing/2014/main" id="{04E0EE14-1FDB-46BA-9B97-32919EE0D12A}"/>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3A315075-877E-455C-8067-E5E8B4307D48}"/>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BSON field types must match the filter values</a:t>
            </a:r>
          </a:p>
        </p:txBody>
      </p:sp>
    </p:spTree>
    <p:extLst>
      <p:ext uri="{BB962C8B-B14F-4D97-AF65-F5344CB8AC3E}">
        <p14:creationId xmlns:p14="http://schemas.microsoft.com/office/powerpoint/2010/main" val="687259429"/>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1979B91-EFDC-4C2E-B98B-E15CA1C6C2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F976D85-04EE-4EB2-BDCA-2EC00EEB2CA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961382B1-8A4D-4AB4-B30A-6EA4C7C0A8B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Nested paths and arrays require document-aware predicates</a:t>
            </a:r>
          </a:p>
        </p:txBody>
      </p:sp>
      <p:sp>
        <p:nvSpPr>
          <p:cNvPr id="4" name="">
            <a:extLst xmlns:a="http://schemas.openxmlformats.org/drawingml/2006/main">
              <a:ext uri="{FF2B5EF4-FFF2-40B4-BE49-F238E27FC236}">
                <a16:creationId xmlns:a16="http://schemas.microsoft.com/office/drawing/2014/main" id="{C096BF0B-AFAE-4C46-B953-5CF28B0E810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AADE4F8-A3AF-4582-839B-26227DFE0C8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code-frame">
            <a:extLst xmlns:a="http://schemas.openxmlformats.org/drawingml/2006/main">
              <a:ext uri="{FF2B5EF4-FFF2-40B4-BE49-F238E27FC236}">
                <a16:creationId xmlns:a16="http://schemas.microsoft.com/office/drawing/2014/main" id="{0A6D7FD5-D6FB-4FEF-B111-1F4CD4EF77A4}"/>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9559FBA7-6CE9-4493-82F6-630316F237FA}"/>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tickets.find({</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"requester.neighborhood": "Harbor",</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"events":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"$elemMatch":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"type": "status_changed",</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"to": "resolved"</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95D9F8D0-5D55-4246-BF86-A0F0AA52232B}"/>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1D4ED8"/>
                </a:solidFill>
                <a:latin typeface="Helvetica Neue"/>
                <a:ea typeface="Helvetica Neue"/>
                <a:cs typeface="Helvetica Neue"/>
              </a:defRPr>
            </a:pPr>
            <a:r>
              <a:rPr sz="1725" b="1">
                <a:solidFill>
                  <a:srgbClr val="1D4ED8"/>
                </a:solidFill>
                <a:latin typeface="Helvetica Neue"/>
                <a:ea typeface="Helvetica Neue"/>
                <a:cs typeface="Helvetica Neue"/>
              </a:rPr>
              <a:t>Why elemMatch?</a:t>
            </a:r>
          </a:p>
        </p:txBody>
      </p:sp>
      <p:sp>
        <p:nvSpPr>
          <p:cNvPr id="9" name="">
            <a:extLst xmlns:a="http://schemas.openxmlformats.org/drawingml/2006/main">
              <a:ext uri="{FF2B5EF4-FFF2-40B4-BE49-F238E27FC236}">
                <a16:creationId xmlns:a16="http://schemas.microsoft.com/office/drawing/2014/main" id="{DBE4FE96-E280-4CE6-ADF7-648AE633C623}"/>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14B3A9C6-376C-4CB5-B0C6-4764CB27D896}"/>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Dot notation reaches a nested field.</a:t>
            </a:r>
          </a:p>
        </p:txBody>
      </p:sp>
      <p:sp>
        <p:nvSpPr>
          <p:cNvPr id="11" name="">
            <a:extLst xmlns:a="http://schemas.openxmlformats.org/drawingml/2006/main">
              <a:ext uri="{FF2B5EF4-FFF2-40B4-BE49-F238E27FC236}">
                <a16:creationId xmlns:a16="http://schemas.microsoft.com/office/drawing/2014/main" id="{04B0DF04-A2E9-4A3E-A5E0-98F7492F8725}"/>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BC0B4869-F9CF-403C-9FC5-A4396E3A507E}"/>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The array contains event objects.</a:t>
            </a:r>
          </a:p>
        </p:txBody>
      </p:sp>
      <p:sp>
        <p:nvSpPr>
          <p:cNvPr id="13" name="">
            <a:extLst xmlns:a="http://schemas.openxmlformats.org/drawingml/2006/main">
              <a:ext uri="{FF2B5EF4-FFF2-40B4-BE49-F238E27FC236}">
                <a16:creationId xmlns:a16="http://schemas.microsoft.com/office/drawing/2014/main" id="{9DA8B69D-2877-4603-9871-B130D99ED8FF}"/>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5FF39B08-F7C6-4800-AD60-3A5E9EFABAAC}"/>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Both event conditions must hold in the same element.</a:t>
            </a:r>
          </a:p>
        </p:txBody>
      </p:sp>
    </p:spTree>
    <p:extLst>
      <p:ext uri="{BB962C8B-B14F-4D97-AF65-F5344CB8AC3E}">
        <p14:creationId xmlns:p14="http://schemas.microsoft.com/office/powerpoint/2010/main" val="101522587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1754D4-F500-4EA1-BEE8-94697B89D1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1238435-4626-4D2F-85A1-26406BEDA95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7BC9290D-CB47-42E4-8DEC-C301E4714C4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Write results separate finding a target from changing its value</a:t>
            </a:r>
          </a:p>
        </p:txBody>
      </p:sp>
      <p:sp>
        <p:nvSpPr>
          <p:cNvPr id="4" name="">
            <a:extLst xmlns:a="http://schemas.openxmlformats.org/drawingml/2006/main">
              <a:ext uri="{FF2B5EF4-FFF2-40B4-BE49-F238E27FC236}">
                <a16:creationId xmlns:a16="http://schemas.microsoft.com/office/drawing/2014/main" id="{13CD216A-5DFC-45DC-84AF-10C9B61EE67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41913C6-26D6-49B6-BAA2-F104DB45EB9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primary-claim">
            <a:extLst xmlns:a="http://schemas.openxmlformats.org/drawingml/2006/main">
              <a:ext uri="{FF2B5EF4-FFF2-40B4-BE49-F238E27FC236}">
                <a16:creationId xmlns:a16="http://schemas.microsoft.com/office/drawing/2014/main" id="{06685CE8-44E7-45A1-8849-FD7FED5E6815}"/>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matched_count answers ‘found’; modified_count answers ‘changed.’</a:t>
            </a:r>
          </a:p>
        </p:txBody>
      </p:sp>
      <p:sp>
        <p:nvSpPr>
          <p:cNvPr id="7" name="">
            <a:extLst xmlns:a="http://schemas.openxmlformats.org/drawingml/2006/main">
              <a:ext uri="{FF2B5EF4-FFF2-40B4-BE49-F238E27FC236}">
                <a16:creationId xmlns:a16="http://schemas.microsoft.com/office/drawing/2014/main" id="{18455830-BBDE-4853-8A66-FC212B050872}"/>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065FDD5B-EFE0-45EE-983E-533FB428F905}"/>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MATCHED</a:t>
            </a:r>
          </a:p>
        </p:txBody>
      </p:sp>
      <p:sp>
        <p:nvSpPr>
          <p:cNvPr id="9" name="">
            <a:extLst xmlns:a="http://schemas.openxmlformats.org/drawingml/2006/main">
              <a:ext uri="{FF2B5EF4-FFF2-40B4-BE49-F238E27FC236}">
                <a16:creationId xmlns:a16="http://schemas.microsoft.com/office/drawing/2014/main" id="{23B38077-3445-45D2-8A36-B8A2287A93DD}"/>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Documents satisfying the update filter.</a:t>
            </a:r>
          </a:p>
        </p:txBody>
      </p:sp>
      <p:sp>
        <p:nvSpPr>
          <p:cNvPr id="10" name="">
            <a:extLst xmlns:a="http://schemas.openxmlformats.org/drawingml/2006/main">
              <a:ext uri="{FF2B5EF4-FFF2-40B4-BE49-F238E27FC236}">
                <a16:creationId xmlns:a16="http://schemas.microsoft.com/office/drawing/2014/main" id="{345356F0-6FD9-4FDF-AB6C-0C3211D75A37}"/>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A41DA8E2-9D82-4375-9DCB-9F75F19AEBF6}"/>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MODIFIED</a:t>
            </a:r>
          </a:p>
        </p:txBody>
      </p:sp>
      <p:sp>
        <p:nvSpPr>
          <p:cNvPr id="12" name="">
            <a:extLst xmlns:a="http://schemas.openxmlformats.org/drawingml/2006/main">
              <a:ext uri="{FF2B5EF4-FFF2-40B4-BE49-F238E27FC236}">
                <a16:creationId xmlns:a16="http://schemas.microsoft.com/office/drawing/2014/main" id="{7F745812-4BC8-4E13-AC12-BF3BCA66A06F}"/>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Matched documents whose stored values actually changed.</a:t>
            </a:r>
          </a:p>
        </p:txBody>
      </p:sp>
      <p:sp>
        <p:nvSpPr>
          <p:cNvPr id="13" name="">
            <a:extLst xmlns:a="http://schemas.openxmlformats.org/drawingml/2006/main">
              <a:ext uri="{FF2B5EF4-FFF2-40B4-BE49-F238E27FC236}">
                <a16:creationId xmlns:a16="http://schemas.microsoft.com/office/drawing/2014/main" id="{437EF83B-011B-4ACA-947B-DA93D07879D8}"/>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4664F91A-960E-45DA-976B-D3B1246D69ED}"/>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VERIFY</a:t>
            </a:r>
          </a:p>
        </p:txBody>
      </p:sp>
      <p:sp>
        <p:nvSpPr>
          <p:cNvPr id="15" name="">
            <a:extLst xmlns:a="http://schemas.openxmlformats.org/drawingml/2006/main">
              <a:ext uri="{FF2B5EF4-FFF2-40B4-BE49-F238E27FC236}">
                <a16:creationId xmlns:a16="http://schemas.microsoft.com/office/drawing/2014/main" id="{9A28B33D-9C92-4E6D-A1A3-3D768F916F83}"/>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follow-up read confirms the intended field and no broader scope.</a:t>
            </a:r>
          </a:p>
        </p:txBody>
      </p:sp>
    </p:spTree>
    <p:extLst>
      <p:ext uri="{BB962C8B-B14F-4D97-AF65-F5344CB8AC3E}">
        <p14:creationId xmlns:p14="http://schemas.microsoft.com/office/powerpoint/2010/main" val="883750721"/>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5C18C8F-F4B7-4EB8-9E04-3143952E4D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C3EB500-BDE1-460D-83DB-984D22C7D46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6FDE5609-49EF-40C1-B71C-084BAC166FF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safe delete uses a narrow filter and verified result</a:t>
            </a:r>
          </a:p>
        </p:txBody>
      </p:sp>
      <p:sp>
        <p:nvSpPr>
          <p:cNvPr id="4" name="">
            <a:extLst xmlns:a="http://schemas.openxmlformats.org/drawingml/2006/main">
              <a:ext uri="{FF2B5EF4-FFF2-40B4-BE49-F238E27FC236}">
                <a16:creationId xmlns:a16="http://schemas.microsoft.com/office/drawing/2014/main" id="{9EB1ACEA-E634-42DD-9A03-164C5F70B5F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39B8DCA-A5BB-4EF4-B904-2B6DBE75088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CC4F72AF-C6EA-41EB-B814-D26050D5E088}"/>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Unsafe pattern</a:t>
            </a:r>
          </a:p>
        </p:txBody>
      </p:sp>
      <p:sp>
        <p:nvSpPr>
          <p:cNvPr id="7" name="">
            <a:extLst xmlns:a="http://schemas.openxmlformats.org/drawingml/2006/main">
              <a:ext uri="{FF2B5EF4-FFF2-40B4-BE49-F238E27FC236}">
                <a16:creationId xmlns:a16="http://schemas.microsoft.com/office/drawing/2014/main" id="{EB7B5695-EEA4-443E-B2CE-E0F54A3B1337}"/>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Controlled pattern</a:t>
            </a:r>
          </a:p>
        </p:txBody>
      </p:sp>
      <p:sp>
        <p:nvSpPr>
          <p:cNvPr id="8" name="">
            <a:extLst xmlns:a="http://schemas.openxmlformats.org/drawingml/2006/main">
              <a:ext uri="{FF2B5EF4-FFF2-40B4-BE49-F238E27FC236}">
                <a16:creationId xmlns:a16="http://schemas.microsoft.com/office/drawing/2014/main" id="{7E97F109-9401-406C-892E-CCD496FF2B1B}"/>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CEF82BC1-901C-4158-989C-C9DB9D683B53}"/>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BB7F959E-FB25-4213-A084-2A67265BC4FD}"/>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Delete with an empty or broad filter</a:t>
            </a:r>
          </a:p>
        </p:txBody>
      </p:sp>
      <p:sp>
        <p:nvSpPr>
          <p:cNvPr id="11" name="">
            <a:extLst xmlns:a="http://schemas.openxmlformats.org/drawingml/2006/main">
              <a:ext uri="{FF2B5EF4-FFF2-40B4-BE49-F238E27FC236}">
                <a16:creationId xmlns:a16="http://schemas.microsoft.com/office/drawing/2014/main" id="{010E67A5-6B38-4EC9-A724-FF28B7EAFC21}"/>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D8EF4E09-9DDE-41D1-A198-5BF942E78ACC}"/>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Assume deleted_count without previewing identity</a:t>
            </a:r>
          </a:p>
        </p:txBody>
      </p:sp>
      <p:sp>
        <p:nvSpPr>
          <p:cNvPr id="13" name="">
            <a:extLst xmlns:a="http://schemas.openxmlformats.org/drawingml/2006/main">
              <a:ext uri="{FF2B5EF4-FFF2-40B4-BE49-F238E27FC236}">
                <a16:creationId xmlns:a16="http://schemas.microsoft.com/office/drawing/2014/main" id="{47DB2F3B-1818-407C-9D69-390F32B41975}"/>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17059A69-2711-433A-A81F-DF511C91E3B3}"/>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Test in a shared collection with no reset</a:t>
            </a:r>
          </a:p>
        </p:txBody>
      </p:sp>
      <p:sp>
        <p:nvSpPr>
          <p:cNvPr id="15" name="">
            <a:extLst xmlns:a="http://schemas.openxmlformats.org/drawingml/2006/main">
              <a:ext uri="{FF2B5EF4-FFF2-40B4-BE49-F238E27FC236}">
                <a16:creationId xmlns:a16="http://schemas.microsoft.com/office/drawing/2014/main" id="{4F4A726A-5404-4805-82B4-978EDD461442}"/>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96761269-4526-44B1-8940-FA7C334CD683}"/>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Preview exact identifiers with the intended filter</a:t>
            </a:r>
          </a:p>
        </p:txBody>
      </p:sp>
      <p:sp>
        <p:nvSpPr>
          <p:cNvPr id="17" name="">
            <a:extLst xmlns:a="http://schemas.openxmlformats.org/drawingml/2006/main">
              <a:ext uri="{FF2B5EF4-FFF2-40B4-BE49-F238E27FC236}">
                <a16:creationId xmlns:a16="http://schemas.microsoft.com/office/drawing/2014/main" id="{BB4F1689-36CF-41BD-88BD-10DF0F77A9BA}"/>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2EA4E8B0-D7C8-4A2F-8F84-CDAA407E9FA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Delete one disposable document and inspect deleted_count</a:t>
            </a:r>
          </a:p>
        </p:txBody>
      </p:sp>
      <p:sp>
        <p:nvSpPr>
          <p:cNvPr id="19" name="">
            <a:extLst xmlns:a="http://schemas.openxmlformats.org/drawingml/2006/main">
              <a:ext uri="{FF2B5EF4-FFF2-40B4-BE49-F238E27FC236}">
                <a16:creationId xmlns:a16="http://schemas.microsoft.com/office/drawing/2014/main" id="{0427514F-92FD-4F88-A323-2F0D72B422AA}"/>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779374A3-4CCD-4C51-97C4-6B203947D206}"/>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Verify absence and restore/reset the fixture</a:t>
            </a:r>
          </a:p>
        </p:txBody>
      </p:sp>
    </p:spTree>
    <p:extLst>
      <p:ext uri="{BB962C8B-B14F-4D97-AF65-F5344CB8AC3E}">
        <p14:creationId xmlns:p14="http://schemas.microsoft.com/office/powerpoint/2010/main" val="1387640244"/>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9852E06-5FDD-4580-99E5-C8712426D8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980808F-EA2F-4DC5-BD2D-417ECA5F12A1}"/>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5A947DB8-FB3B-40D3-BFAA-BB0862410E8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Basic MQL with observable write evidence</a:t>
            </a:r>
          </a:p>
        </p:txBody>
      </p:sp>
      <p:sp>
        <p:nvSpPr>
          <p:cNvPr id="4" name="">
            <a:extLst xmlns:a="http://schemas.openxmlformats.org/drawingml/2006/main">
              <a:ext uri="{FF2B5EF4-FFF2-40B4-BE49-F238E27FC236}">
                <a16:creationId xmlns:a16="http://schemas.microsoft.com/office/drawing/2014/main" id="{2FB40758-27F7-4C7E-A4F2-81E9230D4B1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4686170-65D8-4652-A38D-639E2B68856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11067B3F-85E5-4852-A5A9-8B60C324A6A3}"/>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Query a safe ticket collection, update one known document, verify it, and record one connection control.</a:t>
            </a:r>
          </a:p>
        </p:txBody>
      </p:sp>
      <p:sp>
        <p:nvSpPr>
          <p:cNvPr id="7" name="">
            <a:extLst xmlns:a="http://schemas.openxmlformats.org/drawingml/2006/main">
              <a:ext uri="{FF2B5EF4-FFF2-40B4-BE49-F238E27FC236}">
                <a16:creationId xmlns:a16="http://schemas.microsoft.com/office/drawing/2014/main" id="{6A8CECC8-A5EC-46E6-80EE-C7EF0BC72F07}"/>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0EE3B8C3-B2B6-4E6C-9C01-FC17EEFEB18D}"/>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filters and projections for scalar, nested, and array fields; verify identifiers.</a:t>
            </a:r>
          </a:p>
        </p:txBody>
      </p:sp>
      <p:sp>
        <p:nvSpPr>
          <p:cNvPr id="9" name="">
            <a:extLst xmlns:a="http://schemas.openxmlformats.org/drawingml/2006/main">
              <a:ext uri="{FF2B5EF4-FFF2-40B4-BE49-F238E27FC236}">
                <a16:creationId xmlns:a16="http://schemas.microsoft.com/office/drawing/2014/main" id="{A985AA9E-3F67-4AF8-8971-3A622BB31D41}"/>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1F43C754-D813-4951-B139-B4CC712C3C26}"/>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Update one known ticket and record matched, modified, and follow-up-read evidence.</a:t>
            </a:r>
          </a:p>
        </p:txBody>
      </p:sp>
      <p:sp>
        <p:nvSpPr>
          <p:cNvPr id="11" name="">
            <a:extLst xmlns:a="http://schemas.openxmlformats.org/drawingml/2006/main">
              <a:ext uri="{FF2B5EF4-FFF2-40B4-BE49-F238E27FC236}">
                <a16:creationId xmlns:a16="http://schemas.microsoft.com/office/drawing/2014/main" id="{C378DF2E-4221-4F9F-A4F4-592709480E24}"/>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730186F4-BDEE-473C-AC92-3050F3CB4810}"/>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Use the controlled delete/reset step and record how temporary Atlas network access was narrowed.</a:t>
            </a:r>
          </a:p>
        </p:txBody>
      </p:sp>
      <p:sp>
        <p:nvSpPr>
          <p:cNvPr id="13" name="">
            <a:extLst xmlns:a="http://schemas.openxmlformats.org/drawingml/2006/main">
              <a:ext uri="{FF2B5EF4-FFF2-40B4-BE49-F238E27FC236}">
                <a16:creationId xmlns:a16="http://schemas.microsoft.com/office/drawing/2014/main" id="{E424EF61-D682-4138-8DE6-8167B7BC0239}"/>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262B5CB5-FD56-4F2D-92D4-B86EE2E25792}"/>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completed MQL notebook evidence record</a:t>
            </a:r>
          </a:p>
        </p:txBody>
      </p:sp>
    </p:spTree>
    <p:extLst>
      <p:ext uri="{BB962C8B-B14F-4D97-AF65-F5344CB8AC3E}">
        <p14:creationId xmlns:p14="http://schemas.microsoft.com/office/powerpoint/2010/main" val="124737730"/>
      </p:ext>
    </p:extLst>
  </p:cSld>
</p:sld>
</file>

<file path=ppt/slides/slide9.xml><?xml version="1.0" encoding="utf-8"?>
<p:sld xmlns:p="http://schemas.openxmlformats.org/presentationml/2006/main">
  <p:cSld>
    <p:bg>
      <p:bgPr>
        <a:solidFill xmlns:a="http://schemas.openxmlformats.org/drawingml/2006/main">
          <a:srgbClr val="1D4ED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549253-DA64-44E2-B1ED-5E5A07F545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2" name="">
            <a:extLst xmlns:a="http://schemas.openxmlformats.org/drawingml/2006/main">
              <a:ext uri="{FF2B5EF4-FFF2-40B4-BE49-F238E27FC236}">
                <a16:creationId xmlns:a16="http://schemas.microsoft.com/office/drawing/2014/main" id="{7B321D9F-32CD-4E14-AEF5-68BD3288E55A}"/>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8C594E8C-AB9F-4D1E-8FCF-6B19B556DAD6}"/>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Model around access, update ownership, and growth</a:t>
            </a:r>
          </a:p>
        </p:txBody>
      </p:sp>
      <p:sp>
        <p:nvSpPr>
          <p:cNvPr id="4" name="">
            <a:extLst xmlns:a="http://schemas.openxmlformats.org/drawingml/2006/main">
              <a:ext uri="{FF2B5EF4-FFF2-40B4-BE49-F238E27FC236}">
                <a16:creationId xmlns:a16="http://schemas.microsoft.com/office/drawing/2014/main" id="{276E74F5-C7F5-4C06-B0FC-CB10A4400488}"/>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What belongs together depends on how the system reads, changes, and bounds the aggregate.</a:t>
            </a:r>
          </a:p>
        </p:txBody>
      </p:sp>
      <p:sp>
        <p:nvSpPr>
          <p:cNvPr id="5" name="">
            <a:extLst xmlns:a="http://schemas.openxmlformats.org/drawingml/2006/main">
              <a:ext uri="{FF2B5EF4-FFF2-40B4-BE49-F238E27FC236}">
                <a16:creationId xmlns:a16="http://schemas.microsoft.com/office/drawing/2014/main" id="{ACB60294-F9B6-4BEE-BDEA-9E708A44DDA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9</a:t>
            </a:r>
          </a:p>
        </p:txBody>
      </p:sp>
    </p:spTree>
    <p:extLst>
      <p:ext uri="{BB962C8B-B14F-4D97-AF65-F5344CB8AC3E}">
        <p14:creationId xmlns:p14="http://schemas.microsoft.com/office/powerpoint/2010/main" val="31505499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CBC184-83ED-4E00-9C7E-BE4337578E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3B92D20-200D-4C44-826B-119E1EE3694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382DD7C6-9950-4F79-BDC2-C89C9E51FD4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Embedding and referencing move work to different operations</a:t>
            </a:r>
          </a:p>
        </p:txBody>
      </p:sp>
      <p:sp>
        <p:nvSpPr>
          <p:cNvPr id="4" name="">
            <a:extLst xmlns:a="http://schemas.openxmlformats.org/drawingml/2006/main">
              <a:ext uri="{FF2B5EF4-FFF2-40B4-BE49-F238E27FC236}">
                <a16:creationId xmlns:a16="http://schemas.microsoft.com/office/drawing/2014/main" id="{38082F34-20E2-40D5-A762-C72C6241555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89D116C-0502-4422-B979-F3B215F6228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25ED2549-BED1-4B0D-9B5B-85EB658A0BD1}"/>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Embed when the aggregate is bounded</a:t>
            </a:r>
          </a:p>
        </p:txBody>
      </p:sp>
      <p:sp>
        <p:nvSpPr>
          <p:cNvPr id="7" name="">
            <a:extLst xmlns:a="http://schemas.openxmlformats.org/drawingml/2006/main">
              <a:ext uri="{FF2B5EF4-FFF2-40B4-BE49-F238E27FC236}">
                <a16:creationId xmlns:a16="http://schemas.microsoft.com/office/drawing/2014/main" id="{0517A211-DCAE-4749-A62E-8157DFB0E49B}"/>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Reference when identity is independent</a:t>
            </a:r>
          </a:p>
        </p:txBody>
      </p:sp>
      <p:sp>
        <p:nvSpPr>
          <p:cNvPr id="8" name="">
            <a:extLst xmlns:a="http://schemas.openxmlformats.org/drawingml/2006/main">
              <a:ext uri="{FF2B5EF4-FFF2-40B4-BE49-F238E27FC236}">
                <a16:creationId xmlns:a16="http://schemas.microsoft.com/office/drawing/2014/main" id="{DF7545AE-BEC8-4E4A-8084-87F3E4A4BB63}"/>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C2539CBC-8E74-4CF3-825C-47D8EB5EF801}"/>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87C11114-D68C-41B0-9B87-6018355104AD}"/>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Related facts are normally read and changed together</a:t>
            </a:r>
          </a:p>
        </p:txBody>
      </p:sp>
      <p:sp>
        <p:nvSpPr>
          <p:cNvPr id="11" name="">
            <a:extLst xmlns:a="http://schemas.openxmlformats.org/drawingml/2006/main">
              <a:ext uri="{FF2B5EF4-FFF2-40B4-BE49-F238E27FC236}">
                <a16:creationId xmlns:a16="http://schemas.microsoft.com/office/drawing/2014/main" id="{77DC0EED-216B-40AF-8840-FA8378ACA90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3247D065-3405-404E-BED7-FEE6B4AB3D52}"/>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Child data belongs to one parent and stays reasonably small</a:t>
            </a:r>
          </a:p>
        </p:txBody>
      </p:sp>
      <p:sp>
        <p:nvSpPr>
          <p:cNvPr id="13" name="">
            <a:extLst xmlns:a="http://schemas.openxmlformats.org/drawingml/2006/main">
              <a:ext uri="{FF2B5EF4-FFF2-40B4-BE49-F238E27FC236}">
                <a16:creationId xmlns:a16="http://schemas.microsoft.com/office/drawing/2014/main" id="{385462E9-433F-4DA5-8B51-56CC4D71FFFB}"/>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00A796AB-B752-497F-BF63-01BA66A899A8}"/>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One-document atomicity and locality are valuable</a:t>
            </a:r>
          </a:p>
        </p:txBody>
      </p:sp>
      <p:sp>
        <p:nvSpPr>
          <p:cNvPr id="15" name="">
            <a:extLst xmlns:a="http://schemas.openxmlformats.org/drawingml/2006/main">
              <a:ext uri="{FF2B5EF4-FFF2-40B4-BE49-F238E27FC236}">
                <a16:creationId xmlns:a16="http://schemas.microsoft.com/office/drawing/2014/main" id="{A0101D76-06B3-479A-9FB9-C9CE498224C4}"/>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172EACCD-56C1-4148-AE86-9756CE55D03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Related data is shared, unbounded, or changes independently</a:t>
            </a:r>
          </a:p>
        </p:txBody>
      </p:sp>
      <p:sp>
        <p:nvSpPr>
          <p:cNvPr id="17" name="">
            <a:extLst xmlns:a="http://schemas.openxmlformats.org/drawingml/2006/main">
              <a:ext uri="{FF2B5EF4-FFF2-40B4-BE49-F238E27FC236}">
                <a16:creationId xmlns:a16="http://schemas.microsoft.com/office/drawing/2014/main" id="{78D28B42-F864-4C9C-8B45-C34E18D5C67D}"/>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CB9F7332-9FD5-4CFE-ACCF-B4BF858B7836}"/>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One source of truth must serve many parents</a:t>
            </a:r>
          </a:p>
        </p:txBody>
      </p:sp>
      <p:sp>
        <p:nvSpPr>
          <p:cNvPr id="19" name="">
            <a:extLst xmlns:a="http://schemas.openxmlformats.org/drawingml/2006/main">
              <a:ext uri="{FF2B5EF4-FFF2-40B4-BE49-F238E27FC236}">
                <a16:creationId xmlns:a16="http://schemas.microsoft.com/office/drawing/2014/main" id="{C572FA09-65A9-418D-864F-BB48EBC5333F}"/>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FD4653E-3B39-45E3-9379-1AA642616232}"/>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Separate lifecycle and targeted updates matter</a:t>
            </a:r>
          </a:p>
        </p:txBody>
      </p:sp>
    </p:spTree>
    <p:extLst>
      <p:ext uri="{BB962C8B-B14F-4D97-AF65-F5344CB8AC3E}">
        <p14:creationId xmlns:p14="http://schemas.microsoft.com/office/powerpoint/2010/main" val="1923535053"/>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532A1D5-09AD-4D2C-B474-55E72A455A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B84EF2B-BE55-416F-ABC9-075F4C25AFB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5DB98032-9547-48A1-9E83-BAEE46E9897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Unbounded arrays turn convenience into growth risk</a:t>
            </a:r>
          </a:p>
        </p:txBody>
      </p:sp>
      <p:sp>
        <p:nvSpPr>
          <p:cNvPr id="4" name="">
            <a:extLst xmlns:a="http://schemas.openxmlformats.org/drawingml/2006/main">
              <a:ext uri="{FF2B5EF4-FFF2-40B4-BE49-F238E27FC236}">
                <a16:creationId xmlns:a16="http://schemas.microsoft.com/office/drawing/2014/main" id="{A18D7525-385D-4655-82EF-A9D56187F2E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002D605-2C76-4B6D-B68D-5EA7C1D0D8B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primary-claim">
            <a:extLst xmlns:a="http://schemas.openxmlformats.org/drawingml/2006/main">
              <a:ext uri="{FF2B5EF4-FFF2-40B4-BE49-F238E27FC236}">
                <a16:creationId xmlns:a16="http://schemas.microsoft.com/office/drawing/2014/main" id="{CDBC965A-0677-4399-AA82-B2D55ACE271D}"/>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‘Read together’ is not enough; ask how many and for how long.</a:t>
            </a:r>
          </a:p>
        </p:txBody>
      </p:sp>
      <p:sp>
        <p:nvSpPr>
          <p:cNvPr id="7" name="">
            <a:extLst xmlns:a="http://schemas.openxmlformats.org/drawingml/2006/main">
              <a:ext uri="{FF2B5EF4-FFF2-40B4-BE49-F238E27FC236}">
                <a16:creationId xmlns:a16="http://schemas.microsoft.com/office/drawing/2014/main" id="{7510D32A-50FB-4C8D-8156-90A246DF5DE0}"/>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144361D7-3477-48FE-8B59-25FB26A94263}"/>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CARDINALITY</a:t>
            </a:r>
          </a:p>
        </p:txBody>
      </p:sp>
      <p:sp>
        <p:nvSpPr>
          <p:cNvPr id="9" name="">
            <a:extLst xmlns:a="http://schemas.openxmlformats.org/drawingml/2006/main">
              <a:ext uri="{FF2B5EF4-FFF2-40B4-BE49-F238E27FC236}">
                <a16:creationId xmlns:a16="http://schemas.microsoft.com/office/drawing/2014/main" id="{3049F9BB-FE2D-4CA8-A07C-5685E0C9EB5A}"/>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few, many, or effectively unbounded related items.</a:t>
            </a:r>
          </a:p>
        </p:txBody>
      </p:sp>
      <p:sp>
        <p:nvSpPr>
          <p:cNvPr id="10" name="">
            <a:extLst xmlns:a="http://schemas.openxmlformats.org/drawingml/2006/main">
              <a:ext uri="{FF2B5EF4-FFF2-40B4-BE49-F238E27FC236}">
                <a16:creationId xmlns:a16="http://schemas.microsoft.com/office/drawing/2014/main" id="{583440CA-D834-44FE-9101-878AD53B56A9}"/>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0DC614DA-EF20-4578-93B2-5F4919A9D402}"/>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GROWTH</a:t>
            </a:r>
          </a:p>
        </p:txBody>
      </p:sp>
      <p:sp>
        <p:nvSpPr>
          <p:cNvPr id="12" name="">
            <a:extLst xmlns:a="http://schemas.openxmlformats.org/drawingml/2006/main">
              <a:ext uri="{FF2B5EF4-FFF2-40B4-BE49-F238E27FC236}">
                <a16:creationId xmlns:a16="http://schemas.microsoft.com/office/drawing/2014/main" id="{8481EC43-E62A-4D4D-951D-B647E49C11B5}"/>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Arrival rate, retention, document limit, and index amplification.</a:t>
            </a:r>
          </a:p>
        </p:txBody>
      </p:sp>
      <p:sp>
        <p:nvSpPr>
          <p:cNvPr id="13" name="">
            <a:extLst xmlns:a="http://schemas.openxmlformats.org/drawingml/2006/main">
              <a:ext uri="{FF2B5EF4-FFF2-40B4-BE49-F238E27FC236}">
                <a16:creationId xmlns:a16="http://schemas.microsoft.com/office/drawing/2014/main" id="{70508B0B-AEF9-4357-8357-5287EEA7D73E}"/>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2098E322-D0CF-4F93-809F-E55A4C0A417F}"/>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LIFECYCLE</a:t>
            </a:r>
          </a:p>
        </p:txBody>
      </p:sp>
      <p:sp>
        <p:nvSpPr>
          <p:cNvPr id="15" name="">
            <a:extLst xmlns:a="http://schemas.openxmlformats.org/drawingml/2006/main">
              <a:ext uri="{FF2B5EF4-FFF2-40B4-BE49-F238E27FC236}">
                <a16:creationId xmlns:a16="http://schemas.microsoft.com/office/drawing/2014/main" id="{52929DE1-4C4A-4E52-B600-64513CF58886}"/>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Who archives, deletes, repairs, or reads historical items independently?</a:t>
            </a:r>
          </a:p>
        </p:txBody>
      </p:sp>
    </p:spTree>
    <p:extLst>
      <p:ext uri="{BB962C8B-B14F-4D97-AF65-F5344CB8AC3E}">
        <p14:creationId xmlns:p14="http://schemas.microsoft.com/office/powerpoint/2010/main" val="193634282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82EEB31-E1F1-4D75-94D1-E3F896E55E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0EA0427-039F-42EC-AE35-0831997AF82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C62C7891-9DAA-496D-976B-D86CA39E5EF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model decision follows five workload questions</a:t>
            </a:r>
          </a:p>
        </p:txBody>
      </p:sp>
      <p:sp>
        <p:nvSpPr>
          <p:cNvPr id="4" name="">
            <a:extLst xmlns:a="http://schemas.openxmlformats.org/drawingml/2006/main">
              <a:ext uri="{FF2B5EF4-FFF2-40B4-BE49-F238E27FC236}">
                <a16:creationId xmlns:a16="http://schemas.microsoft.com/office/drawing/2014/main" id="{8E4325E2-12AE-481C-A872-A8F9F0CE1BA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1BC8AEE-7220-4583-B8F4-26E5E2EDA4B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D6471987-6D23-4452-835F-B64D31C67CEE}"/>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C1EA6BC7-160C-4478-9E70-1706510A939D}"/>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2F44DD63-A466-4FE1-B31A-B13D4C967E50}"/>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B35F43A1-14F2-40AD-A219-2B31269064D2}"/>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Read</a:t>
            </a:r>
          </a:p>
        </p:txBody>
      </p:sp>
      <p:sp>
        <p:nvSpPr>
          <p:cNvPr id="10" name="">
            <a:extLst xmlns:a="http://schemas.openxmlformats.org/drawingml/2006/main">
              <a:ext uri="{FF2B5EF4-FFF2-40B4-BE49-F238E27FC236}">
                <a16:creationId xmlns:a16="http://schemas.microsoft.com/office/drawing/2014/main" id="{460987EB-84DE-4A6C-8B15-9E870FB42478}"/>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fields and relationships are retrieved together?</a:t>
            </a:r>
          </a:p>
        </p:txBody>
      </p:sp>
      <p:sp>
        <p:nvSpPr>
          <p:cNvPr id="11" name="">
            <a:extLst xmlns:a="http://schemas.openxmlformats.org/drawingml/2006/main">
              <a:ext uri="{FF2B5EF4-FFF2-40B4-BE49-F238E27FC236}">
                <a16:creationId xmlns:a16="http://schemas.microsoft.com/office/drawing/2014/main" id="{D71F575A-276C-4A2C-8F9D-E1D4D8E39BEF}"/>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2" name="">
            <a:extLst xmlns:a="http://schemas.openxmlformats.org/drawingml/2006/main">
              <a:ext uri="{FF2B5EF4-FFF2-40B4-BE49-F238E27FC236}">
                <a16:creationId xmlns:a16="http://schemas.microsoft.com/office/drawing/2014/main" id="{FB997425-F450-4566-9DBB-530A615B567C}"/>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32F2B0A8-6D3B-4BE9-A722-96CE6CC51279}"/>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Write</a:t>
            </a:r>
          </a:p>
        </p:txBody>
      </p:sp>
      <p:sp>
        <p:nvSpPr>
          <p:cNvPr id="14" name="">
            <a:extLst xmlns:a="http://schemas.openxmlformats.org/drawingml/2006/main">
              <a:ext uri="{FF2B5EF4-FFF2-40B4-BE49-F238E27FC236}">
                <a16:creationId xmlns:a16="http://schemas.microsoft.com/office/drawing/2014/main" id="{61AF0971-EF08-4AC4-847F-8A5DBCD990D5}"/>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facts change together and how often?</a:t>
            </a:r>
          </a:p>
        </p:txBody>
      </p:sp>
      <p:sp>
        <p:nvSpPr>
          <p:cNvPr id="15" name="">
            <a:extLst xmlns:a="http://schemas.openxmlformats.org/drawingml/2006/main">
              <a:ext uri="{FF2B5EF4-FFF2-40B4-BE49-F238E27FC236}">
                <a16:creationId xmlns:a16="http://schemas.microsoft.com/office/drawing/2014/main" id="{D40D9160-E8BA-4496-851C-A0172A111A33}"/>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6" name="">
            <a:extLst xmlns:a="http://schemas.openxmlformats.org/drawingml/2006/main">
              <a:ext uri="{FF2B5EF4-FFF2-40B4-BE49-F238E27FC236}">
                <a16:creationId xmlns:a16="http://schemas.microsoft.com/office/drawing/2014/main" id="{BCDF49EC-795F-4104-8316-052961A333B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B8827F24-1B9B-4546-A472-301C271E4A0D}"/>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Own</a:t>
            </a:r>
          </a:p>
        </p:txBody>
      </p:sp>
      <p:sp>
        <p:nvSpPr>
          <p:cNvPr id="18" name="">
            <a:extLst xmlns:a="http://schemas.openxmlformats.org/drawingml/2006/main">
              <a:ext uri="{FF2B5EF4-FFF2-40B4-BE49-F238E27FC236}">
                <a16:creationId xmlns:a16="http://schemas.microsoft.com/office/drawing/2014/main" id="{9563C8A2-936B-4778-8128-8AE31057504F}"/>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Where is the authoritative identity or snapshot meaning?</a:t>
            </a:r>
          </a:p>
        </p:txBody>
      </p:sp>
      <p:sp>
        <p:nvSpPr>
          <p:cNvPr id="19" name="">
            <a:extLst xmlns:a="http://schemas.openxmlformats.org/drawingml/2006/main">
              <a:ext uri="{FF2B5EF4-FFF2-40B4-BE49-F238E27FC236}">
                <a16:creationId xmlns:a16="http://schemas.microsoft.com/office/drawing/2014/main" id="{5BBFCDFF-376D-4794-AA68-34B00CC46F13}"/>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0" name="">
            <a:extLst xmlns:a="http://schemas.openxmlformats.org/drawingml/2006/main">
              <a:ext uri="{FF2B5EF4-FFF2-40B4-BE49-F238E27FC236}">
                <a16:creationId xmlns:a16="http://schemas.microsoft.com/office/drawing/2014/main" id="{D4387DD8-C769-420A-8E7D-EE8A7E7C3255}"/>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CC7E31E7-B4DD-42B5-A1D7-E9F75BAF0CA1}"/>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Bound</a:t>
            </a:r>
          </a:p>
        </p:txBody>
      </p:sp>
      <p:sp>
        <p:nvSpPr>
          <p:cNvPr id="22" name="">
            <a:extLst xmlns:a="http://schemas.openxmlformats.org/drawingml/2006/main">
              <a:ext uri="{FF2B5EF4-FFF2-40B4-BE49-F238E27FC236}">
                <a16:creationId xmlns:a16="http://schemas.microsoft.com/office/drawing/2014/main" id="{24089571-A8EA-42F2-AE89-BCCB52E08E9D}"/>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How many related items can exist over time?</a:t>
            </a:r>
          </a:p>
        </p:txBody>
      </p:sp>
      <p:sp>
        <p:nvSpPr>
          <p:cNvPr id="23" name="">
            <a:extLst xmlns:a="http://schemas.openxmlformats.org/drawingml/2006/main">
              <a:ext uri="{FF2B5EF4-FFF2-40B4-BE49-F238E27FC236}">
                <a16:creationId xmlns:a16="http://schemas.microsoft.com/office/drawing/2014/main" id="{1FB75229-1834-4B33-A161-890C7196BEC4}"/>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4" name="">
            <a:extLst xmlns:a="http://schemas.openxmlformats.org/drawingml/2006/main">
              <a:ext uri="{FF2B5EF4-FFF2-40B4-BE49-F238E27FC236}">
                <a16:creationId xmlns:a16="http://schemas.microsoft.com/office/drawing/2014/main" id="{98A4495D-52CA-4805-B7EC-39BA0A602124}"/>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1B201577-A039-4699-913B-CBC7DDC21C7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6" name="">
            <a:extLst xmlns:a="http://schemas.openxmlformats.org/drawingml/2006/main">
              <a:ext uri="{FF2B5EF4-FFF2-40B4-BE49-F238E27FC236}">
                <a16:creationId xmlns:a16="http://schemas.microsoft.com/office/drawing/2014/main" id="{36917C3A-6FE7-4AFE-A39C-2501329948FB}"/>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query and update prove the design serves the workload?</a:t>
            </a:r>
          </a:p>
        </p:txBody>
      </p:sp>
      <p:sp>
        <p:nvSpPr>
          <p:cNvPr id="27" name="">
            <a:extLst xmlns:a="http://schemas.openxmlformats.org/drawingml/2006/main">
              <a:ext uri="{FF2B5EF4-FFF2-40B4-BE49-F238E27FC236}">
                <a16:creationId xmlns:a16="http://schemas.microsoft.com/office/drawing/2014/main" id="{24134902-39F2-4DFF-B18F-2CF389DA1D16}"/>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Write the questions before drawing the final document.</a:t>
            </a:r>
          </a:p>
        </p:txBody>
      </p:sp>
    </p:spTree>
    <p:extLst>
      <p:ext uri="{BB962C8B-B14F-4D97-AF65-F5344CB8AC3E}">
        <p14:creationId xmlns:p14="http://schemas.microsoft.com/office/powerpoint/2010/main" val="571797831"/>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0D7612B-4F5D-441D-B0D0-8D2110AB1D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BAAF511-B78D-44AA-B815-6DB286ECE33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77654B43-83BD-43CC-9437-E9E98FBDC50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Live demonstration and individual practice stay distinct</a:t>
            </a:r>
          </a:p>
        </p:txBody>
      </p:sp>
      <p:sp>
        <p:nvSpPr>
          <p:cNvPr id="4" name="">
            <a:extLst xmlns:a="http://schemas.openxmlformats.org/drawingml/2006/main">
              <a:ext uri="{FF2B5EF4-FFF2-40B4-BE49-F238E27FC236}">
                <a16:creationId xmlns:a16="http://schemas.microsoft.com/office/drawing/2014/main" id="{656B0252-629C-4C72-98D0-C0158A35ED7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9A2A2B4-F2F5-4AF8-A766-60A3E131E2A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E0AA30F0-A233-433E-8377-2A438AAD0E19}"/>
              </a:ext>
            </a:extLst>
          </p:cNvPr>
          <p:cNvSpPr>
            <a:spLocks xmlns:a="http://schemas.openxmlformats.org/drawingml/2006/main" noGrp="1"/>
          </p:cNvSpPr>
          <p:nvPr/>
        </p:nvSpPr>
        <p:spPr>
          <a:xfrm xmlns:a="http://schemas.openxmlformats.org/drawingml/2006/main">
            <a:off x="685800" y="1714500"/>
            <a:ext cx="1905000" cy="5143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7" name="">
            <a:extLst xmlns:a="http://schemas.openxmlformats.org/drawingml/2006/main">
              <a:ext uri="{FF2B5EF4-FFF2-40B4-BE49-F238E27FC236}">
                <a16:creationId xmlns:a16="http://schemas.microsoft.com/office/drawing/2014/main" id="{BD159CBB-C144-40AF-A614-0E567E43C3F3}"/>
              </a:ext>
            </a:extLst>
          </p:cNvPr>
          <p:cNvSpPr>
            <a:spLocks xmlns:a="http://schemas.openxmlformats.org/drawingml/2006/main" noGrp="1"/>
          </p:cNvSpPr>
          <p:nvPr/>
        </p:nvSpPr>
        <p:spPr>
          <a:xfrm xmlns:a="http://schemas.openxmlformats.org/drawingml/2006/main">
            <a:off x="762000" y="18097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Role</a:t>
            </a:r>
          </a:p>
        </p:txBody>
      </p:sp>
      <p:sp>
        <p:nvSpPr>
          <p:cNvPr id="8" name="">
            <a:extLst xmlns:a="http://schemas.openxmlformats.org/drawingml/2006/main">
              <a:ext uri="{FF2B5EF4-FFF2-40B4-BE49-F238E27FC236}">
                <a16:creationId xmlns:a16="http://schemas.microsoft.com/office/drawing/2014/main" id="{5762A14D-EB5E-4BA4-86D4-18E83B382BD1}"/>
              </a:ext>
            </a:extLst>
          </p:cNvPr>
          <p:cNvSpPr>
            <a:spLocks xmlns:a="http://schemas.openxmlformats.org/drawingml/2006/main" noGrp="1"/>
          </p:cNvSpPr>
          <p:nvPr/>
        </p:nvSpPr>
        <p:spPr>
          <a:xfrm xmlns:a="http://schemas.openxmlformats.org/drawingml/2006/main">
            <a:off x="2590800" y="1714500"/>
            <a:ext cx="3333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3FA0640-38AE-4CDD-912B-CADB83E035A4}"/>
              </a:ext>
            </a:extLst>
          </p:cNvPr>
          <p:cNvSpPr>
            <a:spLocks xmlns:a="http://schemas.openxmlformats.org/drawingml/2006/main" noGrp="1"/>
          </p:cNvSpPr>
          <p:nvPr/>
        </p:nvSpPr>
        <p:spPr>
          <a:xfrm xmlns:a="http://schemas.openxmlformats.org/drawingml/2006/main">
            <a:off x="2667000" y="18097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MongoDB University activity</a:t>
            </a:r>
          </a:p>
        </p:txBody>
      </p:sp>
      <p:sp>
        <p:nvSpPr>
          <p:cNvPr id="10" name="">
            <a:extLst xmlns:a="http://schemas.openxmlformats.org/drawingml/2006/main">
              <a:ext uri="{FF2B5EF4-FFF2-40B4-BE49-F238E27FC236}">
                <a16:creationId xmlns:a16="http://schemas.microsoft.com/office/drawing/2014/main" id="{711605EA-CE39-4CB0-82B2-388573C6DE40}"/>
              </a:ext>
            </a:extLst>
          </p:cNvPr>
          <p:cNvSpPr>
            <a:spLocks xmlns:a="http://schemas.openxmlformats.org/drawingml/2006/main" noGrp="1"/>
          </p:cNvSpPr>
          <p:nvPr/>
        </p:nvSpPr>
        <p:spPr>
          <a:xfrm xmlns:a="http://schemas.openxmlformats.org/drawingml/2006/main">
            <a:off x="5924550" y="1714500"/>
            <a:ext cx="3333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61294A6F-B25E-4FE2-A072-6F412BFAD573}"/>
              </a:ext>
            </a:extLst>
          </p:cNvPr>
          <p:cNvSpPr>
            <a:spLocks xmlns:a="http://schemas.openxmlformats.org/drawingml/2006/main" noGrp="1"/>
          </p:cNvSpPr>
          <p:nvPr/>
        </p:nvSpPr>
        <p:spPr>
          <a:xfrm xmlns:a="http://schemas.openxmlformats.org/drawingml/2006/main">
            <a:off x="6000750" y="18097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Course purpose</a:t>
            </a:r>
          </a:p>
        </p:txBody>
      </p:sp>
      <p:sp>
        <p:nvSpPr>
          <p:cNvPr id="12" name="">
            <a:extLst xmlns:a="http://schemas.openxmlformats.org/drawingml/2006/main">
              <a:ext uri="{FF2B5EF4-FFF2-40B4-BE49-F238E27FC236}">
                <a16:creationId xmlns:a16="http://schemas.microsoft.com/office/drawing/2014/main" id="{E5B3696F-17DD-46D0-95D2-66C259E3E676}"/>
              </a:ext>
            </a:extLst>
          </p:cNvPr>
          <p:cNvSpPr>
            <a:spLocks xmlns:a="http://schemas.openxmlformats.org/drawingml/2006/main" noGrp="1"/>
          </p:cNvSpPr>
          <p:nvPr/>
        </p:nvSpPr>
        <p:spPr>
          <a:xfrm xmlns:a="http://schemas.openxmlformats.org/drawingml/2006/main">
            <a:off x="9258300" y="1714500"/>
            <a:ext cx="2247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5E691FA-D709-4D3D-911F-D652B53B68CC}"/>
              </a:ext>
            </a:extLst>
          </p:cNvPr>
          <p:cNvSpPr>
            <a:spLocks xmlns:a="http://schemas.openxmlformats.org/drawingml/2006/main" noGrp="1"/>
          </p:cNvSpPr>
          <p:nvPr/>
        </p:nvSpPr>
        <p:spPr>
          <a:xfrm xmlns:a="http://schemas.openxmlformats.org/drawingml/2006/main">
            <a:off x="9334500" y="1809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Evidence</a:t>
            </a:r>
          </a:p>
        </p:txBody>
      </p:sp>
      <p:sp>
        <p:nvSpPr>
          <p:cNvPr id="14" name="">
            <a:extLst xmlns:a="http://schemas.openxmlformats.org/drawingml/2006/main">
              <a:ext uri="{FF2B5EF4-FFF2-40B4-BE49-F238E27FC236}">
                <a16:creationId xmlns:a16="http://schemas.microsoft.com/office/drawing/2014/main" id="{932171A3-DF33-49F2-A22A-6859C5E45ED9}"/>
              </a:ext>
            </a:extLst>
          </p:cNvPr>
          <p:cNvSpPr>
            <a:spLocks xmlns:a="http://schemas.openxmlformats.org/drawingml/2006/main" noGrp="1"/>
          </p:cNvSpPr>
          <p:nvPr/>
        </p:nvSpPr>
        <p:spPr>
          <a:xfrm xmlns:a="http://schemas.openxmlformats.org/drawingml/2006/main">
            <a:off x="685800" y="2228850"/>
            <a:ext cx="19050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2DC40BA8-40B5-49A0-A09F-1B4FFDD0DCD4}"/>
              </a:ext>
            </a:extLst>
          </p:cNvPr>
          <p:cNvSpPr>
            <a:spLocks xmlns:a="http://schemas.openxmlformats.org/drawingml/2006/main" noGrp="1"/>
          </p:cNvSpPr>
          <p:nvPr/>
        </p:nvSpPr>
        <p:spPr>
          <a:xfrm xmlns:a="http://schemas.openxmlformats.org/drawingml/2006/main">
            <a:off x="762000" y="2305050"/>
            <a:ext cx="1752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Instructor live</a:t>
            </a:r>
          </a:p>
        </p:txBody>
      </p:sp>
      <p:sp>
        <p:nvSpPr>
          <p:cNvPr id="16" name="">
            <a:extLst xmlns:a="http://schemas.openxmlformats.org/drawingml/2006/main">
              <a:ext uri="{FF2B5EF4-FFF2-40B4-BE49-F238E27FC236}">
                <a16:creationId xmlns:a16="http://schemas.microsoft.com/office/drawing/2014/main" id="{388C8B7F-25CB-4667-929D-972EDD51F9F3}"/>
              </a:ext>
            </a:extLst>
          </p:cNvPr>
          <p:cNvSpPr>
            <a:spLocks xmlns:a="http://schemas.openxmlformats.org/drawingml/2006/main" noGrp="1"/>
          </p:cNvSpPr>
          <p:nvPr/>
        </p:nvSpPr>
        <p:spPr>
          <a:xfrm xmlns:a="http://schemas.openxmlformats.org/drawingml/2006/main">
            <a:off x="2590800" y="2228850"/>
            <a:ext cx="3333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75DFA74E-EF77-4E8C-BAFD-2F075385DD89}"/>
              </a:ext>
            </a:extLst>
          </p:cNvPr>
          <p:cNvSpPr>
            <a:spLocks xmlns:a="http://schemas.openxmlformats.org/drawingml/2006/main" noGrp="1"/>
          </p:cNvSpPr>
          <p:nvPr/>
        </p:nvSpPr>
        <p:spPr>
          <a:xfrm xmlns:a="http://schemas.openxmlformats.org/drawingml/2006/main">
            <a:off x="2667000" y="2305050"/>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Modeling Data Relationships</a:t>
            </a:r>
          </a:p>
        </p:txBody>
      </p:sp>
      <p:sp>
        <p:nvSpPr>
          <p:cNvPr id="18" name="">
            <a:extLst xmlns:a="http://schemas.openxmlformats.org/drawingml/2006/main">
              <a:ext uri="{FF2B5EF4-FFF2-40B4-BE49-F238E27FC236}">
                <a16:creationId xmlns:a16="http://schemas.microsoft.com/office/drawing/2014/main" id="{A1920E0E-2DC1-41D6-BD03-EC20B2285DAC}"/>
              </a:ext>
            </a:extLst>
          </p:cNvPr>
          <p:cNvSpPr>
            <a:spLocks xmlns:a="http://schemas.openxmlformats.org/drawingml/2006/main" noGrp="1"/>
          </p:cNvSpPr>
          <p:nvPr/>
        </p:nvSpPr>
        <p:spPr>
          <a:xfrm xmlns:a="http://schemas.openxmlformats.org/drawingml/2006/main">
            <a:off x="5924550" y="2228850"/>
            <a:ext cx="3333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504D6E22-EAC2-4F07-AB0D-1369FF3F7DFA}"/>
              </a:ext>
            </a:extLst>
          </p:cNvPr>
          <p:cNvSpPr>
            <a:spLocks xmlns:a="http://schemas.openxmlformats.org/drawingml/2006/main" noGrp="1"/>
          </p:cNvSpPr>
          <p:nvPr/>
        </p:nvSpPr>
        <p:spPr>
          <a:xfrm xmlns:a="http://schemas.openxmlformats.org/drawingml/2006/main">
            <a:off x="6000750" y="2305050"/>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show one embedded and one referenced example</a:t>
            </a:r>
          </a:p>
        </p:txBody>
      </p:sp>
      <p:sp>
        <p:nvSpPr>
          <p:cNvPr id="20" name="">
            <a:extLst xmlns:a="http://schemas.openxmlformats.org/drawingml/2006/main">
              <a:ext uri="{FF2B5EF4-FFF2-40B4-BE49-F238E27FC236}">
                <a16:creationId xmlns:a16="http://schemas.microsoft.com/office/drawing/2014/main" id="{F3EE9A79-6D9C-4295-9107-80673EF9A6EC}"/>
              </a:ext>
            </a:extLst>
          </p:cNvPr>
          <p:cNvSpPr>
            <a:spLocks xmlns:a="http://schemas.openxmlformats.org/drawingml/2006/main" noGrp="1"/>
          </p:cNvSpPr>
          <p:nvPr/>
        </p:nvSpPr>
        <p:spPr>
          <a:xfrm xmlns:a="http://schemas.openxmlformats.org/drawingml/2006/main">
            <a:off x="9258300" y="2228850"/>
            <a:ext cx="22479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2BF42532-15C9-4492-945F-DB9281CC9E6D}"/>
              </a:ext>
            </a:extLst>
          </p:cNvPr>
          <p:cNvSpPr>
            <a:spLocks xmlns:a="http://schemas.openxmlformats.org/drawingml/2006/main" noGrp="1"/>
          </p:cNvSpPr>
          <p:nvPr/>
        </p:nvSpPr>
        <p:spPr>
          <a:xfrm xmlns:a="http://schemas.openxmlformats.org/drawingml/2006/main">
            <a:off x="9334500" y="230505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whole-class reasoning</a:t>
            </a:r>
          </a:p>
        </p:txBody>
      </p:sp>
      <p:sp>
        <p:nvSpPr>
          <p:cNvPr id="22" name="">
            <a:extLst xmlns:a="http://schemas.openxmlformats.org/drawingml/2006/main">
              <a:ext uri="{FF2B5EF4-FFF2-40B4-BE49-F238E27FC236}">
                <a16:creationId xmlns:a16="http://schemas.microsoft.com/office/drawing/2014/main" id="{E2585AD1-F428-410D-881B-57F660F66EBC}"/>
              </a:ext>
            </a:extLst>
          </p:cNvPr>
          <p:cNvSpPr>
            <a:spLocks xmlns:a="http://schemas.openxmlformats.org/drawingml/2006/main" noGrp="1"/>
          </p:cNvSpPr>
          <p:nvPr/>
        </p:nvSpPr>
        <p:spPr>
          <a:xfrm xmlns:a="http://schemas.openxmlformats.org/drawingml/2006/main">
            <a:off x="685800" y="3067050"/>
            <a:ext cx="19050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40E8D3D5-0B9C-44F7-AB93-69D71BA42E96}"/>
              </a:ext>
            </a:extLst>
          </p:cNvPr>
          <p:cNvSpPr>
            <a:spLocks xmlns:a="http://schemas.openxmlformats.org/drawingml/2006/main" noGrp="1"/>
          </p:cNvSpPr>
          <p:nvPr/>
        </p:nvSpPr>
        <p:spPr>
          <a:xfrm xmlns:a="http://schemas.openxmlformats.org/drawingml/2006/main">
            <a:off x="762000" y="3143250"/>
            <a:ext cx="1752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Student individual</a:t>
            </a:r>
          </a:p>
        </p:txBody>
      </p:sp>
      <p:sp>
        <p:nvSpPr>
          <p:cNvPr id="24" name="">
            <a:extLst xmlns:a="http://schemas.openxmlformats.org/drawingml/2006/main">
              <a:ext uri="{FF2B5EF4-FFF2-40B4-BE49-F238E27FC236}">
                <a16:creationId xmlns:a16="http://schemas.microsoft.com/office/drawing/2014/main" id="{4BEC9018-7061-4700-A682-2EF9CE027868}"/>
              </a:ext>
            </a:extLst>
          </p:cNvPr>
          <p:cNvSpPr>
            <a:spLocks xmlns:a="http://schemas.openxmlformats.org/drawingml/2006/main" noGrp="1"/>
          </p:cNvSpPr>
          <p:nvPr/>
        </p:nvSpPr>
        <p:spPr>
          <a:xfrm xmlns:a="http://schemas.openxmlformats.org/drawingml/2006/main">
            <a:off x="2590800" y="3067050"/>
            <a:ext cx="3333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70722E24-BEEF-4AF3-9749-5445D455E20B}"/>
              </a:ext>
            </a:extLst>
          </p:cNvPr>
          <p:cNvSpPr>
            <a:spLocks xmlns:a="http://schemas.openxmlformats.org/drawingml/2006/main" noGrp="1"/>
          </p:cNvSpPr>
          <p:nvPr/>
        </p:nvSpPr>
        <p:spPr>
          <a:xfrm xmlns:a="http://schemas.openxmlformats.org/drawingml/2006/main">
            <a:off x="2667000" y="3143250"/>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Relational (SQL) to Document Model</a:t>
            </a:r>
          </a:p>
        </p:txBody>
      </p:sp>
      <p:sp>
        <p:nvSpPr>
          <p:cNvPr id="26" name="">
            <a:extLst xmlns:a="http://schemas.openxmlformats.org/drawingml/2006/main">
              <a:ext uri="{FF2B5EF4-FFF2-40B4-BE49-F238E27FC236}">
                <a16:creationId xmlns:a16="http://schemas.microsoft.com/office/drawing/2014/main" id="{1476DB42-6428-4CB4-B66B-62A08E32DBB4}"/>
              </a:ext>
            </a:extLst>
          </p:cNvPr>
          <p:cNvSpPr>
            <a:spLocks xmlns:a="http://schemas.openxmlformats.org/drawingml/2006/main" noGrp="1"/>
          </p:cNvSpPr>
          <p:nvPr/>
        </p:nvSpPr>
        <p:spPr>
          <a:xfrm xmlns:a="http://schemas.openxmlformats.org/drawingml/2006/main">
            <a:off x="5924550" y="3067050"/>
            <a:ext cx="3333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4F1D6FFA-4BC3-4856-B11E-78EA02BB003C}"/>
              </a:ext>
            </a:extLst>
          </p:cNvPr>
          <p:cNvSpPr>
            <a:spLocks xmlns:a="http://schemas.openxmlformats.org/drawingml/2006/main" noGrp="1"/>
          </p:cNvSpPr>
          <p:nvPr/>
        </p:nvSpPr>
        <p:spPr>
          <a:xfrm xmlns:a="http://schemas.openxmlformats.org/drawingml/2006/main">
            <a:off x="6000750" y="3143250"/>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translate a small relational design and compare shapes</a:t>
            </a:r>
          </a:p>
        </p:txBody>
      </p:sp>
      <p:sp>
        <p:nvSpPr>
          <p:cNvPr id="28" name="">
            <a:extLst xmlns:a="http://schemas.openxmlformats.org/drawingml/2006/main">
              <a:ext uri="{FF2B5EF4-FFF2-40B4-BE49-F238E27FC236}">
                <a16:creationId xmlns:a16="http://schemas.microsoft.com/office/drawing/2014/main" id="{3AD678DC-BF2C-4A7F-B7B0-032A78F449BD}"/>
              </a:ext>
            </a:extLst>
          </p:cNvPr>
          <p:cNvSpPr>
            <a:spLocks xmlns:a="http://schemas.openxmlformats.org/drawingml/2006/main" noGrp="1"/>
          </p:cNvSpPr>
          <p:nvPr/>
        </p:nvSpPr>
        <p:spPr>
          <a:xfrm xmlns:a="http://schemas.openxmlformats.org/drawingml/2006/main">
            <a:off x="9258300" y="3067050"/>
            <a:ext cx="22479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BF5F284B-5416-42E1-8B30-96B85F802E29}"/>
              </a:ext>
            </a:extLst>
          </p:cNvPr>
          <p:cNvSpPr>
            <a:spLocks xmlns:a="http://schemas.openxmlformats.org/drawingml/2006/main" noGrp="1"/>
          </p:cNvSpPr>
          <p:nvPr/>
        </p:nvSpPr>
        <p:spPr>
          <a:xfrm xmlns:a="http://schemas.openxmlformats.org/drawingml/2006/main">
            <a:off x="9334500" y="314325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completion plus model decision</a:t>
            </a:r>
          </a:p>
        </p:txBody>
      </p:sp>
      <p:sp>
        <p:nvSpPr>
          <p:cNvPr id="30" name="">
            <a:extLst xmlns:a="http://schemas.openxmlformats.org/drawingml/2006/main">
              <a:ext uri="{FF2B5EF4-FFF2-40B4-BE49-F238E27FC236}">
                <a16:creationId xmlns:a16="http://schemas.microsoft.com/office/drawing/2014/main" id="{D6B86871-DD30-4EC8-9AEE-B21BA257872D}"/>
              </a:ext>
            </a:extLst>
          </p:cNvPr>
          <p:cNvSpPr>
            <a:spLocks xmlns:a="http://schemas.openxmlformats.org/drawingml/2006/main" noGrp="1"/>
          </p:cNvSpPr>
          <p:nvPr/>
        </p:nvSpPr>
        <p:spPr>
          <a:xfrm xmlns:a="http://schemas.openxmlformats.org/drawingml/2006/main">
            <a:off x="685800" y="3905250"/>
            <a:ext cx="19050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5EDC976C-77C7-437B-A1E6-B560E87FFB44}"/>
              </a:ext>
            </a:extLst>
          </p:cNvPr>
          <p:cNvSpPr>
            <a:spLocks xmlns:a="http://schemas.openxmlformats.org/drawingml/2006/main" noGrp="1"/>
          </p:cNvSpPr>
          <p:nvPr/>
        </p:nvSpPr>
        <p:spPr>
          <a:xfrm xmlns:a="http://schemas.openxmlformats.org/drawingml/2006/main">
            <a:off x="762000" y="3981450"/>
            <a:ext cx="1752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Open fallback</a:t>
            </a:r>
          </a:p>
        </p:txBody>
      </p:sp>
      <p:sp>
        <p:nvSpPr>
          <p:cNvPr id="32" name="">
            <a:extLst xmlns:a="http://schemas.openxmlformats.org/drawingml/2006/main">
              <a:ext uri="{FF2B5EF4-FFF2-40B4-BE49-F238E27FC236}">
                <a16:creationId xmlns:a16="http://schemas.microsoft.com/office/drawing/2014/main" id="{25FC8C10-7320-4EFF-B73A-3414ED3B1A4F}"/>
              </a:ext>
            </a:extLst>
          </p:cNvPr>
          <p:cNvSpPr>
            <a:spLocks xmlns:a="http://schemas.openxmlformats.org/drawingml/2006/main" noGrp="1"/>
          </p:cNvSpPr>
          <p:nvPr/>
        </p:nvSpPr>
        <p:spPr>
          <a:xfrm xmlns:a="http://schemas.openxmlformats.org/drawingml/2006/main">
            <a:off x="2590800" y="3905250"/>
            <a:ext cx="3333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A5499F8D-CC0D-4C0B-8609-DD79774F9CB3}"/>
              </a:ext>
            </a:extLst>
          </p:cNvPr>
          <p:cNvSpPr>
            <a:spLocks xmlns:a="http://schemas.openxmlformats.org/drawingml/2006/main" noGrp="1"/>
          </p:cNvSpPr>
          <p:nvPr/>
        </p:nvSpPr>
        <p:spPr>
          <a:xfrm xmlns:a="http://schemas.openxmlformats.org/drawingml/2006/main">
            <a:off x="2667000" y="3981450"/>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course module + notebook fixture</a:t>
            </a:r>
          </a:p>
        </p:txBody>
      </p:sp>
      <p:sp>
        <p:nvSpPr>
          <p:cNvPr id="34" name="">
            <a:extLst xmlns:a="http://schemas.openxmlformats.org/drawingml/2006/main">
              <a:ext uri="{FF2B5EF4-FFF2-40B4-BE49-F238E27FC236}">
                <a16:creationId xmlns:a16="http://schemas.microsoft.com/office/drawing/2014/main" id="{4C48D773-19FD-448B-BA0C-93B26FE23106}"/>
              </a:ext>
            </a:extLst>
          </p:cNvPr>
          <p:cNvSpPr>
            <a:spLocks xmlns:a="http://schemas.openxmlformats.org/drawingml/2006/main" noGrp="1"/>
          </p:cNvSpPr>
          <p:nvPr/>
        </p:nvSpPr>
        <p:spPr>
          <a:xfrm xmlns:a="http://schemas.openxmlformats.org/drawingml/2006/main">
            <a:off x="5924550" y="3905250"/>
            <a:ext cx="3333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9568A279-F6A6-4B34-A07E-A5C39F9EEDCE}"/>
              </a:ext>
            </a:extLst>
          </p:cNvPr>
          <p:cNvSpPr>
            <a:spLocks xmlns:a="http://schemas.openxmlformats.org/drawingml/2006/main" noGrp="1"/>
          </p:cNvSpPr>
          <p:nvPr/>
        </p:nvSpPr>
        <p:spPr>
          <a:xfrm xmlns:a="http://schemas.openxmlformats.org/drawingml/2006/main">
            <a:off x="6000750" y="3981450"/>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preserve the same access-pattern reasoning</a:t>
            </a:r>
          </a:p>
        </p:txBody>
      </p:sp>
      <p:sp>
        <p:nvSpPr>
          <p:cNvPr id="36" name="">
            <a:extLst xmlns:a="http://schemas.openxmlformats.org/drawingml/2006/main">
              <a:ext uri="{FF2B5EF4-FFF2-40B4-BE49-F238E27FC236}">
                <a16:creationId xmlns:a16="http://schemas.microsoft.com/office/drawing/2014/main" id="{B6D887E6-2D35-44E5-9E31-2A8B41004121}"/>
              </a:ext>
            </a:extLst>
          </p:cNvPr>
          <p:cNvSpPr>
            <a:spLocks xmlns:a="http://schemas.openxmlformats.org/drawingml/2006/main" noGrp="1"/>
          </p:cNvSpPr>
          <p:nvPr/>
        </p:nvSpPr>
        <p:spPr>
          <a:xfrm xmlns:a="http://schemas.openxmlformats.org/drawingml/2006/main">
            <a:off x="9258300" y="3905250"/>
            <a:ext cx="22479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4C241E54-1E08-4692-BC79-3D9FC8C4E9C7}"/>
              </a:ext>
            </a:extLst>
          </p:cNvPr>
          <p:cNvSpPr>
            <a:spLocks xmlns:a="http://schemas.openxmlformats.org/drawingml/2006/main" noGrp="1"/>
          </p:cNvSpPr>
          <p:nvPr/>
        </p:nvSpPr>
        <p:spPr>
          <a:xfrm xmlns:a="http://schemas.openxmlformats.org/drawingml/2006/main">
            <a:off x="9334500" y="398145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course-authored response</a:t>
            </a:r>
          </a:p>
        </p:txBody>
      </p:sp>
    </p:spTree>
    <p:extLst>
      <p:ext uri="{BB962C8B-B14F-4D97-AF65-F5344CB8AC3E}">
        <p14:creationId xmlns:p14="http://schemas.microsoft.com/office/powerpoint/2010/main" val="1806186356"/>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8A7704-CED0-4167-8F02-B1DD6CE432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D2E5194-F8D6-4F72-885B-A5CB862A0E2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10  /  CST4714</a:t>
            </a:r>
          </a:p>
        </p:txBody>
      </p:sp>
      <p:sp>
        <p:nvSpPr>
          <p:cNvPr id="3" name="slide-title">
            <a:extLst xmlns:a="http://schemas.openxmlformats.org/drawingml/2006/main">
              <a:ext uri="{FF2B5EF4-FFF2-40B4-BE49-F238E27FC236}">
                <a16:creationId xmlns:a16="http://schemas.microsoft.com/office/drawing/2014/main" id="{F624C035-F5C6-48CC-9255-F9DF6AF4AF0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Defend one document boundary</a:t>
            </a:r>
          </a:p>
        </p:txBody>
      </p:sp>
      <p:sp>
        <p:nvSpPr>
          <p:cNvPr id="4" name="">
            <a:extLst xmlns:a="http://schemas.openxmlformats.org/drawingml/2006/main">
              <a:ext uri="{FF2B5EF4-FFF2-40B4-BE49-F238E27FC236}">
                <a16:creationId xmlns:a16="http://schemas.microsoft.com/office/drawing/2014/main" id="{76FE5F4F-B0C7-44C7-857D-974AC6F58D7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CD58C5B-4C31-4EC6-9D8D-402D175044A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2036FAE3-4B33-4711-8D8A-036D1D6CAB3D}"/>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Complete the distinct modeling activity, then justify embedding, referencing, or a hybrid for one relationship.</a:t>
            </a:r>
          </a:p>
        </p:txBody>
      </p:sp>
      <p:sp>
        <p:nvSpPr>
          <p:cNvPr id="7" name="">
            <a:extLst xmlns:a="http://schemas.openxmlformats.org/drawingml/2006/main">
              <a:ext uri="{FF2B5EF4-FFF2-40B4-BE49-F238E27FC236}">
                <a16:creationId xmlns:a16="http://schemas.microsoft.com/office/drawing/2014/main" id="{1DBD19CF-CDC4-41BB-94B4-8ED3622AED83}"/>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A1C6A335-8C3C-4E45-B155-CEB12EF38ED2}"/>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Complete Relational (SQL) to Document Model individually or use the open fallback.</a:t>
            </a:r>
          </a:p>
        </p:txBody>
      </p:sp>
      <p:sp>
        <p:nvSpPr>
          <p:cNvPr id="9" name="">
            <a:extLst xmlns:a="http://schemas.openxmlformats.org/drawingml/2006/main">
              <a:ext uri="{FF2B5EF4-FFF2-40B4-BE49-F238E27FC236}">
                <a16:creationId xmlns:a16="http://schemas.microsoft.com/office/drawing/2014/main" id="{0C1FB676-D7BC-4CB9-88C6-6AEA62938A73}"/>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846857BD-5BAE-4E1B-9A1E-4C31787332A3}"/>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Draw or write one candidate document shape for the assigned Metro Support access pattern.</a:t>
            </a:r>
          </a:p>
        </p:txBody>
      </p:sp>
      <p:sp>
        <p:nvSpPr>
          <p:cNvPr id="11" name="">
            <a:extLst xmlns:a="http://schemas.openxmlformats.org/drawingml/2006/main">
              <a:ext uri="{FF2B5EF4-FFF2-40B4-BE49-F238E27FC236}">
                <a16:creationId xmlns:a16="http://schemas.microsoft.com/office/drawing/2014/main" id="{E6025D9B-71E3-42D4-8AE1-45429DF917A4}"/>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65B6C67A-6C7A-403F-BCC4-A3600A66259D}"/>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Defend it with one read, one update, ownership, boundedness, and one tradeoff.</a:t>
            </a:r>
          </a:p>
        </p:txBody>
      </p:sp>
      <p:sp>
        <p:nvSpPr>
          <p:cNvPr id="13" name="">
            <a:extLst xmlns:a="http://schemas.openxmlformats.org/drawingml/2006/main">
              <a:ext uri="{FF2B5EF4-FFF2-40B4-BE49-F238E27FC236}">
                <a16:creationId xmlns:a16="http://schemas.microsoft.com/office/drawing/2014/main" id="{75C0D6A1-F445-45E4-BF16-05319F17E4C4}"/>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7A499D63-1744-48F9-ADD1-E1878E91E82A}"/>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model decision with activity evidence</a:t>
            </a:r>
          </a:p>
        </p:txBody>
      </p:sp>
    </p:spTree>
    <p:extLst>
      <p:ext uri="{BB962C8B-B14F-4D97-AF65-F5344CB8AC3E}">
        <p14:creationId xmlns:p14="http://schemas.microsoft.com/office/powerpoint/2010/main" val="1846400590"/>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4CDF49B-9919-4EE7-BB2D-418177457C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83BADFB0-DE8E-4F4F-8C3E-B12D4B7C66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C7E0284C-9969-4931-89A3-FEBC4F7C2937}"/>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8842"/>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MQL operates the document; access patterns justify its shape</a:t>
            </a:r>
          </a:p>
        </p:txBody>
      </p:sp>
      <p:sp>
        <p:nvSpPr>
          <p:cNvPr id="4" name="">
            <a:extLst xmlns:a="http://schemas.openxmlformats.org/drawingml/2006/main">
              <a:ext uri="{FF2B5EF4-FFF2-40B4-BE49-F238E27FC236}">
                <a16:creationId xmlns:a16="http://schemas.microsoft.com/office/drawing/2014/main" id="{D8474502-436C-47D5-A69E-F5065C526B51}"/>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D4ED8"/>
                </a:solidFill>
                <a:latin typeface="Helvetica Neue"/>
                <a:ea typeface="Helvetica Neue"/>
                <a:cs typeface="Helvetica Neue"/>
              </a:defRPr>
            </a:pPr>
            <a:r>
              <a:rPr sz="2550" b="1">
                <a:solidFill>
                  <a:srgbClr val="1D4ED8"/>
                </a:solidFill>
                <a:latin typeface="Helvetica Neue"/>
                <a:ea typeface="Helvetica Neue"/>
                <a:cs typeface="Helvetica Neue"/>
              </a:rPr>
              <a:t>Query nested data precisely, interpret write evidence, and choose boundaries from lifecycle rather than fashion.</a:t>
            </a:r>
          </a:p>
        </p:txBody>
      </p:sp>
      <p:sp>
        <p:nvSpPr>
          <p:cNvPr id="5" name="">
            <a:extLst xmlns:a="http://schemas.openxmlformats.org/drawingml/2006/main">
              <a:ext uri="{FF2B5EF4-FFF2-40B4-BE49-F238E27FC236}">
                <a16:creationId xmlns:a16="http://schemas.microsoft.com/office/drawing/2014/main" id="{63EFBE3E-8299-4D3F-829C-915303B77CA2}"/>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6" name="">
            <a:extLst xmlns:a="http://schemas.openxmlformats.org/drawingml/2006/main">
              <a:ext uri="{FF2B5EF4-FFF2-40B4-BE49-F238E27FC236}">
                <a16:creationId xmlns:a16="http://schemas.microsoft.com/office/drawing/2014/main" id="{A7AE83D1-BD02-42FD-93CC-FA17AB79D222}"/>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document identifiers should the filter return?</a:t>
            </a:r>
          </a:p>
        </p:txBody>
      </p:sp>
      <p:sp>
        <p:nvSpPr>
          <p:cNvPr id="7" name="">
            <a:extLst xmlns:a="http://schemas.openxmlformats.org/drawingml/2006/main">
              <a:ext uri="{FF2B5EF4-FFF2-40B4-BE49-F238E27FC236}">
                <a16:creationId xmlns:a16="http://schemas.microsoft.com/office/drawing/2014/main" id="{A6075A33-3F93-4B2C-94D8-68E7C41904BF}"/>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A2C81226-0208-4068-903B-CC7BA489AD57}"/>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do matched and modified counts prove?</a:t>
            </a:r>
          </a:p>
        </p:txBody>
      </p:sp>
      <p:sp>
        <p:nvSpPr>
          <p:cNvPr id="9" name="">
            <a:extLst xmlns:a="http://schemas.openxmlformats.org/drawingml/2006/main">
              <a:ext uri="{FF2B5EF4-FFF2-40B4-BE49-F238E27FC236}">
                <a16:creationId xmlns:a16="http://schemas.microsoft.com/office/drawing/2014/main" id="{7CF33986-FD2F-4687-ABA5-839A43EC87A8}"/>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1930775C-63EA-4CD7-93FF-FCEDEBE64222}"/>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read, update, and growth facts justify embedding or referencing?</a:t>
            </a:r>
          </a:p>
        </p:txBody>
      </p:sp>
      <p:sp>
        <p:nvSpPr>
          <p:cNvPr id="11" name="">
            <a:extLst xmlns:a="http://schemas.openxmlformats.org/drawingml/2006/main">
              <a:ext uri="{FF2B5EF4-FFF2-40B4-BE49-F238E27FC236}">
                <a16:creationId xmlns:a16="http://schemas.microsoft.com/office/drawing/2014/main" id="{0FA74C5D-A6FE-4BB0-8FDE-3BE519D1FF9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Tree>
    <p:extLst>
      <p:ext uri="{BB962C8B-B14F-4D97-AF65-F5344CB8AC3E}">
        <p14:creationId xmlns:p14="http://schemas.microsoft.com/office/powerpoint/2010/main" val="16468871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2026-08-09T04:11:15.4710000Z</dcterms:created>
  <dcterms:modified xsi:type="dcterms:W3CDTF">2026-08-09T04:11:15.4710000Z</dcterms:modified>
</coreProperties>
</file>