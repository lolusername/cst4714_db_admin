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f29b2b19b084df3" /><Relationship Type="http://schemas.openxmlformats.org/officeDocument/2006/relationships/extended-properties" Target="/docProps/app.xml" Id="R0534be0dbc0243db" /><Relationship Type="http://schemas.openxmlformats.org/officeDocument/2006/relationships/officeDocument" Target="/ppt/presentation.xml" Id="R53f20d88e8e64b4f" /></Relationships>
</file>

<file path=ppt/presentation.xml><?xml version="1.0" encoding="utf-8"?>
<p:presentation xmlns:p="http://schemas.openxmlformats.org/presentationml/2006/main">
  <p:sldMasterIdLst>
    <p:sldMasterId xmlns:r="http://schemas.openxmlformats.org/officeDocument/2006/relationships" id="2147483648" r:id="R87e93d3161974071"/>
  </p:sldMasterIdLst>
  <p:notesMasterIdLst>
    <p:notesMasterId xmlns:r="http://schemas.openxmlformats.org/officeDocument/2006/relationships" r:id="R253386dbbfc544cf"/>
  </p:notesMasterIdLst>
  <p:sldIdLst>
    <p:sldId xmlns:r="http://schemas.openxmlformats.org/officeDocument/2006/relationships" id="256" r:id="R6aae11af1cfc4765"/>
    <p:sldId xmlns:r="http://schemas.openxmlformats.org/officeDocument/2006/relationships" id="257" r:id="R300b0d91591f479c"/>
    <p:sldId xmlns:r="http://schemas.openxmlformats.org/officeDocument/2006/relationships" id="258" r:id="Refbfc2ae6a244e57"/>
    <p:sldId xmlns:r="http://schemas.openxmlformats.org/officeDocument/2006/relationships" id="259" r:id="R9bbe7557878b4a9c"/>
    <p:sldId xmlns:r="http://schemas.openxmlformats.org/officeDocument/2006/relationships" id="260" r:id="R8778e00ffe054b12"/>
    <p:sldId xmlns:r="http://schemas.openxmlformats.org/officeDocument/2006/relationships" id="261" r:id="R29081b577e424bd1"/>
    <p:sldId xmlns:r="http://schemas.openxmlformats.org/officeDocument/2006/relationships" id="262" r:id="R93f098502c004f4c"/>
    <p:sldId xmlns:r="http://schemas.openxmlformats.org/officeDocument/2006/relationships" id="263" r:id="R61fb8a2f02f141dc"/>
    <p:sldId xmlns:r="http://schemas.openxmlformats.org/officeDocument/2006/relationships" id="264" r:id="R379e82cde3bb4d8f"/>
    <p:sldId xmlns:r="http://schemas.openxmlformats.org/officeDocument/2006/relationships" id="265" r:id="R9dce8d5c51ca47e1"/>
    <p:sldId xmlns:r="http://schemas.openxmlformats.org/officeDocument/2006/relationships" id="266" r:id="R93a2f5576617481d"/>
    <p:sldId xmlns:r="http://schemas.openxmlformats.org/officeDocument/2006/relationships" id="267" r:id="Rf11d4e48c69f46d9"/>
    <p:sldId xmlns:r="http://schemas.openxmlformats.org/officeDocument/2006/relationships" id="268" r:id="R2913157c89024982"/>
    <p:sldId xmlns:r="http://schemas.openxmlformats.org/officeDocument/2006/relationships" id="269" r:id="Rdf5c8efec008443a"/>
    <p:sldId xmlns:r="http://schemas.openxmlformats.org/officeDocument/2006/relationships" id="270" r:id="R2c89ac39258e4fb1"/>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83685623c7a4d37" /><Relationship Type="http://schemas.openxmlformats.org/officeDocument/2006/relationships/slideMaster" Target="/ppt/slideMasters/slideMaster1.xml" Id="R87e93d3161974071" /><Relationship Type="http://schemas.openxmlformats.org/officeDocument/2006/relationships/notesMaster" Target="/ppt/notesMasters/notesMaster1.xml" Id="R253386dbbfc544cf" /><Relationship Type="http://schemas.openxmlformats.org/officeDocument/2006/relationships/presProps" Target="/ppt/presProps.xml" Id="Rd8396e00fcdd4063" /><Relationship Type="http://schemas.openxmlformats.org/officeDocument/2006/relationships/tableStyles" Target="/ppt/tableStyles.xml" Id="Re5519498526b4164" /><Relationship Type="http://schemas.openxmlformats.org/officeDocument/2006/relationships/slide" Target="/ppt/slides/slide1.xml" Id="R6aae11af1cfc4765" /><Relationship Type="http://schemas.openxmlformats.org/officeDocument/2006/relationships/slide" Target="/ppt/slides/slide2.xml" Id="R300b0d91591f479c" /><Relationship Type="http://schemas.openxmlformats.org/officeDocument/2006/relationships/slide" Target="/ppt/slides/slide3.xml" Id="Refbfc2ae6a244e57" /><Relationship Type="http://schemas.openxmlformats.org/officeDocument/2006/relationships/slide" Target="/ppt/slides/slide4.xml" Id="R9bbe7557878b4a9c" /><Relationship Type="http://schemas.openxmlformats.org/officeDocument/2006/relationships/slide" Target="/ppt/slides/slide5.xml" Id="R8778e00ffe054b12" /><Relationship Type="http://schemas.openxmlformats.org/officeDocument/2006/relationships/slide" Target="/ppt/slides/slide6.xml" Id="R29081b577e424bd1" /><Relationship Type="http://schemas.openxmlformats.org/officeDocument/2006/relationships/slide" Target="/ppt/slides/slide7.xml" Id="R93f098502c004f4c" /><Relationship Type="http://schemas.openxmlformats.org/officeDocument/2006/relationships/slide" Target="/ppt/slides/slide8.xml" Id="R61fb8a2f02f141dc" /><Relationship Type="http://schemas.openxmlformats.org/officeDocument/2006/relationships/slide" Target="/ppt/slides/slide9.xml" Id="R379e82cde3bb4d8f" /><Relationship Type="http://schemas.openxmlformats.org/officeDocument/2006/relationships/slide" Target="/ppt/slides/slide10.xml" Id="R9dce8d5c51ca47e1" /><Relationship Type="http://schemas.openxmlformats.org/officeDocument/2006/relationships/slide" Target="/ppt/slides/slide11.xml" Id="R93a2f5576617481d" /><Relationship Type="http://schemas.openxmlformats.org/officeDocument/2006/relationships/slide" Target="/ppt/slides/slide12.xml" Id="Rf11d4e48c69f46d9" /><Relationship Type="http://schemas.openxmlformats.org/officeDocument/2006/relationships/slide" Target="/ppt/slides/slide13.xml" Id="R2913157c89024982" /><Relationship Type="http://schemas.openxmlformats.org/officeDocument/2006/relationships/slide" Target="/ppt/slides/slide14.xml" Id="Rdf5c8efec008443a" /><Relationship Type="http://schemas.openxmlformats.org/officeDocument/2006/relationships/slide" Target="/ppt/slides/slide15.xml" Id="R2c89ac39258e4fb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fc8fb47d85c4b7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36552adda5e43af" /><Relationship Type="http://schemas.openxmlformats.org/officeDocument/2006/relationships/notesMaster" Target="/ppt/notesMasters/notesMaster1.xml" Id="R6873ebe392d240ce" /></Relationships>
</file>

<file path=ppt/notesSlides/_rels/notesSlide2.xml.rels>&#65279;<?xml version="1.0" encoding="utf-8"?><Relationships xmlns="http://schemas.openxmlformats.org/package/2006/relationships"><Relationship Type="http://schemas.openxmlformats.org/officeDocument/2006/relationships/slide" Target="/ppt/slides/slide2.xml" Id="Rdaef7a3e748244cc" /><Relationship Type="http://schemas.openxmlformats.org/officeDocument/2006/relationships/notesMaster" Target="/ppt/notesMasters/notesMaster1.xml" Id="Rb2ca70aabe654f17" /></Relationships>
</file>

<file path=ppt/notesSlides/_rels/notesSlide3.xml.rels>&#65279;<?xml version="1.0" encoding="utf-8"?><Relationships xmlns="http://schemas.openxmlformats.org/package/2006/relationships"><Relationship Type="http://schemas.openxmlformats.org/officeDocument/2006/relationships/slide" Target="/ppt/slides/slide3.xml" Id="Rc4d8a5ecc4bc445d" /><Relationship Type="http://schemas.openxmlformats.org/officeDocument/2006/relationships/notesMaster" Target="/ppt/notesMasters/notesMaster1.xml" Id="R97cf7d45a2344b8a" /></Relationships>
</file>

<file path=ppt/notesSlides/_rels/notesSlide4.xml.rels>&#65279;<?xml version="1.0" encoding="utf-8"?><Relationships xmlns="http://schemas.openxmlformats.org/package/2006/relationships"><Relationship Type="http://schemas.openxmlformats.org/officeDocument/2006/relationships/slide" Target="/ppt/slides/slide4.xml" Id="R88943ca1fb974504" /><Relationship Type="http://schemas.openxmlformats.org/officeDocument/2006/relationships/notesMaster" Target="/ppt/notesMasters/notesMaster1.xml" Id="Rbae282b1b5804593" /></Relationships>
</file>

<file path=ppt/notesSlides/_rels/notesSlide5.xml.rels>&#65279;<?xml version="1.0" encoding="utf-8"?><Relationships xmlns="http://schemas.openxmlformats.org/package/2006/relationships"><Relationship Type="http://schemas.openxmlformats.org/officeDocument/2006/relationships/slide" Target="/ppt/slides/slide5.xml" Id="Rb594ba40d0e54585" /><Relationship Type="http://schemas.openxmlformats.org/officeDocument/2006/relationships/notesMaster" Target="/ppt/notesMasters/notesMaster1.xml" Id="R235a4f69209244fe" /></Relationships>
</file>

<file path=ppt/notesSlides/_rels/notesSlide6.xml.rels>&#65279;<?xml version="1.0" encoding="utf-8"?><Relationships xmlns="http://schemas.openxmlformats.org/package/2006/relationships"><Relationship Type="http://schemas.openxmlformats.org/officeDocument/2006/relationships/slide" Target="/ppt/slides/slide6.xml" Id="Rf7ce337bb10e4563" /><Relationship Type="http://schemas.openxmlformats.org/officeDocument/2006/relationships/notesMaster" Target="/ppt/notesMasters/notesMaster1.xml" Id="R4714cbcf2b844d06" /></Relationships>
</file>

<file path=ppt/notesSlides/_rels/notesSlide7.xml.rels>&#65279;<?xml version="1.0" encoding="utf-8"?><Relationships xmlns="http://schemas.openxmlformats.org/package/2006/relationships"><Relationship Type="http://schemas.openxmlformats.org/officeDocument/2006/relationships/slide" Target="/ppt/slides/slide7.xml" Id="R2c817ec78b8845ea" /><Relationship Type="http://schemas.openxmlformats.org/officeDocument/2006/relationships/notesMaster" Target="/ppt/notesMasters/notesMaster1.xml" Id="R0de794c4e0fe4ecb" /></Relationships>
</file>

<file path=ppt/notesSlides/_rels/notesSlide8.xml.rels>&#65279;<?xml version="1.0" encoding="utf-8"?><Relationships xmlns="http://schemas.openxmlformats.org/package/2006/relationships"><Relationship Type="http://schemas.openxmlformats.org/officeDocument/2006/relationships/slide" Target="/ppt/slides/slide8.xml" Id="R2e2f03d55f33426c" /><Relationship Type="http://schemas.openxmlformats.org/officeDocument/2006/relationships/notesMaster" Target="/ppt/notesMasters/notesMaster1.xml" Id="Rba604a96293145ff" /></Relationships>
</file>

<file path=ppt/notesSlides/_rels/notesSlide9.xml.rels>&#65279;<?xml version="1.0" encoding="utf-8"?><Relationships xmlns="http://schemas.openxmlformats.org/package/2006/relationships"><Relationship Type="http://schemas.openxmlformats.org/officeDocument/2006/relationships/slide" Target="/ppt/slides/slide9.xml" Id="R4bfe1e4ceb8f452c" /><Relationship Type="http://schemas.openxmlformats.org/officeDocument/2006/relationships/notesMaster" Target="/ppt/notesMasters/notesMaster1.xml" Id="Ra1412a19c8804b7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01cbb9ef4c0474b" /><Relationship Type="http://schemas.openxmlformats.org/officeDocument/2006/relationships/notesMaster" Target="/ppt/notesMasters/notesMaster1.xml" Id="R0b352a6b87564ee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0bfda2e0ae84298" /><Relationship Type="http://schemas.openxmlformats.org/officeDocument/2006/relationships/notesMaster" Target="/ppt/notesMasters/notesMaster1.xml" Id="R514d21d3f2e7452e"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01f4400ca5d4cc3" /><Relationship Type="http://schemas.openxmlformats.org/officeDocument/2006/relationships/notesMaster" Target="/ppt/notesMasters/notesMaster1.xml" Id="Ra2ed40e1f9474adf"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ef28fb5484134e7f" /><Relationship Type="http://schemas.openxmlformats.org/officeDocument/2006/relationships/notesMaster" Target="/ppt/notesMasters/notesMaster1.xml" Id="R8891ebefbd0d4402"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26188a4049a94157" /><Relationship Type="http://schemas.openxmlformats.org/officeDocument/2006/relationships/notesMaster" Target="/ppt/notesMasters/notesMaster1.xml" Id="Reb6e8ee47a3a4d77"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e7dadd6ca9164f94" /><Relationship Type="http://schemas.openxmlformats.org/officeDocument/2006/relationships/notesMaster" Target="/ppt/notesMasters/notesMaster1.xml" Id="R2e3af158a75d48a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Welcome to Operating Cloud Databases. This course is not mainly about memorizing buttons in Supabase or MongoDB Atlas. It is about making a promise about a data system, observing what actually happened, and producing evidence another person can inspect.</a:t>
            </a:r>
          </a:p>
          <a:p xmlns:a="http://schemas.openxmlformats.org/drawingml/2006/main">
            <a:r>
              <a:t/>
            </a:r>
          </a:p>
          <a:p xmlns:a="http://schemas.openxmlformats.org/drawingml/2006/main">
            <a:r>
              <a:t>This week has two connected jobs. First, we will separate the responsibilities of an application, a database engine, and a managed cloud provider. Second, we will rebuild the relational ideas that later SQL and administration work depend on. Those jobs belong together because an operator cannot diagnose a system without knowing both where a failure may live and what the data is supposed to mean.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statement such as ‘the database is secure’ is too broad to test. A useful operating promise is smaller and more concrete. For example: a resident can read their own tickets but cannot read another resident’s tickets. That promise identifies an actor, an action, a resource, and a boundary.</a:t>
            </a:r>
          </a:p>
          <a:p xmlns:a="http://schemas.openxmlformats.org/drawingml/2006/main">
            <a:r>
              <a:t/>
            </a:r>
          </a:p>
          <a:p xmlns:a="http://schemas.openxmlformats.org/drawingml/2006/main">
            <a:r>
              <a:t>Evidence might include one allowed query and one expected denial executed under the intended identity. Even that evidence has limits. It may prove the tested policy for the tested rows, but it does not prove that every application route uses the same identity correctly. Throughout the course, we will use this promise, evidence, and limitation pattern instead of relying on confident language or isolated screenshots.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Imagine that a browser displays ‘could not load tickets.’ The message is a symptom at the client, not a diagnosis. The request may fail because the client built the wrong query, the network cannot reach the host, the managed project is paused, the database rejected authentication, the role lacks permission, the schema name is wrong, or the data does not match the filter.</a:t>
            </a:r>
          </a:p>
          <a:p xmlns:a="http://schemas.openxmlformats.org/drawingml/2006/main">
            <a:r>
              <a:t/>
            </a:r>
          </a:p>
          <a:p xmlns:a="http://schemas.openxmlformats.org/drawingml/2006/main">
            <a:r>
              <a:t>The layers on this slide give us a disciplined search order. We first identify where the symptom was observed. Then we collect evidence at each boundary instead of changing several things at once. A managed service can remove some infrastructure work, but it does not remove the need to understand the database, schema, identity, query, and data layers that the customer still controls.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Shared responsibility is not a universal checklist because exact boundaries depend on the service and plan. The durable idea is that a provider operates the service infrastructure while the customer still makes choices inside and around the database.</a:t>
            </a:r>
          </a:p>
          <a:p xmlns:a="http://schemas.openxmlformats.org/drawingml/2006/main">
            <a:r>
              <a:t/>
            </a:r>
          </a:p>
          <a:p xmlns:a="http://schemas.openxmlformats.org/drawingml/2006/main">
            <a:r>
              <a:t>If a team assumes the provider owns every security decision, it may place an administrator credential in application code. If it assumes automatic recovery without checking the plan, it may discover too late that the needed backup feature was not included. We will consult current official documentation for exact provider promises. We will not infer a promise from the word cloud. For every important control, name who configures it, who monitors it, and what evidence shows that it works.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reproducible evidence record begins with the environment. ‘It failed in the cloud’ is not enough. We need the service, database, identity or role, tool, and any version that affects behavior. Next comes the exact action. A paraphrase can hide the real predicate, target, or command option.</a:t>
            </a:r>
          </a:p>
          <a:p xmlns:a="http://schemas.openxmlformats.org/drawingml/2006/main">
            <a:r>
              <a:t/>
            </a:r>
          </a:p>
          <a:p xmlns:a="http://schemas.openxmlformats.org/drawingml/2006/main">
            <a:r>
              <a:t>Then record what was observed, not what was expected: the exact error, count, returned identifiers, plan node, or changed state. Interpretation comes after observation. Finally, state a limit. A successful query may prove connectivity and permission for one role, but it does not prove recovery readiness. These five parts make technical writing shorter because each sentence has a clear job.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Screenshots are sometimes useful, especially when an interface state cannot be copied as text. The problem is not the image itself. The problem is treating the image as a complete explanation. A cropped green check may omit the query, role, database, time, and target. A dashboard can show a project exists without proving that an application can connect. A dump file icon can show that bytes exist without proving that the bytes restore.</a:t>
            </a:r>
          </a:p>
          <a:p xmlns:a="http://schemas.openxmlformats.org/drawingml/2006/main">
            <a:r>
              <a:t/>
            </a:r>
          </a:p>
          <a:p xmlns:a="http://schemas.openxmlformats.org/drawingml/2006/main">
            <a:r>
              <a:t>A stronger packet surrounds the visual with reproducible context and an interpretation. Whenever text output can be copied safely, text is often easier to search, compare, and make accessible. The evidence should answer what happened, under which conditions, and what conclusion is justified.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Your first lab is individual. Choose Supabase or MongoDB Atlas and use the official documentation linked in the lab. Select one concrete control, such as database users, network access, project availability, or backup behavior. State one responsibility the provider claims and one responsibility the customer retains.</a:t>
            </a:r>
          </a:p>
          <a:p xmlns:a="http://schemas.openxmlformats.org/drawingml/2006/main">
            <a:r>
              <a:t/>
            </a:r>
          </a:p>
          <a:p xmlns:a="http://schemas.openxmlformats.org/drawingml/2006/main">
            <a:r>
              <a:t>Then describe a realistic failure caused by confusing those responsibilities. Do not invent product features. Cite the official page and identify the first evidence you would inspect. Submit one compact record, not a collection of screenshots. If account access is blocked, the static documentation path produces the same reasoning evidence. No password, project identifier, IP address, or private account image belongs in the submission.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now shift from the system boundary to the meaning of stored facts. Many people remember pieces of SQL but have lost the relational model that makes SQL predictable. We will restore that foundation before asking the language to do more complicated work.</a:t>
            </a:r>
          </a:p>
          <a:p xmlns:a="http://schemas.openxmlformats.org/drawingml/2006/main">
            <a:r>
              <a:t/>
            </a:r>
          </a:p>
          <a:p xmlns:a="http://schemas.openxmlformats.org/drawingml/2006/main">
            <a:r>
              <a:t>The key habit is to state what one row represents. Once the grain is clear, selection means keeping certain rows, projection means keeping certain attributes, and a join means creating matching pairs based on a relationship. SQL will return in full next week. Today the goal is to reason about the expected relation first, so that later a query result can be checked against a model rather than accepted because it ran.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relation schema describes a kind of fact. For example, `tickets(ticket_id, requester_id, status, subject)` says that each tuple records one ticket. The schema names attributes and their intended domains. The relation instance is the current set of ticket tuples at a particular moment.</a:t>
            </a:r>
          </a:p>
          <a:p xmlns:a="http://schemas.openxmlformats.org/drawingml/2006/main">
            <a:r>
              <a:t/>
            </a:r>
          </a:p>
          <a:p xmlns:a="http://schemas.openxmlformats.org/drawingml/2006/main">
            <a:r>
              <a:t>Grain is the plain-language answer to ‘what does one row mean?’ It is not just a data-warehouse term. If one row means one ticket, adding ticket events through a join can produce multiple rows per ticket. If one row means one event, counting rows gives events, not tickets. Stating grain before a query protects us from results that look reasonable but answer a different question.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candidate key is a minimal set of attributes that uniquely identifies a tuple. When a design selects one candidate as the primary key, it establishes the official row identity. In `users`, `user_id` identifies one user. In `tickets`, `ticket_id` identifies one ticket.</a:t>
            </a:r>
          </a:p>
          <a:p xmlns:a="http://schemas.openxmlformats.org/drawingml/2006/main">
            <a:r>
              <a:t/>
            </a:r>
          </a:p>
          <a:p xmlns:a="http://schemas.openxmlformats.org/drawingml/2006/main">
            <a:r>
              <a:t>The `requester_id` value in a ticket can refer to `users.user_id`. That relationship lets us ask who requested each ticket. It also gives the database a rule it can enforce later with a foreign key. The key value does not copy the user's name into the ticket. It preserves an identity link, which reduces contradictory copies but means a read may need a join.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Selection and projection are easy to confuse because SQL places `SELECT` before `WHERE`. Relational algebra names the operations by what they do. Selection, written with sigma, keeps tuples that satisfy a predicate. If we select tickets whose status is open, every ticket attribute remains unless another operation removes attributes.</a:t>
            </a:r>
          </a:p>
          <a:p xmlns:a="http://schemas.openxmlformats.org/drawingml/2006/main">
            <a:r>
              <a:t/>
            </a:r>
          </a:p>
          <a:p xmlns:a="http://schemas.openxmlformats.org/drawingml/2006/main">
            <a:r>
              <a:t>Projection, written with pi, keeps named attributes. If we project `ticket_id` and `subject`, those are the only attributes in the result. Mathematical relations are sets, so duplicate tuples are not retained. SQL uses bag or multiset behavior by default, so a SQL projection may keep duplicate rows unless `DISTINCT` is requested. That difference will matter next week.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join does not simply place two tables side by side. Conceptually, it creates tuple pairs that satisfy a condition. Here, a user tuple matches a ticket tuple when `users.user_id` equals `tickets.requester_id`.</a:t>
            </a:r>
          </a:p>
          <a:p xmlns:a="http://schemas.openxmlformats.org/drawingml/2006/main">
            <a:r>
              <a:t/>
            </a:r>
          </a:p>
          <a:p xmlns:a="http://schemas.openxmlformats.org/drawingml/2006/main">
            <a:r>
              <a:t>Maya has two matching ticket tuples, so a join result containing user and ticket attributes will contain two rows associated with Maya. Luis has one matching ticket, so he appears once. This row multiplication is correct for a one-to-many relationship. It becomes a bug only when we expected a different grain or used the wrong matching condition. Before executing a join, predict which pairs should exist and what one output row will represent.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path on this slide will guide the SQL review. Start with a question that can be checked. Then state result grain. For ‘which open tickets include requester names,’ one output tuple should represent one open ticket together with its requester.</a:t>
            </a:r>
          </a:p>
          <a:p xmlns:a="http://schemas.openxmlformats.org/drawingml/2006/main">
            <a:r>
              <a:t/>
            </a:r>
          </a:p>
          <a:p xmlns:a="http://schemas.openxmlformats.org/drawingml/2006/main">
            <a:r>
              <a:t>Next identify relational operations. Select open tickets, join each selected ticket to the matching requester, and project the identifiers, subject, and display name needed by the question. Predict the output before writing SQL: which ticket identifiers should appear, how many rows should exist, and which attributes should be present. Finally, write and run SQL. When the result differs, inspect the model, data, and query instead of adding `DISTINCT` automatically.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lab is individual and does not require a database connection. Read the Metro Support relation instances in the lab. For the assigned question, state what one tuple means in each source and in the expected result.</a:t>
            </a:r>
          </a:p>
          <a:p xmlns:a="http://schemas.openxmlformats.org/drawingml/2006/main">
            <a:r>
              <a:t/>
            </a:r>
          </a:p>
          <a:p xmlns:a="http://schemas.openxmlformats.org/drawingml/2006/main">
            <a:r>
              <a:t>Then identify which tuples the selection should retain, which attributes the projection should retain, and which attribute equality creates valid join pairs. List stable identifiers rather than relying only on names. Finish with one check that could reveal a wrong answer, such as an expected count, a user with no matching ticket, or a ticket that should be excluded. Submit one artifact containing the model and prediction. The next class will translate this reasoning into executable SQL.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week established four habits that will return throughout the course. First, locate the responsibility boundary instead of treating a client symptom as a diagnosis. Second, state the grain of every relation and result. Third, predict relational operations before relying on SQL syntax. Fourth, record the environment, action, observation, interpretation, and limitation.</a:t>
            </a:r>
          </a:p>
          <a:p xmlns:a="http://schemas.openxmlformats.org/drawingml/2006/main">
            <a:r>
              <a:t/>
            </a:r>
          </a:p>
          <a:p xmlns:a="http://schemas.openxmlformats.org/drawingml/2006/main">
            <a:r>
              <a:t>These habits are connected. A database operator needs to know what the data means, where a rule is enforced, and what evidence can confirm or challenge a claim. Before next week, you should be able to distinguish selection from projection, identify a valid join relationship, and describe why managed service does not mean the customer has no operational responsibility.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bfcd6068be44b4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766000169ab40a8" /><Relationship Type="http://schemas.openxmlformats.org/officeDocument/2006/relationships/slideLayout" Target="/ppt/slideLayouts/slideLayout1.xml" Id="R6662ebefd07248f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662ebefd07248f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450fc61451b4f4e" /><Relationship Type="http://schemas.openxmlformats.org/officeDocument/2006/relationships/notesSlide" Target="/ppt/notesSlides/notesSlide1.xml" Id="Rffd2f422b7b4439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b4162716b404e28" /><Relationship Type="http://schemas.openxmlformats.org/officeDocument/2006/relationships/notesSlide" Target="/ppt/notesSlides/notesSlide2.xml" Id="R0749872e937847c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af52187fa144f89" /><Relationship Type="http://schemas.openxmlformats.org/officeDocument/2006/relationships/notesSlide" Target="/ppt/notesSlides/notesSlide3.xml" Id="Rb0caf75f4c524ee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864029915b984f0a" /><Relationship Type="http://schemas.openxmlformats.org/officeDocument/2006/relationships/notesSlide" Target="/ppt/notesSlides/notesSlide4.xml" Id="R8c9b4894c8c94ae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1de27753fbf4a1c" /><Relationship Type="http://schemas.openxmlformats.org/officeDocument/2006/relationships/notesSlide" Target="/ppt/notesSlides/notesSlide5.xml" Id="R4738b90829214a6e"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6fff85f9fe8e48a4" /><Relationship Type="http://schemas.openxmlformats.org/officeDocument/2006/relationships/notesSlide" Target="/ppt/notesSlides/notesSlide6.xml" Id="R9eb982abecaa44f7"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22b0245150243ab" /><Relationship Type="http://schemas.openxmlformats.org/officeDocument/2006/relationships/notesSlide" Target="/ppt/notesSlides/notesSlide7.xml" Id="R9a4f027c91014421"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7018df49f53448c0" /><Relationship Type="http://schemas.openxmlformats.org/officeDocument/2006/relationships/notesSlide" Target="/ppt/notesSlides/notesSlide8.xml" Id="R92b1fc9a4d0d4c11"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c774e3bc284d4387" /><Relationship Type="http://schemas.openxmlformats.org/officeDocument/2006/relationships/notesSlide" Target="/ppt/notesSlides/notesSlide9.xml" Id="R18b181112df74de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fcb8c00c6026429f" /><Relationship Type="http://schemas.openxmlformats.org/officeDocument/2006/relationships/notesSlide" Target="/ppt/notesSlides/notesSlide10.xml" Id="Rd9c8217c39c4407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c0bed4d0ea174f6e" /><Relationship Type="http://schemas.openxmlformats.org/officeDocument/2006/relationships/notesSlide" Target="/ppt/notesSlides/notesSlide11.xml" Id="Ra2593968c176435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d54113c3a98347db" /><Relationship Type="http://schemas.openxmlformats.org/officeDocument/2006/relationships/notesSlide" Target="/ppt/notesSlides/notesSlide12.xml" Id="R3907db171bf54434"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54baf5705aeb4d18" /><Relationship Type="http://schemas.openxmlformats.org/officeDocument/2006/relationships/notesSlide" Target="/ppt/notesSlides/notesSlide13.xml" Id="R28054ee8949248e0"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b8c9d53db516438f" /><Relationship Type="http://schemas.openxmlformats.org/officeDocument/2006/relationships/notesSlide" Target="/ppt/notesSlides/notesSlide14.xml" Id="R8e84c58c13584b62"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ed0b4265577d4f40" /><Relationship Type="http://schemas.openxmlformats.org/officeDocument/2006/relationships/notesSlide" Target="/ppt/notesSlides/notesSlide15.xml" Id="R4040c5b88d49423e" /></Relationships>
</file>

<file path=ppt/slides/slide1.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B77105E2-0333-4E5B-A40F-C14ABDF9D7A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
            <a:extLst xmlns:a="http://schemas.openxmlformats.org/drawingml/2006/main">
              <a:ext uri="{FF2B5EF4-FFF2-40B4-BE49-F238E27FC236}">
                <a16:creationId xmlns:a16="http://schemas.microsoft.com/office/drawing/2014/main" id="{D8855044-DD15-4E41-A076-8FD8DCF7FDCD}"/>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0F766E"/>
          </a:solidFill>
          <a:ln xmlns:a="http://schemas.openxmlformats.org/drawingml/2006/main" w="0">
            <a:solidFill>
              <a:srgbClr val="0F766E"/>
            </a:solidFill>
            <a:prstDash val="solid"/>
          </a:ln>
        </p:spPr>
      </p:sp>
      <p:sp>
        <p:nvSpPr>
          <p:cNvPr id="3" name="">
            <a:extLst xmlns:a="http://schemas.openxmlformats.org/drawingml/2006/main">
              <a:ext uri="{FF2B5EF4-FFF2-40B4-BE49-F238E27FC236}">
                <a16:creationId xmlns:a16="http://schemas.microsoft.com/office/drawing/2014/main" id="{D7E84372-532F-4279-A97B-360CB7B2EA46}"/>
              </a:ext>
            </a:extLst>
          </p:cNvPr>
          <p:cNvSpPr>
            <a:spLocks xmlns:a="http://schemas.openxmlformats.org/drawingml/2006/main" noGrp="1"/>
          </p:cNvSpPr>
          <p:nvPr/>
        </p:nvSpPr>
        <p:spPr>
          <a:xfrm xmlns:a="http://schemas.openxmlformats.org/drawingml/2006/main">
            <a:off x="685800" y="523875"/>
            <a:ext cx="247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1350" b="1">
                <a:solidFill>
                  <a:srgbClr val="0F766E"/>
                </a:solidFill>
                <a:latin typeface="Helvetica Neue"/>
                <a:ea typeface="Helvetica Neue"/>
                <a:cs typeface="Helvetica Neue"/>
              </a:defRPr>
            </a:pPr>
            <a:r>
              <a:rPr sz="1350" b="1">
                <a:solidFill>
                  <a:srgbClr val="0F766E"/>
                </a:solidFill>
                <a:latin typeface="Helvetica Neue"/>
                <a:ea typeface="Helvetica Neue"/>
                <a:cs typeface="Helvetica Neue"/>
              </a:rPr>
              <a:t>WEEK 01</a:t>
            </a:r>
          </a:p>
        </p:txBody>
      </p:sp>
      <p:sp>
        <p:nvSpPr>
          <p:cNvPr id="4" name="cover-title">
            <a:extLst xmlns:a="http://schemas.openxmlformats.org/drawingml/2006/main">
              <a:ext uri="{FF2B5EF4-FFF2-40B4-BE49-F238E27FC236}">
                <a16:creationId xmlns:a16="http://schemas.microsoft.com/office/drawing/2014/main" id="{D043FD91-B776-4252-A836-6A3AA9A1A485}"/>
              </a:ext>
            </a:extLst>
          </p:cNvPr>
          <p:cNvSpPr>
            <a:spLocks xmlns:a="http://schemas.openxmlformats.org/drawingml/2006/main" noGrp="1"/>
          </p:cNvSpPr>
          <p:nvPr/>
        </p:nvSpPr>
        <p:spPr>
          <a:xfrm xmlns:a="http://schemas.openxmlformats.org/drawingml/2006/main">
            <a:off x="685800" y="1524000"/>
            <a:ext cx="8572500"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4350" b="1">
                <a:solidFill>
                  <a:srgbClr val="111827"/>
                </a:solidFill>
                <a:latin typeface="Helvetica Neue"/>
                <a:ea typeface="Helvetica Neue"/>
                <a:cs typeface="Helvetica Neue"/>
              </a:defRPr>
            </a:pPr>
            <a:r>
              <a:rPr sz="4350" b="1">
                <a:solidFill>
                  <a:srgbClr val="111827"/>
                </a:solidFill>
                <a:latin typeface="Helvetica Neue"/>
                <a:ea typeface="Helvetica Neue"/>
                <a:cs typeface="Helvetica Neue"/>
              </a:rPr>
              <a:t>Responsibility, Evidence, and Relational Thinking</a:t>
            </a:r>
          </a:p>
        </p:txBody>
      </p:sp>
      <p:sp>
        <p:nvSpPr>
          <p:cNvPr id="5" name="cover-subtitle">
            <a:extLst xmlns:a="http://schemas.openxmlformats.org/drawingml/2006/main">
              <a:ext uri="{FF2B5EF4-FFF2-40B4-BE49-F238E27FC236}">
                <a16:creationId xmlns:a16="http://schemas.microsoft.com/office/drawing/2014/main" id="{8E4FA8C0-A171-4C88-8CAB-5D67AF937901}"/>
              </a:ext>
            </a:extLst>
          </p:cNvPr>
          <p:cNvSpPr>
            <a:spLocks xmlns:a="http://schemas.openxmlformats.org/drawingml/2006/main" noGrp="1"/>
          </p:cNvSpPr>
          <p:nvPr/>
        </p:nvSpPr>
        <p:spPr>
          <a:xfrm xmlns:a="http://schemas.openxmlformats.org/drawingml/2006/main">
            <a:off x="723900" y="3905250"/>
            <a:ext cx="80962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1875">
                <a:solidFill>
                  <a:srgbClr val="475569"/>
                </a:solidFill>
                <a:latin typeface="Helvetica Neue"/>
                <a:ea typeface="Helvetica Neue"/>
                <a:cs typeface="Helvetica Neue"/>
              </a:defRPr>
            </a:pPr>
            <a:r>
              <a:rPr sz="1875">
                <a:solidFill>
                  <a:srgbClr val="475569"/>
                </a:solidFill>
                <a:latin typeface="Helvetica Neue"/>
                <a:ea typeface="Helvetica Neue"/>
                <a:cs typeface="Helvetica Neue"/>
              </a:rPr>
              <a:t>Begin with the system boundary, then rebuild how relations represent facts.</a:t>
            </a:r>
          </a:p>
        </p:txBody>
      </p:sp>
      <p:sp>
        <p:nvSpPr>
          <p:cNvPr id="6" name="">
            <a:extLst xmlns:a="http://schemas.openxmlformats.org/drawingml/2006/main">
              <a:ext uri="{FF2B5EF4-FFF2-40B4-BE49-F238E27FC236}">
                <a16:creationId xmlns:a16="http://schemas.microsoft.com/office/drawing/2014/main" id="{F4D9374B-32F3-4E2A-8EB2-93AB4463CE68}"/>
              </a:ext>
            </a:extLst>
          </p:cNvPr>
          <p:cNvSpPr>
            <a:spLocks xmlns:a="http://schemas.openxmlformats.org/drawingml/2006/main" noGrp="1"/>
          </p:cNvSpPr>
          <p:nvPr/>
        </p:nvSpPr>
        <p:spPr>
          <a:xfrm xmlns:a="http://schemas.openxmlformats.org/drawingml/2006/main">
            <a:off x="685800" y="617220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975" b="1">
                <a:solidFill>
                  <a:srgbClr val="94A3B8"/>
                </a:solidFill>
                <a:latin typeface="Helvetica Neue"/>
                <a:ea typeface="Helvetica Neue"/>
                <a:cs typeface="Helvetica Neue"/>
              </a:defRPr>
            </a:pPr>
            <a:r>
              <a:rPr sz="975" b="1">
                <a:solidFill>
                  <a:srgbClr val="94A3B8"/>
                </a:solidFill>
                <a:latin typeface="Helvetica Neue"/>
                <a:ea typeface="Helvetica Neue"/>
                <a:cs typeface="Helvetica Neue"/>
              </a:rPr>
              <a:t>OPERATING CLOUD DATABASES</a:t>
            </a:r>
          </a:p>
        </p:txBody>
      </p:sp>
      <p:sp>
        <p:nvSpPr>
          <p:cNvPr id="7" name="">
            <a:extLst xmlns:a="http://schemas.openxmlformats.org/drawingml/2006/main">
              <a:ext uri="{FF2B5EF4-FFF2-40B4-BE49-F238E27FC236}">
                <a16:creationId xmlns:a16="http://schemas.microsoft.com/office/drawing/2014/main" id="{FA9E83E3-F02E-4A9E-9784-4E113FEFD577}"/>
              </a:ext>
            </a:extLst>
          </p:cNvPr>
          <p:cNvSpPr>
            <a:spLocks xmlns:a="http://schemas.openxmlformats.org/drawingml/2006/main" noGrp="1"/>
          </p:cNvSpPr>
          <p:nvPr/>
        </p:nvSpPr>
        <p:spPr>
          <a:xfrm xmlns:a="http://schemas.openxmlformats.org/drawingml/2006/main">
            <a:off x="9525000" y="4667250"/>
            <a:ext cx="20955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r">
              <a:defRPr sz="8400" b="1">
                <a:solidFill>
                  <a:srgbClr val="0F766E"/>
                </a:solidFill>
                <a:latin typeface="Helvetica Neue"/>
                <a:ea typeface="Helvetica Neue"/>
                <a:cs typeface="Helvetica Neue"/>
              </a:defRPr>
            </a:pPr>
            <a:r>
              <a:rPr sz="8400" b="1">
                <a:solidFill>
                  <a:srgbClr val="0F766E"/>
                </a:solidFill>
                <a:latin typeface="Helvetica Neue"/>
                <a:ea typeface="Helvetica Neue"/>
                <a:cs typeface="Helvetica Neue"/>
              </a:rPr>
              <a:t>01</a:t>
            </a:r>
          </a:p>
        </p:txBody>
      </p:sp>
    </p:spTree>
    <p:extLst>
      <p:ext uri="{BB962C8B-B14F-4D97-AF65-F5344CB8AC3E}">
        <p14:creationId xmlns:p14="http://schemas.microsoft.com/office/powerpoint/2010/main" val="1904548208"/>
      </p:ext>
    </p:extLst>
  </p:cSld>
</p:sld>
</file>

<file path=ppt/slides/slide2.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F0ADB398-95DF-4FD7-96E3-CC5C277798F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eyebrow">
            <a:extLst xmlns:a="http://schemas.openxmlformats.org/drawingml/2006/main">
              <a:ext uri="{FF2B5EF4-FFF2-40B4-BE49-F238E27FC236}">
                <a16:creationId xmlns:a16="http://schemas.microsoft.com/office/drawing/2014/main" id="{43645BE4-E611-4A90-BAE2-9BEAECC2BBEF}"/>
              </a:ext>
            </a:extLst>
          </p:cNvPr>
          <p:cNvSpPr>
            <a:spLocks xmlns:a="http://schemas.openxmlformats.org/drawingml/2006/main" noGrp="1"/>
          </p:cNvSpPr>
          <p:nvPr/>
        </p:nvSpPr>
        <p:spPr>
          <a:xfrm xmlns:a="http://schemas.openxmlformats.org/drawingml/2006/main">
            <a:off x="609600" y="2952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975" b="1">
                <a:solidFill>
                  <a:srgbClr val="0F766E"/>
                </a:solidFill>
                <a:latin typeface="Helvetica Neue"/>
                <a:ea typeface="Helvetica Neue"/>
                <a:cs typeface="Helvetica Neue"/>
              </a:defRPr>
            </a:pPr>
            <a:r>
              <a:rPr sz="975" b="1">
                <a:solidFill>
                  <a:srgbClr val="0F766E"/>
                </a:solidFill>
                <a:latin typeface="Helvetica Neue"/>
                <a:ea typeface="Helvetica Neue"/>
                <a:cs typeface="Helvetica Neue"/>
              </a:rPr>
              <a:t>WEEK 01  /  CST4714</a:t>
            </a:r>
          </a:p>
        </p:txBody>
      </p:sp>
      <p:sp>
        <p:nvSpPr>
          <p:cNvPr id="3" name="slide-title">
            <a:extLst xmlns:a="http://schemas.openxmlformats.org/drawingml/2006/main">
              <a:ext uri="{FF2B5EF4-FFF2-40B4-BE49-F238E27FC236}">
                <a16:creationId xmlns:a16="http://schemas.microsoft.com/office/drawing/2014/main" id="{C9E577BD-AC15-4EBD-A030-FDBC80FC4831}"/>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The course is organized around operating promises</a:t>
            </a:r>
          </a:p>
        </p:txBody>
      </p:sp>
      <p:sp>
        <p:nvSpPr>
          <p:cNvPr id="4" name="">
            <a:extLst xmlns:a="http://schemas.openxmlformats.org/drawingml/2006/main">
              <a:ext uri="{FF2B5EF4-FFF2-40B4-BE49-F238E27FC236}">
                <a16:creationId xmlns:a16="http://schemas.microsoft.com/office/drawing/2014/main" id="{048DC799-7917-4622-8B06-E1FF9BBDDDED}"/>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5" name="slide-number">
            <a:extLst xmlns:a="http://schemas.openxmlformats.org/drawingml/2006/main">
              <a:ext uri="{FF2B5EF4-FFF2-40B4-BE49-F238E27FC236}">
                <a16:creationId xmlns:a16="http://schemas.microsoft.com/office/drawing/2014/main" id="{0863F861-AC75-46E3-BBD3-4E83F35F9C3E}"/>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r">
              <a:defRPr sz="825">
                <a:solidFill>
                  <a:srgbClr val="94A3B8"/>
                </a:solidFill>
                <a:latin typeface="Helvetica Neue"/>
                <a:ea typeface="Helvetica Neue"/>
                <a:cs typeface="Helvetica Neue"/>
              </a:defRPr>
            </a:pPr>
            <a:r>
              <a:rPr sz="825">
                <a:solidFill>
                  <a:srgbClr val="94A3B8"/>
                </a:solidFill>
                <a:latin typeface="Helvetica Neue"/>
                <a:ea typeface="Helvetica Neue"/>
                <a:cs typeface="Helvetica Neue"/>
              </a:rPr>
              <a:t>2</a:t>
            </a:r>
          </a:p>
        </p:txBody>
      </p:sp>
      <p:sp>
        <p:nvSpPr>
          <p:cNvPr id="6" name="primary-claim">
            <a:extLst xmlns:a="http://schemas.openxmlformats.org/drawingml/2006/main">
              <a:ext uri="{FF2B5EF4-FFF2-40B4-BE49-F238E27FC236}">
                <a16:creationId xmlns:a16="http://schemas.microsoft.com/office/drawing/2014/main" id="{F89A8CC4-AED9-477B-8ED4-492C466EDEDF}"/>
              </a:ext>
            </a:extLst>
          </p:cNvPr>
          <p:cNvSpPr>
            <a:spLocks xmlns:a="http://schemas.openxmlformats.org/drawingml/2006/main" noGrp="1"/>
          </p:cNvSpPr>
          <p:nvPr/>
        </p:nvSpPr>
        <p:spPr>
          <a:xfrm xmlns:a="http://schemas.openxmlformats.org/drawingml/2006/main">
            <a:off x="723900" y="1676400"/>
            <a:ext cx="990600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2925" b="1">
                <a:solidFill>
                  <a:srgbClr val="0F766E"/>
                </a:solidFill>
                <a:latin typeface="Helvetica Neue"/>
                <a:ea typeface="Helvetica Neue"/>
                <a:cs typeface="Helvetica Neue"/>
              </a:defRPr>
            </a:pPr>
            <a:r>
              <a:rPr sz="2925" b="1">
                <a:solidFill>
                  <a:srgbClr val="0F766E"/>
                </a:solidFill>
                <a:latin typeface="Helvetica Neue"/>
                <a:ea typeface="Helvetica Neue"/>
                <a:cs typeface="Helvetica Neue"/>
              </a:rPr>
              <a:t>A database claim is useful only when its scope and evidence are visible.</a:t>
            </a:r>
          </a:p>
        </p:txBody>
      </p:sp>
      <p:sp>
        <p:nvSpPr>
          <p:cNvPr id="7" name="">
            <a:extLst xmlns:a="http://schemas.openxmlformats.org/drawingml/2006/main">
              <a:ext uri="{FF2B5EF4-FFF2-40B4-BE49-F238E27FC236}">
                <a16:creationId xmlns:a16="http://schemas.microsoft.com/office/drawing/2014/main" id="{D0F501E0-2801-48EA-9BF8-8326E77C319E}"/>
              </a:ext>
            </a:extLst>
          </p:cNvPr>
          <p:cNvSpPr>
            <a:spLocks xmlns:a="http://schemas.openxmlformats.org/drawingml/2006/main" noGrp="1"/>
          </p:cNvSpPr>
          <p:nvPr/>
        </p:nvSpPr>
        <p:spPr>
          <a:xfrm xmlns:a="http://schemas.openxmlformats.org/drawingml/2006/main">
            <a:off x="723900" y="3857625"/>
            <a:ext cx="3238500" cy="0"/>
          </a:xfrm>
          <a:prstGeom xmlns:a="http://schemas.openxmlformats.org/drawingml/2006/main" prst="line">
            <a:avLst/>
          </a:prstGeom>
          <a:noFill xmlns:a="http://schemas.openxmlformats.org/drawingml/2006/main"/>
          <a:ln xmlns:a="http://schemas.openxmlformats.org/drawingml/2006/main" w="38100">
            <a:solidFill>
              <a:srgbClr val="0F766E"/>
            </a:solidFill>
            <a:prstDash val="solid"/>
          </a:ln>
        </p:spPr>
      </p:sp>
      <p:sp>
        <p:nvSpPr>
          <p:cNvPr id="8" name="">
            <a:extLst xmlns:a="http://schemas.openxmlformats.org/drawingml/2006/main">
              <a:ext uri="{FF2B5EF4-FFF2-40B4-BE49-F238E27FC236}">
                <a16:creationId xmlns:a16="http://schemas.microsoft.com/office/drawing/2014/main" id="{B0647276-AA23-4F83-BF8B-CF3552E52682}"/>
              </a:ext>
            </a:extLst>
          </p:cNvPr>
          <p:cNvSpPr>
            <a:spLocks xmlns:a="http://schemas.openxmlformats.org/drawingml/2006/main" noGrp="1"/>
          </p:cNvSpPr>
          <p:nvPr/>
        </p:nvSpPr>
        <p:spPr>
          <a:xfrm xmlns:a="http://schemas.openxmlformats.org/drawingml/2006/main">
            <a:off x="723900" y="4048125"/>
            <a:ext cx="3238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1125" b="1">
                <a:solidFill>
                  <a:srgbClr val="0F766E"/>
                </a:solidFill>
                <a:latin typeface="Helvetica Neue"/>
                <a:ea typeface="Helvetica Neue"/>
                <a:cs typeface="Helvetica Neue"/>
              </a:defRPr>
            </a:pPr>
            <a:r>
              <a:rPr sz="1125" b="1">
                <a:solidFill>
                  <a:srgbClr val="0F766E"/>
                </a:solidFill>
                <a:latin typeface="Helvetica Neue"/>
                <a:ea typeface="Helvetica Neue"/>
                <a:cs typeface="Helvetica Neue"/>
              </a:rPr>
              <a:t>PROMISE</a:t>
            </a:r>
          </a:p>
        </p:txBody>
      </p:sp>
      <p:sp>
        <p:nvSpPr>
          <p:cNvPr id="9" name="">
            <a:extLst xmlns:a="http://schemas.openxmlformats.org/drawingml/2006/main">
              <a:ext uri="{FF2B5EF4-FFF2-40B4-BE49-F238E27FC236}">
                <a16:creationId xmlns:a16="http://schemas.microsoft.com/office/drawing/2014/main" id="{07211602-CF7F-4FE3-B1DE-E0322FB7CAE8}"/>
              </a:ext>
            </a:extLst>
          </p:cNvPr>
          <p:cNvSpPr>
            <a:spLocks xmlns:a="http://schemas.openxmlformats.org/drawingml/2006/main" noGrp="1"/>
          </p:cNvSpPr>
          <p:nvPr/>
        </p:nvSpPr>
        <p:spPr>
          <a:xfrm xmlns:a="http://schemas.openxmlformats.org/drawingml/2006/main">
            <a:off x="723900" y="4400550"/>
            <a:ext cx="32385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1500">
                <a:solidFill>
                  <a:srgbClr val="111827"/>
                </a:solidFill>
                <a:latin typeface="Helvetica Neue"/>
                <a:ea typeface="Helvetica Neue"/>
                <a:cs typeface="Helvetica Neue"/>
              </a:defRPr>
            </a:pPr>
            <a:r>
              <a:rPr sz="1500">
                <a:solidFill>
                  <a:srgbClr val="111827"/>
                </a:solidFill>
                <a:latin typeface="Helvetica Neue"/>
                <a:ea typeface="Helvetica Neue"/>
                <a:cs typeface="Helvetica Neue"/>
              </a:rPr>
              <a:t>What should the system protect, permit, return, or recover?</a:t>
            </a:r>
          </a:p>
        </p:txBody>
      </p:sp>
      <p:sp>
        <p:nvSpPr>
          <p:cNvPr id="10" name="">
            <a:extLst xmlns:a="http://schemas.openxmlformats.org/drawingml/2006/main">
              <a:ext uri="{FF2B5EF4-FFF2-40B4-BE49-F238E27FC236}">
                <a16:creationId xmlns:a16="http://schemas.microsoft.com/office/drawing/2014/main" id="{3F312F3C-ECD8-462C-9184-7F30E920D29D}"/>
              </a:ext>
            </a:extLst>
          </p:cNvPr>
          <p:cNvSpPr>
            <a:spLocks xmlns:a="http://schemas.openxmlformats.org/drawingml/2006/main" noGrp="1"/>
          </p:cNvSpPr>
          <p:nvPr/>
        </p:nvSpPr>
        <p:spPr>
          <a:xfrm xmlns:a="http://schemas.openxmlformats.org/drawingml/2006/main">
            <a:off x="4324350" y="3857625"/>
            <a:ext cx="3238500" cy="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11" name="">
            <a:extLst xmlns:a="http://schemas.openxmlformats.org/drawingml/2006/main">
              <a:ext uri="{FF2B5EF4-FFF2-40B4-BE49-F238E27FC236}">
                <a16:creationId xmlns:a16="http://schemas.microsoft.com/office/drawing/2014/main" id="{AA9A5883-A4D3-4DF9-807C-5F34D38F1ED9}"/>
              </a:ext>
            </a:extLst>
          </p:cNvPr>
          <p:cNvSpPr>
            <a:spLocks xmlns:a="http://schemas.openxmlformats.org/drawingml/2006/main" noGrp="1"/>
          </p:cNvSpPr>
          <p:nvPr/>
        </p:nvSpPr>
        <p:spPr>
          <a:xfrm xmlns:a="http://schemas.openxmlformats.org/drawingml/2006/main">
            <a:off x="4324350" y="4048125"/>
            <a:ext cx="3238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1125" b="1">
                <a:solidFill>
                  <a:srgbClr val="0F766E"/>
                </a:solidFill>
                <a:latin typeface="Helvetica Neue"/>
                <a:ea typeface="Helvetica Neue"/>
                <a:cs typeface="Helvetica Neue"/>
              </a:defRPr>
            </a:pPr>
            <a:r>
              <a:rPr sz="1125" b="1">
                <a:solidFill>
                  <a:srgbClr val="0F766E"/>
                </a:solidFill>
                <a:latin typeface="Helvetica Neue"/>
                <a:ea typeface="Helvetica Neue"/>
                <a:cs typeface="Helvetica Neue"/>
              </a:rPr>
              <a:t>EVIDENCE</a:t>
            </a:r>
          </a:p>
        </p:txBody>
      </p:sp>
      <p:sp>
        <p:nvSpPr>
          <p:cNvPr id="12" name="">
            <a:extLst xmlns:a="http://schemas.openxmlformats.org/drawingml/2006/main">
              <a:ext uri="{FF2B5EF4-FFF2-40B4-BE49-F238E27FC236}">
                <a16:creationId xmlns:a16="http://schemas.microsoft.com/office/drawing/2014/main" id="{4E68292D-8778-485F-AC0F-7EF767D7471C}"/>
              </a:ext>
            </a:extLst>
          </p:cNvPr>
          <p:cNvSpPr>
            <a:spLocks xmlns:a="http://schemas.openxmlformats.org/drawingml/2006/main" noGrp="1"/>
          </p:cNvSpPr>
          <p:nvPr/>
        </p:nvSpPr>
        <p:spPr>
          <a:xfrm xmlns:a="http://schemas.openxmlformats.org/drawingml/2006/main">
            <a:off x="4324350" y="4400550"/>
            <a:ext cx="32385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1500">
                <a:solidFill>
                  <a:srgbClr val="111827"/>
                </a:solidFill>
                <a:latin typeface="Helvetica Neue"/>
                <a:ea typeface="Helvetica Neue"/>
                <a:cs typeface="Helvetica Neue"/>
              </a:defRPr>
            </a:pPr>
            <a:r>
              <a:rPr sz="1500">
                <a:solidFill>
                  <a:srgbClr val="111827"/>
                </a:solidFill>
                <a:latin typeface="Helvetica Neue"/>
                <a:ea typeface="Helvetica Neue"/>
                <a:cs typeface="Helvetica Neue"/>
              </a:rPr>
              <a:t>What observation would support or challenge that claim?</a:t>
            </a:r>
          </a:p>
        </p:txBody>
      </p:sp>
      <p:sp>
        <p:nvSpPr>
          <p:cNvPr id="13" name="">
            <a:extLst xmlns:a="http://schemas.openxmlformats.org/drawingml/2006/main">
              <a:ext uri="{FF2B5EF4-FFF2-40B4-BE49-F238E27FC236}">
                <a16:creationId xmlns:a16="http://schemas.microsoft.com/office/drawing/2014/main" id="{7189F38A-27F1-4B73-AE17-3B92068A8215}"/>
              </a:ext>
            </a:extLst>
          </p:cNvPr>
          <p:cNvSpPr>
            <a:spLocks xmlns:a="http://schemas.openxmlformats.org/drawingml/2006/main" noGrp="1"/>
          </p:cNvSpPr>
          <p:nvPr/>
        </p:nvSpPr>
        <p:spPr>
          <a:xfrm xmlns:a="http://schemas.openxmlformats.org/drawingml/2006/main">
            <a:off x="7924800" y="3857625"/>
            <a:ext cx="3238500" cy="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14" name="">
            <a:extLst xmlns:a="http://schemas.openxmlformats.org/drawingml/2006/main">
              <a:ext uri="{FF2B5EF4-FFF2-40B4-BE49-F238E27FC236}">
                <a16:creationId xmlns:a16="http://schemas.microsoft.com/office/drawing/2014/main" id="{27BF7DEE-1A8A-4C7C-96F8-6C17EED5F0A4}"/>
              </a:ext>
            </a:extLst>
          </p:cNvPr>
          <p:cNvSpPr>
            <a:spLocks xmlns:a="http://schemas.openxmlformats.org/drawingml/2006/main" noGrp="1"/>
          </p:cNvSpPr>
          <p:nvPr/>
        </p:nvSpPr>
        <p:spPr>
          <a:xfrm xmlns:a="http://schemas.openxmlformats.org/drawingml/2006/main">
            <a:off x="7924800" y="4048125"/>
            <a:ext cx="3238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1125" b="1">
                <a:solidFill>
                  <a:srgbClr val="0F766E"/>
                </a:solidFill>
                <a:latin typeface="Helvetica Neue"/>
                <a:ea typeface="Helvetica Neue"/>
                <a:cs typeface="Helvetica Neue"/>
              </a:defRPr>
            </a:pPr>
            <a:r>
              <a:rPr sz="1125" b="1">
                <a:solidFill>
                  <a:srgbClr val="0F766E"/>
                </a:solidFill>
                <a:latin typeface="Helvetica Neue"/>
                <a:ea typeface="Helvetica Neue"/>
                <a:cs typeface="Helvetica Neue"/>
              </a:rPr>
              <a:t>LIMIT</a:t>
            </a:r>
          </a:p>
        </p:txBody>
      </p:sp>
      <p:sp>
        <p:nvSpPr>
          <p:cNvPr id="15" name="">
            <a:extLst xmlns:a="http://schemas.openxmlformats.org/drawingml/2006/main">
              <a:ext uri="{FF2B5EF4-FFF2-40B4-BE49-F238E27FC236}">
                <a16:creationId xmlns:a16="http://schemas.microsoft.com/office/drawing/2014/main" id="{E5750A08-DDF3-45B6-966D-50CF73E6710C}"/>
              </a:ext>
            </a:extLst>
          </p:cNvPr>
          <p:cNvSpPr>
            <a:spLocks xmlns:a="http://schemas.openxmlformats.org/drawingml/2006/main" noGrp="1"/>
          </p:cNvSpPr>
          <p:nvPr/>
        </p:nvSpPr>
        <p:spPr>
          <a:xfrm xmlns:a="http://schemas.openxmlformats.org/drawingml/2006/main">
            <a:off x="7924800" y="4400550"/>
            <a:ext cx="32385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1500">
                <a:solidFill>
                  <a:srgbClr val="111827"/>
                </a:solidFill>
                <a:latin typeface="Helvetica Neue"/>
                <a:ea typeface="Helvetica Neue"/>
                <a:cs typeface="Helvetica Neue"/>
              </a:defRPr>
            </a:pPr>
            <a:r>
              <a:rPr sz="1500">
                <a:solidFill>
                  <a:srgbClr val="111827"/>
                </a:solidFill>
                <a:latin typeface="Helvetica Neue"/>
                <a:ea typeface="Helvetica Neue"/>
                <a:cs typeface="Helvetica Neue"/>
              </a:rPr>
              <a:t>What remains outside the test or outside your control?</a:t>
            </a:r>
          </a:p>
        </p:txBody>
      </p:sp>
    </p:spTree>
    <p:extLst>
      <p:ext uri="{BB962C8B-B14F-4D97-AF65-F5344CB8AC3E}">
        <p14:creationId xmlns:p14="http://schemas.microsoft.com/office/powerpoint/2010/main" val="594864228"/>
      </p:ext>
    </p:extLst>
  </p:cSld>
</p:sld>
</file>

<file path=ppt/slides/slide3.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0A1C0B83-B909-44B2-AE51-0E943B47DDB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eyebrow">
            <a:extLst xmlns:a="http://schemas.openxmlformats.org/drawingml/2006/main">
              <a:ext uri="{FF2B5EF4-FFF2-40B4-BE49-F238E27FC236}">
                <a16:creationId xmlns:a16="http://schemas.microsoft.com/office/drawing/2014/main" id="{7251D419-06DB-47DA-B28F-0842CDBE86D3}"/>
              </a:ext>
            </a:extLst>
          </p:cNvPr>
          <p:cNvSpPr>
            <a:spLocks xmlns:a="http://schemas.openxmlformats.org/drawingml/2006/main" noGrp="1"/>
          </p:cNvSpPr>
          <p:nvPr/>
        </p:nvSpPr>
        <p:spPr>
          <a:xfrm xmlns:a="http://schemas.openxmlformats.org/drawingml/2006/main">
            <a:off x="609600" y="2952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975" b="1">
                <a:solidFill>
                  <a:srgbClr val="0F766E"/>
                </a:solidFill>
                <a:latin typeface="Helvetica Neue"/>
                <a:ea typeface="Helvetica Neue"/>
                <a:cs typeface="Helvetica Neue"/>
              </a:defRPr>
            </a:pPr>
            <a:r>
              <a:rPr sz="975" b="1">
                <a:solidFill>
                  <a:srgbClr val="0F766E"/>
                </a:solidFill>
                <a:latin typeface="Helvetica Neue"/>
                <a:ea typeface="Helvetica Neue"/>
                <a:cs typeface="Helvetica Neue"/>
              </a:rPr>
              <a:t>WEEK 01  /  CST4714</a:t>
            </a:r>
          </a:p>
        </p:txBody>
      </p:sp>
      <p:sp>
        <p:nvSpPr>
          <p:cNvPr id="3" name="slide-title">
            <a:extLst xmlns:a="http://schemas.openxmlformats.org/drawingml/2006/main">
              <a:ext uri="{FF2B5EF4-FFF2-40B4-BE49-F238E27FC236}">
                <a16:creationId xmlns:a16="http://schemas.microsoft.com/office/drawing/2014/main" id="{4155B41C-BCE8-4F81-972B-7756055F4C30}"/>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A database request crosses several responsibility layers</a:t>
            </a:r>
          </a:p>
        </p:txBody>
      </p:sp>
      <p:sp>
        <p:nvSpPr>
          <p:cNvPr id="4" name="">
            <a:extLst xmlns:a="http://schemas.openxmlformats.org/drawingml/2006/main">
              <a:ext uri="{FF2B5EF4-FFF2-40B4-BE49-F238E27FC236}">
                <a16:creationId xmlns:a16="http://schemas.microsoft.com/office/drawing/2014/main" id="{67DCEBBB-C129-4374-BC52-D597355EDE2D}"/>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5" name="slide-number">
            <a:extLst xmlns:a="http://schemas.openxmlformats.org/drawingml/2006/main">
              <a:ext uri="{FF2B5EF4-FFF2-40B4-BE49-F238E27FC236}">
                <a16:creationId xmlns:a16="http://schemas.microsoft.com/office/drawing/2014/main" id="{82EA08BE-2531-4C41-BEE3-0E08A43EAE77}"/>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r">
              <a:defRPr sz="825">
                <a:solidFill>
                  <a:srgbClr val="94A3B8"/>
                </a:solidFill>
                <a:latin typeface="Helvetica Neue"/>
                <a:ea typeface="Helvetica Neue"/>
                <a:cs typeface="Helvetica Neue"/>
              </a:defRPr>
            </a:pPr>
            <a:r>
              <a:rPr sz="825">
                <a:solidFill>
                  <a:srgbClr val="94A3B8"/>
                </a:solidFill>
                <a:latin typeface="Helvetica Neue"/>
                <a:ea typeface="Helvetica Neue"/>
                <a:cs typeface="Helvetica Neue"/>
              </a:rPr>
              <a:t>3</a:t>
            </a:r>
          </a:p>
        </p:txBody>
      </p:sp>
      <p:sp>
        <p:nvSpPr>
          <p:cNvPr id="6" name="">
            <a:extLst xmlns:a="http://schemas.openxmlformats.org/drawingml/2006/main">
              <a:ext uri="{FF2B5EF4-FFF2-40B4-BE49-F238E27FC236}">
                <a16:creationId xmlns:a16="http://schemas.microsoft.com/office/drawing/2014/main" id="{C7B1791D-B839-4925-928B-C0CFA95B1D80}"/>
              </a:ext>
            </a:extLst>
          </p:cNvPr>
          <p:cNvSpPr>
            <a:spLocks xmlns:a="http://schemas.openxmlformats.org/drawingml/2006/main" noGrp="1"/>
          </p:cNvSpPr>
          <p:nvPr/>
        </p:nvSpPr>
        <p:spPr>
          <a:xfrm xmlns:a="http://schemas.openxmlformats.org/drawingml/2006/main">
            <a:off x="1452563" y="3000375"/>
            <a:ext cx="1905000" cy="0"/>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7" name="">
            <a:extLst xmlns:a="http://schemas.openxmlformats.org/drawingml/2006/main">
              <a:ext uri="{FF2B5EF4-FFF2-40B4-BE49-F238E27FC236}">
                <a16:creationId xmlns:a16="http://schemas.microsoft.com/office/drawing/2014/main" id="{97C691C7-2461-4762-A385-6A06D5D8064E}"/>
              </a:ext>
            </a:extLst>
          </p:cNvPr>
          <p:cNvSpPr>
            <a:spLocks xmlns:a="http://schemas.openxmlformats.org/drawingml/2006/main" noGrp="1"/>
          </p:cNvSpPr>
          <p:nvPr/>
        </p:nvSpPr>
        <p:spPr>
          <a:xfrm xmlns:a="http://schemas.openxmlformats.org/drawingml/2006/main">
            <a:off x="3357563" y="3000375"/>
            <a:ext cx="2024063" cy="0"/>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8" name="">
            <a:extLst xmlns:a="http://schemas.openxmlformats.org/drawingml/2006/main">
              <a:ext uri="{FF2B5EF4-FFF2-40B4-BE49-F238E27FC236}">
                <a16:creationId xmlns:a16="http://schemas.microsoft.com/office/drawing/2014/main" id="{41189C8C-79B5-4964-9A65-CE3A6FD116FB}"/>
              </a:ext>
            </a:extLst>
          </p:cNvPr>
          <p:cNvSpPr>
            <a:spLocks xmlns:a="http://schemas.openxmlformats.org/drawingml/2006/main" noGrp="1"/>
          </p:cNvSpPr>
          <p:nvPr/>
        </p:nvSpPr>
        <p:spPr>
          <a:xfrm xmlns:a="http://schemas.openxmlformats.org/drawingml/2006/main">
            <a:off x="5381625" y="3000375"/>
            <a:ext cx="2095500" cy="0"/>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9" name="">
            <a:extLst xmlns:a="http://schemas.openxmlformats.org/drawingml/2006/main">
              <a:ext uri="{FF2B5EF4-FFF2-40B4-BE49-F238E27FC236}">
                <a16:creationId xmlns:a16="http://schemas.microsoft.com/office/drawing/2014/main" id="{7EA82D86-5893-4604-A4E8-7EB857C3B7C5}"/>
              </a:ext>
            </a:extLst>
          </p:cNvPr>
          <p:cNvSpPr>
            <a:spLocks xmlns:a="http://schemas.openxmlformats.org/drawingml/2006/main" noGrp="1"/>
          </p:cNvSpPr>
          <p:nvPr/>
        </p:nvSpPr>
        <p:spPr>
          <a:xfrm xmlns:a="http://schemas.openxmlformats.org/drawingml/2006/main">
            <a:off x="7477125" y="3000375"/>
            <a:ext cx="2286000" cy="0"/>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10" name="">
            <a:extLst xmlns:a="http://schemas.openxmlformats.org/drawingml/2006/main">
              <a:ext uri="{FF2B5EF4-FFF2-40B4-BE49-F238E27FC236}">
                <a16:creationId xmlns:a16="http://schemas.microsoft.com/office/drawing/2014/main" id="{9FB94495-F5CB-4B2A-98C9-1B3FCF0EBD31}"/>
              </a:ext>
            </a:extLst>
          </p:cNvPr>
          <p:cNvSpPr>
            <a:spLocks xmlns:a="http://schemas.openxmlformats.org/drawingml/2006/main" noGrp="1"/>
          </p:cNvSpPr>
          <p:nvPr/>
        </p:nvSpPr>
        <p:spPr>
          <a:xfrm xmlns:a="http://schemas.openxmlformats.org/drawingml/2006/main">
            <a:off x="666750" y="2571750"/>
            <a:ext cx="1571625" cy="857250"/>
          </a:xfrm>
          <a:prstGeom xmlns:a="http://schemas.openxmlformats.org/drawingml/2006/main" prst="rect">
            <a:avLst/>
          </a:prstGeom>
          <a:solidFill xmlns:a="http://schemas.openxmlformats.org/drawingml/2006/main">
            <a:srgbClr val="0F766E"/>
          </a:solidFill>
          <a:ln xmlns:a="http://schemas.openxmlformats.org/drawingml/2006/main" w="9525">
            <a:solidFill>
              <a:srgbClr val="0F766E"/>
            </a:solidFill>
            <a:prstDash val="solid"/>
          </a:ln>
        </p:spPr>
        <p:txBody>
          <a:bodyPr xmlns:a="http://schemas.openxmlformats.org/drawingml/2006/main" lIns="95250" tIns="95250" rIns="95250" bIns="95250" anchor="ctr">
            <a:normAutofit fontScale="100000"/>
          </a:bodyPr>
          <a:lstStyle xmlns:a="http://schemas.openxmlformats.org/drawingml/2006/main"/>
          <a:p xmlns:a="http://schemas.openxmlformats.org/drawingml/2006/main">
            <a:pPr algn="ctr">
              <a:defRPr sz="1575" b="1">
                <a:solidFill>
                  <a:srgbClr val="FFFFFF"/>
                </a:solidFill>
                <a:latin typeface="Helvetica Neue"/>
                <a:ea typeface="Helvetica Neue"/>
                <a:cs typeface="Helvetica Neue"/>
              </a:defRPr>
            </a:pPr>
            <a:r>
              <a:rPr sz="1575" b="1">
                <a:solidFill>
                  <a:srgbClr val="FFFFFF"/>
                </a:solidFill>
                <a:latin typeface="Helvetica Neue"/>
                <a:ea typeface="Helvetica Neue"/>
                <a:cs typeface="Helvetica Neue"/>
              </a:rPr>
              <a:t>Client</a:t>
            </a:r>
          </a:p>
        </p:txBody>
      </p:sp>
      <p:sp>
        <p:nvSpPr>
          <p:cNvPr id="11" name="">
            <a:extLst xmlns:a="http://schemas.openxmlformats.org/drawingml/2006/main">
              <a:ext uri="{FF2B5EF4-FFF2-40B4-BE49-F238E27FC236}">
                <a16:creationId xmlns:a16="http://schemas.microsoft.com/office/drawing/2014/main" id="{17D88035-B40C-4A16-8038-06FC6D99D2FA}"/>
              </a:ext>
            </a:extLst>
          </p:cNvPr>
          <p:cNvSpPr>
            <a:spLocks xmlns:a="http://schemas.openxmlformats.org/drawingml/2006/main" noGrp="1"/>
          </p:cNvSpPr>
          <p:nvPr/>
        </p:nvSpPr>
        <p:spPr>
          <a:xfrm xmlns:a="http://schemas.openxmlformats.org/drawingml/2006/main">
            <a:off x="2571750" y="2571750"/>
            <a:ext cx="1571625"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lIns="95250" tIns="95250" rIns="95250" bIns="95250" anchor="ctr">
            <a:normAutofit fontScale="100000"/>
          </a:bodyPr>
          <a:lstStyle xmlns:a="http://schemas.openxmlformats.org/drawingml/2006/main"/>
          <a:p xmlns:a="http://schemas.openxmlformats.org/drawingml/2006/main">
            <a:pPr algn="ctr">
              <a:defRPr sz="1575" b="1">
                <a:solidFill>
                  <a:srgbClr val="111827"/>
                </a:solidFill>
                <a:latin typeface="Helvetica Neue"/>
                <a:ea typeface="Helvetica Neue"/>
                <a:cs typeface="Helvetica Neue"/>
              </a:defRPr>
            </a:pPr>
            <a:r>
              <a:rPr sz="1575" b="1">
                <a:solidFill>
                  <a:srgbClr val="111827"/>
                </a:solidFill>
                <a:latin typeface="Helvetica Neue"/>
                <a:ea typeface="Helvetica Neue"/>
                <a:cs typeface="Helvetica Neue"/>
              </a:rPr>
              <a:t>Network</a:t>
            </a:r>
          </a:p>
        </p:txBody>
      </p:sp>
      <p:sp>
        <p:nvSpPr>
          <p:cNvPr id="12" name="">
            <a:extLst xmlns:a="http://schemas.openxmlformats.org/drawingml/2006/main">
              <a:ext uri="{FF2B5EF4-FFF2-40B4-BE49-F238E27FC236}">
                <a16:creationId xmlns:a16="http://schemas.microsoft.com/office/drawing/2014/main" id="{CD582AAE-F012-4494-99E9-4F5B3F25C715}"/>
              </a:ext>
            </a:extLst>
          </p:cNvPr>
          <p:cNvSpPr>
            <a:spLocks xmlns:a="http://schemas.openxmlformats.org/drawingml/2006/main" noGrp="1"/>
          </p:cNvSpPr>
          <p:nvPr/>
        </p:nvSpPr>
        <p:spPr>
          <a:xfrm xmlns:a="http://schemas.openxmlformats.org/drawingml/2006/main">
            <a:off x="4476750" y="2571750"/>
            <a:ext cx="18097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lIns="95250" tIns="95250" rIns="95250" bIns="95250" anchor="ctr">
            <a:normAutofit fontScale="100000"/>
          </a:bodyPr>
          <a:lstStyle xmlns:a="http://schemas.openxmlformats.org/drawingml/2006/main"/>
          <a:p xmlns:a="http://schemas.openxmlformats.org/drawingml/2006/main">
            <a:pPr algn="ctr">
              <a:defRPr sz="1575" b="1">
                <a:solidFill>
                  <a:srgbClr val="111827"/>
                </a:solidFill>
                <a:latin typeface="Helvetica Neue"/>
                <a:ea typeface="Helvetica Neue"/>
                <a:cs typeface="Helvetica Neue"/>
              </a:defRPr>
            </a:pPr>
            <a:r>
              <a:rPr sz="1575" b="1">
                <a:solidFill>
                  <a:srgbClr val="111827"/>
                </a:solidFill>
                <a:latin typeface="Helvetica Neue"/>
                <a:ea typeface="Helvetica Neue"/>
                <a:cs typeface="Helvetica Neue"/>
              </a:rPr>
              <a:t>Managed platform</a:t>
            </a:r>
          </a:p>
        </p:txBody>
      </p:sp>
      <p:sp>
        <p:nvSpPr>
          <p:cNvPr id="13" name="">
            <a:extLst xmlns:a="http://schemas.openxmlformats.org/drawingml/2006/main">
              <a:ext uri="{FF2B5EF4-FFF2-40B4-BE49-F238E27FC236}">
                <a16:creationId xmlns:a16="http://schemas.microsoft.com/office/drawing/2014/main" id="{70B29C1C-CB3B-48E2-9820-88640A5F6CD0}"/>
              </a:ext>
            </a:extLst>
          </p:cNvPr>
          <p:cNvSpPr>
            <a:spLocks xmlns:a="http://schemas.openxmlformats.org/drawingml/2006/main" noGrp="1"/>
          </p:cNvSpPr>
          <p:nvPr/>
        </p:nvSpPr>
        <p:spPr>
          <a:xfrm xmlns:a="http://schemas.openxmlformats.org/drawingml/2006/main">
            <a:off x="6619875" y="2571750"/>
            <a:ext cx="171450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lIns="95250" tIns="95250" rIns="95250" bIns="95250" anchor="ctr">
            <a:normAutofit fontScale="100000"/>
          </a:bodyPr>
          <a:lstStyle xmlns:a="http://schemas.openxmlformats.org/drawingml/2006/main"/>
          <a:p xmlns:a="http://schemas.openxmlformats.org/drawingml/2006/main">
            <a:pPr algn="ctr">
              <a:defRPr sz="1575" b="1">
                <a:solidFill>
                  <a:srgbClr val="111827"/>
                </a:solidFill>
                <a:latin typeface="Helvetica Neue"/>
                <a:ea typeface="Helvetica Neue"/>
                <a:cs typeface="Helvetica Neue"/>
              </a:defRPr>
            </a:pPr>
            <a:r>
              <a:rPr sz="1575" b="1">
                <a:solidFill>
                  <a:srgbClr val="111827"/>
                </a:solidFill>
                <a:latin typeface="Helvetica Neue"/>
                <a:ea typeface="Helvetica Neue"/>
                <a:cs typeface="Helvetica Neue"/>
              </a:rPr>
              <a:t>DBMS</a:t>
            </a:r>
          </a:p>
        </p:txBody>
      </p:sp>
      <p:sp>
        <p:nvSpPr>
          <p:cNvPr id="14" name="">
            <a:extLst xmlns:a="http://schemas.openxmlformats.org/drawingml/2006/main">
              <a:ext uri="{FF2B5EF4-FFF2-40B4-BE49-F238E27FC236}">
                <a16:creationId xmlns:a16="http://schemas.microsoft.com/office/drawing/2014/main" id="{7DF2E20B-884B-4D20-BCCB-811956E2D279}"/>
              </a:ext>
            </a:extLst>
          </p:cNvPr>
          <p:cNvSpPr>
            <a:spLocks xmlns:a="http://schemas.openxmlformats.org/drawingml/2006/main" noGrp="1"/>
          </p:cNvSpPr>
          <p:nvPr/>
        </p:nvSpPr>
        <p:spPr>
          <a:xfrm xmlns:a="http://schemas.openxmlformats.org/drawingml/2006/main">
            <a:off x="8667750" y="2571750"/>
            <a:ext cx="21907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lIns="95250" tIns="95250" rIns="95250" bIns="95250" anchor="ctr">
            <a:normAutofit fontScale="100000"/>
          </a:bodyPr>
          <a:lstStyle xmlns:a="http://schemas.openxmlformats.org/drawingml/2006/main"/>
          <a:p xmlns:a="http://schemas.openxmlformats.org/drawingml/2006/main">
            <a:pPr algn="ctr">
              <a:defRPr sz="1575" b="1">
                <a:solidFill>
                  <a:srgbClr val="111827"/>
                </a:solidFill>
                <a:latin typeface="Helvetica Neue"/>
                <a:ea typeface="Helvetica Neue"/>
                <a:cs typeface="Helvetica Neue"/>
              </a:defRPr>
            </a:pPr>
            <a:r>
              <a:rPr sz="1575" b="1">
                <a:solidFill>
                  <a:srgbClr val="111827"/>
                </a:solidFill>
                <a:latin typeface="Helvetica Neue"/>
                <a:ea typeface="Helvetica Neue"/>
                <a:cs typeface="Helvetica Neue"/>
              </a:rPr>
              <a:t>Schema + data</a:t>
            </a:r>
          </a:p>
        </p:txBody>
      </p:sp>
      <p:sp>
        <p:nvSpPr>
          <p:cNvPr id="15" name="">
            <a:extLst xmlns:a="http://schemas.openxmlformats.org/drawingml/2006/main">
              <a:ext uri="{FF2B5EF4-FFF2-40B4-BE49-F238E27FC236}">
                <a16:creationId xmlns:a16="http://schemas.microsoft.com/office/drawing/2014/main" id="{8F2BE694-C055-4746-8C54-5B6FDB92B0AB}"/>
              </a:ext>
            </a:extLst>
          </p:cNvPr>
          <p:cNvSpPr>
            <a:spLocks xmlns:a="http://schemas.openxmlformats.org/drawingml/2006/main" noGrp="1"/>
          </p:cNvSpPr>
          <p:nvPr/>
        </p:nvSpPr>
        <p:spPr>
          <a:xfrm xmlns:a="http://schemas.openxmlformats.org/drawingml/2006/main">
            <a:off x="895350" y="5667375"/>
            <a:ext cx="10382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defRPr sz="1350">
                <a:solidFill>
                  <a:srgbClr val="475569"/>
                </a:solidFill>
                <a:latin typeface="Helvetica Neue"/>
                <a:ea typeface="Helvetica Neue"/>
                <a:cs typeface="Helvetica Neue"/>
              </a:defRPr>
            </a:pPr>
            <a:r>
              <a:rPr sz="1350">
                <a:solidFill>
                  <a:srgbClr val="475569"/>
                </a:solidFill>
                <a:latin typeface="Helvetica Neue"/>
                <a:ea typeface="Helvetica Neue"/>
                <a:cs typeface="Helvetica Neue"/>
              </a:rPr>
              <a:t>A symptom appears at one point; its cause may live at another.</a:t>
            </a:r>
          </a:p>
        </p:txBody>
      </p:sp>
    </p:spTree>
    <p:extLst>
      <p:ext uri="{BB962C8B-B14F-4D97-AF65-F5344CB8AC3E}">
        <p14:creationId xmlns:p14="http://schemas.microsoft.com/office/powerpoint/2010/main" val="813028548"/>
      </p:ext>
    </p:extLst>
  </p:cSld>
</p:sld>
</file>

<file path=ppt/slides/slide4.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5D27A298-C2F3-4DEB-A412-AFB0A4BB6762}"/>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eyebrow">
            <a:extLst xmlns:a="http://schemas.openxmlformats.org/drawingml/2006/main">
              <a:ext uri="{FF2B5EF4-FFF2-40B4-BE49-F238E27FC236}">
                <a16:creationId xmlns:a16="http://schemas.microsoft.com/office/drawing/2014/main" id="{9A398063-0506-44D1-A418-F520E25906CF}"/>
              </a:ext>
            </a:extLst>
          </p:cNvPr>
          <p:cNvSpPr>
            <a:spLocks xmlns:a="http://schemas.openxmlformats.org/drawingml/2006/main" noGrp="1"/>
          </p:cNvSpPr>
          <p:nvPr/>
        </p:nvSpPr>
        <p:spPr>
          <a:xfrm xmlns:a="http://schemas.openxmlformats.org/drawingml/2006/main">
            <a:off x="609600" y="2952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975" b="1">
                <a:solidFill>
                  <a:srgbClr val="0F766E"/>
                </a:solidFill>
                <a:latin typeface="Helvetica Neue"/>
                <a:ea typeface="Helvetica Neue"/>
                <a:cs typeface="Helvetica Neue"/>
              </a:defRPr>
            </a:pPr>
            <a:r>
              <a:rPr sz="975" b="1">
                <a:solidFill>
                  <a:srgbClr val="0F766E"/>
                </a:solidFill>
                <a:latin typeface="Helvetica Neue"/>
                <a:ea typeface="Helvetica Neue"/>
                <a:cs typeface="Helvetica Neue"/>
              </a:rPr>
              <a:t>WEEK 01  /  CST4714</a:t>
            </a:r>
          </a:p>
        </p:txBody>
      </p:sp>
      <p:sp>
        <p:nvSpPr>
          <p:cNvPr id="3" name="slide-title">
            <a:extLst xmlns:a="http://schemas.openxmlformats.org/drawingml/2006/main">
              <a:ext uri="{FF2B5EF4-FFF2-40B4-BE49-F238E27FC236}">
                <a16:creationId xmlns:a16="http://schemas.microsoft.com/office/drawing/2014/main" id="{4563D6F9-5D8E-4E37-9CA0-2B541D35AAD3}"/>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Managed service divides work; it does not erase it</a:t>
            </a:r>
          </a:p>
        </p:txBody>
      </p:sp>
      <p:sp>
        <p:nvSpPr>
          <p:cNvPr id="4" name="">
            <a:extLst xmlns:a="http://schemas.openxmlformats.org/drawingml/2006/main">
              <a:ext uri="{FF2B5EF4-FFF2-40B4-BE49-F238E27FC236}">
                <a16:creationId xmlns:a16="http://schemas.microsoft.com/office/drawing/2014/main" id="{CFA1A214-A8C9-4D0B-AC2B-2300E42307FB}"/>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5" name="slide-number">
            <a:extLst xmlns:a="http://schemas.openxmlformats.org/drawingml/2006/main">
              <a:ext uri="{FF2B5EF4-FFF2-40B4-BE49-F238E27FC236}">
                <a16:creationId xmlns:a16="http://schemas.microsoft.com/office/drawing/2014/main" id="{1C90FFB5-4FD4-4290-9B63-EE07018573D9}"/>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r">
              <a:defRPr sz="825">
                <a:solidFill>
                  <a:srgbClr val="94A3B8"/>
                </a:solidFill>
                <a:latin typeface="Helvetica Neue"/>
                <a:ea typeface="Helvetica Neue"/>
                <a:cs typeface="Helvetica Neue"/>
              </a:defRPr>
            </a:pPr>
            <a:r>
              <a:rPr sz="825">
                <a:solidFill>
                  <a:srgbClr val="94A3B8"/>
                </a:solidFill>
                <a:latin typeface="Helvetica Neue"/>
                <a:ea typeface="Helvetica Neue"/>
                <a:cs typeface="Helvetica Neue"/>
              </a:rPr>
              <a:t>4</a:t>
            </a:r>
          </a:p>
        </p:txBody>
      </p:sp>
      <p:sp>
        <p:nvSpPr>
          <p:cNvPr id="6" name="">
            <a:extLst xmlns:a="http://schemas.openxmlformats.org/drawingml/2006/main">
              <a:ext uri="{FF2B5EF4-FFF2-40B4-BE49-F238E27FC236}">
                <a16:creationId xmlns:a16="http://schemas.microsoft.com/office/drawing/2014/main" id="{86847991-ECD9-4438-B9DC-02FB9E14AB31}"/>
              </a:ext>
            </a:extLst>
          </p:cNvPr>
          <p:cNvSpPr>
            <a:spLocks xmlns:a="http://schemas.openxmlformats.org/drawingml/2006/main" noGrp="1"/>
          </p:cNvSpPr>
          <p:nvPr/>
        </p:nvSpPr>
        <p:spPr>
          <a:xfrm xmlns:a="http://schemas.openxmlformats.org/drawingml/2006/main">
            <a:off x="723900" y="1676400"/>
            <a:ext cx="4762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1950" b="1">
                <a:solidFill>
                  <a:srgbClr val="0F766E"/>
                </a:solidFill>
                <a:latin typeface="Helvetica Neue"/>
                <a:ea typeface="Helvetica Neue"/>
                <a:cs typeface="Helvetica Neue"/>
              </a:defRPr>
            </a:pPr>
            <a:r>
              <a:rPr sz="1950" b="1">
                <a:solidFill>
                  <a:srgbClr val="0F766E"/>
                </a:solidFill>
                <a:latin typeface="Helvetica Neue"/>
                <a:ea typeface="Helvetica Neue"/>
                <a:cs typeface="Helvetica Neue"/>
              </a:rPr>
              <a:t>Provider commonly operates</a:t>
            </a:r>
          </a:p>
        </p:txBody>
      </p:sp>
      <p:sp>
        <p:nvSpPr>
          <p:cNvPr id="7" name="">
            <a:extLst xmlns:a="http://schemas.openxmlformats.org/drawingml/2006/main">
              <a:ext uri="{FF2B5EF4-FFF2-40B4-BE49-F238E27FC236}">
                <a16:creationId xmlns:a16="http://schemas.microsoft.com/office/drawing/2014/main" id="{89772415-E46D-4656-85AD-3D704BFA4892}"/>
              </a:ext>
            </a:extLst>
          </p:cNvPr>
          <p:cNvSpPr>
            <a:spLocks xmlns:a="http://schemas.openxmlformats.org/drawingml/2006/main" noGrp="1"/>
          </p:cNvSpPr>
          <p:nvPr/>
        </p:nvSpPr>
        <p:spPr>
          <a:xfrm xmlns:a="http://schemas.openxmlformats.org/drawingml/2006/main">
            <a:off x="6705600" y="1676400"/>
            <a:ext cx="4762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1950" b="1">
                <a:solidFill>
                  <a:srgbClr val="111827"/>
                </a:solidFill>
                <a:latin typeface="Helvetica Neue"/>
                <a:ea typeface="Helvetica Neue"/>
                <a:cs typeface="Helvetica Neue"/>
              </a:defRPr>
            </a:pPr>
            <a:r>
              <a:rPr sz="1950" b="1">
                <a:solidFill>
                  <a:srgbClr val="111827"/>
                </a:solidFill>
                <a:latin typeface="Helvetica Neue"/>
                <a:ea typeface="Helvetica Neue"/>
                <a:cs typeface="Helvetica Neue"/>
              </a:rPr>
              <a:t>Customer still operates</a:t>
            </a:r>
          </a:p>
        </p:txBody>
      </p:sp>
      <p:sp>
        <p:nvSpPr>
          <p:cNvPr id="8" name="">
            <a:extLst xmlns:a="http://schemas.openxmlformats.org/drawingml/2006/main">
              <a:ext uri="{FF2B5EF4-FFF2-40B4-BE49-F238E27FC236}">
                <a16:creationId xmlns:a16="http://schemas.microsoft.com/office/drawing/2014/main" id="{62F3F423-4C1D-4D85-90DA-E27F4BC6D723}"/>
              </a:ext>
            </a:extLst>
          </p:cNvPr>
          <p:cNvSpPr>
            <a:spLocks xmlns:a="http://schemas.openxmlformats.org/drawingml/2006/main" noGrp="1"/>
          </p:cNvSpPr>
          <p:nvPr/>
        </p:nvSpPr>
        <p:spPr>
          <a:xfrm xmlns:a="http://schemas.openxmlformats.org/drawingml/2006/main">
            <a:off x="6096000" y="1638300"/>
            <a:ext cx="0" cy="430530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9" name="">
            <a:extLst xmlns:a="http://schemas.openxmlformats.org/drawingml/2006/main">
              <a:ext uri="{FF2B5EF4-FFF2-40B4-BE49-F238E27FC236}">
                <a16:creationId xmlns:a16="http://schemas.microsoft.com/office/drawing/2014/main" id="{E168521E-87A3-4F26-9F4F-01B5E32C7864}"/>
              </a:ext>
            </a:extLst>
          </p:cNvPr>
          <p:cNvSpPr>
            <a:spLocks xmlns:a="http://schemas.openxmlformats.org/drawingml/2006/main" noGrp="1"/>
          </p:cNvSpPr>
          <p:nvPr/>
        </p:nvSpPr>
        <p:spPr>
          <a:xfrm xmlns:a="http://schemas.openxmlformats.org/drawingml/2006/main">
            <a:off x="762000" y="2400300"/>
            <a:ext cx="85725" cy="304800"/>
          </a:xfrm>
          <a:prstGeom xmlns:a="http://schemas.openxmlformats.org/drawingml/2006/main" prst="rect">
            <a:avLst/>
          </a:prstGeom>
          <a:solidFill xmlns:a="http://schemas.openxmlformats.org/drawingml/2006/main">
            <a:srgbClr val="0F766E"/>
          </a:solidFill>
          <a:ln xmlns:a="http://schemas.openxmlformats.org/drawingml/2006/main" w="0">
            <a:solidFill>
              <a:srgbClr val="0F766E"/>
            </a:solidFill>
            <a:prstDash val="solid"/>
          </a:ln>
        </p:spPr>
      </p:sp>
      <p:sp>
        <p:nvSpPr>
          <p:cNvPr id="10" name="">
            <a:extLst xmlns:a="http://schemas.openxmlformats.org/drawingml/2006/main">
              <a:ext uri="{FF2B5EF4-FFF2-40B4-BE49-F238E27FC236}">
                <a16:creationId xmlns:a16="http://schemas.microsoft.com/office/drawing/2014/main" id="{615EE7D9-2A3C-42E9-8255-0037F375840F}"/>
              </a:ext>
            </a:extLst>
          </p:cNvPr>
          <p:cNvSpPr>
            <a:spLocks xmlns:a="http://schemas.openxmlformats.org/drawingml/2006/main" noGrp="1"/>
          </p:cNvSpPr>
          <p:nvPr/>
        </p:nvSpPr>
        <p:spPr>
          <a:xfrm xmlns:a="http://schemas.openxmlformats.org/drawingml/2006/main">
            <a:off x="1028700" y="234315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Physical infrastructure and managed service availability</a:t>
            </a:r>
          </a:p>
        </p:txBody>
      </p:sp>
      <p:sp>
        <p:nvSpPr>
          <p:cNvPr id="11" name="">
            <a:extLst xmlns:a="http://schemas.openxmlformats.org/drawingml/2006/main">
              <a:ext uri="{FF2B5EF4-FFF2-40B4-BE49-F238E27FC236}">
                <a16:creationId xmlns:a16="http://schemas.microsoft.com/office/drawing/2014/main" id="{2D4AC1B4-F34D-4575-BFA1-D65416C21169}"/>
              </a:ext>
            </a:extLst>
          </p:cNvPr>
          <p:cNvSpPr>
            <a:spLocks xmlns:a="http://schemas.openxmlformats.org/drawingml/2006/main" noGrp="1"/>
          </p:cNvSpPr>
          <p:nvPr/>
        </p:nvSpPr>
        <p:spPr>
          <a:xfrm xmlns:a="http://schemas.openxmlformats.org/drawingml/2006/main">
            <a:off x="762000" y="3143250"/>
            <a:ext cx="85725" cy="304800"/>
          </a:xfrm>
          <a:prstGeom xmlns:a="http://schemas.openxmlformats.org/drawingml/2006/main" prst="rect">
            <a:avLst/>
          </a:prstGeom>
          <a:solidFill xmlns:a="http://schemas.openxmlformats.org/drawingml/2006/main">
            <a:srgbClr val="0F766E"/>
          </a:solidFill>
          <a:ln xmlns:a="http://schemas.openxmlformats.org/drawingml/2006/main" w="0">
            <a:solidFill>
              <a:srgbClr val="0F766E"/>
            </a:solidFill>
            <a:prstDash val="solid"/>
          </a:ln>
        </p:spPr>
      </p:sp>
      <p:sp>
        <p:nvSpPr>
          <p:cNvPr id="12" name="">
            <a:extLst xmlns:a="http://schemas.openxmlformats.org/drawingml/2006/main">
              <a:ext uri="{FF2B5EF4-FFF2-40B4-BE49-F238E27FC236}">
                <a16:creationId xmlns:a16="http://schemas.microsoft.com/office/drawing/2014/main" id="{C9606484-DE40-4126-8FB1-346E80F834F2}"/>
              </a:ext>
            </a:extLst>
          </p:cNvPr>
          <p:cNvSpPr>
            <a:spLocks xmlns:a="http://schemas.openxmlformats.org/drawingml/2006/main" noGrp="1"/>
          </p:cNvSpPr>
          <p:nvPr/>
        </p:nvSpPr>
        <p:spPr>
          <a:xfrm xmlns:a="http://schemas.openxmlformats.org/drawingml/2006/main">
            <a:off x="1028700" y="308610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Platform patching and supported service components</a:t>
            </a:r>
          </a:p>
        </p:txBody>
      </p:sp>
      <p:sp>
        <p:nvSpPr>
          <p:cNvPr id="13" name="">
            <a:extLst xmlns:a="http://schemas.openxmlformats.org/drawingml/2006/main">
              <a:ext uri="{FF2B5EF4-FFF2-40B4-BE49-F238E27FC236}">
                <a16:creationId xmlns:a16="http://schemas.microsoft.com/office/drawing/2014/main" id="{D327D385-E86E-444D-9995-BC39A3FF638B}"/>
              </a:ext>
            </a:extLst>
          </p:cNvPr>
          <p:cNvSpPr>
            <a:spLocks xmlns:a="http://schemas.openxmlformats.org/drawingml/2006/main" noGrp="1"/>
          </p:cNvSpPr>
          <p:nvPr/>
        </p:nvSpPr>
        <p:spPr>
          <a:xfrm xmlns:a="http://schemas.openxmlformats.org/drawingml/2006/main">
            <a:off x="762000" y="3886200"/>
            <a:ext cx="85725" cy="304800"/>
          </a:xfrm>
          <a:prstGeom xmlns:a="http://schemas.openxmlformats.org/drawingml/2006/main" prst="rect">
            <a:avLst/>
          </a:prstGeom>
          <a:solidFill xmlns:a="http://schemas.openxmlformats.org/drawingml/2006/main">
            <a:srgbClr val="0F766E"/>
          </a:solidFill>
          <a:ln xmlns:a="http://schemas.openxmlformats.org/drawingml/2006/main" w="0">
            <a:solidFill>
              <a:srgbClr val="0F766E"/>
            </a:solidFill>
            <a:prstDash val="solid"/>
          </a:ln>
        </p:spPr>
      </p:sp>
      <p:sp>
        <p:nvSpPr>
          <p:cNvPr id="14" name="">
            <a:extLst xmlns:a="http://schemas.openxmlformats.org/drawingml/2006/main">
              <a:ext uri="{FF2B5EF4-FFF2-40B4-BE49-F238E27FC236}">
                <a16:creationId xmlns:a16="http://schemas.microsoft.com/office/drawing/2014/main" id="{F3ABBCD8-9082-4A1F-81EB-180DA9F58319}"/>
              </a:ext>
            </a:extLst>
          </p:cNvPr>
          <p:cNvSpPr>
            <a:spLocks xmlns:a="http://schemas.openxmlformats.org/drawingml/2006/main" noGrp="1"/>
          </p:cNvSpPr>
          <p:nvPr/>
        </p:nvSpPr>
        <p:spPr>
          <a:xfrm xmlns:a="http://schemas.openxmlformats.org/drawingml/2006/main">
            <a:off x="1028700" y="382905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Documented controls for networking, identity, and monitoring</a:t>
            </a:r>
          </a:p>
        </p:txBody>
      </p:sp>
      <p:sp>
        <p:nvSpPr>
          <p:cNvPr id="15" name="">
            <a:extLst xmlns:a="http://schemas.openxmlformats.org/drawingml/2006/main">
              <a:ext uri="{FF2B5EF4-FFF2-40B4-BE49-F238E27FC236}">
                <a16:creationId xmlns:a16="http://schemas.microsoft.com/office/drawing/2014/main" id="{4D289046-11A6-44BE-A180-701A97A2D6B7}"/>
              </a:ext>
            </a:extLst>
          </p:cNvPr>
          <p:cNvSpPr>
            <a:spLocks xmlns:a="http://schemas.openxmlformats.org/drawingml/2006/main" noGrp="1"/>
          </p:cNvSpPr>
          <p:nvPr/>
        </p:nvSpPr>
        <p:spPr>
          <a:xfrm xmlns:a="http://schemas.openxmlformats.org/drawingml/2006/main">
            <a:off x="6743700" y="2400300"/>
            <a:ext cx="85725" cy="304800"/>
          </a:xfrm>
          <a:prstGeom xmlns:a="http://schemas.openxmlformats.org/drawingml/2006/main" prst="rect">
            <a:avLst/>
          </a:prstGeom>
          <a:solidFill xmlns:a="http://schemas.openxmlformats.org/drawingml/2006/main">
            <a:srgbClr val="475569"/>
          </a:solidFill>
          <a:ln xmlns:a="http://schemas.openxmlformats.org/drawingml/2006/main" w="0">
            <a:solidFill>
              <a:srgbClr val="475569"/>
            </a:solidFill>
            <a:prstDash val="solid"/>
          </a:ln>
        </p:spPr>
      </p:sp>
      <p:sp>
        <p:nvSpPr>
          <p:cNvPr id="16" name="">
            <a:extLst xmlns:a="http://schemas.openxmlformats.org/drawingml/2006/main">
              <a:ext uri="{FF2B5EF4-FFF2-40B4-BE49-F238E27FC236}">
                <a16:creationId xmlns:a16="http://schemas.microsoft.com/office/drawing/2014/main" id="{F29CD247-8EF5-4FE8-9203-572379D3CED9}"/>
              </a:ext>
            </a:extLst>
          </p:cNvPr>
          <p:cNvSpPr>
            <a:spLocks xmlns:a="http://schemas.openxmlformats.org/drawingml/2006/main" noGrp="1"/>
          </p:cNvSpPr>
          <p:nvPr/>
        </p:nvSpPr>
        <p:spPr>
          <a:xfrm xmlns:a="http://schemas.openxmlformats.org/drawingml/2006/main">
            <a:off x="7010400" y="234315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Data model, constraints, queries, and application behavior</a:t>
            </a:r>
          </a:p>
        </p:txBody>
      </p:sp>
      <p:sp>
        <p:nvSpPr>
          <p:cNvPr id="17" name="">
            <a:extLst xmlns:a="http://schemas.openxmlformats.org/drawingml/2006/main">
              <a:ext uri="{FF2B5EF4-FFF2-40B4-BE49-F238E27FC236}">
                <a16:creationId xmlns:a16="http://schemas.microsoft.com/office/drawing/2014/main" id="{D6376112-1929-4B58-8A2B-356930942674}"/>
              </a:ext>
            </a:extLst>
          </p:cNvPr>
          <p:cNvSpPr>
            <a:spLocks xmlns:a="http://schemas.openxmlformats.org/drawingml/2006/main" noGrp="1"/>
          </p:cNvSpPr>
          <p:nvPr/>
        </p:nvSpPr>
        <p:spPr>
          <a:xfrm xmlns:a="http://schemas.openxmlformats.org/drawingml/2006/main">
            <a:off x="6743700" y="3143250"/>
            <a:ext cx="85725" cy="304800"/>
          </a:xfrm>
          <a:prstGeom xmlns:a="http://schemas.openxmlformats.org/drawingml/2006/main" prst="rect">
            <a:avLst/>
          </a:prstGeom>
          <a:solidFill xmlns:a="http://schemas.openxmlformats.org/drawingml/2006/main">
            <a:srgbClr val="475569"/>
          </a:solidFill>
          <a:ln xmlns:a="http://schemas.openxmlformats.org/drawingml/2006/main" w="0">
            <a:solidFill>
              <a:srgbClr val="475569"/>
            </a:solidFill>
            <a:prstDash val="solid"/>
          </a:ln>
        </p:spPr>
      </p:sp>
      <p:sp>
        <p:nvSpPr>
          <p:cNvPr id="18" name="">
            <a:extLst xmlns:a="http://schemas.openxmlformats.org/drawingml/2006/main">
              <a:ext uri="{FF2B5EF4-FFF2-40B4-BE49-F238E27FC236}">
                <a16:creationId xmlns:a16="http://schemas.microsoft.com/office/drawing/2014/main" id="{82C241A7-10A3-4503-B941-DA61C98B3955}"/>
              </a:ext>
            </a:extLst>
          </p:cNvPr>
          <p:cNvSpPr>
            <a:spLocks xmlns:a="http://schemas.openxmlformats.org/drawingml/2006/main" noGrp="1"/>
          </p:cNvSpPr>
          <p:nvPr/>
        </p:nvSpPr>
        <p:spPr>
          <a:xfrm xmlns:a="http://schemas.openxmlformats.org/drawingml/2006/main">
            <a:off x="7010400" y="308610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Database users, roles, policies, and secret handling</a:t>
            </a:r>
          </a:p>
        </p:txBody>
      </p:sp>
      <p:sp>
        <p:nvSpPr>
          <p:cNvPr id="19" name="">
            <a:extLst xmlns:a="http://schemas.openxmlformats.org/drawingml/2006/main">
              <a:ext uri="{FF2B5EF4-FFF2-40B4-BE49-F238E27FC236}">
                <a16:creationId xmlns:a16="http://schemas.microsoft.com/office/drawing/2014/main" id="{5ACF7FA8-8392-42E2-B79C-D25698D74017}"/>
              </a:ext>
            </a:extLst>
          </p:cNvPr>
          <p:cNvSpPr>
            <a:spLocks xmlns:a="http://schemas.openxmlformats.org/drawingml/2006/main" noGrp="1"/>
          </p:cNvSpPr>
          <p:nvPr/>
        </p:nvSpPr>
        <p:spPr>
          <a:xfrm xmlns:a="http://schemas.openxmlformats.org/drawingml/2006/main">
            <a:off x="6743700" y="3886200"/>
            <a:ext cx="85725" cy="304800"/>
          </a:xfrm>
          <a:prstGeom xmlns:a="http://schemas.openxmlformats.org/drawingml/2006/main" prst="rect">
            <a:avLst/>
          </a:prstGeom>
          <a:solidFill xmlns:a="http://schemas.openxmlformats.org/drawingml/2006/main">
            <a:srgbClr val="475569"/>
          </a:solidFill>
          <a:ln xmlns:a="http://schemas.openxmlformats.org/drawingml/2006/main" w="0">
            <a:solidFill>
              <a:srgbClr val="475569"/>
            </a:solidFill>
            <a:prstDash val="solid"/>
          </a:ln>
        </p:spPr>
      </p:sp>
      <p:sp>
        <p:nvSpPr>
          <p:cNvPr id="20" name="">
            <a:extLst xmlns:a="http://schemas.openxmlformats.org/drawingml/2006/main">
              <a:ext uri="{FF2B5EF4-FFF2-40B4-BE49-F238E27FC236}">
                <a16:creationId xmlns:a16="http://schemas.microsoft.com/office/drawing/2014/main" id="{FDA6CE4D-DF82-4E91-A1BF-AAF48BC21930}"/>
              </a:ext>
            </a:extLst>
          </p:cNvPr>
          <p:cNvSpPr>
            <a:spLocks xmlns:a="http://schemas.openxmlformats.org/drawingml/2006/main" noGrp="1"/>
          </p:cNvSpPr>
          <p:nvPr/>
        </p:nvSpPr>
        <p:spPr>
          <a:xfrm xmlns:a="http://schemas.openxmlformats.org/drawingml/2006/main">
            <a:off x="7010400" y="382905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Recovery requirements, verification, and response to mistakes</a:t>
            </a:r>
          </a:p>
        </p:txBody>
      </p:sp>
    </p:spTree>
    <p:extLst>
      <p:ext uri="{BB962C8B-B14F-4D97-AF65-F5344CB8AC3E}">
        <p14:creationId xmlns:p14="http://schemas.microsoft.com/office/powerpoint/2010/main" val="1729773287"/>
      </p:ext>
    </p:extLst>
  </p:cSld>
</p:sld>
</file>

<file path=ppt/slides/slide5.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5F491B96-E38F-4469-ACD9-547E256D397E}"/>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eyebrow">
            <a:extLst xmlns:a="http://schemas.openxmlformats.org/drawingml/2006/main">
              <a:ext uri="{FF2B5EF4-FFF2-40B4-BE49-F238E27FC236}">
                <a16:creationId xmlns:a16="http://schemas.microsoft.com/office/drawing/2014/main" id="{85C7E0AF-5CF4-4090-BBF6-2D37591AECF8}"/>
              </a:ext>
            </a:extLst>
          </p:cNvPr>
          <p:cNvSpPr>
            <a:spLocks xmlns:a="http://schemas.openxmlformats.org/drawingml/2006/main" noGrp="1"/>
          </p:cNvSpPr>
          <p:nvPr/>
        </p:nvSpPr>
        <p:spPr>
          <a:xfrm xmlns:a="http://schemas.openxmlformats.org/drawingml/2006/main">
            <a:off x="609600" y="2952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975" b="1">
                <a:solidFill>
                  <a:srgbClr val="0F766E"/>
                </a:solidFill>
                <a:latin typeface="Helvetica Neue"/>
                <a:ea typeface="Helvetica Neue"/>
                <a:cs typeface="Helvetica Neue"/>
              </a:defRPr>
            </a:pPr>
            <a:r>
              <a:rPr sz="975" b="1">
                <a:solidFill>
                  <a:srgbClr val="0F766E"/>
                </a:solidFill>
                <a:latin typeface="Helvetica Neue"/>
                <a:ea typeface="Helvetica Neue"/>
                <a:cs typeface="Helvetica Neue"/>
              </a:rPr>
              <a:t>WEEK 01  /  CST4714</a:t>
            </a:r>
          </a:p>
        </p:txBody>
      </p:sp>
      <p:sp>
        <p:nvSpPr>
          <p:cNvPr id="3" name="slide-title">
            <a:extLst xmlns:a="http://schemas.openxmlformats.org/drawingml/2006/main">
              <a:ext uri="{FF2B5EF4-FFF2-40B4-BE49-F238E27FC236}">
                <a16:creationId xmlns:a16="http://schemas.microsoft.com/office/drawing/2014/main" id="{C2038F68-9039-4E6B-9512-1233B7A1D7DE}"/>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Evidence turns a symptom into a reproducible observation</a:t>
            </a:r>
          </a:p>
        </p:txBody>
      </p:sp>
      <p:sp>
        <p:nvSpPr>
          <p:cNvPr id="4" name="">
            <a:extLst xmlns:a="http://schemas.openxmlformats.org/drawingml/2006/main">
              <a:ext uri="{FF2B5EF4-FFF2-40B4-BE49-F238E27FC236}">
                <a16:creationId xmlns:a16="http://schemas.microsoft.com/office/drawing/2014/main" id="{98C9C334-F7AC-4D73-91AD-1570AF514019}"/>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5" name="slide-number">
            <a:extLst xmlns:a="http://schemas.openxmlformats.org/drawingml/2006/main">
              <a:ext uri="{FF2B5EF4-FFF2-40B4-BE49-F238E27FC236}">
                <a16:creationId xmlns:a16="http://schemas.microsoft.com/office/drawing/2014/main" id="{FC1FA668-5F27-4C0E-BC59-1E0D9C1F8C1D}"/>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r">
              <a:defRPr sz="825">
                <a:solidFill>
                  <a:srgbClr val="94A3B8"/>
                </a:solidFill>
                <a:latin typeface="Helvetica Neue"/>
                <a:ea typeface="Helvetica Neue"/>
                <a:cs typeface="Helvetica Neue"/>
              </a:defRPr>
            </a:pPr>
            <a:r>
              <a:rPr sz="825">
                <a:solidFill>
                  <a:srgbClr val="94A3B8"/>
                </a:solidFill>
                <a:latin typeface="Helvetica Neue"/>
                <a:ea typeface="Helvetica Neue"/>
                <a:cs typeface="Helvetica Neue"/>
              </a:rPr>
              <a:t>5</a:t>
            </a:r>
          </a:p>
        </p:txBody>
      </p:sp>
      <p:sp>
        <p:nvSpPr>
          <p:cNvPr id="6" name="">
            <a:extLst xmlns:a="http://schemas.openxmlformats.org/drawingml/2006/main">
              <a:ext uri="{FF2B5EF4-FFF2-40B4-BE49-F238E27FC236}">
                <a16:creationId xmlns:a16="http://schemas.microsoft.com/office/drawing/2014/main" id="{BF031C50-7E47-4638-9EFF-3192076E3ADD}"/>
              </a:ext>
            </a:extLst>
          </p:cNvPr>
          <p:cNvSpPr>
            <a:spLocks xmlns:a="http://schemas.openxmlformats.org/drawingml/2006/main" noGrp="1"/>
          </p:cNvSpPr>
          <p:nvPr/>
        </p:nvSpPr>
        <p:spPr>
          <a:xfrm xmlns:a="http://schemas.openxmlformats.org/drawingml/2006/main">
            <a:off x="1524000" y="2952750"/>
            <a:ext cx="9144000" cy="0"/>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7" name="">
            <a:extLst xmlns:a="http://schemas.openxmlformats.org/drawingml/2006/main">
              <a:ext uri="{FF2B5EF4-FFF2-40B4-BE49-F238E27FC236}">
                <a16:creationId xmlns:a16="http://schemas.microsoft.com/office/drawing/2014/main" id="{84DF9B9E-D234-4307-88A6-6302650075D0}"/>
              </a:ext>
            </a:extLst>
          </p:cNvPr>
          <p:cNvSpPr>
            <a:spLocks xmlns:a="http://schemas.openxmlformats.org/drawingml/2006/main" noGrp="1"/>
          </p:cNvSpPr>
          <p:nvPr/>
        </p:nvSpPr>
        <p:spPr>
          <a:xfrm xmlns:a="http://schemas.openxmlformats.org/drawingml/2006/main">
            <a:off x="1381125" y="2809875"/>
            <a:ext cx="285750" cy="285750"/>
          </a:xfrm>
          <a:prstGeom xmlns:a="http://schemas.openxmlformats.org/drawingml/2006/main" prst="ellipse">
            <a:avLst/>
          </a:prstGeom>
          <a:solidFill xmlns:a="http://schemas.openxmlformats.org/drawingml/2006/main">
            <a:srgbClr val="0F766E"/>
          </a:solidFill>
          <a:ln xmlns:a="http://schemas.openxmlformats.org/drawingml/2006/main" w="28575">
            <a:solidFill>
              <a:srgbClr val="0F766E"/>
            </a:solidFill>
            <a:prstDash val="solid"/>
          </a:ln>
        </p:spPr>
      </p:sp>
      <p:sp>
        <p:nvSpPr>
          <p:cNvPr id="8" name="">
            <a:extLst xmlns:a="http://schemas.openxmlformats.org/drawingml/2006/main">
              <a:ext uri="{FF2B5EF4-FFF2-40B4-BE49-F238E27FC236}">
                <a16:creationId xmlns:a16="http://schemas.microsoft.com/office/drawing/2014/main" id="{A475E45D-F79A-41A6-92D5-18A2A5B70D12}"/>
              </a:ext>
            </a:extLst>
          </p:cNvPr>
          <p:cNvSpPr>
            <a:spLocks xmlns:a="http://schemas.openxmlformats.org/drawingml/2006/main" noGrp="1"/>
          </p:cNvSpPr>
          <p:nvPr/>
        </p:nvSpPr>
        <p:spPr>
          <a:xfrm xmlns:a="http://schemas.openxmlformats.org/drawingml/2006/main">
            <a:off x="1409700" y="2847975"/>
            <a:ext cx="228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1</a:t>
            </a:r>
          </a:p>
        </p:txBody>
      </p:sp>
      <p:sp>
        <p:nvSpPr>
          <p:cNvPr id="9" name="">
            <a:extLst xmlns:a="http://schemas.openxmlformats.org/drawingml/2006/main">
              <a:ext uri="{FF2B5EF4-FFF2-40B4-BE49-F238E27FC236}">
                <a16:creationId xmlns:a16="http://schemas.microsoft.com/office/drawing/2014/main" id="{93CF063D-7997-46B1-808D-865CEC75D92C}"/>
              </a:ext>
            </a:extLst>
          </p:cNvPr>
          <p:cNvSpPr>
            <a:spLocks xmlns:a="http://schemas.openxmlformats.org/drawingml/2006/main" noGrp="1"/>
          </p:cNvSpPr>
          <p:nvPr/>
        </p:nvSpPr>
        <p:spPr>
          <a:xfrm xmlns:a="http://schemas.openxmlformats.org/drawingml/2006/main">
            <a:off x="685800" y="3333750"/>
            <a:ext cx="1676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defRPr sz="1500" b="1">
                <a:solidFill>
                  <a:srgbClr val="111827"/>
                </a:solidFill>
                <a:latin typeface="Helvetica Neue"/>
                <a:ea typeface="Helvetica Neue"/>
                <a:cs typeface="Helvetica Neue"/>
              </a:defRPr>
            </a:pPr>
            <a:r>
              <a:rPr sz="1500" b="1">
                <a:solidFill>
                  <a:srgbClr val="111827"/>
                </a:solidFill>
                <a:latin typeface="Helvetica Neue"/>
                <a:ea typeface="Helvetica Neue"/>
                <a:cs typeface="Helvetica Neue"/>
              </a:rPr>
              <a:t>Environment</a:t>
            </a:r>
          </a:p>
        </p:txBody>
      </p:sp>
      <p:sp>
        <p:nvSpPr>
          <p:cNvPr id="10" name="">
            <a:extLst xmlns:a="http://schemas.openxmlformats.org/drawingml/2006/main">
              <a:ext uri="{FF2B5EF4-FFF2-40B4-BE49-F238E27FC236}">
                <a16:creationId xmlns:a16="http://schemas.microsoft.com/office/drawing/2014/main" id="{A812BC2E-9DEB-4358-92C3-79E76DD94795}"/>
              </a:ext>
            </a:extLst>
          </p:cNvPr>
          <p:cNvSpPr>
            <a:spLocks xmlns:a="http://schemas.openxmlformats.org/drawingml/2006/main" noGrp="1"/>
          </p:cNvSpPr>
          <p:nvPr/>
        </p:nvSpPr>
        <p:spPr>
          <a:xfrm xmlns:a="http://schemas.openxmlformats.org/drawingml/2006/main">
            <a:off x="647700" y="3867150"/>
            <a:ext cx="17526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defRPr sz="1200">
                <a:solidFill>
                  <a:srgbClr val="475569"/>
                </a:solidFill>
                <a:latin typeface="Helvetica Neue"/>
                <a:ea typeface="Helvetica Neue"/>
                <a:cs typeface="Helvetica Neue"/>
              </a:defRPr>
            </a:pPr>
            <a:r>
              <a:rPr sz="1200">
                <a:solidFill>
                  <a:srgbClr val="475569"/>
                </a:solidFill>
                <a:latin typeface="Helvetica Neue"/>
                <a:ea typeface="Helvetica Neue"/>
                <a:cs typeface="Helvetica Neue"/>
              </a:rPr>
              <a:t>Service, database, role, tool, and relevant version</a:t>
            </a:r>
          </a:p>
        </p:txBody>
      </p:sp>
      <p:sp>
        <p:nvSpPr>
          <p:cNvPr id="11" name="">
            <a:extLst xmlns:a="http://schemas.openxmlformats.org/drawingml/2006/main">
              <a:ext uri="{FF2B5EF4-FFF2-40B4-BE49-F238E27FC236}">
                <a16:creationId xmlns:a16="http://schemas.microsoft.com/office/drawing/2014/main" id="{D23EEB7E-D980-4F76-9FBD-701507E66CC8}"/>
              </a:ext>
            </a:extLst>
          </p:cNvPr>
          <p:cNvSpPr>
            <a:spLocks xmlns:a="http://schemas.openxmlformats.org/drawingml/2006/main" noGrp="1"/>
          </p:cNvSpPr>
          <p:nvPr/>
        </p:nvSpPr>
        <p:spPr>
          <a:xfrm xmlns:a="http://schemas.openxmlformats.org/drawingml/2006/main">
            <a:off x="3667125" y="2809875"/>
            <a:ext cx="285750" cy="285750"/>
          </a:xfrm>
          <a:prstGeom xmlns:a="http://schemas.openxmlformats.org/drawingml/2006/main" prst="ellipse">
            <a:avLst/>
          </a:prstGeom>
          <a:solidFill xmlns:a="http://schemas.openxmlformats.org/drawingml/2006/main">
            <a:srgbClr val="FFFFFF"/>
          </a:solidFill>
          <a:ln xmlns:a="http://schemas.openxmlformats.org/drawingml/2006/main" w="28575">
            <a:solidFill>
              <a:srgbClr val="0F766E"/>
            </a:solidFill>
            <a:prstDash val="solid"/>
          </a:ln>
        </p:spPr>
      </p:sp>
      <p:sp>
        <p:nvSpPr>
          <p:cNvPr id="12" name="">
            <a:extLst xmlns:a="http://schemas.openxmlformats.org/drawingml/2006/main">
              <a:ext uri="{FF2B5EF4-FFF2-40B4-BE49-F238E27FC236}">
                <a16:creationId xmlns:a16="http://schemas.microsoft.com/office/drawing/2014/main" id="{FB676F3D-E19A-4BC3-95E1-8C68CB8A5451}"/>
              </a:ext>
            </a:extLst>
          </p:cNvPr>
          <p:cNvSpPr>
            <a:spLocks xmlns:a="http://schemas.openxmlformats.org/drawingml/2006/main" noGrp="1"/>
          </p:cNvSpPr>
          <p:nvPr/>
        </p:nvSpPr>
        <p:spPr>
          <a:xfrm xmlns:a="http://schemas.openxmlformats.org/drawingml/2006/main">
            <a:off x="3695700" y="2847975"/>
            <a:ext cx="228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lgn="ctr">
              <a:defRPr sz="975" b="1">
                <a:solidFill>
                  <a:srgbClr val="0F766E"/>
                </a:solidFill>
                <a:latin typeface="Helvetica Neue"/>
                <a:ea typeface="Helvetica Neue"/>
                <a:cs typeface="Helvetica Neue"/>
              </a:defRPr>
            </a:pPr>
            <a:r>
              <a:rPr sz="975" b="1">
                <a:solidFill>
                  <a:srgbClr val="0F766E"/>
                </a:solidFill>
                <a:latin typeface="Helvetica Neue"/>
                <a:ea typeface="Helvetica Neue"/>
                <a:cs typeface="Helvetica Neue"/>
              </a:rPr>
              <a:t>2</a:t>
            </a:r>
          </a:p>
        </p:txBody>
      </p:sp>
      <p:sp>
        <p:nvSpPr>
          <p:cNvPr id="13" name="">
            <a:extLst xmlns:a="http://schemas.openxmlformats.org/drawingml/2006/main">
              <a:ext uri="{FF2B5EF4-FFF2-40B4-BE49-F238E27FC236}">
                <a16:creationId xmlns:a16="http://schemas.microsoft.com/office/drawing/2014/main" id="{13009D49-30F0-4140-BD8A-4740665C9498}"/>
              </a:ext>
            </a:extLst>
          </p:cNvPr>
          <p:cNvSpPr>
            <a:spLocks xmlns:a="http://schemas.openxmlformats.org/drawingml/2006/main" noGrp="1"/>
          </p:cNvSpPr>
          <p:nvPr/>
        </p:nvSpPr>
        <p:spPr>
          <a:xfrm xmlns:a="http://schemas.openxmlformats.org/drawingml/2006/main">
            <a:off x="2971800" y="3333750"/>
            <a:ext cx="1676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defRPr sz="1500" b="1">
                <a:solidFill>
                  <a:srgbClr val="111827"/>
                </a:solidFill>
                <a:latin typeface="Helvetica Neue"/>
                <a:ea typeface="Helvetica Neue"/>
                <a:cs typeface="Helvetica Neue"/>
              </a:defRPr>
            </a:pPr>
            <a:r>
              <a:rPr sz="1500" b="1">
                <a:solidFill>
                  <a:srgbClr val="111827"/>
                </a:solidFill>
                <a:latin typeface="Helvetica Neue"/>
                <a:ea typeface="Helvetica Neue"/>
                <a:cs typeface="Helvetica Neue"/>
              </a:rPr>
              <a:t>Action</a:t>
            </a:r>
          </a:p>
        </p:txBody>
      </p:sp>
      <p:sp>
        <p:nvSpPr>
          <p:cNvPr id="14" name="">
            <a:extLst xmlns:a="http://schemas.openxmlformats.org/drawingml/2006/main">
              <a:ext uri="{FF2B5EF4-FFF2-40B4-BE49-F238E27FC236}">
                <a16:creationId xmlns:a16="http://schemas.microsoft.com/office/drawing/2014/main" id="{42EDBBE0-47F6-4E0E-B51E-E0A1B676A4DE}"/>
              </a:ext>
            </a:extLst>
          </p:cNvPr>
          <p:cNvSpPr>
            <a:spLocks xmlns:a="http://schemas.openxmlformats.org/drawingml/2006/main" noGrp="1"/>
          </p:cNvSpPr>
          <p:nvPr/>
        </p:nvSpPr>
        <p:spPr>
          <a:xfrm xmlns:a="http://schemas.openxmlformats.org/drawingml/2006/main">
            <a:off x="2933700" y="3867150"/>
            <a:ext cx="17526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defRPr sz="1200">
                <a:solidFill>
                  <a:srgbClr val="475569"/>
                </a:solidFill>
                <a:latin typeface="Helvetica Neue"/>
                <a:ea typeface="Helvetica Neue"/>
                <a:cs typeface="Helvetica Neue"/>
              </a:defRPr>
            </a:pPr>
            <a:r>
              <a:rPr sz="1200">
                <a:solidFill>
                  <a:srgbClr val="475569"/>
                </a:solidFill>
                <a:latin typeface="Helvetica Neue"/>
                <a:ea typeface="Helvetica Neue"/>
                <a:cs typeface="Helvetica Neue"/>
              </a:rPr>
              <a:t>Exact query, command, or interface operation</a:t>
            </a:r>
          </a:p>
        </p:txBody>
      </p:sp>
      <p:sp>
        <p:nvSpPr>
          <p:cNvPr id="15" name="">
            <a:extLst xmlns:a="http://schemas.openxmlformats.org/drawingml/2006/main">
              <a:ext uri="{FF2B5EF4-FFF2-40B4-BE49-F238E27FC236}">
                <a16:creationId xmlns:a16="http://schemas.microsoft.com/office/drawing/2014/main" id="{40E4EA46-9A09-4344-B56A-78FCF411D214}"/>
              </a:ext>
            </a:extLst>
          </p:cNvPr>
          <p:cNvSpPr>
            <a:spLocks xmlns:a="http://schemas.openxmlformats.org/drawingml/2006/main" noGrp="1"/>
          </p:cNvSpPr>
          <p:nvPr/>
        </p:nvSpPr>
        <p:spPr>
          <a:xfrm xmlns:a="http://schemas.openxmlformats.org/drawingml/2006/main">
            <a:off x="5953125" y="2809875"/>
            <a:ext cx="285750" cy="285750"/>
          </a:xfrm>
          <a:prstGeom xmlns:a="http://schemas.openxmlformats.org/drawingml/2006/main" prst="ellipse">
            <a:avLst/>
          </a:prstGeom>
          <a:solidFill xmlns:a="http://schemas.openxmlformats.org/drawingml/2006/main">
            <a:srgbClr val="FFFFFF"/>
          </a:solidFill>
          <a:ln xmlns:a="http://schemas.openxmlformats.org/drawingml/2006/main" w="28575">
            <a:solidFill>
              <a:srgbClr val="0F766E"/>
            </a:solidFill>
            <a:prstDash val="solid"/>
          </a:ln>
        </p:spPr>
      </p:sp>
      <p:sp>
        <p:nvSpPr>
          <p:cNvPr id="16" name="">
            <a:extLst xmlns:a="http://schemas.openxmlformats.org/drawingml/2006/main">
              <a:ext uri="{FF2B5EF4-FFF2-40B4-BE49-F238E27FC236}">
                <a16:creationId xmlns:a16="http://schemas.microsoft.com/office/drawing/2014/main" id="{304FB334-F587-4FD1-A727-A81EBD50725E}"/>
              </a:ext>
            </a:extLst>
          </p:cNvPr>
          <p:cNvSpPr>
            <a:spLocks xmlns:a="http://schemas.openxmlformats.org/drawingml/2006/main" noGrp="1"/>
          </p:cNvSpPr>
          <p:nvPr/>
        </p:nvSpPr>
        <p:spPr>
          <a:xfrm xmlns:a="http://schemas.openxmlformats.org/drawingml/2006/main">
            <a:off x="5981700" y="2847975"/>
            <a:ext cx="228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lgn="ctr">
              <a:defRPr sz="975" b="1">
                <a:solidFill>
                  <a:srgbClr val="0F766E"/>
                </a:solidFill>
                <a:latin typeface="Helvetica Neue"/>
                <a:ea typeface="Helvetica Neue"/>
                <a:cs typeface="Helvetica Neue"/>
              </a:defRPr>
            </a:pPr>
            <a:r>
              <a:rPr sz="975" b="1">
                <a:solidFill>
                  <a:srgbClr val="0F766E"/>
                </a:solidFill>
                <a:latin typeface="Helvetica Neue"/>
                <a:ea typeface="Helvetica Neue"/>
                <a:cs typeface="Helvetica Neue"/>
              </a:rPr>
              <a:t>3</a:t>
            </a:r>
          </a:p>
        </p:txBody>
      </p:sp>
      <p:sp>
        <p:nvSpPr>
          <p:cNvPr id="17" name="">
            <a:extLst xmlns:a="http://schemas.openxmlformats.org/drawingml/2006/main">
              <a:ext uri="{FF2B5EF4-FFF2-40B4-BE49-F238E27FC236}">
                <a16:creationId xmlns:a16="http://schemas.microsoft.com/office/drawing/2014/main" id="{D645FD61-E077-4CB2-9C25-2F1ACBC4BA14}"/>
              </a:ext>
            </a:extLst>
          </p:cNvPr>
          <p:cNvSpPr>
            <a:spLocks xmlns:a="http://schemas.openxmlformats.org/drawingml/2006/main" noGrp="1"/>
          </p:cNvSpPr>
          <p:nvPr/>
        </p:nvSpPr>
        <p:spPr>
          <a:xfrm xmlns:a="http://schemas.openxmlformats.org/drawingml/2006/main">
            <a:off x="5257800" y="3333750"/>
            <a:ext cx="1676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defRPr sz="1500" b="1">
                <a:solidFill>
                  <a:srgbClr val="111827"/>
                </a:solidFill>
                <a:latin typeface="Helvetica Neue"/>
                <a:ea typeface="Helvetica Neue"/>
                <a:cs typeface="Helvetica Neue"/>
              </a:defRPr>
            </a:pPr>
            <a:r>
              <a:rPr sz="1500" b="1">
                <a:solidFill>
                  <a:srgbClr val="111827"/>
                </a:solidFill>
                <a:latin typeface="Helvetica Neue"/>
                <a:ea typeface="Helvetica Neue"/>
                <a:cs typeface="Helvetica Neue"/>
              </a:rPr>
              <a:t>Observed</a:t>
            </a:r>
          </a:p>
        </p:txBody>
      </p:sp>
      <p:sp>
        <p:nvSpPr>
          <p:cNvPr id="18" name="">
            <a:extLst xmlns:a="http://schemas.openxmlformats.org/drawingml/2006/main">
              <a:ext uri="{FF2B5EF4-FFF2-40B4-BE49-F238E27FC236}">
                <a16:creationId xmlns:a16="http://schemas.microsoft.com/office/drawing/2014/main" id="{61FF81F0-76E7-4C2B-A4DF-30B234E6664F}"/>
              </a:ext>
            </a:extLst>
          </p:cNvPr>
          <p:cNvSpPr>
            <a:spLocks xmlns:a="http://schemas.openxmlformats.org/drawingml/2006/main" noGrp="1"/>
          </p:cNvSpPr>
          <p:nvPr/>
        </p:nvSpPr>
        <p:spPr>
          <a:xfrm xmlns:a="http://schemas.openxmlformats.org/drawingml/2006/main">
            <a:off x="5219700" y="3867150"/>
            <a:ext cx="17526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defRPr sz="1200">
                <a:solidFill>
                  <a:srgbClr val="475569"/>
                </a:solidFill>
                <a:latin typeface="Helvetica Neue"/>
                <a:ea typeface="Helvetica Neue"/>
                <a:cs typeface="Helvetica Neue"/>
              </a:defRPr>
            </a:pPr>
            <a:r>
              <a:rPr sz="1200">
                <a:solidFill>
                  <a:srgbClr val="475569"/>
                </a:solidFill>
                <a:latin typeface="Helvetica Neue"/>
                <a:ea typeface="Helvetica Neue"/>
                <a:cs typeface="Helvetica Neue"/>
              </a:rPr>
              <a:t>Result, error, count, plan, or state</a:t>
            </a:r>
          </a:p>
        </p:txBody>
      </p:sp>
      <p:sp>
        <p:nvSpPr>
          <p:cNvPr id="19" name="">
            <a:extLst xmlns:a="http://schemas.openxmlformats.org/drawingml/2006/main">
              <a:ext uri="{FF2B5EF4-FFF2-40B4-BE49-F238E27FC236}">
                <a16:creationId xmlns:a16="http://schemas.microsoft.com/office/drawing/2014/main" id="{31BA08F5-EF1A-44E4-85B1-25FF06A0D8DC}"/>
              </a:ext>
            </a:extLst>
          </p:cNvPr>
          <p:cNvSpPr>
            <a:spLocks xmlns:a="http://schemas.openxmlformats.org/drawingml/2006/main" noGrp="1"/>
          </p:cNvSpPr>
          <p:nvPr/>
        </p:nvSpPr>
        <p:spPr>
          <a:xfrm xmlns:a="http://schemas.openxmlformats.org/drawingml/2006/main">
            <a:off x="8239125" y="2809875"/>
            <a:ext cx="285750" cy="285750"/>
          </a:xfrm>
          <a:prstGeom xmlns:a="http://schemas.openxmlformats.org/drawingml/2006/main" prst="ellipse">
            <a:avLst/>
          </a:prstGeom>
          <a:solidFill xmlns:a="http://schemas.openxmlformats.org/drawingml/2006/main">
            <a:srgbClr val="FFFFFF"/>
          </a:solidFill>
          <a:ln xmlns:a="http://schemas.openxmlformats.org/drawingml/2006/main" w="28575">
            <a:solidFill>
              <a:srgbClr val="0F766E"/>
            </a:solidFill>
            <a:prstDash val="solid"/>
          </a:ln>
        </p:spPr>
      </p:sp>
      <p:sp>
        <p:nvSpPr>
          <p:cNvPr id="20" name="">
            <a:extLst xmlns:a="http://schemas.openxmlformats.org/drawingml/2006/main">
              <a:ext uri="{FF2B5EF4-FFF2-40B4-BE49-F238E27FC236}">
                <a16:creationId xmlns:a16="http://schemas.microsoft.com/office/drawing/2014/main" id="{8D90B8DD-8D56-464E-8D1E-05F9F4F31EE7}"/>
              </a:ext>
            </a:extLst>
          </p:cNvPr>
          <p:cNvSpPr>
            <a:spLocks xmlns:a="http://schemas.openxmlformats.org/drawingml/2006/main" noGrp="1"/>
          </p:cNvSpPr>
          <p:nvPr/>
        </p:nvSpPr>
        <p:spPr>
          <a:xfrm xmlns:a="http://schemas.openxmlformats.org/drawingml/2006/main">
            <a:off x="8267700" y="2847975"/>
            <a:ext cx="228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lgn="ctr">
              <a:defRPr sz="975" b="1">
                <a:solidFill>
                  <a:srgbClr val="0F766E"/>
                </a:solidFill>
                <a:latin typeface="Helvetica Neue"/>
                <a:ea typeface="Helvetica Neue"/>
                <a:cs typeface="Helvetica Neue"/>
              </a:defRPr>
            </a:pPr>
            <a:r>
              <a:rPr sz="975" b="1">
                <a:solidFill>
                  <a:srgbClr val="0F766E"/>
                </a:solidFill>
                <a:latin typeface="Helvetica Neue"/>
                <a:ea typeface="Helvetica Neue"/>
                <a:cs typeface="Helvetica Neue"/>
              </a:rPr>
              <a:t>4</a:t>
            </a:r>
          </a:p>
        </p:txBody>
      </p:sp>
      <p:sp>
        <p:nvSpPr>
          <p:cNvPr id="21" name="">
            <a:extLst xmlns:a="http://schemas.openxmlformats.org/drawingml/2006/main">
              <a:ext uri="{FF2B5EF4-FFF2-40B4-BE49-F238E27FC236}">
                <a16:creationId xmlns:a16="http://schemas.microsoft.com/office/drawing/2014/main" id="{7748E3FF-6DBF-45B1-853C-37B4D9711268}"/>
              </a:ext>
            </a:extLst>
          </p:cNvPr>
          <p:cNvSpPr>
            <a:spLocks xmlns:a="http://schemas.openxmlformats.org/drawingml/2006/main" noGrp="1"/>
          </p:cNvSpPr>
          <p:nvPr/>
        </p:nvSpPr>
        <p:spPr>
          <a:xfrm xmlns:a="http://schemas.openxmlformats.org/drawingml/2006/main">
            <a:off x="7543800" y="3333750"/>
            <a:ext cx="1676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defRPr sz="1500" b="1">
                <a:solidFill>
                  <a:srgbClr val="111827"/>
                </a:solidFill>
                <a:latin typeface="Helvetica Neue"/>
                <a:ea typeface="Helvetica Neue"/>
                <a:cs typeface="Helvetica Neue"/>
              </a:defRPr>
            </a:pPr>
            <a:r>
              <a:rPr sz="1500" b="1">
                <a:solidFill>
                  <a:srgbClr val="111827"/>
                </a:solidFill>
                <a:latin typeface="Helvetica Neue"/>
                <a:ea typeface="Helvetica Neue"/>
                <a:cs typeface="Helvetica Neue"/>
              </a:rPr>
              <a:t>Meaning</a:t>
            </a:r>
          </a:p>
        </p:txBody>
      </p:sp>
      <p:sp>
        <p:nvSpPr>
          <p:cNvPr id="22" name="">
            <a:extLst xmlns:a="http://schemas.openxmlformats.org/drawingml/2006/main">
              <a:ext uri="{FF2B5EF4-FFF2-40B4-BE49-F238E27FC236}">
                <a16:creationId xmlns:a16="http://schemas.microsoft.com/office/drawing/2014/main" id="{C754C60F-8A36-4417-92F4-1949264B6DFE}"/>
              </a:ext>
            </a:extLst>
          </p:cNvPr>
          <p:cNvSpPr>
            <a:spLocks xmlns:a="http://schemas.openxmlformats.org/drawingml/2006/main" noGrp="1"/>
          </p:cNvSpPr>
          <p:nvPr/>
        </p:nvSpPr>
        <p:spPr>
          <a:xfrm xmlns:a="http://schemas.openxmlformats.org/drawingml/2006/main">
            <a:off x="7505700" y="3867150"/>
            <a:ext cx="17526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defRPr sz="1200">
                <a:solidFill>
                  <a:srgbClr val="475569"/>
                </a:solidFill>
                <a:latin typeface="Helvetica Neue"/>
                <a:ea typeface="Helvetica Neue"/>
                <a:cs typeface="Helvetica Neue"/>
              </a:defRPr>
            </a:pPr>
            <a:r>
              <a:rPr sz="1200">
                <a:solidFill>
                  <a:srgbClr val="475569"/>
                </a:solidFill>
                <a:latin typeface="Helvetica Neue"/>
                <a:ea typeface="Helvetica Neue"/>
                <a:cs typeface="Helvetica Neue"/>
              </a:rPr>
              <a:t>What the observation supports</a:t>
            </a:r>
          </a:p>
        </p:txBody>
      </p:sp>
      <p:sp>
        <p:nvSpPr>
          <p:cNvPr id="23" name="">
            <a:extLst xmlns:a="http://schemas.openxmlformats.org/drawingml/2006/main">
              <a:ext uri="{FF2B5EF4-FFF2-40B4-BE49-F238E27FC236}">
                <a16:creationId xmlns:a16="http://schemas.microsoft.com/office/drawing/2014/main" id="{9DE3A6FA-3FFD-438D-B480-DDC8CBBFF3E5}"/>
              </a:ext>
            </a:extLst>
          </p:cNvPr>
          <p:cNvSpPr>
            <a:spLocks xmlns:a="http://schemas.openxmlformats.org/drawingml/2006/main" noGrp="1"/>
          </p:cNvSpPr>
          <p:nvPr/>
        </p:nvSpPr>
        <p:spPr>
          <a:xfrm xmlns:a="http://schemas.openxmlformats.org/drawingml/2006/main">
            <a:off x="10525125" y="2809875"/>
            <a:ext cx="285750" cy="285750"/>
          </a:xfrm>
          <a:prstGeom xmlns:a="http://schemas.openxmlformats.org/drawingml/2006/main" prst="ellipse">
            <a:avLst/>
          </a:prstGeom>
          <a:solidFill xmlns:a="http://schemas.openxmlformats.org/drawingml/2006/main">
            <a:srgbClr val="FFFFFF"/>
          </a:solidFill>
          <a:ln xmlns:a="http://schemas.openxmlformats.org/drawingml/2006/main" w="28575">
            <a:solidFill>
              <a:srgbClr val="0F766E"/>
            </a:solidFill>
            <a:prstDash val="solid"/>
          </a:ln>
        </p:spPr>
      </p:sp>
      <p:sp>
        <p:nvSpPr>
          <p:cNvPr id="24" name="">
            <a:extLst xmlns:a="http://schemas.openxmlformats.org/drawingml/2006/main">
              <a:ext uri="{FF2B5EF4-FFF2-40B4-BE49-F238E27FC236}">
                <a16:creationId xmlns:a16="http://schemas.microsoft.com/office/drawing/2014/main" id="{58999AF0-DDDE-46CA-AE5D-BA0238F64E38}"/>
              </a:ext>
            </a:extLst>
          </p:cNvPr>
          <p:cNvSpPr>
            <a:spLocks xmlns:a="http://schemas.openxmlformats.org/drawingml/2006/main" noGrp="1"/>
          </p:cNvSpPr>
          <p:nvPr/>
        </p:nvSpPr>
        <p:spPr>
          <a:xfrm xmlns:a="http://schemas.openxmlformats.org/drawingml/2006/main">
            <a:off x="10553700" y="2847975"/>
            <a:ext cx="228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lgn="ctr">
              <a:defRPr sz="975" b="1">
                <a:solidFill>
                  <a:srgbClr val="0F766E"/>
                </a:solidFill>
                <a:latin typeface="Helvetica Neue"/>
                <a:ea typeface="Helvetica Neue"/>
                <a:cs typeface="Helvetica Neue"/>
              </a:defRPr>
            </a:pPr>
            <a:r>
              <a:rPr sz="975" b="1">
                <a:solidFill>
                  <a:srgbClr val="0F766E"/>
                </a:solidFill>
                <a:latin typeface="Helvetica Neue"/>
                <a:ea typeface="Helvetica Neue"/>
                <a:cs typeface="Helvetica Neue"/>
              </a:rPr>
              <a:t>5</a:t>
            </a:r>
          </a:p>
        </p:txBody>
      </p:sp>
      <p:sp>
        <p:nvSpPr>
          <p:cNvPr id="25" name="">
            <a:extLst xmlns:a="http://schemas.openxmlformats.org/drawingml/2006/main">
              <a:ext uri="{FF2B5EF4-FFF2-40B4-BE49-F238E27FC236}">
                <a16:creationId xmlns:a16="http://schemas.microsoft.com/office/drawing/2014/main" id="{894A958D-9A50-42DA-903F-1E146776EB1F}"/>
              </a:ext>
            </a:extLst>
          </p:cNvPr>
          <p:cNvSpPr>
            <a:spLocks xmlns:a="http://schemas.openxmlformats.org/drawingml/2006/main" noGrp="1"/>
          </p:cNvSpPr>
          <p:nvPr/>
        </p:nvSpPr>
        <p:spPr>
          <a:xfrm xmlns:a="http://schemas.openxmlformats.org/drawingml/2006/main">
            <a:off x="9829800" y="3333750"/>
            <a:ext cx="1676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defRPr sz="1500" b="1">
                <a:solidFill>
                  <a:srgbClr val="111827"/>
                </a:solidFill>
                <a:latin typeface="Helvetica Neue"/>
                <a:ea typeface="Helvetica Neue"/>
                <a:cs typeface="Helvetica Neue"/>
              </a:defRPr>
            </a:pPr>
            <a:r>
              <a:rPr sz="1500" b="1">
                <a:solidFill>
                  <a:srgbClr val="111827"/>
                </a:solidFill>
                <a:latin typeface="Helvetica Neue"/>
                <a:ea typeface="Helvetica Neue"/>
                <a:cs typeface="Helvetica Neue"/>
              </a:rPr>
              <a:t>Limit</a:t>
            </a:r>
          </a:p>
        </p:txBody>
      </p:sp>
      <p:sp>
        <p:nvSpPr>
          <p:cNvPr id="26" name="">
            <a:extLst xmlns:a="http://schemas.openxmlformats.org/drawingml/2006/main">
              <a:ext uri="{FF2B5EF4-FFF2-40B4-BE49-F238E27FC236}">
                <a16:creationId xmlns:a16="http://schemas.microsoft.com/office/drawing/2014/main" id="{EFD30228-83D0-4EE2-AF88-CD8487BCF045}"/>
              </a:ext>
            </a:extLst>
          </p:cNvPr>
          <p:cNvSpPr>
            <a:spLocks xmlns:a="http://schemas.openxmlformats.org/drawingml/2006/main" noGrp="1"/>
          </p:cNvSpPr>
          <p:nvPr/>
        </p:nvSpPr>
        <p:spPr>
          <a:xfrm xmlns:a="http://schemas.openxmlformats.org/drawingml/2006/main">
            <a:off x="9791700" y="3867150"/>
            <a:ext cx="17526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defRPr sz="1200">
                <a:solidFill>
                  <a:srgbClr val="475569"/>
                </a:solidFill>
                <a:latin typeface="Helvetica Neue"/>
                <a:ea typeface="Helvetica Neue"/>
                <a:cs typeface="Helvetica Neue"/>
              </a:defRPr>
            </a:pPr>
            <a:r>
              <a:rPr sz="1200">
                <a:solidFill>
                  <a:srgbClr val="475569"/>
                </a:solidFill>
                <a:latin typeface="Helvetica Neue"/>
                <a:ea typeface="Helvetica Neue"/>
                <a:cs typeface="Helvetica Neue"/>
              </a:rPr>
              <a:t>What remains untested or uncertain</a:t>
            </a:r>
          </a:p>
        </p:txBody>
      </p:sp>
      <p:sp>
        <p:nvSpPr>
          <p:cNvPr id="27" name="">
            <a:extLst xmlns:a="http://schemas.openxmlformats.org/drawingml/2006/main">
              <a:ext uri="{FF2B5EF4-FFF2-40B4-BE49-F238E27FC236}">
                <a16:creationId xmlns:a16="http://schemas.microsoft.com/office/drawing/2014/main" id="{101D2EF3-828E-4791-925C-5194F610F8FF}"/>
              </a:ext>
            </a:extLst>
          </p:cNvPr>
          <p:cNvSpPr>
            <a:spLocks xmlns:a="http://schemas.openxmlformats.org/drawingml/2006/main" noGrp="1"/>
          </p:cNvSpPr>
          <p:nvPr/>
        </p:nvSpPr>
        <p:spPr>
          <a:xfrm xmlns:a="http://schemas.openxmlformats.org/drawingml/2006/main">
            <a:off x="914400" y="1619250"/>
            <a:ext cx="100012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1875">
                <a:solidFill>
                  <a:srgbClr val="475569"/>
                </a:solidFill>
                <a:latin typeface="Helvetica Neue"/>
                <a:ea typeface="Helvetica Neue"/>
                <a:cs typeface="Helvetica Neue"/>
              </a:defRPr>
            </a:pPr>
            <a:r>
              <a:rPr sz="1875">
                <a:solidFill>
                  <a:srgbClr val="475569"/>
                </a:solidFill>
                <a:latin typeface="Helvetica Neue"/>
                <a:ea typeface="Helvetica Neue"/>
                <a:cs typeface="Helvetica Neue"/>
              </a:rPr>
              <a:t>A useful record lets another person repeat the observation without guessing.</a:t>
            </a:r>
          </a:p>
        </p:txBody>
      </p:sp>
    </p:spTree>
    <p:extLst>
      <p:ext uri="{BB962C8B-B14F-4D97-AF65-F5344CB8AC3E}">
        <p14:creationId xmlns:p14="http://schemas.microsoft.com/office/powerpoint/2010/main" val="693199356"/>
      </p:ext>
    </p:extLst>
  </p:cSld>
</p:sld>
</file>

<file path=ppt/slides/slide6.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973E86EF-719B-445D-AB19-5422BB73E54E}"/>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eyebrow">
            <a:extLst xmlns:a="http://schemas.openxmlformats.org/drawingml/2006/main">
              <a:ext uri="{FF2B5EF4-FFF2-40B4-BE49-F238E27FC236}">
                <a16:creationId xmlns:a16="http://schemas.microsoft.com/office/drawing/2014/main" id="{5DF4403D-A1FD-43E8-9D0B-9FE3D04E3A87}"/>
              </a:ext>
            </a:extLst>
          </p:cNvPr>
          <p:cNvSpPr>
            <a:spLocks xmlns:a="http://schemas.openxmlformats.org/drawingml/2006/main" noGrp="1"/>
          </p:cNvSpPr>
          <p:nvPr/>
        </p:nvSpPr>
        <p:spPr>
          <a:xfrm xmlns:a="http://schemas.openxmlformats.org/drawingml/2006/main">
            <a:off x="609600" y="2952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975" b="1">
                <a:solidFill>
                  <a:srgbClr val="0F766E"/>
                </a:solidFill>
                <a:latin typeface="Helvetica Neue"/>
                <a:ea typeface="Helvetica Neue"/>
                <a:cs typeface="Helvetica Neue"/>
              </a:defRPr>
            </a:pPr>
            <a:r>
              <a:rPr sz="975" b="1">
                <a:solidFill>
                  <a:srgbClr val="0F766E"/>
                </a:solidFill>
                <a:latin typeface="Helvetica Neue"/>
                <a:ea typeface="Helvetica Neue"/>
                <a:cs typeface="Helvetica Neue"/>
              </a:rPr>
              <a:t>WEEK 01  /  CST4714</a:t>
            </a:r>
          </a:p>
        </p:txBody>
      </p:sp>
      <p:sp>
        <p:nvSpPr>
          <p:cNvPr id="3" name="slide-title">
            <a:extLst xmlns:a="http://schemas.openxmlformats.org/drawingml/2006/main">
              <a:ext uri="{FF2B5EF4-FFF2-40B4-BE49-F238E27FC236}">
                <a16:creationId xmlns:a16="http://schemas.microsoft.com/office/drawing/2014/main" id="{ED16FB00-76CA-4D83-908D-ACECD61E7059}"/>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A screenshot can support evidence but cannot carry it alone</a:t>
            </a:r>
          </a:p>
        </p:txBody>
      </p:sp>
      <p:sp>
        <p:nvSpPr>
          <p:cNvPr id="4" name="">
            <a:extLst xmlns:a="http://schemas.openxmlformats.org/drawingml/2006/main">
              <a:ext uri="{FF2B5EF4-FFF2-40B4-BE49-F238E27FC236}">
                <a16:creationId xmlns:a16="http://schemas.microsoft.com/office/drawing/2014/main" id="{2BF575C6-F0B8-4350-BB0A-D8161DFD94D7}"/>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5" name="slide-number">
            <a:extLst xmlns:a="http://schemas.openxmlformats.org/drawingml/2006/main">
              <a:ext uri="{FF2B5EF4-FFF2-40B4-BE49-F238E27FC236}">
                <a16:creationId xmlns:a16="http://schemas.microsoft.com/office/drawing/2014/main" id="{EC38F5B1-C8B4-46F1-925A-BAF13FCBBF1C}"/>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r">
              <a:defRPr sz="825">
                <a:solidFill>
                  <a:srgbClr val="94A3B8"/>
                </a:solidFill>
                <a:latin typeface="Helvetica Neue"/>
                <a:ea typeface="Helvetica Neue"/>
                <a:cs typeface="Helvetica Neue"/>
              </a:defRPr>
            </a:pPr>
            <a:r>
              <a:rPr sz="825">
                <a:solidFill>
                  <a:srgbClr val="94A3B8"/>
                </a:solidFill>
                <a:latin typeface="Helvetica Neue"/>
                <a:ea typeface="Helvetica Neue"/>
                <a:cs typeface="Helvetica Neue"/>
              </a:rPr>
              <a:t>6</a:t>
            </a:r>
          </a:p>
        </p:txBody>
      </p:sp>
      <p:sp>
        <p:nvSpPr>
          <p:cNvPr id="6" name="">
            <a:extLst xmlns:a="http://schemas.openxmlformats.org/drawingml/2006/main">
              <a:ext uri="{FF2B5EF4-FFF2-40B4-BE49-F238E27FC236}">
                <a16:creationId xmlns:a16="http://schemas.microsoft.com/office/drawing/2014/main" id="{7DC2073E-FCAE-4AA9-AFF9-27111AA8D2D9}"/>
              </a:ext>
            </a:extLst>
          </p:cNvPr>
          <p:cNvSpPr>
            <a:spLocks xmlns:a="http://schemas.openxmlformats.org/drawingml/2006/main" noGrp="1"/>
          </p:cNvSpPr>
          <p:nvPr/>
        </p:nvSpPr>
        <p:spPr>
          <a:xfrm xmlns:a="http://schemas.openxmlformats.org/drawingml/2006/main">
            <a:off x="723900" y="1676400"/>
            <a:ext cx="4762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1950" b="1">
                <a:solidFill>
                  <a:srgbClr val="0F766E"/>
                </a:solidFill>
                <a:latin typeface="Helvetica Neue"/>
                <a:ea typeface="Helvetica Neue"/>
                <a:cs typeface="Helvetica Neue"/>
              </a:defRPr>
            </a:pPr>
            <a:r>
              <a:rPr sz="1950" b="1">
                <a:solidFill>
                  <a:srgbClr val="0F766E"/>
                </a:solidFill>
                <a:latin typeface="Helvetica Neue"/>
                <a:ea typeface="Helvetica Neue"/>
                <a:cs typeface="Helvetica Neue"/>
              </a:rPr>
              <a:t>Weak by itself</a:t>
            </a:r>
          </a:p>
        </p:txBody>
      </p:sp>
      <p:sp>
        <p:nvSpPr>
          <p:cNvPr id="7" name="">
            <a:extLst xmlns:a="http://schemas.openxmlformats.org/drawingml/2006/main">
              <a:ext uri="{FF2B5EF4-FFF2-40B4-BE49-F238E27FC236}">
                <a16:creationId xmlns:a16="http://schemas.microsoft.com/office/drawing/2014/main" id="{FD8FA478-5CFD-4B09-8A2C-63AE88459D12}"/>
              </a:ext>
            </a:extLst>
          </p:cNvPr>
          <p:cNvSpPr>
            <a:spLocks xmlns:a="http://schemas.openxmlformats.org/drawingml/2006/main" noGrp="1"/>
          </p:cNvSpPr>
          <p:nvPr/>
        </p:nvSpPr>
        <p:spPr>
          <a:xfrm xmlns:a="http://schemas.openxmlformats.org/drawingml/2006/main">
            <a:off x="6705600" y="1676400"/>
            <a:ext cx="4762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1950" b="1">
                <a:solidFill>
                  <a:srgbClr val="111827"/>
                </a:solidFill>
                <a:latin typeface="Helvetica Neue"/>
                <a:ea typeface="Helvetica Neue"/>
                <a:cs typeface="Helvetica Neue"/>
              </a:defRPr>
            </a:pPr>
            <a:r>
              <a:rPr sz="1950" b="1">
                <a:solidFill>
                  <a:srgbClr val="111827"/>
                </a:solidFill>
                <a:latin typeface="Helvetica Neue"/>
                <a:ea typeface="Helvetica Neue"/>
                <a:cs typeface="Helvetica Neue"/>
              </a:rPr>
              <a:t>Stronger evidence packet</a:t>
            </a:r>
          </a:p>
        </p:txBody>
      </p:sp>
      <p:sp>
        <p:nvSpPr>
          <p:cNvPr id="8" name="">
            <a:extLst xmlns:a="http://schemas.openxmlformats.org/drawingml/2006/main">
              <a:ext uri="{FF2B5EF4-FFF2-40B4-BE49-F238E27FC236}">
                <a16:creationId xmlns:a16="http://schemas.microsoft.com/office/drawing/2014/main" id="{680E2B38-2D75-4A8F-91D9-C466E71A8DE1}"/>
              </a:ext>
            </a:extLst>
          </p:cNvPr>
          <p:cNvSpPr>
            <a:spLocks xmlns:a="http://schemas.openxmlformats.org/drawingml/2006/main" noGrp="1"/>
          </p:cNvSpPr>
          <p:nvPr/>
        </p:nvSpPr>
        <p:spPr>
          <a:xfrm xmlns:a="http://schemas.openxmlformats.org/drawingml/2006/main">
            <a:off x="6096000" y="1638300"/>
            <a:ext cx="0" cy="430530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9" name="">
            <a:extLst xmlns:a="http://schemas.openxmlformats.org/drawingml/2006/main">
              <a:ext uri="{FF2B5EF4-FFF2-40B4-BE49-F238E27FC236}">
                <a16:creationId xmlns:a16="http://schemas.microsoft.com/office/drawing/2014/main" id="{A1E4B683-8AFC-4D46-877C-82D71D94C282}"/>
              </a:ext>
            </a:extLst>
          </p:cNvPr>
          <p:cNvSpPr>
            <a:spLocks xmlns:a="http://schemas.openxmlformats.org/drawingml/2006/main" noGrp="1"/>
          </p:cNvSpPr>
          <p:nvPr/>
        </p:nvSpPr>
        <p:spPr>
          <a:xfrm xmlns:a="http://schemas.openxmlformats.org/drawingml/2006/main">
            <a:off x="762000" y="2400300"/>
            <a:ext cx="85725" cy="304800"/>
          </a:xfrm>
          <a:prstGeom xmlns:a="http://schemas.openxmlformats.org/drawingml/2006/main" prst="rect">
            <a:avLst/>
          </a:prstGeom>
          <a:solidFill xmlns:a="http://schemas.openxmlformats.org/drawingml/2006/main">
            <a:srgbClr val="0F766E"/>
          </a:solidFill>
          <a:ln xmlns:a="http://schemas.openxmlformats.org/drawingml/2006/main" w="0">
            <a:solidFill>
              <a:srgbClr val="0F766E"/>
            </a:solidFill>
            <a:prstDash val="solid"/>
          </a:ln>
        </p:spPr>
      </p:sp>
      <p:sp>
        <p:nvSpPr>
          <p:cNvPr id="10" name="">
            <a:extLst xmlns:a="http://schemas.openxmlformats.org/drawingml/2006/main">
              <a:ext uri="{FF2B5EF4-FFF2-40B4-BE49-F238E27FC236}">
                <a16:creationId xmlns:a16="http://schemas.microsoft.com/office/drawing/2014/main" id="{284B18A2-3467-4C7E-94F3-695D6668C718}"/>
              </a:ext>
            </a:extLst>
          </p:cNvPr>
          <p:cNvSpPr>
            <a:spLocks xmlns:a="http://schemas.openxmlformats.org/drawingml/2006/main" noGrp="1"/>
          </p:cNvSpPr>
          <p:nvPr/>
        </p:nvSpPr>
        <p:spPr>
          <a:xfrm xmlns:a="http://schemas.openxmlformats.org/drawingml/2006/main">
            <a:off x="1028700" y="234315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Cropped success message with no query</a:t>
            </a:r>
          </a:p>
        </p:txBody>
      </p:sp>
      <p:sp>
        <p:nvSpPr>
          <p:cNvPr id="11" name="">
            <a:extLst xmlns:a="http://schemas.openxmlformats.org/drawingml/2006/main">
              <a:ext uri="{FF2B5EF4-FFF2-40B4-BE49-F238E27FC236}">
                <a16:creationId xmlns:a16="http://schemas.microsoft.com/office/drawing/2014/main" id="{0A41073C-8DB3-4268-8AB6-04932C25CEE5}"/>
              </a:ext>
            </a:extLst>
          </p:cNvPr>
          <p:cNvSpPr>
            <a:spLocks xmlns:a="http://schemas.openxmlformats.org/drawingml/2006/main" noGrp="1"/>
          </p:cNvSpPr>
          <p:nvPr/>
        </p:nvSpPr>
        <p:spPr>
          <a:xfrm xmlns:a="http://schemas.openxmlformats.org/drawingml/2006/main">
            <a:off x="762000" y="3143250"/>
            <a:ext cx="85725" cy="304800"/>
          </a:xfrm>
          <a:prstGeom xmlns:a="http://schemas.openxmlformats.org/drawingml/2006/main" prst="rect">
            <a:avLst/>
          </a:prstGeom>
          <a:solidFill xmlns:a="http://schemas.openxmlformats.org/drawingml/2006/main">
            <a:srgbClr val="0F766E"/>
          </a:solidFill>
          <a:ln xmlns:a="http://schemas.openxmlformats.org/drawingml/2006/main" w="0">
            <a:solidFill>
              <a:srgbClr val="0F766E"/>
            </a:solidFill>
            <a:prstDash val="solid"/>
          </a:ln>
        </p:spPr>
      </p:sp>
      <p:sp>
        <p:nvSpPr>
          <p:cNvPr id="12" name="">
            <a:extLst xmlns:a="http://schemas.openxmlformats.org/drawingml/2006/main">
              <a:ext uri="{FF2B5EF4-FFF2-40B4-BE49-F238E27FC236}">
                <a16:creationId xmlns:a16="http://schemas.microsoft.com/office/drawing/2014/main" id="{0CBEB476-137D-4107-AB06-B4ACDE5168FF}"/>
              </a:ext>
            </a:extLst>
          </p:cNvPr>
          <p:cNvSpPr>
            <a:spLocks xmlns:a="http://schemas.openxmlformats.org/drawingml/2006/main" noGrp="1"/>
          </p:cNvSpPr>
          <p:nvPr/>
        </p:nvSpPr>
        <p:spPr>
          <a:xfrm xmlns:a="http://schemas.openxmlformats.org/drawingml/2006/main">
            <a:off x="1028700" y="308610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Dashboard image with no tested identity</a:t>
            </a:r>
          </a:p>
        </p:txBody>
      </p:sp>
      <p:sp>
        <p:nvSpPr>
          <p:cNvPr id="13" name="">
            <a:extLst xmlns:a="http://schemas.openxmlformats.org/drawingml/2006/main">
              <a:ext uri="{FF2B5EF4-FFF2-40B4-BE49-F238E27FC236}">
                <a16:creationId xmlns:a16="http://schemas.microsoft.com/office/drawing/2014/main" id="{1402290F-2852-470F-880F-9055250446BD}"/>
              </a:ext>
            </a:extLst>
          </p:cNvPr>
          <p:cNvSpPr>
            <a:spLocks xmlns:a="http://schemas.openxmlformats.org/drawingml/2006/main" noGrp="1"/>
          </p:cNvSpPr>
          <p:nvPr/>
        </p:nvSpPr>
        <p:spPr>
          <a:xfrm xmlns:a="http://schemas.openxmlformats.org/drawingml/2006/main">
            <a:off x="762000" y="3886200"/>
            <a:ext cx="85725" cy="304800"/>
          </a:xfrm>
          <a:prstGeom xmlns:a="http://schemas.openxmlformats.org/drawingml/2006/main" prst="rect">
            <a:avLst/>
          </a:prstGeom>
          <a:solidFill xmlns:a="http://schemas.openxmlformats.org/drawingml/2006/main">
            <a:srgbClr val="0F766E"/>
          </a:solidFill>
          <a:ln xmlns:a="http://schemas.openxmlformats.org/drawingml/2006/main" w="0">
            <a:solidFill>
              <a:srgbClr val="0F766E"/>
            </a:solidFill>
            <a:prstDash val="solid"/>
          </a:ln>
        </p:spPr>
      </p:sp>
      <p:sp>
        <p:nvSpPr>
          <p:cNvPr id="14" name="">
            <a:extLst xmlns:a="http://schemas.openxmlformats.org/drawingml/2006/main">
              <a:ext uri="{FF2B5EF4-FFF2-40B4-BE49-F238E27FC236}">
                <a16:creationId xmlns:a16="http://schemas.microsoft.com/office/drawing/2014/main" id="{60CF3C61-5571-42DA-9DA0-05CC12A473CC}"/>
              </a:ext>
            </a:extLst>
          </p:cNvPr>
          <p:cNvSpPr>
            <a:spLocks xmlns:a="http://schemas.openxmlformats.org/drawingml/2006/main" noGrp="1"/>
          </p:cNvSpPr>
          <p:nvPr/>
        </p:nvSpPr>
        <p:spPr>
          <a:xfrm xmlns:a="http://schemas.openxmlformats.org/drawingml/2006/main">
            <a:off x="1028700" y="382905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File icon with no restore result</a:t>
            </a:r>
          </a:p>
        </p:txBody>
      </p:sp>
      <p:sp>
        <p:nvSpPr>
          <p:cNvPr id="15" name="">
            <a:extLst xmlns:a="http://schemas.openxmlformats.org/drawingml/2006/main">
              <a:ext uri="{FF2B5EF4-FFF2-40B4-BE49-F238E27FC236}">
                <a16:creationId xmlns:a16="http://schemas.microsoft.com/office/drawing/2014/main" id="{3DB99D06-0656-432E-8B02-7C450BDA2229}"/>
              </a:ext>
            </a:extLst>
          </p:cNvPr>
          <p:cNvSpPr>
            <a:spLocks xmlns:a="http://schemas.openxmlformats.org/drawingml/2006/main" noGrp="1"/>
          </p:cNvSpPr>
          <p:nvPr/>
        </p:nvSpPr>
        <p:spPr>
          <a:xfrm xmlns:a="http://schemas.openxmlformats.org/drawingml/2006/main">
            <a:off x="6743700" y="2400300"/>
            <a:ext cx="85725" cy="304800"/>
          </a:xfrm>
          <a:prstGeom xmlns:a="http://schemas.openxmlformats.org/drawingml/2006/main" prst="rect">
            <a:avLst/>
          </a:prstGeom>
          <a:solidFill xmlns:a="http://schemas.openxmlformats.org/drawingml/2006/main">
            <a:srgbClr val="475569"/>
          </a:solidFill>
          <a:ln xmlns:a="http://schemas.openxmlformats.org/drawingml/2006/main" w="0">
            <a:solidFill>
              <a:srgbClr val="475569"/>
            </a:solidFill>
            <a:prstDash val="solid"/>
          </a:ln>
        </p:spPr>
      </p:sp>
      <p:sp>
        <p:nvSpPr>
          <p:cNvPr id="16" name="">
            <a:extLst xmlns:a="http://schemas.openxmlformats.org/drawingml/2006/main">
              <a:ext uri="{FF2B5EF4-FFF2-40B4-BE49-F238E27FC236}">
                <a16:creationId xmlns:a16="http://schemas.microsoft.com/office/drawing/2014/main" id="{4ADA3E55-7F36-48F7-8D15-8C7FCD046B6D}"/>
              </a:ext>
            </a:extLst>
          </p:cNvPr>
          <p:cNvSpPr>
            <a:spLocks xmlns:a="http://schemas.openxmlformats.org/drawingml/2006/main" noGrp="1"/>
          </p:cNvSpPr>
          <p:nvPr/>
        </p:nvSpPr>
        <p:spPr>
          <a:xfrm xmlns:a="http://schemas.openxmlformats.org/drawingml/2006/main">
            <a:off x="7010400" y="234315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Environment and exact action are named</a:t>
            </a:r>
          </a:p>
        </p:txBody>
      </p:sp>
      <p:sp>
        <p:nvSpPr>
          <p:cNvPr id="17" name="">
            <a:extLst xmlns:a="http://schemas.openxmlformats.org/drawingml/2006/main">
              <a:ext uri="{FF2B5EF4-FFF2-40B4-BE49-F238E27FC236}">
                <a16:creationId xmlns:a16="http://schemas.microsoft.com/office/drawing/2014/main" id="{44A5DEA8-1D0A-43A3-B9F0-C6C49EC89D1E}"/>
              </a:ext>
            </a:extLst>
          </p:cNvPr>
          <p:cNvSpPr>
            <a:spLocks xmlns:a="http://schemas.openxmlformats.org/drawingml/2006/main" noGrp="1"/>
          </p:cNvSpPr>
          <p:nvPr/>
        </p:nvSpPr>
        <p:spPr>
          <a:xfrm xmlns:a="http://schemas.openxmlformats.org/drawingml/2006/main">
            <a:off x="6743700" y="3143250"/>
            <a:ext cx="85725" cy="304800"/>
          </a:xfrm>
          <a:prstGeom xmlns:a="http://schemas.openxmlformats.org/drawingml/2006/main" prst="rect">
            <a:avLst/>
          </a:prstGeom>
          <a:solidFill xmlns:a="http://schemas.openxmlformats.org/drawingml/2006/main">
            <a:srgbClr val="475569"/>
          </a:solidFill>
          <a:ln xmlns:a="http://schemas.openxmlformats.org/drawingml/2006/main" w="0">
            <a:solidFill>
              <a:srgbClr val="475569"/>
            </a:solidFill>
            <a:prstDash val="solid"/>
          </a:ln>
        </p:spPr>
      </p:sp>
      <p:sp>
        <p:nvSpPr>
          <p:cNvPr id="18" name="">
            <a:extLst xmlns:a="http://schemas.openxmlformats.org/drawingml/2006/main">
              <a:ext uri="{FF2B5EF4-FFF2-40B4-BE49-F238E27FC236}">
                <a16:creationId xmlns:a16="http://schemas.microsoft.com/office/drawing/2014/main" id="{3CC71369-0240-474D-B1DD-FDFE098F3F40}"/>
              </a:ext>
            </a:extLst>
          </p:cNvPr>
          <p:cNvSpPr>
            <a:spLocks xmlns:a="http://schemas.openxmlformats.org/drawingml/2006/main" noGrp="1"/>
          </p:cNvSpPr>
          <p:nvPr/>
        </p:nvSpPr>
        <p:spPr>
          <a:xfrm xmlns:a="http://schemas.openxmlformats.org/drawingml/2006/main">
            <a:off x="7010400" y="308610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Observed output includes stable identifiers or counts</a:t>
            </a:r>
          </a:p>
        </p:txBody>
      </p:sp>
      <p:sp>
        <p:nvSpPr>
          <p:cNvPr id="19" name="">
            <a:extLst xmlns:a="http://schemas.openxmlformats.org/drawingml/2006/main">
              <a:ext uri="{FF2B5EF4-FFF2-40B4-BE49-F238E27FC236}">
                <a16:creationId xmlns:a16="http://schemas.microsoft.com/office/drawing/2014/main" id="{B575B116-DE24-4CB6-BE1C-2A6F91811E18}"/>
              </a:ext>
            </a:extLst>
          </p:cNvPr>
          <p:cNvSpPr>
            <a:spLocks xmlns:a="http://schemas.openxmlformats.org/drawingml/2006/main" noGrp="1"/>
          </p:cNvSpPr>
          <p:nvPr/>
        </p:nvSpPr>
        <p:spPr>
          <a:xfrm xmlns:a="http://schemas.openxmlformats.org/drawingml/2006/main">
            <a:off x="6743700" y="3886200"/>
            <a:ext cx="85725" cy="304800"/>
          </a:xfrm>
          <a:prstGeom xmlns:a="http://schemas.openxmlformats.org/drawingml/2006/main" prst="rect">
            <a:avLst/>
          </a:prstGeom>
          <a:solidFill xmlns:a="http://schemas.openxmlformats.org/drawingml/2006/main">
            <a:srgbClr val="475569"/>
          </a:solidFill>
          <a:ln xmlns:a="http://schemas.openxmlformats.org/drawingml/2006/main" w="0">
            <a:solidFill>
              <a:srgbClr val="475569"/>
            </a:solidFill>
            <a:prstDash val="solid"/>
          </a:ln>
        </p:spPr>
      </p:sp>
      <p:sp>
        <p:nvSpPr>
          <p:cNvPr id="20" name="">
            <a:extLst xmlns:a="http://schemas.openxmlformats.org/drawingml/2006/main">
              <a:ext uri="{FF2B5EF4-FFF2-40B4-BE49-F238E27FC236}">
                <a16:creationId xmlns:a16="http://schemas.microsoft.com/office/drawing/2014/main" id="{B44B33FD-9D83-4D33-97B3-2DEE3427ECE4}"/>
              </a:ext>
            </a:extLst>
          </p:cNvPr>
          <p:cNvSpPr>
            <a:spLocks xmlns:a="http://schemas.openxmlformats.org/drawingml/2006/main" noGrp="1"/>
          </p:cNvSpPr>
          <p:nvPr/>
        </p:nvSpPr>
        <p:spPr>
          <a:xfrm xmlns:a="http://schemas.openxmlformats.org/drawingml/2006/main">
            <a:off x="7010400" y="382905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Interpretation and limitation match the test</a:t>
            </a:r>
          </a:p>
        </p:txBody>
      </p:sp>
    </p:spTree>
    <p:extLst>
      <p:ext uri="{BB962C8B-B14F-4D97-AF65-F5344CB8AC3E}">
        <p14:creationId xmlns:p14="http://schemas.microsoft.com/office/powerpoint/2010/main" val="1708626262"/>
      </p:ext>
    </p:extLst>
  </p:cSld>
</p:sld>
</file>

<file path=ppt/slides/slide7.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1FD71943-AFE3-4CF7-82CC-5E03733CFBA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eyebrow">
            <a:extLst xmlns:a="http://schemas.openxmlformats.org/drawingml/2006/main">
              <a:ext uri="{FF2B5EF4-FFF2-40B4-BE49-F238E27FC236}">
                <a16:creationId xmlns:a16="http://schemas.microsoft.com/office/drawing/2014/main" id="{7223F358-0045-4210-8236-54BBCC0ABF5F}"/>
              </a:ext>
            </a:extLst>
          </p:cNvPr>
          <p:cNvSpPr>
            <a:spLocks xmlns:a="http://schemas.openxmlformats.org/drawingml/2006/main" noGrp="1"/>
          </p:cNvSpPr>
          <p:nvPr/>
        </p:nvSpPr>
        <p:spPr>
          <a:xfrm xmlns:a="http://schemas.openxmlformats.org/drawingml/2006/main">
            <a:off x="609600" y="2952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975" b="1">
                <a:solidFill>
                  <a:srgbClr val="0F766E"/>
                </a:solidFill>
                <a:latin typeface="Helvetica Neue"/>
                <a:ea typeface="Helvetica Neue"/>
                <a:cs typeface="Helvetica Neue"/>
              </a:defRPr>
            </a:pPr>
            <a:r>
              <a:rPr sz="975" b="1">
                <a:solidFill>
                  <a:srgbClr val="0F766E"/>
                </a:solidFill>
                <a:latin typeface="Helvetica Neue"/>
                <a:ea typeface="Helvetica Neue"/>
                <a:cs typeface="Helvetica Neue"/>
              </a:rPr>
              <a:t>WEEK 01  /  CST4714</a:t>
            </a:r>
          </a:p>
        </p:txBody>
      </p:sp>
      <p:sp>
        <p:nvSpPr>
          <p:cNvPr id="3" name="slide-title">
            <a:extLst xmlns:a="http://schemas.openxmlformats.org/drawingml/2006/main">
              <a:ext uri="{FF2B5EF4-FFF2-40B4-BE49-F238E27FC236}">
                <a16:creationId xmlns:a16="http://schemas.microsoft.com/office/drawing/2014/main" id="{8BAACAAB-3256-4B7D-AAFA-A3A7A9C74636}"/>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Lab 1: Map responsibility with evidence</a:t>
            </a:r>
          </a:p>
        </p:txBody>
      </p:sp>
      <p:sp>
        <p:nvSpPr>
          <p:cNvPr id="4" name="">
            <a:extLst xmlns:a="http://schemas.openxmlformats.org/drawingml/2006/main">
              <a:ext uri="{FF2B5EF4-FFF2-40B4-BE49-F238E27FC236}">
                <a16:creationId xmlns:a16="http://schemas.microsoft.com/office/drawing/2014/main" id="{64A11147-C015-4379-928D-5FCC14DD81F3}"/>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5" name="slide-number">
            <a:extLst xmlns:a="http://schemas.openxmlformats.org/drawingml/2006/main">
              <a:ext uri="{FF2B5EF4-FFF2-40B4-BE49-F238E27FC236}">
                <a16:creationId xmlns:a16="http://schemas.microsoft.com/office/drawing/2014/main" id="{47793EF7-558B-458E-9663-225A7C9B7EA5}"/>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r">
              <a:defRPr sz="825">
                <a:solidFill>
                  <a:srgbClr val="94A3B8"/>
                </a:solidFill>
                <a:latin typeface="Helvetica Neue"/>
                <a:ea typeface="Helvetica Neue"/>
                <a:cs typeface="Helvetica Neue"/>
              </a:defRPr>
            </a:pPr>
            <a:r>
              <a:rPr sz="825">
                <a:solidFill>
                  <a:srgbClr val="94A3B8"/>
                </a:solidFill>
                <a:latin typeface="Helvetica Neue"/>
                <a:ea typeface="Helvetica Neue"/>
                <a:cs typeface="Helvetica Neue"/>
              </a:rPr>
              <a:t>7</a:t>
            </a:r>
          </a:p>
        </p:txBody>
      </p:sp>
      <p:sp>
        <p:nvSpPr>
          <p:cNvPr id="6" name="">
            <a:extLst xmlns:a="http://schemas.openxmlformats.org/drawingml/2006/main">
              <a:ext uri="{FF2B5EF4-FFF2-40B4-BE49-F238E27FC236}">
                <a16:creationId xmlns:a16="http://schemas.microsoft.com/office/drawing/2014/main" id="{678BE174-0024-4D35-99DF-FEE17DD85559}"/>
              </a:ext>
            </a:extLst>
          </p:cNvPr>
          <p:cNvSpPr>
            <a:spLocks xmlns:a="http://schemas.openxmlformats.org/drawingml/2006/main" noGrp="1"/>
          </p:cNvSpPr>
          <p:nvPr/>
        </p:nvSpPr>
        <p:spPr>
          <a:xfrm xmlns:a="http://schemas.openxmlformats.org/drawingml/2006/main">
            <a:off x="723900" y="160020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1875">
                <a:solidFill>
                  <a:srgbClr val="475569"/>
                </a:solidFill>
                <a:latin typeface="Helvetica Neue"/>
                <a:ea typeface="Helvetica Neue"/>
                <a:cs typeface="Helvetica Neue"/>
              </a:defRPr>
            </a:pPr>
            <a:r>
              <a:rPr sz="1875">
                <a:solidFill>
                  <a:srgbClr val="475569"/>
                </a:solidFill>
                <a:latin typeface="Helvetica Neue"/>
                <a:ea typeface="Helvetica Neue"/>
                <a:cs typeface="Helvetica Neue"/>
              </a:rPr>
              <a:t>Choose Supabase or Atlas and investigate one control through current official documentation.</a:t>
            </a:r>
          </a:p>
        </p:txBody>
      </p:sp>
      <p:sp>
        <p:nvSpPr>
          <p:cNvPr id="7" name="">
            <a:extLst xmlns:a="http://schemas.openxmlformats.org/drawingml/2006/main">
              <a:ext uri="{FF2B5EF4-FFF2-40B4-BE49-F238E27FC236}">
                <a16:creationId xmlns:a16="http://schemas.microsoft.com/office/drawing/2014/main" id="{ED7A413F-F4AC-4C32-A780-800D0A8DF742}"/>
              </a:ext>
            </a:extLst>
          </p:cNvPr>
          <p:cNvSpPr>
            <a:spLocks xmlns:a="http://schemas.openxmlformats.org/drawingml/2006/main" noGrp="1"/>
          </p:cNvSpPr>
          <p:nvPr/>
        </p:nvSpPr>
        <p:spPr>
          <a:xfrm xmlns:a="http://schemas.openxmlformats.org/drawingml/2006/main">
            <a:off x="876300" y="2571750"/>
            <a:ext cx="85725" cy="304800"/>
          </a:xfrm>
          <a:prstGeom xmlns:a="http://schemas.openxmlformats.org/drawingml/2006/main" prst="rect">
            <a:avLst/>
          </a:prstGeom>
          <a:solidFill xmlns:a="http://schemas.openxmlformats.org/drawingml/2006/main">
            <a:srgbClr val="0F766E"/>
          </a:solidFill>
          <a:ln xmlns:a="http://schemas.openxmlformats.org/drawingml/2006/main" w="0">
            <a:solidFill>
              <a:srgbClr val="0F766E"/>
            </a:solidFill>
            <a:prstDash val="solid"/>
          </a:ln>
        </p:spPr>
      </p:sp>
      <p:sp>
        <p:nvSpPr>
          <p:cNvPr id="8" name="">
            <a:extLst xmlns:a="http://schemas.openxmlformats.org/drawingml/2006/main">
              <a:ext uri="{FF2B5EF4-FFF2-40B4-BE49-F238E27FC236}">
                <a16:creationId xmlns:a16="http://schemas.microsoft.com/office/drawing/2014/main" id="{7FB06314-0312-4F44-BA07-8EC0273CBA1A}"/>
              </a:ext>
            </a:extLst>
          </p:cNvPr>
          <p:cNvSpPr>
            <a:spLocks xmlns:a="http://schemas.openxmlformats.org/drawingml/2006/main" noGrp="1"/>
          </p:cNvSpPr>
          <p:nvPr/>
        </p:nvSpPr>
        <p:spPr>
          <a:xfrm xmlns:a="http://schemas.openxmlformats.org/drawingml/2006/main">
            <a:off x="1143000" y="2514600"/>
            <a:ext cx="100203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1650">
                <a:solidFill>
                  <a:srgbClr val="111827"/>
                </a:solidFill>
                <a:latin typeface="Helvetica Neue"/>
                <a:ea typeface="Helvetica Neue"/>
                <a:cs typeface="Helvetica Neue"/>
              </a:defRPr>
            </a:pPr>
            <a:r>
              <a:rPr sz="1650">
                <a:solidFill>
                  <a:srgbClr val="111827"/>
                </a:solidFill>
                <a:latin typeface="Helvetica Neue"/>
                <a:ea typeface="Helvetica Neue"/>
                <a:cs typeface="Helvetica Neue"/>
              </a:rPr>
              <a:t>Name one provider responsibility and one customer responsibility.</a:t>
            </a:r>
          </a:p>
        </p:txBody>
      </p:sp>
      <p:sp>
        <p:nvSpPr>
          <p:cNvPr id="9" name="">
            <a:extLst xmlns:a="http://schemas.openxmlformats.org/drawingml/2006/main">
              <a:ext uri="{FF2B5EF4-FFF2-40B4-BE49-F238E27FC236}">
                <a16:creationId xmlns:a16="http://schemas.microsoft.com/office/drawing/2014/main" id="{F3AEE1E5-D260-465A-AF60-385DE1644C80}"/>
              </a:ext>
            </a:extLst>
          </p:cNvPr>
          <p:cNvSpPr>
            <a:spLocks xmlns:a="http://schemas.openxmlformats.org/drawingml/2006/main" noGrp="1"/>
          </p:cNvSpPr>
          <p:nvPr/>
        </p:nvSpPr>
        <p:spPr>
          <a:xfrm xmlns:a="http://schemas.openxmlformats.org/drawingml/2006/main">
            <a:off x="876300" y="3286125"/>
            <a:ext cx="85725" cy="304800"/>
          </a:xfrm>
          <a:prstGeom xmlns:a="http://schemas.openxmlformats.org/drawingml/2006/main" prst="rect">
            <a:avLst/>
          </a:prstGeom>
          <a:solidFill xmlns:a="http://schemas.openxmlformats.org/drawingml/2006/main">
            <a:srgbClr val="0F766E"/>
          </a:solidFill>
          <a:ln xmlns:a="http://schemas.openxmlformats.org/drawingml/2006/main" w="0">
            <a:solidFill>
              <a:srgbClr val="0F766E"/>
            </a:solidFill>
            <a:prstDash val="solid"/>
          </a:ln>
        </p:spPr>
      </p:sp>
      <p:sp>
        <p:nvSpPr>
          <p:cNvPr id="10" name="">
            <a:extLst xmlns:a="http://schemas.openxmlformats.org/drawingml/2006/main">
              <a:ext uri="{FF2B5EF4-FFF2-40B4-BE49-F238E27FC236}">
                <a16:creationId xmlns:a16="http://schemas.microsoft.com/office/drawing/2014/main" id="{87CF1352-E37C-4CA5-B5A7-D21F10A72678}"/>
              </a:ext>
            </a:extLst>
          </p:cNvPr>
          <p:cNvSpPr>
            <a:spLocks xmlns:a="http://schemas.openxmlformats.org/drawingml/2006/main" noGrp="1"/>
          </p:cNvSpPr>
          <p:nvPr/>
        </p:nvSpPr>
        <p:spPr>
          <a:xfrm xmlns:a="http://schemas.openxmlformats.org/drawingml/2006/main">
            <a:off x="1143000" y="3228975"/>
            <a:ext cx="100203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1650">
                <a:solidFill>
                  <a:srgbClr val="111827"/>
                </a:solidFill>
                <a:latin typeface="Helvetica Neue"/>
                <a:ea typeface="Helvetica Neue"/>
                <a:cs typeface="Helvetica Neue"/>
              </a:defRPr>
            </a:pPr>
            <a:r>
              <a:rPr sz="1650">
                <a:solidFill>
                  <a:srgbClr val="111827"/>
                </a:solidFill>
                <a:latin typeface="Helvetica Neue"/>
                <a:ea typeface="Helvetica Neue"/>
                <a:cs typeface="Helvetica Neue"/>
              </a:rPr>
              <a:t>Record the official source, environment, and the control you inspected.</a:t>
            </a:r>
          </a:p>
        </p:txBody>
      </p:sp>
      <p:sp>
        <p:nvSpPr>
          <p:cNvPr id="11" name="">
            <a:extLst xmlns:a="http://schemas.openxmlformats.org/drawingml/2006/main">
              <a:ext uri="{FF2B5EF4-FFF2-40B4-BE49-F238E27FC236}">
                <a16:creationId xmlns:a16="http://schemas.microsoft.com/office/drawing/2014/main" id="{23B74270-2F5E-4A56-9E3C-9C87312634AA}"/>
              </a:ext>
            </a:extLst>
          </p:cNvPr>
          <p:cNvSpPr>
            <a:spLocks xmlns:a="http://schemas.openxmlformats.org/drawingml/2006/main" noGrp="1"/>
          </p:cNvSpPr>
          <p:nvPr/>
        </p:nvSpPr>
        <p:spPr>
          <a:xfrm xmlns:a="http://schemas.openxmlformats.org/drawingml/2006/main">
            <a:off x="876300" y="4000500"/>
            <a:ext cx="85725" cy="304800"/>
          </a:xfrm>
          <a:prstGeom xmlns:a="http://schemas.openxmlformats.org/drawingml/2006/main" prst="rect">
            <a:avLst/>
          </a:prstGeom>
          <a:solidFill xmlns:a="http://schemas.openxmlformats.org/drawingml/2006/main">
            <a:srgbClr val="0F766E"/>
          </a:solidFill>
          <a:ln xmlns:a="http://schemas.openxmlformats.org/drawingml/2006/main" w="0">
            <a:solidFill>
              <a:srgbClr val="0F766E"/>
            </a:solidFill>
            <a:prstDash val="solid"/>
          </a:ln>
        </p:spPr>
      </p:sp>
      <p:sp>
        <p:nvSpPr>
          <p:cNvPr id="12" name="">
            <a:extLst xmlns:a="http://schemas.openxmlformats.org/drawingml/2006/main">
              <a:ext uri="{FF2B5EF4-FFF2-40B4-BE49-F238E27FC236}">
                <a16:creationId xmlns:a16="http://schemas.microsoft.com/office/drawing/2014/main" id="{F46CC706-3528-440E-8C4E-ABE1D31AAD19}"/>
              </a:ext>
            </a:extLst>
          </p:cNvPr>
          <p:cNvSpPr>
            <a:spLocks xmlns:a="http://schemas.openxmlformats.org/drawingml/2006/main" noGrp="1"/>
          </p:cNvSpPr>
          <p:nvPr/>
        </p:nvSpPr>
        <p:spPr>
          <a:xfrm xmlns:a="http://schemas.openxmlformats.org/drawingml/2006/main">
            <a:off x="1143000" y="3943350"/>
            <a:ext cx="100203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1650">
                <a:solidFill>
                  <a:srgbClr val="111827"/>
                </a:solidFill>
                <a:latin typeface="Helvetica Neue"/>
                <a:ea typeface="Helvetica Neue"/>
                <a:cs typeface="Helvetica Neue"/>
              </a:defRPr>
            </a:pPr>
            <a:r>
              <a:rPr sz="1650">
                <a:solidFill>
                  <a:srgbClr val="111827"/>
                </a:solidFill>
                <a:latin typeface="Helvetica Neue"/>
                <a:ea typeface="Helvetica Neue"/>
                <a:cs typeface="Helvetica Neue"/>
              </a:rPr>
              <a:t>Describe one failure caused by confusing the boundary and one first diagnostic check.</a:t>
            </a:r>
          </a:p>
        </p:txBody>
      </p:sp>
      <p:sp>
        <p:nvSpPr>
          <p:cNvPr id="13" name="">
            <a:extLst xmlns:a="http://schemas.openxmlformats.org/drawingml/2006/main">
              <a:ext uri="{FF2B5EF4-FFF2-40B4-BE49-F238E27FC236}">
                <a16:creationId xmlns:a16="http://schemas.microsoft.com/office/drawing/2014/main" id="{CAFB246F-CF84-4A46-8496-38FC9FA70B7F}"/>
              </a:ext>
            </a:extLst>
          </p:cNvPr>
          <p:cNvSpPr>
            <a:spLocks xmlns:a="http://schemas.openxmlformats.org/drawingml/2006/main" noGrp="1"/>
          </p:cNvSpPr>
          <p:nvPr/>
        </p:nvSpPr>
        <p:spPr>
          <a:xfrm xmlns:a="http://schemas.openxmlformats.org/drawingml/2006/main">
            <a:off x="723900" y="5429250"/>
            <a:ext cx="10287000" cy="666750"/>
          </a:xfrm>
          <a:prstGeom xmlns:a="http://schemas.openxmlformats.org/drawingml/2006/main" prst="rect">
            <a:avLst/>
          </a:prstGeom>
          <a:solidFill xmlns:a="http://schemas.openxmlformats.org/drawingml/2006/main">
            <a:srgbClr val="0F766E"/>
          </a:solidFill>
          <a:ln xmlns:a="http://schemas.openxmlformats.org/drawingml/2006/main" w="9525">
            <a:solidFill>
              <a:srgbClr val="0F766E"/>
            </a:solidFill>
            <a:prstDash val="solid"/>
          </a:ln>
        </p:spPr>
      </p:sp>
      <p:sp>
        <p:nvSpPr>
          <p:cNvPr id="14" name="">
            <a:extLst xmlns:a="http://schemas.openxmlformats.org/drawingml/2006/main">
              <a:ext uri="{FF2B5EF4-FFF2-40B4-BE49-F238E27FC236}">
                <a16:creationId xmlns:a16="http://schemas.microsoft.com/office/drawing/2014/main" id="{B265566C-EAB8-4C67-953B-E7203E7E31CB}"/>
              </a:ext>
            </a:extLst>
          </p:cNvPr>
          <p:cNvSpPr>
            <a:spLocks xmlns:a="http://schemas.openxmlformats.org/drawingml/2006/main" noGrp="1"/>
          </p:cNvSpPr>
          <p:nvPr/>
        </p:nvSpPr>
        <p:spPr>
          <a:xfrm xmlns:a="http://schemas.openxmlformats.org/drawingml/2006/main">
            <a:off x="933450" y="5591175"/>
            <a:ext cx="9858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defRPr sz="1425" b="1">
                <a:solidFill>
                  <a:srgbClr val="FFFFFF"/>
                </a:solidFill>
                <a:latin typeface="Helvetica Neue"/>
                <a:ea typeface="Helvetica Neue"/>
                <a:cs typeface="Helvetica Neue"/>
              </a:defRPr>
            </a:pPr>
            <a:r>
              <a:rPr sz="1425" b="1">
                <a:solidFill>
                  <a:srgbClr val="FFFFFF"/>
                </a:solidFill>
                <a:latin typeface="Helvetica Neue"/>
                <a:ea typeface="Helvetica Neue"/>
                <a:cs typeface="Helvetica Neue"/>
              </a:rPr>
              <a:t>SUBMIT ONE THING  /  one responsibility-and-evidence record</a:t>
            </a:r>
          </a:p>
        </p:txBody>
      </p:sp>
    </p:spTree>
    <p:extLst>
      <p:ext uri="{BB962C8B-B14F-4D97-AF65-F5344CB8AC3E}">
        <p14:creationId xmlns:p14="http://schemas.microsoft.com/office/powerpoint/2010/main" val="65434014"/>
      </p:ext>
    </p:extLst>
  </p:cSld>
</p:sld>
</file>

<file path=ppt/slides/slide8.xml><?xml version="1.0" encoding="utf-8"?>
<p:sld xmlns:p="http://schemas.openxmlformats.org/presentationml/2006/main">
  <p:cSld>
    <p:bg>
      <p:bgPr>
        <a:solidFill xmlns:a="http://schemas.openxmlformats.org/drawingml/2006/main">
          <a:srgbClr val="0F766E"/>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45BF19C5-D1AF-4E1F-85E1-CA6EAA103E4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F766E"/>
          </a:solidFill>
          <a:ln xmlns:a="http://schemas.openxmlformats.org/drawingml/2006/main" w="0">
            <a:solidFill>
              <a:srgbClr val="0F766E"/>
            </a:solidFill>
            <a:prstDash val="solid"/>
          </a:ln>
        </p:spPr>
      </p:sp>
      <p:sp>
        <p:nvSpPr>
          <p:cNvPr id="2" name="">
            <a:extLst xmlns:a="http://schemas.openxmlformats.org/drawingml/2006/main">
              <a:ext uri="{FF2B5EF4-FFF2-40B4-BE49-F238E27FC236}">
                <a16:creationId xmlns:a16="http://schemas.microsoft.com/office/drawing/2014/main" id="{5845C4DA-A3CD-4694-A8F0-3AB14BB4405D}"/>
              </a:ext>
            </a:extLst>
          </p:cNvPr>
          <p:cNvSpPr>
            <a:spLocks xmlns:a="http://schemas.openxmlformats.org/drawingml/2006/main" noGrp="1"/>
          </p:cNvSpPr>
          <p:nvPr/>
        </p:nvSpPr>
        <p:spPr>
          <a:xfrm xmlns:a="http://schemas.openxmlformats.org/drawingml/2006/main">
            <a:off x="685800" y="590550"/>
            <a:ext cx="4000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DAY 2</a:t>
            </a:r>
          </a:p>
        </p:txBody>
      </p:sp>
      <p:sp>
        <p:nvSpPr>
          <p:cNvPr id="3" name="">
            <a:extLst xmlns:a="http://schemas.openxmlformats.org/drawingml/2006/main">
              <a:ext uri="{FF2B5EF4-FFF2-40B4-BE49-F238E27FC236}">
                <a16:creationId xmlns:a16="http://schemas.microsoft.com/office/drawing/2014/main" id="{3270CCC9-0612-4F63-B168-E3985FB27E16}"/>
              </a:ext>
            </a:extLst>
          </p:cNvPr>
          <p:cNvSpPr>
            <a:spLocks xmlns:a="http://schemas.openxmlformats.org/drawingml/2006/main" noGrp="1"/>
          </p:cNvSpPr>
          <p:nvPr/>
        </p:nvSpPr>
        <p:spPr>
          <a:xfrm xmlns:a="http://schemas.openxmlformats.org/drawingml/2006/main">
            <a:off x="685800" y="1809750"/>
            <a:ext cx="9906000" cy="1905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4350" b="1">
                <a:solidFill>
                  <a:srgbClr val="FFFFFF"/>
                </a:solidFill>
                <a:latin typeface="Helvetica Neue"/>
                <a:ea typeface="Helvetica Neue"/>
                <a:cs typeface="Helvetica Neue"/>
              </a:defRPr>
            </a:pPr>
            <a:r>
              <a:rPr sz="4350" b="1">
                <a:solidFill>
                  <a:srgbClr val="FFFFFF"/>
                </a:solidFill>
                <a:latin typeface="Helvetica Neue"/>
                <a:ea typeface="Helvetica Neue"/>
                <a:cs typeface="Helvetica Neue"/>
              </a:rPr>
              <a:t>Rebuild relational thinking before rebuilding SQL</a:t>
            </a:r>
          </a:p>
        </p:txBody>
      </p:sp>
      <p:sp>
        <p:nvSpPr>
          <p:cNvPr id="4" name="">
            <a:extLst xmlns:a="http://schemas.openxmlformats.org/drawingml/2006/main">
              <a:ext uri="{FF2B5EF4-FFF2-40B4-BE49-F238E27FC236}">
                <a16:creationId xmlns:a16="http://schemas.microsoft.com/office/drawing/2014/main" id="{8E49F3EF-8BD1-4141-B973-B9C54DF64E93}"/>
              </a:ext>
            </a:extLst>
          </p:cNvPr>
          <p:cNvSpPr>
            <a:spLocks xmlns:a="http://schemas.openxmlformats.org/drawingml/2006/main" noGrp="1"/>
          </p:cNvSpPr>
          <p:nvPr/>
        </p:nvSpPr>
        <p:spPr>
          <a:xfrm xmlns:a="http://schemas.openxmlformats.org/drawingml/2006/main">
            <a:off x="723900" y="4095750"/>
            <a:ext cx="83820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1950">
                <a:solidFill>
                  <a:srgbClr val="F8FAFC"/>
                </a:solidFill>
                <a:latin typeface="Helvetica Neue"/>
                <a:ea typeface="Helvetica Neue"/>
                <a:cs typeface="Helvetica Neue"/>
              </a:defRPr>
            </a:pPr>
            <a:r>
              <a:rPr sz="1950">
                <a:solidFill>
                  <a:srgbClr val="F8FAFC"/>
                </a:solidFill>
                <a:latin typeface="Helvetica Neue"/>
                <a:ea typeface="Helvetica Neue"/>
                <a:cs typeface="Helvetica Neue"/>
              </a:rPr>
              <a:t>Relations give us a way to reason about facts before syntax hides the question.</a:t>
            </a:r>
          </a:p>
        </p:txBody>
      </p:sp>
      <p:sp>
        <p:nvSpPr>
          <p:cNvPr id="5" name="">
            <a:extLst xmlns:a="http://schemas.openxmlformats.org/drawingml/2006/main">
              <a:ext uri="{FF2B5EF4-FFF2-40B4-BE49-F238E27FC236}">
                <a16:creationId xmlns:a16="http://schemas.microsoft.com/office/drawing/2014/main" id="{44051CDA-A5E3-461C-BEA4-C727D23D198A}"/>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r">
              <a:defRPr sz="825">
                <a:solidFill>
                  <a:srgbClr val="E2E8F0"/>
                </a:solidFill>
                <a:latin typeface="Helvetica Neue"/>
                <a:ea typeface="Helvetica Neue"/>
                <a:cs typeface="Helvetica Neue"/>
              </a:defRPr>
            </a:pPr>
            <a:r>
              <a:rPr sz="825">
                <a:solidFill>
                  <a:srgbClr val="E2E8F0"/>
                </a:solidFill>
                <a:latin typeface="Helvetica Neue"/>
                <a:ea typeface="Helvetica Neue"/>
                <a:cs typeface="Helvetica Neue"/>
              </a:rPr>
              <a:t>8</a:t>
            </a:r>
          </a:p>
        </p:txBody>
      </p:sp>
    </p:spTree>
    <p:extLst>
      <p:ext uri="{BB962C8B-B14F-4D97-AF65-F5344CB8AC3E}">
        <p14:creationId xmlns:p14="http://schemas.microsoft.com/office/powerpoint/2010/main" val="733243290"/>
      </p:ext>
    </p:extLst>
  </p:cSld>
</p:sld>
</file>

<file path=ppt/slides/slide9.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EABD0DD5-4D82-4337-955A-42E6571C96B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eyebrow">
            <a:extLst xmlns:a="http://schemas.openxmlformats.org/drawingml/2006/main">
              <a:ext uri="{FF2B5EF4-FFF2-40B4-BE49-F238E27FC236}">
                <a16:creationId xmlns:a16="http://schemas.microsoft.com/office/drawing/2014/main" id="{6B203A0A-E888-44FA-B4CA-E799C41E4FF7}"/>
              </a:ext>
            </a:extLst>
          </p:cNvPr>
          <p:cNvSpPr>
            <a:spLocks xmlns:a="http://schemas.openxmlformats.org/drawingml/2006/main" noGrp="1"/>
          </p:cNvSpPr>
          <p:nvPr/>
        </p:nvSpPr>
        <p:spPr>
          <a:xfrm xmlns:a="http://schemas.openxmlformats.org/drawingml/2006/main">
            <a:off x="609600" y="2952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975" b="1">
                <a:solidFill>
                  <a:srgbClr val="0F766E"/>
                </a:solidFill>
                <a:latin typeface="Helvetica Neue"/>
                <a:ea typeface="Helvetica Neue"/>
                <a:cs typeface="Helvetica Neue"/>
              </a:defRPr>
            </a:pPr>
            <a:r>
              <a:rPr sz="975" b="1">
                <a:solidFill>
                  <a:srgbClr val="0F766E"/>
                </a:solidFill>
                <a:latin typeface="Helvetica Neue"/>
                <a:ea typeface="Helvetica Neue"/>
                <a:cs typeface="Helvetica Neue"/>
              </a:rPr>
              <a:t>WEEK 01  /  CST4714</a:t>
            </a:r>
          </a:p>
        </p:txBody>
      </p:sp>
      <p:sp>
        <p:nvSpPr>
          <p:cNvPr id="3" name="slide-title">
            <a:extLst xmlns:a="http://schemas.openxmlformats.org/drawingml/2006/main">
              <a:ext uri="{FF2B5EF4-FFF2-40B4-BE49-F238E27FC236}">
                <a16:creationId xmlns:a16="http://schemas.microsoft.com/office/drawing/2014/main" id="{F01ED92B-F2F6-49F2-974B-13AB813EEA57}"/>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A relation represents one kind of fact at a stated grain</a:t>
            </a:r>
          </a:p>
        </p:txBody>
      </p:sp>
      <p:sp>
        <p:nvSpPr>
          <p:cNvPr id="4" name="">
            <a:extLst xmlns:a="http://schemas.openxmlformats.org/drawingml/2006/main">
              <a:ext uri="{FF2B5EF4-FFF2-40B4-BE49-F238E27FC236}">
                <a16:creationId xmlns:a16="http://schemas.microsoft.com/office/drawing/2014/main" id="{583F0F37-CD08-4B73-A226-FE87B3480E49}"/>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5" name="slide-number">
            <a:extLst xmlns:a="http://schemas.openxmlformats.org/drawingml/2006/main">
              <a:ext uri="{FF2B5EF4-FFF2-40B4-BE49-F238E27FC236}">
                <a16:creationId xmlns:a16="http://schemas.microsoft.com/office/drawing/2014/main" id="{22FE72DC-E37D-4D68-803D-2020D34656F8}"/>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r">
              <a:defRPr sz="825">
                <a:solidFill>
                  <a:srgbClr val="94A3B8"/>
                </a:solidFill>
                <a:latin typeface="Helvetica Neue"/>
                <a:ea typeface="Helvetica Neue"/>
                <a:cs typeface="Helvetica Neue"/>
              </a:defRPr>
            </a:pPr>
            <a:r>
              <a:rPr sz="825">
                <a:solidFill>
                  <a:srgbClr val="94A3B8"/>
                </a:solidFill>
                <a:latin typeface="Helvetica Neue"/>
                <a:ea typeface="Helvetica Neue"/>
                <a:cs typeface="Helvetica Neue"/>
              </a:rPr>
              <a:t>9</a:t>
            </a:r>
          </a:p>
        </p:txBody>
      </p:sp>
      <p:sp>
        <p:nvSpPr>
          <p:cNvPr id="6" name="primary-claim">
            <a:extLst xmlns:a="http://schemas.openxmlformats.org/drawingml/2006/main">
              <a:ext uri="{FF2B5EF4-FFF2-40B4-BE49-F238E27FC236}">
                <a16:creationId xmlns:a16="http://schemas.microsoft.com/office/drawing/2014/main" id="{30E06F8B-2B79-4E2E-B029-ADC2F5FC1ADC}"/>
              </a:ext>
            </a:extLst>
          </p:cNvPr>
          <p:cNvSpPr>
            <a:spLocks xmlns:a="http://schemas.openxmlformats.org/drawingml/2006/main" noGrp="1"/>
          </p:cNvSpPr>
          <p:nvPr/>
        </p:nvSpPr>
        <p:spPr>
          <a:xfrm xmlns:a="http://schemas.openxmlformats.org/drawingml/2006/main">
            <a:off x="723900" y="1676400"/>
            <a:ext cx="990600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2925" b="1">
                <a:solidFill>
                  <a:srgbClr val="0F766E"/>
                </a:solidFill>
                <a:latin typeface="Helvetica Neue"/>
                <a:ea typeface="Helvetica Neue"/>
                <a:cs typeface="Helvetica Neue"/>
              </a:defRPr>
            </a:pPr>
            <a:r>
              <a:rPr sz="2925" b="1">
                <a:solidFill>
                  <a:srgbClr val="0F766E"/>
                </a:solidFill>
                <a:latin typeface="Helvetica Neue"/>
                <a:ea typeface="Helvetica Neue"/>
                <a:cs typeface="Helvetica Neue"/>
              </a:rPr>
              <a:t>Before reading columns, say what one tuple means.</a:t>
            </a:r>
          </a:p>
        </p:txBody>
      </p:sp>
      <p:sp>
        <p:nvSpPr>
          <p:cNvPr id="7" name="">
            <a:extLst xmlns:a="http://schemas.openxmlformats.org/drawingml/2006/main">
              <a:ext uri="{FF2B5EF4-FFF2-40B4-BE49-F238E27FC236}">
                <a16:creationId xmlns:a16="http://schemas.microsoft.com/office/drawing/2014/main" id="{D341F8A6-9943-46F5-BCAF-B96625DD2079}"/>
              </a:ext>
            </a:extLst>
          </p:cNvPr>
          <p:cNvSpPr>
            <a:spLocks xmlns:a="http://schemas.openxmlformats.org/drawingml/2006/main" noGrp="1"/>
          </p:cNvSpPr>
          <p:nvPr/>
        </p:nvSpPr>
        <p:spPr>
          <a:xfrm xmlns:a="http://schemas.openxmlformats.org/drawingml/2006/main">
            <a:off x="723900" y="3857625"/>
            <a:ext cx="3238500" cy="0"/>
          </a:xfrm>
          <a:prstGeom xmlns:a="http://schemas.openxmlformats.org/drawingml/2006/main" prst="line">
            <a:avLst/>
          </a:prstGeom>
          <a:noFill xmlns:a="http://schemas.openxmlformats.org/drawingml/2006/main"/>
          <a:ln xmlns:a="http://schemas.openxmlformats.org/drawingml/2006/main" w="38100">
            <a:solidFill>
              <a:srgbClr val="0F766E"/>
            </a:solidFill>
            <a:prstDash val="solid"/>
          </a:ln>
        </p:spPr>
      </p:sp>
      <p:sp>
        <p:nvSpPr>
          <p:cNvPr id="8" name="">
            <a:extLst xmlns:a="http://schemas.openxmlformats.org/drawingml/2006/main">
              <a:ext uri="{FF2B5EF4-FFF2-40B4-BE49-F238E27FC236}">
                <a16:creationId xmlns:a16="http://schemas.microsoft.com/office/drawing/2014/main" id="{5AD0CC63-6358-4119-9E47-0AD3FC909EA4}"/>
              </a:ext>
            </a:extLst>
          </p:cNvPr>
          <p:cNvSpPr>
            <a:spLocks xmlns:a="http://schemas.openxmlformats.org/drawingml/2006/main" noGrp="1"/>
          </p:cNvSpPr>
          <p:nvPr/>
        </p:nvSpPr>
        <p:spPr>
          <a:xfrm xmlns:a="http://schemas.openxmlformats.org/drawingml/2006/main">
            <a:off x="723900" y="4048125"/>
            <a:ext cx="3238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1125" b="1">
                <a:solidFill>
                  <a:srgbClr val="0F766E"/>
                </a:solidFill>
                <a:latin typeface="Helvetica Neue"/>
                <a:ea typeface="Helvetica Neue"/>
                <a:cs typeface="Helvetica Neue"/>
              </a:defRPr>
            </a:pPr>
            <a:r>
              <a:rPr sz="1125" b="1">
                <a:solidFill>
                  <a:srgbClr val="0F766E"/>
                </a:solidFill>
                <a:latin typeface="Helvetica Neue"/>
                <a:ea typeface="Helvetica Neue"/>
                <a:cs typeface="Helvetica Neue"/>
              </a:rPr>
              <a:t>SCHEMA</a:t>
            </a:r>
          </a:p>
        </p:txBody>
      </p:sp>
      <p:sp>
        <p:nvSpPr>
          <p:cNvPr id="9" name="">
            <a:extLst xmlns:a="http://schemas.openxmlformats.org/drawingml/2006/main">
              <a:ext uri="{FF2B5EF4-FFF2-40B4-BE49-F238E27FC236}">
                <a16:creationId xmlns:a16="http://schemas.microsoft.com/office/drawing/2014/main" id="{AD3CA79D-4998-4DC7-8C02-BFF19A09249D}"/>
              </a:ext>
            </a:extLst>
          </p:cNvPr>
          <p:cNvSpPr>
            <a:spLocks xmlns:a="http://schemas.openxmlformats.org/drawingml/2006/main" noGrp="1"/>
          </p:cNvSpPr>
          <p:nvPr/>
        </p:nvSpPr>
        <p:spPr>
          <a:xfrm xmlns:a="http://schemas.openxmlformats.org/drawingml/2006/main">
            <a:off x="723900" y="4400550"/>
            <a:ext cx="32385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1500">
                <a:solidFill>
                  <a:srgbClr val="111827"/>
                </a:solidFill>
                <a:latin typeface="Helvetica Neue"/>
                <a:ea typeface="Helvetica Neue"/>
                <a:cs typeface="Helvetica Neue"/>
              </a:defRPr>
            </a:pPr>
            <a:r>
              <a:rPr sz="1500">
                <a:solidFill>
                  <a:srgbClr val="111827"/>
                </a:solidFill>
                <a:latin typeface="Helvetica Neue"/>
                <a:ea typeface="Helvetica Neue"/>
                <a:cs typeface="Helvetica Neue"/>
              </a:rPr>
              <a:t>The relation name, attributes, and intended domains.</a:t>
            </a:r>
          </a:p>
        </p:txBody>
      </p:sp>
      <p:sp>
        <p:nvSpPr>
          <p:cNvPr id="10" name="">
            <a:extLst xmlns:a="http://schemas.openxmlformats.org/drawingml/2006/main">
              <a:ext uri="{FF2B5EF4-FFF2-40B4-BE49-F238E27FC236}">
                <a16:creationId xmlns:a16="http://schemas.microsoft.com/office/drawing/2014/main" id="{7B111B12-6CB9-49B9-A78B-B60C9F11BB7A}"/>
              </a:ext>
            </a:extLst>
          </p:cNvPr>
          <p:cNvSpPr>
            <a:spLocks xmlns:a="http://schemas.openxmlformats.org/drawingml/2006/main" noGrp="1"/>
          </p:cNvSpPr>
          <p:nvPr/>
        </p:nvSpPr>
        <p:spPr>
          <a:xfrm xmlns:a="http://schemas.openxmlformats.org/drawingml/2006/main">
            <a:off x="4324350" y="3857625"/>
            <a:ext cx="3238500" cy="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11" name="">
            <a:extLst xmlns:a="http://schemas.openxmlformats.org/drawingml/2006/main">
              <a:ext uri="{FF2B5EF4-FFF2-40B4-BE49-F238E27FC236}">
                <a16:creationId xmlns:a16="http://schemas.microsoft.com/office/drawing/2014/main" id="{CBDF0804-FDF9-40AD-AACF-A3AC911CF495}"/>
              </a:ext>
            </a:extLst>
          </p:cNvPr>
          <p:cNvSpPr>
            <a:spLocks xmlns:a="http://schemas.openxmlformats.org/drawingml/2006/main" noGrp="1"/>
          </p:cNvSpPr>
          <p:nvPr/>
        </p:nvSpPr>
        <p:spPr>
          <a:xfrm xmlns:a="http://schemas.openxmlformats.org/drawingml/2006/main">
            <a:off x="4324350" y="4048125"/>
            <a:ext cx="3238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1125" b="1">
                <a:solidFill>
                  <a:srgbClr val="0F766E"/>
                </a:solidFill>
                <a:latin typeface="Helvetica Neue"/>
                <a:ea typeface="Helvetica Neue"/>
                <a:cs typeface="Helvetica Neue"/>
              </a:defRPr>
            </a:pPr>
            <a:r>
              <a:rPr sz="1125" b="1">
                <a:solidFill>
                  <a:srgbClr val="0F766E"/>
                </a:solidFill>
                <a:latin typeface="Helvetica Neue"/>
                <a:ea typeface="Helvetica Neue"/>
                <a:cs typeface="Helvetica Neue"/>
              </a:rPr>
              <a:t>INSTANCE</a:t>
            </a:r>
          </a:p>
        </p:txBody>
      </p:sp>
      <p:sp>
        <p:nvSpPr>
          <p:cNvPr id="12" name="">
            <a:extLst xmlns:a="http://schemas.openxmlformats.org/drawingml/2006/main">
              <a:ext uri="{FF2B5EF4-FFF2-40B4-BE49-F238E27FC236}">
                <a16:creationId xmlns:a16="http://schemas.microsoft.com/office/drawing/2014/main" id="{C37DA53B-ACA8-4C01-9741-3E8E1C1119FC}"/>
              </a:ext>
            </a:extLst>
          </p:cNvPr>
          <p:cNvSpPr>
            <a:spLocks xmlns:a="http://schemas.openxmlformats.org/drawingml/2006/main" noGrp="1"/>
          </p:cNvSpPr>
          <p:nvPr/>
        </p:nvSpPr>
        <p:spPr>
          <a:xfrm xmlns:a="http://schemas.openxmlformats.org/drawingml/2006/main">
            <a:off x="4324350" y="4400550"/>
            <a:ext cx="32385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1500">
                <a:solidFill>
                  <a:srgbClr val="111827"/>
                </a:solidFill>
                <a:latin typeface="Helvetica Neue"/>
                <a:ea typeface="Helvetica Neue"/>
                <a:cs typeface="Helvetica Neue"/>
              </a:defRPr>
            </a:pPr>
            <a:r>
              <a:rPr sz="1500">
                <a:solidFill>
                  <a:srgbClr val="111827"/>
                </a:solidFill>
                <a:latin typeface="Helvetica Neue"/>
                <a:ea typeface="Helvetica Neue"/>
                <a:cs typeface="Helvetica Neue"/>
              </a:rPr>
              <a:t>The current tuples stored under that schema.</a:t>
            </a:r>
          </a:p>
        </p:txBody>
      </p:sp>
      <p:sp>
        <p:nvSpPr>
          <p:cNvPr id="13" name="">
            <a:extLst xmlns:a="http://schemas.openxmlformats.org/drawingml/2006/main">
              <a:ext uri="{FF2B5EF4-FFF2-40B4-BE49-F238E27FC236}">
                <a16:creationId xmlns:a16="http://schemas.microsoft.com/office/drawing/2014/main" id="{D7DFFFE1-F089-47A4-B3AD-BAF96BB3A78D}"/>
              </a:ext>
            </a:extLst>
          </p:cNvPr>
          <p:cNvSpPr>
            <a:spLocks xmlns:a="http://schemas.openxmlformats.org/drawingml/2006/main" noGrp="1"/>
          </p:cNvSpPr>
          <p:nvPr/>
        </p:nvSpPr>
        <p:spPr>
          <a:xfrm xmlns:a="http://schemas.openxmlformats.org/drawingml/2006/main">
            <a:off x="7924800" y="3857625"/>
            <a:ext cx="3238500" cy="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14" name="">
            <a:extLst xmlns:a="http://schemas.openxmlformats.org/drawingml/2006/main">
              <a:ext uri="{FF2B5EF4-FFF2-40B4-BE49-F238E27FC236}">
                <a16:creationId xmlns:a16="http://schemas.microsoft.com/office/drawing/2014/main" id="{D0378108-6DCC-4788-AF39-522F67D9620D}"/>
              </a:ext>
            </a:extLst>
          </p:cNvPr>
          <p:cNvSpPr>
            <a:spLocks xmlns:a="http://schemas.openxmlformats.org/drawingml/2006/main" noGrp="1"/>
          </p:cNvSpPr>
          <p:nvPr/>
        </p:nvSpPr>
        <p:spPr>
          <a:xfrm xmlns:a="http://schemas.openxmlformats.org/drawingml/2006/main">
            <a:off x="7924800" y="4048125"/>
            <a:ext cx="3238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1125" b="1">
                <a:solidFill>
                  <a:srgbClr val="0F766E"/>
                </a:solidFill>
                <a:latin typeface="Helvetica Neue"/>
                <a:ea typeface="Helvetica Neue"/>
                <a:cs typeface="Helvetica Neue"/>
              </a:defRPr>
            </a:pPr>
            <a:r>
              <a:rPr sz="1125" b="1">
                <a:solidFill>
                  <a:srgbClr val="0F766E"/>
                </a:solidFill>
                <a:latin typeface="Helvetica Neue"/>
                <a:ea typeface="Helvetica Neue"/>
                <a:cs typeface="Helvetica Neue"/>
              </a:rPr>
              <a:t>GRAIN</a:t>
            </a:r>
          </a:p>
        </p:txBody>
      </p:sp>
      <p:sp>
        <p:nvSpPr>
          <p:cNvPr id="15" name="">
            <a:extLst xmlns:a="http://schemas.openxmlformats.org/drawingml/2006/main">
              <a:ext uri="{FF2B5EF4-FFF2-40B4-BE49-F238E27FC236}">
                <a16:creationId xmlns:a16="http://schemas.microsoft.com/office/drawing/2014/main" id="{A60137BD-E99B-4423-BB66-1595F1AC86C5}"/>
              </a:ext>
            </a:extLst>
          </p:cNvPr>
          <p:cNvSpPr>
            <a:spLocks xmlns:a="http://schemas.openxmlformats.org/drawingml/2006/main" noGrp="1"/>
          </p:cNvSpPr>
          <p:nvPr/>
        </p:nvSpPr>
        <p:spPr>
          <a:xfrm xmlns:a="http://schemas.openxmlformats.org/drawingml/2006/main">
            <a:off x="7924800" y="4400550"/>
            <a:ext cx="32385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1500">
                <a:solidFill>
                  <a:srgbClr val="111827"/>
                </a:solidFill>
                <a:latin typeface="Helvetica Neue"/>
                <a:ea typeface="Helvetica Neue"/>
                <a:cs typeface="Helvetica Neue"/>
              </a:defRPr>
            </a:pPr>
            <a:r>
              <a:rPr sz="1500">
                <a:solidFill>
                  <a:srgbClr val="111827"/>
                </a:solidFill>
                <a:latin typeface="Helvetica Neue"/>
                <a:ea typeface="Helvetica Neue"/>
                <a:cs typeface="Helvetica Neue"/>
              </a:rPr>
              <a:t>The real-world fact represented by one tuple.</a:t>
            </a:r>
          </a:p>
        </p:txBody>
      </p:sp>
    </p:spTree>
    <p:extLst>
      <p:ext uri="{BB962C8B-B14F-4D97-AF65-F5344CB8AC3E}">
        <p14:creationId xmlns:p14="http://schemas.microsoft.com/office/powerpoint/2010/main" val="344478841"/>
      </p:ext>
    </p:extLst>
  </p:cSld>
</p:sld>
</file>

<file path=ppt/slides/slide10.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2B9A3A90-1F3E-495D-B261-6F7DA780484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eyebrow">
            <a:extLst xmlns:a="http://schemas.openxmlformats.org/drawingml/2006/main">
              <a:ext uri="{FF2B5EF4-FFF2-40B4-BE49-F238E27FC236}">
                <a16:creationId xmlns:a16="http://schemas.microsoft.com/office/drawing/2014/main" id="{569CD943-25AA-4D06-9CAD-1D5DE29CA6B9}"/>
              </a:ext>
            </a:extLst>
          </p:cNvPr>
          <p:cNvSpPr>
            <a:spLocks xmlns:a="http://schemas.openxmlformats.org/drawingml/2006/main" noGrp="1"/>
          </p:cNvSpPr>
          <p:nvPr/>
        </p:nvSpPr>
        <p:spPr>
          <a:xfrm xmlns:a="http://schemas.openxmlformats.org/drawingml/2006/main">
            <a:off x="609600" y="2952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975" b="1">
                <a:solidFill>
                  <a:srgbClr val="0F766E"/>
                </a:solidFill>
                <a:latin typeface="Helvetica Neue"/>
                <a:ea typeface="Helvetica Neue"/>
                <a:cs typeface="Helvetica Neue"/>
              </a:defRPr>
            </a:pPr>
            <a:r>
              <a:rPr sz="975" b="1">
                <a:solidFill>
                  <a:srgbClr val="0F766E"/>
                </a:solidFill>
                <a:latin typeface="Helvetica Neue"/>
                <a:ea typeface="Helvetica Neue"/>
                <a:cs typeface="Helvetica Neue"/>
              </a:rPr>
              <a:t>WEEK 01  /  CST4714</a:t>
            </a:r>
          </a:p>
        </p:txBody>
      </p:sp>
      <p:sp>
        <p:nvSpPr>
          <p:cNvPr id="3" name="slide-title">
            <a:extLst xmlns:a="http://schemas.openxmlformats.org/drawingml/2006/main">
              <a:ext uri="{FF2B5EF4-FFF2-40B4-BE49-F238E27FC236}">
                <a16:creationId xmlns:a16="http://schemas.microsoft.com/office/drawing/2014/main" id="{A4297BCA-B663-455F-828D-F8BAC2B1E094}"/>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Keys make identity and relationships testable</a:t>
            </a:r>
          </a:p>
        </p:txBody>
      </p:sp>
      <p:sp>
        <p:nvSpPr>
          <p:cNvPr id="4" name="">
            <a:extLst xmlns:a="http://schemas.openxmlformats.org/drawingml/2006/main">
              <a:ext uri="{FF2B5EF4-FFF2-40B4-BE49-F238E27FC236}">
                <a16:creationId xmlns:a16="http://schemas.microsoft.com/office/drawing/2014/main" id="{1D8A3E09-50E0-4A95-A8CC-07EC6AF32C78}"/>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5" name="slide-number">
            <a:extLst xmlns:a="http://schemas.openxmlformats.org/drawingml/2006/main">
              <a:ext uri="{FF2B5EF4-FFF2-40B4-BE49-F238E27FC236}">
                <a16:creationId xmlns:a16="http://schemas.microsoft.com/office/drawing/2014/main" id="{20A71153-8AEF-438E-94AB-292C31324885}"/>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r">
              <a:defRPr sz="825">
                <a:solidFill>
                  <a:srgbClr val="94A3B8"/>
                </a:solidFill>
                <a:latin typeface="Helvetica Neue"/>
                <a:ea typeface="Helvetica Neue"/>
                <a:cs typeface="Helvetica Neue"/>
              </a:defRPr>
            </a:pPr>
            <a:r>
              <a:rPr sz="825">
                <a:solidFill>
                  <a:srgbClr val="94A3B8"/>
                </a:solidFill>
                <a:latin typeface="Helvetica Neue"/>
                <a:ea typeface="Helvetica Neue"/>
                <a:cs typeface="Helvetica Neue"/>
              </a:rPr>
              <a:t>10</a:t>
            </a:r>
          </a:p>
        </p:txBody>
      </p:sp>
      <p:sp>
        <p:nvSpPr>
          <p:cNvPr id="6" name="">
            <a:extLst xmlns:a="http://schemas.openxmlformats.org/drawingml/2006/main">
              <a:ext uri="{FF2B5EF4-FFF2-40B4-BE49-F238E27FC236}">
                <a16:creationId xmlns:a16="http://schemas.microsoft.com/office/drawing/2014/main" id="{0D326F78-06BB-4A03-B7E5-2D3EC4B13C1E}"/>
              </a:ext>
            </a:extLst>
          </p:cNvPr>
          <p:cNvSpPr>
            <a:spLocks xmlns:a="http://schemas.openxmlformats.org/drawingml/2006/main" noGrp="1"/>
          </p:cNvSpPr>
          <p:nvPr/>
        </p:nvSpPr>
        <p:spPr>
          <a:xfrm xmlns:a="http://schemas.openxmlformats.org/drawingml/2006/main">
            <a:off x="2667000" y="2857500"/>
            <a:ext cx="6667500" cy="0"/>
          </a:xfrm>
          <a:prstGeom xmlns:a="http://schemas.openxmlformats.org/drawingml/2006/main" prst="line">
            <a:avLst/>
          </a:prstGeom>
          <a:noFill xmlns:a="http://schemas.openxmlformats.org/drawingml/2006/main"/>
          <a:ln xmlns:a="http://schemas.openxmlformats.org/drawingml/2006/main" w="38100">
            <a:solidFill>
              <a:srgbClr val="CBD5E1"/>
            </a:solidFill>
            <a:prstDash val="solid"/>
          </a:ln>
        </p:spPr>
      </p:sp>
      <p:sp>
        <p:nvSpPr>
          <p:cNvPr id="7" name="">
            <a:extLst xmlns:a="http://schemas.openxmlformats.org/drawingml/2006/main">
              <a:ext uri="{FF2B5EF4-FFF2-40B4-BE49-F238E27FC236}">
                <a16:creationId xmlns:a16="http://schemas.microsoft.com/office/drawing/2014/main" id="{61F732CE-A529-4730-9B96-15F3B39B6493}"/>
              </a:ext>
            </a:extLst>
          </p:cNvPr>
          <p:cNvSpPr>
            <a:spLocks xmlns:a="http://schemas.openxmlformats.org/drawingml/2006/main" noGrp="1"/>
          </p:cNvSpPr>
          <p:nvPr/>
        </p:nvSpPr>
        <p:spPr>
          <a:xfrm xmlns:a="http://schemas.openxmlformats.org/drawingml/2006/main">
            <a:off x="5334000" y="2647950"/>
            <a:ext cx="1333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defRPr sz="975" b="1">
                <a:solidFill>
                  <a:srgbClr val="0F766E"/>
                </a:solidFill>
                <a:latin typeface="Helvetica Neue"/>
                <a:ea typeface="Helvetica Neue"/>
                <a:cs typeface="Helvetica Neue"/>
              </a:defRPr>
            </a:pPr>
            <a:r>
              <a:rPr sz="975" b="1">
                <a:solidFill>
                  <a:srgbClr val="0F766E"/>
                </a:solidFill>
                <a:latin typeface="Helvetica Neue"/>
                <a:ea typeface="Helvetica Neue"/>
                <a:cs typeface="Helvetica Neue"/>
              </a:rPr>
              <a:t>user_id = requester_id</a:t>
            </a:r>
          </a:p>
        </p:txBody>
      </p:sp>
      <p:sp>
        <p:nvSpPr>
          <p:cNvPr id="8" name="">
            <a:extLst xmlns:a="http://schemas.openxmlformats.org/drawingml/2006/main">
              <a:ext uri="{FF2B5EF4-FFF2-40B4-BE49-F238E27FC236}">
                <a16:creationId xmlns:a16="http://schemas.microsoft.com/office/drawing/2014/main" id="{F51D86BA-23CC-4F7B-8EFA-35DAB4E2A077}"/>
              </a:ext>
            </a:extLst>
          </p:cNvPr>
          <p:cNvSpPr>
            <a:spLocks xmlns:a="http://schemas.openxmlformats.org/drawingml/2006/main" noGrp="1"/>
          </p:cNvSpPr>
          <p:nvPr/>
        </p:nvSpPr>
        <p:spPr>
          <a:xfrm xmlns:a="http://schemas.openxmlformats.org/drawingml/2006/main">
            <a:off x="1095375" y="2143125"/>
            <a:ext cx="3143250" cy="1428750"/>
          </a:xfrm>
          <a:prstGeom xmlns:a="http://schemas.openxmlformats.org/drawingml/2006/main" prst="rect">
            <a:avLst/>
          </a:prstGeom>
          <a:solidFill xmlns:a="http://schemas.openxmlformats.org/drawingml/2006/main">
            <a:srgbClr val="0F766E"/>
          </a:solidFill>
          <a:ln xmlns:a="http://schemas.openxmlformats.org/drawingml/2006/main" w="9525">
            <a:solidFill>
              <a:srgbClr val="0F766E"/>
            </a:solidFill>
            <a:prstDash val="solid"/>
          </a:ln>
        </p:spPr>
        <p:txBody>
          <a:bodyPr xmlns:a="http://schemas.openxmlformats.org/drawingml/2006/main" lIns="95250" tIns="95250" rIns="95250" bIns="95250" anchor="ctr">
            <a:normAutofit fontScale="100000"/>
          </a:bodyPr>
          <a:lstStyle xmlns:a="http://schemas.openxmlformats.org/drawingml/2006/main"/>
          <a:p xmlns:a="http://schemas.openxmlformats.org/drawingml/2006/main">
            <a:pPr algn="ctr">
              <a:defRPr sz="1575" b="1">
                <a:solidFill>
                  <a:srgbClr val="FFFFFF"/>
                </a:solidFill>
                <a:latin typeface="Helvetica Neue"/>
                <a:ea typeface="Helvetica Neue"/>
                <a:cs typeface="Helvetica Neue"/>
              </a:defRPr>
            </a:pPr>
            <a:r>
              <a:rPr sz="1575" b="1">
                <a:solidFill>
                  <a:srgbClr val="FFFFFF"/>
                </a:solidFill>
                <a:latin typeface="Helvetica Neue"/>
                <a:ea typeface="Helvetica Neue"/>
                <a:cs typeface="Helvetica Neue"/>
              </a:rPr>
              <a:t>users</a:t>
            </a:r>
          </a:p>
          <a:p xmlns:a="http://schemas.openxmlformats.org/drawingml/2006/main">
            <a:pPr algn="ctr">
              <a:defRPr sz="1575" b="1">
                <a:solidFill>
                  <a:srgbClr val="FFFFFF"/>
                </a:solidFill>
                <a:latin typeface="Helvetica Neue"/>
                <a:ea typeface="Helvetica Neue"/>
                <a:cs typeface="Helvetica Neue"/>
              </a:defRPr>
            </a:pPr>
            <a:r>
              <a:rPr sz="1575" b="1">
                <a:solidFill>
                  <a:srgbClr val="FFFFFF"/>
                </a:solidFill>
                <a:latin typeface="Helvetica Neue"/>
                <a:ea typeface="Helvetica Neue"/>
                <a:cs typeface="Helvetica Neue"/>
              </a:rPr>
              <a:t>user_id  •  display_name</a:t>
            </a:r>
          </a:p>
        </p:txBody>
      </p:sp>
      <p:sp>
        <p:nvSpPr>
          <p:cNvPr id="9" name="">
            <a:extLst xmlns:a="http://schemas.openxmlformats.org/drawingml/2006/main">
              <a:ext uri="{FF2B5EF4-FFF2-40B4-BE49-F238E27FC236}">
                <a16:creationId xmlns:a16="http://schemas.microsoft.com/office/drawing/2014/main" id="{87143BFC-E66F-44E8-9073-16784DBD74CF}"/>
              </a:ext>
            </a:extLst>
          </p:cNvPr>
          <p:cNvSpPr>
            <a:spLocks xmlns:a="http://schemas.openxmlformats.org/drawingml/2006/main" noGrp="1"/>
          </p:cNvSpPr>
          <p:nvPr/>
        </p:nvSpPr>
        <p:spPr>
          <a:xfrm xmlns:a="http://schemas.openxmlformats.org/drawingml/2006/main">
            <a:off x="1095375" y="3667125"/>
            <a:ext cx="3143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defRPr sz="1125">
                <a:solidFill>
                  <a:srgbClr val="475569"/>
                </a:solidFill>
                <a:latin typeface="Helvetica Neue"/>
                <a:ea typeface="Helvetica Neue"/>
                <a:cs typeface="Helvetica Neue"/>
              </a:defRPr>
            </a:pPr>
            <a:r>
              <a:rPr sz="1125">
                <a:solidFill>
                  <a:srgbClr val="475569"/>
                </a:solidFill>
                <a:latin typeface="Helvetica Neue"/>
                <a:ea typeface="Helvetica Neue"/>
                <a:cs typeface="Helvetica Neue"/>
              </a:rPr>
              <a:t>One tuple per user</a:t>
            </a:r>
          </a:p>
        </p:txBody>
      </p:sp>
      <p:sp>
        <p:nvSpPr>
          <p:cNvPr id="10" name="">
            <a:extLst xmlns:a="http://schemas.openxmlformats.org/drawingml/2006/main">
              <a:ext uri="{FF2B5EF4-FFF2-40B4-BE49-F238E27FC236}">
                <a16:creationId xmlns:a16="http://schemas.microsoft.com/office/drawing/2014/main" id="{0A2A173E-054E-4B3D-82D9-A37EE468481F}"/>
              </a:ext>
            </a:extLst>
          </p:cNvPr>
          <p:cNvSpPr>
            <a:spLocks xmlns:a="http://schemas.openxmlformats.org/drawingml/2006/main" noGrp="1"/>
          </p:cNvSpPr>
          <p:nvPr/>
        </p:nvSpPr>
        <p:spPr>
          <a:xfrm xmlns:a="http://schemas.openxmlformats.org/drawingml/2006/main">
            <a:off x="7620000" y="2143125"/>
            <a:ext cx="3429000" cy="142875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lIns="95250" tIns="95250" rIns="95250" bIns="95250" anchor="ctr">
            <a:normAutofit fontScale="100000"/>
          </a:bodyPr>
          <a:lstStyle xmlns:a="http://schemas.openxmlformats.org/drawingml/2006/main"/>
          <a:p xmlns:a="http://schemas.openxmlformats.org/drawingml/2006/main">
            <a:pPr algn="ctr">
              <a:defRPr sz="1575" b="1">
                <a:solidFill>
                  <a:srgbClr val="111827"/>
                </a:solidFill>
                <a:latin typeface="Helvetica Neue"/>
                <a:ea typeface="Helvetica Neue"/>
                <a:cs typeface="Helvetica Neue"/>
              </a:defRPr>
            </a:pPr>
            <a:r>
              <a:rPr sz="1575" b="1">
                <a:solidFill>
                  <a:srgbClr val="111827"/>
                </a:solidFill>
                <a:latin typeface="Helvetica Neue"/>
                <a:ea typeface="Helvetica Neue"/>
                <a:cs typeface="Helvetica Neue"/>
              </a:rPr>
              <a:t>tickets</a:t>
            </a:r>
          </a:p>
          <a:p xmlns:a="http://schemas.openxmlformats.org/drawingml/2006/main">
            <a:pPr algn="ctr">
              <a:defRPr sz="1575" b="1">
                <a:solidFill>
                  <a:srgbClr val="111827"/>
                </a:solidFill>
                <a:latin typeface="Helvetica Neue"/>
                <a:ea typeface="Helvetica Neue"/>
                <a:cs typeface="Helvetica Neue"/>
              </a:defRPr>
            </a:pPr>
            <a:r>
              <a:rPr sz="1575" b="1">
                <a:solidFill>
                  <a:srgbClr val="111827"/>
                </a:solidFill>
                <a:latin typeface="Helvetica Neue"/>
                <a:ea typeface="Helvetica Neue"/>
                <a:cs typeface="Helvetica Neue"/>
              </a:rPr>
              <a:t>ticket_id  •  requester_id</a:t>
            </a:r>
          </a:p>
        </p:txBody>
      </p:sp>
      <p:sp>
        <p:nvSpPr>
          <p:cNvPr id="11" name="">
            <a:extLst xmlns:a="http://schemas.openxmlformats.org/drawingml/2006/main">
              <a:ext uri="{FF2B5EF4-FFF2-40B4-BE49-F238E27FC236}">
                <a16:creationId xmlns:a16="http://schemas.microsoft.com/office/drawing/2014/main" id="{E533125C-A172-4FAF-B11A-5EDFFFDA6513}"/>
              </a:ext>
            </a:extLst>
          </p:cNvPr>
          <p:cNvSpPr>
            <a:spLocks xmlns:a="http://schemas.openxmlformats.org/drawingml/2006/main" noGrp="1"/>
          </p:cNvSpPr>
          <p:nvPr/>
        </p:nvSpPr>
        <p:spPr>
          <a:xfrm xmlns:a="http://schemas.openxmlformats.org/drawingml/2006/main">
            <a:off x="7620000" y="3667125"/>
            <a:ext cx="3429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defRPr sz="1125">
                <a:solidFill>
                  <a:srgbClr val="475569"/>
                </a:solidFill>
                <a:latin typeface="Helvetica Neue"/>
                <a:ea typeface="Helvetica Neue"/>
                <a:cs typeface="Helvetica Neue"/>
              </a:defRPr>
            </a:pPr>
            <a:r>
              <a:rPr sz="1125">
                <a:solidFill>
                  <a:srgbClr val="475569"/>
                </a:solidFill>
                <a:latin typeface="Helvetica Neue"/>
                <a:ea typeface="Helvetica Neue"/>
                <a:cs typeface="Helvetica Neue"/>
              </a:rPr>
              <a:t>One tuple per ticket</a:t>
            </a:r>
          </a:p>
        </p:txBody>
      </p:sp>
      <p:sp>
        <p:nvSpPr>
          <p:cNvPr id="12" name="">
            <a:extLst xmlns:a="http://schemas.openxmlformats.org/drawingml/2006/main">
              <a:ext uri="{FF2B5EF4-FFF2-40B4-BE49-F238E27FC236}">
                <a16:creationId xmlns:a16="http://schemas.microsoft.com/office/drawing/2014/main" id="{3D272678-B7F1-4351-B293-324BBE2B4A47}"/>
              </a:ext>
            </a:extLst>
          </p:cNvPr>
          <p:cNvSpPr>
            <a:spLocks xmlns:a="http://schemas.openxmlformats.org/drawingml/2006/main" noGrp="1"/>
          </p:cNvSpPr>
          <p:nvPr/>
        </p:nvSpPr>
        <p:spPr>
          <a:xfrm xmlns:a="http://schemas.openxmlformats.org/drawingml/2006/main">
            <a:off x="895350" y="5667375"/>
            <a:ext cx="10382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defRPr sz="1350">
                <a:solidFill>
                  <a:srgbClr val="475569"/>
                </a:solidFill>
                <a:latin typeface="Helvetica Neue"/>
                <a:ea typeface="Helvetica Neue"/>
                <a:cs typeface="Helvetica Neue"/>
              </a:defRPr>
            </a:pPr>
            <a:r>
              <a:rPr sz="1350">
                <a:solidFill>
                  <a:srgbClr val="475569"/>
                </a:solidFill>
                <a:latin typeface="Helvetica Neue"/>
                <a:ea typeface="Helvetica Neue"/>
                <a:cs typeface="Helvetica Neue"/>
              </a:rPr>
              <a:t>A primary key identifies a tuple; a foreign-key value refers to an existing identity.</a:t>
            </a:r>
          </a:p>
        </p:txBody>
      </p:sp>
    </p:spTree>
    <p:extLst>
      <p:ext uri="{BB962C8B-B14F-4D97-AF65-F5344CB8AC3E}">
        <p14:creationId xmlns:p14="http://schemas.microsoft.com/office/powerpoint/2010/main" val="2141698688"/>
      </p:ext>
    </p:extLst>
  </p:cSld>
</p:sld>
</file>

<file path=ppt/slides/slide11.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C3B79758-7494-491A-8C99-34AA99D3EEA9}"/>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eyebrow">
            <a:extLst xmlns:a="http://schemas.openxmlformats.org/drawingml/2006/main">
              <a:ext uri="{FF2B5EF4-FFF2-40B4-BE49-F238E27FC236}">
                <a16:creationId xmlns:a16="http://schemas.microsoft.com/office/drawing/2014/main" id="{5818CAD4-AB51-4F91-8C86-330A57A458F7}"/>
              </a:ext>
            </a:extLst>
          </p:cNvPr>
          <p:cNvSpPr>
            <a:spLocks xmlns:a="http://schemas.openxmlformats.org/drawingml/2006/main" noGrp="1"/>
          </p:cNvSpPr>
          <p:nvPr/>
        </p:nvSpPr>
        <p:spPr>
          <a:xfrm xmlns:a="http://schemas.openxmlformats.org/drawingml/2006/main">
            <a:off x="609600" y="2952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975" b="1">
                <a:solidFill>
                  <a:srgbClr val="0F766E"/>
                </a:solidFill>
                <a:latin typeface="Helvetica Neue"/>
                <a:ea typeface="Helvetica Neue"/>
                <a:cs typeface="Helvetica Neue"/>
              </a:defRPr>
            </a:pPr>
            <a:r>
              <a:rPr sz="975" b="1">
                <a:solidFill>
                  <a:srgbClr val="0F766E"/>
                </a:solidFill>
                <a:latin typeface="Helvetica Neue"/>
                <a:ea typeface="Helvetica Neue"/>
                <a:cs typeface="Helvetica Neue"/>
              </a:rPr>
              <a:t>WEEK 01  /  CST4714</a:t>
            </a:r>
          </a:p>
        </p:txBody>
      </p:sp>
      <p:sp>
        <p:nvSpPr>
          <p:cNvPr id="3" name="slide-title">
            <a:extLst xmlns:a="http://schemas.openxmlformats.org/drawingml/2006/main">
              <a:ext uri="{FF2B5EF4-FFF2-40B4-BE49-F238E27FC236}">
                <a16:creationId xmlns:a16="http://schemas.microsoft.com/office/drawing/2014/main" id="{AFEAE158-7843-4343-B09C-ABCCDC0670DA}"/>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Selection keeps tuples; projection keeps attributes</a:t>
            </a:r>
          </a:p>
        </p:txBody>
      </p:sp>
      <p:sp>
        <p:nvSpPr>
          <p:cNvPr id="4" name="">
            <a:extLst xmlns:a="http://schemas.openxmlformats.org/drawingml/2006/main">
              <a:ext uri="{FF2B5EF4-FFF2-40B4-BE49-F238E27FC236}">
                <a16:creationId xmlns:a16="http://schemas.microsoft.com/office/drawing/2014/main" id="{9331FC8A-176E-4F03-A89C-C7A6D7CF67B4}"/>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5" name="slide-number">
            <a:extLst xmlns:a="http://schemas.openxmlformats.org/drawingml/2006/main">
              <a:ext uri="{FF2B5EF4-FFF2-40B4-BE49-F238E27FC236}">
                <a16:creationId xmlns:a16="http://schemas.microsoft.com/office/drawing/2014/main" id="{FC6D6952-6FDD-4AFD-BC85-48E7035E53A7}"/>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r">
              <a:defRPr sz="825">
                <a:solidFill>
                  <a:srgbClr val="94A3B8"/>
                </a:solidFill>
                <a:latin typeface="Helvetica Neue"/>
                <a:ea typeface="Helvetica Neue"/>
                <a:cs typeface="Helvetica Neue"/>
              </a:defRPr>
            </a:pPr>
            <a:r>
              <a:rPr sz="825">
                <a:solidFill>
                  <a:srgbClr val="94A3B8"/>
                </a:solidFill>
                <a:latin typeface="Helvetica Neue"/>
                <a:ea typeface="Helvetica Neue"/>
                <a:cs typeface="Helvetica Neue"/>
              </a:rPr>
              <a:t>11</a:t>
            </a:r>
          </a:p>
        </p:txBody>
      </p:sp>
      <p:sp>
        <p:nvSpPr>
          <p:cNvPr id="6" name="">
            <a:extLst xmlns:a="http://schemas.openxmlformats.org/drawingml/2006/main">
              <a:ext uri="{FF2B5EF4-FFF2-40B4-BE49-F238E27FC236}">
                <a16:creationId xmlns:a16="http://schemas.microsoft.com/office/drawing/2014/main" id="{7BEE8DB0-0217-47E1-9785-9770492AA219}"/>
              </a:ext>
            </a:extLst>
          </p:cNvPr>
          <p:cNvSpPr>
            <a:spLocks xmlns:a="http://schemas.openxmlformats.org/drawingml/2006/main" noGrp="1"/>
          </p:cNvSpPr>
          <p:nvPr/>
        </p:nvSpPr>
        <p:spPr>
          <a:xfrm xmlns:a="http://schemas.openxmlformats.org/drawingml/2006/main">
            <a:off x="723900" y="1676400"/>
            <a:ext cx="4762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1950" b="1">
                <a:solidFill>
                  <a:srgbClr val="0F766E"/>
                </a:solidFill>
                <a:latin typeface="Helvetica Neue"/>
                <a:ea typeface="Helvetica Neue"/>
                <a:cs typeface="Helvetica Neue"/>
              </a:defRPr>
            </a:pPr>
            <a:r>
              <a:rPr sz="1950" b="1">
                <a:solidFill>
                  <a:srgbClr val="0F766E"/>
                </a:solidFill>
                <a:latin typeface="Helvetica Neue"/>
                <a:ea typeface="Helvetica Neue"/>
                <a:cs typeface="Helvetica Neue"/>
              </a:rPr>
              <a:t>Selection: sigma</a:t>
            </a:r>
          </a:p>
        </p:txBody>
      </p:sp>
      <p:sp>
        <p:nvSpPr>
          <p:cNvPr id="7" name="">
            <a:extLst xmlns:a="http://schemas.openxmlformats.org/drawingml/2006/main">
              <a:ext uri="{FF2B5EF4-FFF2-40B4-BE49-F238E27FC236}">
                <a16:creationId xmlns:a16="http://schemas.microsoft.com/office/drawing/2014/main" id="{B79B5057-B1A9-4225-B54E-5D8D676B4F12}"/>
              </a:ext>
            </a:extLst>
          </p:cNvPr>
          <p:cNvSpPr>
            <a:spLocks xmlns:a="http://schemas.openxmlformats.org/drawingml/2006/main" noGrp="1"/>
          </p:cNvSpPr>
          <p:nvPr/>
        </p:nvSpPr>
        <p:spPr>
          <a:xfrm xmlns:a="http://schemas.openxmlformats.org/drawingml/2006/main">
            <a:off x="6705600" y="1676400"/>
            <a:ext cx="4762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1950" b="1">
                <a:solidFill>
                  <a:srgbClr val="111827"/>
                </a:solidFill>
                <a:latin typeface="Helvetica Neue"/>
                <a:ea typeface="Helvetica Neue"/>
                <a:cs typeface="Helvetica Neue"/>
              </a:defRPr>
            </a:pPr>
            <a:r>
              <a:rPr sz="1950" b="1">
                <a:solidFill>
                  <a:srgbClr val="111827"/>
                </a:solidFill>
                <a:latin typeface="Helvetica Neue"/>
                <a:ea typeface="Helvetica Neue"/>
                <a:cs typeface="Helvetica Neue"/>
              </a:rPr>
              <a:t>Projection: pi</a:t>
            </a:r>
          </a:p>
        </p:txBody>
      </p:sp>
      <p:sp>
        <p:nvSpPr>
          <p:cNvPr id="8" name="">
            <a:extLst xmlns:a="http://schemas.openxmlformats.org/drawingml/2006/main">
              <a:ext uri="{FF2B5EF4-FFF2-40B4-BE49-F238E27FC236}">
                <a16:creationId xmlns:a16="http://schemas.microsoft.com/office/drawing/2014/main" id="{2F6D875D-D51C-4338-9953-EE1834FF17F2}"/>
              </a:ext>
            </a:extLst>
          </p:cNvPr>
          <p:cNvSpPr>
            <a:spLocks xmlns:a="http://schemas.openxmlformats.org/drawingml/2006/main" noGrp="1"/>
          </p:cNvSpPr>
          <p:nvPr/>
        </p:nvSpPr>
        <p:spPr>
          <a:xfrm xmlns:a="http://schemas.openxmlformats.org/drawingml/2006/main">
            <a:off x="6096000" y="1638300"/>
            <a:ext cx="0" cy="430530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9" name="">
            <a:extLst xmlns:a="http://schemas.openxmlformats.org/drawingml/2006/main">
              <a:ext uri="{FF2B5EF4-FFF2-40B4-BE49-F238E27FC236}">
                <a16:creationId xmlns:a16="http://schemas.microsoft.com/office/drawing/2014/main" id="{9338184A-EBD6-43C5-AD55-BE784938CFD7}"/>
              </a:ext>
            </a:extLst>
          </p:cNvPr>
          <p:cNvSpPr>
            <a:spLocks xmlns:a="http://schemas.openxmlformats.org/drawingml/2006/main" noGrp="1"/>
          </p:cNvSpPr>
          <p:nvPr/>
        </p:nvSpPr>
        <p:spPr>
          <a:xfrm xmlns:a="http://schemas.openxmlformats.org/drawingml/2006/main">
            <a:off x="762000" y="2400300"/>
            <a:ext cx="85725" cy="304800"/>
          </a:xfrm>
          <a:prstGeom xmlns:a="http://schemas.openxmlformats.org/drawingml/2006/main" prst="rect">
            <a:avLst/>
          </a:prstGeom>
          <a:solidFill xmlns:a="http://schemas.openxmlformats.org/drawingml/2006/main">
            <a:srgbClr val="0F766E"/>
          </a:solidFill>
          <a:ln xmlns:a="http://schemas.openxmlformats.org/drawingml/2006/main" w="0">
            <a:solidFill>
              <a:srgbClr val="0F766E"/>
            </a:solidFill>
            <a:prstDash val="solid"/>
          </a:ln>
        </p:spPr>
      </p:sp>
      <p:sp>
        <p:nvSpPr>
          <p:cNvPr id="10" name="">
            <a:extLst xmlns:a="http://schemas.openxmlformats.org/drawingml/2006/main">
              <a:ext uri="{FF2B5EF4-FFF2-40B4-BE49-F238E27FC236}">
                <a16:creationId xmlns:a16="http://schemas.microsoft.com/office/drawing/2014/main" id="{5A3851F1-62C7-43B5-9874-FDA3F532F966}"/>
              </a:ext>
            </a:extLst>
          </p:cNvPr>
          <p:cNvSpPr>
            <a:spLocks xmlns:a="http://schemas.openxmlformats.org/drawingml/2006/main" noGrp="1"/>
          </p:cNvSpPr>
          <p:nvPr/>
        </p:nvSpPr>
        <p:spPr>
          <a:xfrm xmlns:a="http://schemas.openxmlformats.org/drawingml/2006/main">
            <a:off x="1028700" y="234315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Begins with one relation</a:t>
            </a:r>
          </a:p>
        </p:txBody>
      </p:sp>
      <p:sp>
        <p:nvSpPr>
          <p:cNvPr id="11" name="">
            <a:extLst xmlns:a="http://schemas.openxmlformats.org/drawingml/2006/main">
              <a:ext uri="{FF2B5EF4-FFF2-40B4-BE49-F238E27FC236}">
                <a16:creationId xmlns:a16="http://schemas.microsoft.com/office/drawing/2014/main" id="{C9D95A42-9946-4D58-9FF4-2835624E6CCD}"/>
              </a:ext>
            </a:extLst>
          </p:cNvPr>
          <p:cNvSpPr>
            <a:spLocks xmlns:a="http://schemas.openxmlformats.org/drawingml/2006/main" noGrp="1"/>
          </p:cNvSpPr>
          <p:nvPr/>
        </p:nvSpPr>
        <p:spPr>
          <a:xfrm xmlns:a="http://schemas.openxmlformats.org/drawingml/2006/main">
            <a:off x="762000" y="3143250"/>
            <a:ext cx="85725" cy="304800"/>
          </a:xfrm>
          <a:prstGeom xmlns:a="http://schemas.openxmlformats.org/drawingml/2006/main" prst="rect">
            <a:avLst/>
          </a:prstGeom>
          <a:solidFill xmlns:a="http://schemas.openxmlformats.org/drawingml/2006/main">
            <a:srgbClr val="0F766E"/>
          </a:solidFill>
          <a:ln xmlns:a="http://schemas.openxmlformats.org/drawingml/2006/main" w="0">
            <a:solidFill>
              <a:srgbClr val="0F766E"/>
            </a:solidFill>
            <a:prstDash val="solid"/>
          </a:ln>
        </p:spPr>
      </p:sp>
      <p:sp>
        <p:nvSpPr>
          <p:cNvPr id="12" name="">
            <a:extLst xmlns:a="http://schemas.openxmlformats.org/drawingml/2006/main">
              <a:ext uri="{FF2B5EF4-FFF2-40B4-BE49-F238E27FC236}">
                <a16:creationId xmlns:a16="http://schemas.microsoft.com/office/drawing/2014/main" id="{89E9FCDF-9CC2-4BCD-9DDB-906CD89DD69A}"/>
              </a:ext>
            </a:extLst>
          </p:cNvPr>
          <p:cNvSpPr>
            <a:spLocks xmlns:a="http://schemas.openxmlformats.org/drawingml/2006/main" noGrp="1"/>
          </p:cNvSpPr>
          <p:nvPr/>
        </p:nvSpPr>
        <p:spPr>
          <a:xfrm xmlns:a="http://schemas.openxmlformats.org/drawingml/2006/main">
            <a:off x="1028700" y="308610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Keeps tuples satisfying a predicate</a:t>
            </a:r>
          </a:p>
        </p:txBody>
      </p:sp>
      <p:sp>
        <p:nvSpPr>
          <p:cNvPr id="13" name="">
            <a:extLst xmlns:a="http://schemas.openxmlformats.org/drawingml/2006/main">
              <a:ext uri="{FF2B5EF4-FFF2-40B4-BE49-F238E27FC236}">
                <a16:creationId xmlns:a16="http://schemas.microsoft.com/office/drawing/2014/main" id="{F3ECB28B-0E4F-4461-846D-618C22082C80}"/>
              </a:ext>
            </a:extLst>
          </p:cNvPr>
          <p:cNvSpPr>
            <a:spLocks xmlns:a="http://schemas.openxmlformats.org/drawingml/2006/main" noGrp="1"/>
          </p:cNvSpPr>
          <p:nvPr/>
        </p:nvSpPr>
        <p:spPr>
          <a:xfrm xmlns:a="http://schemas.openxmlformats.org/drawingml/2006/main">
            <a:off x="762000" y="3886200"/>
            <a:ext cx="85725" cy="304800"/>
          </a:xfrm>
          <a:prstGeom xmlns:a="http://schemas.openxmlformats.org/drawingml/2006/main" prst="rect">
            <a:avLst/>
          </a:prstGeom>
          <a:solidFill xmlns:a="http://schemas.openxmlformats.org/drawingml/2006/main">
            <a:srgbClr val="0F766E"/>
          </a:solidFill>
          <a:ln xmlns:a="http://schemas.openxmlformats.org/drawingml/2006/main" w="0">
            <a:solidFill>
              <a:srgbClr val="0F766E"/>
            </a:solidFill>
            <a:prstDash val="solid"/>
          </a:ln>
        </p:spPr>
      </p:sp>
      <p:sp>
        <p:nvSpPr>
          <p:cNvPr id="14" name="">
            <a:extLst xmlns:a="http://schemas.openxmlformats.org/drawingml/2006/main">
              <a:ext uri="{FF2B5EF4-FFF2-40B4-BE49-F238E27FC236}">
                <a16:creationId xmlns:a16="http://schemas.microsoft.com/office/drawing/2014/main" id="{995CB011-DB72-413B-B352-C476A73D0F66}"/>
              </a:ext>
            </a:extLst>
          </p:cNvPr>
          <p:cNvSpPr>
            <a:spLocks xmlns:a="http://schemas.openxmlformats.org/drawingml/2006/main" noGrp="1"/>
          </p:cNvSpPr>
          <p:nvPr/>
        </p:nvSpPr>
        <p:spPr>
          <a:xfrm xmlns:a="http://schemas.openxmlformats.org/drawingml/2006/main">
            <a:off x="1028700" y="382905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Preserves the original attributes</a:t>
            </a:r>
          </a:p>
        </p:txBody>
      </p:sp>
      <p:sp>
        <p:nvSpPr>
          <p:cNvPr id="15" name="">
            <a:extLst xmlns:a="http://schemas.openxmlformats.org/drawingml/2006/main">
              <a:ext uri="{FF2B5EF4-FFF2-40B4-BE49-F238E27FC236}">
                <a16:creationId xmlns:a16="http://schemas.microsoft.com/office/drawing/2014/main" id="{34AD01C9-4787-4A8F-8FA0-D278EAAAF304}"/>
              </a:ext>
            </a:extLst>
          </p:cNvPr>
          <p:cNvSpPr>
            <a:spLocks xmlns:a="http://schemas.openxmlformats.org/drawingml/2006/main" noGrp="1"/>
          </p:cNvSpPr>
          <p:nvPr/>
        </p:nvSpPr>
        <p:spPr>
          <a:xfrm xmlns:a="http://schemas.openxmlformats.org/drawingml/2006/main">
            <a:off x="6743700" y="2400300"/>
            <a:ext cx="85725" cy="304800"/>
          </a:xfrm>
          <a:prstGeom xmlns:a="http://schemas.openxmlformats.org/drawingml/2006/main" prst="rect">
            <a:avLst/>
          </a:prstGeom>
          <a:solidFill xmlns:a="http://schemas.openxmlformats.org/drawingml/2006/main">
            <a:srgbClr val="475569"/>
          </a:solidFill>
          <a:ln xmlns:a="http://schemas.openxmlformats.org/drawingml/2006/main" w="0">
            <a:solidFill>
              <a:srgbClr val="475569"/>
            </a:solidFill>
            <a:prstDash val="solid"/>
          </a:ln>
        </p:spPr>
      </p:sp>
      <p:sp>
        <p:nvSpPr>
          <p:cNvPr id="16" name="">
            <a:extLst xmlns:a="http://schemas.openxmlformats.org/drawingml/2006/main">
              <a:ext uri="{FF2B5EF4-FFF2-40B4-BE49-F238E27FC236}">
                <a16:creationId xmlns:a16="http://schemas.microsoft.com/office/drawing/2014/main" id="{394FC36C-4F14-48C3-9619-0D8360435184}"/>
              </a:ext>
            </a:extLst>
          </p:cNvPr>
          <p:cNvSpPr>
            <a:spLocks xmlns:a="http://schemas.openxmlformats.org/drawingml/2006/main" noGrp="1"/>
          </p:cNvSpPr>
          <p:nvPr/>
        </p:nvSpPr>
        <p:spPr>
          <a:xfrm xmlns:a="http://schemas.openxmlformats.org/drawingml/2006/main">
            <a:off x="7010400" y="234315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Begins with one relation</a:t>
            </a:r>
          </a:p>
        </p:txBody>
      </p:sp>
      <p:sp>
        <p:nvSpPr>
          <p:cNvPr id="17" name="">
            <a:extLst xmlns:a="http://schemas.openxmlformats.org/drawingml/2006/main">
              <a:ext uri="{FF2B5EF4-FFF2-40B4-BE49-F238E27FC236}">
                <a16:creationId xmlns:a16="http://schemas.microsoft.com/office/drawing/2014/main" id="{D2B77A4B-9D81-4BD8-B1AC-E322AC179D6B}"/>
              </a:ext>
            </a:extLst>
          </p:cNvPr>
          <p:cNvSpPr>
            <a:spLocks xmlns:a="http://schemas.openxmlformats.org/drawingml/2006/main" noGrp="1"/>
          </p:cNvSpPr>
          <p:nvPr/>
        </p:nvSpPr>
        <p:spPr>
          <a:xfrm xmlns:a="http://schemas.openxmlformats.org/drawingml/2006/main">
            <a:off x="6743700" y="3143250"/>
            <a:ext cx="85725" cy="304800"/>
          </a:xfrm>
          <a:prstGeom xmlns:a="http://schemas.openxmlformats.org/drawingml/2006/main" prst="rect">
            <a:avLst/>
          </a:prstGeom>
          <a:solidFill xmlns:a="http://schemas.openxmlformats.org/drawingml/2006/main">
            <a:srgbClr val="475569"/>
          </a:solidFill>
          <a:ln xmlns:a="http://schemas.openxmlformats.org/drawingml/2006/main" w="0">
            <a:solidFill>
              <a:srgbClr val="475569"/>
            </a:solidFill>
            <a:prstDash val="solid"/>
          </a:ln>
        </p:spPr>
      </p:sp>
      <p:sp>
        <p:nvSpPr>
          <p:cNvPr id="18" name="">
            <a:extLst xmlns:a="http://schemas.openxmlformats.org/drawingml/2006/main">
              <a:ext uri="{FF2B5EF4-FFF2-40B4-BE49-F238E27FC236}">
                <a16:creationId xmlns:a16="http://schemas.microsoft.com/office/drawing/2014/main" id="{D8D0B685-5453-412A-9279-26C69884F619}"/>
              </a:ext>
            </a:extLst>
          </p:cNvPr>
          <p:cNvSpPr>
            <a:spLocks xmlns:a="http://schemas.openxmlformats.org/drawingml/2006/main" noGrp="1"/>
          </p:cNvSpPr>
          <p:nvPr/>
        </p:nvSpPr>
        <p:spPr>
          <a:xfrm xmlns:a="http://schemas.openxmlformats.org/drawingml/2006/main">
            <a:off x="7010400" y="308610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Keeps named attributes</a:t>
            </a:r>
          </a:p>
        </p:txBody>
      </p:sp>
      <p:sp>
        <p:nvSpPr>
          <p:cNvPr id="19" name="">
            <a:extLst xmlns:a="http://schemas.openxmlformats.org/drawingml/2006/main">
              <a:ext uri="{FF2B5EF4-FFF2-40B4-BE49-F238E27FC236}">
                <a16:creationId xmlns:a16="http://schemas.microsoft.com/office/drawing/2014/main" id="{EC3BEC58-78F0-49CF-B6CE-32AC404E3A00}"/>
              </a:ext>
            </a:extLst>
          </p:cNvPr>
          <p:cNvSpPr>
            <a:spLocks xmlns:a="http://schemas.openxmlformats.org/drawingml/2006/main" noGrp="1"/>
          </p:cNvSpPr>
          <p:nvPr/>
        </p:nvSpPr>
        <p:spPr>
          <a:xfrm xmlns:a="http://schemas.openxmlformats.org/drawingml/2006/main">
            <a:off x="6743700" y="3886200"/>
            <a:ext cx="85725" cy="304800"/>
          </a:xfrm>
          <a:prstGeom xmlns:a="http://schemas.openxmlformats.org/drawingml/2006/main" prst="rect">
            <a:avLst/>
          </a:prstGeom>
          <a:solidFill xmlns:a="http://schemas.openxmlformats.org/drawingml/2006/main">
            <a:srgbClr val="475569"/>
          </a:solidFill>
          <a:ln xmlns:a="http://schemas.openxmlformats.org/drawingml/2006/main" w="0">
            <a:solidFill>
              <a:srgbClr val="475569"/>
            </a:solidFill>
            <a:prstDash val="solid"/>
          </a:ln>
        </p:spPr>
      </p:sp>
      <p:sp>
        <p:nvSpPr>
          <p:cNvPr id="20" name="">
            <a:extLst xmlns:a="http://schemas.openxmlformats.org/drawingml/2006/main">
              <a:ext uri="{FF2B5EF4-FFF2-40B4-BE49-F238E27FC236}">
                <a16:creationId xmlns:a16="http://schemas.microsoft.com/office/drawing/2014/main" id="{88290C3F-76DD-4AB2-B495-6B477EA11DB2}"/>
              </a:ext>
            </a:extLst>
          </p:cNvPr>
          <p:cNvSpPr>
            <a:spLocks xmlns:a="http://schemas.openxmlformats.org/drawingml/2006/main" noGrp="1"/>
          </p:cNvSpPr>
          <p:nvPr/>
        </p:nvSpPr>
        <p:spPr>
          <a:xfrm xmlns:a="http://schemas.openxmlformats.org/drawingml/2006/main">
            <a:off x="7010400" y="382905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Mathematical projection removes duplicate tuples</a:t>
            </a:r>
          </a:p>
        </p:txBody>
      </p:sp>
    </p:spTree>
    <p:extLst>
      <p:ext uri="{BB962C8B-B14F-4D97-AF65-F5344CB8AC3E}">
        <p14:creationId xmlns:p14="http://schemas.microsoft.com/office/powerpoint/2010/main" val="940740774"/>
      </p:ext>
    </p:extLst>
  </p:cSld>
</p:sld>
</file>

<file path=ppt/slides/slide12.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E191F3AD-299A-4912-AC9C-A80393C53FC9}"/>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eyebrow">
            <a:extLst xmlns:a="http://schemas.openxmlformats.org/drawingml/2006/main">
              <a:ext uri="{FF2B5EF4-FFF2-40B4-BE49-F238E27FC236}">
                <a16:creationId xmlns:a16="http://schemas.microsoft.com/office/drawing/2014/main" id="{2943C19D-EA7E-4BD5-BB38-422ABD07AC67}"/>
              </a:ext>
            </a:extLst>
          </p:cNvPr>
          <p:cNvSpPr>
            <a:spLocks xmlns:a="http://schemas.openxmlformats.org/drawingml/2006/main" noGrp="1"/>
          </p:cNvSpPr>
          <p:nvPr/>
        </p:nvSpPr>
        <p:spPr>
          <a:xfrm xmlns:a="http://schemas.openxmlformats.org/drawingml/2006/main">
            <a:off x="609600" y="2952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975" b="1">
                <a:solidFill>
                  <a:srgbClr val="0F766E"/>
                </a:solidFill>
                <a:latin typeface="Helvetica Neue"/>
                <a:ea typeface="Helvetica Neue"/>
                <a:cs typeface="Helvetica Neue"/>
              </a:defRPr>
            </a:pPr>
            <a:r>
              <a:rPr sz="975" b="1">
                <a:solidFill>
                  <a:srgbClr val="0F766E"/>
                </a:solidFill>
                <a:latin typeface="Helvetica Neue"/>
                <a:ea typeface="Helvetica Neue"/>
                <a:cs typeface="Helvetica Neue"/>
              </a:rPr>
              <a:t>WEEK 01  /  CST4714</a:t>
            </a:r>
          </a:p>
        </p:txBody>
      </p:sp>
      <p:sp>
        <p:nvSpPr>
          <p:cNvPr id="3" name="slide-title">
            <a:extLst xmlns:a="http://schemas.openxmlformats.org/drawingml/2006/main">
              <a:ext uri="{FF2B5EF4-FFF2-40B4-BE49-F238E27FC236}">
                <a16:creationId xmlns:a16="http://schemas.microsoft.com/office/drawing/2014/main" id="{571EEDE6-97B7-4DAC-BEBD-52E62DAD0EC3}"/>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A join creates the matching pairs required by a relationship</a:t>
            </a:r>
          </a:p>
        </p:txBody>
      </p:sp>
      <p:sp>
        <p:nvSpPr>
          <p:cNvPr id="4" name="">
            <a:extLst xmlns:a="http://schemas.openxmlformats.org/drawingml/2006/main">
              <a:ext uri="{FF2B5EF4-FFF2-40B4-BE49-F238E27FC236}">
                <a16:creationId xmlns:a16="http://schemas.microsoft.com/office/drawing/2014/main" id="{2A977331-980C-45DA-AD06-CCAE99677D9B}"/>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5" name="slide-number">
            <a:extLst xmlns:a="http://schemas.openxmlformats.org/drawingml/2006/main">
              <a:ext uri="{FF2B5EF4-FFF2-40B4-BE49-F238E27FC236}">
                <a16:creationId xmlns:a16="http://schemas.microsoft.com/office/drawing/2014/main" id="{67F85C2C-0A57-443C-A8E9-1D235F47690E}"/>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r">
              <a:defRPr sz="825">
                <a:solidFill>
                  <a:srgbClr val="94A3B8"/>
                </a:solidFill>
                <a:latin typeface="Helvetica Neue"/>
                <a:ea typeface="Helvetica Neue"/>
                <a:cs typeface="Helvetica Neue"/>
              </a:defRPr>
            </a:pPr>
            <a:r>
              <a:rPr sz="825">
                <a:solidFill>
                  <a:srgbClr val="94A3B8"/>
                </a:solidFill>
                <a:latin typeface="Helvetica Neue"/>
                <a:ea typeface="Helvetica Neue"/>
                <a:cs typeface="Helvetica Neue"/>
              </a:rPr>
              <a:t>12</a:t>
            </a:r>
          </a:p>
        </p:txBody>
      </p:sp>
      <p:sp>
        <p:nvSpPr>
          <p:cNvPr id="6" name="">
            <a:extLst xmlns:a="http://schemas.openxmlformats.org/drawingml/2006/main">
              <a:ext uri="{FF2B5EF4-FFF2-40B4-BE49-F238E27FC236}">
                <a16:creationId xmlns:a16="http://schemas.microsoft.com/office/drawing/2014/main" id="{520EEC40-6DA5-48E4-BF80-00F64D4D98C9}"/>
              </a:ext>
            </a:extLst>
          </p:cNvPr>
          <p:cNvSpPr>
            <a:spLocks xmlns:a="http://schemas.openxmlformats.org/drawingml/2006/main" noGrp="1"/>
          </p:cNvSpPr>
          <p:nvPr/>
        </p:nvSpPr>
        <p:spPr>
          <a:xfrm xmlns:a="http://schemas.openxmlformats.org/drawingml/2006/main" flipV="1">
            <a:off x="2000250" y="2190750"/>
            <a:ext cx="7096125" cy="285750"/>
          </a:xfrm>
          <a:prstGeom xmlns:a="http://schemas.openxmlformats.org/drawingml/2006/main" prst="line">
            <a:avLst/>
          </a:prstGeom>
          <a:noFill xmlns:a="http://schemas.openxmlformats.org/drawingml/2006/main"/>
          <a:ln xmlns:a="http://schemas.openxmlformats.org/drawingml/2006/main" w="28575">
            <a:solidFill>
              <a:srgbClr val="0F766E"/>
            </a:solidFill>
            <a:prstDash val="solid"/>
          </a:ln>
        </p:spPr>
      </p:sp>
      <p:sp>
        <p:nvSpPr>
          <p:cNvPr id="7" name="">
            <a:extLst xmlns:a="http://schemas.openxmlformats.org/drawingml/2006/main">
              <a:ext uri="{FF2B5EF4-FFF2-40B4-BE49-F238E27FC236}">
                <a16:creationId xmlns:a16="http://schemas.microsoft.com/office/drawing/2014/main" id="{9B046999-2257-412B-B71B-AD962BE39D6A}"/>
              </a:ext>
            </a:extLst>
          </p:cNvPr>
          <p:cNvSpPr>
            <a:spLocks xmlns:a="http://schemas.openxmlformats.org/drawingml/2006/main" noGrp="1"/>
          </p:cNvSpPr>
          <p:nvPr/>
        </p:nvSpPr>
        <p:spPr>
          <a:xfrm xmlns:a="http://schemas.openxmlformats.org/drawingml/2006/main">
            <a:off x="2000250" y="2476500"/>
            <a:ext cx="7096125" cy="1047750"/>
          </a:xfrm>
          <a:prstGeom xmlns:a="http://schemas.openxmlformats.org/drawingml/2006/main" prst="line">
            <a:avLst/>
          </a:prstGeom>
          <a:noFill xmlns:a="http://schemas.openxmlformats.org/drawingml/2006/main"/>
          <a:ln xmlns:a="http://schemas.openxmlformats.org/drawingml/2006/main" w="28575">
            <a:solidFill>
              <a:srgbClr val="0F766E"/>
            </a:solidFill>
            <a:prstDash val="solid"/>
          </a:ln>
        </p:spPr>
      </p:sp>
      <p:sp>
        <p:nvSpPr>
          <p:cNvPr id="8" name="">
            <a:extLst xmlns:a="http://schemas.openxmlformats.org/drawingml/2006/main">
              <a:ext uri="{FF2B5EF4-FFF2-40B4-BE49-F238E27FC236}">
                <a16:creationId xmlns:a16="http://schemas.microsoft.com/office/drawing/2014/main" id="{8BEDDDDC-DAEF-443B-969F-F076ADBB20A0}"/>
              </a:ext>
            </a:extLst>
          </p:cNvPr>
          <p:cNvSpPr>
            <a:spLocks xmlns:a="http://schemas.openxmlformats.org/drawingml/2006/main" noGrp="1"/>
          </p:cNvSpPr>
          <p:nvPr/>
        </p:nvSpPr>
        <p:spPr>
          <a:xfrm xmlns:a="http://schemas.openxmlformats.org/drawingml/2006/main">
            <a:off x="2000250" y="4572000"/>
            <a:ext cx="7096125" cy="285750"/>
          </a:xfrm>
          <a:prstGeom xmlns:a="http://schemas.openxmlformats.org/drawingml/2006/main" prst="line">
            <a:avLst/>
          </a:prstGeom>
          <a:noFill xmlns:a="http://schemas.openxmlformats.org/drawingml/2006/main"/>
          <a:ln xmlns:a="http://schemas.openxmlformats.org/drawingml/2006/main" w="28575">
            <a:solidFill>
              <a:srgbClr val="475569"/>
            </a:solidFill>
            <a:prstDash val="solid"/>
          </a:ln>
        </p:spPr>
      </p:sp>
      <p:sp>
        <p:nvSpPr>
          <p:cNvPr id="9" name="">
            <a:extLst xmlns:a="http://schemas.openxmlformats.org/drawingml/2006/main">
              <a:ext uri="{FF2B5EF4-FFF2-40B4-BE49-F238E27FC236}">
                <a16:creationId xmlns:a16="http://schemas.microsoft.com/office/drawing/2014/main" id="{4F2695DC-6E67-4487-A508-A675C0A94DD2}"/>
              </a:ext>
            </a:extLst>
          </p:cNvPr>
          <p:cNvSpPr>
            <a:spLocks xmlns:a="http://schemas.openxmlformats.org/drawingml/2006/main" noGrp="1"/>
          </p:cNvSpPr>
          <p:nvPr/>
        </p:nvSpPr>
        <p:spPr>
          <a:xfrm xmlns:a="http://schemas.openxmlformats.org/drawingml/2006/main">
            <a:off x="762000" y="1952625"/>
            <a:ext cx="2476500" cy="1047750"/>
          </a:xfrm>
          <a:prstGeom xmlns:a="http://schemas.openxmlformats.org/drawingml/2006/main" prst="rect">
            <a:avLst/>
          </a:prstGeom>
          <a:solidFill xmlns:a="http://schemas.openxmlformats.org/drawingml/2006/main">
            <a:srgbClr val="0F766E"/>
          </a:solidFill>
          <a:ln xmlns:a="http://schemas.openxmlformats.org/drawingml/2006/main" w="9525">
            <a:solidFill>
              <a:srgbClr val="0F766E"/>
            </a:solidFill>
            <a:prstDash val="solid"/>
          </a:ln>
        </p:spPr>
        <p:txBody>
          <a:bodyPr xmlns:a="http://schemas.openxmlformats.org/drawingml/2006/main" lIns="95250" tIns="95250" rIns="95250" bIns="95250" anchor="ctr">
            <a:normAutofit fontScale="100000"/>
          </a:bodyPr>
          <a:lstStyle xmlns:a="http://schemas.openxmlformats.org/drawingml/2006/main"/>
          <a:p xmlns:a="http://schemas.openxmlformats.org/drawingml/2006/main">
            <a:pPr algn="ctr">
              <a:defRPr sz="1575" b="1">
                <a:solidFill>
                  <a:srgbClr val="FFFFFF"/>
                </a:solidFill>
                <a:latin typeface="Helvetica Neue"/>
                <a:ea typeface="Helvetica Neue"/>
                <a:cs typeface="Helvetica Neue"/>
              </a:defRPr>
            </a:pPr>
            <a:r>
              <a:rPr sz="1575" b="1">
                <a:solidFill>
                  <a:srgbClr val="FFFFFF"/>
                </a:solidFill>
                <a:latin typeface="Helvetica Neue"/>
                <a:ea typeface="Helvetica Neue"/>
                <a:cs typeface="Helvetica Neue"/>
              </a:rPr>
              <a:t>Maya</a:t>
            </a:r>
          </a:p>
          <a:p xmlns:a="http://schemas.openxmlformats.org/drawingml/2006/main">
            <a:pPr algn="ctr">
              <a:defRPr sz="1575" b="1">
                <a:solidFill>
                  <a:srgbClr val="FFFFFF"/>
                </a:solidFill>
                <a:latin typeface="Helvetica Neue"/>
                <a:ea typeface="Helvetica Neue"/>
                <a:cs typeface="Helvetica Neue"/>
              </a:defRPr>
            </a:pPr>
            <a:r>
              <a:rPr sz="1575" b="1">
                <a:solidFill>
                  <a:srgbClr val="FFFFFF"/>
                </a:solidFill>
                <a:latin typeface="Helvetica Neue"/>
                <a:ea typeface="Helvetica Neue"/>
                <a:cs typeface="Helvetica Neue"/>
              </a:rPr>
              <a:t>user_id 101</a:t>
            </a:r>
          </a:p>
        </p:txBody>
      </p:sp>
      <p:sp>
        <p:nvSpPr>
          <p:cNvPr id="10" name="">
            <a:extLst xmlns:a="http://schemas.openxmlformats.org/drawingml/2006/main">
              <a:ext uri="{FF2B5EF4-FFF2-40B4-BE49-F238E27FC236}">
                <a16:creationId xmlns:a16="http://schemas.microsoft.com/office/drawing/2014/main" id="{8F01CB5C-6C6E-4414-9ECB-CDA6A4BBE757}"/>
              </a:ext>
            </a:extLst>
          </p:cNvPr>
          <p:cNvSpPr>
            <a:spLocks xmlns:a="http://schemas.openxmlformats.org/drawingml/2006/main" noGrp="1"/>
          </p:cNvSpPr>
          <p:nvPr/>
        </p:nvSpPr>
        <p:spPr>
          <a:xfrm xmlns:a="http://schemas.openxmlformats.org/drawingml/2006/main">
            <a:off x="762000" y="3095625"/>
            <a:ext cx="2476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defRPr sz="1125">
                <a:solidFill>
                  <a:srgbClr val="475569"/>
                </a:solidFill>
                <a:latin typeface="Helvetica Neue"/>
                <a:ea typeface="Helvetica Neue"/>
                <a:cs typeface="Helvetica Neue"/>
              </a:defRPr>
            </a:pPr>
            <a:r>
              <a:rPr sz="1125">
                <a:solidFill>
                  <a:srgbClr val="475569"/>
                </a:solidFill>
                <a:latin typeface="Helvetica Neue"/>
                <a:ea typeface="Helvetica Neue"/>
                <a:cs typeface="Helvetica Neue"/>
              </a:rPr>
              <a:t>user tuple</a:t>
            </a:r>
          </a:p>
        </p:txBody>
      </p:sp>
      <p:sp>
        <p:nvSpPr>
          <p:cNvPr id="11" name="">
            <a:extLst xmlns:a="http://schemas.openxmlformats.org/drawingml/2006/main">
              <a:ext uri="{FF2B5EF4-FFF2-40B4-BE49-F238E27FC236}">
                <a16:creationId xmlns:a16="http://schemas.microsoft.com/office/drawing/2014/main" id="{1E60A554-DE34-4AE5-A9BE-2195FF4DF86C}"/>
              </a:ext>
            </a:extLst>
          </p:cNvPr>
          <p:cNvSpPr>
            <a:spLocks xmlns:a="http://schemas.openxmlformats.org/drawingml/2006/main" noGrp="1"/>
          </p:cNvSpPr>
          <p:nvPr/>
        </p:nvSpPr>
        <p:spPr>
          <a:xfrm xmlns:a="http://schemas.openxmlformats.org/drawingml/2006/main">
            <a:off x="762000" y="4048125"/>
            <a:ext cx="2476500" cy="104775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lIns="95250" tIns="95250" rIns="95250" bIns="95250" anchor="ctr">
            <a:normAutofit fontScale="100000"/>
          </a:bodyPr>
          <a:lstStyle xmlns:a="http://schemas.openxmlformats.org/drawingml/2006/main"/>
          <a:p xmlns:a="http://schemas.openxmlformats.org/drawingml/2006/main">
            <a:pPr algn="ctr">
              <a:defRPr sz="1575" b="1">
                <a:solidFill>
                  <a:srgbClr val="111827"/>
                </a:solidFill>
                <a:latin typeface="Helvetica Neue"/>
                <a:ea typeface="Helvetica Neue"/>
                <a:cs typeface="Helvetica Neue"/>
              </a:defRPr>
            </a:pPr>
            <a:r>
              <a:rPr sz="1575" b="1">
                <a:solidFill>
                  <a:srgbClr val="111827"/>
                </a:solidFill>
                <a:latin typeface="Helvetica Neue"/>
                <a:ea typeface="Helvetica Neue"/>
                <a:cs typeface="Helvetica Neue"/>
              </a:rPr>
              <a:t>Luis</a:t>
            </a:r>
          </a:p>
          <a:p xmlns:a="http://schemas.openxmlformats.org/drawingml/2006/main">
            <a:pPr algn="ctr">
              <a:defRPr sz="1575" b="1">
                <a:solidFill>
                  <a:srgbClr val="111827"/>
                </a:solidFill>
                <a:latin typeface="Helvetica Neue"/>
                <a:ea typeface="Helvetica Neue"/>
                <a:cs typeface="Helvetica Neue"/>
              </a:defRPr>
            </a:pPr>
            <a:r>
              <a:rPr sz="1575" b="1">
                <a:solidFill>
                  <a:srgbClr val="111827"/>
                </a:solidFill>
                <a:latin typeface="Helvetica Neue"/>
                <a:ea typeface="Helvetica Neue"/>
                <a:cs typeface="Helvetica Neue"/>
              </a:rPr>
              <a:t>user_id 102</a:t>
            </a:r>
          </a:p>
        </p:txBody>
      </p:sp>
      <p:sp>
        <p:nvSpPr>
          <p:cNvPr id="12" name="">
            <a:extLst xmlns:a="http://schemas.openxmlformats.org/drawingml/2006/main">
              <a:ext uri="{FF2B5EF4-FFF2-40B4-BE49-F238E27FC236}">
                <a16:creationId xmlns:a16="http://schemas.microsoft.com/office/drawing/2014/main" id="{849E3DF5-03C5-474A-9AA0-CAA10690E3E9}"/>
              </a:ext>
            </a:extLst>
          </p:cNvPr>
          <p:cNvSpPr>
            <a:spLocks xmlns:a="http://schemas.openxmlformats.org/drawingml/2006/main" noGrp="1"/>
          </p:cNvSpPr>
          <p:nvPr/>
        </p:nvSpPr>
        <p:spPr>
          <a:xfrm xmlns:a="http://schemas.openxmlformats.org/drawingml/2006/main">
            <a:off x="762000" y="5191125"/>
            <a:ext cx="2476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defRPr sz="1125">
                <a:solidFill>
                  <a:srgbClr val="475569"/>
                </a:solidFill>
                <a:latin typeface="Helvetica Neue"/>
                <a:ea typeface="Helvetica Neue"/>
                <a:cs typeface="Helvetica Neue"/>
              </a:defRPr>
            </a:pPr>
            <a:r>
              <a:rPr sz="1125">
                <a:solidFill>
                  <a:srgbClr val="475569"/>
                </a:solidFill>
                <a:latin typeface="Helvetica Neue"/>
                <a:ea typeface="Helvetica Neue"/>
                <a:cs typeface="Helvetica Neue"/>
              </a:rPr>
              <a:t>user tuple</a:t>
            </a:r>
          </a:p>
        </p:txBody>
      </p:sp>
      <p:sp>
        <p:nvSpPr>
          <p:cNvPr id="13" name="">
            <a:extLst xmlns:a="http://schemas.openxmlformats.org/drawingml/2006/main">
              <a:ext uri="{FF2B5EF4-FFF2-40B4-BE49-F238E27FC236}">
                <a16:creationId xmlns:a16="http://schemas.microsoft.com/office/drawing/2014/main" id="{BAE718E9-E1D0-4E93-828C-5BE99FFBFC0B}"/>
              </a:ext>
            </a:extLst>
          </p:cNvPr>
          <p:cNvSpPr>
            <a:spLocks xmlns:a="http://schemas.openxmlformats.org/drawingml/2006/main" noGrp="1"/>
          </p:cNvSpPr>
          <p:nvPr/>
        </p:nvSpPr>
        <p:spPr>
          <a:xfrm xmlns:a="http://schemas.openxmlformats.org/drawingml/2006/main">
            <a:off x="7429500" y="1714500"/>
            <a:ext cx="3333750" cy="9525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lIns="95250" tIns="95250" rIns="95250" bIns="95250" anchor="ctr">
            <a:normAutofit fontScale="100000"/>
          </a:bodyPr>
          <a:lstStyle xmlns:a="http://schemas.openxmlformats.org/drawingml/2006/main"/>
          <a:p xmlns:a="http://schemas.openxmlformats.org/drawingml/2006/main">
            <a:pPr algn="ctr">
              <a:defRPr sz="1575" b="1">
                <a:solidFill>
                  <a:srgbClr val="111827"/>
                </a:solidFill>
                <a:latin typeface="Helvetica Neue"/>
                <a:ea typeface="Helvetica Neue"/>
                <a:cs typeface="Helvetica Neue"/>
              </a:defRPr>
            </a:pPr>
            <a:r>
              <a:rPr sz="1575" b="1">
                <a:solidFill>
                  <a:srgbClr val="111827"/>
                </a:solidFill>
                <a:latin typeface="Helvetica Neue"/>
                <a:ea typeface="Helvetica Neue"/>
                <a:cs typeface="Helvetica Neue"/>
              </a:rPr>
              <a:t>Ticket 1001</a:t>
            </a:r>
          </a:p>
          <a:p xmlns:a="http://schemas.openxmlformats.org/drawingml/2006/main">
            <a:pPr algn="ctr">
              <a:defRPr sz="1575" b="1">
                <a:solidFill>
                  <a:srgbClr val="111827"/>
                </a:solidFill>
                <a:latin typeface="Helvetica Neue"/>
                <a:ea typeface="Helvetica Neue"/>
                <a:cs typeface="Helvetica Neue"/>
              </a:defRPr>
            </a:pPr>
            <a:r>
              <a:rPr sz="1575" b="1">
                <a:solidFill>
                  <a:srgbClr val="111827"/>
                </a:solidFill>
                <a:latin typeface="Helvetica Neue"/>
                <a:ea typeface="Helvetica Neue"/>
                <a:cs typeface="Helvetica Neue"/>
              </a:rPr>
              <a:t>requester_id 101</a:t>
            </a:r>
          </a:p>
        </p:txBody>
      </p:sp>
      <p:sp>
        <p:nvSpPr>
          <p:cNvPr id="14" name="">
            <a:extLst xmlns:a="http://schemas.openxmlformats.org/drawingml/2006/main">
              <a:ext uri="{FF2B5EF4-FFF2-40B4-BE49-F238E27FC236}">
                <a16:creationId xmlns:a16="http://schemas.microsoft.com/office/drawing/2014/main" id="{7547CBB7-98B8-49B4-B255-0D42C799A8DE}"/>
              </a:ext>
            </a:extLst>
          </p:cNvPr>
          <p:cNvSpPr>
            <a:spLocks xmlns:a="http://schemas.openxmlformats.org/drawingml/2006/main" noGrp="1"/>
          </p:cNvSpPr>
          <p:nvPr/>
        </p:nvSpPr>
        <p:spPr>
          <a:xfrm xmlns:a="http://schemas.openxmlformats.org/drawingml/2006/main">
            <a:off x="7429500" y="3048000"/>
            <a:ext cx="3333750" cy="9525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lIns="95250" tIns="95250" rIns="95250" bIns="95250" anchor="ctr">
            <a:normAutofit fontScale="100000"/>
          </a:bodyPr>
          <a:lstStyle xmlns:a="http://schemas.openxmlformats.org/drawingml/2006/main"/>
          <a:p xmlns:a="http://schemas.openxmlformats.org/drawingml/2006/main">
            <a:pPr algn="ctr">
              <a:defRPr sz="1575" b="1">
                <a:solidFill>
                  <a:srgbClr val="111827"/>
                </a:solidFill>
                <a:latin typeface="Helvetica Neue"/>
                <a:ea typeface="Helvetica Neue"/>
                <a:cs typeface="Helvetica Neue"/>
              </a:defRPr>
            </a:pPr>
            <a:r>
              <a:rPr sz="1575" b="1">
                <a:solidFill>
                  <a:srgbClr val="111827"/>
                </a:solidFill>
                <a:latin typeface="Helvetica Neue"/>
                <a:ea typeface="Helvetica Neue"/>
                <a:cs typeface="Helvetica Neue"/>
              </a:rPr>
              <a:t>Ticket 1003</a:t>
            </a:r>
          </a:p>
          <a:p xmlns:a="http://schemas.openxmlformats.org/drawingml/2006/main">
            <a:pPr algn="ctr">
              <a:defRPr sz="1575" b="1">
                <a:solidFill>
                  <a:srgbClr val="111827"/>
                </a:solidFill>
                <a:latin typeface="Helvetica Neue"/>
                <a:ea typeface="Helvetica Neue"/>
                <a:cs typeface="Helvetica Neue"/>
              </a:defRPr>
            </a:pPr>
            <a:r>
              <a:rPr sz="1575" b="1">
                <a:solidFill>
                  <a:srgbClr val="111827"/>
                </a:solidFill>
                <a:latin typeface="Helvetica Neue"/>
                <a:ea typeface="Helvetica Neue"/>
                <a:cs typeface="Helvetica Neue"/>
              </a:rPr>
              <a:t>requester_id 101</a:t>
            </a:r>
          </a:p>
        </p:txBody>
      </p:sp>
      <p:sp>
        <p:nvSpPr>
          <p:cNvPr id="15" name="">
            <a:extLst xmlns:a="http://schemas.openxmlformats.org/drawingml/2006/main">
              <a:ext uri="{FF2B5EF4-FFF2-40B4-BE49-F238E27FC236}">
                <a16:creationId xmlns:a16="http://schemas.microsoft.com/office/drawing/2014/main" id="{7C0214A6-F043-406C-97DF-F963E146E712}"/>
              </a:ext>
            </a:extLst>
          </p:cNvPr>
          <p:cNvSpPr>
            <a:spLocks xmlns:a="http://schemas.openxmlformats.org/drawingml/2006/main" noGrp="1"/>
          </p:cNvSpPr>
          <p:nvPr/>
        </p:nvSpPr>
        <p:spPr>
          <a:xfrm xmlns:a="http://schemas.openxmlformats.org/drawingml/2006/main">
            <a:off x="7429500" y="4381500"/>
            <a:ext cx="3333750" cy="9525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lIns="95250" tIns="95250" rIns="95250" bIns="95250" anchor="ctr">
            <a:normAutofit fontScale="100000"/>
          </a:bodyPr>
          <a:lstStyle xmlns:a="http://schemas.openxmlformats.org/drawingml/2006/main"/>
          <a:p xmlns:a="http://schemas.openxmlformats.org/drawingml/2006/main">
            <a:pPr algn="ctr">
              <a:defRPr sz="1575" b="1">
                <a:solidFill>
                  <a:srgbClr val="111827"/>
                </a:solidFill>
                <a:latin typeface="Helvetica Neue"/>
                <a:ea typeface="Helvetica Neue"/>
                <a:cs typeface="Helvetica Neue"/>
              </a:defRPr>
            </a:pPr>
            <a:r>
              <a:rPr sz="1575" b="1">
                <a:solidFill>
                  <a:srgbClr val="111827"/>
                </a:solidFill>
                <a:latin typeface="Helvetica Neue"/>
                <a:ea typeface="Helvetica Neue"/>
                <a:cs typeface="Helvetica Neue"/>
              </a:rPr>
              <a:t>Ticket 1002</a:t>
            </a:r>
          </a:p>
          <a:p xmlns:a="http://schemas.openxmlformats.org/drawingml/2006/main">
            <a:pPr algn="ctr">
              <a:defRPr sz="1575" b="1">
                <a:solidFill>
                  <a:srgbClr val="111827"/>
                </a:solidFill>
                <a:latin typeface="Helvetica Neue"/>
                <a:ea typeface="Helvetica Neue"/>
                <a:cs typeface="Helvetica Neue"/>
              </a:defRPr>
            </a:pPr>
            <a:r>
              <a:rPr sz="1575" b="1">
                <a:solidFill>
                  <a:srgbClr val="111827"/>
                </a:solidFill>
                <a:latin typeface="Helvetica Neue"/>
                <a:ea typeface="Helvetica Neue"/>
                <a:cs typeface="Helvetica Neue"/>
              </a:rPr>
              <a:t>requester_id 102</a:t>
            </a:r>
          </a:p>
        </p:txBody>
      </p:sp>
      <p:sp>
        <p:nvSpPr>
          <p:cNvPr id="16" name="">
            <a:extLst xmlns:a="http://schemas.openxmlformats.org/drawingml/2006/main">
              <a:ext uri="{FF2B5EF4-FFF2-40B4-BE49-F238E27FC236}">
                <a16:creationId xmlns:a16="http://schemas.microsoft.com/office/drawing/2014/main" id="{D2EDA2BE-8E5A-44CD-88D5-6B794B472B9A}"/>
              </a:ext>
            </a:extLst>
          </p:cNvPr>
          <p:cNvSpPr>
            <a:spLocks xmlns:a="http://schemas.openxmlformats.org/drawingml/2006/main" noGrp="1"/>
          </p:cNvSpPr>
          <p:nvPr/>
        </p:nvSpPr>
        <p:spPr>
          <a:xfrm xmlns:a="http://schemas.openxmlformats.org/drawingml/2006/main">
            <a:off x="895350" y="5667375"/>
            <a:ext cx="10382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defRPr sz="1350">
                <a:solidFill>
                  <a:srgbClr val="475569"/>
                </a:solidFill>
                <a:latin typeface="Helvetica Neue"/>
                <a:ea typeface="Helvetica Neue"/>
                <a:cs typeface="Helvetica Neue"/>
              </a:defRPr>
            </a:pPr>
            <a:r>
              <a:rPr sz="1350">
                <a:solidFill>
                  <a:srgbClr val="475569"/>
                </a:solidFill>
                <a:latin typeface="Helvetica Neue"/>
                <a:ea typeface="Helvetica Neue"/>
                <a:cs typeface="Helvetica Neue"/>
              </a:rPr>
              <a:t>Maya appears twice after the join because two ticket tuples match her identity.</a:t>
            </a:r>
          </a:p>
        </p:txBody>
      </p:sp>
    </p:spTree>
    <p:extLst>
      <p:ext uri="{BB962C8B-B14F-4D97-AF65-F5344CB8AC3E}">
        <p14:creationId xmlns:p14="http://schemas.microsoft.com/office/powerpoint/2010/main" val="1520990777"/>
      </p:ext>
    </p:extLst>
  </p:cSld>
</p:sld>
</file>

<file path=ppt/slides/slide13.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4AECD409-B1C7-4610-B4D1-30E6BACADC92}"/>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eyebrow">
            <a:extLst xmlns:a="http://schemas.openxmlformats.org/drawingml/2006/main">
              <a:ext uri="{FF2B5EF4-FFF2-40B4-BE49-F238E27FC236}">
                <a16:creationId xmlns:a16="http://schemas.microsoft.com/office/drawing/2014/main" id="{455C0E18-2B6B-4B40-92D1-2843A22654B8}"/>
              </a:ext>
            </a:extLst>
          </p:cNvPr>
          <p:cNvSpPr>
            <a:spLocks xmlns:a="http://schemas.openxmlformats.org/drawingml/2006/main" noGrp="1"/>
          </p:cNvSpPr>
          <p:nvPr/>
        </p:nvSpPr>
        <p:spPr>
          <a:xfrm xmlns:a="http://schemas.openxmlformats.org/drawingml/2006/main">
            <a:off x="609600" y="2952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975" b="1">
                <a:solidFill>
                  <a:srgbClr val="0F766E"/>
                </a:solidFill>
                <a:latin typeface="Helvetica Neue"/>
                <a:ea typeface="Helvetica Neue"/>
                <a:cs typeface="Helvetica Neue"/>
              </a:defRPr>
            </a:pPr>
            <a:r>
              <a:rPr sz="975" b="1">
                <a:solidFill>
                  <a:srgbClr val="0F766E"/>
                </a:solidFill>
                <a:latin typeface="Helvetica Neue"/>
                <a:ea typeface="Helvetica Neue"/>
                <a:cs typeface="Helvetica Neue"/>
              </a:rPr>
              <a:t>WEEK 01  /  CST4714</a:t>
            </a:r>
          </a:p>
        </p:txBody>
      </p:sp>
      <p:sp>
        <p:nvSpPr>
          <p:cNvPr id="3" name="slide-title">
            <a:extLst xmlns:a="http://schemas.openxmlformats.org/drawingml/2006/main">
              <a:ext uri="{FF2B5EF4-FFF2-40B4-BE49-F238E27FC236}">
                <a16:creationId xmlns:a16="http://schemas.microsoft.com/office/drawing/2014/main" id="{DFFF9BA6-4EF1-42E5-841B-15396DC163CA}"/>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Relational algebra gives SQL a prediction to test</a:t>
            </a:r>
          </a:p>
        </p:txBody>
      </p:sp>
      <p:sp>
        <p:nvSpPr>
          <p:cNvPr id="4" name="">
            <a:extLst xmlns:a="http://schemas.openxmlformats.org/drawingml/2006/main">
              <a:ext uri="{FF2B5EF4-FFF2-40B4-BE49-F238E27FC236}">
                <a16:creationId xmlns:a16="http://schemas.microsoft.com/office/drawing/2014/main" id="{5BC7FA1E-AE27-44C1-A0A0-592769660D50}"/>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5" name="slide-number">
            <a:extLst xmlns:a="http://schemas.openxmlformats.org/drawingml/2006/main">
              <a:ext uri="{FF2B5EF4-FFF2-40B4-BE49-F238E27FC236}">
                <a16:creationId xmlns:a16="http://schemas.microsoft.com/office/drawing/2014/main" id="{67769E4B-2A63-47C4-8C1C-342F175F9D67}"/>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r">
              <a:defRPr sz="825">
                <a:solidFill>
                  <a:srgbClr val="94A3B8"/>
                </a:solidFill>
                <a:latin typeface="Helvetica Neue"/>
                <a:ea typeface="Helvetica Neue"/>
                <a:cs typeface="Helvetica Neue"/>
              </a:defRPr>
            </a:pPr>
            <a:r>
              <a:rPr sz="825">
                <a:solidFill>
                  <a:srgbClr val="94A3B8"/>
                </a:solidFill>
                <a:latin typeface="Helvetica Neue"/>
                <a:ea typeface="Helvetica Neue"/>
                <a:cs typeface="Helvetica Neue"/>
              </a:rPr>
              <a:t>13</a:t>
            </a:r>
          </a:p>
        </p:txBody>
      </p:sp>
      <p:sp>
        <p:nvSpPr>
          <p:cNvPr id="6" name="">
            <a:extLst xmlns:a="http://schemas.openxmlformats.org/drawingml/2006/main">
              <a:ext uri="{FF2B5EF4-FFF2-40B4-BE49-F238E27FC236}">
                <a16:creationId xmlns:a16="http://schemas.microsoft.com/office/drawing/2014/main" id="{4F695CA8-1114-49CA-B3E4-8060E7E9AED8}"/>
              </a:ext>
            </a:extLst>
          </p:cNvPr>
          <p:cNvSpPr>
            <a:spLocks xmlns:a="http://schemas.openxmlformats.org/drawingml/2006/main" noGrp="1"/>
          </p:cNvSpPr>
          <p:nvPr/>
        </p:nvSpPr>
        <p:spPr>
          <a:xfrm xmlns:a="http://schemas.openxmlformats.org/drawingml/2006/main">
            <a:off x="1524000" y="2952750"/>
            <a:ext cx="9144000" cy="0"/>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7" name="">
            <a:extLst xmlns:a="http://schemas.openxmlformats.org/drawingml/2006/main">
              <a:ext uri="{FF2B5EF4-FFF2-40B4-BE49-F238E27FC236}">
                <a16:creationId xmlns:a16="http://schemas.microsoft.com/office/drawing/2014/main" id="{F77571E5-0FCB-4C1F-A908-CE854F002714}"/>
              </a:ext>
            </a:extLst>
          </p:cNvPr>
          <p:cNvSpPr>
            <a:spLocks xmlns:a="http://schemas.openxmlformats.org/drawingml/2006/main" noGrp="1"/>
          </p:cNvSpPr>
          <p:nvPr/>
        </p:nvSpPr>
        <p:spPr>
          <a:xfrm xmlns:a="http://schemas.openxmlformats.org/drawingml/2006/main">
            <a:off x="1381125" y="2809875"/>
            <a:ext cx="285750" cy="285750"/>
          </a:xfrm>
          <a:prstGeom xmlns:a="http://schemas.openxmlformats.org/drawingml/2006/main" prst="ellipse">
            <a:avLst/>
          </a:prstGeom>
          <a:solidFill xmlns:a="http://schemas.openxmlformats.org/drawingml/2006/main">
            <a:srgbClr val="0F766E"/>
          </a:solidFill>
          <a:ln xmlns:a="http://schemas.openxmlformats.org/drawingml/2006/main" w="28575">
            <a:solidFill>
              <a:srgbClr val="0F766E"/>
            </a:solidFill>
            <a:prstDash val="solid"/>
          </a:ln>
        </p:spPr>
      </p:sp>
      <p:sp>
        <p:nvSpPr>
          <p:cNvPr id="8" name="">
            <a:extLst xmlns:a="http://schemas.openxmlformats.org/drawingml/2006/main">
              <a:ext uri="{FF2B5EF4-FFF2-40B4-BE49-F238E27FC236}">
                <a16:creationId xmlns:a16="http://schemas.microsoft.com/office/drawing/2014/main" id="{396F87AD-2675-4322-8AB5-7508591F4105}"/>
              </a:ext>
            </a:extLst>
          </p:cNvPr>
          <p:cNvSpPr>
            <a:spLocks xmlns:a="http://schemas.openxmlformats.org/drawingml/2006/main" noGrp="1"/>
          </p:cNvSpPr>
          <p:nvPr/>
        </p:nvSpPr>
        <p:spPr>
          <a:xfrm xmlns:a="http://schemas.openxmlformats.org/drawingml/2006/main">
            <a:off x="1409700" y="2847975"/>
            <a:ext cx="228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1</a:t>
            </a:r>
          </a:p>
        </p:txBody>
      </p:sp>
      <p:sp>
        <p:nvSpPr>
          <p:cNvPr id="9" name="">
            <a:extLst xmlns:a="http://schemas.openxmlformats.org/drawingml/2006/main">
              <a:ext uri="{FF2B5EF4-FFF2-40B4-BE49-F238E27FC236}">
                <a16:creationId xmlns:a16="http://schemas.microsoft.com/office/drawing/2014/main" id="{1D6F646B-1AF7-4EC2-94D9-B3C3FEDF5725}"/>
              </a:ext>
            </a:extLst>
          </p:cNvPr>
          <p:cNvSpPr>
            <a:spLocks xmlns:a="http://schemas.openxmlformats.org/drawingml/2006/main" noGrp="1"/>
          </p:cNvSpPr>
          <p:nvPr/>
        </p:nvSpPr>
        <p:spPr>
          <a:xfrm xmlns:a="http://schemas.openxmlformats.org/drawingml/2006/main">
            <a:off x="685800" y="3333750"/>
            <a:ext cx="1676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defRPr sz="1500" b="1">
                <a:solidFill>
                  <a:srgbClr val="111827"/>
                </a:solidFill>
                <a:latin typeface="Helvetica Neue"/>
                <a:ea typeface="Helvetica Neue"/>
                <a:cs typeface="Helvetica Neue"/>
              </a:defRPr>
            </a:pPr>
            <a:r>
              <a:rPr sz="1500" b="1">
                <a:solidFill>
                  <a:srgbClr val="111827"/>
                </a:solidFill>
                <a:latin typeface="Helvetica Neue"/>
                <a:ea typeface="Helvetica Neue"/>
                <a:cs typeface="Helvetica Neue"/>
              </a:rPr>
              <a:t>Question</a:t>
            </a:r>
          </a:p>
        </p:txBody>
      </p:sp>
      <p:sp>
        <p:nvSpPr>
          <p:cNvPr id="10" name="">
            <a:extLst xmlns:a="http://schemas.openxmlformats.org/drawingml/2006/main">
              <a:ext uri="{FF2B5EF4-FFF2-40B4-BE49-F238E27FC236}">
                <a16:creationId xmlns:a16="http://schemas.microsoft.com/office/drawing/2014/main" id="{7761FDB5-EB52-4853-9789-C352E168473D}"/>
              </a:ext>
            </a:extLst>
          </p:cNvPr>
          <p:cNvSpPr>
            <a:spLocks xmlns:a="http://schemas.openxmlformats.org/drawingml/2006/main" noGrp="1"/>
          </p:cNvSpPr>
          <p:nvPr/>
        </p:nvSpPr>
        <p:spPr>
          <a:xfrm xmlns:a="http://schemas.openxmlformats.org/drawingml/2006/main">
            <a:off x="647700" y="3867150"/>
            <a:ext cx="17526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defRPr sz="1200">
                <a:solidFill>
                  <a:srgbClr val="475569"/>
                </a:solidFill>
                <a:latin typeface="Helvetica Neue"/>
                <a:ea typeface="Helvetica Neue"/>
                <a:cs typeface="Helvetica Neue"/>
              </a:defRPr>
            </a:pPr>
            <a:r>
              <a:rPr sz="1200">
                <a:solidFill>
                  <a:srgbClr val="475569"/>
                </a:solidFill>
                <a:latin typeface="Helvetica Neue"/>
                <a:ea typeface="Helvetica Neue"/>
                <a:cs typeface="Helvetica Neue"/>
              </a:rPr>
              <a:t>Which open tickets include requester names?</a:t>
            </a:r>
          </a:p>
        </p:txBody>
      </p:sp>
      <p:sp>
        <p:nvSpPr>
          <p:cNvPr id="11" name="">
            <a:extLst xmlns:a="http://schemas.openxmlformats.org/drawingml/2006/main">
              <a:ext uri="{FF2B5EF4-FFF2-40B4-BE49-F238E27FC236}">
                <a16:creationId xmlns:a16="http://schemas.microsoft.com/office/drawing/2014/main" id="{C4562A0E-314A-45BC-BBAA-24B17C796927}"/>
              </a:ext>
            </a:extLst>
          </p:cNvPr>
          <p:cNvSpPr>
            <a:spLocks xmlns:a="http://schemas.openxmlformats.org/drawingml/2006/main" noGrp="1"/>
          </p:cNvSpPr>
          <p:nvPr/>
        </p:nvSpPr>
        <p:spPr>
          <a:xfrm xmlns:a="http://schemas.openxmlformats.org/drawingml/2006/main">
            <a:off x="3667125" y="2809875"/>
            <a:ext cx="285750" cy="285750"/>
          </a:xfrm>
          <a:prstGeom xmlns:a="http://schemas.openxmlformats.org/drawingml/2006/main" prst="ellipse">
            <a:avLst/>
          </a:prstGeom>
          <a:solidFill xmlns:a="http://schemas.openxmlformats.org/drawingml/2006/main">
            <a:srgbClr val="FFFFFF"/>
          </a:solidFill>
          <a:ln xmlns:a="http://schemas.openxmlformats.org/drawingml/2006/main" w="28575">
            <a:solidFill>
              <a:srgbClr val="0F766E"/>
            </a:solidFill>
            <a:prstDash val="solid"/>
          </a:ln>
        </p:spPr>
      </p:sp>
      <p:sp>
        <p:nvSpPr>
          <p:cNvPr id="12" name="">
            <a:extLst xmlns:a="http://schemas.openxmlformats.org/drawingml/2006/main">
              <a:ext uri="{FF2B5EF4-FFF2-40B4-BE49-F238E27FC236}">
                <a16:creationId xmlns:a16="http://schemas.microsoft.com/office/drawing/2014/main" id="{5BD9F17C-0C5A-479E-892D-52F3C26D58F1}"/>
              </a:ext>
            </a:extLst>
          </p:cNvPr>
          <p:cNvSpPr>
            <a:spLocks xmlns:a="http://schemas.openxmlformats.org/drawingml/2006/main" noGrp="1"/>
          </p:cNvSpPr>
          <p:nvPr/>
        </p:nvSpPr>
        <p:spPr>
          <a:xfrm xmlns:a="http://schemas.openxmlformats.org/drawingml/2006/main">
            <a:off x="3695700" y="2847975"/>
            <a:ext cx="228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lgn="ctr">
              <a:defRPr sz="975" b="1">
                <a:solidFill>
                  <a:srgbClr val="0F766E"/>
                </a:solidFill>
                <a:latin typeface="Helvetica Neue"/>
                <a:ea typeface="Helvetica Neue"/>
                <a:cs typeface="Helvetica Neue"/>
              </a:defRPr>
            </a:pPr>
            <a:r>
              <a:rPr sz="975" b="1">
                <a:solidFill>
                  <a:srgbClr val="0F766E"/>
                </a:solidFill>
                <a:latin typeface="Helvetica Neue"/>
                <a:ea typeface="Helvetica Neue"/>
                <a:cs typeface="Helvetica Neue"/>
              </a:rPr>
              <a:t>2</a:t>
            </a:r>
          </a:p>
        </p:txBody>
      </p:sp>
      <p:sp>
        <p:nvSpPr>
          <p:cNvPr id="13" name="">
            <a:extLst xmlns:a="http://schemas.openxmlformats.org/drawingml/2006/main">
              <a:ext uri="{FF2B5EF4-FFF2-40B4-BE49-F238E27FC236}">
                <a16:creationId xmlns:a16="http://schemas.microsoft.com/office/drawing/2014/main" id="{C96CF839-40D0-481A-AEC9-DEC07FF95A0E}"/>
              </a:ext>
            </a:extLst>
          </p:cNvPr>
          <p:cNvSpPr>
            <a:spLocks xmlns:a="http://schemas.openxmlformats.org/drawingml/2006/main" noGrp="1"/>
          </p:cNvSpPr>
          <p:nvPr/>
        </p:nvSpPr>
        <p:spPr>
          <a:xfrm xmlns:a="http://schemas.openxmlformats.org/drawingml/2006/main">
            <a:off x="2971800" y="3333750"/>
            <a:ext cx="1676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defRPr sz="1500" b="1">
                <a:solidFill>
                  <a:srgbClr val="111827"/>
                </a:solidFill>
                <a:latin typeface="Helvetica Neue"/>
                <a:ea typeface="Helvetica Neue"/>
                <a:cs typeface="Helvetica Neue"/>
              </a:defRPr>
            </a:pPr>
            <a:r>
              <a:rPr sz="1500" b="1">
                <a:solidFill>
                  <a:srgbClr val="111827"/>
                </a:solidFill>
                <a:latin typeface="Helvetica Neue"/>
                <a:ea typeface="Helvetica Neue"/>
                <a:cs typeface="Helvetica Neue"/>
              </a:rPr>
              <a:t>Grain</a:t>
            </a:r>
          </a:p>
        </p:txBody>
      </p:sp>
      <p:sp>
        <p:nvSpPr>
          <p:cNvPr id="14" name="">
            <a:extLst xmlns:a="http://schemas.openxmlformats.org/drawingml/2006/main">
              <a:ext uri="{FF2B5EF4-FFF2-40B4-BE49-F238E27FC236}">
                <a16:creationId xmlns:a16="http://schemas.microsoft.com/office/drawing/2014/main" id="{0BC608F0-CAE1-4C21-BB51-F5522E94BB08}"/>
              </a:ext>
            </a:extLst>
          </p:cNvPr>
          <p:cNvSpPr>
            <a:spLocks xmlns:a="http://schemas.openxmlformats.org/drawingml/2006/main" noGrp="1"/>
          </p:cNvSpPr>
          <p:nvPr/>
        </p:nvSpPr>
        <p:spPr>
          <a:xfrm xmlns:a="http://schemas.openxmlformats.org/drawingml/2006/main">
            <a:off x="2933700" y="3867150"/>
            <a:ext cx="17526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defRPr sz="1200">
                <a:solidFill>
                  <a:srgbClr val="475569"/>
                </a:solidFill>
                <a:latin typeface="Helvetica Neue"/>
                <a:ea typeface="Helvetica Neue"/>
                <a:cs typeface="Helvetica Neue"/>
              </a:defRPr>
            </a:pPr>
            <a:r>
              <a:rPr sz="1200">
                <a:solidFill>
                  <a:srgbClr val="475569"/>
                </a:solidFill>
                <a:latin typeface="Helvetica Neue"/>
                <a:ea typeface="Helvetica Neue"/>
                <a:cs typeface="Helvetica Neue"/>
              </a:rPr>
              <a:t>One output tuple per matching ticket</a:t>
            </a:r>
          </a:p>
        </p:txBody>
      </p:sp>
      <p:sp>
        <p:nvSpPr>
          <p:cNvPr id="15" name="">
            <a:extLst xmlns:a="http://schemas.openxmlformats.org/drawingml/2006/main">
              <a:ext uri="{FF2B5EF4-FFF2-40B4-BE49-F238E27FC236}">
                <a16:creationId xmlns:a16="http://schemas.microsoft.com/office/drawing/2014/main" id="{0BDD1BAD-8A39-4BB9-9A39-6B2EEF85F841}"/>
              </a:ext>
            </a:extLst>
          </p:cNvPr>
          <p:cNvSpPr>
            <a:spLocks xmlns:a="http://schemas.openxmlformats.org/drawingml/2006/main" noGrp="1"/>
          </p:cNvSpPr>
          <p:nvPr/>
        </p:nvSpPr>
        <p:spPr>
          <a:xfrm xmlns:a="http://schemas.openxmlformats.org/drawingml/2006/main">
            <a:off x="5953125" y="2809875"/>
            <a:ext cx="285750" cy="285750"/>
          </a:xfrm>
          <a:prstGeom xmlns:a="http://schemas.openxmlformats.org/drawingml/2006/main" prst="ellipse">
            <a:avLst/>
          </a:prstGeom>
          <a:solidFill xmlns:a="http://schemas.openxmlformats.org/drawingml/2006/main">
            <a:srgbClr val="FFFFFF"/>
          </a:solidFill>
          <a:ln xmlns:a="http://schemas.openxmlformats.org/drawingml/2006/main" w="28575">
            <a:solidFill>
              <a:srgbClr val="0F766E"/>
            </a:solidFill>
            <a:prstDash val="solid"/>
          </a:ln>
        </p:spPr>
      </p:sp>
      <p:sp>
        <p:nvSpPr>
          <p:cNvPr id="16" name="">
            <a:extLst xmlns:a="http://schemas.openxmlformats.org/drawingml/2006/main">
              <a:ext uri="{FF2B5EF4-FFF2-40B4-BE49-F238E27FC236}">
                <a16:creationId xmlns:a16="http://schemas.microsoft.com/office/drawing/2014/main" id="{D1D48FB8-D4BE-46A1-B0E4-4193FAD5BEA5}"/>
              </a:ext>
            </a:extLst>
          </p:cNvPr>
          <p:cNvSpPr>
            <a:spLocks xmlns:a="http://schemas.openxmlformats.org/drawingml/2006/main" noGrp="1"/>
          </p:cNvSpPr>
          <p:nvPr/>
        </p:nvSpPr>
        <p:spPr>
          <a:xfrm xmlns:a="http://schemas.openxmlformats.org/drawingml/2006/main">
            <a:off x="5981700" y="2847975"/>
            <a:ext cx="228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lgn="ctr">
              <a:defRPr sz="975" b="1">
                <a:solidFill>
                  <a:srgbClr val="0F766E"/>
                </a:solidFill>
                <a:latin typeface="Helvetica Neue"/>
                <a:ea typeface="Helvetica Neue"/>
                <a:cs typeface="Helvetica Neue"/>
              </a:defRPr>
            </a:pPr>
            <a:r>
              <a:rPr sz="975" b="1">
                <a:solidFill>
                  <a:srgbClr val="0F766E"/>
                </a:solidFill>
                <a:latin typeface="Helvetica Neue"/>
                <a:ea typeface="Helvetica Neue"/>
                <a:cs typeface="Helvetica Neue"/>
              </a:rPr>
              <a:t>3</a:t>
            </a:r>
          </a:p>
        </p:txBody>
      </p:sp>
      <p:sp>
        <p:nvSpPr>
          <p:cNvPr id="17" name="">
            <a:extLst xmlns:a="http://schemas.openxmlformats.org/drawingml/2006/main">
              <a:ext uri="{FF2B5EF4-FFF2-40B4-BE49-F238E27FC236}">
                <a16:creationId xmlns:a16="http://schemas.microsoft.com/office/drawing/2014/main" id="{FA78FBAB-F0E9-44E0-812D-F0792AD4D8B7}"/>
              </a:ext>
            </a:extLst>
          </p:cNvPr>
          <p:cNvSpPr>
            <a:spLocks xmlns:a="http://schemas.openxmlformats.org/drawingml/2006/main" noGrp="1"/>
          </p:cNvSpPr>
          <p:nvPr/>
        </p:nvSpPr>
        <p:spPr>
          <a:xfrm xmlns:a="http://schemas.openxmlformats.org/drawingml/2006/main">
            <a:off x="5257800" y="3333750"/>
            <a:ext cx="1676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defRPr sz="1500" b="1">
                <a:solidFill>
                  <a:srgbClr val="111827"/>
                </a:solidFill>
                <a:latin typeface="Helvetica Neue"/>
                <a:ea typeface="Helvetica Neue"/>
                <a:cs typeface="Helvetica Neue"/>
              </a:defRPr>
            </a:pPr>
            <a:r>
              <a:rPr sz="1500" b="1">
                <a:solidFill>
                  <a:srgbClr val="111827"/>
                </a:solidFill>
                <a:latin typeface="Helvetica Neue"/>
                <a:ea typeface="Helvetica Neue"/>
                <a:cs typeface="Helvetica Neue"/>
              </a:rPr>
              <a:t>Operations</a:t>
            </a:r>
          </a:p>
        </p:txBody>
      </p:sp>
      <p:sp>
        <p:nvSpPr>
          <p:cNvPr id="18" name="">
            <a:extLst xmlns:a="http://schemas.openxmlformats.org/drawingml/2006/main">
              <a:ext uri="{FF2B5EF4-FFF2-40B4-BE49-F238E27FC236}">
                <a16:creationId xmlns:a16="http://schemas.microsoft.com/office/drawing/2014/main" id="{8808C6B6-5A7F-40A5-A6F7-982D5B0364A5}"/>
              </a:ext>
            </a:extLst>
          </p:cNvPr>
          <p:cNvSpPr>
            <a:spLocks xmlns:a="http://schemas.openxmlformats.org/drawingml/2006/main" noGrp="1"/>
          </p:cNvSpPr>
          <p:nvPr/>
        </p:nvSpPr>
        <p:spPr>
          <a:xfrm xmlns:a="http://schemas.openxmlformats.org/drawingml/2006/main">
            <a:off x="5219700" y="3867150"/>
            <a:ext cx="17526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defRPr sz="1200">
                <a:solidFill>
                  <a:srgbClr val="475569"/>
                </a:solidFill>
                <a:latin typeface="Helvetica Neue"/>
                <a:ea typeface="Helvetica Neue"/>
                <a:cs typeface="Helvetica Neue"/>
              </a:defRPr>
            </a:pPr>
            <a:r>
              <a:rPr sz="1200">
                <a:solidFill>
                  <a:srgbClr val="475569"/>
                </a:solidFill>
                <a:latin typeface="Helvetica Neue"/>
                <a:ea typeface="Helvetica Neue"/>
                <a:cs typeface="Helvetica Neue"/>
              </a:rPr>
              <a:t>Select open, join requester, project fields</a:t>
            </a:r>
          </a:p>
        </p:txBody>
      </p:sp>
      <p:sp>
        <p:nvSpPr>
          <p:cNvPr id="19" name="">
            <a:extLst xmlns:a="http://schemas.openxmlformats.org/drawingml/2006/main">
              <a:ext uri="{FF2B5EF4-FFF2-40B4-BE49-F238E27FC236}">
                <a16:creationId xmlns:a16="http://schemas.microsoft.com/office/drawing/2014/main" id="{B0232799-ACCD-4AFC-BD6A-D07F010F24F3}"/>
              </a:ext>
            </a:extLst>
          </p:cNvPr>
          <p:cNvSpPr>
            <a:spLocks xmlns:a="http://schemas.openxmlformats.org/drawingml/2006/main" noGrp="1"/>
          </p:cNvSpPr>
          <p:nvPr/>
        </p:nvSpPr>
        <p:spPr>
          <a:xfrm xmlns:a="http://schemas.openxmlformats.org/drawingml/2006/main">
            <a:off x="8239125" y="2809875"/>
            <a:ext cx="285750" cy="285750"/>
          </a:xfrm>
          <a:prstGeom xmlns:a="http://schemas.openxmlformats.org/drawingml/2006/main" prst="ellipse">
            <a:avLst/>
          </a:prstGeom>
          <a:solidFill xmlns:a="http://schemas.openxmlformats.org/drawingml/2006/main">
            <a:srgbClr val="FFFFFF"/>
          </a:solidFill>
          <a:ln xmlns:a="http://schemas.openxmlformats.org/drawingml/2006/main" w="28575">
            <a:solidFill>
              <a:srgbClr val="0F766E"/>
            </a:solidFill>
            <a:prstDash val="solid"/>
          </a:ln>
        </p:spPr>
      </p:sp>
      <p:sp>
        <p:nvSpPr>
          <p:cNvPr id="20" name="">
            <a:extLst xmlns:a="http://schemas.openxmlformats.org/drawingml/2006/main">
              <a:ext uri="{FF2B5EF4-FFF2-40B4-BE49-F238E27FC236}">
                <a16:creationId xmlns:a16="http://schemas.microsoft.com/office/drawing/2014/main" id="{EE5D0CCD-EBFF-47D0-A164-973A932D7A06}"/>
              </a:ext>
            </a:extLst>
          </p:cNvPr>
          <p:cNvSpPr>
            <a:spLocks xmlns:a="http://schemas.openxmlformats.org/drawingml/2006/main" noGrp="1"/>
          </p:cNvSpPr>
          <p:nvPr/>
        </p:nvSpPr>
        <p:spPr>
          <a:xfrm xmlns:a="http://schemas.openxmlformats.org/drawingml/2006/main">
            <a:off x="8267700" y="2847975"/>
            <a:ext cx="228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lgn="ctr">
              <a:defRPr sz="975" b="1">
                <a:solidFill>
                  <a:srgbClr val="0F766E"/>
                </a:solidFill>
                <a:latin typeface="Helvetica Neue"/>
                <a:ea typeface="Helvetica Neue"/>
                <a:cs typeface="Helvetica Neue"/>
              </a:defRPr>
            </a:pPr>
            <a:r>
              <a:rPr sz="975" b="1">
                <a:solidFill>
                  <a:srgbClr val="0F766E"/>
                </a:solidFill>
                <a:latin typeface="Helvetica Neue"/>
                <a:ea typeface="Helvetica Neue"/>
                <a:cs typeface="Helvetica Neue"/>
              </a:rPr>
              <a:t>4</a:t>
            </a:r>
          </a:p>
        </p:txBody>
      </p:sp>
      <p:sp>
        <p:nvSpPr>
          <p:cNvPr id="21" name="">
            <a:extLst xmlns:a="http://schemas.openxmlformats.org/drawingml/2006/main">
              <a:ext uri="{FF2B5EF4-FFF2-40B4-BE49-F238E27FC236}">
                <a16:creationId xmlns:a16="http://schemas.microsoft.com/office/drawing/2014/main" id="{49B9257D-C49E-4C75-97AB-9B7F92F1F611}"/>
              </a:ext>
            </a:extLst>
          </p:cNvPr>
          <p:cNvSpPr>
            <a:spLocks xmlns:a="http://schemas.openxmlformats.org/drawingml/2006/main" noGrp="1"/>
          </p:cNvSpPr>
          <p:nvPr/>
        </p:nvSpPr>
        <p:spPr>
          <a:xfrm xmlns:a="http://schemas.openxmlformats.org/drawingml/2006/main">
            <a:off x="7543800" y="3333750"/>
            <a:ext cx="1676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defRPr sz="1500" b="1">
                <a:solidFill>
                  <a:srgbClr val="111827"/>
                </a:solidFill>
                <a:latin typeface="Helvetica Neue"/>
                <a:ea typeface="Helvetica Neue"/>
                <a:cs typeface="Helvetica Neue"/>
              </a:defRPr>
            </a:pPr>
            <a:r>
              <a:rPr sz="1500" b="1">
                <a:solidFill>
                  <a:srgbClr val="111827"/>
                </a:solidFill>
                <a:latin typeface="Helvetica Neue"/>
                <a:ea typeface="Helvetica Neue"/>
                <a:cs typeface="Helvetica Neue"/>
              </a:rPr>
              <a:t>Prediction</a:t>
            </a:r>
          </a:p>
        </p:txBody>
      </p:sp>
      <p:sp>
        <p:nvSpPr>
          <p:cNvPr id="22" name="">
            <a:extLst xmlns:a="http://schemas.openxmlformats.org/drawingml/2006/main">
              <a:ext uri="{FF2B5EF4-FFF2-40B4-BE49-F238E27FC236}">
                <a16:creationId xmlns:a16="http://schemas.microsoft.com/office/drawing/2014/main" id="{E8FB40ED-A4E5-4A39-AC8C-C1FF5B00B517}"/>
              </a:ext>
            </a:extLst>
          </p:cNvPr>
          <p:cNvSpPr>
            <a:spLocks xmlns:a="http://schemas.openxmlformats.org/drawingml/2006/main" noGrp="1"/>
          </p:cNvSpPr>
          <p:nvPr/>
        </p:nvSpPr>
        <p:spPr>
          <a:xfrm xmlns:a="http://schemas.openxmlformats.org/drawingml/2006/main">
            <a:off x="7505700" y="3867150"/>
            <a:ext cx="17526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defRPr sz="1200">
                <a:solidFill>
                  <a:srgbClr val="475569"/>
                </a:solidFill>
                <a:latin typeface="Helvetica Neue"/>
                <a:ea typeface="Helvetica Neue"/>
                <a:cs typeface="Helvetica Neue"/>
              </a:defRPr>
            </a:pPr>
            <a:r>
              <a:rPr sz="1200">
                <a:solidFill>
                  <a:srgbClr val="475569"/>
                </a:solidFill>
                <a:latin typeface="Helvetica Neue"/>
                <a:ea typeface="Helvetica Neue"/>
                <a:cs typeface="Helvetica Neue"/>
              </a:rPr>
              <a:t>Expected identifiers, attributes, and count</a:t>
            </a:r>
          </a:p>
        </p:txBody>
      </p:sp>
      <p:sp>
        <p:nvSpPr>
          <p:cNvPr id="23" name="">
            <a:extLst xmlns:a="http://schemas.openxmlformats.org/drawingml/2006/main">
              <a:ext uri="{FF2B5EF4-FFF2-40B4-BE49-F238E27FC236}">
                <a16:creationId xmlns:a16="http://schemas.microsoft.com/office/drawing/2014/main" id="{0EFE7F4A-674B-433C-B854-C706B12C9F13}"/>
              </a:ext>
            </a:extLst>
          </p:cNvPr>
          <p:cNvSpPr>
            <a:spLocks xmlns:a="http://schemas.openxmlformats.org/drawingml/2006/main" noGrp="1"/>
          </p:cNvSpPr>
          <p:nvPr/>
        </p:nvSpPr>
        <p:spPr>
          <a:xfrm xmlns:a="http://schemas.openxmlformats.org/drawingml/2006/main">
            <a:off x="10525125" y="2809875"/>
            <a:ext cx="285750" cy="285750"/>
          </a:xfrm>
          <a:prstGeom xmlns:a="http://schemas.openxmlformats.org/drawingml/2006/main" prst="ellipse">
            <a:avLst/>
          </a:prstGeom>
          <a:solidFill xmlns:a="http://schemas.openxmlformats.org/drawingml/2006/main">
            <a:srgbClr val="FFFFFF"/>
          </a:solidFill>
          <a:ln xmlns:a="http://schemas.openxmlformats.org/drawingml/2006/main" w="28575">
            <a:solidFill>
              <a:srgbClr val="0F766E"/>
            </a:solidFill>
            <a:prstDash val="solid"/>
          </a:ln>
        </p:spPr>
      </p:sp>
      <p:sp>
        <p:nvSpPr>
          <p:cNvPr id="24" name="">
            <a:extLst xmlns:a="http://schemas.openxmlformats.org/drawingml/2006/main">
              <a:ext uri="{FF2B5EF4-FFF2-40B4-BE49-F238E27FC236}">
                <a16:creationId xmlns:a16="http://schemas.microsoft.com/office/drawing/2014/main" id="{C419AB40-0D71-488F-8C5F-B8C454B90607}"/>
              </a:ext>
            </a:extLst>
          </p:cNvPr>
          <p:cNvSpPr>
            <a:spLocks xmlns:a="http://schemas.openxmlformats.org/drawingml/2006/main" noGrp="1"/>
          </p:cNvSpPr>
          <p:nvPr/>
        </p:nvSpPr>
        <p:spPr>
          <a:xfrm xmlns:a="http://schemas.openxmlformats.org/drawingml/2006/main">
            <a:off x="10553700" y="2847975"/>
            <a:ext cx="228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lgn="ctr">
              <a:defRPr sz="975" b="1">
                <a:solidFill>
                  <a:srgbClr val="0F766E"/>
                </a:solidFill>
                <a:latin typeface="Helvetica Neue"/>
                <a:ea typeface="Helvetica Neue"/>
                <a:cs typeface="Helvetica Neue"/>
              </a:defRPr>
            </a:pPr>
            <a:r>
              <a:rPr sz="975" b="1">
                <a:solidFill>
                  <a:srgbClr val="0F766E"/>
                </a:solidFill>
                <a:latin typeface="Helvetica Neue"/>
                <a:ea typeface="Helvetica Neue"/>
                <a:cs typeface="Helvetica Neue"/>
              </a:rPr>
              <a:t>5</a:t>
            </a:r>
          </a:p>
        </p:txBody>
      </p:sp>
      <p:sp>
        <p:nvSpPr>
          <p:cNvPr id="25" name="">
            <a:extLst xmlns:a="http://schemas.openxmlformats.org/drawingml/2006/main">
              <a:ext uri="{FF2B5EF4-FFF2-40B4-BE49-F238E27FC236}">
                <a16:creationId xmlns:a16="http://schemas.microsoft.com/office/drawing/2014/main" id="{532D7843-3128-472B-9488-317F55F89DA0}"/>
              </a:ext>
            </a:extLst>
          </p:cNvPr>
          <p:cNvSpPr>
            <a:spLocks xmlns:a="http://schemas.openxmlformats.org/drawingml/2006/main" noGrp="1"/>
          </p:cNvSpPr>
          <p:nvPr/>
        </p:nvSpPr>
        <p:spPr>
          <a:xfrm xmlns:a="http://schemas.openxmlformats.org/drawingml/2006/main">
            <a:off x="9829800" y="3333750"/>
            <a:ext cx="1676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defRPr sz="1500" b="1">
                <a:solidFill>
                  <a:srgbClr val="111827"/>
                </a:solidFill>
                <a:latin typeface="Helvetica Neue"/>
                <a:ea typeface="Helvetica Neue"/>
                <a:cs typeface="Helvetica Neue"/>
              </a:defRPr>
            </a:pPr>
            <a:r>
              <a:rPr sz="1500" b="1">
                <a:solidFill>
                  <a:srgbClr val="111827"/>
                </a:solidFill>
                <a:latin typeface="Helvetica Neue"/>
                <a:ea typeface="Helvetica Neue"/>
                <a:cs typeface="Helvetica Neue"/>
              </a:rPr>
              <a:t>SQL</a:t>
            </a:r>
          </a:p>
        </p:txBody>
      </p:sp>
      <p:sp>
        <p:nvSpPr>
          <p:cNvPr id="26" name="">
            <a:extLst xmlns:a="http://schemas.openxmlformats.org/drawingml/2006/main">
              <a:ext uri="{FF2B5EF4-FFF2-40B4-BE49-F238E27FC236}">
                <a16:creationId xmlns:a16="http://schemas.microsoft.com/office/drawing/2014/main" id="{8B126B1F-BE66-48A7-8D3D-8DA33EC85997}"/>
              </a:ext>
            </a:extLst>
          </p:cNvPr>
          <p:cNvSpPr>
            <a:spLocks xmlns:a="http://schemas.openxmlformats.org/drawingml/2006/main" noGrp="1"/>
          </p:cNvSpPr>
          <p:nvPr/>
        </p:nvSpPr>
        <p:spPr>
          <a:xfrm xmlns:a="http://schemas.openxmlformats.org/drawingml/2006/main">
            <a:off x="9791700" y="3867150"/>
            <a:ext cx="17526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defRPr sz="1200">
                <a:solidFill>
                  <a:srgbClr val="475569"/>
                </a:solidFill>
                <a:latin typeface="Helvetica Neue"/>
                <a:ea typeface="Helvetica Neue"/>
                <a:cs typeface="Helvetica Neue"/>
              </a:defRPr>
            </a:pPr>
            <a:r>
              <a:rPr sz="1200">
                <a:solidFill>
                  <a:srgbClr val="475569"/>
                </a:solidFill>
                <a:latin typeface="Helvetica Neue"/>
                <a:ea typeface="Helvetica Neue"/>
                <a:cs typeface="Helvetica Neue"/>
              </a:rPr>
              <a:t>Execute and compare with the prediction</a:t>
            </a:r>
          </a:p>
        </p:txBody>
      </p:sp>
      <p:sp>
        <p:nvSpPr>
          <p:cNvPr id="27" name="">
            <a:extLst xmlns:a="http://schemas.openxmlformats.org/drawingml/2006/main">
              <a:ext uri="{FF2B5EF4-FFF2-40B4-BE49-F238E27FC236}">
                <a16:creationId xmlns:a16="http://schemas.microsoft.com/office/drawing/2014/main" id="{8710571B-A927-4440-BBFC-99F7B21E16EF}"/>
              </a:ext>
            </a:extLst>
          </p:cNvPr>
          <p:cNvSpPr>
            <a:spLocks xmlns:a="http://schemas.openxmlformats.org/drawingml/2006/main" noGrp="1"/>
          </p:cNvSpPr>
          <p:nvPr/>
        </p:nvSpPr>
        <p:spPr>
          <a:xfrm xmlns:a="http://schemas.openxmlformats.org/drawingml/2006/main">
            <a:off x="914400" y="1619250"/>
            <a:ext cx="100012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1875">
                <a:solidFill>
                  <a:srgbClr val="475569"/>
                </a:solidFill>
                <a:latin typeface="Helvetica Neue"/>
                <a:ea typeface="Helvetica Neue"/>
                <a:cs typeface="Helvetica Neue"/>
              </a:defRPr>
            </a:pPr>
            <a:r>
              <a:rPr sz="1875">
                <a:solidFill>
                  <a:srgbClr val="475569"/>
                </a:solidFill>
                <a:latin typeface="Helvetica Neue"/>
                <a:ea typeface="Helvetica Neue"/>
                <a:cs typeface="Helvetica Neue"/>
              </a:rPr>
              <a:t>Move from the question to operations before choosing language syntax.</a:t>
            </a:r>
          </a:p>
        </p:txBody>
      </p:sp>
    </p:spTree>
    <p:extLst>
      <p:ext uri="{BB962C8B-B14F-4D97-AF65-F5344CB8AC3E}">
        <p14:creationId xmlns:p14="http://schemas.microsoft.com/office/powerpoint/2010/main" val="1437546861"/>
      </p:ext>
    </p:extLst>
  </p:cSld>
</p:sld>
</file>

<file path=ppt/slides/slide14.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B9805547-DA54-4475-9028-E4ED95153A7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eyebrow">
            <a:extLst xmlns:a="http://schemas.openxmlformats.org/drawingml/2006/main">
              <a:ext uri="{FF2B5EF4-FFF2-40B4-BE49-F238E27FC236}">
                <a16:creationId xmlns:a16="http://schemas.microsoft.com/office/drawing/2014/main" id="{BB94E15E-F9B7-4C29-84F1-B84D5B58F68D}"/>
              </a:ext>
            </a:extLst>
          </p:cNvPr>
          <p:cNvSpPr>
            <a:spLocks xmlns:a="http://schemas.openxmlformats.org/drawingml/2006/main" noGrp="1"/>
          </p:cNvSpPr>
          <p:nvPr/>
        </p:nvSpPr>
        <p:spPr>
          <a:xfrm xmlns:a="http://schemas.openxmlformats.org/drawingml/2006/main">
            <a:off x="609600" y="2952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975" b="1">
                <a:solidFill>
                  <a:srgbClr val="0F766E"/>
                </a:solidFill>
                <a:latin typeface="Helvetica Neue"/>
                <a:ea typeface="Helvetica Neue"/>
                <a:cs typeface="Helvetica Neue"/>
              </a:defRPr>
            </a:pPr>
            <a:r>
              <a:rPr sz="975" b="1">
                <a:solidFill>
                  <a:srgbClr val="0F766E"/>
                </a:solidFill>
                <a:latin typeface="Helvetica Neue"/>
                <a:ea typeface="Helvetica Neue"/>
                <a:cs typeface="Helvetica Neue"/>
              </a:rPr>
              <a:t>WEEK 01  /  CST4714</a:t>
            </a:r>
          </a:p>
        </p:txBody>
      </p:sp>
      <p:sp>
        <p:nvSpPr>
          <p:cNvPr id="3" name="slide-title">
            <a:extLst xmlns:a="http://schemas.openxmlformats.org/drawingml/2006/main">
              <a:ext uri="{FF2B5EF4-FFF2-40B4-BE49-F238E27FC236}">
                <a16:creationId xmlns:a16="http://schemas.microsoft.com/office/drawing/2014/main" id="{C9D74356-DB13-4EA5-972B-AB07BFA9A9B9}"/>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Lab 2: Represent a question as relational operations</a:t>
            </a:r>
          </a:p>
        </p:txBody>
      </p:sp>
      <p:sp>
        <p:nvSpPr>
          <p:cNvPr id="4" name="">
            <a:extLst xmlns:a="http://schemas.openxmlformats.org/drawingml/2006/main">
              <a:ext uri="{FF2B5EF4-FFF2-40B4-BE49-F238E27FC236}">
                <a16:creationId xmlns:a16="http://schemas.microsoft.com/office/drawing/2014/main" id="{BC3B2E29-8309-4F38-AE5F-28A7A28099C6}"/>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5" name="slide-number">
            <a:extLst xmlns:a="http://schemas.openxmlformats.org/drawingml/2006/main">
              <a:ext uri="{FF2B5EF4-FFF2-40B4-BE49-F238E27FC236}">
                <a16:creationId xmlns:a16="http://schemas.microsoft.com/office/drawing/2014/main" id="{1EC6562A-77C8-49BF-9B79-78A297BFBC32}"/>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r">
              <a:defRPr sz="825">
                <a:solidFill>
                  <a:srgbClr val="94A3B8"/>
                </a:solidFill>
                <a:latin typeface="Helvetica Neue"/>
                <a:ea typeface="Helvetica Neue"/>
                <a:cs typeface="Helvetica Neue"/>
              </a:defRPr>
            </a:pPr>
            <a:r>
              <a:rPr sz="825">
                <a:solidFill>
                  <a:srgbClr val="94A3B8"/>
                </a:solidFill>
                <a:latin typeface="Helvetica Neue"/>
                <a:ea typeface="Helvetica Neue"/>
                <a:cs typeface="Helvetica Neue"/>
              </a:rPr>
              <a:t>14</a:t>
            </a:r>
          </a:p>
        </p:txBody>
      </p:sp>
      <p:sp>
        <p:nvSpPr>
          <p:cNvPr id="6" name="">
            <a:extLst xmlns:a="http://schemas.openxmlformats.org/drawingml/2006/main">
              <a:ext uri="{FF2B5EF4-FFF2-40B4-BE49-F238E27FC236}">
                <a16:creationId xmlns:a16="http://schemas.microsoft.com/office/drawing/2014/main" id="{DBFFE2A3-CBBB-48DD-80BB-C7025802EB6E}"/>
              </a:ext>
            </a:extLst>
          </p:cNvPr>
          <p:cNvSpPr>
            <a:spLocks xmlns:a="http://schemas.openxmlformats.org/drawingml/2006/main" noGrp="1"/>
          </p:cNvSpPr>
          <p:nvPr/>
        </p:nvSpPr>
        <p:spPr>
          <a:xfrm xmlns:a="http://schemas.openxmlformats.org/drawingml/2006/main">
            <a:off x="723900" y="160020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1875">
                <a:solidFill>
                  <a:srgbClr val="475569"/>
                </a:solidFill>
                <a:latin typeface="Helvetica Neue"/>
                <a:ea typeface="Helvetica Neue"/>
                <a:cs typeface="Helvetica Neue"/>
              </a:defRPr>
            </a:pPr>
            <a:r>
              <a:rPr sz="1875">
                <a:solidFill>
                  <a:srgbClr val="475569"/>
                </a:solidFill>
                <a:latin typeface="Helvetica Neue"/>
                <a:ea typeface="Helvetica Neue"/>
                <a:cs typeface="Helvetica Neue"/>
              </a:rPr>
              <a:t>Use the Metro Support relations to reason about rows, attributes, identities, and matching pairs.</a:t>
            </a:r>
          </a:p>
        </p:txBody>
      </p:sp>
      <p:sp>
        <p:nvSpPr>
          <p:cNvPr id="7" name="">
            <a:extLst xmlns:a="http://schemas.openxmlformats.org/drawingml/2006/main">
              <a:ext uri="{FF2B5EF4-FFF2-40B4-BE49-F238E27FC236}">
                <a16:creationId xmlns:a16="http://schemas.microsoft.com/office/drawing/2014/main" id="{599929DD-7788-47F6-AC1E-55052AB52E37}"/>
              </a:ext>
            </a:extLst>
          </p:cNvPr>
          <p:cNvSpPr>
            <a:spLocks xmlns:a="http://schemas.openxmlformats.org/drawingml/2006/main" noGrp="1"/>
          </p:cNvSpPr>
          <p:nvPr/>
        </p:nvSpPr>
        <p:spPr>
          <a:xfrm xmlns:a="http://schemas.openxmlformats.org/drawingml/2006/main">
            <a:off x="876300" y="2571750"/>
            <a:ext cx="85725" cy="304800"/>
          </a:xfrm>
          <a:prstGeom xmlns:a="http://schemas.openxmlformats.org/drawingml/2006/main" prst="rect">
            <a:avLst/>
          </a:prstGeom>
          <a:solidFill xmlns:a="http://schemas.openxmlformats.org/drawingml/2006/main">
            <a:srgbClr val="0F766E"/>
          </a:solidFill>
          <a:ln xmlns:a="http://schemas.openxmlformats.org/drawingml/2006/main" w="0">
            <a:solidFill>
              <a:srgbClr val="0F766E"/>
            </a:solidFill>
            <a:prstDash val="solid"/>
          </a:ln>
        </p:spPr>
      </p:sp>
      <p:sp>
        <p:nvSpPr>
          <p:cNvPr id="8" name="">
            <a:extLst xmlns:a="http://schemas.openxmlformats.org/drawingml/2006/main">
              <a:ext uri="{FF2B5EF4-FFF2-40B4-BE49-F238E27FC236}">
                <a16:creationId xmlns:a16="http://schemas.microsoft.com/office/drawing/2014/main" id="{29BBAA6A-025E-42F2-BA29-E8CD8101AC70}"/>
              </a:ext>
            </a:extLst>
          </p:cNvPr>
          <p:cNvSpPr>
            <a:spLocks xmlns:a="http://schemas.openxmlformats.org/drawingml/2006/main" noGrp="1"/>
          </p:cNvSpPr>
          <p:nvPr/>
        </p:nvSpPr>
        <p:spPr>
          <a:xfrm xmlns:a="http://schemas.openxmlformats.org/drawingml/2006/main">
            <a:off x="1143000" y="2514600"/>
            <a:ext cx="100203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1650">
                <a:solidFill>
                  <a:srgbClr val="111827"/>
                </a:solidFill>
                <a:latin typeface="Helvetica Neue"/>
                <a:ea typeface="Helvetica Neue"/>
                <a:cs typeface="Helvetica Neue"/>
              </a:defRPr>
            </a:pPr>
            <a:r>
              <a:rPr sz="1650">
                <a:solidFill>
                  <a:srgbClr val="111827"/>
                </a:solidFill>
                <a:latin typeface="Helvetica Neue"/>
                <a:ea typeface="Helvetica Neue"/>
                <a:cs typeface="Helvetica Neue"/>
              </a:rPr>
              <a:t>State the grain of users, tickets, and the requested result.</a:t>
            </a:r>
          </a:p>
        </p:txBody>
      </p:sp>
      <p:sp>
        <p:nvSpPr>
          <p:cNvPr id="9" name="">
            <a:extLst xmlns:a="http://schemas.openxmlformats.org/drawingml/2006/main">
              <a:ext uri="{FF2B5EF4-FFF2-40B4-BE49-F238E27FC236}">
                <a16:creationId xmlns:a16="http://schemas.microsoft.com/office/drawing/2014/main" id="{1CC0B04E-98BE-43BD-89C8-24508E208C08}"/>
              </a:ext>
            </a:extLst>
          </p:cNvPr>
          <p:cNvSpPr>
            <a:spLocks xmlns:a="http://schemas.openxmlformats.org/drawingml/2006/main" noGrp="1"/>
          </p:cNvSpPr>
          <p:nvPr/>
        </p:nvSpPr>
        <p:spPr>
          <a:xfrm xmlns:a="http://schemas.openxmlformats.org/drawingml/2006/main">
            <a:off x="876300" y="3286125"/>
            <a:ext cx="85725" cy="304800"/>
          </a:xfrm>
          <a:prstGeom xmlns:a="http://schemas.openxmlformats.org/drawingml/2006/main" prst="rect">
            <a:avLst/>
          </a:prstGeom>
          <a:solidFill xmlns:a="http://schemas.openxmlformats.org/drawingml/2006/main">
            <a:srgbClr val="0F766E"/>
          </a:solidFill>
          <a:ln xmlns:a="http://schemas.openxmlformats.org/drawingml/2006/main" w="0">
            <a:solidFill>
              <a:srgbClr val="0F766E"/>
            </a:solidFill>
            <a:prstDash val="solid"/>
          </a:ln>
        </p:spPr>
      </p:sp>
      <p:sp>
        <p:nvSpPr>
          <p:cNvPr id="10" name="">
            <a:extLst xmlns:a="http://schemas.openxmlformats.org/drawingml/2006/main">
              <a:ext uri="{FF2B5EF4-FFF2-40B4-BE49-F238E27FC236}">
                <a16:creationId xmlns:a16="http://schemas.microsoft.com/office/drawing/2014/main" id="{E46C0C3E-A195-4CC3-ACB3-D60E71CB18BE}"/>
              </a:ext>
            </a:extLst>
          </p:cNvPr>
          <p:cNvSpPr>
            <a:spLocks xmlns:a="http://schemas.openxmlformats.org/drawingml/2006/main" noGrp="1"/>
          </p:cNvSpPr>
          <p:nvPr/>
        </p:nvSpPr>
        <p:spPr>
          <a:xfrm xmlns:a="http://schemas.openxmlformats.org/drawingml/2006/main">
            <a:off x="1143000" y="3228975"/>
            <a:ext cx="100203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1650">
                <a:solidFill>
                  <a:srgbClr val="111827"/>
                </a:solidFill>
                <a:latin typeface="Helvetica Neue"/>
                <a:ea typeface="Helvetica Neue"/>
                <a:cs typeface="Helvetica Neue"/>
              </a:defRPr>
            </a:pPr>
            <a:r>
              <a:rPr sz="1650">
                <a:solidFill>
                  <a:srgbClr val="111827"/>
                </a:solidFill>
                <a:latin typeface="Helvetica Neue"/>
                <a:ea typeface="Helvetica Neue"/>
                <a:cs typeface="Helvetica Neue"/>
              </a:rPr>
              <a:t>Mark the selection predicate, projected attributes, and join condition.</a:t>
            </a:r>
          </a:p>
        </p:txBody>
      </p:sp>
      <p:sp>
        <p:nvSpPr>
          <p:cNvPr id="11" name="">
            <a:extLst xmlns:a="http://schemas.openxmlformats.org/drawingml/2006/main">
              <a:ext uri="{FF2B5EF4-FFF2-40B4-BE49-F238E27FC236}">
                <a16:creationId xmlns:a16="http://schemas.microsoft.com/office/drawing/2014/main" id="{6A5B8E08-F519-41B8-810B-68115F11E367}"/>
              </a:ext>
            </a:extLst>
          </p:cNvPr>
          <p:cNvSpPr>
            <a:spLocks xmlns:a="http://schemas.openxmlformats.org/drawingml/2006/main" noGrp="1"/>
          </p:cNvSpPr>
          <p:nvPr/>
        </p:nvSpPr>
        <p:spPr>
          <a:xfrm xmlns:a="http://schemas.openxmlformats.org/drawingml/2006/main">
            <a:off x="876300" y="4000500"/>
            <a:ext cx="85725" cy="304800"/>
          </a:xfrm>
          <a:prstGeom xmlns:a="http://schemas.openxmlformats.org/drawingml/2006/main" prst="rect">
            <a:avLst/>
          </a:prstGeom>
          <a:solidFill xmlns:a="http://schemas.openxmlformats.org/drawingml/2006/main">
            <a:srgbClr val="0F766E"/>
          </a:solidFill>
          <a:ln xmlns:a="http://schemas.openxmlformats.org/drawingml/2006/main" w="0">
            <a:solidFill>
              <a:srgbClr val="0F766E"/>
            </a:solidFill>
            <a:prstDash val="solid"/>
          </a:ln>
        </p:spPr>
      </p:sp>
      <p:sp>
        <p:nvSpPr>
          <p:cNvPr id="12" name="">
            <a:extLst xmlns:a="http://schemas.openxmlformats.org/drawingml/2006/main">
              <a:ext uri="{FF2B5EF4-FFF2-40B4-BE49-F238E27FC236}">
                <a16:creationId xmlns:a16="http://schemas.microsoft.com/office/drawing/2014/main" id="{2F9384DD-217A-4979-B133-31723A5BB07F}"/>
              </a:ext>
            </a:extLst>
          </p:cNvPr>
          <p:cNvSpPr>
            <a:spLocks xmlns:a="http://schemas.openxmlformats.org/drawingml/2006/main" noGrp="1"/>
          </p:cNvSpPr>
          <p:nvPr/>
        </p:nvSpPr>
        <p:spPr>
          <a:xfrm xmlns:a="http://schemas.openxmlformats.org/drawingml/2006/main">
            <a:off x="1143000" y="3943350"/>
            <a:ext cx="100203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1650">
                <a:solidFill>
                  <a:srgbClr val="111827"/>
                </a:solidFill>
                <a:latin typeface="Helvetica Neue"/>
                <a:ea typeface="Helvetica Neue"/>
                <a:cs typeface="Helvetica Neue"/>
              </a:defRPr>
            </a:pPr>
            <a:r>
              <a:rPr sz="1650">
                <a:solidFill>
                  <a:srgbClr val="111827"/>
                </a:solidFill>
                <a:latin typeface="Helvetica Neue"/>
                <a:ea typeface="Helvetica Neue"/>
                <a:cs typeface="Helvetica Neue"/>
              </a:rPr>
              <a:t>List the expected matching identifiers and one check that could reveal an error.</a:t>
            </a:r>
          </a:p>
        </p:txBody>
      </p:sp>
      <p:sp>
        <p:nvSpPr>
          <p:cNvPr id="13" name="">
            <a:extLst xmlns:a="http://schemas.openxmlformats.org/drawingml/2006/main">
              <a:ext uri="{FF2B5EF4-FFF2-40B4-BE49-F238E27FC236}">
                <a16:creationId xmlns:a16="http://schemas.microsoft.com/office/drawing/2014/main" id="{E72FEB87-9B94-4813-9229-E09CA568AF0D}"/>
              </a:ext>
            </a:extLst>
          </p:cNvPr>
          <p:cNvSpPr>
            <a:spLocks xmlns:a="http://schemas.openxmlformats.org/drawingml/2006/main" noGrp="1"/>
          </p:cNvSpPr>
          <p:nvPr/>
        </p:nvSpPr>
        <p:spPr>
          <a:xfrm xmlns:a="http://schemas.openxmlformats.org/drawingml/2006/main">
            <a:off x="723900" y="5429250"/>
            <a:ext cx="10287000" cy="666750"/>
          </a:xfrm>
          <a:prstGeom xmlns:a="http://schemas.openxmlformats.org/drawingml/2006/main" prst="rect">
            <a:avLst/>
          </a:prstGeom>
          <a:solidFill xmlns:a="http://schemas.openxmlformats.org/drawingml/2006/main">
            <a:srgbClr val="0F766E"/>
          </a:solidFill>
          <a:ln xmlns:a="http://schemas.openxmlformats.org/drawingml/2006/main" w="9525">
            <a:solidFill>
              <a:srgbClr val="0F766E"/>
            </a:solidFill>
            <a:prstDash val="solid"/>
          </a:ln>
        </p:spPr>
      </p:sp>
      <p:sp>
        <p:nvSpPr>
          <p:cNvPr id="14" name="">
            <a:extLst xmlns:a="http://schemas.openxmlformats.org/drawingml/2006/main">
              <a:ext uri="{FF2B5EF4-FFF2-40B4-BE49-F238E27FC236}">
                <a16:creationId xmlns:a16="http://schemas.microsoft.com/office/drawing/2014/main" id="{9F5B6466-FACC-408F-9F57-7B32052C6D71}"/>
              </a:ext>
            </a:extLst>
          </p:cNvPr>
          <p:cNvSpPr>
            <a:spLocks xmlns:a="http://schemas.openxmlformats.org/drawingml/2006/main" noGrp="1"/>
          </p:cNvSpPr>
          <p:nvPr/>
        </p:nvSpPr>
        <p:spPr>
          <a:xfrm xmlns:a="http://schemas.openxmlformats.org/drawingml/2006/main">
            <a:off x="933450" y="5591175"/>
            <a:ext cx="9858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defRPr sz="1425" b="1">
                <a:solidFill>
                  <a:srgbClr val="FFFFFF"/>
                </a:solidFill>
                <a:latin typeface="Helvetica Neue"/>
                <a:ea typeface="Helvetica Neue"/>
                <a:cs typeface="Helvetica Neue"/>
              </a:defRPr>
            </a:pPr>
            <a:r>
              <a:rPr sz="1425" b="1">
                <a:solidFill>
                  <a:srgbClr val="FFFFFF"/>
                </a:solidFill>
                <a:latin typeface="Helvetica Neue"/>
                <a:ea typeface="Helvetica Neue"/>
                <a:cs typeface="Helvetica Neue"/>
              </a:rPr>
              <a:t>SUBMIT ONE THING  /  one relational-reasoning artifact</a:t>
            </a:r>
          </a:p>
        </p:txBody>
      </p:sp>
    </p:spTree>
    <p:extLst>
      <p:ext uri="{BB962C8B-B14F-4D97-AF65-F5344CB8AC3E}">
        <p14:creationId xmlns:p14="http://schemas.microsoft.com/office/powerpoint/2010/main" val="464888361"/>
      </p:ext>
    </p:extLst>
  </p:cSld>
</p:sld>
</file>

<file path=ppt/slides/slide15.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3BE17B32-9540-4CAE-88B8-76C739B3180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
            <a:extLst xmlns:a="http://schemas.openxmlformats.org/drawingml/2006/main">
              <a:ext uri="{FF2B5EF4-FFF2-40B4-BE49-F238E27FC236}">
                <a16:creationId xmlns:a16="http://schemas.microsoft.com/office/drawing/2014/main" id="{B0E199DE-FCF9-43F6-99BE-B0DED76FDE23}"/>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0F766E"/>
          </a:solidFill>
          <a:ln xmlns:a="http://schemas.openxmlformats.org/drawingml/2006/main" w="0">
            <a:solidFill>
              <a:srgbClr val="0F766E"/>
            </a:solidFill>
            <a:prstDash val="solid"/>
          </a:ln>
        </p:spPr>
      </p:sp>
      <p:sp>
        <p:nvSpPr>
          <p:cNvPr id="3" name="">
            <a:extLst xmlns:a="http://schemas.openxmlformats.org/drawingml/2006/main">
              <a:ext uri="{FF2B5EF4-FFF2-40B4-BE49-F238E27FC236}">
                <a16:creationId xmlns:a16="http://schemas.microsoft.com/office/drawing/2014/main" id="{E82A3D63-7A7D-4E53-B56E-4DB77CD309E9}"/>
              </a:ext>
            </a:extLst>
          </p:cNvPr>
          <p:cNvSpPr>
            <a:spLocks xmlns:a="http://schemas.openxmlformats.org/drawingml/2006/main" noGrp="1"/>
          </p:cNvSpPr>
          <p:nvPr/>
        </p:nvSpPr>
        <p:spPr>
          <a:xfrm xmlns:a="http://schemas.openxmlformats.org/drawingml/2006/main">
            <a:off x="685800" y="952500"/>
            <a:ext cx="9906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85317"/>
          </a:bodyPr>
          <a:lstStyle xmlns:a="http://schemas.openxmlformats.org/drawingml/2006/main"/>
          <a:p xmlns:a="http://schemas.openxmlformats.org/drawingml/2006/main">
            <a:pPr>
              <a:defRPr sz="3150" b="1">
                <a:solidFill>
                  <a:srgbClr val="111827"/>
                </a:solidFill>
                <a:latin typeface="Helvetica Neue"/>
                <a:ea typeface="Helvetica Neue"/>
                <a:cs typeface="Helvetica Neue"/>
              </a:defRPr>
            </a:pPr>
            <a:r>
              <a:rPr sz="3150" b="1">
                <a:solidFill>
                  <a:srgbClr val="111827"/>
                </a:solidFill>
                <a:latin typeface="Helvetica Neue"/>
                <a:ea typeface="Helvetica Neue"/>
                <a:cs typeface="Helvetica Neue"/>
              </a:rPr>
              <a:t>The first operating habit is to make meaning and evidence explicit</a:t>
            </a:r>
          </a:p>
        </p:txBody>
      </p:sp>
      <p:sp>
        <p:nvSpPr>
          <p:cNvPr id="4" name="">
            <a:extLst xmlns:a="http://schemas.openxmlformats.org/drawingml/2006/main">
              <a:ext uri="{FF2B5EF4-FFF2-40B4-BE49-F238E27FC236}">
                <a16:creationId xmlns:a16="http://schemas.microsoft.com/office/drawing/2014/main" id="{6736293E-4866-421C-ABF0-94A434F9F45C}"/>
              </a:ext>
            </a:extLst>
          </p:cNvPr>
          <p:cNvSpPr>
            <a:spLocks xmlns:a="http://schemas.openxmlformats.org/drawingml/2006/main" noGrp="1"/>
          </p:cNvSpPr>
          <p:nvPr/>
        </p:nvSpPr>
        <p:spPr>
          <a:xfrm xmlns:a="http://schemas.openxmlformats.org/drawingml/2006/main">
            <a:off x="723900" y="2286000"/>
            <a:ext cx="9144000"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2550" b="1">
                <a:solidFill>
                  <a:srgbClr val="0F766E"/>
                </a:solidFill>
                <a:latin typeface="Helvetica Neue"/>
                <a:ea typeface="Helvetica Neue"/>
                <a:cs typeface="Helvetica Neue"/>
              </a:defRPr>
            </a:pPr>
            <a:r>
              <a:rPr sz="2550" b="1">
                <a:solidFill>
                  <a:srgbClr val="0F766E"/>
                </a:solidFill>
                <a:latin typeface="Helvetica Neue"/>
                <a:ea typeface="Helvetica Neue"/>
                <a:cs typeface="Helvetica Neue"/>
              </a:rPr>
              <a:t>Locate the boundary. State the grain. Predict the result. Record what happened.</a:t>
            </a:r>
          </a:p>
        </p:txBody>
      </p:sp>
      <p:sp>
        <p:nvSpPr>
          <p:cNvPr id="5" name="">
            <a:extLst xmlns:a="http://schemas.openxmlformats.org/drawingml/2006/main">
              <a:ext uri="{FF2B5EF4-FFF2-40B4-BE49-F238E27FC236}">
                <a16:creationId xmlns:a16="http://schemas.microsoft.com/office/drawing/2014/main" id="{B801C149-BBFA-42E5-83C6-B56B4BE12351}"/>
              </a:ext>
            </a:extLst>
          </p:cNvPr>
          <p:cNvSpPr>
            <a:spLocks xmlns:a="http://schemas.openxmlformats.org/drawingml/2006/main" noGrp="1"/>
          </p:cNvSpPr>
          <p:nvPr/>
        </p:nvSpPr>
        <p:spPr>
          <a:xfrm xmlns:a="http://schemas.openxmlformats.org/drawingml/2006/main">
            <a:off x="781050" y="4248150"/>
            <a:ext cx="85725" cy="304800"/>
          </a:xfrm>
          <a:prstGeom xmlns:a="http://schemas.openxmlformats.org/drawingml/2006/main" prst="rect">
            <a:avLst/>
          </a:prstGeom>
          <a:solidFill xmlns:a="http://schemas.openxmlformats.org/drawingml/2006/main">
            <a:srgbClr val="0F766E"/>
          </a:solidFill>
          <a:ln xmlns:a="http://schemas.openxmlformats.org/drawingml/2006/main" w="0">
            <a:solidFill>
              <a:srgbClr val="0F766E"/>
            </a:solidFill>
            <a:prstDash val="solid"/>
          </a:ln>
        </p:spPr>
      </p:sp>
      <p:sp>
        <p:nvSpPr>
          <p:cNvPr id="6" name="">
            <a:extLst xmlns:a="http://schemas.openxmlformats.org/drawingml/2006/main">
              <a:ext uri="{FF2B5EF4-FFF2-40B4-BE49-F238E27FC236}">
                <a16:creationId xmlns:a16="http://schemas.microsoft.com/office/drawing/2014/main" id="{5AA0EA4E-220A-4F79-9E94-EF16415ABB7B}"/>
              </a:ext>
            </a:extLst>
          </p:cNvPr>
          <p:cNvSpPr>
            <a:spLocks xmlns:a="http://schemas.openxmlformats.org/drawingml/2006/main" noGrp="1"/>
          </p:cNvSpPr>
          <p:nvPr/>
        </p:nvSpPr>
        <p:spPr>
          <a:xfrm xmlns:a="http://schemas.openxmlformats.org/drawingml/2006/main">
            <a:off x="1047750" y="4191000"/>
            <a:ext cx="97345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What does one tuple represent?</a:t>
            </a:r>
          </a:p>
        </p:txBody>
      </p:sp>
      <p:sp>
        <p:nvSpPr>
          <p:cNvPr id="7" name="">
            <a:extLst xmlns:a="http://schemas.openxmlformats.org/drawingml/2006/main">
              <a:ext uri="{FF2B5EF4-FFF2-40B4-BE49-F238E27FC236}">
                <a16:creationId xmlns:a16="http://schemas.microsoft.com/office/drawing/2014/main" id="{41B8DD1A-09D0-4ED5-BB44-D26EDBBE198E}"/>
              </a:ext>
            </a:extLst>
          </p:cNvPr>
          <p:cNvSpPr>
            <a:spLocks xmlns:a="http://schemas.openxmlformats.org/drawingml/2006/main" noGrp="1"/>
          </p:cNvSpPr>
          <p:nvPr/>
        </p:nvSpPr>
        <p:spPr>
          <a:xfrm xmlns:a="http://schemas.openxmlformats.org/drawingml/2006/main">
            <a:off x="781050" y="4895850"/>
            <a:ext cx="85725" cy="304800"/>
          </a:xfrm>
          <a:prstGeom xmlns:a="http://schemas.openxmlformats.org/drawingml/2006/main" prst="rect">
            <a:avLst/>
          </a:prstGeom>
          <a:solidFill xmlns:a="http://schemas.openxmlformats.org/drawingml/2006/main">
            <a:srgbClr val="0F766E"/>
          </a:solidFill>
          <a:ln xmlns:a="http://schemas.openxmlformats.org/drawingml/2006/main" w="0">
            <a:solidFill>
              <a:srgbClr val="0F766E"/>
            </a:solidFill>
            <a:prstDash val="solid"/>
          </a:ln>
        </p:spPr>
      </p:sp>
      <p:sp>
        <p:nvSpPr>
          <p:cNvPr id="8" name="">
            <a:extLst xmlns:a="http://schemas.openxmlformats.org/drawingml/2006/main">
              <a:ext uri="{FF2B5EF4-FFF2-40B4-BE49-F238E27FC236}">
                <a16:creationId xmlns:a16="http://schemas.microsoft.com/office/drawing/2014/main" id="{4D99DED8-4C55-46EB-ACCD-0C2ED2AC365D}"/>
              </a:ext>
            </a:extLst>
          </p:cNvPr>
          <p:cNvSpPr>
            <a:spLocks xmlns:a="http://schemas.openxmlformats.org/drawingml/2006/main" noGrp="1"/>
          </p:cNvSpPr>
          <p:nvPr/>
        </p:nvSpPr>
        <p:spPr>
          <a:xfrm xmlns:a="http://schemas.openxmlformats.org/drawingml/2006/main">
            <a:off x="1047750" y="4838700"/>
            <a:ext cx="97345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Which responsibility layer owns the next check?</a:t>
            </a:r>
          </a:p>
        </p:txBody>
      </p:sp>
      <p:sp>
        <p:nvSpPr>
          <p:cNvPr id="9" name="">
            <a:extLst xmlns:a="http://schemas.openxmlformats.org/drawingml/2006/main">
              <a:ext uri="{FF2B5EF4-FFF2-40B4-BE49-F238E27FC236}">
                <a16:creationId xmlns:a16="http://schemas.microsoft.com/office/drawing/2014/main" id="{A33474F3-A19C-44D1-99F2-D997A27E1ED1}"/>
              </a:ext>
            </a:extLst>
          </p:cNvPr>
          <p:cNvSpPr>
            <a:spLocks xmlns:a="http://schemas.openxmlformats.org/drawingml/2006/main" noGrp="1"/>
          </p:cNvSpPr>
          <p:nvPr/>
        </p:nvSpPr>
        <p:spPr>
          <a:xfrm xmlns:a="http://schemas.openxmlformats.org/drawingml/2006/main">
            <a:off x="781050" y="5543550"/>
            <a:ext cx="85725" cy="304800"/>
          </a:xfrm>
          <a:prstGeom xmlns:a="http://schemas.openxmlformats.org/drawingml/2006/main" prst="rect">
            <a:avLst/>
          </a:prstGeom>
          <a:solidFill xmlns:a="http://schemas.openxmlformats.org/drawingml/2006/main">
            <a:srgbClr val="0F766E"/>
          </a:solidFill>
          <a:ln xmlns:a="http://schemas.openxmlformats.org/drawingml/2006/main" w="0">
            <a:solidFill>
              <a:srgbClr val="0F766E"/>
            </a:solidFill>
            <a:prstDash val="solid"/>
          </a:ln>
        </p:spPr>
      </p:sp>
      <p:sp>
        <p:nvSpPr>
          <p:cNvPr id="10" name="">
            <a:extLst xmlns:a="http://schemas.openxmlformats.org/drawingml/2006/main">
              <a:ext uri="{FF2B5EF4-FFF2-40B4-BE49-F238E27FC236}">
                <a16:creationId xmlns:a16="http://schemas.microsoft.com/office/drawing/2014/main" id="{8546DF62-D83B-4EEA-B904-530FAA232FE6}"/>
              </a:ext>
            </a:extLst>
          </p:cNvPr>
          <p:cNvSpPr>
            <a:spLocks xmlns:a="http://schemas.openxmlformats.org/drawingml/2006/main" noGrp="1"/>
          </p:cNvSpPr>
          <p:nvPr/>
        </p:nvSpPr>
        <p:spPr>
          <a:xfrm xmlns:a="http://schemas.openxmlformats.org/drawingml/2006/main">
            <a:off x="1047750" y="5486400"/>
            <a:ext cx="97345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What evidence supports the claim, and what remains untested?</a:t>
            </a:r>
          </a:p>
        </p:txBody>
      </p:sp>
      <p:sp>
        <p:nvSpPr>
          <p:cNvPr id="11" name="">
            <a:extLst xmlns:a="http://schemas.openxmlformats.org/drawingml/2006/main">
              <a:ext uri="{FF2B5EF4-FFF2-40B4-BE49-F238E27FC236}">
                <a16:creationId xmlns:a16="http://schemas.microsoft.com/office/drawing/2014/main" id="{C7E78133-9396-4055-8246-62C404CA0D64}"/>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r">
              <a:defRPr sz="825">
                <a:solidFill>
                  <a:srgbClr val="94A3B8"/>
                </a:solidFill>
                <a:latin typeface="Helvetica Neue"/>
                <a:ea typeface="Helvetica Neue"/>
                <a:cs typeface="Helvetica Neue"/>
              </a:defRPr>
            </a:pPr>
            <a:r>
              <a:rPr sz="825">
                <a:solidFill>
                  <a:srgbClr val="94A3B8"/>
                </a:solidFill>
                <a:latin typeface="Helvetica Neue"/>
                <a:ea typeface="Helvetica Neue"/>
                <a:cs typeface="Helvetica Neue"/>
              </a:rPr>
              <a:t>15</a:t>
            </a:r>
          </a:p>
        </p:txBody>
      </p:sp>
    </p:spTree>
    <p:extLst>
      <p:ext uri="{BB962C8B-B14F-4D97-AF65-F5344CB8AC3E}">
        <p14:creationId xmlns:p14="http://schemas.microsoft.com/office/powerpoint/2010/main" val="208575677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http://schemas.openxmlformats.org/package/2006/metadata/core-properties" xmlns:dc="http://purl.org/dc/elements/1.1/" xmlns:dcterms="http://purl.org/dc/terms/" xmlns:xsi="http://www.w3.org/2001/XMLSchema-instance">
  <dc:creator>Atilio Barreda</dc:creator>
  <lastModifiedBy>Atilio Barreda</lastModifiedBy>
  <dc:title>Week 1: Responsibility, Evidence, and Relational Thinking</dc:title>
  <dcterms:created xsi:type="dcterms:W3CDTF">2026-07-13T07:44:09.3450000Z</dcterms:created>
  <dcterms:modified xsi:type="dcterms:W3CDTF">2026-08-09T00:00:00Z</dcterms:modified>
  <dc:subject>CST 4714 Database Administration</dc:subject>
  <dc:description>Week 1 presentation for Operating Cloud Databases.</dc:description>
  <dc:language>en-US</dc:language>
  <keywords>database administration; PostgreSQL; MongoDB; cloud databases; OER</keywords>
  <category>Open Educational Resource</category>
  <contentStatus>Release Candidate</contentStatus>
</coreProperties>
</file>