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c5a9fa807d466e" /><Relationship Type="http://schemas.openxmlformats.org/officeDocument/2006/relationships/extended-properties" Target="/docProps/app.xml" Id="R402100e874014070" /><Relationship Type="http://schemas.openxmlformats.org/officeDocument/2006/relationships/officeDocument" Target="/ppt/presentation.xml" Id="Raaff4d532044475f" /></Relationships>
</file>

<file path=ppt/presentation.xml><?xml version="1.0" encoding="utf-8"?>
<p:presentation xmlns:p="http://schemas.openxmlformats.org/presentationml/2006/main">
  <p:sldMasterIdLst>
    <p:sldMasterId xmlns:r="http://schemas.openxmlformats.org/officeDocument/2006/relationships" id="2147483648" r:id="Rd3d6dc56a1714144"/>
  </p:sldMasterIdLst>
  <p:notesMasterIdLst>
    <p:notesMasterId xmlns:r="http://schemas.openxmlformats.org/officeDocument/2006/relationships" r:id="R2844c4a57c6e4426"/>
  </p:notesMasterIdLst>
  <p:sldIdLst>
    <p:sldId xmlns:r="http://schemas.openxmlformats.org/officeDocument/2006/relationships" id="256" r:id="R9dd259c844504736"/>
    <p:sldId xmlns:r="http://schemas.openxmlformats.org/officeDocument/2006/relationships" id="257" r:id="Rca14c2f41d7a4d9c"/>
    <p:sldId xmlns:r="http://schemas.openxmlformats.org/officeDocument/2006/relationships" id="258" r:id="R9a05c91a199f436e"/>
    <p:sldId xmlns:r="http://schemas.openxmlformats.org/officeDocument/2006/relationships" id="259" r:id="R789cdff0b7a64ec8"/>
    <p:sldId xmlns:r="http://schemas.openxmlformats.org/officeDocument/2006/relationships" id="260" r:id="Rc0a2606f0edf426f"/>
    <p:sldId xmlns:r="http://schemas.openxmlformats.org/officeDocument/2006/relationships" id="261" r:id="R4938151c98de4fc4"/>
    <p:sldId xmlns:r="http://schemas.openxmlformats.org/officeDocument/2006/relationships" id="262" r:id="R09492cde13db4c46"/>
    <p:sldId xmlns:r="http://schemas.openxmlformats.org/officeDocument/2006/relationships" id="263" r:id="Raf6696772e2d4786"/>
    <p:sldId xmlns:r="http://schemas.openxmlformats.org/officeDocument/2006/relationships" id="264" r:id="R1b4da582cea34596"/>
    <p:sldId xmlns:r="http://schemas.openxmlformats.org/officeDocument/2006/relationships" id="265" r:id="R7799403def014be5"/>
    <p:sldId xmlns:r="http://schemas.openxmlformats.org/officeDocument/2006/relationships" id="266" r:id="R5be2327515ce4734"/>
    <p:sldId xmlns:r="http://schemas.openxmlformats.org/officeDocument/2006/relationships" id="267" r:id="R8f81cfb89c48422f"/>
    <p:sldId xmlns:r="http://schemas.openxmlformats.org/officeDocument/2006/relationships" id="268" r:id="R2acb1b42087f44e0"/>
    <p:sldId xmlns:r="http://schemas.openxmlformats.org/officeDocument/2006/relationships" id="269" r:id="Rbc435c82f44f484d"/>
    <p:sldId xmlns:r="http://schemas.openxmlformats.org/officeDocument/2006/relationships" id="270" r:id="Rcf4df67ad8f14dd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7c50ffe92e4d66" /><Relationship Type="http://schemas.openxmlformats.org/officeDocument/2006/relationships/slideMaster" Target="/ppt/slideMasters/slideMaster1.xml" Id="Rd3d6dc56a1714144" /><Relationship Type="http://schemas.openxmlformats.org/officeDocument/2006/relationships/notesMaster" Target="/ppt/notesMasters/notesMaster1.xml" Id="R2844c4a57c6e4426" /><Relationship Type="http://schemas.openxmlformats.org/officeDocument/2006/relationships/presProps" Target="/ppt/presProps.xml" Id="R27f42ea3396e4b08" /><Relationship Type="http://schemas.openxmlformats.org/officeDocument/2006/relationships/tableStyles" Target="/ppt/tableStyles.xml" Id="Ra12e34a02d694c86" /><Relationship Type="http://schemas.openxmlformats.org/officeDocument/2006/relationships/slide" Target="/ppt/slides/slide1.xml" Id="R9dd259c844504736" /><Relationship Type="http://schemas.openxmlformats.org/officeDocument/2006/relationships/slide" Target="/ppt/slides/slide2.xml" Id="Rca14c2f41d7a4d9c" /><Relationship Type="http://schemas.openxmlformats.org/officeDocument/2006/relationships/slide" Target="/ppt/slides/slide3.xml" Id="R9a05c91a199f436e" /><Relationship Type="http://schemas.openxmlformats.org/officeDocument/2006/relationships/slide" Target="/ppt/slides/slide4.xml" Id="R789cdff0b7a64ec8" /><Relationship Type="http://schemas.openxmlformats.org/officeDocument/2006/relationships/slide" Target="/ppt/slides/slide5.xml" Id="Rc0a2606f0edf426f" /><Relationship Type="http://schemas.openxmlformats.org/officeDocument/2006/relationships/slide" Target="/ppt/slides/slide6.xml" Id="R4938151c98de4fc4" /><Relationship Type="http://schemas.openxmlformats.org/officeDocument/2006/relationships/slide" Target="/ppt/slides/slide7.xml" Id="R09492cde13db4c46" /><Relationship Type="http://schemas.openxmlformats.org/officeDocument/2006/relationships/slide" Target="/ppt/slides/slide8.xml" Id="Raf6696772e2d4786" /><Relationship Type="http://schemas.openxmlformats.org/officeDocument/2006/relationships/slide" Target="/ppt/slides/slide9.xml" Id="R1b4da582cea34596" /><Relationship Type="http://schemas.openxmlformats.org/officeDocument/2006/relationships/slide" Target="/ppt/slides/slide10.xml" Id="R7799403def014be5" /><Relationship Type="http://schemas.openxmlformats.org/officeDocument/2006/relationships/slide" Target="/ppt/slides/slide11.xml" Id="R5be2327515ce4734" /><Relationship Type="http://schemas.openxmlformats.org/officeDocument/2006/relationships/slide" Target="/ppt/slides/slide12.xml" Id="R8f81cfb89c48422f" /><Relationship Type="http://schemas.openxmlformats.org/officeDocument/2006/relationships/slide" Target="/ppt/slides/slide13.xml" Id="R2acb1b42087f44e0" /><Relationship Type="http://schemas.openxmlformats.org/officeDocument/2006/relationships/slide" Target="/ppt/slides/slide14.xml" Id="Rbc435c82f44f484d" /><Relationship Type="http://schemas.openxmlformats.org/officeDocument/2006/relationships/slide" Target="/ppt/slides/slide15.xml" Id="Rcf4df67ad8f14dd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b2078283cf43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2c3f42ffcd4eb7" /><Relationship Type="http://schemas.openxmlformats.org/officeDocument/2006/relationships/notesMaster" Target="/ppt/notesMasters/notesMaster1.xml" Id="Rb73f54d2fbb944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0e9c7c97a648a5" /><Relationship Type="http://schemas.openxmlformats.org/officeDocument/2006/relationships/notesMaster" Target="/ppt/notesMasters/notesMaster1.xml" Id="Re6949e27b8eb46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9ed2b573fa45d1" /><Relationship Type="http://schemas.openxmlformats.org/officeDocument/2006/relationships/notesMaster" Target="/ppt/notesMasters/notesMaster1.xml" Id="Reafb4e3b5ef843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8ce4eabb7b743a8" /><Relationship Type="http://schemas.openxmlformats.org/officeDocument/2006/relationships/notesMaster" Target="/ppt/notesMasters/notesMaster1.xml" Id="R5d9c5a1401084e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bea71a77774c71" /><Relationship Type="http://schemas.openxmlformats.org/officeDocument/2006/relationships/notesMaster" Target="/ppt/notesMasters/notesMaster1.xml" Id="R2c454af9af7846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b9f088f7ff4dd9" /><Relationship Type="http://schemas.openxmlformats.org/officeDocument/2006/relationships/notesMaster" Target="/ppt/notesMasters/notesMaster1.xml" Id="R84ef4b4c8e5d48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be3be1a6ab4f86" /><Relationship Type="http://schemas.openxmlformats.org/officeDocument/2006/relationships/notesMaster" Target="/ppt/notesMasters/notesMaster1.xml" Id="R92251459081246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b3329103894349" /><Relationship Type="http://schemas.openxmlformats.org/officeDocument/2006/relationships/notesMaster" Target="/ppt/notesMasters/notesMaster1.xml" Id="R7f2bb8004ea544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9b10bc37274719" /><Relationship Type="http://schemas.openxmlformats.org/officeDocument/2006/relationships/notesMaster" Target="/ppt/notesMasters/notesMaster1.xml" Id="R55b9c34f461048d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82d941bb031428b" /><Relationship Type="http://schemas.openxmlformats.org/officeDocument/2006/relationships/notesMaster" Target="/ppt/notesMasters/notesMaster1.xml" Id="Rb19e83e2cded4a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0a89d598aa4f36" /><Relationship Type="http://schemas.openxmlformats.org/officeDocument/2006/relationships/notesMaster" Target="/ppt/notesMasters/notesMaster1.xml" Id="Rc595ae9cfebe4d5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657c2cae3b4588" /><Relationship Type="http://schemas.openxmlformats.org/officeDocument/2006/relationships/notesMaster" Target="/ppt/notesMasters/notesMaster1.xml" Id="R06918e7656af4fd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f95b2c2bd6c4586" /><Relationship Type="http://schemas.openxmlformats.org/officeDocument/2006/relationships/notesMaster" Target="/ppt/notesMasters/notesMaster1.xml" Id="R116b864faaab458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b617bf95e5a4401" /><Relationship Type="http://schemas.openxmlformats.org/officeDocument/2006/relationships/notesMaster" Target="/ppt/notesMasters/notesMaster1.xml" Id="R6d6a48cf07204e6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2366a9b82624709" /><Relationship Type="http://schemas.openxmlformats.org/officeDocument/2006/relationships/notesMaster" Target="/ppt/notesMasters/notesMaster1.xml" Id="Rccab47523c264f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asks a reliability question that sounds simple but is not: what does a database promise when a node, network path, client, or human action fails? We will answer by naming the operation, failure, mechanism, observed behavior, and limitation instead of using broad phrases such as highly available or safe.</a:t>
            </a:r>
          </a:p>
          <a:p xmlns:a="http://schemas.openxmlformats.org/drawingml/2006/main">
            <a:r>
              <a:t/>
            </a:r>
          </a:p>
          <a:p xmlns:a="http://schemas.openxmlformats.org/drawingml/2006/main">
            <a:r>
              <a:t>We will study MongoDB replica sets, elections, write concern, read preference, read concern, and partition behavior. Then we will separate replication from backup by creating and verifying a collection-level logical recovery artifact. The same reasoning applies beyond MongoDB: a replicated service and a recoverable history solve different failure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reliability promise begins with one operation. A ticket write and an analytics read can deserve different behavior. Next, name the failure. Loss of one member is different from a network partition, and both are different from an authorized deletion that every replica accepts.</a:t>
            </a:r>
          </a:p>
          <a:p xmlns:a="http://schemas.openxmlformats.org/drawingml/2006/main">
            <a:r>
              <a:t/>
            </a:r>
          </a:p>
          <a:p xmlns:a="http://schemas.openxmlformats.org/drawingml/2006/main">
            <a:r>
              <a:t>Then state acceptable behavior. Should the operation continue, wait, reject, retry, return older data, or recover later? Only after those choices should we select a mechanism. Finally, define evidence and limitation. A successful read after reconnection may support client recovery, but it does not prove that an accidental deletion can be restored. This framework prevents a product feature from becoming a promise larger than the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Replication maintains current service state across members. If one member is unavailable, another member may continue or become primary when the election requirements are met. That is valuable for continuity, but the replicas are participating in the same active history.</a:t>
            </a:r>
          </a:p>
          <a:p xmlns:a="http://schemas.openxmlformats.org/drawingml/2006/main">
            <a:r>
              <a:t/>
            </a:r>
          </a:p>
          <a:p xmlns:a="http://schemas.openxmlformats.org/drawingml/2006/main">
            <a:r>
              <a:t>When an authorized user deletes a collection, replication can faithfully copy that deletion. A backup or logical export preserves an earlier recoverable artifact outside the active state. It solves a different problem. The artifact alone is not recovery: we still need a compatible tool, a separate target, permission, time, and verification. Three replicas are not three independent backups.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normal operation, the primary accepts writes. It records data changes in the oplog, a bounded ordered log used for replication. Secondaries fetch and apply those operations. Because that work is asynchronous, a secondary can temporarily be behind the primary.</a:t>
            </a:r>
          </a:p>
          <a:p xmlns:a="http://schemas.openxmlformats.org/drawingml/2006/main">
            <a:r>
              <a:t/>
            </a:r>
          </a:p>
          <a:p xmlns:a="http://schemas.openxmlformats.org/drawingml/2006/main">
            <a:r>
              <a:t>If the primary becomes unavailable, eligible voting members may elect a new primary when a majority can agree. Election, topology discovery, and client reconnection take time. A driver can retry only according to supported settings and operation semantics. This architecture can hide some member failures, but it cannot promise that every request is uninterrupted or that every secondary read sees the newest acknowledged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Write concern tells the server what acknowledgment the client requires. A majority acknowledgment asks for confirmation from the calculated majority of voting data-bearing members under the deployment's documented rules. Waiting for more acknowledgment can improve resilience to rollback, but it can increase latency and reduce successful writes when enough members are unavailable.</a:t>
            </a:r>
          </a:p>
          <a:p xmlns:a="http://schemas.openxmlformats.org/drawingml/2006/main">
            <a:r>
              <a:t/>
            </a:r>
          </a:p>
          <a:p xmlns:a="http://schemas.openxmlformats.org/drawingml/2006/main">
            <a:r>
              <a:t>A write-concern timeout creates an important application problem. It means the requested acknowledgment was not received before the deadline. The write may still exist on one or more members. Blindly repeating a non-idempotent request can create a duplicate. Applications need stable operation identifiers, safe retry rules, and a read-back strategy that can determine the outcome without assuming timeout means absence.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preference is a routing choice. Primary directs normal reads to the primary. Secondary or secondary-preferred can route eligible reads to secondaries, which may help certain locality or workload goals. Because replication is asynchronous, those reads may observe older state.</a:t>
            </a:r>
          </a:p>
          <a:p xmlns:a="http://schemas.openxmlformats.org/drawingml/2006/main">
            <a:r>
              <a:t/>
            </a:r>
          </a:p>
          <a:p xmlns:a="http://schemas.openxmlformats.org/drawingml/2006/main">
            <a:r>
              <a:t>Read concern is a visibility choice. It defines which data is eligible to be returned under the product's consistency and isolation semantics. The two settings solve different questions and interact with sessions, write concern, and topology. A read-your-own-write workflow should not casually route the confirmation read to a lagging secondary simply because secondary reads sound scalable.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this partition, two voting members can still communicate with each other while the third member is isolated. The two-member side retains a voting majority and can agree on a primary. The isolated member cannot independently become a primary while preserving one authoritative current history.</a:t>
            </a:r>
          </a:p>
          <a:p xmlns:a="http://schemas.openxmlformats.org/drawingml/2006/main">
            <a:r>
              <a:t/>
            </a:r>
          </a:p>
          <a:p xmlns:a="http://schemas.openxmlformats.org/drawingml/2006/main">
            <a:r>
              <a:t>This is the practical CAP question. During a communication partition, which operations remain available, and what consistency behavior do they preserve or sacrifice? CAP consistency is a single-copy style property, not the generic C in ACID. CAP availability means every request to a non-failing node receives a response, not that the service is usually online. We describe specific operation behavior instead of labeling the whole product with two permanent letters.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settings on this table are candidates tied to four different expectations. A confirmed ticket may justify majority acknowledgment because silent loss after a minority member failure would harm the user. The immediate confirmation read should avoid a route that can return a stale view of the just-completed action.</a:t>
            </a:r>
          </a:p>
          <a:p xmlns:a="http://schemas.openxmlformats.org/drawingml/2006/main">
            <a:r>
              <a:t/>
            </a:r>
          </a:p>
          <a:p xmlns:a="http://schemas.openxmlformats.org/drawingml/2006/main">
            <a:r>
              <a:t>An hourly dashboard may tolerate slight lag and could justify a secondary-oriented route if measurement supports it. Accidental deletion needs a separate recovery artifact because replication can copy the deletion. None of these choices is universally strongest. Each has latency, availability, staleness, storage, scheduling, or operational cost. The decision is credible only when its mechanism and limitation are stated.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Use the four Metro Support expectations to build one decision matrix. For each row, name the operation, user impact, relevant setting or mechanism, expected failure or timeout behavior, verification evidence, and limitation. Confirm current Atlas Free constraints with the linked official page and record the date checked.</a:t>
            </a:r>
          </a:p>
          <a:p xmlns:a="http://schemas.openxmlformats.org/drawingml/2006/main">
            <a:r>
              <a:t/>
            </a:r>
          </a:p>
          <a:p xmlns:a="http://schemas.openxmlformats.org/drawingml/2006/main">
            <a:r>
              <a:t>Then analyze the stated partition in precise terms. Finish the same file with one short final-project workload checkpoint naming two reads, one write, and one failure or recovery concern. The canonical final-project page remains the only source of final requirements. Submit one file and keep every credential, project identifier, and network detail out of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two turns the reliability distinction into recovery practice. We will create a transparent collection-level logical export, restore it to a different database and collection, and verify that the recovered data still answers meaningful questions.</a:t>
            </a:r>
          </a:p>
          <a:p xmlns:a="http://schemas.openxmlformats.org/drawingml/2006/main">
            <a:r>
              <a:t/>
            </a:r>
          </a:p>
          <a:p xmlns:a="http://schemas.openxmlformats.org/drawingml/2006/main">
            <a:r>
              <a:t>This educational JSON artifact is deliberately inspectable, but it is narrower than a complete database backup. We will compare it with `mongodump` and `mongorestore`, which can preserve additional database metadata within documented behavior. The point is not to call every copied file a backup. The point is to name scope accurately and prove the parts that were restored.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Ordinary JSON has a small set of value types. MongoDB stores BSON, which can distinguish values such as ObjectId, date, decimal, binary, and several numeric forms. If an export turns every special value into a plain string or generic number, the restored document may look similar while behaving differently in comparisons, sorting, validation, or application code.</a:t>
            </a:r>
          </a:p>
          <a:p xmlns:a="http://schemas.openxmlformats.org/drawingml/2006/main">
            <a:r>
              <a:t/>
            </a:r>
          </a:p>
          <a:p xmlns:a="http://schemas.openxmlformats.org/drawingml/2006/main">
            <a:r>
              <a:t>MongoDB Extended JSON provides representations that carry BSON type meaning through JSON-compatible text. The recovery notebook uses canonical Extended JSON so the serialized artifact is transparent while preserving those meanings. Verification must still inspect restored types rather than assuming that valid JSON implies faithful BSON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recovery drill begins by naming scope. Which database and collection are represented, and which parts of the system are outside the artifact? Export the data and record whether the operation completed, the file size, and a hash that can identify the exact bytes later.</a:t>
            </a:r>
          </a:p>
          <a:p xmlns:a="http://schemas.openxmlformats.org/drawingml/2006/main">
            <a:r>
              <a:t/>
            </a:r>
          </a:p>
          <a:p xmlns:a="http://schemas.openxmlformats.org/drawingml/2006/main">
            <a:r>
              <a:t>Restore into a separate target so the source remains available for comparison. Verify more than row count: trace stable identifiers, inspect restored BSON types, run a meaningful query, and test one expected validation behavior where the scope supports it. End with omissions. A collection export does not automatically preserve all indexes, validators, users, network settings, multi-collection consistency, or point-in-time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notebook's Extended JSON path is useful because every step is visible. Students can inspect serialization, hash the artifact, restore to a new target, and compare identifiers and types. Its narrowness must be stated: it is not a complete database backup simply because it can recover documents.</a:t>
            </a:r>
          </a:p>
          <a:p xmlns:a="http://schemas.openxmlformats.org/drawingml/2006/main">
            <a:r>
              <a:t/>
            </a:r>
          </a:p>
          <a:p xmlns:a="http://schemas.openxmlformats.org/drawingml/2006/main">
            <a:r>
              <a:t>`mongodump` and `mongorestore` are the documented database-tools path for logical backups and restores, including supported collection metadata and index definitions. Their compatibility, namespace mapping, credentials, and tool versions still matter. Neither path recreates every Atlas project setting, database user, network rule, or external secret. A recovery plan must account for both data artifacts and environment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this lab individually in the provided notebook. The default offline path executes the full export, restore, and verification sequence with an in-memory fixture. If you use Atlas, enter the URI only at runtime through the hidden prompt, use uniquely named temporary targets, and remove temporary network access after class.</a:t>
            </a:r>
          </a:p>
          <a:p xmlns:a="http://schemas.openxmlformats.org/drawingml/2006/main">
            <a:r>
              <a:t/>
            </a:r>
          </a:p>
          <a:p xmlns:a="http://schemas.openxmlformats.org/drawingml/2006/main">
            <a:r>
              <a:t>Record artifact size and SHA-256, then verify counts, stable identifiers, BSON types, one query, and one expected validation failure. Complete the comparison with `mongodump` and state the artifact's limitations. Before submission, search the notebook source and outputs to confirm that no connection string, password, project identifier, or IP address was stored.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week separated several ideas that are often collapsed. Write concern changes required acknowledgment. Read preference changes eligible routing. Read concern changes visibility semantics. Replica-set elections can restore a writable primary when a voting majority can agree, but failover is not instantaneous and partitions force operation-specific tradeoffs.</a:t>
            </a:r>
          </a:p>
          <a:p xmlns:a="http://schemas.openxmlformats.org/drawingml/2006/main">
            <a:r>
              <a:t/>
            </a:r>
          </a:p>
          <a:p xmlns:a="http://schemas.openxmlformats.org/drawingml/2006/main">
            <a:r>
              <a:t>Replication protects continuity against some member failures while also copying destructive changes. Recovery needs a separate artifact, target, procedure, credentials, and verification. A strong reliability statement names operation, failure, acceptable behavior, mechanism, evidence, and limitation. Next week we will use the same discipline for scale, capacity, sharding, and safe data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bae03ba824472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8fa7ba255b4784" /><Relationship Type="http://schemas.openxmlformats.org/officeDocument/2006/relationships/slideLayout" Target="/ppt/slideLayouts/slideLayout1.xml" Id="Rc95f85cc7ced40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95f85cc7ced40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38d7d338094c80" /><Relationship Type="http://schemas.openxmlformats.org/officeDocument/2006/relationships/notesSlide" Target="/ppt/notesSlides/notesSlide1.xml" Id="R30ec66373ede40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fe3d69e594545be" /><Relationship Type="http://schemas.openxmlformats.org/officeDocument/2006/relationships/notesSlide" Target="/ppt/notesSlides/notesSlide2.xml" Id="Rc980eb89d19040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597fee5d0b46b3" /><Relationship Type="http://schemas.openxmlformats.org/officeDocument/2006/relationships/notesSlide" Target="/ppt/notesSlides/notesSlide3.xml" Id="Rf83af3b43c8741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09185b44fa4cb3" /><Relationship Type="http://schemas.openxmlformats.org/officeDocument/2006/relationships/notesSlide" Target="/ppt/notesSlides/notesSlide4.xml" Id="R0711055064f24a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6a6e0672be7479f" /><Relationship Type="http://schemas.openxmlformats.org/officeDocument/2006/relationships/notesSlide" Target="/ppt/notesSlides/notesSlide5.xml" Id="R41c16a6a118d4d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3a65f9a9ee4d3b" /><Relationship Type="http://schemas.openxmlformats.org/officeDocument/2006/relationships/notesSlide" Target="/ppt/notesSlides/notesSlide6.xml" Id="R0e65239b5a2249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0d18c3a5b664336" /><Relationship Type="http://schemas.openxmlformats.org/officeDocument/2006/relationships/notesSlide" Target="/ppt/notesSlides/notesSlide7.xml" Id="R00d114cb36fa44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bc6fd7934634d45" /><Relationship Type="http://schemas.openxmlformats.org/officeDocument/2006/relationships/notesSlide" Target="/ppt/notesSlides/notesSlide8.xml" Id="R231321273db84a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7ab935a6ee466f" /><Relationship Type="http://schemas.openxmlformats.org/officeDocument/2006/relationships/notesSlide" Target="/ppt/notesSlides/notesSlide9.xml" Id="R4da2dad6b9d24b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7e8c7ecd6e4bea" /><Relationship Type="http://schemas.openxmlformats.org/officeDocument/2006/relationships/notesSlide" Target="/ppt/notesSlides/notesSlide10.xml" Id="R4e0c7e153b5943e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b54cdf5f1245e8" /><Relationship Type="http://schemas.openxmlformats.org/officeDocument/2006/relationships/notesSlide" Target="/ppt/notesSlides/notesSlide11.xml" Id="Rf9bbec007a414bc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f4cd5b1d97a41a2" /><Relationship Type="http://schemas.openxmlformats.org/officeDocument/2006/relationships/notesSlide" Target="/ppt/notesSlides/notesSlide12.xml" Id="Re9b8a13bcba148b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c1abab3bff1427f" /><Relationship Type="http://schemas.openxmlformats.org/officeDocument/2006/relationships/notesSlide" Target="/ppt/notesSlides/notesSlide13.xml" Id="R13b3a64b5a8b4e4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75a6309428480f" /><Relationship Type="http://schemas.openxmlformats.org/officeDocument/2006/relationships/notesSlide" Target="/ppt/notesSlides/notesSlide14.xml" Id="Rc73eabf8306f44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d642d5c3b5c4c4e" /><Relationship Type="http://schemas.openxmlformats.org/officeDocument/2006/relationships/notesSlide" Target="/ppt/notesSlides/notesSlide15.xml" Id="R5cbe7c5c47c5402b" /></Relationships>
</file>

<file path=ppt/slides/slide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D8AD45-7FD5-41FF-853E-A66F6E1738E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33A5FD89-A45F-49C5-B12D-49392C086F1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99283DE0-F354-4B90-8DF3-E9BCADA3FF31}"/>
              </a:ext>
            </a:extLst>
          </p:cNvPr>
          <p:cNvSpPr>
            <a:spLocks xmlns:a="http://schemas.openxmlformats.org/drawingml/2006/main" noGrp="1"/>
          </p:cNvSpPr>
          <p:nvPr/>
        </p:nvSpPr>
        <p:spPr>
          <a:xfrm xmlns:a="http://schemas.openxmlformats.org/drawingml/2006/main">
            <a:off x="685800" y="5238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350" b="1">
                <a:solidFill>
                  <a:srgbClr val="1D4ED8"/>
                </a:solidFill>
                <a:latin typeface="Helvetica Neue"/>
                <a:ea typeface="Helvetica Neue"/>
                <a:cs typeface="Helvetica Neue"/>
              </a:defRPr>
            </a:pPr>
            <a:r>
              <a:rPr sz="1350" b="1">
                <a:solidFill>
                  <a:srgbClr val="1D4ED8"/>
                </a:solidFill>
                <a:latin typeface="Helvetica Neue"/>
                <a:ea typeface="Helvetica Neue"/>
                <a:cs typeface="Helvetica Neue"/>
              </a:rPr>
              <a:t>WEEK 12</a:t>
            </a:r>
          </a:p>
        </p:txBody>
      </p:sp>
      <p:sp>
        <p:nvSpPr>
          <p:cNvPr id="4" name="cover-title">
            <a:extLst xmlns:a="http://schemas.openxmlformats.org/drawingml/2006/main">
              <a:ext uri="{FF2B5EF4-FFF2-40B4-BE49-F238E27FC236}">
                <a16:creationId xmlns:a16="http://schemas.microsoft.com/office/drawing/2014/main" id="{E7D0AC90-7342-4F49-9C31-0BA8EE2FD62E}"/>
              </a:ext>
            </a:extLst>
          </p:cNvPr>
          <p:cNvSpPr>
            <a:spLocks xmlns:a="http://schemas.openxmlformats.org/drawingml/2006/main" noGrp="1"/>
          </p:cNvSpPr>
          <p:nvPr/>
        </p:nvSpPr>
        <p:spPr>
          <a:xfrm xmlns:a="http://schemas.openxmlformats.org/drawingml/2006/main">
            <a:off x="685800" y="1524000"/>
            <a:ext cx="85725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111827"/>
                </a:solidFill>
                <a:latin typeface="Helvetica Neue"/>
                <a:ea typeface="Helvetica Neue"/>
                <a:cs typeface="Helvetica Neue"/>
              </a:defRPr>
            </a:pPr>
            <a:r>
              <a:rPr sz="4350" b="1">
                <a:solidFill>
                  <a:srgbClr val="111827"/>
                </a:solidFill>
                <a:latin typeface="Helvetica Neue"/>
                <a:ea typeface="Helvetica Neue"/>
                <a:cs typeface="Helvetica Neue"/>
              </a:rPr>
              <a:t>MongoDB Reliability and Recovery Evidence</a:t>
            </a:r>
          </a:p>
        </p:txBody>
      </p:sp>
      <p:sp>
        <p:nvSpPr>
          <p:cNvPr id="5" name="cover-subtitle">
            <a:extLst xmlns:a="http://schemas.openxmlformats.org/drawingml/2006/main">
              <a:ext uri="{FF2B5EF4-FFF2-40B4-BE49-F238E27FC236}">
                <a16:creationId xmlns:a16="http://schemas.microsoft.com/office/drawing/2014/main" id="{12CB2508-CF92-4701-A672-CF69C2CBAC84}"/>
              </a:ext>
            </a:extLst>
          </p:cNvPr>
          <p:cNvSpPr>
            <a:spLocks xmlns:a="http://schemas.openxmlformats.org/drawingml/2006/main" noGrp="1"/>
          </p:cNvSpPr>
          <p:nvPr/>
        </p:nvSpPr>
        <p:spPr>
          <a:xfrm xmlns:a="http://schemas.openxmlformats.org/drawingml/2006/main">
            <a:off x="723900" y="3905250"/>
            <a:ext cx="8096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Turn replication, read and write settings, and restore work into explicit operating promises.</a:t>
            </a:r>
          </a:p>
        </p:txBody>
      </p:sp>
      <p:sp>
        <p:nvSpPr>
          <p:cNvPr id="6" name="">
            <a:extLst xmlns:a="http://schemas.openxmlformats.org/drawingml/2006/main">
              <a:ext uri="{FF2B5EF4-FFF2-40B4-BE49-F238E27FC236}">
                <a16:creationId xmlns:a16="http://schemas.microsoft.com/office/drawing/2014/main" id="{6AECEE5E-AF90-4D08-B4CF-60F3D39675AB}"/>
              </a:ext>
            </a:extLst>
          </p:cNvPr>
          <p:cNvSpPr>
            <a:spLocks xmlns:a="http://schemas.openxmlformats.org/drawingml/2006/main" noGrp="1"/>
          </p:cNvSpPr>
          <p:nvPr/>
        </p:nvSpPr>
        <p:spPr>
          <a:xfrm xmlns:a="http://schemas.openxmlformats.org/drawingml/2006/main">
            <a:off x="685800" y="61722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94A3B8"/>
                </a:solidFill>
                <a:latin typeface="Helvetica Neue"/>
                <a:ea typeface="Helvetica Neue"/>
                <a:cs typeface="Helvetica Neue"/>
              </a:defRPr>
            </a:pPr>
            <a:r>
              <a:rPr sz="975" b="1">
                <a:solidFill>
                  <a:srgbClr val="94A3B8"/>
                </a:solidFill>
                <a:latin typeface="Helvetica Neue"/>
                <a:ea typeface="Helvetica Neue"/>
                <a:cs typeface="Helvetica Neue"/>
              </a:rPr>
              <a:t>OPERATING CLOUD DATABASES</a:t>
            </a:r>
          </a:p>
        </p:txBody>
      </p:sp>
      <p:sp>
        <p:nvSpPr>
          <p:cNvPr id="7" name="">
            <a:extLst xmlns:a="http://schemas.openxmlformats.org/drawingml/2006/main">
              <a:ext uri="{FF2B5EF4-FFF2-40B4-BE49-F238E27FC236}">
                <a16:creationId xmlns:a16="http://schemas.microsoft.com/office/drawing/2014/main" id="{49CF9AA7-CF1F-4893-9D59-854D0DF97D19}"/>
              </a:ext>
            </a:extLst>
          </p:cNvPr>
          <p:cNvSpPr>
            <a:spLocks xmlns:a="http://schemas.openxmlformats.org/drawingml/2006/main" noGrp="1"/>
          </p:cNvSpPr>
          <p:nvPr/>
        </p:nvSpPr>
        <p:spPr>
          <a:xfrm xmlns:a="http://schemas.openxmlformats.org/drawingml/2006/main">
            <a:off x="9525000" y="4667250"/>
            <a:ext cx="209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400" b="1">
                <a:solidFill>
                  <a:srgbClr val="1D4ED8"/>
                </a:solidFill>
                <a:latin typeface="Helvetica Neue"/>
                <a:ea typeface="Helvetica Neue"/>
                <a:cs typeface="Helvetica Neue"/>
              </a:defRPr>
            </a:pPr>
            <a:r>
              <a:rPr sz="8400" b="1">
                <a:solidFill>
                  <a:srgbClr val="1D4ED8"/>
                </a:solidFill>
                <a:latin typeface="Helvetica Neue"/>
                <a:ea typeface="Helvetica Neue"/>
                <a:cs typeface="Helvetica Neue"/>
              </a:rPr>
              <a:t>12</a:t>
            </a:r>
          </a:p>
        </p:txBody>
      </p:sp>
    </p:spTree>
    <p:extLst>
      <p:ext uri="{BB962C8B-B14F-4D97-AF65-F5344CB8AC3E}">
        <p14:creationId xmlns:p14="http://schemas.microsoft.com/office/powerpoint/2010/main" val="1411623532"/>
      </p:ext>
    </p:extLst>
  </p:cSld>
</p:sld>
</file>

<file path=ppt/slides/slide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4405BE8-64D7-415F-8B80-33DDA5487F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983C51FD-7306-46FF-A527-4EAFED24E44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21480BBA-9C5A-47FF-A9E3-BDCC5E9F7491}"/>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reliability promise needs five visible parts</a:t>
            </a:r>
          </a:p>
        </p:txBody>
      </p:sp>
      <p:sp>
        <p:nvSpPr>
          <p:cNvPr id="4" name="">
            <a:extLst xmlns:a="http://schemas.openxmlformats.org/drawingml/2006/main">
              <a:ext uri="{FF2B5EF4-FFF2-40B4-BE49-F238E27FC236}">
                <a16:creationId xmlns:a16="http://schemas.microsoft.com/office/drawing/2014/main" id="{5050AE70-1E12-4555-87F2-A8E88A7923DE}"/>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17798691-12DD-4D8A-A272-B285E46E163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2</a:t>
            </a:r>
          </a:p>
        </p:txBody>
      </p:sp>
      <p:sp>
        <p:nvSpPr>
          <p:cNvPr id="6" name="">
            <a:extLst xmlns:a="http://schemas.openxmlformats.org/drawingml/2006/main">
              <a:ext uri="{FF2B5EF4-FFF2-40B4-BE49-F238E27FC236}">
                <a16:creationId xmlns:a16="http://schemas.microsoft.com/office/drawing/2014/main" id="{6D0B9060-7BEF-4827-991D-1009C3F619AE}"/>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3BE2AA1F-30F2-4DF7-921F-694A0612FBA6}"/>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D4ED8"/>
          </a:solidFill>
          <a:ln xmlns:a="http://schemas.openxmlformats.org/drawingml/2006/main" w="28575">
            <a:solidFill>
              <a:srgbClr val="1D4ED8"/>
            </a:solidFill>
            <a:prstDash val="solid"/>
          </a:ln>
        </p:spPr>
      </p:sp>
      <p:sp>
        <p:nvSpPr>
          <p:cNvPr id="8" name="">
            <a:extLst xmlns:a="http://schemas.openxmlformats.org/drawingml/2006/main">
              <a:ext uri="{FF2B5EF4-FFF2-40B4-BE49-F238E27FC236}">
                <a16:creationId xmlns:a16="http://schemas.microsoft.com/office/drawing/2014/main" id="{672E8895-93EC-4CD7-9A25-B317301FC27D}"/>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E5750664-BC7A-4DCF-8B3F-534A5FF35E11}"/>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Operation</a:t>
            </a:r>
          </a:p>
        </p:txBody>
      </p:sp>
      <p:sp>
        <p:nvSpPr>
          <p:cNvPr id="10" name="">
            <a:extLst xmlns:a="http://schemas.openxmlformats.org/drawingml/2006/main">
              <a:ext uri="{FF2B5EF4-FFF2-40B4-BE49-F238E27FC236}">
                <a16:creationId xmlns:a16="http://schemas.microsoft.com/office/drawing/2014/main" id="{88B17325-4A5B-4540-B5CD-6160E9544236}"/>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Which read, write, query, connection, or restore matters?</a:t>
            </a:r>
          </a:p>
        </p:txBody>
      </p:sp>
      <p:sp>
        <p:nvSpPr>
          <p:cNvPr id="11" name="">
            <a:extLst xmlns:a="http://schemas.openxmlformats.org/drawingml/2006/main">
              <a:ext uri="{FF2B5EF4-FFF2-40B4-BE49-F238E27FC236}">
                <a16:creationId xmlns:a16="http://schemas.microsoft.com/office/drawing/2014/main" id="{E4142F6A-86C7-4328-A11C-46240B4ADEF3}"/>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2" name="">
            <a:extLst xmlns:a="http://schemas.openxmlformats.org/drawingml/2006/main">
              <a:ext uri="{FF2B5EF4-FFF2-40B4-BE49-F238E27FC236}">
                <a16:creationId xmlns:a16="http://schemas.microsoft.com/office/drawing/2014/main" id="{51077E21-45A9-4F12-B8CC-721E7284D086}"/>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3C8AA994-1D19-4F3A-B8E6-7B999AA57DFC}"/>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Failure</a:t>
            </a:r>
          </a:p>
        </p:txBody>
      </p:sp>
      <p:sp>
        <p:nvSpPr>
          <p:cNvPr id="14" name="">
            <a:extLst xmlns:a="http://schemas.openxmlformats.org/drawingml/2006/main">
              <a:ext uri="{FF2B5EF4-FFF2-40B4-BE49-F238E27FC236}">
                <a16:creationId xmlns:a16="http://schemas.microsoft.com/office/drawing/2014/main" id="{CA15D390-C96D-4A18-8982-CFD74490556B}"/>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Node loss, partition, timeout, deletion, or bad change?</a:t>
            </a:r>
          </a:p>
        </p:txBody>
      </p:sp>
      <p:sp>
        <p:nvSpPr>
          <p:cNvPr id="15" name="">
            <a:extLst xmlns:a="http://schemas.openxmlformats.org/drawingml/2006/main">
              <a:ext uri="{FF2B5EF4-FFF2-40B4-BE49-F238E27FC236}">
                <a16:creationId xmlns:a16="http://schemas.microsoft.com/office/drawing/2014/main" id="{1CC977D8-2843-4982-B777-5EB5F58B21F8}"/>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6" name="">
            <a:extLst xmlns:a="http://schemas.openxmlformats.org/drawingml/2006/main">
              <a:ext uri="{FF2B5EF4-FFF2-40B4-BE49-F238E27FC236}">
                <a16:creationId xmlns:a16="http://schemas.microsoft.com/office/drawing/2014/main" id="{E0C4F387-FD1F-43C1-906D-E7FF41C7D536}"/>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D2D63BF6-3788-4FFC-BA63-F8572DBE0C6F}"/>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Behavior</a:t>
            </a:r>
          </a:p>
        </p:txBody>
      </p:sp>
      <p:sp>
        <p:nvSpPr>
          <p:cNvPr id="18" name="">
            <a:extLst xmlns:a="http://schemas.openxmlformats.org/drawingml/2006/main">
              <a:ext uri="{FF2B5EF4-FFF2-40B4-BE49-F238E27FC236}">
                <a16:creationId xmlns:a16="http://schemas.microsoft.com/office/drawing/2014/main" id="{0958E3F7-D970-4F9E-B96D-E3F2F5170182}"/>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Continue, wait, reject, retry, read stale, or recover later?</a:t>
            </a:r>
          </a:p>
        </p:txBody>
      </p:sp>
      <p:sp>
        <p:nvSpPr>
          <p:cNvPr id="19" name="">
            <a:extLst xmlns:a="http://schemas.openxmlformats.org/drawingml/2006/main">
              <a:ext uri="{FF2B5EF4-FFF2-40B4-BE49-F238E27FC236}">
                <a16:creationId xmlns:a16="http://schemas.microsoft.com/office/drawing/2014/main" id="{F3402567-D9CB-4606-B5FE-BA3D364D07CC}"/>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0" name="">
            <a:extLst xmlns:a="http://schemas.openxmlformats.org/drawingml/2006/main">
              <a:ext uri="{FF2B5EF4-FFF2-40B4-BE49-F238E27FC236}">
                <a16:creationId xmlns:a16="http://schemas.microsoft.com/office/drawing/2014/main" id="{1F02435F-8FD3-420D-8AEC-6814B23EC81E}"/>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033F4041-9E9C-4BE1-9BF7-798101898D84}"/>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Mechanism</a:t>
            </a:r>
          </a:p>
        </p:txBody>
      </p:sp>
      <p:sp>
        <p:nvSpPr>
          <p:cNvPr id="22" name="">
            <a:extLst xmlns:a="http://schemas.openxmlformats.org/drawingml/2006/main">
              <a:ext uri="{FF2B5EF4-FFF2-40B4-BE49-F238E27FC236}">
                <a16:creationId xmlns:a16="http://schemas.microsoft.com/office/drawing/2014/main" id="{FB307043-DCC0-49BA-98CB-27C0965DBAFD}"/>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Replica, concern, routing, export, restore, or application rule?</a:t>
            </a:r>
          </a:p>
        </p:txBody>
      </p:sp>
      <p:sp>
        <p:nvSpPr>
          <p:cNvPr id="23" name="">
            <a:extLst xmlns:a="http://schemas.openxmlformats.org/drawingml/2006/main">
              <a:ext uri="{FF2B5EF4-FFF2-40B4-BE49-F238E27FC236}">
                <a16:creationId xmlns:a16="http://schemas.microsoft.com/office/drawing/2014/main" id="{6405EB44-BB5E-420F-BDF2-88E15CE6A48E}"/>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4" name="">
            <a:extLst xmlns:a="http://schemas.openxmlformats.org/drawingml/2006/main">
              <a:ext uri="{FF2B5EF4-FFF2-40B4-BE49-F238E27FC236}">
                <a16:creationId xmlns:a16="http://schemas.microsoft.com/office/drawing/2014/main" id="{E006FAD6-65AF-48C3-A6EA-7B96FBD59FC0}"/>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B2ACD887-766A-4A93-BB60-32CC671F8692}"/>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Evidence</a:t>
            </a:r>
          </a:p>
        </p:txBody>
      </p:sp>
      <p:sp>
        <p:nvSpPr>
          <p:cNvPr id="26" name="">
            <a:extLst xmlns:a="http://schemas.openxmlformats.org/drawingml/2006/main">
              <a:ext uri="{FF2B5EF4-FFF2-40B4-BE49-F238E27FC236}">
                <a16:creationId xmlns:a16="http://schemas.microsoft.com/office/drawing/2014/main" id="{AB382205-BC34-42D2-A76A-48D86C5A1553}"/>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What observation supports the claim, and what remains untested?</a:t>
            </a:r>
          </a:p>
        </p:txBody>
      </p:sp>
      <p:sp>
        <p:nvSpPr>
          <p:cNvPr id="27" name="">
            <a:extLst xmlns:a="http://schemas.openxmlformats.org/drawingml/2006/main">
              <a:ext uri="{FF2B5EF4-FFF2-40B4-BE49-F238E27FC236}">
                <a16:creationId xmlns:a16="http://schemas.microsoft.com/office/drawing/2014/main" id="{BFD813B6-6E94-4D13-B146-94C0517A730D}"/>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Name the operation and failure before choosing the mechanism.</a:t>
            </a:r>
          </a:p>
        </p:txBody>
      </p:sp>
    </p:spTree>
    <p:extLst>
      <p:ext uri="{BB962C8B-B14F-4D97-AF65-F5344CB8AC3E}">
        <p14:creationId xmlns:p14="http://schemas.microsoft.com/office/powerpoint/2010/main" val="187455770"/>
      </p:ext>
    </p:extLst>
  </p:cSld>
</p:sld>
</file>

<file path=ppt/slides/slide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D80857B-5E38-4245-940B-3EE35F9C8E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0906C1D9-076C-4439-94BE-761C7B3E8140}"/>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19D8930F-AA9A-4C9E-9742-8454C602D507}"/>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Replication and backup protect against different failures</a:t>
            </a:r>
          </a:p>
        </p:txBody>
      </p:sp>
      <p:sp>
        <p:nvSpPr>
          <p:cNvPr id="4" name="">
            <a:extLst xmlns:a="http://schemas.openxmlformats.org/drawingml/2006/main">
              <a:ext uri="{FF2B5EF4-FFF2-40B4-BE49-F238E27FC236}">
                <a16:creationId xmlns:a16="http://schemas.microsoft.com/office/drawing/2014/main" id="{FC66BA27-798A-4BF7-A77A-8423F285886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B2EEB1D-9381-4113-B5FF-078388902C9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8DA05BAC-F2B0-4E8D-BD30-9441546D917E}"/>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Replication</a:t>
            </a:r>
          </a:p>
        </p:txBody>
      </p:sp>
      <p:sp>
        <p:nvSpPr>
          <p:cNvPr id="7" name="">
            <a:extLst xmlns:a="http://schemas.openxmlformats.org/drawingml/2006/main">
              <a:ext uri="{FF2B5EF4-FFF2-40B4-BE49-F238E27FC236}">
                <a16:creationId xmlns:a16="http://schemas.microsoft.com/office/drawing/2014/main" id="{424AAD26-5079-46B5-9689-AE7B524D4758}"/>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Backup or logical recovery artifact</a:t>
            </a:r>
          </a:p>
        </p:txBody>
      </p:sp>
      <p:sp>
        <p:nvSpPr>
          <p:cNvPr id="8" name="">
            <a:extLst xmlns:a="http://schemas.openxmlformats.org/drawingml/2006/main">
              <a:ext uri="{FF2B5EF4-FFF2-40B4-BE49-F238E27FC236}">
                <a16:creationId xmlns:a16="http://schemas.microsoft.com/office/drawing/2014/main" id="{D894CBB9-1780-4753-96E9-C28D28C7FEB3}"/>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1D900BEA-8B7A-4200-A672-21A7ED07E413}"/>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A069D86E-9FE7-495C-8B9A-128A2DC968E1}"/>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Maintains active copies from an ordered change history</a:t>
            </a:r>
          </a:p>
        </p:txBody>
      </p:sp>
      <p:sp>
        <p:nvSpPr>
          <p:cNvPr id="11" name="">
            <a:extLst xmlns:a="http://schemas.openxmlformats.org/drawingml/2006/main">
              <a:ext uri="{FF2B5EF4-FFF2-40B4-BE49-F238E27FC236}">
                <a16:creationId xmlns:a16="http://schemas.microsoft.com/office/drawing/2014/main" id="{450C64C9-AE42-4C5F-A379-89213F68243E}"/>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9AE2E787-8A17-4626-BB93-C7E03F4AFA0E}"/>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Supports continuity after some member failures</a:t>
            </a:r>
          </a:p>
        </p:txBody>
      </p:sp>
      <p:sp>
        <p:nvSpPr>
          <p:cNvPr id="13" name="">
            <a:extLst xmlns:a="http://schemas.openxmlformats.org/drawingml/2006/main">
              <a:ext uri="{FF2B5EF4-FFF2-40B4-BE49-F238E27FC236}">
                <a16:creationId xmlns:a16="http://schemas.microsoft.com/office/drawing/2014/main" id="{1375EA4A-339D-4571-AD5F-B441D5AA87D0}"/>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3C05863F-15D2-498E-9593-9BF9B293335B}"/>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Also reproduces valid but destructive writes and deletes</a:t>
            </a:r>
          </a:p>
        </p:txBody>
      </p:sp>
      <p:sp>
        <p:nvSpPr>
          <p:cNvPr id="15" name="">
            <a:extLst xmlns:a="http://schemas.openxmlformats.org/drawingml/2006/main">
              <a:ext uri="{FF2B5EF4-FFF2-40B4-BE49-F238E27FC236}">
                <a16:creationId xmlns:a16="http://schemas.microsoft.com/office/drawing/2014/main" id="{23775695-55E6-41AA-B94B-2FE6B0BE1660}"/>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0989A2DE-0819-4D16-B02D-60AE419916EA}"/>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Preserves recoverable history outside active state</a:t>
            </a:r>
          </a:p>
        </p:txBody>
      </p:sp>
      <p:sp>
        <p:nvSpPr>
          <p:cNvPr id="17" name="">
            <a:extLst xmlns:a="http://schemas.openxmlformats.org/drawingml/2006/main">
              <a:ext uri="{FF2B5EF4-FFF2-40B4-BE49-F238E27FC236}">
                <a16:creationId xmlns:a16="http://schemas.microsoft.com/office/drawing/2014/main" id="{5B2D5179-13A8-4B9E-ACAA-758D597B5C59}"/>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D0DCD55F-800B-4CDA-9495-9DC494279D90}"/>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Supports restoration after deletion, bad change, or loss</a:t>
            </a:r>
          </a:p>
        </p:txBody>
      </p:sp>
      <p:sp>
        <p:nvSpPr>
          <p:cNvPr id="19" name="">
            <a:extLst xmlns:a="http://schemas.openxmlformats.org/drawingml/2006/main">
              <a:ext uri="{FF2B5EF4-FFF2-40B4-BE49-F238E27FC236}">
                <a16:creationId xmlns:a16="http://schemas.microsoft.com/office/drawing/2014/main" id="{09132266-5C2D-49FB-9B7A-7073DD04FCD1}"/>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68E7F7C3-C019-430B-877F-37510A51EEBC}"/>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Still requires a target, procedure, credentials, and verification</a:t>
            </a:r>
          </a:p>
        </p:txBody>
      </p:sp>
    </p:spTree>
    <p:extLst>
      <p:ext uri="{BB962C8B-B14F-4D97-AF65-F5344CB8AC3E}">
        <p14:creationId xmlns:p14="http://schemas.microsoft.com/office/powerpoint/2010/main" val="386684047"/>
      </p:ext>
    </p:extLst>
  </p:cSld>
</p:sld>
</file>

<file path=ppt/slides/slide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E28A42A-829A-493F-A512-0F652F9A364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8BB5E32-BE76-49CF-B82A-F6F5DA66A7CF}"/>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251EAF28-C8DF-456C-8CDC-49A8F84282D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replica set copies one ordered stream of changes</a:t>
            </a:r>
          </a:p>
        </p:txBody>
      </p:sp>
      <p:sp>
        <p:nvSpPr>
          <p:cNvPr id="4" name="">
            <a:extLst xmlns:a="http://schemas.openxmlformats.org/drawingml/2006/main">
              <a:ext uri="{FF2B5EF4-FFF2-40B4-BE49-F238E27FC236}">
                <a16:creationId xmlns:a16="http://schemas.microsoft.com/office/drawing/2014/main" id="{9426E46D-A29D-4802-B03C-8463EC66EDB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47AEF6C-A1C6-4493-B8D7-12F54B32A9F4}"/>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4</a:t>
            </a:r>
          </a:p>
        </p:txBody>
      </p:sp>
      <p:sp>
        <p:nvSpPr>
          <p:cNvPr id="6" name="">
            <a:extLst xmlns:a="http://schemas.openxmlformats.org/drawingml/2006/main">
              <a:ext uri="{FF2B5EF4-FFF2-40B4-BE49-F238E27FC236}">
                <a16:creationId xmlns:a16="http://schemas.microsoft.com/office/drawing/2014/main" id="{7C414605-D3AC-45A5-B39B-DC16BD89CEED}"/>
              </a:ext>
            </a:extLst>
          </p:cNvPr>
          <p:cNvSpPr>
            <a:spLocks xmlns:a="http://schemas.openxmlformats.org/drawingml/2006/main" noGrp="1"/>
          </p:cNvSpPr>
          <p:nvPr/>
        </p:nvSpPr>
        <p:spPr>
          <a:xfrm xmlns:a="http://schemas.openxmlformats.org/drawingml/2006/main" flipV="1">
            <a:off x="2190750" y="2928938"/>
            <a:ext cx="3810000" cy="119063"/>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7" name="">
            <a:extLst xmlns:a="http://schemas.openxmlformats.org/drawingml/2006/main">
              <a:ext uri="{FF2B5EF4-FFF2-40B4-BE49-F238E27FC236}">
                <a16:creationId xmlns:a16="http://schemas.microsoft.com/office/drawing/2014/main" id="{BF3F9D7B-DF3B-4649-B52E-35FD0A97224E}"/>
              </a:ext>
            </a:extLst>
          </p:cNvPr>
          <p:cNvSpPr>
            <a:spLocks xmlns:a="http://schemas.openxmlformats.org/drawingml/2006/main" noGrp="1"/>
          </p:cNvSpPr>
          <p:nvPr/>
        </p:nvSpPr>
        <p:spPr>
          <a:xfrm xmlns:a="http://schemas.openxmlformats.org/drawingml/2006/main" flipV="1">
            <a:off x="6000750" y="2262188"/>
            <a:ext cx="3976688" cy="66675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8" name="">
            <a:extLst xmlns:a="http://schemas.openxmlformats.org/drawingml/2006/main">
              <a:ext uri="{FF2B5EF4-FFF2-40B4-BE49-F238E27FC236}">
                <a16:creationId xmlns:a16="http://schemas.microsoft.com/office/drawing/2014/main" id="{C8BE3E63-0AE7-42C5-AE14-CEFA3EEE481B}"/>
              </a:ext>
            </a:extLst>
          </p:cNvPr>
          <p:cNvSpPr>
            <a:spLocks xmlns:a="http://schemas.openxmlformats.org/drawingml/2006/main" noGrp="1"/>
          </p:cNvSpPr>
          <p:nvPr/>
        </p:nvSpPr>
        <p:spPr>
          <a:xfrm xmlns:a="http://schemas.openxmlformats.org/drawingml/2006/main">
            <a:off x="7322344" y="2386013"/>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oplog</a:t>
            </a:r>
          </a:p>
        </p:txBody>
      </p:sp>
      <p:sp>
        <p:nvSpPr>
          <p:cNvPr id="9" name="">
            <a:extLst xmlns:a="http://schemas.openxmlformats.org/drawingml/2006/main">
              <a:ext uri="{FF2B5EF4-FFF2-40B4-BE49-F238E27FC236}">
                <a16:creationId xmlns:a16="http://schemas.microsoft.com/office/drawing/2014/main" id="{02CD4466-1DD4-463E-B960-FFE3ABB3B6A2}"/>
              </a:ext>
            </a:extLst>
          </p:cNvPr>
          <p:cNvSpPr>
            <a:spLocks xmlns:a="http://schemas.openxmlformats.org/drawingml/2006/main" noGrp="1"/>
          </p:cNvSpPr>
          <p:nvPr/>
        </p:nvSpPr>
        <p:spPr>
          <a:xfrm xmlns:a="http://schemas.openxmlformats.org/drawingml/2006/main">
            <a:off x="6000750" y="2928938"/>
            <a:ext cx="3976688" cy="14763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DAE57629-AD16-4FDE-A1A5-F73AC399795C}"/>
              </a:ext>
            </a:extLst>
          </p:cNvPr>
          <p:cNvSpPr>
            <a:spLocks xmlns:a="http://schemas.openxmlformats.org/drawingml/2006/main" noGrp="1"/>
          </p:cNvSpPr>
          <p:nvPr/>
        </p:nvSpPr>
        <p:spPr>
          <a:xfrm xmlns:a="http://schemas.openxmlformats.org/drawingml/2006/main">
            <a:off x="7322344" y="3457575"/>
            <a:ext cx="1333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oplog</a:t>
            </a:r>
          </a:p>
        </p:txBody>
      </p:sp>
      <p:sp>
        <p:nvSpPr>
          <p:cNvPr id="11" name="">
            <a:extLst xmlns:a="http://schemas.openxmlformats.org/drawingml/2006/main">
              <a:ext uri="{FF2B5EF4-FFF2-40B4-BE49-F238E27FC236}">
                <a16:creationId xmlns:a16="http://schemas.microsoft.com/office/drawing/2014/main" id="{960FF578-FA3B-4AA8-80D5-B530A25291BC}"/>
              </a:ext>
            </a:extLst>
          </p:cNvPr>
          <p:cNvSpPr>
            <a:spLocks xmlns:a="http://schemas.openxmlformats.org/drawingml/2006/main" noGrp="1"/>
          </p:cNvSpPr>
          <p:nvPr/>
        </p:nvSpPr>
        <p:spPr>
          <a:xfrm xmlns:a="http://schemas.openxmlformats.org/drawingml/2006/main">
            <a:off x="1000125" y="2524125"/>
            <a:ext cx="2381250" cy="1047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Client write</a:t>
            </a:r>
          </a:p>
        </p:txBody>
      </p:sp>
      <p:sp>
        <p:nvSpPr>
          <p:cNvPr id="12" name="">
            <a:extLst xmlns:a="http://schemas.openxmlformats.org/drawingml/2006/main">
              <a:ext uri="{FF2B5EF4-FFF2-40B4-BE49-F238E27FC236}">
                <a16:creationId xmlns:a16="http://schemas.microsoft.com/office/drawing/2014/main" id="{60BC49F3-517A-4CF8-A5B0-1936AD2646BA}"/>
              </a:ext>
            </a:extLst>
          </p:cNvPr>
          <p:cNvSpPr>
            <a:spLocks xmlns:a="http://schemas.openxmlformats.org/drawingml/2006/main" noGrp="1"/>
          </p:cNvSpPr>
          <p:nvPr/>
        </p:nvSpPr>
        <p:spPr>
          <a:xfrm xmlns:a="http://schemas.openxmlformats.org/drawingml/2006/main">
            <a:off x="1000125" y="366712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ticket_id 1099</a:t>
            </a:r>
          </a:p>
        </p:txBody>
      </p:sp>
      <p:sp>
        <p:nvSpPr>
          <p:cNvPr id="13" name="">
            <a:extLst xmlns:a="http://schemas.openxmlformats.org/drawingml/2006/main">
              <a:ext uri="{FF2B5EF4-FFF2-40B4-BE49-F238E27FC236}">
                <a16:creationId xmlns:a16="http://schemas.microsoft.com/office/drawing/2014/main" id="{3BE6A590-CCF5-463B-B900-155E04AC4CA0}"/>
              </a:ext>
            </a:extLst>
          </p:cNvPr>
          <p:cNvSpPr>
            <a:spLocks xmlns:a="http://schemas.openxmlformats.org/drawingml/2006/main" noGrp="1"/>
          </p:cNvSpPr>
          <p:nvPr/>
        </p:nvSpPr>
        <p:spPr>
          <a:xfrm xmlns:a="http://schemas.openxmlformats.org/drawingml/2006/main">
            <a:off x="4762500" y="2238375"/>
            <a:ext cx="2476500" cy="1381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Primary</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accepts writes</a:t>
            </a:r>
          </a:p>
        </p:txBody>
      </p:sp>
      <p:sp>
        <p:nvSpPr>
          <p:cNvPr id="14" name="">
            <a:extLst xmlns:a="http://schemas.openxmlformats.org/drawingml/2006/main">
              <a:ext uri="{FF2B5EF4-FFF2-40B4-BE49-F238E27FC236}">
                <a16:creationId xmlns:a16="http://schemas.microsoft.com/office/drawing/2014/main" id="{6E38E5E2-0C54-42E1-A9D9-A3711C288DE0}"/>
              </a:ext>
            </a:extLst>
          </p:cNvPr>
          <p:cNvSpPr>
            <a:spLocks xmlns:a="http://schemas.openxmlformats.org/drawingml/2006/main" noGrp="1"/>
          </p:cNvSpPr>
          <p:nvPr/>
        </p:nvSpPr>
        <p:spPr>
          <a:xfrm xmlns:a="http://schemas.openxmlformats.org/drawingml/2006/main">
            <a:off x="4762500" y="37147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records operation in oplog</a:t>
            </a:r>
          </a:p>
        </p:txBody>
      </p:sp>
      <p:sp>
        <p:nvSpPr>
          <p:cNvPr id="15" name="">
            <a:extLst xmlns:a="http://schemas.openxmlformats.org/drawingml/2006/main">
              <a:ext uri="{FF2B5EF4-FFF2-40B4-BE49-F238E27FC236}">
                <a16:creationId xmlns:a16="http://schemas.microsoft.com/office/drawing/2014/main" id="{C07D62A9-1C97-4CF6-9892-848124E828D3}"/>
              </a:ext>
            </a:extLst>
          </p:cNvPr>
          <p:cNvSpPr>
            <a:spLocks xmlns:a="http://schemas.openxmlformats.org/drawingml/2006/main" noGrp="1"/>
          </p:cNvSpPr>
          <p:nvPr/>
        </p:nvSpPr>
        <p:spPr>
          <a:xfrm xmlns:a="http://schemas.openxmlformats.org/drawingml/2006/main">
            <a:off x="8810625" y="1762125"/>
            <a:ext cx="2333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Secondary A</a:t>
            </a:r>
          </a:p>
        </p:txBody>
      </p:sp>
      <p:sp>
        <p:nvSpPr>
          <p:cNvPr id="16" name="">
            <a:extLst xmlns:a="http://schemas.openxmlformats.org/drawingml/2006/main">
              <a:ext uri="{FF2B5EF4-FFF2-40B4-BE49-F238E27FC236}">
                <a16:creationId xmlns:a16="http://schemas.microsoft.com/office/drawing/2014/main" id="{2857BE1C-449A-49F5-A9E2-4E66EA1A6B33}"/>
              </a:ext>
            </a:extLst>
          </p:cNvPr>
          <p:cNvSpPr>
            <a:spLocks xmlns:a="http://schemas.openxmlformats.org/drawingml/2006/main" noGrp="1"/>
          </p:cNvSpPr>
          <p:nvPr/>
        </p:nvSpPr>
        <p:spPr>
          <a:xfrm xmlns:a="http://schemas.openxmlformats.org/drawingml/2006/main">
            <a:off x="8810625" y="2857500"/>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fetches and applies</a:t>
            </a:r>
          </a:p>
        </p:txBody>
      </p:sp>
      <p:sp>
        <p:nvSpPr>
          <p:cNvPr id="17" name="">
            <a:extLst xmlns:a="http://schemas.openxmlformats.org/drawingml/2006/main">
              <a:ext uri="{FF2B5EF4-FFF2-40B4-BE49-F238E27FC236}">
                <a16:creationId xmlns:a16="http://schemas.microsoft.com/office/drawing/2014/main" id="{96215DFB-EC66-4C8A-A8E3-82C7DE713D8D}"/>
              </a:ext>
            </a:extLst>
          </p:cNvPr>
          <p:cNvSpPr>
            <a:spLocks xmlns:a="http://schemas.openxmlformats.org/drawingml/2006/main" noGrp="1"/>
          </p:cNvSpPr>
          <p:nvPr/>
        </p:nvSpPr>
        <p:spPr>
          <a:xfrm xmlns:a="http://schemas.openxmlformats.org/drawingml/2006/main">
            <a:off x="8810625" y="3905250"/>
            <a:ext cx="2333625" cy="100012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Secondary B</a:t>
            </a:r>
          </a:p>
        </p:txBody>
      </p:sp>
      <p:sp>
        <p:nvSpPr>
          <p:cNvPr id="18" name="">
            <a:extLst xmlns:a="http://schemas.openxmlformats.org/drawingml/2006/main">
              <a:ext uri="{FF2B5EF4-FFF2-40B4-BE49-F238E27FC236}">
                <a16:creationId xmlns:a16="http://schemas.microsoft.com/office/drawing/2014/main" id="{29E25D9C-466F-409E-A362-D323DB9F2C20}"/>
              </a:ext>
            </a:extLst>
          </p:cNvPr>
          <p:cNvSpPr>
            <a:spLocks xmlns:a="http://schemas.openxmlformats.org/drawingml/2006/main" noGrp="1"/>
          </p:cNvSpPr>
          <p:nvPr/>
        </p:nvSpPr>
        <p:spPr>
          <a:xfrm xmlns:a="http://schemas.openxmlformats.org/drawingml/2006/main">
            <a:off x="8810625" y="5000625"/>
            <a:ext cx="2333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may temporarily lag</a:t>
            </a:r>
          </a:p>
        </p:txBody>
      </p:sp>
      <p:sp>
        <p:nvSpPr>
          <p:cNvPr id="19" name="">
            <a:extLst xmlns:a="http://schemas.openxmlformats.org/drawingml/2006/main">
              <a:ext uri="{FF2B5EF4-FFF2-40B4-BE49-F238E27FC236}">
                <a16:creationId xmlns:a16="http://schemas.microsoft.com/office/drawing/2014/main" id="{9BF6E575-E4FA-4EAE-874B-9618EDB7AE77}"/>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Members converge on the replica-set history; replication is asynchronous and failover takes time.</a:t>
            </a:r>
          </a:p>
        </p:txBody>
      </p:sp>
    </p:spTree>
    <p:extLst>
      <p:ext uri="{BB962C8B-B14F-4D97-AF65-F5344CB8AC3E}">
        <p14:creationId xmlns:p14="http://schemas.microsoft.com/office/powerpoint/2010/main" val="823406426"/>
      </p:ext>
    </p:extLst>
  </p:cSld>
</p:sld>
</file>

<file path=ppt/slides/slide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6BD13FD-F2C3-4522-AD1A-B27FD089F8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BBCAF252-D137-4F28-8D27-93AA6AAF4F2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167DE7B5-C4EA-4732-84A0-463EEB7F179D}"/>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Write concern defines the acknowledgment a client waits for</a:t>
            </a:r>
          </a:p>
        </p:txBody>
      </p:sp>
      <p:sp>
        <p:nvSpPr>
          <p:cNvPr id="4" name="">
            <a:extLst xmlns:a="http://schemas.openxmlformats.org/drawingml/2006/main">
              <a:ext uri="{FF2B5EF4-FFF2-40B4-BE49-F238E27FC236}">
                <a16:creationId xmlns:a16="http://schemas.microsoft.com/office/drawing/2014/main" id="{8E7E45D5-2614-48B5-87D9-878710730B46}"/>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89FAA9A7-BD39-45C3-9B25-366F638DD8BD}"/>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5</a:t>
            </a:r>
          </a:p>
        </p:txBody>
      </p:sp>
      <p:sp>
        <p:nvSpPr>
          <p:cNvPr id="6" name="primary-claim">
            <a:extLst xmlns:a="http://schemas.openxmlformats.org/drawingml/2006/main">
              <a:ext uri="{FF2B5EF4-FFF2-40B4-BE49-F238E27FC236}">
                <a16:creationId xmlns:a16="http://schemas.microsoft.com/office/drawing/2014/main" id="{86BE243A-2C31-40E6-841F-187556F7274C}"/>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A timeout can leave the application uncertain about whether the write exists.</a:t>
            </a:r>
          </a:p>
        </p:txBody>
      </p:sp>
      <p:sp>
        <p:nvSpPr>
          <p:cNvPr id="7" name="">
            <a:extLst xmlns:a="http://schemas.openxmlformats.org/drawingml/2006/main">
              <a:ext uri="{FF2B5EF4-FFF2-40B4-BE49-F238E27FC236}">
                <a16:creationId xmlns:a16="http://schemas.microsoft.com/office/drawing/2014/main" id="{5F579E90-2D3E-4AC0-A319-1A761359FE1E}"/>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4FF13DCA-3678-42FB-9A54-43DA45ABAF64}"/>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REQUEST</a:t>
            </a:r>
          </a:p>
        </p:txBody>
      </p:sp>
      <p:sp>
        <p:nvSpPr>
          <p:cNvPr id="9" name="">
            <a:extLst xmlns:a="http://schemas.openxmlformats.org/drawingml/2006/main">
              <a:ext uri="{FF2B5EF4-FFF2-40B4-BE49-F238E27FC236}">
                <a16:creationId xmlns:a16="http://schemas.microsoft.com/office/drawing/2014/main" id="{D0E63D88-D7B4-409C-8478-BFF2AB80372F}"/>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The client asks for a required level of acknowledgment, such as majority.</a:t>
            </a:r>
          </a:p>
        </p:txBody>
      </p:sp>
      <p:sp>
        <p:nvSpPr>
          <p:cNvPr id="10" name="">
            <a:extLst xmlns:a="http://schemas.openxmlformats.org/drawingml/2006/main">
              <a:ext uri="{FF2B5EF4-FFF2-40B4-BE49-F238E27FC236}">
                <a16:creationId xmlns:a16="http://schemas.microsoft.com/office/drawing/2014/main" id="{ADA5C50E-9CDD-4CAC-B970-84DC07E8893B}"/>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6CE8B49F-E48B-4F46-8D3C-10EF4F0A4F0A}"/>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COST</a:t>
            </a:r>
          </a:p>
        </p:txBody>
      </p:sp>
      <p:sp>
        <p:nvSpPr>
          <p:cNvPr id="12" name="">
            <a:extLst xmlns:a="http://schemas.openxmlformats.org/drawingml/2006/main">
              <a:ext uri="{FF2B5EF4-FFF2-40B4-BE49-F238E27FC236}">
                <a16:creationId xmlns:a16="http://schemas.microsoft.com/office/drawing/2014/main" id="{BE7F8687-524D-44AD-A2F9-B0A09F36DF92}"/>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More acknowledgment can add latency or make success unavailable during failures.</a:t>
            </a:r>
          </a:p>
        </p:txBody>
      </p:sp>
      <p:sp>
        <p:nvSpPr>
          <p:cNvPr id="13" name="">
            <a:extLst xmlns:a="http://schemas.openxmlformats.org/drawingml/2006/main">
              <a:ext uri="{FF2B5EF4-FFF2-40B4-BE49-F238E27FC236}">
                <a16:creationId xmlns:a16="http://schemas.microsoft.com/office/drawing/2014/main" id="{FBD34386-6E4D-49A2-AB23-50BEA3C1EB72}"/>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AD6898C4-78E0-47F6-96B1-3EA98C674C9D}"/>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AMBIGUITY</a:t>
            </a:r>
          </a:p>
        </p:txBody>
      </p:sp>
      <p:sp>
        <p:nvSpPr>
          <p:cNvPr id="15" name="">
            <a:extLst xmlns:a="http://schemas.openxmlformats.org/drawingml/2006/main">
              <a:ext uri="{FF2B5EF4-FFF2-40B4-BE49-F238E27FC236}">
                <a16:creationId xmlns:a16="http://schemas.microsoft.com/office/drawing/2014/main" id="{347E2C61-61D5-4FC3-AD07-868183910B2E}"/>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 timeout means the condition was not confirmed in time, not necessarily that nothing wrote.</a:t>
            </a:r>
          </a:p>
        </p:txBody>
      </p:sp>
    </p:spTree>
    <p:extLst>
      <p:ext uri="{BB962C8B-B14F-4D97-AF65-F5344CB8AC3E}">
        <p14:creationId xmlns:p14="http://schemas.microsoft.com/office/powerpoint/2010/main" val="647871232"/>
      </p:ext>
    </p:extLst>
  </p:cSld>
</p:sld>
</file>

<file path=ppt/slides/slide6.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531BC0C-F00F-409C-9DD3-BD45AD61767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A46C7BCE-CDDA-41B3-87DF-9A086D76E62D}"/>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DFFDF1A6-FFF7-4FDA-A235-84F8B35051B2}"/>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Read preference selects a member; concern limits visibility</a:t>
            </a:r>
          </a:p>
        </p:txBody>
      </p:sp>
      <p:sp>
        <p:nvSpPr>
          <p:cNvPr id="4" name="">
            <a:extLst xmlns:a="http://schemas.openxmlformats.org/drawingml/2006/main">
              <a:ext uri="{FF2B5EF4-FFF2-40B4-BE49-F238E27FC236}">
                <a16:creationId xmlns:a16="http://schemas.microsoft.com/office/drawing/2014/main" id="{981A9605-6F62-4DCE-870C-4DA5A81F736B}"/>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67921CFD-0185-4620-8A5E-CCB002A951B5}"/>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6</a:t>
            </a:r>
          </a:p>
        </p:txBody>
      </p:sp>
      <p:sp>
        <p:nvSpPr>
          <p:cNvPr id="6" name="">
            <a:extLst xmlns:a="http://schemas.openxmlformats.org/drawingml/2006/main">
              <a:ext uri="{FF2B5EF4-FFF2-40B4-BE49-F238E27FC236}">
                <a16:creationId xmlns:a16="http://schemas.microsoft.com/office/drawing/2014/main" id="{AA742CE0-895B-4168-9045-5A00D452E194}"/>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Read preference</a:t>
            </a:r>
          </a:p>
        </p:txBody>
      </p:sp>
      <p:sp>
        <p:nvSpPr>
          <p:cNvPr id="7" name="">
            <a:extLst xmlns:a="http://schemas.openxmlformats.org/drawingml/2006/main">
              <a:ext uri="{FF2B5EF4-FFF2-40B4-BE49-F238E27FC236}">
                <a16:creationId xmlns:a16="http://schemas.microsoft.com/office/drawing/2014/main" id="{E49FDCA8-EF92-424F-BE3F-E4C6A8F279CA}"/>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Read concern</a:t>
            </a:r>
          </a:p>
        </p:txBody>
      </p:sp>
      <p:sp>
        <p:nvSpPr>
          <p:cNvPr id="8" name="">
            <a:extLst xmlns:a="http://schemas.openxmlformats.org/drawingml/2006/main">
              <a:ext uri="{FF2B5EF4-FFF2-40B4-BE49-F238E27FC236}">
                <a16:creationId xmlns:a16="http://schemas.microsoft.com/office/drawing/2014/main" id="{7F627EA6-9FA8-4ADF-9FFC-2236FD652B36}"/>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751E9BFE-517E-4799-AA05-B52C216404E3}"/>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5144B491-9933-4F82-AEEC-A0DCCFB813FB}"/>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Selects eligible members such as primary or secondary-preferred</a:t>
            </a:r>
          </a:p>
        </p:txBody>
      </p:sp>
      <p:sp>
        <p:nvSpPr>
          <p:cNvPr id="11" name="">
            <a:extLst xmlns:a="http://schemas.openxmlformats.org/drawingml/2006/main">
              <a:ext uri="{FF2B5EF4-FFF2-40B4-BE49-F238E27FC236}">
                <a16:creationId xmlns:a16="http://schemas.microsoft.com/office/drawing/2014/main" id="{F392DA27-C623-40DE-A0E3-291C10957B63}"/>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CABF2F22-AD04-4310-8F87-23810DE4EB15}"/>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serve locality or read-distribution goals</a:t>
            </a:r>
          </a:p>
        </p:txBody>
      </p:sp>
      <p:sp>
        <p:nvSpPr>
          <p:cNvPr id="13" name="">
            <a:extLst xmlns:a="http://schemas.openxmlformats.org/drawingml/2006/main">
              <a:ext uri="{FF2B5EF4-FFF2-40B4-BE49-F238E27FC236}">
                <a16:creationId xmlns:a16="http://schemas.microsoft.com/office/drawing/2014/main" id="{DF2D2796-FB16-465F-88EF-0A823E3A4997}"/>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F06BCC34-12D3-4F63-B9C8-46616E464435}"/>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A secondary may be behind the primary</a:t>
            </a:r>
          </a:p>
        </p:txBody>
      </p:sp>
      <p:sp>
        <p:nvSpPr>
          <p:cNvPr id="15" name="">
            <a:extLst xmlns:a="http://schemas.openxmlformats.org/drawingml/2006/main">
              <a:ext uri="{FF2B5EF4-FFF2-40B4-BE49-F238E27FC236}">
                <a16:creationId xmlns:a16="http://schemas.microsoft.com/office/drawing/2014/main" id="{EFB0CD10-5FDE-44E6-9C0C-2711B156CFF5}"/>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85BF8A1A-3EC4-4EFC-A822-92237E1F1B00}"/>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Defines consistency and isolation properties of returned data</a:t>
            </a:r>
          </a:p>
        </p:txBody>
      </p:sp>
      <p:sp>
        <p:nvSpPr>
          <p:cNvPr id="17" name="">
            <a:extLst xmlns:a="http://schemas.openxmlformats.org/drawingml/2006/main">
              <a:ext uri="{FF2B5EF4-FFF2-40B4-BE49-F238E27FC236}">
                <a16:creationId xmlns:a16="http://schemas.microsoft.com/office/drawing/2014/main" id="{6F3C34D6-5CAA-4786-9E5C-A3B73505B5B7}"/>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57449F2E-02DE-42F1-AB44-563823B87B2E}"/>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Interacts with sessions, topology, and write concern</a:t>
            </a:r>
          </a:p>
        </p:txBody>
      </p:sp>
      <p:sp>
        <p:nvSpPr>
          <p:cNvPr id="19" name="">
            <a:extLst xmlns:a="http://schemas.openxmlformats.org/drawingml/2006/main">
              <a:ext uri="{FF2B5EF4-FFF2-40B4-BE49-F238E27FC236}">
                <a16:creationId xmlns:a16="http://schemas.microsoft.com/office/drawing/2014/main" id="{638A6069-67C0-465F-9834-33B8DE2A4E2A}"/>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320D44B0-8CAF-407E-A79D-24977030B000}"/>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Does not choose which member receives the read</a:t>
            </a:r>
          </a:p>
        </p:txBody>
      </p:sp>
    </p:spTree>
    <p:extLst>
      <p:ext uri="{BB962C8B-B14F-4D97-AF65-F5344CB8AC3E}">
        <p14:creationId xmlns:p14="http://schemas.microsoft.com/office/powerpoint/2010/main" val="719073914"/>
      </p:ext>
    </p:extLst>
  </p:cSld>
</p:sld>
</file>

<file path=ppt/slides/slide7.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3D8DD37-9B03-464A-81B3-950BA26135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2033638B-4641-409F-9BC8-D56615F1A03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ECD82A73-523A-432F-BCB1-11BF6FB136A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partition forces an operation-specific choice</a:t>
            </a:r>
          </a:p>
        </p:txBody>
      </p:sp>
      <p:sp>
        <p:nvSpPr>
          <p:cNvPr id="4" name="">
            <a:extLst xmlns:a="http://schemas.openxmlformats.org/drawingml/2006/main">
              <a:ext uri="{FF2B5EF4-FFF2-40B4-BE49-F238E27FC236}">
                <a16:creationId xmlns:a16="http://schemas.microsoft.com/office/drawing/2014/main" id="{40E8FA1E-FE00-441A-81B0-399C484E4800}"/>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F149DFB9-25D2-4057-B3AC-36D977953C5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7</a:t>
            </a:r>
          </a:p>
        </p:txBody>
      </p:sp>
      <p:sp>
        <p:nvSpPr>
          <p:cNvPr id="6" name="">
            <a:extLst xmlns:a="http://schemas.openxmlformats.org/drawingml/2006/main">
              <a:ext uri="{FF2B5EF4-FFF2-40B4-BE49-F238E27FC236}">
                <a16:creationId xmlns:a16="http://schemas.microsoft.com/office/drawing/2014/main" id="{C3CB0F49-1E5B-4EC6-AD62-79B044DFF62D}"/>
              </a:ext>
            </a:extLst>
          </p:cNvPr>
          <p:cNvSpPr>
            <a:spLocks xmlns:a="http://schemas.openxmlformats.org/drawingml/2006/main" noGrp="1"/>
          </p:cNvSpPr>
          <p:nvPr/>
        </p:nvSpPr>
        <p:spPr>
          <a:xfrm xmlns:a="http://schemas.openxmlformats.org/drawingml/2006/main">
            <a:off x="2214563" y="3119438"/>
            <a:ext cx="3833813" cy="0"/>
          </a:xfrm>
          <a:prstGeom xmlns:a="http://schemas.openxmlformats.org/drawingml/2006/main" prst="line">
            <a:avLst/>
          </a:prstGeom>
          <a:noFill xmlns:a="http://schemas.openxmlformats.org/drawingml/2006/main"/>
          <a:ln xmlns:a="http://schemas.openxmlformats.org/drawingml/2006/main" w="28575">
            <a:solidFill>
              <a:srgbClr val="CBD5E1"/>
            </a:solidFill>
            <a:prstDash val="dash"/>
          </a:ln>
        </p:spPr>
      </p:sp>
      <p:sp>
        <p:nvSpPr>
          <p:cNvPr id="7" name="">
            <a:extLst xmlns:a="http://schemas.openxmlformats.org/drawingml/2006/main">
              <a:ext uri="{FF2B5EF4-FFF2-40B4-BE49-F238E27FC236}">
                <a16:creationId xmlns:a16="http://schemas.microsoft.com/office/drawing/2014/main" id="{ADA16937-EB7C-4A86-98FF-DAD83CFE997B}"/>
              </a:ext>
            </a:extLst>
          </p:cNvPr>
          <p:cNvSpPr>
            <a:spLocks xmlns:a="http://schemas.openxmlformats.org/drawingml/2006/main" noGrp="1"/>
          </p:cNvSpPr>
          <p:nvPr/>
        </p:nvSpPr>
        <p:spPr>
          <a:xfrm xmlns:a="http://schemas.openxmlformats.org/drawingml/2006/main">
            <a:off x="6048375" y="3119438"/>
            <a:ext cx="3833813" cy="0"/>
          </a:xfrm>
          <a:prstGeom xmlns:a="http://schemas.openxmlformats.org/drawingml/2006/main" prst="line">
            <a:avLst/>
          </a:prstGeom>
          <a:noFill xmlns:a="http://schemas.openxmlformats.org/drawingml/2006/main"/>
          <a:ln xmlns:a="http://schemas.openxmlformats.org/drawingml/2006/main" w="28575">
            <a:solidFill>
              <a:srgbClr val="CBD5E1"/>
            </a:solidFill>
            <a:prstDash val="dash"/>
          </a:ln>
        </p:spPr>
      </p:sp>
      <p:sp>
        <p:nvSpPr>
          <p:cNvPr id="8" name="">
            <a:extLst xmlns:a="http://schemas.openxmlformats.org/drawingml/2006/main">
              <a:ext uri="{FF2B5EF4-FFF2-40B4-BE49-F238E27FC236}">
                <a16:creationId xmlns:a16="http://schemas.microsoft.com/office/drawing/2014/main" id="{BF34A487-0059-4FCA-803F-C889E065A858}"/>
              </a:ext>
            </a:extLst>
          </p:cNvPr>
          <p:cNvSpPr>
            <a:spLocks xmlns:a="http://schemas.openxmlformats.org/drawingml/2006/main" noGrp="1"/>
          </p:cNvSpPr>
          <p:nvPr/>
        </p:nvSpPr>
        <p:spPr>
          <a:xfrm xmlns:a="http://schemas.openxmlformats.org/drawingml/2006/main">
            <a:off x="904875" y="2381250"/>
            <a:ext cx="2619375" cy="1476375"/>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Majority side</a:t>
            </a:r>
          </a:p>
          <a:p xmlns:a="http://schemas.openxmlformats.org/drawingml/2006/main">
            <a:pPr algn="ctr">
              <a:buNone/>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2 voting members</a:t>
            </a:r>
          </a:p>
        </p:txBody>
      </p:sp>
      <p:sp>
        <p:nvSpPr>
          <p:cNvPr id="9" name="">
            <a:extLst xmlns:a="http://schemas.openxmlformats.org/drawingml/2006/main">
              <a:ext uri="{FF2B5EF4-FFF2-40B4-BE49-F238E27FC236}">
                <a16:creationId xmlns:a16="http://schemas.microsoft.com/office/drawing/2014/main" id="{10ED6FBB-904A-4E29-B744-81533A53712C}"/>
              </a:ext>
            </a:extLst>
          </p:cNvPr>
          <p:cNvSpPr>
            <a:spLocks xmlns:a="http://schemas.openxmlformats.org/drawingml/2006/main" noGrp="1"/>
          </p:cNvSpPr>
          <p:nvPr/>
        </p:nvSpPr>
        <p:spPr>
          <a:xfrm xmlns:a="http://schemas.openxmlformats.org/drawingml/2006/main">
            <a:off x="904875" y="3952875"/>
            <a:ext cx="2619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can agree on one primary</a:t>
            </a:r>
          </a:p>
        </p:txBody>
      </p:sp>
      <p:sp>
        <p:nvSpPr>
          <p:cNvPr id="10" name="">
            <a:extLst xmlns:a="http://schemas.openxmlformats.org/drawingml/2006/main">
              <a:ext uri="{FF2B5EF4-FFF2-40B4-BE49-F238E27FC236}">
                <a16:creationId xmlns:a16="http://schemas.microsoft.com/office/drawing/2014/main" id="{26F9F441-7A84-4733-A04C-83696866A8CF}"/>
              </a:ext>
            </a:extLst>
          </p:cNvPr>
          <p:cNvSpPr>
            <a:spLocks xmlns:a="http://schemas.openxmlformats.org/drawingml/2006/main" noGrp="1"/>
          </p:cNvSpPr>
          <p:nvPr/>
        </p:nvSpPr>
        <p:spPr>
          <a:xfrm xmlns:a="http://schemas.openxmlformats.org/drawingml/2006/main">
            <a:off x="4810125" y="1762125"/>
            <a:ext cx="2476500" cy="2714625"/>
          </a:xfrm>
          <a:prstGeom xmlns:a="http://schemas.openxmlformats.org/drawingml/2006/main" prst="rect">
            <a:avLst/>
          </a:prstGeom>
          <a:solidFill xmlns:a="http://schemas.openxmlformats.org/drawingml/2006/main">
            <a:srgbClr val="F8FAFC"/>
          </a:solidFill>
          <a:ln xmlns:a="http://schemas.openxmlformats.org/drawingml/2006/main" w="9525">
            <a:solidFill>
              <a:srgbClr val="94A3B8"/>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Network partition</a:t>
            </a:r>
          </a:p>
        </p:txBody>
      </p:sp>
      <p:sp>
        <p:nvSpPr>
          <p:cNvPr id="11" name="">
            <a:extLst xmlns:a="http://schemas.openxmlformats.org/drawingml/2006/main">
              <a:ext uri="{FF2B5EF4-FFF2-40B4-BE49-F238E27FC236}">
                <a16:creationId xmlns:a16="http://schemas.microsoft.com/office/drawing/2014/main" id="{87BE215E-5D66-4488-8540-143F4A1845F0}"/>
              </a:ext>
            </a:extLst>
          </p:cNvPr>
          <p:cNvSpPr>
            <a:spLocks xmlns:a="http://schemas.openxmlformats.org/drawingml/2006/main" noGrp="1"/>
          </p:cNvSpPr>
          <p:nvPr/>
        </p:nvSpPr>
        <p:spPr>
          <a:xfrm xmlns:a="http://schemas.openxmlformats.org/drawingml/2006/main">
            <a:off x="4810125" y="457200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messages are lost or delayed between sides</a:t>
            </a:r>
          </a:p>
        </p:txBody>
      </p:sp>
      <p:sp>
        <p:nvSpPr>
          <p:cNvPr id="12" name="">
            <a:extLst xmlns:a="http://schemas.openxmlformats.org/drawingml/2006/main">
              <a:ext uri="{FF2B5EF4-FFF2-40B4-BE49-F238E27FC236}">
                <a16:creationId xmlns:a16="http://schemas.microsoft.com/office/drawing/2014/main" id="{DFD340B7-B2A4-4BC2-AAD7-D40AF6BAF0E9}"/>
              </a:ext>
            </a:extLst>
          </p:cNvPr>
          <p:cNvSpPr>
            <a:spLocks xmlns:a="http://schemas.openxmlformats.org/drawingml/2006/main" noGrp="1"/>
          </p:cNvSpPr>
          <p:nvPr/>
        </p:nvSpPr>
        <p:spPr>
          <a:xfrm xmlns:a="http://schemas.openxmlformats.org/drawingml/2006/main">
            <a:off x="8572500" y="2381250"/>
            <a:ext cx="2619375" cy="1476375"/>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lIns="95250" tIns="95250" rIns="95250" bIns="95250" anchor="ctr">
            <a:normAutofit fontScale="100000"/>
          </a:bodyPr>
          <a:lstStyle xmlns:a="http://schemas.openxmlformats.org/drawingml/2006/main"/>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Isolated side</a:t>
            </a:r>
          </a:p>
          <a:p xmlns:a="http://schemas.openxmlformats.org/drawingml/2006/main">
            <a:pPr algn="ctr">
              <a:buNone/>
              <a:defRPr sz="1575" b="1">
                <a:solidFill>
                  <a:srgbClr val="111827"/>
                </a:solidFill>
                <a:latin typeface="Helvetica Neue"/>
                <a:ea typeface="Helvetica Neue"/>
                <a:cs typeface="Helvetica Neue"/>
              </a:defRPr>
            </a:pPr>
            <a:r>
              <a:rPr sz="1575" b="1">
                <a:solidFill>
                  <a:srgbClr val="111827"/>
                </a:solidFill>
                <a:latin typeface="Helvetica Neue"/>
                <a:ea typeface="Helvetica Neue"/>
                <a:cs typeface="Helvetica Neue"/>
              </a:rPr>
              <a:t>1 voting member</a:t>
            </a:r>
          </a:p>
        </p:txBody>
      </p:sp>
      <p:sp>
        <p:nvSpPr>
          <p:cNvPr id="13" name="">
            <a:extLst xmlns:a="http://schemas.openxmlformats.org/drawingml/2006/main">
              <a:ext uri="{FF2B5EF4-FFF2-40B4-BE49-F238E27FC236}">
                <a16:creationId xmlns:a16="http://schemas.microsoft.com/office/drawing/2014/main" id="{519F34E3-E777-41E6-8D4B-44657AA73C07}"/>
              </a:ext>
            </a:extLst>
          </p:cNvPr>
          <p:cNvSpPr>
            <a:spLocks xmlns:a="http://schemas.openxmlformats.org/drawingml/2006/main" noGrp="1"/>
          </p:cNvSpPr>
          <p:nvPr/>
        </p:nvSpPr>
        <p:spPr>
          <a:xfrm xmlns:a="http://schemas.openxmlformats.org/drawingml/2006/main">
            <a:off x="8572500" y="3952875"/>
            <a:ext cx="2619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125">
                <a:solidFill>
                  <a:srgbClr val="475569"/>
                </a:solidFill>
                <a:latin typeface="Helvetica Neue"/>
                <a:ea typeface="Helvetica Neue"/>
                <a:cs typeface="Helvetica Neue"/>
              </a:defRPr>
            </a:pPr>
            <a:r>
              <a:rPr sz="1125">
                <a:solidFill>
                  <a:srgbClr val="475569"/>
                </a:solidFill>
                <a:latin typeface="Helvetica Neue"/>
                <a:ea typeface="Helvetica Neue"/>
                <a:cs typeface="Helvetica Neue"/>
              </a:rPr>
              <a:t>cannot form a voting majority</a:t>
            </a:r>
          </a:p>
        </p:txBody>
      </p:sp>
      <p:sp>
        <p:nvSpPr>
          <p:cNvPr id="14" name="">
            <a:extLst xmlns:a="http://schemas.openxmlformats.org/drawingml/2006/main">
              <a:ext uri="{FF2B5EF4-FFF2-40B4-BE49-F238E27FC236}">
                <a16:creationId xmlns:a16="http://schemas.microsoft.com/office/drawing/2014/main" id="{6F429FD4-2DA3-4F61-AC25-0AB40E963522}"/>
              </a:ext>
            </a:extLst>
          </p:cNvPr>
          <p:cNvSpPr>
            <a:spLocks xmlns:a="http://schemas.openxmlformats.org/drawingml/2006/main" noGrp="1"/>
          </p:cNvSpPr>
          <p:nvPr/>
        </p:nvSpPr>
        <p:spPr>
          <a:xfrm xmlns:a="http://schemas.openxmlformats.org/drawingml/2006/main">
            <a:off x="895350" y="5667375"/>
            <a:ext cx="1038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350">
                <a:solidFill>
                  <a:srgbClr val="475569"/>
                </a:solidFill>
                <a:latin typeface="Helvetica Neue"/>
                <a:ea typeface="Helvetica Neue"/>
                <a:cs typeface="Helvetica Neue"/>
              </a:defRPr>
            </a:pPr>
            <a:r>
              <a:rPr sz="1350">
                <a:solidFill>
                  <a:srgbClr val="475569"/>
                </a:solidFill>
                <a:latin typeface="Helvetica Neue"/>
                <a:ea typeface="Helvetica Neue"/>
                <a:cs typeface="Helvetica Neue"/>
              </a:rPr>
              <a:t>Preserving one current write history can require rejecting or delaying operations on one side.</a:t>
            </a:r>
          </a:p>
        </p:txBody>
      </p:sp>
    </p:spTree>
    <p:extLst>
      <p:ext uri="{BB962C8B-B14F-4D97-AF65-F5344CB8AC3E}">
        <p14:creationId xmlns:p14="http://schemas.microsoft.com/office/powerpoint/2010/main" val="718455628"/>
      </p:ext>
    </p:extLst>
  </p:cSld>
</p:sld>
</file>

<file path=ppt/slides/slide8.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DB626A52-129A-4744-A89C-C0A79A352A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7B72FDAF-DF6A-4253-A073-6A529F76B074}"/>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9EA7BB42-2D88-4DFB-92E6-4EFA433F76C3}"/>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Reliability settings should follow user expectations</a:t>
            </a:r>
          </a:p>
        </p:txBody>
      </p:sp>
      <p:sp>
        <p:nvSpPr>
          <p:cNvPr id="4" name="">
            <a:extLst xmlns:a="http://schemas.openxmlformats.org/drawingml/2006/main">
              <a:ext uri="{FF2B5EF4-FFF2-40B4-BE49-F238E27FC236}">
                <a16:creationId xmlns:a16="http://schemas.microsoft.com/office/drawing/2014/main" id="{6B9C2C8D-9FBC-46EE-9406-F702CB5FB723}"/>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DC9742B-A899-46C3-876D-06DC1FCFBFA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6838BA0D-BCDF-4A2A-920A-A944EB9F5B18}"/>
              </a:ext>
            </a:extLst>
          </p:cNvPr>
          <p:cNvSpPr>
            <a:spLocks xmlns:a="http://schemas.openxmlformats.org/drawingml/2006/main" noGrp="1"/>
          </p:cNvSpPr>
          <p:nvPr/>
        </p:nvSpPr>
        <p:spPr>
          <a:xfrm xmlns:a="http://schemas.openxmlformats.org/drawingml/2006/main">
            <a:off x="685800" y="1714500"/>
            <a:ext cx="3048000" cy="5143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7" name="">
            <a:extLst xmlns:a="http://schemas.openxmlformats.org/drawingml/2006/main">
              <a:ext uri="{FF2B5EF4-FFF2-40B4-BE49-F238E27FC236}">
                <a16:creationId xmlns:a16="http://schemas.microsoft.com/office/drawing/2014/main" id="{F48CFB14-5D67-432B-B8D4-7E56BE1D571E}"/>
              </a:ext>
            </a:extLst>
          </p:cNvPr>
          <p:cNvSpPr>
            <a:spLocks xmlns:a="http://schemas.openxmlformats.org/drawingml/2006/main" noGrp="1"/>
          </p:cNvSpPr>
          <p:nvPr/>
        </p:nvSpPr>
        <p:spPr>
          <a:xfrm xmlns:a="http://schemas.openxmlformats.org/drawingml/2006/main">
            <a:off x="762000" y="18097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Workload expectation</a:t>
            </a:r>
          </a:p>
        </p:txBody>
      </p:sp>
      <p:sp>
        <p:nvSpPr>
          <p:cNvPr id="8" name="">
            <a:extLst xmlns:a="http://schemas.openxmlformats.org/drawingml/2006/main">
              <a:ext uri="{FF2B5EF4-FFF2-40B4-BE49-F238E27FC236}">
                <a16:creationId xmlns:a16="http://schemas.microsoft.com/office/drawing/2014/main" id="{B4CF11C1-4C26-449E-BDAB-93F23F7121E5}"/>
              </a:ext>
            </a:extLst>
          </p:cNvPr>
          <p:cNvSpPr>
            <a:spLocks xmlns:a="http://schemas.openxmlformats.org/drawingml/2006/main" noGrp="1"/>
          </p:cNvSpPr>
          <p:nvPr/>
        </p:nvSpPr>
        <p:spPr>
          <a:xfrm xmlns:a="http://schemas.openxmlformats.org/drawingml/2006/main">
            <a:off x="3733800" y="1714500"/>
            <a:ext cx="26670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D26D11D8-7A4E-48A3-B750-B41EA46961C2}"/>
              </a:ext>
            </a:extLst>
          </p:cNvPr>
          <p:cNvSpPr>
            <a:spLocks xmlns:a="http://schemas.openxmlformats.org/drawingml/2006/main" noGrp="1"/>
          </p:cNvSpPr>
          <p:nvPr/>
        </p:nvSpPr>
        <p:spPr>
          <a:xfrm xmlns:a="http://schemas.openxmlformats.org/drawingml/2006/main">
            <a:off x="3810000" y="1809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Candidate decision</a:t>
            </a:r>
          </a:p>
        </p:txBody>
      </p:sp>
      <p:sp>
        <p:nvSpPr>
          <p:cNvPr id="10" name="">
            <a:extLst xmlns:a="http://schemas.openxmlformats.org/drawingml/2006/main">
              <a:ext uri="{FF2B5EF4-FFF2-40B4-BE49-F238E27FC236}">
                <a16:creationId xmlns:a16="http://schemas.microsoft.com/office/drawing/2014/main" id="{943F8593-44DE-4A4C-B215-94A74470A155}"/>
              </a:ext>
            </a:extLst>
          </p:cNvPr>
          <p:cNvSpPr>
            <a:spLocks xmlns:a="http://schemas.openxmlformats.org/drawingml/2006/main" noGrp="1"/>
          </p:cNvSpPr>
          <p:nvPr/>
        </p:nvSpPr>
        <p:spPr>
          <a:xfrm xmlns:a="http://schemas.openxmlformats.org/drawingml/2006/main">
            <a:off x="6400800" y="1714500"/>
            <a:ext cx="24765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F7BB7706-1F7C-4305-B735-59D7116665D9}"/>
              </a:ext>
            </a:extLst>
          </p:cNvPr>
          <p:cNvSpPr>
            <a:spLocks xmlns:a="http://schemas.openxmlformats.org/drawingml/2006/main" noGrp="1"/>
          </p:cNvSpPr>
          <p:nvPr/>
        </p:nvSpPr>
        <p:spPr>
          <a:xfrm xmlns:a="http://schemas.openxmlformats.org/drawingml/2006/main">
            <a:off x="6477000" y="1809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Mechanism</a:t>
            </a:r>
          </a:p>
        </p:txBody>
      </p:sp>
      <p:sp>
        <p:nvSpPr>
          <p:cNvPr id="12" name="">
            <a:extLst xmlns:a="http://schemas.openxmlformats.org/drawingml/2006/main">
              <a:ext uri="{FF2B5EF4-FFF2-40B4-BE49-F238E27FC236}">
                <a16:creationId xmlns:a16="http://schemas.microsoft.com/office/drawing/2014/main" id="{130A4724-D938-4FCA-A5F4-E10542E6EB4B}"/>
              </a:ext>
            </a:extLst>
          </p:cNvPr>
          <p:cNvSpPr>
            <a:spLocks xmlns:a="http://schemas.openxmlformats.org/drawingml/2006/main" noGrp="1"/>
          </p:cNvSpPr>
          <p:nvPr/>
        </p:nvSpPr>
        <p:spPr>
          <a:xfrm xmlns:a="http://schemas.openxmlformats.org/drawingml/2006/main">
            <a:off x="8877300" y="1714500"/>
            <a:ext cx="2628900" cy="514350"/>
          </a:xfrm>
          <a:prstGeom xmlns:a="http://schemas.openxmlformats.org/drawingml/2006/main" prst="rect">
            <a:avLst/>
          </a:prstGeom>
          <a:solidFill xmlns:a="http://schemas.openxmlformats.org/drawingml/2006/main">
            <a:srgbClr val="E2E8F0"/>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BB08C830-F7A9-4B9E-B943-D0104B61E8D3}"/>
              </a:ext>
            </a:extLst>
          </p:cNvPr>
          <p:cNvSpPr>
            <a:spLocks xmlns:a="http://schemas.openxmlformats.org/drawingml/2006/main" noGrp="1"/>
          </p:cNvSpPr>
          <p:nvPr/>
        </p:nvSpPr>
        <p:spPr>
          <a:xfrm xmlns:a="http://schemas.openxmlformats.org/drawingml/2006/main">
            <a:off x="8953500" y="18097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75" b="1">
                <a:solidFill>
                  <a:srgbClr val="111827"/>
                </a:solidFill>
                <a:latin typeface="Helvetica Neue"/>
                <a:ea typeface="Helvetica Neue"/>
                <a:cs typeface="Helvetica Neue"/>
              </a:defRPr>
            </a:pPr>
            <a:r>
              <a:rPr sz="1275" b="1">
                <a:solidFill>
                  <a:srgbClr val="111827"/>
                </a:solidFill>
                <a:latin typeface="Helvetica Neue"/>
                <a:ea typeface="Helvetica Neue"/>
                <a:cs typeface="Helvetica Neue"/>
              </a:rPr>
              <a:t>Cost or limit</a:t>
            </a:r>
          </a:p>
        </p:txBody>
      </p:sp>
      <p:sp>
        <p:nvSpPr>
          <p:cNvPr id="14" name="">
            <a:extLst xmlns:a="http://schemas.openxmlformats.org/drawingml/2006/main">
              <a:ext uri="{FF2B5EF4-FFF2-40B4-BE49-F238E27FC236}">
                <a16:creationId xmlns:a16="http://schemas.microsoft.com/office/drawing/2014/main" id="{2FA8BAF7-B03F-483C-84BA-A6492AE497A0}"/>
              </a:ext>
            </a:extLst>
          </p:cNvPr>
          <p:cNvSpPr>
            <a:spLocks xmlns:a="http://schemas.openxmlformats.org/drawingml/2006/main" noGrp="1"/>
          </p:cNvSpPr>
          <p:nvPr/>
        </p:nvSpPr>
        <p:spPr>
          <a:xfrm xmlns:a="http://schemas.openxmlformats.org/drawingml/2006/main">
            <a:off x="685800" y="2228850"/>
            <a:ext cx="304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81732092-0093-44FC-BFA7-F74252417F5E}"/>
              </a:ext>
            </a:extLst>
          </p:cNvPr>
          <p:cNvSpPr>
            <a:spLocks xmlns:a="http://schemas.openxmlformats.org/drawingml/2006/main" noGrp="1"/>
          </p:cNvSpPr>
          <p:nvPr/>
        </p:nvSpPr>
        <p:spPr>
          <a:xfrm xmlns:a="http://schemas.openxmlformats.org/drawingml/2006/main">
            <a:off x="762000" y="230505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Confirmed ticket survives minority member loss</a:t>
            </a:r>
          </a:p>
        </p:txBody>
      </p:sp>
      <p:sp>
        <p:nvSpPr>
          <p:cNvPr id="16" name="">
            <a:extLst xmlns:a="http://schemas.openxmlformats.org/drawingml/2006/main">
              <a:ext uri="{FF2B5EF4-FFF2-40B4-BE49-F238E27FC236}">
                <a16:creationId xmlns:a16="http://schemas.microsoft.com/office/drawing/2014/main" id="{F730C7E4-A86F-4AA3-A83C-3FD58EDBCD18}"/>
              </a:ext>
            </a:extLst>
          </p:cNvPr>
          <p:cNvSpPr>
            <a:spLocks xmlns:a="http://schemas.openxmlformats.org/drawingml/2006/main" noGrp="1"/>
          </p:cNvSpPr>
          <p:nvPr/>
        </p:nvSpPr>
        <p:spPr>
          <a:xfrm xmlns:a="http://schemas.openxmlformats.org/drawingml/2006/main">
            <a:off x="3733800" y="2228850"/>
            <a:ext cx="2667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C3B03FF9-F8E6-4CB8-B168-31424DAB5BF7}"/>
              </a:ext>
            </a:extLst>
          </p:cNvPr>
          <p:cNvSpPr>
            <a:spLocks xmlns:a="http://schemas.openxmlformats.org/drawingml/2006/main" noGrp="1"/>
          </p:cNvSpPr>
          <p:nvPr/>
        </p:nvSpPr>
        <p:spPr>
          <a:xfrm xmlns:a="http://schemas.openxmlformats.org/drawingml/2006/main">
            <a:off x="3810000" y="230505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majority acknowledgment</a:t>
            </a:r>
          </a:p>
        </p:txBody>
      </p:sp>
      <p:sp>
        <p:nvSpPr>
          <p:cNvPr id="18" name="">
            <a:extLst xmlns:a="http://schemas.openxmlformats.org/drawingml/2006/main">
              <a:ext uri="{FF2B5EF4-FFF2-40B4-BE49-F238E27FC236}">
                <a16:creationId xmlns:a16="http://schemas.microsoft.com/office/drawing/2014/main" id="{0A4767F4-87F2-4BDC-8C4E-B0F488B12832}"/>
              </a:ext>
            </a:extLst>
          </p:cNvPr>
          <p:cNvSpPr>
            <a:spLocks xmlns:a="http://schemas.openxmlformats.org/drawingml/2006/main" noGrp="1"/>
          </p:cNvSpPr>
          <p:nvPr/>
        </p:nvSpPr>
        <p:spPr>
          <a:xfrm xmlns:a="http://schemas.openxmlformats.org/drawingml/2006/main">
            <a:off x="6400800" y="22288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E060683F-FDD8-42E2-ADA8-F6CCF53520B0}"/>
              </a:ext>
            </a:extLst>
          </p:cNvPr>
          <p:cNvSpPr>
            <a:spLocks xmlns:a="http://schemas.openxmlformats.org/drawingml/2006/main" noGrp="1"/>
          </p:cNvSpPr>
          <p:nvPr/>
        </p:nvSpPr>
        <p:spPr>
          <a:xfrm xmlns:a="http://schemas.openxmlformats.org/drawingml/2006/main">
            <a:off x="6477000" y="23050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replica-set acknowledgment</a:t>
            </a:r>
          </a:p>
        </p:txBody>
      </p:sp>
      <p:sp>
        <p:nvSpPr>
          <p:cNvPr id="20" name="">
            <a:extLst xmlns:a="http://schemas.openxmlformats.org/drawingml/2006/main">
              <a:ext uri="{FF2B5EF4-FFF2-40B4-BE49-F238E27FC236}">
                <a16:creationId xmlns:a16="http://schemas.microsoft.com/office/drawing/2014/main" id="{ABD90C77-7B72-4845-8612-F5E7ABD128C6}"/>
              </a:ext>
            </a:extLst>
          </p:cNvPr>
          <p:cNvSpPr>
            <a:spLocks xmlns:a="http://schemas.openxmlformats.org/drawingml/2006/main" noGrp="1"/>
          </p:cNvSpPr>
          <p:nvPr/>
        </p:nvSpPr>
        <p:spPr>
          <a:xfrm xmlns:a="http://schemas.openxmlformats.org/drawingml/2006/main">
            <a:off x="8877300" y="22288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21" name="">
            <a:extLst xmlns:a="http://schemas.openxmlformats.org/drawingml/2006/main">
              <a:ext uri="{FF2B5EF4-FFF2-40B4-BE49-F238E27FC236}">
                <a16:creationId xmlns:a16="http://schemas.microsoft.com/office/drawing/2014/main" id="{1D437B7D-4E3C-407E-9EB0-55BDE4C14219}"/>
              </a:ext>
            </a:extLst>
          </p:cNvPr>
          <p:cNvSpPr>
            <a:spLocks xmlns:a="http://schemas.openxmlformats.org/drawingml/2006/main" noGrp="1"/>
          </p:cNvSpPr>
          <p:nvPr/>
        </p:nvSpPr>
        <p:spPr>
          <a:xfrm xmlns:a="http://schemas.openxmlformats.org/drawingml/2006/main">
            <a:off x="8953500" y="23050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latency and timeout ambiguity</a:t>
            </a:r>
          </a:p>
        </p:txBody>
      </p:sp>
      <p:sp>
        <p:nvSpPr>
          <p:cNvPr id="22" name="">
            <a:extLst xmlns:a="http://schemas.openxmlformats.org/drawingml/2006/main">
              <a:ext uri="{FF2B5EF4-FFF2-40B4-BE49-F238E27FC236}">
                <a16:creationId xmlns:a16="http://schemas.microsoft.com/office/drawing/2014/main" id="{4C717D34-F594-4913-969E-D4D9FB9114AF}"/>
              </a:ext>
            </a:extLst>
          </p:cNvPr>
          <p:cNvSpPr>
            <a:spLocks xmlns:a="http://schemas.openxmlformats.org/drawingml/2006/main" noGrp="1"/>
          </p:cNvSpPr>
          <p:nvPr/>
        </p:nvSpPr>
        <p:spPr>
          <a:xfrm xmlns:a="http://schemas.openxmlformats.org/drawingml/2006/main">
            <a:off x="685800" y="3009900"/>
            <a:ext cx="3048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3" name="">
            <a:extLst xmlns:a="http://schemas.openxmlformats.org/drawingml/2006/main">
              <a:ext uri="{FF2B5EF4-FFF2-40B4-BE49-F238E27FC236}">
                <a16:creationId xmlns:a16="http://schemas.microsoft.com/office/drawing/2014/main" id="{6550CAD7-0A72-43A0-9B34-6C1AED05F34D}"/>
              </a:ext>
            </a:extLst>
          </p:cNvPr>
          <p:cNvSpPr>
            <a:spLocks xmlns:a="http://schemas.openxmlformats.org/drawingml/2006/main" noGrp="1"/>
          </p:cNvSpPr>
          <p:nvPr/>
        </p:nvSpPr>
        <p:spPr>
          <a:xfrm xmlns:a="http://schemas.openxmlformats.org/drawingml/2006/main">
            <a:off x="762000" y="30861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Resident immediately sees submitted ticket</a:t>
            </a:r>
          </a:p>
        </p:txBody>
      </p:sp>
      <p:sp>
        <p:nvSpPr>
          <p:cNvPr id="24" name="">
            <a:extLst xmlns:a="http://schemas.openxmlformats.org/drawingml/2006/main">
              <a:ext uri="{FF2B5EF4-FFF2-40B4-BE49-F238E27FC236}">
                <a16:creationId xmlns:a16="http://schemas.microsoft.com/office/drawing/2014/main" id="{FE9AEB45-A61F-46CD-BB3E-FEDF6382C427}"/>
              </a:ext>
            </a:extLst>
          </p:cNvPr>
          <p:cNvSpPr>
            <a:spLocks xmlns:a="http://schemas.openxmlformats.org/drawingml/2006/main" noGrp="1"/>
          </p:cNvSpPr>
          <p:nvPr/>
        </p:nvSpPr>
        <p:spPr>
          <a:xfrm xmlns:a="http://schemas.openxmlformats.org/drawingml/2006/main">
            <a:off x="3733800" y="3009900"/>
            <a:ext cx="2667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5" name="">
            <a:extLst xmlns:a="http://schemas.openxmlformats.org/drawingml/2006/main">
              <a:ext uri="{FF2B5EF4-FFF2-40B4-BE49-F238E27FC236}">
                <a16:creationId xmlns:a16="http://schemas.microsoft.com/office/drawing/2014/main" id="{7A196CA7-22BB-496D-86CB-820F6ADC9F92}"/>
              </a:ext>
            </a:extLst>
          </p:cNvPr>
          <p:cNvSpPr>
            <a:spLocks xmlns:a="http://schemas.openxmlformats.org/drawingml/2006/main" noGrp="1"/>
          </p:cNvSpPr>
          <p:nvPr/>
        </p:nvSpPr>
        <p:spPr>
          <a:xfrm xmlns:a="http://schemas.openxmlformats.org/drawingml/2006/main">
            <a:off x="3810000" y="30861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primary-oriented confirmation read</a:t>
            </a:r>
          </a:p>
        </p:txBody>
      </p:sp>
      <p:sp>
        <p:nvSpPr>
          <p:cNvPr id="26" name="">
            <a:extLst xmlns:a="http://schemas.openxmlformats.org/drawingml/2006/main">
              <a:ext uri="{FF2B5EF4-FFF2-40B4-BE49-F238E27FC236}">
                <a16:creationId xmlns:a16="http://schemas.microsoft.com/office/drawing/2014/main" id="{0B840F94-D7C3-4023-8D7B-B0B05C503179}"/>
              </a:ext>
            </a:extLst>
          </p:cNvPr>
          <p:cNvSpPr>
            <a:spLocks xmlns:a="http://schemas.openxmlformats.org/drawingml/2006/main" noGrp="1"/>
          </p:cNvSpPr>
          <p:nvPr/>
        </p:nvSpPr>
        <p:spPr>
          <a:xfrm xmlns:a="http://schemas.openxmlformats.org/drawingml/2006/main">
            <a:off x="6400800" y="30099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7" name="">
            <a:extLst xmlns:a="http://schemas.openxmlformats.org/drawingml/2006/main">
              <a:ext uri="{FF2B5EF4-FFF2-40B4-BE49-F238E27FC236}">
                <a16:creationId xmlns:a16="http://schemas.microsoft.com/office/drawing/2014/main" id="{26A5D06E-4191-41DB-9FBD-F0FB72429B97}"/>
              </a:ext>
            </a:extLst>
          </p:cNvPr>
          <p:cNvSpPr>
            <a:spLocks xmlns:a="http://schemas.openxmlformats.org/drawingml/2006/main" noGrp="1"/>
          </p:cNvSpPr>
          <p:nvPr/>
        </p:nvSpPr>
        <p:spPr>
          <a:xfrm xmlns:a="http://schemas.openxmlformats.org/drawingml/2006/main">
            <a:off x="6477000" y="30861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routing plus suitable visibility</a:t>
            </a:r>
          </a:p>
        </p:txBody>
      </p:sp>
      <p:sp>
        <p:nvSpPr>
          <p:cNvPr id="28" name="">
            <a:extLst xmlns:a="http://schemas.openxmlformats.org/drawingml/2006/main">
              <a:ext uri="{FF2B5EF4-FFF2-40B4-BE49-F238E27FC236}">
                <a16:creationId xmlns:a16="http://schemas.microsoft.com/office/drawing/2014/main" id="{F43088A0-1659-41CA-8F26-61B29E44688A}"/>
              </a:ext>
            </a:extLst>
          </p:cNvPr>
          <p:cNvSpPr>
            <a:spLocks xmlns:a="http://schemas.openxmlformats.org/drawingml/2006/main" noGrp="1"/>
          </p:cNvSpPr>
          <p:nvPr/>
        </p:nvSpPr>
        <p:spPr>
          <a:xfrm xmlns:a="http://schemas.openxmlformats.org/drawingml/2006/main">
            <a:off x="8877300" y="30099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29" name="">
            <a:extLst xmlns:a="http://schemas.openxmlformats.org/drawingml/2006/main">
              <a:ext uri="{FF2B5EF4-FFF2-40B4-BE49-F238E27FC236}">
                <a16:creationId xmlns:a16="http://schemas.microsoft.com/office/drawing/2014/main" id="{6F2595B0-5057-4F8A-8846-0FB11241E7C4}"/>
              </a:ext>
            </a:extLst>
          </p:cNvPr>
          <p:cNvSpPr>
            <a:spLocks xmlns:a="http://schemas.openxmlformats.org/drawingml/2006/main" noGrp="1"/>
          </p:cNvSpPr>
          <p:nvPr/>
        </p:nvSpPr>
        <p:spPr>
          <a:xfrm xmlns:a="http://schemas.openxmlformats.org/drawingml/2006/main">
            <a:off x="8953500" y="30861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primary load and reconnect delay</a:t>
            </a:r>
          </a:p>
        </p:txBody>
      </p:sp>
      <p:sp>
        <p:nvSpPr>
          <p:cNvPr id="30" name="">
            <a:extLst xmlns:a="http://schemas.openxmlformats.org/drawingml/2006/main">
              <a:ext uri="{FF2B5EF4-FFF2-40B4-BE49-F238E27FC236}">
                <a16:creationId xmlns:a16="http://schemas.microsoft.com/office/drawing/2014/main" id="{3C6DCC4C-DAB0-49A0-A9B5-183F4A150B7C}"/>
              </a:ext>
            </a:extLst>
          </p:cNvPr>
          <p:cNvSpPr>
            <a:spLocks xmlns:a="http://schemas.openxmlformats.org/drawingml/2006/main" noGrp="1"/>
          </p:cNvSpPr>
          <p:nvPr/>
        </p:nvSpPr>
        <p:spPr>
          <a:xfrm xmlns:a="http://schemas.openxmlformats.org/drawingml/2006/main">
            <a:off x="685800" y="3790950"/>
            <a:ext cx="304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1" name="">
            <a:extLst xmlns:a="http://schemas.openxmlformats.org/drawingml/2006/main">
              <a:ext uri="{FF2B5EF4-FFF2-40B4-BE49-F238E27FC236}">
                <a16:creationId xmlns:a16="http://schemas.microsoft.com/office/drawing/2014/main" id="{96333FB8-80CB-4D78-8A50-818D437F722E}"/>
              </a:ext>
            </a:extLst>
          </p:cNvPr>
          <p:cNvSpPr>
            <a:spLocks xmlns:a="http://schemas.openxmlformats.org/drawingml/2006/main" noGrp="1"/>
          </p:cNvSpPr>
          <p:nvPr/>
        </p:nvSpPr>
        <p:spPr>
          <a:xfrm xmlns:a="http://schemas.openxmlformats.org/drawingml/2006/main">
            <a:off x="762000" y="386715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Hourly dashboard may be slightly stale</a:t>
            </a:r>
          </a:p>
        </p:txBody>
      </p:sp>
      <p:sp>
        <p:nvSpPr>
          <p:cNvPr id="32" name="">
            <a:extLst xmlns:a="http://schemas.openxmlformats.org/drawingml/2006/main">
              <a:ext uri="{FF2B5EF4-FFF2-40B4-BE49-F238E27FC236}">
                <a16:creationId xmlns:a16="http://schemas.microsoft.com/office/drawing/2014/main" id="{B2BD009B-0BB2-4B9A-9B62-8E29ABFD5FD2}"/>
              </a:ext>
            </a:extLst>
          </p:cNvPr>
          <p:cNvSpPr>
            <a:spLocks xmlns:a="http://schemas.openxmlformats.org/drawingml/2006/main" noGrp="1"/>
          </p:cNvSpPr>
          <p:nvPr/>
        </p:nvSpPr>
        <p:spPr>
          <a:xfrm xmlns:a="http://schemas.openxmlformats.org/drawingml/2006/main">
            <a:off x="3733800" y="3790950"/>
            <a:ext cx="2667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3" name="">
            <a:extLst xmlns:a="http://schemas.openxmlformats.org/drawingml/2006/main">
              <a:ext uri="{FF2B5EF4-FFF2-40B4-BE49-F238E27FC236}">
                <a16:creationId xmlns:a16="http://schemas.microsoft.com/office/drawing/2014/main" id="{8B4CAF02-4D50-4565-A781-7A1331B51287}"/>
              </a:ext>
            </a:extLst>
          </p:cNvPr>
          <p:cNvSpPr>
            <a:spLocks xmlns:a="http://schemas.openxmlformats.org/drawingml/2006/main" noGrp="1"/>
          </p:cNvSpPr>
          <p:nvPr/>
        </p:nvSpPr>
        <p:spPr>
          <a:xfrm xmlns:a="http://schemas.openxmlformats.org/drawingml/2006/main">
            <a:off x="3810000" y="386715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secondary-preferred where justified</a:t>
            </a:r>
          </a:p>
        </p:txBody>
      </p:sp>
      <p:sp>
        <p:nvSpPr>
          <p:cNvPr id="34" name="">
            <a:extLst xmlns:a="http://schemas.openxmlformats.org/drawingml/2006/main">
              <a:ext uri="{FF2B5EF4-FFF2-40B4-BE49-F238E27FC236}">
                <a16:creationId xmlns:a16="http://schemas.microsoft.com/office/drawing/2014/main" id="{22A6C602-312B-4579-9A0D-58BAA5A20693}"/>
              </a:ext>
            </a:extLst>
          </p:cNvPr>
          <p:cNvSpPr>
            <a:spLocks xmlns:a="http://schemas.openxmlformats.org/drawingml/2006/main" noGrp="1"/>
          </p:cNvSpPr>
          <p:nvPr/>
        </p:nvSpPr>
        <p:spPr>
          <a:xfrm xmlns:a="http://schemas.openxmlformats.org/drawingml/2006/main">
            <a:off x="6400800" y="3790950"/>
            <a:ext cx="24765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5" name="">
            <a:extLst xmlns:a="http://schemas.openxmlformats.org/drawingml/2006/main">
              <a:ext uri="{FF2B5EF4-FFF2-40B4-BE49-F238E27FC236}">
                <a16:creationId xmlns:a16="http://schemas.microsoft.com/office/drawing/2014/main" id="{70243B7C-C4B0-4DFE-81FE-A275107BF9D9}"/>
              </a:ext>
            </a:extLst>
          </p:cNvPr>
          <p:cNvSpPr>
            <a:spLocks xmlns:a="http://schemas.openxmlformats.org/drawingml/2006/main" noGrp="1"/>
          </p:cNvSpPr>
          <p:nvPr/>
        </p:nvSpPr>
        <p:spPr>
          <a:xfrm xmlns:a="http://schemas.openxmlformats.org/drawingml/2006/main">
            <a:off x="6477000" y="386715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read routing</a:t>
            </a:r>
          </a:p>
        </p:txBody>
      </p:sp>
      <p:sp>
        <p:nvSpPr>
          <p:cNvPr id="36" name="">
            <a:extLst xmlns:a="http://schemas.openxmlformats.org/drawingml/2006/main">
              <a:ext uri="{FF2B5EF4-FFF2-40B4-BE49-F238E27FC236}">
                <a16:creationId xmlns:a16="http://schemas.microsoft.com/office/drawing/2014/main" id="{52E3442C-9C90-4669-AFA7-3583F5B05C6D}"/>
              </a:ext>
            </a:extLst>
          </p:cNvPr>
          <p:cNvSpPr>
            <a:spLocks xmlns:a="http://schemas.openxmlformats.org/drawingml/2006/main" noGrp="1"/>
          </p:cNvSpPr>
          <p:nvPr/>
        </p:nvSpPr>
        <p:spPr>
          <a:xfrm xmlns:a="http://schemas.openxmlformats.org/drawingml/2006/main">
            <a:off x="8877300" y="3790950"/>
            <a:ext cx="26289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CBD5E1"/>
            </a:solidFill>
            <a:prstDash val="solid"/>
          </a:ln>
        </p:spPr>
      </p:sp>
      <p:sp>
        <p:nvSpPr>
          <p:cNvPr id="37" name="">
            <a:extLst xmlns:a="http://schemas.openxmlformats.org/drawingml/2006/main">
              <a:ext uri="{FF2B5EF4-FFF2-40B4-BE49-F238E27FC236}">
                <a16:creationId xmlns:a16="http://schemas.microsoft.com/office/drawing/2014/main" id="{34ADE3B5-C9A2-4A97-9A33-52CB9B93BF86}"/>
              </a:ext>
            </a:extLst>
          </p:cNvPr>
          <p:cNvSpPr>
            <a:spLocks xmlns:a="http://schemas.openxmlformats.org/drawingml/2006/main" noGrp="1"/>
          </p:cNvSpPr>
          <p:nvPr/>
        </p:nvSpPr>
        <p:spPr>
          <a:xfrm xmlns:a="http://schemas.openxmlformats.org/drawingml/2006/main">
            <a:off x="8953500" y="386715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replication lag</a:t>
            </a:r>
          </a:p>
        </p:txBody>
      </p:sp>
      <p:sp>
        <p:nvSpPr>
          <p:cNvPr id="38" name="">
            <a:extLst xmlns:a="http://schemas.openxmlformats.org/drawingml/2006/main">
              <a:ext uri="{FF2B5EF4-FFF2-40B4-BE49-F238E27FC236}">
                <a16:creationId xmlns:a16="http://schemas.microsoft.com/office/drawing/2014/main" id="{732657F9-2D58-4CB2-9C1D-068F80AF3D08}"/>
              </a:ext>
            </a:extLst>
          </p:cNvPr>
          <p:cNvSpPr>
            <a:spLocks xmlns:a="http://schemas.openxmlformats.org/drawingml/2006/main" noGrp="1"/>
          </p:cNvSpPr>
          <p:nvPr/>
        </p:nvSpPr>
        <p:spPr>
          <a:xfrm xmlns:a="http://schemas.openxmlformats.org/drawingml/2006/main">
            <a:off x="685800" y="4572000"/>
            <a:ext cx="3048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39" name="">
            <a:extLst xmlns:a="http://schemas.openxmlformats.org/drawingml/2006/main">
              <a:ext uri="{FF2B5EF4-FFF2-40B4-BE49-F238E27FC236}">
                <a16:creationId xmlns:a16="http://schemas.microsoft.com/office/drawing/2014/main" id="{92BC2856-EE28-4508-BD75-1684EAC1FD59}"/>
              </a:ext>
            </a:extLst>
          </p:cNvPr>
          <p:cNvSpPr>
            <a:spLocks xmlns:a="http://schemas.openxmlformats.org/drawingml/2006/main" noGrp="1"/>
          </p:cNvSpPr>
          <p:nvPr/>
        </p:nvSpPr>
        <p:spPr>
          <a:xfrm xmlns:a="http://schemas.openxmlformats.org/drawingml/2006/main">
            <a:off x="762000" y="4648200"/>
            <a:ext cx="2895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Accidental collection delete is recoverable</a:t>
            </a:r>
          </a:p>
        </p:txBody>
      </p:sp>
      <p:sp>
        <p:nvSpPr>
          <p:cNvPr id="40" name="">
            <a:extLst xmlns:a="http://schemas.openxmlformats.org/drawingml/2006/main">
              <a:ext uri="{FF2B5EF4-FFF2-40B4-BE49-F238E27FC236}">
                <a16:creationId xmlns:a16="http://schemas.microsoft.com/office/drawing/2014/main" id="{B961624F-6153-4796-9454-EF6D04AF5056}"/>
              </a:ext>
            </a:extLst>
          </p:cNvPr>
          <p:cNvSpPr>
            <a:spLocks xmlns:a="http://schemas.openxmlformats.org/drawingml/2006/main" noGrp="1"/>
          </p:cNvSpPr>
          <p:nvPr/>
        </p:nvSpPr>
        <p:spPr>
          <a:xfrm xmlns:a="http://schemas.openxmlformats.org/drawingml/2006/main">
            <a:off x="3733800" y="4572000"/>
            <a:ext cx="26670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1" name="">
            <a:extLst xmlns:a="http://schemas.openxmlformats.org/drawingml/2006/main">
              <a:ext uri="{FF2B5EF4-FFF2-40B4-BE49-F238E27FC236}">
                <a16:creationId xmlns:a16="http://schemas.microsoft.com/office/drawing/2014/main" id="{F3AEC252-560B-4209-ACAC-95171D12AD27}"/>
              </a:ext>
            </a:extLst>
          </p:cNvPr>
          <p:cNvSpPr>
            <a:spLocks xmlns:a="http://schemas.openxmlformats.org/drawingml/2006/main" noGrp="1"/>
          </p:cNvSpPr>
          <p:nvPr/>
        </p:nvSpPr>
        <p:spPr>
          <a:xfrm xmlns:a="http://schemas.openxmlformats.org/drawingml/2006/main">
            <a:off x="3810000" y="4648200"/>
            <a:ext cx="2514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separate logical artifact</a:t>
            </a:r>
          </a:p>
        </p:txBody>
      </p:sp>
      <p:sp>
        <p:nvSpPr>
          <p:cNvPr id="42" name="">
            <a:extLst xmlns:a="http://schemas.openxmlformats.org/drawingml/2006/main">
              <a:ext uri="{FF2B5EF4-FFF2-40B4-BE49-F238E27FC236}">
                <a16:creationId xmlns:a16="http://schemas.microsoft.com/office/drawing/2014/main" id="{ED640780-0F83-4C1F-B8F6-F2EE89619680}"/>
              </a:ext>
            </a:extLst>
          </p:cNvPr>
          <p:cNvSpPr>
            <a:spLocks xmlns:a="http://schemas.openxmlformats.org/drawingml/2006/main" noGrp="1"/>
          </p:cNvSpPr>
          <p:nvPr/>
        </p:nvSpPr>
        <p:spPr>
          <a:xfrm xmlns:a="http://schemas.openxmlformats.org/drawingml/2006/main">
            <a:off x="6400800" y="4572000"/>
            <a:ext cx="24765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3" name="">
            <a:extLst xmlns:a="http://schemas.openxmlformats.org/drawingml/2006/main">
              <a:ext uri="{FF2B5EF4-FFF2-40B4-BE49-F238E27FC236}">
                <a16:creationId xmlns:a16="http://schemas.microsoft.com/office/drawing/2014/main" id="{2B7B8021-E9EA-4280-909A-C33C1AD19E06}"/>
              </a:ext>
            </a:extLst>
          </p:cNvPr>
          <p:cNvSpPr>
            <a:spLocks xmlns:a="http://schemas.openxmlformats.org/drawingml/2006/main" noGrp="1"/>
          </p:cNvSpPr>
          <p:nvPr/>
        </p:nvSpPr>
        <p:spPr>
          <a:xfrm xmlns:a="http://schemas.openxmlformats.org/drawingml/2006/main">
            <a:off x="6477000" y="46482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export, restore, verification</a:t>
            </a:r>
          </a:p>
        </p:txBody>
      </p:sp>
      <p:sp>
        <p:nvSpPr>
          <p:cNvPr id="44" name="">
            <a:extLst xmlns:a="http://schemas.openxmlformats.org/drawingml/2006/main">
              <a:ext uri="{FF2B5EF4-FFF2-40B4-BE49-F238E27FC236}">
                <a16:creationId xmlns:a16="http://schemas.microsoft.com/office/drawing/2014/main" id="{A38CA67C-773C-4FEB-9BD6-263FA31D145E}"/>
              </a:ext>
            </a:extLst>
          </p:cNvPr>
          <p:cNvSpPr>
            <a:spLocks xmlns:a="http://schemas.openxmlformats.org/drawingml/2006/main" noGrp="1"/>
          </p:cNvSpPr>
          <p:nvPr/>
        </p:nvSpPr>
        <p:spPr>
          <a:xfrm xmlns:a="http://schemas.openxmlformats.org/drawingml/2006/main">
            <a:off x="8877300" y="4572000"/>
            <a:ext cx="2628900" cy="781050"/>
          </a:xfrm>
          <a:prstGeom xmlns:a="http://schemas.openxmlformats.org/drawingml/2006/main" prst="rect">
            <a:avLst/>
          </a:prstGeom>
          <a:solidFill xmlns:a="http://schemas.openxmlformats.org/drawingml/2006/main">
            <a:srgbClr val="F8FAFC"/>
          </a:solidFill>
          <a:ln xmlns:a="http://schemas.openxmlformats.org/drawingml/2006/main" w="9525">
            <a:solidFill>
              <a:srgbClr val="CBD5E1"/>
            </a:solidFill>
            <a:prstDash val="solid"/>
          </a:ln>
        </p:spPr>
      </p:sp>
      <p:sp>
        <p:nvSpPr>
          <p:cNvPr id="45" name="">
            <a:extLst xmlns:a="http://schemas.openxmlformats.org/drawingml/2006/main">
              <a:ext uri="{FF2B5EF4-FFF2-40B4-BE49-F238E27FC236}">
                <a16:creationId xmlns:a16="http://schemas.microsoft.com/office/drawing/2014/main" id="{05185023-FB77-4209-9563-337CDB3CB87F}"/>
              </a:ext>
            </a:extLst>
          </p:cNvPr>
          <p:cNvSpPr>
            <a:spLocks xmlns:a="http://schemas.openxmlformats.org/drawingml/2006/main" noGrp="1"/>
          </p:cNvSpPr>
          <p:nvPr/>
        </p:nvSpPr>
        <p:spPr>
          <a:xfrm xmlns:a="http://schemas.openxmlformats.org/drawingml/2006/main">
            <a:off x="8953500" y="4648200"/>
            <a:ext cx="2476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200">
                <a:solidFill>
                  <a:srgbClr val="111827"/>
                </a:solidFill>
                <a:latin typeface="Helvetica Neue"/>
                <a:ea typeface="Helvetica Neue"/>
                <a:cs typeface="Helvetica Neue"/>
              </a:defRPr>
            </a:pPr>
            <a:r>
              <a:rPr sz="1200">
                <a:solidFill>
                  <a:srgbClr val="111827"/>
                </a:solidFill>
                <a:latin typeface="Helvetica Neue"/>
                <a:ea typeface="Helvetica Neue"/>
                <a:cs typeface="Helvetica Neue"/>
              </a:rPr>
              <a:t>recovery point and recovery time</a:t>
            </a:r>
          </a:p>
        </p:txBody>
      </p:sp>
    </p:spTree>
    <p:extLst>
      <p:ext uri="{BB962C8B-B14F-4D97-AF65-F5344CB8AC3E}">
        <p14:creationId xmlns:p14="http://schemas.microsoft.com/office/powerpoint/2010/main" val="434816563"/>
      </p:ext>
    </p:extLst>
  </p:cSld>
</p:sld>
</file>

<file path=ppt/slides/slide9.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08CFA9D-D3F9-4886-A931-C5C8329CE18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F48EAC25-246F-48CC-9D66-6BF8E872B237}"/>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CE4DD6C2-AAE1-4D5C-9C13-9C35AD7C35DA}"/>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1: Match expectations to reliability decisions</a:t>
            </a:r>
          </a:p>
        </p:txBody>
      </p:sp>
      <p:sp>
        <p:nvSpPr>
          <p:cNvPr id="4" name="">
            <a:extLst xmlns:a="http://schemas.openxmlformats.org/drawingml/2006/main">
              <a:ext uri="{FF2B5EF4-FFF2-40B4-BE49-F238E27FC236}">
                <a16:creationId xmlns:a16="http://schemas.microsoft.com/office/drawing/2014/main" id="{00B07B40-677B-426B-88A6-C51019CF0C5F}"/>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C14DFB0B-1068-413F-952A-7ED6E302EC7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9</a:t>
            </a:r>
          </a:p>
        </p:txBody>
      </p:sp>
      <p:sp>
        <p:nvSpPr>
          <p:cNvPr id="6" name="">
            <a:extLst xmlns:a="http://schemas.openxmlformats.org/drawingml/2006/main">
              <a:ext uri="{FF2B5EF4-FFF2-40B4-BE49-F238E27FC236}">
                <a16:creationId xmlns:a16="http://schemas.microsoft.com/office/drawing/2014/main" id="{A6F49C28-6B23-4298-A1A9-1ABC5DA5D2CB}"/>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Build one decision matrix, analyze one partition, and connect one workload to the final-project plan.</a:t>
            </a:r>
          </a:p>
        </p:txBody>
      </p:sp>
      <p:sp>
        <p:nvSpPr>
          <p:cNvPr id="7" name="">
            <a:extLst xmlns:a="http://schemas.openxmlformats.org/drawingml/2006/main">
              <a:ext uri="{FF2B5EF4-FFF2-40B4-BE49-F238E27FC236}">
                <a16:creationId xmlns:a16="http://schemas.microsoft.com/office/drawing/2014/main" id="{F0A6171E-99D7-46C0-B422-5E7573D35762}"/>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62A7F200-73F8-499F-9B87-1F4F690E7684}"/>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For each Metro Support expectation, name the setting or mechanism, failure behavior, evidence, and limitation.</a:t>
            </a:r>
          </a:p>
        </p:txBody>
      </p:sp>
      <p:sp>
        <p:nvSpPr>
          <p:cNvPr id="9" name="">
            <a:extLst xmlns:a="http://schemas.openxmlformats.org/drawingml/2006/main">
              <a:ext uri="{FF2B5EF4-FFF2-40B4-BE49-F238E27FC236}">
                <a16:creationId xmlns:a16="http://schemas.microsoft.com/office/drawing/2014/main" id="{FAAC1651-1FE9-4B94-B021-1286654D1806}"/>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65BEBC9F-08FE-41AC-9A53-BDD3F9F7D847}"/>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Analyze the two-member majority side and one-member isolated side without assigning a permanent CAP label.</a:t>
            </a:r>
          </a:p>
        </p:txBody>
      </p:sp>
      <p:sp>
        <p:nvSpPr>
          <p:cNvPr id="11" name="">
            <a:extLst xmlns:a="http://schemas.openxmlformats.org/drawingml/2006/main">
              <a:ext uri="{FF2B5EF4-FFF2-40B4-BE49-F238E27FC236}">
                <a16:creationId xmlns:a16="http://schemas.microsoft.com/office/drawing/2014/main" id="{D16FAB69-E8D1-4E35-84E7-2B304C33AFD6}"/>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B992F306-74FA-495A-99B6-495F87D8436B}"/>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Add one short workload checkpoint that links to, but does not redefine, the canonical final project.</a:t>
            </a:r>
          </a:p>
        </p:txBody>
      </p:sp>
      <p:sp>
        <p:nvSpPr>
          <p:cNvPr id="13" name="">
            <a:extLst xmlns:a="http://schemas.openxmlformats.org/drawingml/2006/main">
              <a:ext uri="{FF2B5EF4-FFF2-40B4-BE49-F238E27FC236}">
                <a16:creationId xmlns:a16="http://schemas.microsoft.com/office/drawing/2014/main" id="{0ACDB3DB-8111-4165-8CEA-2C70621C39CE}"/>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14" name="">
            <a:extLst xmlns:a="http://schemas.openxmlformats.org/drawingml/2006/main">
              <a:ext uri="{FF2B5EF4-FFF2-40B4-BE49-F238E27FC236}">
                <a16:creationId xmlns:a16="http://schemas.microsoft.com/office/drawing/2014/main" id="{A880A7FC-77F0-40EE-8EC3-02FD07F68AB4}"/>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week_12_reliability_decision.md file</a:t>
            </a:r>
          </a:p>
        </p:txBody>
      </p:sp>
    </p:spTree>
    <p:extLst>
      <p:ext uri="{BB962C8B-B14F-4D97-AF65-F5344CB8AC3E}">
        <p14:creationId xmlns:p14="http://schemas.microsoft.com/office/powerpoint/2010/main" val="1001424400"/>
      </p:ext>
    </p:extLst>
  </p:cSld>
</p:sld>
</file>

<file path=ppt/slides/slide10.xml><?xml version="1.0" encoding="utf-8"?>
<p:sld xmlns:p="http://schemas.openxmlformats.org/presentationml/2006/main">
  <p:cSld>
    <p:bg>
      <p:bgPr>
        <a:solidFill xmlns:a="http://schemas.openxmlformats.org/drawingml/2006/main">
          <a:srgbClr val="1D4ED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B7B5D4-8430-44BB-9939-96B73466067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2" name="">
            <a:extLst xmlns:a="http://schemas.openxmlformats.org/drawingml/2006/main">
              <a:ext uri="{FF2B5EF4-FFF2-40B4-BE49-F238E27FC236}">
                <a16:creationId xmlns:a16="http://schemas.microsoft.com/office/drawing/2014/main" id="{EFEF1377-A235-47EA-A709-23265BFFC393}"/>
              </a:ext>
            </a:extLst>
          </p:cNvPr>
          <p:cNvSpPr>
            <a:spLocks xmlns:a="http://schemas.openxmlformats.org/drawingml/2006/main" noGrp="1"/>
          </p:cNvSpPr>
          <p:nvPr/>
        </p:nvSpPr>
        <p:spPr>
          <a:xfrm xmlns:a="http://schemas.openxmlformats.org/drawingml/2006/main">
            <a:off x="685800" y="5905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DAY 2</a:t>
            </a:r>
          </a:p>
        </p:txBody>
      </p:sp>
      <p:sp>
        <p:nvSpPr>
          <p:cNvPr id="3" name="">
            <a:extLst xmlns:a="http://schemas.openxmlformats.org/drawingml/2006/main">
              <a:ext uri="{FF2B5EF4-FFF2-40B4-BE49-F238E27FC236}">
                <a16:creationId xmlns:a16="http://schemas.microsoft.com/office/drawing/2014/main" id="{FA765BD6-4160-4153-9294-88DA14C8D081}"/>
              </a:ext>
            </a:extLst>
          </p:cNvPr>
          <p:cNvSpPr>
            <a:spLocks xmlns:a="http://schemas.openxmlformats.org/drawingml/2006/main" noGrp="1"/>
          </p:cNvSpPr>
          <p:nvPr/>
        </p:nvSpPr>
        <p:spPr>
          <a:xfrm xmlns:a="http://schemas.openxmlformats.org/drawingml/2006/main">
            <a:off x="685800" y="1809750"/>
            <a:ext cx="99060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Recovery is a procedure, not a file</a:t>
            </a:r>
          </a:p>
        </p:txBody>
      </p:sp>
      <p:sp>
        <p:nvSpPr>
          <p:cNvPr id="4" name="">
            <a:extLst xmlns:a="http://schemas.openxmlformats.org/drawingml/2006/main">
              <a:ext uri="{FF2B5EF4-FFF2-40B4-BE49-F238E27FC236}">
                <a16:creationId xmlns:a16="http://schemas.microsoft.com/office/drawing/2014/main" id="{75D3CD0F-F0BF-4E53-A7CE-50260548B29B}"/>
              </a:ext>
            </a:extLst>
          </p:cNvPr>
          <p:cNvSpPr>
            <a:spLocks xmlns:a="http://schemas.openxmlformats.org/drawingml/2006/main" noGrp="1"/>
          </p:cNvSpPr>
          <p:nvPr/>
        </p:nvSpPr>
        <p:spPr>
          <a:xfrm xmlns:a="http://schemas.openxmlformats.org/drawingml/2006/main">
            <a:off x="723900" y="4095750"/>
            <a:ext cx="8382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a:solidFill>
                  <a:srgbClr val="F8FAFC"/>
                </a:solidFill>
                <a:latin typeface="Helvetica Neue"/>
                <a:ea typeface="Helvetica Neue"/>
                <a:cs typeface="Helvetica Neue"/>
              </a:defRPr>
            </a:pPr>
            <a:r>
              <a:rPr sz="1950">
                <a:solidFill>
                  <a:srgbClr val="F8FAFC"/>
                </a:solidFill>
                <a:latin typeface="Helvetica Neue"/>
                <a:ea typeface="Helvetica Neue"/>
                <a:cs typeface="Helvetica Neue"/>
              </a:rPr>
              <a:t>Export elsewhere, restore to a separate target, verify behavior, and state what the artifact omits.</a:t>
            </a:r>
          </a:p>
        </p:txBody>
      </p:sp>
      <p:sp>
        <p:nvSpPr>
          <p:cNvPr id="5" name="">
            <a:extLst xmlns:a="http://schemas.openxmlformats.org/drawingml/2006/main">
              <a:ext uri="{FF2B5EF4-FFF2-40B4-BE49-F238E27FC236}">
                <a16:creationId xmlns:a16="http://schemas.microsoft.com/office/drawing/2014/main" id="{48190FA7-78CC-45E3-8979-84CF21353080}"/>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E2E8F0"/>
                </a:solidFill>
                <a:latin typeface="Helvetica Neue"/>
                <a:ea typeface="Helvetica Neue"/>
                <a:cs typeface="Helvetica Neue"/>
              </a:defRPr>
            </a:pPr>
            <a:r>
              <a:rPr sz="825">
                <a:solidFill>
                  <a:srgbClr val="E2E8F0"/>
                </a:solidFill>
                <a:latin typeface="Helvetica Neue"/>
                <a:ea typeface="Helvetica Neue"/>
                <a:cs typeface="Helvetica Neue"/>
              </a:rPr>
              <a:t>10</a:t>
            </a:r>
          </a:p>
        </p:txBody>
      </p:sp>
    </p:spTree>
    <p:extLst>
      <p:ext uri="{BB962C8B-B14F-4D97-AF65-F5344CB8AC3E}">
        <p14:creationId xmlns:p14="http://schemas.microsoft.com/office/powerpoint/2010/main" val="511421560"/>
      </p:ext>
    </p:extLst>
  </p:cSld>
</p:sld>
</file>

<file path=ppt/slides/slide11.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270A3FA-2D40-41B4-B866-4C27E439CFB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08B3107-A2EE-4B56-A932-1CF8EAEBEB9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00EE95F6-8D5F-4436-9FCB-FD464EF70B65}"/>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Extended JSON preserves BSON meaning that JSON cannot</a:t>
            </a:r>
          </a:p>
        </p:txBody>
      </p:sp>
      <p:sp>
        <p:nvSpPr>
          <p:cNvPr id="4" name="">
            <a:extLst xmlns:a="http://schemas.openxmlformats.org/drawingml/2006/main">
              <a:ext uri="{FF2B5EF4-FFF2-40B4-BE49-F238E27FC236}">
                <a16:creationId xmlns:a16="http://schemas.microsoft.com/office/drawing/2014/main" id="{368EBD23-054C-4CDE-B208-F04738ECA274}"/>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0EB45BF7-0589-4B21-9D00-35E6099FDA56}"/>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11</a:t>
            </a:r>
          </a:p>
        </p:txBody>
      </p:sp>
      <p:sp>
        <p:nvSpPr>
          <p:cNvPr id="6" name="primary-claim">
            <a:extLst xmlns:a="http://schemas.openxmlformats.org/drawingml/2006/main">
              <a:ext uri="{FF2B5EF4-FFF2-40B4-BE49-F238E27FC236}">
                <a16:creationId xmlns:a16="http://schemas.microsoft.com/office/drawing/2014/main" id="{30956A8F-6CC9-4F91-8138-5BFECC732E70}"/>
              </a:ext>
            </a:extLst>
          </p:cNvPr>
          <p:cNvSpPr>
            <a:spLocks xmlns:a="http://schemas.openxmlformats.org/drawingml/2006/main" noGrp="1"/>
          </p:cNvSpPr>
          <p:nvPr/>
        </p:nvSpPr>
        <p:spPr>
          <a:xfrm xmlns:a="http://schemas.openxmlformats.org/drawingml/2006/main">
            <a:off x="723900" y="1676400"/>
            <a:ext cx="9906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925" b="1">
                <a:solidFill>
                  <a:srgbClr val="1D4ED8"/>
                </a:solidFill>
                <a:latin typeface="Helvetica Neue"/>
                <a:ea typeface="Helvetica Neue"/>
                <a:cs typeface="Helvetica Neue"/>
              </a:defRPr>
            </a:pPr>
            <a:r>
              <a:rPr sz="2925" b="1">
                <a:solidFill>
                  <a:srgbClr val="1D4ED8"/>
                </a:solidFill>
                <a:latin typeface="Helvetica Neue"/>
                <a:ea typeface="Helvetica Neue"/>
                <a:cs typeface="Helvetica Neue"/>
              </a:rPr>
              <a:t>The representation must protect types before it can protect values.</a:t>
            </a:r>
          </a:p>
        </p:txBody>
      </p:sp>
      <p:sp>
        <p:nvSpPr>
          <p:cNvPr id="7" name="">
            <a:extLst xmlns:a="http://schemas.openxmlformats.org/drawingml/2006/main">
              <a:ext uri="{FF2B5EF4-FFF2-40B4-BE49-F238E27FC236}">
                <a16:creationId xmlns:a16="http://schemas.microsoft.com/office/drawing/2014/main" id="{D17A3B81-52F3-470B-87D5-AC6E09C159EF}"/>
              </a:ext>
            </a:extLst>
          </p:cNvPr>
          <p:cNvSpPr>
            <a:spLocks xmlns:a="http://schemas.openxmlformats.org/drawingml/2006/main" noGrp="1"/>
          </p:cNvSpPr>
          <p:nvPr/>
        </p:nvSpPr>
        <p:spPr>
          <a:xfrm xmlns:a="http://schemas.openxmlformats.org/drawingml/2006/main">
            <a:off x="723900" y="3857625"/>
            <a:ext cx="3238500" cy="0"/>
          </a:xfrm>
          <a:prstGeom xmlns:a="http://schemas.openxmlformats.org/drawingml/2006/main" prst="line">
            <a:avLst/>
          </a:prstGeom>
          <a:noFill xmlns:a="http://schemas.openxmlformats.org/drawingml/2006/main"/>
          <a:ln xmlns:a="http://schemas.openxmlformats.org/drawingml/2006/main" w="38100">
            <a:solidFill>
              <a:srgbClr val="1D4ED8"/>
            </a:solidFill>
            <a:prstDash val="solid"/>
          </a:ln>
        </p:spPr>
      </p:sp>
      <p:sp>
        <p:nvSpPr>
          <p:cNvPr id="8" name="">
            <a:extLst xmlns:a="http://schemas.openxmlformats.org/drawingml/2006/main">
              <a:ext uri="{FF2B5EF4-FFF2-40B4-BE49-F238E27FC236}">
                <a16:creationId xmlns:a16="http://schemas.microsoft.com/office/drawing/2014/main" id="{099CAF6A-4575-4DA2-A2FB-273709A2DBEC}"/>
              </a:ext>
            </a:extLst>
          </p:cNvPr>
          <p:cNvSpPr>
            <a:spLocks xmlns:a="http://schemas.openxmlformats.org/drawingml/2006/main" noGrp="1"/>
          </p:cNvSpPr>
          <p:nvPr/>
        </p:nvSpPr>
        <p:spPr>
          <a:xfrm xmlns:a="http://schemas.openxmlformats.org/drawingml/2006/main">
            <a:off x="7239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ORDINARY JSON</a:t>
            </a:r>
          </a:p>
        </p:txBody>
      </p:sp>
      <p:sp>
        <p:nvSpPr>
          <p:cNvPr id="9" name="">
            <a:extLst xmlns:a="http://schemas.openxmlformats.org/drawingml/2006/main">
              <a:ext uri="{FF2B5EF4-FFF2-40B4-BE49-F238E27FC236}">
                <a16:creationId xmlns:a16="http://schemas.microsoft.com/office/drawing/2014/main" id="{E013FB0F-B279-4EEB-879A-339C6ED4E5C2}"/>
              </a:ext>
            </a:extLst>
          </p:cNvPr>
          <p:cNvSpPr>
            <a:spLocks xmlns:a="http://schemas.openxmlformats.org/drawingml/2006/main" noGrp="1"/>
          </p:cNvSpPr>
          <p:nvPr/>
        </p:nvSpPr>
        <p:spPr>
          <a:xfrm xmlns:a="http://schemas.openxmlformats.org/drawingml/2006/main">
            <a:off x="7239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Has strings, numbers, booleans, null, arrays, and objects.</a:t>
            </a:r>
          </a:p>
        </p:txBody>
      </p:sp>
      <p:sp>
        <p:nvSpPr>
          <p:cNvPr id="10" name="">
            <a:extLst xmlns:a="http://schemas.openxmlformats.org/drawingml/2006/main">
              <a:ext uri="{FF2B5EF4-FFF2-40B4-BE49-F238E27FC236}">
                <a16:creationId xmlns:a16="http://schemas.microsoft.com/office/drawing/2014/main" id="{7F56580D-9EB7-4880-B33F-7F2E4342459B}"/>
              </a:ext>
            </a:extLst>
          </p:cNvPr>
          <p:cNvSpPr>
            <a:spLocks xmlns:a="http://schemas.openxmlformats.org/drawingml/2006/main" noGrp="1"/>
          </p:cNvSpPr>
          <p:nvPr/>
        </p:nvSpPr>
        <p:spPr>
          <a:xfrm xmlns:a="http://schemas.openxmlformats.org/drawingml/2006/main">
            <a:off x="432435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98F54895-5E40-42A3-BCF3-4668910DCA07}"/>
              </a:ext>
            </a:extLst>
          </p:cNvPr>
          <p:cNvSpPr>
            <a:spLocks xmlns:a="http://schemas.openxmlformats.org/drawingml/2006/main" noGrp="1"/>
          </p:cNvSpPr>
          <p:nvPr/>
        </p:nvSpPr>
        <p:spPr>
          <a:xfrm xmlns:a="http://schemas.openxmlformats.org/drawingml/2006/main">
            <a:off x="432435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BSON</a:t>
            </a:r>
          </a:p>
        </p:txBody>
      </p:sp>
      <p:sp>
        <p:nvSpPr>
          <p:cNvPr id="12" name="">
            <a:extLst xmlns:a="http://schemas.openxmlformats.org/drawingml/2006/main">
              <a:ext uri="{FF2B5EF4-FFF2-40B4-BE49-F238E27FC236}">
                <a16:creationId xmlns:a16="http://schemas.microsoft.com/office/drawing/2014/main" id="{14A43F96-70CF-46CD-A0A0-4DC7A40A3019}"/>
              </a:ext>
            </a:extLst>
          </p:cNvPr>
          <p:cNvSpPr>
            <a:spLocks xmlns:a="http://schemas.openxmlformats.org/drawingml/2006/main" noGrp="1"/>
          </p:cNvSpPr>
          <p:nvPr/>
        </p:nvSpPr>
        <p:spPr>
          <a:xfrm xmlns:a="http://schemas.openxmlformats.org/drawingml/2006/main">
            <a:off x="432435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Adds database types such as ObjectId, date, decimal, binary, and integer variants.</a:t>
            </a:r>
          </a:p>
        </p:txBody>
      </p:sp>
      <p:sp>
        <p:nvSpPr>
          <p:cNvPr id="13" name="">
            <a:extLst xmlns:a="http://schemas.openxmlformats.org/drawingml/2006/main">
              <a:ext uri="{FF2B5EF4-FFF2-40B4-BE49-F238E27FC236}">
                <a16:creationId xmlns:a16="http://schemas.microsoft.com/office/drawing/2014/main" id="{E8FC6DA6-7D5A-4149-B6C4-2A4A2CD69815}"/>
              </a:ext>
            </a:extLst>
          </p:cNvPr>
          <p:cNvSpPr>
            <a:spLocks xmlns:a="http://schemas.openxmlformats.org/drawingml/2006/main" noGrp="1"/>
          </p:cNvSpPr>
          <p:nvPr/>
        </p:nvSpPr>
        <p:spPr>
          <a:xfrm xmlns:a="http://schemas.openxmlformats.org/drawingml/2006/main">
            <a:off x="7924800" y="3857625"/>
            <a:ext cx="323850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4" name="">
            <a:extLst xmlns:a="http://schemas.openxmlformats.org/drawingml/2006/main">
              <a:ext uri="{FF2B5EF4-FFF2-40B4-BE49-F238E27FC236}">
                <a16:creationId xmlns:a16="http://schemas.microsoft.com/office/drawing/2014/main" id="{7E20985C-3846-415A-866B-20599D90F356}"/>
              </a:ext>
            </a:extLst>
          </p:cNvPr>
          <p:cNvSpPr>
            <a:spLocks xmlns:a="http://schemas.openxmlformats.org/drawingml/2006/main" noGrp="1"/>
          </p:cNvSpPr>
          <p:nvPr/>
        </p:nvSpPr>
        <p:spPr>
          <a:xfrm xmlns:a="http://schemas.openxmlformats.org/drawingml/2006/main">
            <a:off x="7924800" y="40481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125" b="1">
                <a:solidFill>
                  <a:srgbClr val="1D4ED8"/>
                </a:solidFill>
                <a:latin typeface="Helvetica Neue"/>
                <a:ea typeface="Helvetica Neue"/>
                <a:cs typeface="Helvetica Neue"/>
              </a:defRPr>
            </a:pPr>
            <a:r>
              <a:rPr sz="1125" b="1">
                <a:solidFill>
                  <a:srgbClr val="1D4ED8"/>
                </a:solidFill>
                <a:latin typeface="Helvetica Neue"/>
                <a:ea typeface="Helvetica Neue"/>
                <a:cs typeface="Helvetica Neue"/>
              </a:rPr>
              <a:t>EXTENDED JSON</a:t>
            </a:r>
          </a:p>
        </p:txBody>
      </p:sp>
      <p:sp>
        <p:nvSpPr>
          <p:cNvPr id="15" name="">
            <a:extLst xmlns:a="http://schemas.openxmlformats.org/drawingml/2006/main">
              <a:ext uri="{FF2B5EF4-FFF2-40B4-BE49-F238E27FC236}">
                <a16:creationId xmlns:a16="http://schemas.microsoft.com/office/drawing/2014/main" id="{5F66BAD3-89C3-4EC7-B42F-60A780991B16}"/>
              </a:ext>
            </a:extLst>
          </p:cNvPr>
          <p:cNvSpPr>
            <a:spLocks xmlns:a="http://schemas.openxmlformats.org/drawingml/2006/main" noGrp="1"/>
          </p:cNvSpPr>
          <p:nvPr/>
        </p:nvSpPr>
        <p:spPr>
          <a:xfrm xmlns:a="http://schemas.openxmlformats.org/drawingml/2006/main">
            <a:off x="7924800" y="4400550"/>
            <a:ext cx="3238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00">
                <a:solidFill>
                  <a:srgbClr val="111827"/>
                </a:solidFill>
                <a:latin typeface="Helvetica Neue"/>
                <a:ea typeface="Helvetica Neue"/>
                <a:cs typeface="Helvetica Neue"/>
              </a:defRPr>
            </a:pPr>
            <a:r>
              <a:rPr sz="1500">
                <a:solidFill>
                  <a:srgbClr val="111827"/>
                </a:solidFill>
                <a:latin typeface="Helvetica Neue"/>
                <a:ea typeface="Helvetica Neue"/>
                <a:cs typeface="Helvetica Neue"/>
              </a:rPr>
              <a:t>Encodes BSON type meaning in a JSON-compatible representation.</a:t>
            </a:r>
          </a:p>
        </p:txBody>
      </p:sp>
    </p:spTree>
    <p:extLst>
      <p:ext uri="{BB962C8B-B14F-4D97-AF65-F5344CB8AC3E}">
        <p14:creationId xmlns:p14="http://schemas.microsoft.com/office/powerpoint/2010/main" val="193038428"/>
      </p:ext>
    </p:extLst>
  </p:cSld>
</p:sld>
</file>

<file path=ppt/slides/slide12.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AD5083F-F2A9-4610-B997-31B034956F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E41E6BA0-D23C-4DB7-9370-E90DC69BDF22}"/>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CB2875C7-EAF3-4F6D-BFED-4F756569E37C}"/>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A recovery drill closes the loop from source to evidence</a:t>
            </a:r>
          </a:p>
        </p:txBody>
      </p:sp>
      <p:sp>
        <p:nvSpPr>
          <p:cNvPr id="4" name="">
            <a:extLst xmlns:a="http://schemas.openxmlformats.org/drawingml/2006/main">
              <a:ext uri="{FF2B5EF4-FFF2-40B4-BE49-F238E27FC236}">
                <a16:creationId xmlns:a16="http://schemas.microsoft.com/office/drawing/2014/main" id="{14F41630-BB93-45F0-A668-1B326AC28BA2}"/>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5EB381F7-B395-4142-920A-6F64BC1239FB}"/>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12</a:t>
            </a:r>
          </a:p>
        </p:txBody>
      </p:sp>
      <p:sp>
        <p:nvSpPr>
          <p:cNvPr id="6" name="">
            <a:extLst xmlns:a="http://schemas.openxmlformats.org/drawingml/2006/main">
              <a:ext uri="{FF2B5EF4-FFF2-40B4-BE49-F238E27FC236}">
                <a16:creationId xmlns:a16="http://schemas.microsoft.com/office/drawing/2014/main" id="{344B67E7-4441-44B8-B4CB-D86B6327D49C}"/>
              </a:ext>
            </a:extLst>
          </p:cNvPr>
          <p:cNvSpPr>
            <a:spLocks xmlns:a="http://schemas.openxmlformats.org/drawingml/2006/main" noGrp="1"/>
          </p:cNvSpPr>
          <p:nvPr/>
        </p:nvSpPr>
        <p:spPr>
          <a:xfrm xmlns:a="http://schemas.openxmlformats.org/drawingml/2006/main">
            <a:off x="1524000" y="2952750"/>
            <a:ext cx="91440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7" name="">
            <a:extLst xmlns:a="http://schemas.openxmlformats.org/drawingml/2006/main">
              <a:ext uri="{FF2B5EF4-FFF2-40B4-BE49-F238E27FC236}">
                <a16:creationId xmlns:a16="http://schemas.microsoft.com/office/drawing/2014/main" id="{530A156E-700F-427F-B0D7-DB346E118221}"/>
              </a:ext>
            </a:extLst>
          </p:cNvPr>
          <p:cNvSpPr>
            <a:spLocks xmlns:a="http://schemas.openxmlformats.org/drawingml/2006/main" noGrp="1"/>
          </p:cNvSpPr>
          <p:nvPr/>
        </p:nvSpPr>
        <p:spPr>
          <a:xfrm xmlns:a="http://schemas.openxmlformats.org/drawingml/2006/main">
            <a:off x="1381125" y="2809875"/>
            <a:ext cx="285750" cy="285750"/>
          </a:xfrm>
          <a:prstGeom xmlns:a="http://schemas.openxmlformats.org/drawingml/2006/main" prst="ellipse">
            <a:avLst/>
          </a:prstGeom>
          <a:solidFill xmlns:a="http://schemas.openxmlformats.org/drawingml/2006/main">
            <a:srgbClr val="1D4ED8"/>
          </a:solidFill>
          <a:ln xmlns:a="http://schemas.openxmlformats.org/drawingml/2006/main" w="28575">
            <a:solidFill>
              <a:srgbClr val="1D4ED8"/>
            </a:solidFill>
            <a:prstDash val="solid"/>
          </a:ln>
        </p:spPr>
      </p:sp>
      <p:sp>
        <p:nvSpPr>
          <p:cNvPr id="8" name="">
            <a:extLst xmlns:a="http://schemas.openxmlformats.org/drawingml/2006/main">
              <a:ext uri="{FF2B5EF4-FFF2-40B4-BE49-F238E27FC236}">
                <a16:creationId xmlns:a16="http://schemas.microsoft.com/office/drawing/2014/main" id="{761EFC7A-E472-40EA-991D-1577BF2C3D2C}"/>
              </a:ext>
            </a:extLst>
          </p:cNvPr>
          <p:cNvSpPr>
            <a:spLocks xmlns:a="http://schemas.openxmlformats.org/drawingml/2006/main" noGrp="1"/>
          </p:cNvSpPr>
          <p:nvPr/>
        </p:nvSpPr>
        <p:spPr>
          <a:xfrm xmlns:a="http://schemas.openxmlformats.org/drawingml/2006/main">
            <a:off x="1409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AA8CBF13-6A0A-491E-9CF8-5A2730E3CB34}"/>
              </a:ext>
            </a:extLst>
          </p:cNvPr>
          <p:cNvSpPr>
            <a:spLocks xmlns:a="http://schemas.openxmlformats.org/drawingml/2006/main" noGrp="1"/>
          </p:cNvSpPr>
          <p:nvPr/>
        </p:nvSpPr>
        <p:spPr>
          <a:xfrm xmlns:a="http://schemas.openxmlformats.org/drawingml/2006/main">
            <a:off x="685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Scope</a:t>
            </a:r>
          </a:p>
        </p:txBody>
      </p:sp>
      <p:sp>
        <p:nvSpPr>
          <p:cNvPr id="10" name="">
            <a:extLst xmlns:a="http://schemas.openxmlformats.org/drawingml/2006/main">
              <a:ext uri="{FF2B5EF4-FFF2-40B4-BE49-F238E27FC236}">
                <a16:creationId xmlns:a16="http://schemas.microsoft.com/office/drawing/2014/main" id="{6BCD6717-B46B-4562-B594-2A56ECC0E202}"/>
              </a:ext>
            </a:extLst>
          </p:cNvPr>
          <p:cNvSpPr>
            <a:spLocks xmlns:a="http://schemas.openxmlformats.org/drawingml/2006/main" noGrp="1"/>
          </p:cNvSpPr>
          <p:nvPr/>
        </p:nvSpPr>
        <p:spPr>
          <a:xfrm xmlns:a="http://schemas.openxmlformats.org/drawingml/2006/main">
            <a:off x="647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Name source database, collection, and artifact boundary</a:t>
            </a:r>
          </a:p>
        </p:txBody>
      </p:sp>
      <p:sp>
        <p:nvSpPr>
          <p:cNvPr id="11" name="">
            <a:extLst xmlns:a="http://schemas.openxmlformats.org/drawingml/2006/main">
              <a:ext uri="{FF2B5EF4-FFF2-40B4-BE49-F238E27FC236}">
                <a16:creationId xmlns:a16="http://schemas.microsoft.com/office/drawing/2014/main" id="{EB51624A-EC25-4267-A1AD-792A990D6AFE}"/>
              </a:ext>
            </a:extLst>
          </p:cNvPr>
          <p:cNvSpPr>
            <a:spLocks xmlns:a="http://schemas.openxmlformats.org/drawingml/2006/main" noGrp="1"/>
          </p:cNvSpPr>
          <p:nvPr/>
        </p:nvSpPr>
        <p:spPr>
          <a:xfrm xmlns:a="http://schemas.openxmlformats.org/drawingml/2006/main">
            <a:off x="3667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2" name="">
            <a:extLst xmlns:a="http://schemas.openxmlformats.org/drawingml/2006/main">
              <a:ext uri="{FF2B5EF4-FFF2-40B4-BE49-F238E27FC236}">
                <a16:creationId xmlns:a16="http://schemas.microsoft.com/office/drawing/2014/main" id="{96342CC3-BCEE-4E9B-B951-A9208A769BF2}"/>
              </a:ext>
            </a:extLst>
          </p:cNvPr>
          <p:cNvSpPr>
            <a:spLocks xmlns:a="http://schemas.openxmlformats.org/drawingml/2006/main" noGrp="1"/>
          </p:cNvSpPr>
          <p:nvPr/>
        </p:nvSpPr>
        <p:spPr>
          <a:xfrm xmlns:a="http://schemas.openxmlformats.org/drawingml/2006/main">
            <a:off x="3695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85A4F7B2-400C-47DC-B195-D3DAFA50A6DF}"/>
              </a:ext>
            </a:extLst>
          </p:cNvPr>
          <p:cNvSpPr>
            <a:spLocks xmlns:a="http://schemas.openxmlformats.org/drawingml/2006/main" noGrp="1"/>
          </p:cNvSpPr>
          <p:nvPr/>
        </p:nvSpPr>
        <p:spPr>
          <a:xfrm xmlns:a="http://schemas.openxmlformats.org/drawingml/2006/main">
            <a:off x="2971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Export</a:t>
            </a:r>
          </a:p>
        </p:txBody>
      </p:sp>
      <p:sp>
        <p:nvSpPr>
          <p:cNvPr id="14" name="">
            <a:extLst xmlns:a="http://schemas.openxmlformats.org/drawingml/2006/main">
              <a:ext uri="{FF2B5EF4-FFF2-40B4-BE49-F238E27FC236}">
                <a16:creationId xmlns:a16="http://schemas.microsoft.com/office/drawing/2014/main" id="{2EE1BE25-97D1-4327-8033-4C6FABC126EB}"/>
              </a:ext>
            </a:extLst>
          </p:cNvPr>
          <p:cNvSpPr>
            <a:spLocks xmlns:a="http://schemas.openxmlformats.org/drawingml/2006/main" noGrp="1"/>
          </p:cNvSpPr>
          <p:nvPr/>
        </p:nvSpPr>
        <p:spPr>
          <a:xfrm xmlns:a="http://schemas.openxmlformats.org/drawingml/2006/main">
            <a:off x="2933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Write artifact, size, hash, and tool result</a:t>
            </a:r>
          </a:p>
        </p:txBody>
      </p:sp>
      <p:sp>
        <p:nvSpPr>
          <p:cNvPr id="15" name="">
            <a:extLst xmlns:a="http://schemas.openxmlformats.org/drawingml/2006/main">
              <a:ext uri="{FF2B5EF4-FFF2-40B4-BE49-F238E27FC236}">
                <a16:creationId xmlns:a16="http://schemas.microsoft.com/office/drawing/2014/main" id="{96EAA1F4-AD27-4F35-9E58-DE0AA7A8F53F}"/>
              </a:ext>
            </a:extLst>
          </p:cNvPr>
          <p:cNvSpPr>
            <a:spLocks xmlns:a="http://schemas.openxmlformats.org/drawingml/2006/main" noGrp="1"/>
          </p:cNvSpPr>
          <p:nvPr/>
        </p:nvSpPr>
        <p:spPr>
          <a:xfrm xmlns:a="http://schemas.openxmlformats.org/drawingml/2006/main">
            <a:off x="5953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16" name="">
            <a:extLst xmlns:a="http://schemas.openxmlformats.org/drawingml/2006/main">
              <a:ext uri="{FF2B5EF4-FFF2-40B4-BE49-F238E27FC236}">
                <a16:creationId xmlns:a16="http://schemas.microsoft.com/office/drawing/2014/main" id="{FC25A0D1-52BF-465B-82DF-36E4963B53E8}"/>
              </a:ext>
            </a:extLst>
          </p:cNvPr>
          <p:cNvSpPr>
            <a:spLocks xmlns:a="http://schemas.openxmlformats.org/drawingml/2006/main" noGrp="1"/>
          </p:cNvSpPr>
          <p:nvPr/>
        </p:nvSpPr>
        <p:spPr>
          <a:xfrm xmlns:a="http://schemas.openxmlformats.org/drawingml/2006/main">
            <a:off x="5981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32B2E996-0506-491A-A669-498C6BEC22E5}"/>
              </a:ext>
            </a:extLst>
          </p:cNvPr>
          <p:cNvSpPr>
            <a:spLocks xmlns:a="http://schemas.openxmlformats.org/drawingml/2006/main" noGrp="1"/>
          </p:cNvSpPr>
          <p:nvPr/>
        </p:nvSpPr>
        <p:spPr>
          <a:xfrm xmlns:a="http://schemas.openxmlformats.org/drawingml/2006/main">
            <a:off x="5257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Restore</a:t>
            </a:r>
          </a:p>
        </p:txBody>
      </p:sp>
      <p:sp>
        <p:nvSpPr>
          <p:cNvPr id="18" name="">
            <a:extLst xmlns:a="http://schemas.openxmlformats.org/drawingml/2006/main">
              <a:ext uri="{FF2B5EF4-FFF2-40B4-BE49-F238E27FC236}">
                <a16:creationId xmlns:a16="http://schemas.microsoft.com/office/drawing/2014/main" id="{0C8DA96E-C867-4E3C-A2C4-FEFB608AE2D1}"/>
              </a:ext>
            </a:extLst>
          </p:cNvPr>
          <p:cNvSpPr>
            <a:spLocks xmlns:a="http://schemas.openxmlformats.org/drawingml/2006/main" noGrp="1"/>
          </p:cNvSpPr>
          <p:nvPr/>
        </p:nvSpPr>
        <p:spPr>
          <a:xfrm xmlns:a="http://schemas.openxmlformats.org/drawingml/2006/main">
            <a:off x="5219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Use a different database or collection target</a:t>
            </a:r>
          </a:p>
        </p:txBody>
      </p:sp>
      <p:sp>
        <p:nvSpPr>
          <p:cNvPr id="19" name="">
            <a:extLst xmlns:a="http://schemas.openxmlformats.org/drawingml/2006/main">
              <a:ext uri="{FF2B5EF4-FFF2-40B4-BE49-F238E27FC236}">
                <a16:creationId xmlns:a16="http://schemas.microsoft.com/office/drawing/2014/main" id="{6E51B98C-E16B-447A-BD9B-66730D173724}"/>
              </a:ext>
            </a:extLst>
          </p:cNvPr>
          <p:cNvSpPr>
            <a:spLocks xmlns:a="http://schemas.openxmlformats.org/drawingml/2006/main" noGrp="1"/>
          </p:cNvSpPr>
          <p:nvPr/>
        </p:nvSpPr>
        <p:spPr>
          <a:xfrm xmlns:a="http://schemas.openxmlformats.org/drawingml/2006/main">
            <a:off x="8239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0" name="">
            <a:extLst xmlns:a="http://schemas.openxmlformats.org/drawingml/2006/main">
              <a:ext uri="{FF2B5EF4-FFF2-40B4-BE49-F238E27FC236}">
                <a16:creationId xmlns:a16="http://schemas.microsoft.com/office/drawing/2014/main" id="{BC8B5D4C-ED14-42CF-973C-3DC757DB88D1}"/>
              </a:ext>
            </a:extLst>
          </p:cNvPr>
          <p:cNvSpPr>
            <a:spLocks xmlns:a="http://schemas.openxmlformats.org/drawingml/2006/main" noGrp="1"/>
          </p:cNvSpPr>
          <p:nvPr/>
        </p:nvSpPr>
        <p:spPr>
          <a:xfrm xmlns:a="http://schemas.openxmlformats.org/drawingml/2006/main">
            <a:off x="8267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A9E99B81-8208-4232-A35E-D445CE7A9B3B}"/>
              </a:ext>
            </a:extLst>
          </p:cNvPr>
          <p:cNvSpPr>
            <a:spLocks xmlns:a="http://schemas.openxmlformats.org/drawingml/2006/main" noGrp="1"/>
          </p:cNvSpPr>
          <p:nvPr/>
        </p:nvSpPr>
        <p:spPr>
          <a:xfrm xmlns:a="http://schemas.openxmlformats.org/drawingml/2006/main">
            <a:off x="7543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Verify</a:t>
            </a:r>
          </a:p>
        </p:txBody>
      </p:sp>
      <p:sp>
        <p:nvSpPr>
          <p:cNvPr id="22" name="">
            <a:extLst xmlns:a="http://schemas.openxmlformats.org/drawingml/2006/main">
              <a:ext uri="{FF2B5EF4-FFF2-40B4-BE49-F238E27FC236}">
                <a16:creationId xmlns:a16="http://schemas.microsoft.com/office/drawing/2014/main" id="{8B55AE42-B019-4DEA-BE04-A3A30EF03985}"/>
              </a:ext>
            </a:extLst>
          </p:cNvPr>
          <p:cNvSpPr>
            <a:spLocks xmlns:a="http://schemas.openxmlformats.org/drawingml/2006/main" noGrp="1"/>
          </p:cNvSpPr>
          <p:nvPr/>
        </p:nvSpPr>
        <p:spPr>
          <a:xfrm xmlns:a="http://schemas.openxmlformats.org/drawingml/2006/main">
            <a:off x="7505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Check counts, IDs, types, query, and one rule</a:t>
            </a:r>
          </a:p>
        </p:txBody>
      </p:sp>
      <p:sp>
        <p:nvSpPr>
          <p:cNvPr id="23" name="">
            <a:extLst xmlns:a="http://schemas.openxmlformats.org/drawingml/2006/main">
              <a:ext uri="{FF2B5EF4-FFF2-40B4-BE49-F238E27FC236}">
                <a16:creationId xmlns:a16="http://schemas.microsoft.com/office/drawing/2014/main" id="{76F91337-E6F1-46A4-8DF8-115EE58D53BE}"/>
              </a:ext>
            </a:extLst>
          </p:cNvPr>
          <p:cNvSpPr>
            <a:spLocks xmlns:a="http://schemas.openxmlformats.org/drawingml/2006/main" noGrp="1"/>
          </p:cNvSpPr>
          <p:nvPr/>
        </p:nvSpPr>
        <p:spPr>
          <a:xfrm xmlns:a="http://schemas.openxmlformats.org/drawingml/2006/main">
            <a:off x="10525125" y="2809875"/>
            <a:ext cx="285750" cy="285750"/>
          </a:xfrm>
          <a:prstGeom xmlns:a="http://schemas.openxmlformats.org/drawingml/2006/main" prst="ellipse">
            <a:avLst/>
          </a:prstGeom>
          <a:solidFill xmlns:a="http://schemas.openxmlformats.org/drawingml/2006/main">
            <a:srgbClr val="FFFFFF"/>
          </a:solidFill>
          <a:ln xmlns:a="http://schemas.openxmlformats.org/drawingml/2006/main" w="28575">
            <a:solidFill>
              <a:srgbClr val="1D4ED8"/>
            </a:solidFill>
            <a:prstDash val="solid"/>
          </a:ln>
        </p:spPr>
      </p:sp>
      <p:sp>
        <p:nvSpPr>
          <p:cNvPr id="24" name="">
            <a:extLst xmlns:a="http://schemas.openxmlformats.org/drawingml/2006/main">
              <a:ext uri="{FF2B5EF4-FFF2-40B4-BE49-F238E27FC236}">
                <a16:creationId xmlns:a16="http://schemas.microsoft.com/office/drawing/2014/main" id="{14052437-4558-4A59-9757-93754AFFABC8}"/>
              </a:ext>
            </a:extLst>
          </p:cNvPr>
          <p:cNvSpPr>
            <a:spLocks xmlns:a="http://schemas.openxmlformats.org/drawingml/2006/main" noGrp="1"/>
          </p:cNvSpPr>
          <p:nvPr/>
        </p:nvSpPr>
        <p:spPr>
          <a:xfrm xmlns:a="http://schemas.openxmlformats.org/drawingml/2006/main">
            <a:off x="10553700" y="2847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lgn="ct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5</a:t>
            </a:r>
          </a:p>
        </p:txBody>
      </p:sp>
      <p:sp>
        <p:nvSpPr>
          <p:cNvPr id="25" name="">
            <a:extLst xmlns:a="http://schemas.openxmlformats.org/drawingml/2006/main">
              <a:ext uri="{FF2B5EF4-FFF2-40B4-BE49-F238E27FC236}">
                <a16:creationId xmlns:a16="http://schemas.microsoft.com/office/drawing/2014/main" id="{08395866-0EFB-4A34-8C11-DD562C95D5B3}"/>
              </a:ext>
            </a:extLst>
          </p:cNvPr>
          <p:cNvSpPr>
            <a:spLocks xmlns:a="http://schemas.openxmlformats.org/drawingml/2006/main" noGrp="1"/>
          </p:cNvSpPr>
          <p:nvPr/>
        </p:nvSpPr>
        <p:spPr>
          <a:xfrm xmlns:a="http://schemas.openxmlformats.org/drawingml/2006/main">
            <a:off x="9829800" y="3333750"/>
            <a:ext cx="1676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Limit</a:t>
            </a:r>
          </a:p>
        </p:txBody>
      </p:sp>
      <p:sp>
        <p:nvSpPr>
          <p:cNvPr id="26" name="">
            <a:extLst xmlns:a="http://schemas.openxmlformats.org/drawingml/2006/main">
              <a:ext uri="{FF2B5EF4-FFF2-40B4-BE49-F238E27FC236}">
                <a16:creationId xmlns:a16="http://schemas.microsoft.com/office/drawing/2014/main" id="{84A5688D-7088-44AC-ADB4-6D04E56671D8}"/>
              </a:ext>
            </a:extLst>
          </p:cNvPr>
          <p:cNvSpPr>
            <a:spLocks xmlns:a="http://schemas.openxmlformats.org/drawingml/2006/main" noGrp="1"/>
          </p:cNvSpPr>
          <p:nvPr/>
        </p:nvSpPr>
        <p:spPr>
          <a:xfrm xmlns:a="http://schemas.openxmlformats.org/drawingml/2006/main">
            <a:off x="9791700" y="3867150"/>
            <a:ext cx="1752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ctr">
              <a:buNone/>
              <a:defRPr sz="1200">
                <a:solidFill>
                  <a:srgbClr val="475569"/>
                </a:solidFill>
                <a:latin typeface="Helvetica Neue"/>
                <a:ea typeface="Helvetica Neue"/>
                <a:cs typeface="Helvetica Neue"/>
              </a:defRPr>
            </a:pPr>
            <a:r>
              <a:rPr sz="1200">
                <a:solidFill>
                  <a:srgbClr val="475569"/>
                </a:solidFill>
                <a:latin typeface="Helvetica Neue"/>
                <a:ea typeface="Helvetica Neue"/>
                <a:cs typeface="Helvetica Neue"/>
              </a:rPr>
              <a:t>State omitted metadata, history, identity, and configuration</a:t>
            </a:r>
          </a:p>
        </p:txBody>
      </p:sp>
      <p:sp>
        <p:nvSpPr>
          <p:cNvPr id="27" name="">
            <a:extLst xmlns:a="http://schemas.openxmlformats.org/drawingml/2006/main">
              <a:ext uri="{FF2B5EF4-FFF2-40B4-BE49-F238E27FC236}">
                <a16:creationId xmlns:a16="http://schemas.microsoft.com/office/drawing/2014/main" id="{A02C9C83-8580-4F11-AC01-AE4BCEC32FA4}"/>
              </a:ext>
            </a:extLst>
          </p:cNvPr>
          <p:cNvSpPr>
            <a:spLocks xmlns:a="http://schemas.openxmlformats.org/drawingml/2006/main" noGrp="1"/>
          </p:cNvSpPr>
          <p:nvPr/>
        </p:nvSpPr>
        <p:spPr>
          <a:xfrm xmlns:a="http://schemas.openxmlformats.org/drawingml/2006/main">
            <a:off x="914400" y="1619250"/>
            <a:ext cx="1000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Never overwrite the source while learning whether the artifact works.</a:t>
            </a:r>
          </a:p>
        </p:txBody>
      </p:sp>
    </p:spTree>
    <p:extLst>
      <p:ext uri="{BB962C8B-B14F-4D97-AF65-F5344CB8AC3E}">
        <p14:creationId xmlns:p14="http://schemas.microsoft.com/office/powerpoint/2010/main" val="1323082933"/>
      </p:ext>
    </p:extLst>
  </p:cSld>
</p:sld>
</file>

<file path=ppt/slides/slide13.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C8E4420-506A-44DF-BB09-E68F3D0BED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8059E0E8-34D2-4AE4-8D62-C6022BFD7EBE}"/>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FC702BF2-20DB-4960-B9BC-00282B9F53C9}"/>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JSON recovery and mongodump cover different scopes</a:t>
            </a:r>
          </a:p>
        </p:txBody>
      </p:sp>
      <p:sp>
        <p:nvSpPr>
          <p:cNvPr id="4" name="">
            <a:extLst xmlns:a="http://schemas.openxmlformats.org/drawingml/2006/main">
              <a:ext uri="{FF2B5EF4-FFF2-40B4-BE49-F238E27FC236}">
                <a16:creationId xmlns:a16="http://schemas.microsoft.com/office/drawing/2014/main" id="{C047E55F-DC27-4869-9E4B-4C8ADFC6D1C5}"/>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EA6EA7C2-4562-4431-B302-2173CE66A71A}"/>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1738F1CE-49C2-4726-9D85-F9C527943BF2}"/>
              </a:ext>
            </a:extLst>
          </p:cNvPr>
          <p:cNvSpPr>
            <a:spLocks xmlns:a="http://schemas.openxmlformats.org/drawingml/2006/main" noGrp="1"/>
          </p:cNvSpPr>
          <p:nvPr/>
        </p:nvSpPr>
        <p:spPr>
          <a:xfrm xmlns:a="http://schemas.openxmlformats.org/drawingml/2006/main">
            <a:off x="7239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D4ED8"/>
                </a:solidFill>
                <a:latin typeface="Helvetica Neue"/>
                <a:ea typeface="Helvetica Neue"/>
                <a:cs typeface="Helvetica Neue"/>
              </a:defRPr>
            </a:pPr>
            <a:r>
              <a:rPr sz="1950" b="1">
                <a:solidFill>
                  <a:srgbClr val="1D4ED8"/>
                </a:solidFill>
                <a:latin typeface="Helvetica Neue"/>
                <a:ea typeface="Helvetica Neue"/>
                <a:cs typeface="Helvetica Neue"/>
              </a:rPr>
              <a:t>Canonical Extended JSON exercise</a:t>
            </a:r>
          </a:p>
        </p:txBody>
      </p:sp>
      <p:sp>
        <p:nvSpPr>
          <p:cNvPr id="7" name="">
            <a:extLst xmlns:a="http://schemas.openxmlformats.org/drawingml/2006/main">
              <a:ext uri="{FF2B5EF4-FFF2-40B4-BE49-F238E27FC236}">
                <a16:creationId xmlns:a16="http://schemas.microsoft.com/office/drawing/2014/main" id="{3F53E45D-29A3-4E2F-9C8C-A7F28CB3DBD8}"/>
              </a:ext>
            </a:extLst>
          </p:cNvPr>
          <p:cNvSpPr>
            <a:spLocks xmlns:a="http://schemas.openxmlformats.org/drawingml/2006/main" noGrp="1"/>
          </p:cNvSpPr>
          <p:nvPr/>
        </p:nvSpPr>
        <p:spPr>
          <a:xfrm xmlns:a="http://schemas.openxmlformats.org/drawingml/2006/main">
            <a:off x="6705600" y="16764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950" b="1">
                <a:solidFill>
                  <a:srgbClr val="111827"/>
                </a:solidFill>
                <a:latin typeface="Helvetica Neue"/>
                <a:ea typeface="Helvetica Neue"/>
                <a:cs typeface="Helvetica Neue"/>
              </a:defRPr>
            </a:pPr>
            <a:r>
              <a:rPr sz="1950" b="1">
                <a:solidFill>
                  <a:srgbClr val="111827"/>
                </a:solidFill>
                <a:latin typeface="Helvetica Neue"/>
                <a:ea typeface="Helvetica Neue"/>
                <a:cs typeface="Helvetica Neue"/>
              </a:rPr>
              <a:t>mongodump and mongorestore</a:t>
            </a:r>
          </a:p>
        </p:txBody>
      </p:sp>
      <p:sp>
        <p:nvSpPr>
          <p:cNvPr id="8" name="">
            <a:extLst xmlns:a="http://schemas.openxmlformats.org/drawingml/2006/main">
              <a:ext uri="{FF2B5EF4-FFF2-40B4-BE49-F238E27FC236}">
                <a16:creationId xmlns:a16="http://schemas.microsoft.com/office/drawing/2014/main" id="{A82F9DF8-85E9-4586-841D-D4E998AAE5BD}"/>
              </a:ext>
            </a:extLst>
          </p:cNvPr>
          <p:cNvSpPr>
            <a:spLocks xmlns:a="http://schemas.openxmlformats.org/drawingml/2006/main" noGrp="1"/>
          </p:cNvSpPr>
          <p:nvPr/>
        </p:nvSpPr>
        <p:spPr>
          <a:xfrm xmlns:a="http://schemas.openxmlformats.org/drawingml/2006/main">
            <a:off x="6096000" y="1638300"/>
            <a:ext cx="0" cy="430530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8A0E50AA-2373-4D89-808D-15191F29C572}"/>
              </a:ext>
            </a:extLst>
          </p:cNvPr>
          <p:cNvSpPr>
            <a:spLocks xmlns:a="http://schemas.openxmlformats.org/drawingml/2006/main" noGrp="1"/>
          </p:cNvSpPr>
          <p:nvPr/>
        </p:nvSpPr>
        <p:spPr>
          <a:xfrm xmlns:a="http://schemas.openxmlformats.org/drawingml/2006/main">
            <a:off x="762000" y="24003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1E876838-C6CE-4E8E-A113-286A0AA74255}"/>
              </a:ext>
            </a:extLst>
          </p:cNvPr>
          <p:cNvSpPr>
            <a:spLocks xmlns:a="http://schemas.openxmlformats.org/drawingml/2006/main" noGrp="1"/>
          </p:cNvSpPr>
          <p:nvPr/>
        </p:nvSpPr>
        <p:spPr>
          <a:xfrm xmlns:a="http://schemas.openxmlformats.org/drawingml/2006/main">
            <a:off x="10287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Readable collection-level interchange artifact</a:t>
            </a:r>
          </a:p>
        </p:txBody>
      </p:sp>
      <p:sp>
        <p:nvSpPr>
          <p:cNvPr id="11" name="">
            <a:extLst xmlns:a="http://schemas.openxmlformats.org/drawingml/2006/main">
              <a:ext uri="{FF2B5EF4-FFF2-40B4-BE49-F238E27FC236}">
                <a16:creationId xmlns:a16="http://schemas.microsoft.com/office/drawing/2014/main" id="{E4F02E0A-F1CC-422D-ABAB-BDEC27214E90}"/>
              </a:ext>
            </a:extLst>
          </p:cNvPr>
          <p:cNvSpPr>
            <a:spLocks xmlns:a="http://schemas.openxmlformats.org/drawingml/2006/main" noGrp="1"/>
          </p:cNvSpPr>
          <p:nvPr/>
        </p:nvSpPr>
        <p:spPr>
          <a:xfrm xmlns:a="http://schemas.openxmlformats.org/drawingml/2006/main">
            <a:off x="762000" y="31432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528DDDC7-2D55-47E8-B5AD-078266FDCB51}"/>
              </a:ext>
            </a:extLst>
          </p:cNvPr>
          <p:cNvSpPr>
            <a:spLocks xmlns:a="http://schemas.openxmlformats.org/drawingml/2006/main" noGrp="1"/>
          </p:cNvSpPr>
          <p:nvPr/>
        </p:nvSpPr>
        <p:spPr>
          <a:xfrm xmlns:a="http://schemas.openxmlformats.org/drawingml/2006/main">
            <a:off x="10287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Can preserve represented BSON value types</a:t>
            </a:r>
          </a:p>
        </p:txBody>
      </p:sp>
      <p:sp>
        <p:nvSpPr>
          <p:cNvPr id="13" name="">
            <a:extLst xmlns:a="http://schemas.openxmlformats.org/drawingml/2006/main">
              <a:ext uri="{FF2B5EF4-FFF2-40B4-BE49-F238E27FC236}">
                <a16:creationId xmlns:a16="http://schemas.microsoft.com/office/drawing/2014/main" id="{9E5D5129-833C-4F62-B5F6-6E2E75A1C333}"/>
              </a:ext>
            </a:extLst>
          </p:cNvPr>
          <p:cNvSpPr>
            <a:spLocks xmlns:a="http://schemas.openxmlformats.org/drawingml/2006/main" noGrp="1"/>
          </p:cNvSpPr>
          <p:nvPr/>
        </p:nvSpPr>
        <p:spPr>
          <a:xfrm xmlns:a="http://schemas.openxmlformats.org/drawingml/2006/main">
            <a:off x="762000" y="38862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4" name="">
            <a:extLst xmlns:a="http://schemas.openxmlformats.org/drawingml/2006/main">
              <a:ext uri="{FF2B5EF4-FFF2-40B4-BE49-F238E27FC236}">
                <a16:creationId xmlns:a16="http://schemas.microsoft.com/office/drawing/2014/main" id="{8823CF83-99FE-4D5B-996A-728C6354D86D}"/>
              </a:ext>
            </a:extLst>
          </p:cNvPr>
          <p:cNvSpPr>
            <a:spLocks xmlns:a="http://schemas.openxmlformats.org/drawingml/2006/main" noGrp="1"/>
          </p:cNvSpPr>
          <p:nvPr/>
        </p:nvSpPr>
        <p:spPr>
          <a:xfrm xmlns:a="http://schemas.openxmlformats.org/drawingml/2006/main">
            <a:off x="10287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Does not automatically recreate indexes, validators, users, or project settings</a:t>
            </a:r>
          </a:p>
        </p:txBody>
      </p:sp>
      <p:sp>
        <p:nvSpPr>
          <p:cNvPr id="15" name="">
            <a:extLst xmlns:a="http://schemas.openxmlformats.org/drawingml/2006/main">
              <a:ext uri="{FF2B5EF4-FFF2-40B4-BE49-F238E27FC236}">
                <a16:creationId xmlns:a16="http://schemas.microsoft.com/office/drawing/2014/main" id="{B4721B5D-97BD-4945-AFF0-5E28521389FA}"/>
              </a:ext>
            </a:extLst>
          </p:cNvPr>
          <p:cNvSpPr>
            <a:spLocks xmlns:a="http://schemas.openxmlformats.org/drawingml/2006/main" noGrp="1"/>
          </p:cNvSpPr>
          <p:nvPr/>
        </p:nvSpPr>
        <p:spPr>
          <a:xfrm xmlns:a="http://schemas.openxmlformats.org/drawingml/2006/main">
            <a:off x="6743700" y="24003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6" name="">
            <a:extLst xmlns:a="http://schemas.openxmlformats.org/drawingml/2006/main">
              <a:ext uri="{FF2B5EF4-FFF2-40B4-BE49-F238E27FC236}">
                <a16:creationId xmlns:a16="http://schemas.microsoft.com/office/drawing/2014/main" id="{E10CE141-344C-4A7B-B677-05CC158EA52F}"/>
              </a:ext>
            </a:extLst>
          </p:cNvPr>
          <p:cNvSpPr>
            <a:spLocks xmlns:a="http://schemas.openxmlformats.org/drawingml/2006/main" noGrp="1"/>
          </p:cNvSpPr>
          <p:nvPr/>
        </p:nvSpPr>
        <p:spPr>
          <a:xfrm xmlns:a="http://schemas.openxmlformats.org/drawingml/2006/main">
            <a:off x="7010400" y="23431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Database Tools logical dump and restore workflow</a:t>
            </a:r>
          </a:p>
        </p:txBody>
      </p:sp>
      <p:sp>
        <p:nvSpPr>
          <p:cNvPr id="17" name="">
            <a:extLst xmlns:a="http://schemas.openxmlformats.org/drawingml/2006/main">
              <a:ext uri="{FF2B5EF4-FFF2-40B4-BE49-F238E27FC236}">
                <a16:creationId xmlns:a16="http://schemas.microsoft.com/office/drawing/2014/main" id="{5B979E4A-BC4C-4F71-9ED7-3338A818F34C}"/>
              </a:ext>
            </a:extLst>
          </p:cNvPr>
          <p:cNvSpPr>
            <a:spLocks xmlns:a="http://schemas.openxmlformats.org/drawingml/2006/main" noGrp="1"/>
          </p:cNvSpPr>
          <p:nvPr/>
        </p:nvSpPr>
        <p:spPr>
          <a:xfrm xmlns:a="http://schemas.openxmlformats.org/drawingml/2006/main">
            <a:off x="6743700" y="314325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18" name="">
            <a:extLst xmlns:a="http://schemas.openxmlformats.org/drawingml/2006/main">
              <a:ext uri="{FF2B5EF4-FFF2-40B4-BE49-F238E27FC236}">
                <a16:creationId xmlns:a16="http://schemas.microsoft.com/office/drawing/2014/main" id="{384118CB-BF1A-4DD1-B84B-D54D95F26889}"/>
              </a:ext>
            </a:extLst>
          </p:cNvPr>
          <p:cNvSpPr>
            <a:spLocks xmlns:a="http://schemas.openxmlformats.org/drawingml/2006/main" noGrp="1"/>
          </p:cNvSpPr>
          <p:nvPr/>
        </p:nvSpPr>
        <p:spPr>
          <a:xfrm xmlns:a="http://schemas.openxmlformats.org/drawingml/2006/main">
            <a:off x="7010400" y="30861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Includes collection data and supported metadata such as options and indexes</a:t>
            </a:r>
          </a:p>
        </p:txBody>
      </p:sp>
      <p:sp>
        <p:nvSpPr>
          <p:cNvPr id="19" name="">
            <a:extLst xmlns:a="http://schemas.openxmlformats.org/drawingml/2006/main">
              <a:ext uri="{FF2B5EF4-FFF2-40B4-BE49-F238E27FC236}">
                <a16:creationId xmlns:a16="http://schemas.microsoft.com/office/drawing/2014/main" id="{E948D87F-E9EB-42D1-BECF-8E2A2694D90B}"/>
              </a:ext>
            </a:extLst>
          </p:cNvPr>
          <p:cNvSpPr>
            <a:spLocks xmlns:a="http://schemas.openxmlformats.org/drawingml/2006/main" noGrp="1"/>
          </p:cNvSpPr>
          <p:nvPr/>
        </p:nvSpPr>
        <p:spPr>
          <a:xfrm xmlns:a="http://schemas.openxmlformats.org/drawingml/2006/main">
            <a:off x="6743700" y="3886200"/>
            <a:ext cx="85725" cy="304800"/>
          </a:xfrm>
          <a:prstGeom xmlns:a="http://schemas.openxmlformats.org/drawingml/2006/main" prst="rect">
            <a:avLst/>
          </a:prstGeom>
          <a:solidFill xmlns:a="http://schemas.openxmlformats.org/drawingml/2006/main">
            <a:srgbClr val="475569"/>
          </a:solidFill>
          <a:ln xmlns:a="http://schemas.openxmlformats.org/drawingml/2006/main" w="0">
            <a:solidFill>
              <a:srgbClr val="475569"/>
            </a:solidFill>
            <a:prstDash val="solid"/>
          </a:ln>
        </p:spPr>
      </p:sp>
      <p:sp>
        <p:nvSpPr>
          <p:cNvPr id="20" name="">
            <a:extLst xmlns:a="http://schemas.openxmlformats.org/drawingml/2006/main">
              <a:ext uri="{FF2B5EF4-FFF2-40B4-BE49-F238E27FC236}">
                <a16:creationId xmlns:a16="http://schemas.microsoft.com/office/drawing/2014/main" id="{EA2F644B-A0EC-46FD-8289-EF7028624403}"/>
              </a:ext>
            </a:extLst>
          </p:cNvPr>
          <p:cNvSpPr>
            <a:spLocks xmlns:a="http://schemas.openxmlformats.org/drawingml/2006/main" noGrp="1"/>
          </p:cNvSpPr>
          <p:nvPr/>
        </p:nvSpPr>
        <p:spPr>
          <a:xfrm xmlns:a="http://schemas.openxmlformats.org/drawingml/2006/main">
            <a:off x="7010400" y="382905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Still does not recreate every Atlas project, network, or identity control</a:t>
            </a:r>
          </a:p>
        </p:txBody>
      </p:sp>
    </p:spTree>
    <p:extLst>
      <p:ext uri="{BB962C8B-B14F-4D97-AF65-F5344CB8AC3E}">
        <p14:creationId xmlns:p14="http://schemas.microsoft.com/office/powerpoint/2010/main" val="93836673"/>
      </p:ext>
    </p:extLst>
  </p:cSld>
</p:sld>
</file>

<file path=ppt/slides/slide14.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24F8641-6A22-4B0F-AC23-4A9A0E18864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eyebrow">
            <a:extLst xmlns:a="http://schemas.openxmlformats.org/drawingml/2006/main">
              <a:ext uri="{FF2B5EF4-FFF2-40B4-BE49-F238E27FC236}">
                <a16:creationId xmlns:a16="http://schemas.microsoft.com/office/drawing/2014/main" id="{1960107F-667B-4586-9EF0-1F63CEE8B4A6}"/>
              </a:ext>
            </a:extLst>
          </p:cNvPr>
          <p:cNvSpPr>
            <a:spLocks xmlns:a="http://schemas.openxmlformats.org/drawingml/2006/main" noGrp="1"/>
          </p:cNvSpPr>
          <p:nvPr/>
        </p:nvSpPr>
        <p:spPr>
          <a:xfrm xmlns:a="http://schemas.openxmlformats.org/drawingml/2006/main">
            <a:off x="609600" y="2952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975" b="1">
                <a:solidFill>
                  <a:srgbClr val="1D4ED8"/>
                </a:solidFill>
                <a:latin typeface="Helvetica Neue"/>
                <a:ea typeface="Helvetica Neue"/>
                <a:cs typeface="Helvetica Neue"/>
              </a:defRPr>
            </a:pPr>
            <a:r>
              <a:rPr sz="975" b="1">
                <a:solidFill>
                  <a:srgbClr val="1D4ED8"/>
                </a:solidFill>
                <a:latin typeface="Helvetica Neue"/>
                <a:ea typeface="Helvetica Neue"/>
                <a:cs typeface="Helvetica Neue"/>
              </a:rPr>
              <a:t>WEEK 12  /  CST4714</a:t>
            </a:r>
          </a:p>
        </p:txBody>
      </p:sp>
      <p:sp>
        <p:nvSpPr>
          <p:cNvPr id="3" name="slide-title">
            <a:extLst xmlns:a="http://schemas.openxmlformats.org/drawingml/2006/main">
              <a:ext uri="{FF2B5EF4-FFF2-40B4-BE49-F238E27FC236}">
                <a16:creationId xmlns:a16="http://schemas.microsoft.com/office/drawing/2014/main" id="{D343683A-76DE-4CEF-AFF6-64C3D4F19A2B}"/>
              </a:ext>
            </a:extLst>
          </p:cNvPr>
          <p:cNvSpPr>
            <a:spLocks xmlns:a="http://schemas.openxmlformats.org/drawingml/2006/main" noGrp="1"/>
          </p:cNvSpPr>
          <p:nvPr/>
        </p:nvSpPr>
        <p:spPr>
          <a:xfrm xmlns:a="http://schemas.openxmlformats.org/drawingml/2006/main">
            <a:off x="609600" y="590550"/>
            <a:ext cx="109728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Lab 2: Restore MongoDB data and verify the claim</a:t>
            </a:r>
          </a:p>
        </p:txBody>
      </p:sp>
      <p:sp>
        <p:nvSpPr>
          <p:cNvPr id="4" name="">
            <a:extLst xmlns:a="http://schemas.openxmlformats.org/drawingml/2006/main">
              <a:ext uri="{FF2B5EF4-FFF2-40B4-BE49-F238E27FC236}">
                <a16:creationId xmlns:a16="http://schemas.microsoft.com/office/drawing/2014/main" id="{34257F1B-1910-4D04-8676-6822C5052EFA}"/>
              </a:ext>
            </a:extLst>
          </p:cNvPr>
          <p:cNvSpPr>
            <a:spLocks xmlns:a="http://schemas.openxmlformats.org/drawingml/2006/main" noGrp="1"/>
          </p:cNvSpPr>
          <p:nvPr/>
        </p:nvSpPr>
        <p:spPr>
          <a:xfrm xmlns:a="http://schemas.openxmlformats.org/drawingml/2006/main">
            <a:off x="609600" y="1295400"/>
            <a:ext cx="109728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5" name="slide-number">
            <a:extLst xmlns:a="http://schemas.openxmlformats.org/drawingml/2006/main">
              <a:ext uri="{FF2B5EF4-FFF2-40B4-BE49-F238E27FC236}">
                <a16:creationId xmlns:a16="http://schemas.microsoft.com/office/drawing/2014/main" id="{9D2EE62B-371C-4F5C-9923-93836468F162}"/>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14</a:t>
            </a:r>
          </a:p>
        </p:txBody>
      </p:sp>
      <p:sp>
        <p:nvSpPr>
          <p:cNvPr id="6" name="">
            <a:extLst xmlns:a="http://schemas.openxmlformats.org/drawingml/2006/main">
              <a:ext uri="{FF2B5EF4-FFF2-40B4-BE49-F238E27FC236}">
                <a16:creationId xmlns:a16="http://schemas.microsoft.com/office/drawing/2014/main" id="{6560DE6C-DD5A-4599-BF58-7B6B871F1046}"/>
              </a:ext>
            </a:extLst>
          </p:cNvPr>
          <p:cNvSpPr>
            <a:spLocks xmlns:a="http://schemas.openxmlformats.org/drawingml/2006/main" noGrp="1"/>
          </p:cNvSpPr>
          <p:nvPr/>
        </p:nvSpPr>
        <p:spPr>
          <a:xfrm xmlns:a="http://schemas.openxmlformats.org/drawingml/2006/main">
            <a:off x="723900" y="160020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875">
                <a:solidFill>
                  <a:srgbClr val="475569"/>
                </a:solidFill>
                <a:latin typeface="Helvetica Neue"/>
                <a:ea typeface="Helvetica Neue"/>
                <a:cs typeface="Helvetica Neue"/>
              </a:defRPr>
            </a:pPr>
            <a:r>
              <a:rPr sz="1875">
                <a:solidFill>
                  <a:srgbClr val="475569"/>
                </a:solidFill>
                <a:latin typeface="Helvetica Neue"/>
                <a:ea typeface="Helvetica Neue"/>
                <a:cs typeface="Helvetica Neue"/>
              </a:rPr>
              <a:t>Run the recovery notebook through an Atlas connection or the complete offline path.</a:t>
            </a:r>
          </a:p>
        </p:txBody>
      </p:sp>
      <p:sp>
        <p:nvSpPr>
          <p:cNvPr id="7" name="">
            <a:extLst xmlns:a="http://schemas.openxmlformats.org/drawingml/2006/main">
              <a:ext uri="{FF2B5EF4-FFF2-40B4-BE49-F238E27FC236}">
                <a16:creationId xmlns:a16="http://schemas.microsoft.com/office/drawing/2014/main" id="{849524BD-F491-4A19-8FDB-83FD57CD78B9}"/>
              </a:ext>
            </a:extLst>
          </p:cNvPr>
          <p:cNvSpPr>
            <a:spLocks xmlns:a="http://schemas.openxmlformats.org/drawingml/2006/main" noGrp="1"/>
          </p:cNvSpPr>
          <p:nvPr/>
        </p:nvSpPr>
        <p:spPr>
          <a:xfrm xmlns:a="http://schemas.openxmlformats.org/drawingml/2006/main">
            <a:off x="876300" y="25717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E0FA744D-29D7-4A7B-BE4A-9169C7AAF315}"/>
              </a:ext>
            </a:extLst>
          </p:cNvPr>
          <p:cNvSpPr>
            <a:spLocks xmlns:a="http://schemas.openxmlformats.org/drawingml/2006/main" noGrp="1"/>
          </p:cNvSpPr>
          <p:nvPr/>
        </p:nvSpPr>
        <p:spPr>
          <a:xfrm xmlns:a="http://schemas.openxmlformats.org/drawingml/2006/main">
            <a:off x="1143000" y="251460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Export canonical Extended JSON, record size and SHA-256, and restore into a different target.</a:t>
            </a:r>
          </a:p>
        </p:txBody>
      </p:sp>
      <p:sp>
        <p:nvSpPr>
          <p:cNvPr id="9" name="">
            <a:extLst xmlns:a="http://schemas.openxmlformats.org/drawingml/2006/main">
              <a:ext uri="{FF2B5EF4-FFF2-40B4-BE49-F238E27FC236}">
                <a16:creationId xmlns:a16="http://schemas.microsoft.com/office/drawing/2014/main" id="{9FF95FC3-6CB0-47BC-AD15-BE122CD252F7}"/>
              </a:ext>
            </a:extLst>
          </p:cNvPr>
          <p:cNvSpPr>
            <a:spLocks xmlns:a="http://schemas.openxmlformats.org/drawingml/2006/main" noGrp="1"/>
          </p:cNvSpPr>
          <p:nvPr/>
        </p:nvSpPr>
        <p:spPr>
          <a:xfrm xmlns:a="http://schemas.openxmlformats.org/drawingml/2006/main">
            <a:off x="876300" y="3286125"/>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599C3D98-760B-478B-9271-1140995ABE7F}"/>
              </a:ext>
            </a:extLst>
          </p:cNvPr>
          <p:cNvSpPr>
            <a:spLocks xmlns:a="http://schemas.openxmlformats.org/drawingml/2006/main" noGrp="1"/>
          </p:cNvSpPr>
          <p:nvPr/>
        </p:nvSpPr>
        <p:spPr>
          <a:xfrm xmlns:a="http://schemas.openxmlformats.org/drawingml/2006/main">
            <a:off x="1143000" y="3228975"/>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Verify counts, identifiers, BSON types, one meaningful query, and one expected rule failure.</a:t>
            </a:r>
          </a:p>
        </p:txBody>
      </p:sp>
      <p:sp>
        <p:nvSpPr>
          <p:cNvPr id="11" name="">
            <a:extLst xmlns:a="http://schemas.openxmlformats.org/drawingml/2006/main">
              <a:ext uri="{FF2B5EF4-FFF2-40B4-BE49-F238E27FC236}">
                <a16:creationId xmlns:a16="http://schemas.microsoft.com/office/drawing/2014/main" id="{32515BFA-B515-4BB8-A016-BAA5B3843D84}"/>
              </a:ext>
            </a:extLst>
          </p:cNvPr>
          <p:cNvSpPr>
            <a:spLocks xmlns:a="http://schemas.openxmlformats.org/drawingml/2006/main" noGrp="1"/>
          </p:cNvSpPr>
          <p:nvPr/>
        </p:nvSpPr>
        <p:spPr>
          <a:xfrm xmlns:a="http://schemas.openxmlformats.org/drawingml/2006/main">
            <a:off x="876300" y="400050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2" name="">
            <a:extLst xmlns:a="http://schemas.openxmlformats.org/drawingml/2006/main">
              <a:ext uri="{FF2B5EF4-FFF2-40B4-BE49-F238E27FC236}">
                <a16:creationId xmlns:a16="http://schemas.microsoft.com/office/drawing/2014/main" id="{C4ABD169-D14B-4404-AF6E-90895146B943}"/>
              </a:ext>
            </a:extLst>
          </p:cNvPr>
          <p:cNvSpPr>
            <a:spLocks xmlns:a="http://schemas.openxmlformats.org/drawingml/2006/main" noGrp="1"/>
          </p:cNvSpPr>
          <p:nvPr/>
        </p:nvSpPr>
        <p:spPr>
          <a:xfrm xmlns:a="http://schemas.openxmlformats.org/drawingml/2006/main">
            <a:off x="1143000" y="3943350"/>
            <a:ext cx="100203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650">
                <a:solidFill>
                  <a:srgbClr val="111827"/>
                </a:solidFill>
                <a:latin typeface="Helvetica Neue"/>
                <a:ea typeface="Helvetica Neue"/>
                <a:cs typeface="Helvetica Neue"/>
              </a:defRPr>
            </a:pPr>
            <a:r>
              <a:rPr sz="1650">
                <a:solidFill>
                  <a:srgbClr val="111827"/>
                </a:solidFill>
                <a:latin typeface="Helvetica Neue"/>
                <a:ea typeface="Helvetica Neue"/>
                <a:cs typeface="Helvetica Neue"/>
              </a:rPr>
              <a:t>Compare the artifact with mongodump and confirm that no URI or private account detail appears in output.</a:t>
            </a:r>
          </a:p>
        </p:txBody>
      </p:sp>
      <p:sp>
        <p:nvSpPr>
          <p:cNvPr id="13" name="">
            <a:extLst xmlns:a="http://schemas.openxmlformats.org/drawingml/2006/main">
              <a:ext uri="{FF2B5EF4-FFF2-40B4-BE49-F238E27FC236}">
                <a16:creationId xmlns:a16="http://schemas.microsoft.com/office/drawing/2014/main" id="{81F61E49-6760-4AB1-AD90-A67DFDC6189F}"/>
              </a:ext>
            </a:extLst>
          </p:cNvPr>
          <p:cNvSpPr>
            <a:spLocks xmlns:a="http://schemas.openxmlformats.org/drawingml/2006/main" noGrp="1"/>
          </p:cNvSpPr>
          <p:nvPr/>
        </p:nvSpPr>
        <p:spPr>
          <a:xfrm xmlns:a="http://schemas.openxmlformats.org/drawingml/2006/main">
            <a:off x="723900" y="5429250"/>
            <a:ext cx="10287000" cy="666750"/>
          </a:xfrm>
          <a:prstGeom xmlns:a="http://schemas.openxmlformats.org/drawingml/2006/main" prst="rect">
            <a:avLst/>
          </a:prstGeom>
          <a:solidFill xmlns:a="http://schemas.openxmlformats.org/drawingml/2006/main">
            <a:srgbClr val="1D4ED8"/>
          </a:solidFill>
          <a:ln xmlns:a="http://schemas.openxmlformats.org/drawingml/2006/main" w="9525">
            <a:solidFill>
              <a:srgbClr val="1D4ED8"/>
            </a:solidFill>
            <a:prstDash val="solid"/>
          </a:ln>
        </p:spPr>
      </p:sp>
      <p:sp>
        <p:nvSpPr>
          <p:cNvPr id="14" name="">
            <a:extLst xmlns:a="http://schemas.openxmlformats.org/drawingml/2006/main">
              <a:ext uri="{FF2B5EF4-FFF2-40B4-BE49-F238E27FC236}">
                <a16:creationId xmlns:a16="http://schemas.microsoft.com/office/drawing/2014/main" id="{F64EB649-3E55-4B72-96D8-96FB724C6FD3}"/>
              </a:ext>
            </a:extLst>
          </p:cNvPr>
          <p:cNvSpPr>
            <a:spLocks xmlns:a="http://schemas.openxmlformats.org/drawingml/2006/main" noGrp="1"/>
          </p:cNvSpPr>
          <p:nvPr/>
        </p:nvSpPr>
        <p:spPr>
          <a:xfrm xmlns:a="http://schemas.openxmlformats.org/drawingml/2006/main">
            <a:off x="933450" y="5591175"/>
            <a:ext cx="985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p xmlns:a="http://schemas.openxmlformats.org/drawingml/2006/main">
            <a:pPr>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SUBMIT ONE THING  /  one completed 05_mongodb_logical_recovery.ipynb notebook</a:t>
            </a:r>
          </a:p>
        </p:txBody>
      </p:sp>
    </p:spTree>
    <p:extLst>
      <p:ext uri="{BB962C8B-B14F-4D97-AF65-F5344CB8AC3E}">
        <p14:creationId xmlns:p14="http://schemas.microsoft.com/office/powerpoint/2010/main" val="1706220381"/>
      </p:ext>
    </p:extLst>
  </p:cSld>
</p:sld>
</file>

<file path=ppt/slides/slide15.xml><?xml version="1.0" encoding="utf-8"?>
<p:sld xmlns:p="http://schemas.openxmlformats.org/presentationml/2006/main">
  <p:cSld>
    <p:bg>
      <p:bgPr>
        <a:solidFill xmlns:a="http://schemas.openxmlformats.org/drawingml/2006/main">
          <a:srgbClr val="FCFC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938019B-5F99-4632-BD09-76ACC94107D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CFCFA"/>
          </a:solidFill>
          <a:ln xmlns:a="http://schemas.openxmlformats.org/drawingml/2006/main" w="0">
            <a:solidFill>
              <a:srgbClr val="FCFCFA"/>
            </a:solidFill>
            <a:prstDash val="solid"/>
          </a:ln>
        </p:spPr>
      </p:sp>
      <p:sp>
        <p:nvSpPr>
          <p:cNvPr id="2" name="">
            <a:extLst xmlns:a="http://schemas.openxmlformats.org/drawingml/2006/main">
              <a:ext uri="{FF2B5EF4-FFF2-40B4-BE49-F238E27FC236}">
                <a16:creationId xmlns:a16="http://schemas.microsoft.com/office/drawing/2014/main" id="{5D3F61B6-C279-47B1-ADF1-B0A6DED321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3" name="">
            <a:extLst xmlns:a="http://schemas.openxmlformats.org/drawingml/2006/main">
              <a:ext uri="{FF2B5EF4-FFF2-40B4-BE49-F238E27FC236}">
                <a16:creationId xmlns:a16="http://schemas.microsoft.com/office/drawing/2014/main" id="{F1DADB5B-DF4C-4612-8164-BDB8222357C3}"/>
              </a:ext>
            </a:extLst>
          </p:cNvPr>
          <p:cNvSpPr>
            <a:spLocks xmlns:a="http://schemas.openxmlformats.org/drawingml/2006/main" noGrp="1"/>
          </p:cNvSpPr>
          <p:nvPr/>
        </p:nvSpPr>
        <p:spPr>
          <a:xfrm xmlns:a="http://schemas.openxmlformats.org/drawingml/2006/main">
            <a:off x="685800" y="952500"/>
            <a:ext cx="9906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85317"/>
          </a:bodyPr>
          <a:lstStyle xmlns:a="http://schemas.openxmlformats.org/drawingml/2006/main"/>
          <a:p xmlns:a="http://schemas.openxmlformats.org/drawingml/2006/main">
            <a:pPr>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Reliable systems make failure behavior and recovery evidence explicit</a:t>
            </a:r>
          </a:p>
        </p:txBody>
      </p:sp>
      <p:sp>
        <p:nvSpPr>
          <p:cNvPr id="4" name="">
            <a:extLst xmlns:a="http://schemas.openxmlformats.org/drawingml/2006/main">
              <a:ext uri="{FF2B5EF4-FFF2-40B4-BE49-F238E27FC236}">
                <a16:creationId xmlns:a16="http://schemas.microsoft.com/office/drawing/2014/main" id="{EA992D3B-E460-4E32-A575-A739E033729E}"/>
              </a:ext>
            </a:extLst>
          </p:cNvPr>
          <p:cNvSpPr>
            <a:spLocks xmlns:a="http://schemas.openxmlformats.org/drawingml/2006/main" noGrp="1"/>
          </p:cNvSpPr>
          <p:nvPr/>
        </p:nvSpPr>
        <p:spPr>
          <a:xfrm xmlns:a="http://schemas.openxmlformats.org/drawingml/2006/main">
            <a:off x="723900" y="2286000"/>
            <a:ext cx="91440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2550" b="1">
                <a:solidFill>
                  <a:srgbClr val="1D4ED8"/>
                </a:solidFill>
                <a:latin typeface="Helvetica Neue"/>
                <a:ea typeface="Helvetica Neue"/>
                <a:cs typeface="Helvetica Neue"/>
              </a:defRPr>
            </a:pPr>
            <a:r>
              <a:rPr sz="2550" b="1">
                <a:solidFill>
                  <a:srgbClr val="1D4ED8"/>
                </a:solidFill>
                <a:latin typeface="Helvetica Neue"/>
                <a:ea typeface="Helvetica Neue"/>
                <a:cs typeface="Helvetica Neue"/>
              </a:rPr>
              <a:t>Replicas preserve service history; separate artifacts preserve recoverable history.</a:t>
            </a:r>
          </a:p>
        </p:txBody>
      </p:sp>
      <p:sp>
        <p:nvSpPr>
          <p:cNvPr id="5" name="">
            <a:extLst xmlns:a="http://schemas.openxmlformats.org/drawingml/2006/main">
              <a:ext uri="{FF2B5EF4-FFF2-40B4-BE49-F238E27FC236}">
                <a16:creationId xmlns:a16="http://schemas.microsoft.com/office/drawing/2014/main" id="{255285F4-2ABC-4C23-9770-18DB790543F8}"/>
              </a:ext>
            </a:extLst>
          </p:cNvPr>
          <p:cNvSpPr>
            <a:spLocks xmlns:a="http://schemas.openxmlformats.org/drawingml/2006/main" noGrp="1"/>
          </p:cNvSpPr>
          <p:nvPr/>
        </p:nvSpPr>
        <p:spPr>
          <a:xfrm xmlns:a="http://schemas.openxmlformats.org/drawingml/2006/main">
            <a:off x="781050" y="42481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6" name="">
            <a:extLst xmlns:a="http://schemas.openxmlformats.org/drawingml/2006/main">
              <a:ext uri="{FF2B5EF4-FFF2-40B4-BE49-F238E27FC236}">
                <a16:creationId xmlns:a16="http://schemas.microsoft.com/office/drawing/2014/main" id="{E07F0A3A-A68D-4F47-B13D-2555D2DD64CA}"/>
              </a:ext>
            </a:extLst>
          </p:cNvPr>
          <p:cNvSpPr>
            <a:spLocks xmlns:a="http://schemas.openxmlformats.org/drawingml/2006/main" noGrp="1"/>
          </p:cNvSpPr>
          <p:nvPr/>
        </p:nvSpPr>
        <p:spPr>
          <a:xfrm xmlns:a="http://schemas.openxmlformats.org/drawingml/2006/main">
            <a:off x="1047750" y="41910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operation and failure does the promise address?</a:t>
            </a:r>
          </a:p>
        </p:txBody>
      </p:sp>
      <p:sp>
        <p:nvSpPr>
          <p:cNvPr id="7" name="">
            <a:extLst xmlns:a="http://schemas.openxmlformats.org/drawingml/2006/main">
              <a:ext uri="{FF2B5EF4-FFF2-40B4-BE49-F238E27FC236}">
                <a16:creationId xmlns:a16="http://schemas.microsoft.com/office/drawing/2014/main" id="{5058F040-380F-4FC1-B653-308DDF7E1863}"/>
              </a:ext>
            </a:extLst>
          </p:cNvPr>
          <p:cNvSpPr>
            <a:spLocks xmlns:a="http://schemas.openxmlformats.org/drawingml/2006/main" noGrp="1"/>
          </p:cNvSpPr>
          <p:nvPr/>
        </p:nvSpPr>
        <p:spPr>
          <a:xfrm xmlns:a="http://schemas.openxmlformats.org/drawingml/2006/main">
            <a:off x="781050" y="48958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8" name="">
            <a:extLst xmlns:a="http://schemas.openxmlformats.org/drawingml/2006/main">
              <a:ext uri="{FF2B5EF4-FFF2-40B4-BE49-F238E27FC236}">
                <a16:creationId xmlns:a16="http://schemas.microsoft.com/office/drawing/2014/main" id="{10CCEA11-7733-4658-B8D9-73BA9625D6E5}"/>
              </a:ext>
            </a:extLst>
          </p:cNvPr>
          <p:cNvSpPr>
            <a:spLocks xmlns:a="http://schemas.openxmlformats.org/drawingml/2006/main" noGrp="1"/>
          </p:cNvSpPr>
          <p:nvPr/>
        </p:nvSpPr>
        <p:spPr>
          <a:xfrm xmlns:a="http://schemas.openxmlformats.org/drawingml/2006/main">
            <a:off x="1047750" y="48387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setting changes acknowledgment, routing, or visibility?</a:t>
            </a:r>
          </a:p>
        </p:txBody>
      </p:sp>
      <p:sp>
        <p:nvSpPr>
          <p:cNvPr id="9" name="">
            <a:extLst xmlns:a="http://schemas.openxmlformats.org/drawingml/2006/main">
              <a:ext uri="{FF2B5EF4-FFF2-40B4-BE49-F238E27FC236}">
                <a16:creationId xmlns:a16="http://schemas.microsoft.com/office/drawing/2014/main" id="{FE96CB96-C4E2-46BA-9C24-17FBA78DCB91}"/>
              </a:ext>
            </a:extLst>
          </p:cNvPr>
          <p:cNvSpPr>
            <a:spLocks xmlns:a="http://schemas.openxmlformats.org/drawingml/2006/main" noGrp="1"/>
          </p:cNvSpPr>
          <p:nvPr/>
        </p:nvSpPr>
        <p:spPr>
          <a:xfrm xmlns:a="http://schemas.openxmlformats.org/drawingml/2006/main">
            <a:off x="781050" y="5543550"/>
            <a:ext cx="85725" cy="304800"/>
          </a:xfrm>
          <a:prstGeom xmlns:a="http://schemas.openxmlformats.org/drawingml/2006/main" prst="rect">
            <a:avLst/>
          </a:prstGeom>
          <a:solidFill xmlns:a="http://schemas.openxmlformats.org/drawingml/2006/main">
            <a:srgbClr val="1D4ED8"/>
          </a:solidFill>
          <a:ln xmlns:a="http://schemas.openxmlformats.org/drawingml/2006/main" w="0">
            <a:solidFill>
              <a:srgbClr val="1D4ED8"/>
            </a:solidFill>
            <a:prstDash val="solid"/>
          </a:ln>
        </p:spPr>
      </p:sp>
      <p:sp>
        <p:nvSpPr>
          <p:cNvPr id="10" name="">
            <a:extLst xmlns:a="http://schemas.openxmlformats.org/drawingml/2006/main">
              <a:ext uri="{FF2B5EF4-FFF2-40B4-BE49-F238E27FC236}">
                <a16:creationId xmlns:a16="http://schemas.microsoft.com/office/drawing/2014/main" id="{00B56A9B-0F10-4FCA-8B1C-B5630DA66162}"/>
              </a:ext>
            </a:extLst>
          </p:cNvPr>
          <p:cNvSpPr>
            <a:spLocks xmlns:a="http://schemas.openxmlformats.org/drawingml/2006/main" noGrp="1"/>
          </p:cNvSpPr>
          <p:nvPr/>
        </p:nvSpPr>
        <p:spPr>
          <a:xfrm xmlns:a="http://schemas.openxmlformats.org/drawingml/2006/main">
            <a:off x="1047750" y="5486400"/>
            <a:ext cx="9734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Which restore checks prove scope, and which omissions remain?</a:t>
            </a:r>
          </a:p>
        </p:txBody>
      </p:sp>
      <p:sp>
        <p:nvSpPr>
          <p:cNvPr id="11" name="">
            <a:extLst xmlns:a="http://schemas.openxmlformats.org/drawingml/2006/main">
              <a:ext uri="{FF2B5EF4-FFF2-40B4-BE49-F238E27FC236}">
                <a16:creationId xmlns:a16="http://schemas.microsoft.com/office/drawing/2014/main" id="{C2EF632B-2322-4816-8DCB-BDA45B7D3FC7}"/>
              </a:ext>
            </a:extLst>
          </p:cNvPr>
          <p:cNvSpPr>
            <a:spLocks xmlns:a="http://schemas.openxmlformats.org/drawingml/2006/main" noGrp="1"/>
          </p:cNvSpPr>
          <p:nvPr/>
        </p:nvSpPr>
        <p:spPr>
          <a:xfrm xmlns:a="http://schemas.openxmlformats.org/drawingml/2006/main">
            <a:off x="11144250" y="6486525"/>
            <a:ext cx="438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t">
            <a:normAutofit fontScale="100000"/>
          </a:bodyPr>
          <a:lstStyle xmlns:a="http://schemas.openxmlformats.org/drawingml/2006/main"/>
          <a:p xmlns:a="http://schemas.openxmlformats.org/drawingml/2006/main">
            <a:pPr algn="r">
              <a:buNone/>
              <a:defRPr sz="825">
                <a:solidFill>
                  <a:srgbClr val="94A3B8"/>
                </a:solidFill>
                <a:latin typeface="Helvetica Neue"/>
                <a:ea typeface="Helvetica Neue"/>
                <a:cs typeface="Helvetica Neue"/>
              </a:defRPr>
            </a:pPr>
            <a:r>
              <a:rPr sz="825">
                <a:solidFill>
                  <a:srgbClr val="94A3B8"/>
                </a:solidFill>
                <a:latin typeface="Helvetica Neue"/>
                <a:ea typeface="Helvetica Neue"/>
                <a:cs typeface="Helvetica Neue"/>
              </a:rPr>
              <a:t>15</a:t>
            </a:r>
          </a:p>
        </p:txBody>
      </p:sp>
    </p:spTree>
    <p:extLst>
      <p:ext uri="{BB962C8B-B14F-4D97-AF65-F5344CB8AC3E}">
        <p14:creationId xmlns:p14="http://schemas.microsoft.com/office/powerpoint/2010/main" val="10875628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http://schemas.openxmlformats.org/package/2006/metadata/core-properties" xmlns:dc="http://purl.org/dc/elements/1.1/" xmlns:dcterms="http://purl.org/dc/terms/" xmlns:xsi="http://www.w3.org/2001/XMLSchema-instance">
  <dc:creator>Atilio Barreda</dc:creator>
  <lastModifiedBy>Atilio Barreda</lastModifiedBy>
  <dc:title>Week 12: MongoDB Reliability and Recovery Evidence</dc:title>
  <dcterms:created xsi:type="dcterms:W3CDTF">2026-08-09T04:11:16.6110000Z</dcterms:created>
  <dcterms:modified xsi:type="dcterms:W3CDTF">2026-08-09T00:00:00Z</dcterms:modified>
  <dc:subject>CST 4714 Database Administration</dc:subject>
  <dc:description>Week 12 presentation for Operating Cloud Databases.</dc:description>
  <dc:language>en-US</dc:language>
  <keywords>database administration; PostgreSQL; MongoDB; cloud databases; OER</keywords>
  <category>Open Educational Resource</category>
  <contentStatus>Release Candidate</contentStatus>
</coreProperties>
</file>