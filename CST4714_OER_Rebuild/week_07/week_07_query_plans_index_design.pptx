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9a3ce1412e44cf" /><Relationship Type="http://schemas.openxmlformats.org/officeDocument/2006/relationships/extended-properties" Target="/docProps/app.xml" Id="R0fb4f7de35e64309" /><Relationship Type="http://schemas.openxmlformats.org/officeDocument/2006/relationships/officeDocument" Target="/ppt/presentation.xml" Id="Rbf38712d1ff146f4" /></Relationships>
</file>

<file path=ppt/presentation.xml><?xml version="1.0" encoding="utf-8"?>
<p:presentation xmlns:p="http://schemas.openxmlformats.org/presentationml/2006/main">
  <p:sldMasterIdLst>
    <p:sldMasterId xmlns:r="http://schemas.openxmlformats.org/officeDocument/2006/relationships" id="2147483648" r:id="Rb4de05e28e56474a"/>
  </p:sldMasterIdLst>
  <p:notesMasterIdLst>
    <p:notesMasterId xmlns:r="http://schemas.openxmlformats.org/officeDocument/2006/relationships" r:id="Rd9dbff4c7b19477f"/>
  </p:notesMasterIdLst>
  <p:sldIdLst>
    <p:sldId xmlns:r="http://schemas.openxmlformats.org/officeDocument/2006/relationships" id="256" r:id="R02f2ee67977b4769"/>
    <p:sldId xmlns:r="http://schemas.openxmlformats.org/officeDocument/2006/relationships" id="257" r:id="R2770ed6d0cc24aba"/>
    <p:sldId xmlns:r="http://schemas.openxmlformats.org/officeDocument/2006/relationships" id="258" r:id="Rfcd33b90e75d4271"/>
    <p:sldId xmlns:r="http://schemas.openxmlformats.org/officeDocument/2006/relationships" id="259" r:id="R783c6252994448e3"/>
    <p:sldId xmlns:r="http://schemas.openxmlformats.org/officeDocument/2006/relationships" id="260" r:id="R7c97733dfc5c482c"/>
    <p:sldId xmlns:r="http://schemas.openxmlformats.org/officeDocument/2006/relationships" id="261" r:id="R652b519f0d34433c"/>
    <p:sldId xmlns:r="http://schemas.openxmlformats.org/officeDocument/2006/relationships" id="262" r:id="R4491a2c1b72d44d0"/>
    <p:sldId xmlns:r="http://schemas.openxmlformats.org/officeDocument/2006/relationships" id="263" r:id="R3a9de0afb9a34487"/>
    <p:sldId xmlns:r="http://schemas.openxmlformats.org/officeDocument/2006/relationships" id="264" r:id="R8dd49dd25737419f"/>
    <p:sldId xmlns:r="http://schemas.openxmlformats.org/officeDocument/2006/relationships" id="265" r:id="R2adf462d278146fd"/>
    <p:sldId xmlns:r="http://schemas.openxmlformats.org/officeDocument/2006/relationships" id="266" r:id="Re52eb1c30d524bd9"/>
    <p:sldId xmlns:r="http://schemas.openxmlformats.org/officeDocument/2006/relationships" id="267" r:id="Rfc2f346394764a0f"/>
    <p:sldId xmlns:r="http://schemas.openxmlformats.org/officeDocument/2006/relationships" id="268" r:id="R1548c5cd32f24e34"/>
    <p:sldId xmlns:r="http://schemas.openxmlformats.org/officeDocument/2006/relationships" id="269" r:id="R3021052a0ec64c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0e3f08f0b04012" /><Relationship Type="http://schemas.openxmlformats.org/officeDocument/2006/relationships/slideMaster" Target="/ppt/slideMasters/slideMaster1.xml" Id="Rb4de05e28e56474a" /><Relationship Type="http://schemas.openxmlformats.org/officeDocument/2006/relationships/notesMaster" Target="/ppt/notesMasters/notesMaster1.xml" Id="Rd9dbff4c7b19477f" /><Relationship Type="http://schemas.openxmlformats.org/officeDocument/2006/relationships/presProps" Target="/ppt/presProps.xml" Id="Rbeb0a4db9c5946d1" /><Relationship Type="http://schemas.openxmlformats.org/officeDocument/2006/relationships/tableStyles" Target="/ppt/tableStyles.xml" Id="R678cd97b7abf479c" /><Relationship Type="http://schemas.openxmlformats.org/officeDocument/2006/relationships/slide" Target="/ppt/slides/slide1.xml" Id="R02f2ee67977b4769" /><Relationship Type="http://schemas.openxmlformats.org/officeDocument/2006/relationships/slide" Target="/ppt/slides/slide2.xml" Id="R2770ed6d0cc24aba" /><Relationship Type="http://schemas.openxmlformats.org/officeDocument/2006/relationships/slide" Target="/ppt/slides/slide3.xml" Id="Rfcd33b90e75d4271" /><Relationship Type="http://schemas.openxmlformats.org/officeDocument/2006/relationships/slide" Target="/ppt/slides/slide4.xml" Id="R783c6252994448e3" /><Relationship Type="http://schemas.openxmlformats.org/officeDocument/2006/relationships/slide" Target="/ppt/slides/slide5.xml" Id="R7c97733dfc5c482c" /><Relationship Type="http://schemas.openxmlformats.org/officeDocument/2006/relationships/slide" Target="/ppt/slides/slide6.xml" Id="R652b519f0d34433c" /><Relationship Type="http://schemas.openxmlformats.org/officeDocument/2006/relationships/slide" Target="/ppt/slides/slide7.xml" Id="R4491a2c1b72d44d0" /><Relationship Type="http://schemas.openxmlformats.org/officeDocument/2006/relationships/slide" Target="/ppt/slides/slide8.xml" Id="R3a9de0afb9a34487" /><Relationship Type="http://schemas.openxmlformats.org/officeDocument/2006/relationships/slide" Target="/ppt/slides/slide9.xml" Id="R8dd49dd25737419f" /><Relationship Type="http://schemas.openxmlformats.org/officeDocument/2006/relationships/slide" Target="/ppt/slides/slide10.xml" Id="R2adf462d278146fd" /><Relationship Type="http://schemas.openxmlformats.org/officeDocument/2006/relationships/slide" Target="/ppt/slides/slide11.xml" Id="Re52eb1c30d524bd9" /><Relationship Type="http://schemas.openxmlformats.org/officeDocument/2006/relationships/slide" Target="/ppt/slides/slide12.xml" Id="Rfc2f346394764a0f" /><Relationship Type="http://schemas.openxmlformats.org/officeDocument/2006/relationships/slide" Target="/ppt/slides/slide13.xml" Id="R1548c5cd32f24e34" /><Relationship Type="http://schemas.openxmlformats.org/officeDocument/2006/relationships/slide" Target="/ppt/slides/slide14.xml" Id="R3021052a0ec64c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dd3bb7437945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25f2c66665412e" /><Relationship Type="http://schemas.openxmlformats.org/officeDocument/2006/relationships/notesMaster" Target="/ppt/notesMasters/notesMaster1.xml" Id="Rca650db96c4140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980e08b4934ce6" /><Relationship Type="http://schemas.openxmlformats.org/officeDocument/2006/relationships/notesMaster" Target="/ppt/notesMasters/notesMaster1.xml" Id="R866d4f1b438942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94f3dc400a4791" /><Relationship Type="http://schemas.openxmlformats.org/officeDocument/2006/relationships/notesMaster" Target="/ppt/notesMasters/notesMaster1.xml" Id="Rf0cbbc139df84f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c54d8df04e4d48" /><Relationship Type="http://schemas.openxmlformats.org/officeDocument/2006/relationships/notesMaster" Target="/ppt/notesMasters/notesMaster1.xml" Id="R9c562b78575e42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c9ea186fa54537" /><Relationship Type="http://schemas.openxmlformats.org/officeDocument/2006/relationships/notesMaster" Target="/ppt/notesMasters/notesMaster1.xml" Id="R0ba63b76ea6046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9be1ae36c34326" /><Relationship Type="http://schemas.openxmlformats.org/officeDocument/2006/relationships/notesMaster" Target="/ppt/notesMasters/notesMaster1.xml" Id="R9fc7c57d5dd24e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028fbb4f894831" /><Relationship Type="http://schemas.openxmlformats.org/officeDocument/2006/relationships/notesMaster" Target="/ppt/notesMasters/notesMaster1.xml" Id="R6ab538bb52564f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c33b4e6ca44357" /><Relationship Type="http://schemas.openxmlformats.org/officeDocument/2006/relationships/notesMaster" Target="/ppt/notesMasters/notesMaster1.xml" Id="R636590b36f6344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db9345e8ed434e" /><Relationship Type="http://schemas.openxmlformats.org/officeDocument/2006/relationships/notesMaster" Target="/ppt/notesMasters/notesMaster1.xml" Id="R6350a09947954d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df38c5038842b1" /><Relationship Type="http://schemas.openxmlformats.org/officeDocument/2006/relationships/notesMaster" Target="/ppt/notesMasters/notesMaster1.xml" Id="R6b3096c896264d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0861cdd0ee4180" /><Relationship Type="http://schemas.openxmlformats.org/officeDocument/2006/relationships/notesMaster" Target="/ppt/notesMasters/notesMaster1.xml" Id="Rf338bd4e982c48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8ff8081e8f4cbf" /><Relationship Type="http://schemas.openxmlformats.org/officeDocument/2006/relationships/notesMaster" Target="/ppt/notesMasters/notesMaster1.xml" Id="R576a503ea5174c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dc26c2ac8948f4" /><Relationship Type="http://schemas.openxmlformats.org/officeDocument/2006/relationships/notesMaster" Target="/ppt/notesMasters/notesMaster1.xml" Id="R95733a784e604a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dd458152ff45db" /><Relationship Type="http://schemas.openxmlformats.org/officeDocument/2006/relationships/notesMaster" Target="/ppt/notesMasters/notesMaster1.xml" Id="Rad39159b7d054b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changes performance work from intuition into an experiment. A query plan describes how PostgreSQL intends to execute a statement. `EXPLAIN ANALYZE` adds measured execution evidence. Neither output should be reduced to a rule such as ‘index scan good’ or ‘sequential scan bad.’</a:t>
            </a:r>
          </a:p>
          <a:p xmlns:a="http://schemas.openxmlformats.org/drawingml/2006/main">
            <a:r>
              <a:t/>
            </a:r>
          </a:p>
          <a:p xmlns:a="http://schemas.openxmlformats.org/drawingml/2006/main">
            <a:r>
              <a:t>We will begin with the query and a repeatable baseline, read plans from their most deeply indented operations outward, compare estimated and actual rows, and form one index hypothesis. Then we will change one thing, remeasure, and decide whether the observed benefit justifies write, storage, cache, and maintenance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an index to make the table faster’ is not a useful recommendation. Tables are not fast or slow by themselves. A workload includes query predicates, joins, ordering, grouping, frequency, concurrency, and data distribution. The objective may be lower response latency, fewer reads, better throughput, or more predictable high-percentile behavior.</a:t>
            </a:r>
          </a:p>
          <a:p xmlns:a="http://schemas.openxmlformats.org/drawingml/2006/main">
            <a:r>
              <a:t/>
            </a:r>
          </a:p>
          <a:p xmlns:a="http://schemas.openxmlformats.org/drawingml/2006/main">
            <a:r>
              <a:t>The evidence must match the objective. A classroom plan can reveal access method, row estimates, loops, and buffer use, but one warm-cache execution does not establish production tail latency. State the scope precisely. We will use a deterministic 100,000-row fixture so before-and-after evidence is comparable without pretending that it simulates an enterprise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a question such as ‘Can an index reduce work for active tickets in one category ordered by opening time?’ Capture the exact SQL and baseline plan. Record table size and whether `ANALYZE` statistics are current. Run enough comparable observations to avoid building a claim on one accidental timing.</a:t>
            </a:r>
          </a:p>
          <a:p xmlns:a="http://schemas.openxmlformats.org/drawingml/2006/main">
            <a:r>
              <a:t/>
            </a:r>
          </a:p>
          <a:p xmlns:a="http://schemas.openxmlformats.org/drawingml/2006/main">
            <a:r>
              <a:t>The hypothesis predicts a mechanism: a compound index may narrow the predicate and provide useful order, reducing scanned rows or an explicit sort. Add only that change, then rerun the same statement. The decision considers the observed benefit and the cost imposed on writes, storage, cache, maintenance, and other queries. A result of ‘do not keep this index’ is a successful experiment when the evidence supports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plan is a tree. The deepest child nodes access or produce rows first. Here, PostgreSQL scans tickets and users, builds a hash structure on one input, joins matching rows, and then sorts the joined output. The parent node consumes rows produced by its children.</a:t>
            </a:r>
          </a:p>
          <a:p xmlns:a="http://schemas.openxmlformats.org/drawingml/2006/main">
            <a:r>
              <a:t/>
            </a:r>
          </a:p>
          <a:p xmlns:a="http://schemas.openxmlformats.org/drawingml/2006/main">
            <a:r>
              <a:t>Read each node with four questions: what rows enter, what operation occurs, how many rows leave, and how many times the node loops. The top node is the final output, not necessarily the place where most work occurs. A visually prominent sort may be cheap if only a few rows reach it, while a deeply indented scan repeated many times can dominate total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`EXPLAIN` shows the planner's estimates without executing the statement. Adding `ANALYZE` executes the statement and reports actual timing and row counts. That distinction matters for writes: `EXPLAIN ANALYZE UPDATE` really updates unless protected and rolled back. This course uses safe `SELECT` statements on a deterministic fixture.</a:t>
            </a:r>
          </a:p>
          <a:p xmlns:a="http://schemas.openxmlformats.org/drawingml/2006/main">
            <a:r>
              <a:t/>
            </a:r>
          </a:p>
          <a:p xmlns:a="http://schemas.openxmlformats.org/drawingml/2006/main">
            <a:r>
              <a:t>`BUFFERS` reports block activity for plan nodes. Shared hits mean needed blocks were already in PostgreSQL's shared buffer cache; reads indicate blocks requested from lower storage layers, though operating-system caching still affects physical behavior. Preserve the exact SQL and full text plan. A cropped node name removes the estimates, actual rows, loops, and context needed to interpret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Planner costs are unitless estimates used to compare candidate plans. They are not milliseconds. Estimated rows come from statistics and assumptions about value distribution and predicate relationships. The planner chooses the plan with the lowest estimated total cost under its model.</a:t>
            </a:r>
          </a:p>
          <a:p xmlns:a="http://schemas.openxmlformats.org/drawingml/2006/main">
            <a:r>
              <a:t/>
            </a:r>
          </a:p>
          <a:p xmlns:a="http://schemas.openxmlformats.org/drawingml/2006/main">
            <a:r>
              <a:t>`EXPLAIN ANALYZE` reports actual rows and time for this execution. Compare estimated and actual row counts at each node, while accounting for loops. A large mismatch can result from stale statistics, skew, correlated columns, parameter values, or model limitations. The response may be to refresh statistics, improve statistics, rewrite the query, or change the model. An index does not automatically repair a bad cardinality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sequential scan is not a failure. If a table is small or a query needs most rows, reading the relation broadly may cost less than traversing an index and visiting many table pages. PostgreSQL evaluates estimated costs rather than following a rule that an available index must be used.</a:t>
            </a:r>
          </a:p>
          <a:p xmlns:a="http://schemas.openxmlformats.org/drawingml/2006/main">
            <a:r>
              <a:t/>
            </a:r>
          </a:p>
          <a:p xmlns:a="http://schemas.openxmlformats.org/drawingml/2006/main">
            <a:r>
              <a:t>Index scans are valuable when the key order and query shape let the engine avoid substantial work. A covering or index-only plan may reduce heap access when visibility permits, but it still has conditions and costs. Judge the plan using row fraction, buffers, loops, ordering, and measured objective. The plan node name alone cannot support a keep-or-drop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on the deterministic performance fixture. Run the assigned query and preserve the complete text plan. State the result grain and fixture size. Read from the leaf nodes upward and annotate actual rows, loops, buffers, access method, and any sort or join.</a:t>
            </a:r>
          </a:p>
          <a:p xmlns:a="http://schemas.openxmlformats.org/drawingml/2006/main">
            <a:r>
              <a:t/>
            </a:r>
          </a:p>
          <a:p xmlns:a="http://schemas.openxmlformats.org/drawingml/2006/main">
            <a:r>
              <a:t>Identify where the most relevant work occurs and compare estimated with actual rows. Then state one testable hypothesis, such as a compound index that may narrow the predicate and satisfy ordering. Do not create the index in this lab. The submission is one baseline plan with interpretation, which prevents the next class from inventing a before state after the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we turn the baseline into an index experiment. PostgreSQL B-tree indexes order key values and row locations in a way that can support equality, ranges, and compatible ordering. Compound indexes are ordered by their defined columns, so column order must follow actual predicates and sort behavior rather than a slogan.</a:t>
            </a:r>
          </a:p>
          <a:p xmlns:a="http://schemas.openxmlformats.org/drawingml/2006/main">
            <a:r>
              <a:t/>
            </a:r>
          </a:p>
          <a:p xmlns:a="http://schemas.openxmlformats.org/drawingml/2006/main">
            <a:r>
              <a:t>We will create one candidate, refresh or confirm statistics as appropriate, and rerun the same query. The evidence should show what changed in access, sort, rows removed, buffers, or runtime. The decision will also name write and storage costs and the limitations of the classroom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compound B-tree index has an ordered key. Equality predicates on leading columns can narrow the key range. A later date column may provide the requested ordering within each leading-key combination. The exact value depends on selectivity and the set of status values.</a:t>
            </a:r>
          </a:p>
          <a:p xmlns:a="http://schemas.openxmlformats.org/drawingml/2006/main">
            <a:r>
              <a:t/>
            </a:r>
          </a:p>
          <a:p xmlns:a="http://schemas.openxmlformats.org/drawingml/2006/main">
            <a:r>
              <a:t>Included columns can allow an index to carry returned values without placing them in the ordering key, potentially supporting index-only access. Wider indexes consume more storage and write work, and index-only scans still depend on visibility information. This table is a hypothesis guide, not a universal formula. Create the smallest candidate supported by the actual query and measure its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time matters, but it is noisy and incomplete. Compare the plan mechanism. Did the access path change? Did an explicit sort disappear because the index supplied order? Did rows removed by filter decrease? Did buffer activity move or shrink? Did loops change?</a:t>
            </a:r>
          </a:p>
          <a:p xmlns:a="http://schemas.openxmlformats.org/drawingml/2006/main">
            <a:r>
              <a:t/>
            </a:r>
          </a:p>
          <a:p xmlns:a="http://schemas.openxmlformats.org/drawingml/2006/main">
            <a:r>
              <a:t>Then compare repeatable runtime under similar conditions and preserve the actual result, because a faster wrong query is not an improvement. If the plan remains a sequential scan, the planner may correctly estimate that the predicate is broad, the table is small, or the index costs more. The candidate can still be rejected as unnecessary.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index that improves one read can slow writes and consume storage or cache. Updating an indexed column modifies both table and index structures. Creating an index on a large production table can consume time, I/O, and locking or concurrent-build resources. Every retained index becomes an object to monitor and maintain.</a:t>
            </a:r>
          </a:p>
          <a:p xmlns:a="http://schemas.openxmlformats.org/drawingml/2006/main">
            <a:r>
              <a:t/>
            </a:r>
          </a:p>
          <a:p xmlns:a="http://schemas.openxmlformats.org/drawingml/2006/main">
            <a:r>
              <a:t>Check whether another existing index already covers the prefix or workload. Name the query that justifies the object and the conditions under which it should be reconsidered. The classroom fixture supports a mechanism claim at its scale. It does not establish production concurrency, data skew, high-percentile latency, or future value distribution. Those limits belong in the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index experiment individually. Use the baseline from Lab 1 and write a specific prediction. Create only the assigned or justified candidate, preserve its exact definition, and rerun the identical query. Confirm the returned identifiers remain correct.</a:t>
            </a:r>
          </a:p>
          <a:p xmlns:a="http://schemas.openxmlformats.org/drawingml/2006/main">
            <a:r>
              <a:t/>
            </a:r>
          </a:p>
          <a:p xmlns:a="http://schemas.openxmlformats.org/drawingml/2006/main">
            <a:r>
              <a:t>Compare access method, sort, estimated and actual rows, loops, buffers, and repeatable runtime. Recommend keep or drop. A keep decision names the read benefit and at least one write, storage, or maintenance cost. A drop decision explains why the candidate did not reduce the relevant work. Submit one before-and-after recommendation, then remove the candidate if the lab directs cleanup.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replaced plan folklore with an evidence cycle. A workload question and objective define the test. The baseline records the exact query, fixture, plan, and conditions. Estimates describe the planner's model; actual rows, loops, buffers, and timing describe one execution. Sequential and index access are choices with context, not grades.</a:t>
            </a:r>
          </a:p>
          <a:p xmlns:a="http://schemas.openxmlformats.org/drawingml/2006/main">
            <a:r>
              <a:t/>
            </a:r>
          </a:p>
          <a:p xmlns:a="http://schemas.openxmlformats.org/drawingml/2006/main">
            <a:r>
              <a:t>An index hypothesis predicts which work should shrink. Remeasurement shows whether the mechanism changed while the result remained correct. The final recommendation includes ongoing costs and limits. Next week the evidence cycle becomes even stricter: a backup artifact will not count as recovery until it restores into a separate target and passes behavioral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73931c274d46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e5bfcb6b4441cb" /><Relationship Type="http://schemas.openxmlformats.org/officeDocument/2006/relationships/slideLayout" Target="/ppt/slideLayouts/slideLayout1.xml" Id="Re73bec01a35d44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3bec01a35d44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d05336fe15486f" /><Relationship Type="http://schemas.openxmlformats.org/officeDocument/2006/relationships/notesSlide" Target="/ppt/notesSlides/notesSlide1.xml" Id="Rffa61fe296a840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e33356953b4300" /><Relationship Type="http://schemas.openxmlformats.org/officeDocument/2006/relationships/notesSlide" Target="/ppt/notesSlides/notesSlide2.xml" Id="R6247d322c1064a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9fa442dc574be2" /><Relationship Type="http://schemas.openxmlformats.org/officeDocument/2006/relationships/notesSlide" Target="/ppt/notesSlides/notesSlide3.xml" Id="R84d07d20bad845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62a2a857374242" /><Relationship Type="http://schemas.openxmlformats.org/officeDocument/2006/relationships/notesSlide" Target="/ppt/notesSlides/notesSlide4.xml" Id="R912b62c3c6674c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3534ed041349b9" /><Relationship Type="http://schemas.openxmlformats.org/officeDocument/2006/relationships/notesSlide" Target="/ppt/notesSlides/notesSlide5.xml" Id="R5a3f7297e4854d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ea977189d94bf7" /><Relationship Type="http://schemas.openxmlformats.org/officeDocument/2006/relationships/notesSlide" Target="/ppt/notesSlides/notesSlide6.xml" Id="R2f03d1c808f04a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cc1097a1a44752" /><Relationship Type="http://schemas.openxmlformats.org/officeDocument/2006/relationships/notesSlide" Target="/ppt/notesSlides/notesSlide7.xml" Id="R8dcef9d9400843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ffd39382344e5e" /><Relationship Type="http://schemas.openxmlformats.org/officeDocument/2006/relationships/notesSlide" Target="/ppt/notesSlides/notesSlide8.xml" Id="R8c771fe74fca42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6c5f82e69e4551" /><Relationship Type="http://schemas.openxmlformats.org/officeDocument/2006/relationships/notesSlide" Target="/ppt/notesSlides/notesSlide9.xml" Id="R9d2da72c03e54c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8af05f6ee241c0" /><Relationship Type="http://schemas.openxmlformats.org/officeDocument/2006/relationships/notesSlide" Target="/ppt/notesSlides/notesSlide10.xml" Id="R68c8fd0c7ea04c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b981c16e82492f" /><Relationship Type="http://schemas.openxmlformats.org/officeDocument/2006/relationships/notesSlide" Target="/ppt/notesSlides/notesSlide11.xml" Id="Rf6211b40f0e845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26a96721794191" /><Relationship Type="http://schemas.openxmlformats.org/officeDocument/2006/relationships/notesSlide" Target="/ppt/notesSlides/notesSlide12.xml" Id="R992cc9ccc4e845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77704c7cae4eca" /><Relationship Type="http://schemas.openxmlformats.org/officeDocument/2006/relationships/notesSlide" Target="/ppt/notesSlides/notesSlide13.xml" Id="R6eb5aafdc4cd48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67e8abce264620" /><Relationship Type="http://schemas.openxmlformats.org/officeDocument/2006/relationships/notesSlide" Target="/ppt/notesSlides/notesSlide14.xml" Id="R73998f4f6ea04c7c"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A13315-553D-4E27-99A9-1E917ECD7C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C1F67E28-D0A4-4DB4-9075-7CD033B82E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97F204E7-FDE9-46AA-84CE-B49F0CB0003D}"/>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C2410C"/>
                </a:solidFill>
                <a:latin typeface="Helvetica Neue"/>
                <a:ea typeface="Helvetica Neue"/>
                <a:cs typeface="Helvetica Neue"/>
              </a:defRPr>
            </a:pPr>
            <a:r>
              <a:rPr sz="1350" b="1">
                <a:solidFill>
                  <a:srgbClr val="C2410C"/>
                </a:solidFill>
                <a:latin typeface="Helvetica Neue"/>
                <a:ea typeface="Helvetica Neue"/>
                <a:cs typeface="Helvetica Neue"/>
              </a:rPr>
              <a:t>WEEK 07</a:t>
            </a:r>
          </a:p>
        </p:txBody>
      </p:sp>
      <p:sp>
        <p:nvSpPr>
          <p:cNvPr id="4" name="cover-title">
            <a:extLst xmlns:a="http://schemas.openxmlformats.org/drawingml/2006/main">
              <a:ext uri="{FF2B5EF4-FFF2-40B4-BE49-F238E27FC236}">
                <a16:creationId xmlns:a16="http://schemas.microsoft.com/office/drawing/2014/main" id="{D13335C3-CE83-4358-8166-F41CCF2E0E61}"/>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Query Plans, Measurements, and Index Design</a:t>
            </a:r>
          </a:p>
        </p:txBody>
      </p:sp>
      <p:sp>
        <p:nvSpPr>
          <p:cNvPr id="5" name="cover-subtitle">
            <a:extLst xmlns:a="http://schemas.openxmlformats.org/drawingml/2006/main">
              <a:ext uri="{FF2B5EF4-FFF2-40B4-BE49-F238E27FC236}">
                <a16:creationId xmlns:a16="http://schemas.microsoft.com/office/drawing/2014/main" id="{9FA3210F-7207-4C2B-8AE5-114F282FEB5D}"/>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Read the work the database chose, test one hypothesis, and keep only justified access paths.</a:t>
            </a:r>
          </a:p>
        </p:txBody>
      </p:sp>
      <p:sp>
        <p:nvSpPr>
          <p:cNvPr id="6" name="">
            <a:extLst xmlns:a="http://schemas.openxmlformats.org/drawingml/2006/main">
              <a:ext uri="{FF2B5EF4-FFF2-40B4-BE49-F238E27FC236}">
                <a16:creationId xmlns:a16="http://schemas.microsoft.com/office/drawing/2014/main" id="{F3CCEF36-D453-466C-9841-F116141AF3E1}"/>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6CADBC2A-8AAD-4588-B090-0154AC62244E}"/>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C2410C"/>
                </a:solidFill>
                <a:latin typeface="Helvetica Neue"/>
                <a:ea typeface="Helvetica Neue"/>
                <a:cs typeface="Helvetica Neue"/>
              </a:defRPr>
            </a:pPr>
            <a:r>
              <a:rPr sz="8400" b="1">
                <a:solidFill>
                  <a:srgbClr val="C2410C"/>
                </a:solidFill>
                <a:latin typeface="Helvetica Neue"/>
                <a:ea typeface="Helvetica Neue"/>
                <a:cs typeface="Helvetica Neue"/>
              </a:rPr>
              <a:t>07</a:t>
            </a:r>
          </a:p>
        </p:txBody>
      </p:sp>
    </p:spTree>
    <p:extLst>
      <p:ext uri="{BB962C8B-B14F-4D97-AF65-F5344CB8AC3E}">
        <p14:creationId xmlns:p14="http://schemas.microsoft.com/office/powerpoint/2010/main" val="8731058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EEEA861-98C5-4CF3-B6A6-5257197390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4A80B11-E228-4F13-91E5-311211405D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66DDBE75-8BE8-4460-B93D-7D323AF0E5C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Performance begins with a workload question</a:t>
            </a:r>
          </a:p>
        </p:txBody>
      </p:sp>
      <p:sp>
        <p:nvSpPr>
          <p:cNvPr id="4" name="">
            <a:extLst xmlns:a="http://schemas.openxmlformats.org/drawingml/2006/main">
              <a:ext uri="{FF2B5EF4-FFF2-40B4-BE49-F238E27FC236}">
                <a16:creationId xmlns:a16="http://schemas.microsoft.com/office/drawing/2014/main" id="{A529A3D3-915D-42F1-A143-4BB9B388D29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627FD55-193C-4421-A270-2A4B31E3CE9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5E23D2BA-4830-4C77-A623-2B87FC4B4E40}"/>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C2410C"/>
                </a:solidFill>
                <a:latin typeface="Helvetica Neue"/>
                <a:ea typeface="Helvetica Neue"/>
                <a:cs typeface="Helvetica Neue"/>
              </a:defRPr>
            </a:pPr>
            <a:r>
              <a:rPr sz="2925" b="1">
                <a:solidFill>
                  <a:srgbClr val="C2410C"/>
                </a:solidFill>
                <a:latin typeface="Helvetica Neue"/>
                <a:ea typeface="Helvetica Neue"/>
                <a:cs typeface="Helvetica Neue"/>
              </a:rPr>
              <a:t>Faster for which query shape, data distribution, scale, and objective?</a:t>
            </a:r>
          </a:p>
        </p:txBody>
      </p:sp>
      <p:sp>
        <p:nvSpPr>
          <p:cNvPr id="7" name="">
            <a:extLst xmlns:a="http://schemas.openxmlformats.org/drawingml/2006/main">
              <a:ext uri="{FF2B5EF4-FFF2-40B4-BE49-F238E27FC236}">
                <a16:creationId xmlns:a16="http://schemas.microsoft.com/office/drawing/2014/main" id="{71AEAF90-A171-4345-BD11-329F5075C65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C2410C"/>
            </a:solidFill>
            <a:prstDash val="solid"/>
          </a:ln>
        </p:spPr>
      </p:sp>
      <p:sp>
        <p:nvSpPr>
          <p:cNvPr id="8" name="">
            <a:extLst xmlns:a="http://schemas.openxmlformats.org/drawingml/2006/main">
              <a:ext uri="{FF2B5EF4-FFF2-40B4-BE49-F238E27FC236}">
                <a16:creationId xmlns:a16="http://schemas.microsoft.com/office/drawing/2014/main" id="{191749F8-4622-4F38-B36D-7AB0C93DC9A2}"/>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WORKLOAD</a:t>
            </a:r>
          </a:p>
        </p:txBody>
      </p:sp>
      <p:sp>
        <p:nvSpPr>
          <p:cNvPr id="9" name="">
            <a:extLst xmlns:a="http://schemas.openxmlformats.org/drawingml/2006/main">
              <a:ext uri="{FF2B5EF4-FFF2-40B4-BE49-F238E27FC236}">
                <a16:creationId xmlns:a16="http://schemas.microsoft.com/office/drawing/2014/main" id="{5E62C739-C052-4FF9-A88E-D65280887AC3}"/>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Predicate, join, sort, grouping, frequency, and concurrency.</a:t>
            </a:r>
          </a:p>
        </p:txBody>
      </p:sp>
      <p:sp>
        <p:nvSpPr>
          <p:cNvPr id="10" name="">
            <a:extLst xmlns:a="http://schemas.openxmlformats.org/drawingml/2006/main">
              <a:ext uri="{FF2B5EF4-FFF2-40B4-BE49-F238E27FC236}">
                <a16:creationId xmlns:a16="http://schemas.microsoft.com/office/drawing/2014/main" id="{40CD0179-81F3-4A92-94D6-89B5BFBE685A}"/>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A8B0C9B-CB18-48CA-9447-D06FFD86D6EC}"/>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OBJECTIVE</a:t>
            </a:r>
          </a:p>
        </p:txBody>
      </p:sp>
      <p:sp>
        <p:nvSpPr>
          <p:cNvPr id="12" name="">
            <a:extLst xmlns:a="http://schemas.openxmlformats.org/drawingml/2006/main">
              <a:ext uri="{FF2B5EF4-FFF2-40B4-BE49-F238E27FC236}">
                <a16:creationId xmlns:a16="http://schemas.microsoft.com/office/drawing/2014/main" id="{2833D5E7-000C-427E-9215-AEADE03768D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Latency, throughput, resource use, or predictable tail behavior.</a:t>
            </a:r>
          </a:p>
        </p:txBody>
      </p:sp>
      <p:sp>
        <p:nvSpPr>
          <p:cNvPr id="13" name="">
            <a:extLst xmlns:a="http://schemas.openxmlformats.org/drawingml/2006/main">
              <a:ext uri="{FF2B5EF4-FFF2-40B4-BE49-F238E27FC236}">
                <a16:creationId xmlns:a16="http://schemas.microsoft.com/office/drawing/2014/main" id="{4C03A9C9-9E61-4FFC-9BB4-8AA10BD25E06}"/>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3AF4DE70-49F3-4F51-BAFA-3073E79A01CD}"/>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EVIDENCE</a:t>
            </a:r>
          </a:p>
        </p:txBody>
      </p:sp>
      <p:sp>
        <p:nvSpPr>
          <p:cNvPr id="15" name="">
            <a:extLst xmlns:a="http://schemas.openxmlformats.org/drawingml/2006/main">
              <a:ext uri="{FF2B5EF4-FFF2-40B4-BE49-F238E27FC236}">
                <a16:creationId xmlns:a16="http://schemas.microsoft.com/office/drawing/2014/main" id="{16D55319-B1D7-44B5-88FC-277174E5B964}"/>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Plan nodes, rows, loops, buffers, timing, and repeatable conditions.</a:t>
            </a:r>
          </a:p>
        </p:txBody>
      </p:sp>
    </p:spTree>
    <p:extLst>
      <p:ext uri="{BB962C8B-B14F-4D97-AF65-F5344CB8AC3E}">
        <p14:creationId xmlns:p14="http://schemas.microsoft.com/office/powerpoint/2010/main" val="81422600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F127EAA-7BBB-4710-8F53-A04E972D2A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CDB86D1-F90E-4C0A-A191-EBC62C7004B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C8E8821C-009F-462B-94E6-D1D24C1B5FF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controlled experiment changes one cause at a time</a:t>
            </a:r>
          </a:p>
        </p:txBody>
      </p:sp>
      <p:sp>
        <p:nvSpPr>
          <p:cNvPr id="4" name="">
            <a:extLst xmlns:a="http://schemas.openxmlformats.org/drawingml/2006/main">
              <a:ext uri="{FF2B5EF4-FFF2-40B4-BE49-F238E27FC236}">
                <a16:creationId xmlns:a16="http://schemas.microsoft.com/office/drawing/2014/main" id="{838FA2CA-F13C-4DB8-BE41-2A739439F3A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ED444BE-D759-4310-95B4-762AA4B37E6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089044DE-7A32-43A6-AB9F-8462322770F8}"/>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CD652F58-5B1F-4ADE-AE6D-D4E419CF311E}"/>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C2410C"/>
          </a:solidFill>
          <a:ln xmlns:a="http://schemas.openxmlformats.org/drawingml/2006/main" w="28575">
            <a:solidFill>
              <a:srgbClr val="C2410C"/>
            </a:solidFill>
            <a:prstDash val="solid"/>
          </a:ln>
        </p:spPr>
      </p:sp>
      <p:sp>
        <p:nvSpPr>
          <p:cNvPr id="8" name="">
            <a:extLst xmlns:a="http://schemas.openxmlformats.org/drawingml/2006/main">
              <a:ext uri="{FF2B5EF4-FFF2-40B4-BE49-F238E27FC236}">
                <a16:creationId xmlns:a16="http://schemas.microsoft.com/office/drawing/2014/main" id="{81BD3DCF-C89B-4928-98E9-948B2B1FF159}"/>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6280903A-BE42-4C16-9829-60181988297A}"/>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Question</a:t>
            </a:r>
          </a:p>
        </p:txBody>
      </p:sp>
      <p:sp>
        <p:nvSpPr>
          <p:cNvPr id="10" name="">
            <a:extLst xmlns:a="http://schemas.openxmlformats.org/drawingml/2006/main">
              <a:ext uri="{FF2B5EF4-FFF2-40B4-BE49-F238E27FC236}">
                <a16:creationId xmlns:a16="http://schemas.microsoft.com/office/drawing/2014/main" id="{D1260F8D-1B4D-41F8-AC59-322C5B213C53}"/>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Name the query shape and objective</a:t>
            </a:r>
          </a:p>
        </p:txBody>
      </p:sp>
      <p:sp>
        <p:nvSpPr>
          <p:cNvPr id="11" name="">
            <a:extLst xmlns:a="http://schemas.openxmlformats.org/drawingml/2006/main">
              <a:ext uri="{FF2B5EF4-FFF2-40B4-BE49-F238E27FC236}">
                <a16:creationId xmlns:a16="http://schemas.microsoft.com/office/drawing/2014/main" id="{962634C7-C47B-4C31-8B51-6A9E626F4975}"/>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2" name="">
            <a:extLst xmlns:a="http://schemas.openxmlformats.org/drawingml/2006/main">
              <a:ext uri="{FF2B5EF4-FFF2-40B4-BE49-F238E27FC236}">
                <a16:creationId xmlns:a16="http://schemas.microsoft.com/office/drawing/2014/main" id="{DCA1598A-23E8-4362-8009-2D2F75554D67}"/>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02AD4FB9-B5B6-4EE0-A3BF-759399E0C47A}"/>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Baseline</a:t>
            </a:r>
          </a:p>
        </p:txBody>
      </p:sp>
      <p:sp>
        <p:nvSpPr>
          <p:cNvPr id="14" name="">
            <a:extLst xmlns:a="http://schemas.openxmlformats.org/drawingml/2006/main">
              <a:ext uri="{FF2B5EF4-FFF2-40B4-BE49-F238E27FC236}">
                <a16:creationId xmlns:a16="http://schemas.microsoft.com/office/drawing/2014/main" id="{9925EDB7-3B32-4A92-A53E-95895D8123CE}"/>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Capture plan and measured conditions</a:t>
            </a:r>
          </a:p>
        </p:txBody>
      </p:sp>
      <p:sp>
        <p:nvSpPr>
          <p:cNvPr id="15" name="">
            <a:extLst xmlns:a="http://schemas.openxmlformats.org/drawingml/2006/main">
              <a:ext uri="{FF2B5EF4-FFF2-40B4-BE49-F238E27FC236}">
                <a16:creationId xmlns:a16="http://schemas.microsoft.com/office/drawing/2014/main" id="{432591EF-18C9-48B2-B883-40ED71831432}"/>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6" name="">
            <a:extLst xmlns:a="http://schemas.openxmlformats.org/drawingml/2006/main">
              <a:ext uri="{FF2B5EF4-FFF2-40B4-BE49-F238E27FC236}">
                <a16:creationId xmlns:a16="http://schemas.microsoft.com/office/drawing/2014/main" id="{AC9F595C-C821-41CE-9A26-66FBBA89A2A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12BC5F5E-4FF4-47CB-9AA2-8BDC36193C69}"/>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Hypothesis</a:t>
            </a:r>
          </a:p>
        </p:txBody>
      </p:sp>
      <p:sp>
        <p:nvSpPr>
          <p:cNvPr id="18" name="">
            <a:extLst xmlns:a="http://schemas.openxmlformats.org/drawingml/2006/main">
              <a:ext uri="{FF2B5EF4-FFF2-40B4-BE49-F238E27FC236}">
                <a16:creationId xmlns:a16="http://schemas.microsoft.com/office/drawing/2014/main" id="{FBE61F44-8FAB-45B0-BAEE-6B0D6690CA44}"/>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Predict which work one change may reduce</a:t>
            </a:r>
          </a:p>
        </p:txBody>
      </p:sp>
      <p:sp>
        <p:nvSpPr>
          <p:cNvPr id="19" name="">
            <a:extLst xmlns:a="http://schemas.openxmlformats.org/drawingml/2006/main">
              <a:ext uri="{FF2B5EF4-FFF2-40B4-BE49-F238E27FC236}">
                <a16:creationId xmlns:a16="http://schemas.microsoft.com/office/drawing/2014/main" id="{7817E8E5-D866-4BDF-AC7C-748E5AFAB6CA}"/>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0" name="">
            <a:extLst xmlns:a="http://schemas.openxmlformats.org/drawingml/2006/main">
              <a:ext uri="{FF2B5EF4-FFF2-40B4-BE49-F238E27FC236}">
                <a16:creationId xmlns:a16="http://schemas.microsoft.com/office/drawing/2014/main" id="{C91D6AB7-62C7-47EC-8683-987D5FA9EE2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88914F92-C819-4FB1-803A-594ED4ECAC45}"/>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Remeasure</a:t>
            </a:r>
          </a:p>
        </p:txBody>
      </p:sp>
      <p:sp>
        <p:nvSpPr>
          <p:cNvPr id="22" name="">
            <a:extLst xmlns:a="http://schemas.openxmlformats.org/drawingml/2006/main">
              <a:ext uri="{FF2B5EF4-FFF2-40B4-BE49-F238E27FC236}">
                <a16:creationId xmlns:a16="http://schemas.microsoft.com/office/drawing/2014/main" id="{C98693BF-E223-4381-B77F-2D969A92E1EB}"/>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Run the same query under comparable conditions</a:t>
            </a:r>
          </a:p>
        </p:txBody>
      </p:sp>
      <p:sp>
        <p:nvSpPr>
          <p:cNvPr id="23" name="">
            <a:extLst xmlns:a="http://schemas.openxmlformats.org/drawingml/2006/main">
              <a:ext uri="{FF2B5EF4-FFF2-40B4-BE49-F238E27FC236}">
                <a16:creationId xmlns:a16="http://schemas.microsoft.com/office/drawing/2014/main" id="{92D58397-58CF-47AD-AF10-654B82442AB5}"/>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4" name="">
            <a:extLst xmlns:a="http://schemas.openxmlformats.org/drawingml/2006/main">
              <a:ext uri="{FF2B5EF4-FFF2-40B4-BE49-F238E27FC236}">
                <a16:creationId xmlns:a16="http://schemas.microsoft.com/office/drawing/2014/main" id="{24A7E582-F419-4E2B-ADE9-61D5067E5D0A}"/>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44B62756-5B7D-4178-8DCF-39DB03FDBC0F}"/>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Decide</a:t>
            </a:r>
          </a:p>
        </p:txBody>
      </p:sp>
      <p:sp>
        <p:nvSpPr>
          <p:cNvPr id="26" name="">
            <a:extLst xmlns:a="http://schemas.openxmlformats.org/drawingml/2006/main">
              <a:ext uri="{FF2B5EF4-FFF2-40B4-BE49-F238E27FC236}">
                <a16:creationId xmlns:a16="http://schemas.microsoft.com/office/drawing/2014/main" id="{B2FB4F36-24A2-43C5-920B-9F45891D2CB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Keep, revise, or remove with costs and limits</a:t>
            </a:r>
          </a:p>
        </p:txBody>
      </p:sp>
      <p:sp>
        <p:nvSpPr>
          <p:cNvPr id="27" name="">
            <a:extLst xmlns:a="http://schemas.openxmlformats.org/drawingml/2006/main">
              <a:ext uri="{FF2B5EF4-FFF2-40B4-BE49-F238E27FC236}">
                <a16:creationId xmlns:a16="http://schemas.microsoft.com/office/drawing/2014/main" id="{A9939C82-883F-4333-B9F8-5E66082FD187}"/>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The decision follows the evidence; it does not precede the baseline.</a:t>
            </a:r>
          </a:p>
        </p:txBody>
      </p:sp>
    </p:spTree>
    <p:extLst>
      <p:ext uri="{BB962C8B-B14F-4D97-AF65-F5344CB8AC3E}">
        <p14:creationId xmlns:p14="http://schemas.microsoft.com/office/powerpoint/2010/main" val="9918187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C93146-BCDD-4C65-B476-B26AD80463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6189C35-EABF-42B5-9231-57E7F335049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90D89DCA-914F-4805-A375-146F3168561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 a plan from the leaves toward the final result</a:t>
            </a:r>
          </a:p>
        </p:txBody>
      </p:sp>
      <p:sp>
        <p:nvSpPr>
          <p:cNvPr id="4" name="">
            <a:extLst xmlns:a="http://schemas.openxmlformats.org/drawingml/2006/main">
              <a:ext uri="{FF2B5EF4-FFF2-40B4-BE49-F238E27FC236}">
                <a16:creationId xmlns:a16="http://schemas.microsoft.com/office/drawing/2014/main" id="{B9935D72-3A96-49EA-8851-2DA0EC6A3B6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3EE1566-B5B1-4CEC-AA9D-88B07230F2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4045CD12-B167-4560-9745-9E427AFC36E5}"/>
              </a:ext>
            </a:extLst>
          </p:cNvPr>
          <p:cNvSpPr>
            <a:spLocks xmlns:a="http://schemas.openxmlformats.org/drawingml/2006/main" noGrp="1"/>
          </p:cNvSpPr>
          <p:nvPr/>
        </p:nvSpPr>
        <p:spPr>
          <a:xfrm xmlns:a="http://schemas.openxmlformats.org/drawingml/2006/main" flipV="1">
            <a:off x="2667000" y="3467100"/>
            <a:ext cx="3524250" cy="14763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5F689B5A-4543-4DA0-AC56-04B2B833BD9C}"/>
              </a:ext>
            </a:extLst>
          </p:cNvPr>
          <p:cNvSpPr>
            <a:spLocks xmlns:a="http://schemas.openxmlformats.org/drawingml/2006/main" noGrp="1"/>
          </p:cNvSpPr>
          <p:nvPr/>
        </p:nvSpPr>
        <p:spPr>
          <a:xfrm xmlns:a="http://schemas.openxmlformats.org/drawingml/2006/main">
            <a:off x="6191250" y="3467100"/>
            <a:ext cx="3333750" cy="14763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92847BE7-F363-4C6F-AFED-A925B9F4E246}"/>
              </a:ext>
            </a:extLst>
          </p:cNvPr>
          <p:cNvSpPr>
            <a:spLocks xmlns:a="http://schemas.openxmlformats.org/drawingml/2006/main" noGrp="1"/>
          </p:cNvSpPr>
          <p:nvPr/>
        </p:nvSpPr>
        <p:spPr>
          <a:xfrm xmlns:a="http://schemas.openxmlformats.org/drawingml/2006/main">
            <a:off x="6191250" y="2133600"/>
            <a:ext cx="0" cy="1333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F3B2CC77-A005-4DCB-BAB8-E06B91A562EF}"/>
              </a:ext>
            </a:extLst>
          </p:cNvPr>
          <p:cNvSpPr>
            <a:spLocks xmlns:a="http://schemas.openxmlformats.org/drawingml/2006/main" noGrp="1"/>
          </p:cNvSpPr>
          <p:nvPr/>
        </p:nvSpPr>
        <p:spPr>
          <a:xfrm xmlns:a="http://schemas.openxmlformats.org/drawingml/2006/main">
            <a:off x="4762500" y="1762125"/>
            <a:ext cx="2857500" cy="7429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Sort</a:t>
            </a:r>
          </a:p>
        </p:txBody>
      </p:sp>
      <p:sp>
        <p:nvSpPr>
          <p:cNvPr id="10" name="">
            <a:extLst xmlns:a="http://schemas.openxmlformats.org/drawingml/2006/main">
              <a:ext uri="{FF2B5EF4-FFF2-40B4-BE49-F238E27FC236}">
                <a16:creationId xmlns:a16="http://schemas.microsoft.com/office/drawing/2014/main" id="{57D1715A-F134-4907-983A-C86A3407D976}"/>
              </a:ext>
            </a:extLst>
          </p:cNvPr>
          <p:cNvSpPr>
            <a:spLocks xmlns:a="http://schemas.openxmlformats.org/drawingml/2006/main" noGrp="1"/>
          </p:cNvSpPr>
          <p:nvPr/>
        </p:nvSpPr>
        <p:spPr>
          <a:xfrm xmlns:a="http://schemas.openxmlformats.org/drawingml/2006/main">
            <a:off x="4762500" y="309562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Hash Join</a:t>
            </a:r>
          </a:p>
        </p:txBody>
      </p:sp>
      <p:sp>
        <p:nvSpPr>
          <p:cNvPr id="11" name="">
            <a:extLst xmlns:a="http://schemas.openxmlformats.org/drawingml/2006/main">
              <a:ext uri="{FF2B5EF4-FFF2-40B4-BE49-F238E27FC236}">
                <a16:creationId xmlns:a16="http://schemas.microsoft.com/office/drawing/2014/main" id="{09B8E114-48FC-4503-AD4C-63021F3B0ACD}"/>
              </a:ext>
            </a:extLst>
          </p:cNvPr>
          <p:cNvSpPr>
            <a:spLocks xmlns:a="http://schemas.openxmlformats.org/drawingml/2006/main" noGrp="1"/>
          </p:cNvSpPr>
          <p:nvPr/>
        </p:nvSpPr>
        <p:spPr>
          <a:xfrm xmlns:a="http://schemas.openxmlformats.org/drawingml/2006/main">
            <a:off x="1238250" y="4572000"/>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Seq Scan: tickets</a:t>
            </a:r>
          </a:p>
        </p:txBody>
      </p:sp>
      <p:sp>
        <p:nvSpPr>
          <p:cNvPr id="12" name="">
            <a:extLst xmlns:a="http://schemas.openxmlformats.org/drawingml/2006/main">
              <a:ext uri="{FF2B5EF4-FFF2-40B4-BE49-F238E27FC236}">
                <a16:creationId xmlns:a16="http://schemas.microsoft.com/office/drawing/2014/main" id="{F8816A82-2BC0-4BFC-B1DA-B9E110CCF059}"/>
              </a:ext>
            </a:extLst>
          </p:cNvPr>
          <p:cNvSpPr>
            <a:spLocks xmlns:a="http://schemas.openxmlformats.org/drawingml/2006/main" noGrp="1"/>
          </p:cNvSpPr>
          <p:nvPr/>
        </p:nvSpPr>
        <p:spPr>
          <a:xfrm xmlns:a="http://schemas.openxmlformats.org/drawingml/2006/main">
            <a:off x="8096250" y="4572000"/>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Hash → Seq Scan: users</a:t>
            </a:r>
          </a:p>
        </p:txBody>
      </p:sp>
      <p:sp>
        <p:nvSpPr>
          <p:cNvPr id="13" name="">
            <a:extLst xmlns:a="http://schemas.openxmlformats.org/drawingml/2006/main">
              <a:ext uri="{FF2B5EF4-FFF2-40B4-BE49-F238E27FC236}">
                <a16:creationId xmlns:a16="http://schemas.microsoft.com/office/drawing/2014/main" id="{F72805CA-A243-43CC-B1AB-450321595003}"/>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Child nodes produce rows for their parent; indentation expresses the execution tree.</a:t>
            </a:r>
          </a:p>
        </p:txBody>
      </p:sp>
    </p:spTree>
    <p:extLst>
      <p:ext uri="{BB962C8B-B14F-4D97-AF65-F5344CB8AC3E}">
        <p14:creationId xmlns:p14="http://schemas.microsoft.com/office/powerpoint/2010/main" val="13649178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FA13948-2B45-4A64-9174-5B5CAE6272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AEE14A3-3298-4A59-B011-EAAD8F583B1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8FCA2E51-CD9E-423C-B7AC-B29D6FB8479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EXPLAIN ANALYZE adds actual execution evidence</a:t>
            </a:r>
          </a:p>
        </p:txBody>
      </p:sp>
      <p:sp>
        <p:nvSpPr>
          <p:cNvPr id="4" name="">
            <a:extLst xmlns:a="http://schemas.openxmlformats.org/drawingml/2006/main">
              <a:ext uri="{FF2B5EF4-FFF2-40B4-BE49-F238E27FC236}">
                <a16:creationId xmlns:a16="http://schemas.microsoft.com/office/drawing/2014/main" id="{6D19ED3E-19AB-424D-A0F6-082BCE68524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8816571-C86F-42A1-83F6-EDF17001CB4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E3B52266-AC5B-442F-A3AC-C4A0F97A912C}"/>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6FFDC95-9742-4027-9372-7AD8914E6757}"/>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EXPLAIN (ANALYZE, BUFFERS)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ticket_id, opened_at, subject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performance_lab.tickets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category = 'streetlight'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AND status IN ('new','open','in_progress')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opened_at DESC</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LIMIT 25;</a:t>
            </a:r>
          </a:p>
        </p:txBody>
      </p:sp>
      <p:sp>
        <p:nvSpPr>
          <p:cNvPr id="8" name="">
            <a:extLst xmlns:a="http://schemas.openxmlformats.org/drawingml/2006/main">
              <a:ext uri="{FF2B5EF4-FFF2-40B4-BE49-F238E27FC236}">
                <a16:creationId xmlns:a16="http://schemas.microsoft.com/office/drawing/2014/main" id="{BF8546B3-7B31-4BA8-A77F-4DFD3FFEE4DF}"/>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Safety first</a:t>
            </a:r>
          </a:p>
        </p:txBody>
      </p:sp>
      <p:sp>
        <p:nvSpPr>
          <p:cNvPr id="9" name="">
            <a:extLst xmlns:a="http://schemas.openxmlformats.org/drawingml/2006/main">
              <a:ext uri="{FF2B5EF4-FFF2-40B4-BE49-F238E27FC236}">
                <a16:creationId xmlns:a16="http://schemas.microsoft.com/office/drawing/2014/main" id="{7289E483-2271-4CB8-AB9C-D647772CAF62}"/>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77F06B05-4E1A-441F-B9E2-2A07A7EB32C8}"/>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ANALYZE runs the query; use safe SELECT fixtures.</a:t>
            </a:r>
          </a:p>
        </p:txBody>
      </p:sp>
      <p:sp>
        <p:nvSpPr>
          <p:cNvPr id="11" name="">
            <a:extLst xmlns:a="http://schemas.openxmlformats.org/drawingml/2006/main">
              <a:ext uri="{FF2B5EF4-FFF2-40B4-BE49-F238E27FC236}">
                <a16:creationId xmlns:a16="http://schemas.microsoft.com/office/drawing/2014/main" id="{069583A3-56FF-49BA-81F2-81C58FED6681}"/>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F6215819-F090-4B84-9242-DF2E3EB7D7DC}"/>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BUFFERS reports cache/block activity in context.</a:t>
            </a:r>
          </a:p>
        </p:txBody>
      </p:sp>
      <p:sp>
        <p:nvSpPr>
          <p:cNvPr id="13" name="">
            <a:extLst xmlns:a="http://schemas.openxmlformats.org/drawingml/2006/main">
              <a:ext uri="{FF2B5EF4-FFF2-40B4-BE49-F238E27FC236}">
                <a16:creationId xmlns:a16="http://schemas.microsoft.com/office/drawing/2014/main" id="{AD1FCF35-6D3B-431F-A9C8-9C175BC1A375}"/>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394F88E8-851F-4345-A1CA-0358B4EE0C6B}"/>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Preserve the exact query and plan text.</a:t>
            </a:r>
          </a:p>
        </p:txBody>
      </p:sp>
    </p:spTree>
    <p:extLst>
      <p:ext uri="{BB962C8B-B14F-4D97-AF65-F5344CB8AC3E}">
        <p14:creationId xmlns:p14="http://schemas.microsoft.com/office/powerpoint/2010/main" val="116973719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03D5FE-F159-4C2C-943A-A5C6C719F2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C473BB3-4170-4A23-BCB9-152D3F085B3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BA39593A-6FDC-4C0D-95D8-0AFB16EC251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Estimates guide planning; actuals reveal execution</a:t>
            </a:r>
          </a:p>
        </p:txBody>
      </p:sp>
      <p:sp>
        <p:nvSpPr>
          <p:cNvPr id="4" name="">
            <a:extLst xmlns:a="http://schemas.openxmlformats.org/drawingml/2006/main">
              <a:ext uri="{FF2B5EF4-FFF2-40B4-BE49-F238E27FC236}">
                <a16:creationId xmlns:a16="http://schemas.microsoft.com/office/drawing/2014/main" id="{6076C45A-4AB5-42D5-909F-12E8A3E958C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002E29A-43C9-4D98-9F47-F6A6FC925C3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D09804B5-B7B2-4ADC-9466-2D67B31BDED3}"/>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Estimated evidence</a:t>
            </a:r>
          </a:p>
        </p:txBody>
      </p:sp>
      <p:sp>
        <p:nvSpPr>
          <p:cNvPr id="7" name="">
            <a:extLst xmlns:a="http://schemas.openxmlformats.org/drawingml/2006/main">
              <a:ext uri="{FF2B5EF4-FFF2-40B4-BE49-F238E27FC236}">
                <a16:creationId xmlns:a16="http://schemas.microsoft.com/office/drawing/2014/main" id="{576F4D31-C9F9-408C-90F5-0D10CF704F2C}"/>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Actual evidence</a:t>
            </a:r>
          </a:p>
        </p:txBody>
      </p:sp>
      <p:sp>
        <p:nvSpPr>
          <p:cNvPr id="8" name="">
            <a:extLst xmlns:a="http://schemas.openxmlformats.org/drawingml/2006/main">
              <a:ext uri="{FF2B5EF4-FFF2-40B4-BE49-F238E27FC236}">
                <a16:creationId xmlns:a16="http://schemas.microsoft.com/office/drawing/2014/main" id="{C9BC158A-A599-48EE-8439-C7EE2D1823D3}"/>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ECED9076-F38B-487E-83EB-49C85B33967C}"/>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ED390FA3-1FEB-4E4C-B83F-287AA5AADA96}"/>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Cost range and estimated row count</a:t>
            </a:r>
          </a:p>
        </p:txBody>
      </p:sp>
      <p:sp>
        <p:nvSpPr>
          <p:cNvPr id="11" name="">
            <a:extLst xmlns:a="http://schemas.openxmlformats.org/drawingml/2006/main">
              <a:ext uri="{FF2B5EF4-FFF2-40B4-BE49-F238E27FC236}">
                <a16:creationId xmlns:a16="http://schemas.microsoft.com/office/drawing/2014/main" id="{5A72B09F-AB68-47A7-88D5-D89C0E1FF10E}"/>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D7FEFC4D-18EA-4D7B-86ED-DC26AE5416B9}"/>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Derived from statistics and planner models</a:t>
            </a:r>
          </a:p>
        </p:txBody>
      </p:sp>
      <p:sp>
        <p:nvSpPr>
          <p:cNvPr id="13" name="">
            <a:extLst xmlns:a="http://schemas.openxmlformats.org/drawingml/2006/main">
              <a:ext uri="{FF2B5EF4-FFF2-40B4-BE49-F238E27FC236}">
                <a16:creationId xmlns:a16="http://schemas.microsoft.com/office/drawing/2014/main" id="{1866D0F4-50D2-4E01-A945-43D63CA95FB8}"/>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AE19CB12-EB7F-4000-9C7D-A02B6201FDB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Used to choose among candidate plans</a:t>
            </a:r>
          </a:p>
        </p:txBody>
      </p:sp>
      <p:sp>
        <p:nvSpPr>
          <p:cNvPr id="15" name="">
            <a:extLst xmlns:a="http://schemas.openxmlformats.org/drawingml/2006/main">
              <a:ext uri="{FF2B5EF4-FFF2-40B4-BE49-F238E27FC236}">
                <a16:creationId xmlns:a16="http://schemas.microsoft.com/office/drawing/2014/main" id="{39D6F092-2158-407B-9F82-6B8493FA1C91}"/>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C6F071F6-FD0C-4061-A507-60EA1565EAE3}"/>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Measured rows, loops, and timing for this run</a:t>
            </a:r>
          </a:p>
        </p:txBody>
      </p:sp>
      <p:sp>
        <p:nvSpPr>
          <p:cNvPr id="17" name="">
            <a:extLst xmlns:a="http://schemas.openxmlformats.org/drawingml/2006/main">
              <a:ext uri="{FF2B5EF4-FFF2-40B4-BE49-F238E27FC236}">
                <a16:creationId xmlns:a16="http://schemas.microsoft.com/office/drawing/2014/main" id="{153A6004-626D-4204-BF25-E62912290F5E}"/>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D6E7217A-9E51-45DA-A6D1-368431FF2247}"/>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Affected by parameters, cache, load, and environment</a:t>
            </a:r>
          </a:p>
        </p:txBody>
      </p:sp>
      <p:sp>
        <p:nvSpPr>
          <p:cNvPr id="19" name="">
            <a:extLst xmlns:a="http://schemas.openxmlformats.org/drawingml/2006/main">
              <a:ext uri="{FF2B5EF4-FFF2-40B4-BE49-F238E27FC236}">
                <a16:creationId xmlns:a16="http://schemas.microsoft.com/office/drawing/2014/main" id="{535622A3-D8AF-41CA-A9F4-38E76457638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6F4FA815-9E29-49DD-82E2-992B59F3902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Large estimate errors can point to stale or insufficient statistics</a:t>
            </a:r>
          </a:p>
        </p:txBody>
      </p:sp>
    </p:spTree>
    <p:extLst>
      <p:ext uri="{BB962C8B-B14F-4D97-AF65-F5344CB8AC3E}">
        <p14:creationId xmlns:p14="http://schemas.microsoft.com/office/powerpoint/2010/main" val="984393453"/>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B810461-585E-4726-A4D9-106F821489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34F1CF-B4C0-47AA-AFE4-D187F9304E6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C4107B37-411D-425B-B0CE-4E74D9B39DB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Sequential and index access are choices, not grades</a:t>
            </a:r>
          </a:p>
        </p:txBody>
      </p:sp>
      <p:sp>
        <p:nvSpPr>
          <p:cNvPr id="4" name="">
            <a:extLst xmlns:a="http://schemas.openxmlformats.org/drawingml/2006/main">
              <a:ext uri="{FF2B5EF4-FFF2-40B4-BE49-F238E27FC236}">
                <a16:creationId xmlns:a16="http://schemas.microsoft.com/office/drawing/2014/main" id="{FD642018-EDFA-4586-96BA-855EEC9D17E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030976A-A2BF-4610-8EAF-30142CD90A2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CF44DB66-0530-484A-BA17-E7807B447B84}"/>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Sequential scan</a:t>
            </a:r>
          </a:p>
        </p:txBody>
      </p:sp>
      <p:sp>
        <p:nvSpPr>
          <p:cNvPr id="7" name="">
            <a:extLst xmlns:a="http://schemas.openxmlformats.org/drawingml/2006/main">
              <a:ext uri="{FF2B5EF4-FFF2-40B4-BE49-F238E27FC236}">
                <a16:creationId xmlns:a16="http://schemas.microsoft.com/office/drawing/2014/main" id="{3BC59339-AA06-4AB0-9C6B-0026F456421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Index-based access</a:t>
            </a:r>
          </a:p>
        </p:txBody>
      </p:sp>
      <p:sp>
        <p:nvSpPr>
          <p:cNvPr id="8" name="">
            <a:extLst xmlns:a="http://schemas.openxmlformats.org/drawingml/2006/main">
              <a:ext uri="{FF2B5EF4-FFF2-40B4-BE49-F238E27FC236}">
                <a16:creationId xmlns:a16="http://schemas.microsoft.com/office/drawing/2014/main" id="{F8AB94FB-B1CB-4BBF-8C28-9422341577A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D78DD059-EFDD-44A7-92A3-F55506E5C7FA}"/>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3179A6B3-FEE3-4375-A0B6-0B47D6194E3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Reads table blocks broadly</a:t>
            </a:r>
          </a:p>
        </p:txBody>
      </p:sp>
      <p:sp>
        <p:nvSpPr>
          <p:cNvPr id="11" name="">
            <a:extLst xmlns:a="http://schemas.openxmlformats.org/drawingml/2006/main">
              <a:ext uri="{FF2B5EF4-FFF2-40B4-BE49-F238E27FC236}">
                <a16:creationId xmlns:a16="http://schemas.microsoft.com/office/drawing/2014/main" id="{029DCE19-DB10-4A20-B15F-DC7E43A3BA4C}"/>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5DABF56E-D2C8-40C3-9379-FF65DE1E7D3B}"/>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be cheapest for small tables or large result fractions</a:t>
            </a:r>
          </a:p>
        </p:txBody>
      </p:sp>
      <p:sp>
        <p:nvSpPr>
          <p:cNvPr id="13" name="">
            <a:extLst xmlns:a="http://schemas.openxmlformats.org/drawingml/2006/main">
              <a:ext uri="{FF2B5EF4-FFF2-40B4-BE49-F238E27FC236}">
                <a16:creationId xmlns:a16="http://schemas.microsoft.com/office/drawing/2014/main" id="{FCC50272-FC33-4FEF-81EB-A2A5CA5992CC}"/>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46F36481-FB9D-41E9-AB09-3A6178D6BF1B}"/>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efficient sequential access and avoids index lookup overhead</a:t>
            </a:r>
          </a:p>
        </p:txBody>
      </p:sp>
      <p:sp>
        <p:nvSpPr>
          <p:cNvPr id="15" name="">
            <a:extLst xmlns:a="http://schemas.openxmlformats.org/drawingml/2006/main">
              <a:ext uri="{FF2B5EF4-FFF2-40B4-BE49-F238E27FC236}">
                <a16:creationId xmlns:a16="http://schemas.microsoft.com/office/drawing/2014/main" id="{2A5EA641-FEBE-47C9-9EA9-C769A20E3B4C}"/>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F955507B-A940-4A58-90BE-1548EF50D980}"/>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Navigates an index to candidate tuple locations</a:t>
            </a:r>
          </a:p>
        </p:txBody>
      </p:sp>
      <p:sp>
        <p:nvSpPr>
          <p:cNvPr id="17" name="">
            <a:extLst xmlns:a="http://schemas.openxmlformats.org/drawingml/2006/main">
              <a:ext uri="{FF2B5EF4-FFF2-40B4-BE49-F238E27FC236}">
                <a16:creationId xmlns:a16="http://schemas.microsoft.com/office/drawing/2014/main" id="{FDA18086-000C-4181-8405-B1B3B3505555}"/>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E52D89D6-CBE0-4989-9F03-D49198A32EA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reduce work for selective predicates or useful order</a:t>
            </a:r>
          </a:p>
        </p:txBody>
      </p:sp>
      <p:sp>
        <p:nvSpPr>
          <p:cNvPr id="19" name="">
            <a:extLst xmlns:a="http://schemas.openxmlformats.org/drawingml/2006/main">
              <a:ext uri="{FF2B5EF4-FFF2-40B4-BE49-F238E27FC236}">
                <a16:creationId xmlns:a16="http://schemas.microsoft.com/office/drawing/2014/main" id="{955A578D-D6AA-433B-9F7B-EA684C4B336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949587BC-1FFC-40C0-BCB8-4D36604EC9AE}"/>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still perform heap visits and random access</a:t>
            </a:r>
          </a:p>
        </p:txBody>
      </p:sp>
    </p:spTree>
    <p:extLst>
      <p:ext uri="{BB962C8B-B14F-4D97-AF65-F5344CB8AC3E}">
        <p14:creationId xmlns:p14="http://schemas.microsoft.com/office/powerpoint/2010/main" val="200597608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DE8AF6-B32D-422B-BB75-0C4C7EFB66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0E972E2-5345-4F4B-A234-982A5FD5AFC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56BFE173-D25F-4D2F-88BC-A176C4B836F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Read the plan before changing anything</a:t>
            </a:r>
          </a:p>
        </p:txBody>
      </p:sp>
      <p:sp>
        <p:nvSpPr>
          <p:cNvPr id="4" name="">
            <a:extLst xmlns:a="http://schemas.openxmlformats.org/drawingml/2006/main">
              <a:ext uri="{FF2B5EF4-FFF2-40B4-BE49-F238E27FC236}">
                <a16:creationId xmlns:a16="http://schemas.microsoft.com/office/drawing/2014/main" id="{CE41B377-0024-4A98-86DF-A07BF73DB0A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FC97DD-727F-4314-B1DB-25C314EC8BC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64AC82CB-E786-4FDB-A340-FE0EEB63D758}"/>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Annotate one PostgreSQL plan and identify the dominant work, estimate quality, and one testable hypothesis.</a:t>
            </a:r>
          </a:p>
        </p:txBody>
      </p:sp>
      <p:sp>
        <p:nvSpPr>
          <p:cNvPr id="7" name="">
            <a:extLst xmlns:a="http://schemas.openxmlformats.org/drawingml/2006/main">
              <a:ext uri="{FF2B5EF4-FFF2-40B4-BE49-F238E27FC236}">
                <a16:creationId xmlns:a16="http://schemas.microsoft.com/office/drawing/2014/main" id="{AC240345-FDB2-41DD-AC43-5C1FF687F7B2}"/>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A6265452-4F34-47D0-8272-8D16A186D223}"/>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the exact query, result grain, table scale, and baseline conditions.</a:t>
            </a:r>
          </a:p>
        </p:txBody>
      </p:sp>
      <p:sp>
        <p:nvSpPr>
          <p:cNvPr id="9" name="">
            <a:extLst xmlns:a="http://schemas.openxmlformats.org/drawingml/2006/main">
              <a:ext uri="{FF2B5EF4-FFF2-40B4-BE49-F238E27FC236}">
                <a16:creationId xmlns:a16="http://schemas.microsoft.com/office/drawing/2014/main" id="{5CC727CB-04C2-4F1D-A547-F79F94EE20E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930C3668-CEC9-412A-8970-497DB995909C}"/>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Read leaf-to-root and annotate rows, loops, buffers, and any sort or join.</a:t>
            </a:r>
          </a:p>
        </p:txBody>
      </p:sp>
      <p:sp>
        <p:nvSpPr>
          <p:cNvPr id="11" name="">
            <a:extLst xmlns:a="http://schemas.openxmlformats.org/drawingml/2006/main">
              <a:ext uri="{FF2B5EF4-FFF2-40B4-BE49-F238E27FC236}">
                <a16:creationId xmlns:a16="http://schemas.microsoft.com/office/drawing/2014/main" id="{C8CC57A9-DD92-4EC7-99FD-C942555EE37D}"/>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788FD0E4-2085-4712-9CF5-182D188CD8F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State one hypothesis about a single change without applying it yet.</a:t>
            </a:r>
          </a:p>
        </p:txBody>
      </p:sp>
      <p:sp>
        <p:nvSpPr>
          <p:cNvPr id="13" name="">
            <a:extLst xmlns:a="http://schemas.openxmlformats.org/drawingml/2006/main">
              <a:ext uri="{FF2B5EF4-FFF2-40B4-BE49-F238E27FC236}">
                <a16:creationId xmlns:a16="http://schemas.microsoft.com/office/drawing/2014/main" id="{5ACFEB05-56CF-41E6-A31C-38892B4A294E}"/>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3A6B0B1D-E541-46E2-A707-4891B1F325E0}"/>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annotated baseline plan</a:t>
            </a:r>
          </a:p>
        </p:txBody>
      </p:sp>
    </p:spTree>
    <p:extLst>
      <p:ext uri="{BB962C8B-B14F-4D97-AF65-F5344CB8AC3E}">
        <p14:creationId xmlns:p14="http://schemas.microsoft.com/office/powerpoint/2010/main" val="24489368"/>
      </p:ext>
    </p:extLst>
  </p:cSld>
</p:sld>
</file>

<file path=ppt/slides/slide9.xml><?xml version="1.0" encoding="utf-8"?>
<p:sld xmlns:p="http://schemas.openxmlformats.org/presentationml/2006/main">
  <p:cSld>
    <p:bg>
      <p:bgPr>
        <a:solidFill xmlns:a="http://schemas.openxmlformats.org/drawingml/2006/main">
          <a:srgbClr val="C2410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3A7163-3955-4E29-9E11-65B31B48DD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2" name="">
            <a:extLst xmlns:a="http://schemas.openxmlformats.org/drawingml/2006/main">
              <a:ext uri="{FF2B5EF4-FFF2-40B4-BE49-F238E27FC236}">
                <a16:creationId xmlns:a16="http://schemas.microsoft.com/office/drawing/2014/main" id="{E3D60803-BB54-4441-BC55-C17A59BD62B9}"/>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EF8BE4A7-7A30-4AC7-9B70-576A1F9DB933}"/>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An index is justified by the workload it improves and the cost it adds</a:t>
            </a:r>
          </a:p>
        </p:txBody>
      </p:sp>
      <p:sp>
        <p:nvSpPr>
          <p:cNvPr id="4" name="">
            <a:extLst xmlns:a="http://schemas.openxmlformats.org/drawingml/2006/main">
              <a:ext uri="{FF2B5EF4-FFF2-40B4-BE49-F238E27FC236}">
                <a16:creationId xmlns:a16="http://schemas.microsoft.com/office/drawing/2014/main" id="{5DAF3AC8-4E7A-4B4E-BB62-505BC3EBD145}"/>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One before-and-after experiment is stronger than a folder of unused indexes.</a:t>
            </a:r>
          </a:p>
        </p:txBody>
      </p:sp>
      <p:sp>
        <p:nvSpPr>
          <p:cNvPr id="5" name="">
            <a:extLst xmlns:a="http://schemas.openxmlformats.org/drawingml/2006/main">
              <a:ext uri="{FF2B5EF4-FFF2-40B4-BE49-F238E27FC236}">
                <a16:creationId xmlns:a16="http://schemas.microsoft.com/office/drawing/2014/main" id="{E972CEDD-7715-4FB1-BA27-E4CB5E61D29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9</a:t>
            </a:r>
          </a:p>
        </p:txBody>
      </p:sp>
    </p:spTree>
    <p:extLst>
      <p:ext uri="{BB962C8B-B14F-4D97-AF65-F5344CB8AC3E}">
        <p14:creationId xmlns:p14="http://schemas.microsoft.com/office/powerpoint/2010/main" val="107628769"/>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9D800F6-2316-49EF-BAE6-193510D41D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32D05DC-EE8E-4A2F-9C7C-89EC437F0FF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E9B3F58A-F700-43CD-A1A3-53591ADFAF0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Compound index order should reflect the query shape</a:t>
            </a:r>
          </a:p>
        </p:txBody>
      </p:sp>
      <p:sp>
        <p:nvSpPr>
          <p:cNvPr id="4" name="">
            <a:extLst xmlns:a="http://schemas.openxmlformats.org/drawingml/2006/main">
              <a:ext uri="{FF2B5EF4-FFF2-40B4-BE49-F238E27FC236}">
                <a16:creationId xmlns:a16="http://schemas.microsoft.com/office/drawing/2014/main" id="{2E53AAC0-6732-4511-8010-AF3698ACEAF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899C0BE-CCB4-4CFE-A8D1-8FB9DEB349C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327A9C61-A26B-42C3-8C92-04809CE7EBA2}"/>
              </a:ext>
            </a:extLst>
          </p:cNvPr>
          <p:cNvSpPr>
            <a:spLocks xmlns:a="http://schemas.openxmlformats.org/drawingml/2006/main" noGrp="1"/>
          </p:cNvSpPr>
          <p:nvPr/>
        </p:nvSpPr>
        <p:spPr>
          <a:xfrm xmlns:a="http://schemas.openxmlformats.org/drawingml/2006/main">
            <a:off x="685800" y="1714500"/>
            <a:ext cx="2190750" cy="5143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7" name="">
            <a:extLst xmlns:a="http://schemas.openxmlformats.org/drawingml/2006/main">
              <a:ext uri="{FF2B5EF4-FFF2-40B4-BE49-F238E27FC236}">
                <a16:creationId xmlns:a16="http://schemas.microsoft.com/office/drawing/2014/main" id="{879155A3-2258-4C89-AF11-3EBC35FEFD8D}"/>
              </a:ext>
            </a:extLst>
          </p:cNvPr>
          <p:cNvSpPr>
            <a:spLocks xmlns:a="http://schemas.openxmlformats.org/drawingml/2006/main" noGrp="1"/>
          </p:cNvSpPr>
          <p:nvPr/>
        </p:nvSpPr>
        <p:spPr>
          <a:xfrm xmlns:a="http://schemas.openxmlformats.org/drawingml/2006/main">
            <a:off x="762000" y="18097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Query component</a:t>
            </a:r>
          </a:p>
        </p:txBody>
      </p:sp>
      <p:sp>
        <p:nvSpPr>
          <p:cNvPr id="8" name="">
            <a:extLst xmlns:a="http://schemas.openxmlformats.org/drawingml/2006/main">
              <a:ext uri="{FF2B5EF4-FFF2-40B4-BE49-F238E27FC236}">
                <a16:creationId xmlns:a16="http://schemas.microsoft.com/office/drawing/2014/main" id="{6E43F53B-9D76-4715-8D4A-A76042E9B182}"/>
              </a:ext>
            </a:extLst>
          </p:cNvPr>
          <p:cNvSpPr>
            <a:spLocks xmlns:a="http://schemas.openxmlformats.org/drawingml/2006/main" noGrp="1"/>
          </p:cNvSpPr>
          <p:nvPr/>
        </p:nvSpPr>
        <p:spPr>
          <a:xfrm xmlns:a="http://schemas.openxmlformats.org/drawingml/2006/main">
            <a:off x="287655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1B8285E-02ED-44CF-A764-F7E8AA16FF9D}"/>
              </a:ext>
            </a:extLst>
          </p:cNvPr>
          <p:cNvSpPr>
            <a:spLocks xmlns:a="http://schemas.openxmlformats.org/drawingml/2006/main" noGrp="1"/>
          </p:cNvSpPr>
          <p:nvPr/>
        </p:nvSpPr>
        <p:spPr>
          <a:xfrm xmlns:a="http://schemas.openxmlformats.org/drawingml/2006/main">
            <a:off x="295275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Example</a:t>
            </a:r>
          </a:p>
        </p:txBody>
      </p:sp>
      <p:sp>
        <p:nvSpPr>
          <p:cNvPr id="10" name="">
            <a:extLst xmlns:a="http://schemas.openxmlformats.org/drawingml/2006/main">
              <a:ext uri="{FF2B5EF4-FFF2-40B4-BE49-F238E27FC236}">
                <a16:creationId xmlns:a16="http://schemas.microsoft.com/office/drawing/2014/main" id="{53596D83-7616-46B3-BF74-916BF89011CB}"/>
              </a:ext>
            </a:extLst>
          </p:cNvPr>
          <p:cNvSpPr>
            <a:spLocks xmlns:a="http://schemas.openxmlformats.org/drawingml/2006/main" noGrp="1"/>
          </p:cNvSpPr>
          <p:nvPr/>
        </p:nvSpPr>
        <p:spPr>
          <a:xfrm xmlns:a="http://schemas.openxmlformats.org/drawingml/2006/main">
            <a:off x="5734050" y="1714500"/>
            <a:ext cx="31432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EB1C6DA7-64F0-450E-9ED0-598F766AD21C}"/>
              </a:ext>
            </a:extLst>
          </p:cNvPr>
          <p:cNvSpPr>
            <a:spLocks xmlns:a="http://schemas.openxmlformats.org/drawingml/2006/main" noGrp="1"/>
          </p:cNvSpPr>
          <p:nvPr/>
        </p:nvSpPr>
        <p:spPr>
          <a:xfrm xmlns:a="http://schemas.openxmlformats.org/drawingml/2006/main">
            <a:off x="5810250" y="18097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Index design implication</a:t>
            </a:r>
          </a:p>
        </p:txBody>
      </p:sp>
      <p:sp>
        <p:nvSpPr>
          <p:cNvPr id="12" name="">
            <a:extLst xmlns:a="http://schemas.openxmlformats.org/drawingml/2006/main">
              <a:ext uri="{FF2B5EF4-FFF2-40B4-BE49-F238E27FC236}">
                <a16:creationId xmlns:a16="http://schemas.microsoft.com/office/drawing/2014/main" id="{BE7257D5-5E40-48EA-8C99-0D46C9017829}"/>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5EACD5A8-B7E5-45A1-8951-66B2A1982430}"/>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Caution</a:t>
            </a:r>
          </a:p>
        </p:txBody>
      </p:sp>
      <p:sp>
        <p:nvSpPr>
          <p:cNvPr id="14" name="">
            <a:extLst xmlns:a="http://schemas.openxmlformats.org/drawingml/2006/main">
              <a:ext uri="{FF2B5EF4-FFF2-40B4-BE49-F238E27FC236}">
                <a16:creationId xmlns:a16="http://schemas.microsoft.com/office/drawing/2014/main" id="{9D076263-8727-4DAA-BB88-403D889AD795}"/>
              </a:ext>
            </a:extLst>
          </p:cNvPr>
          <p:cNvSpPr>
            <a:spLocks xmlns:a="http://schemas.openxmlformats.org/drawingml/2006/main" noGrp="1"/>
          </p:cNvSpPr>
          <p:nvPr/>
        </p:nvSpPr>
        <p:spPr>
          <a:xfrm xmlns:a="http://schemas.openxmlformats.org/drawingml/2006/main">
            <a:off x="685800" y="2228850"/>
            <a:ext cx="2190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72429191-A08D-43B7-891A-DB278D97624C}"/>
              </a:ext>
            </a:extLst>
          </p:cNvPr>
          <p:cNvSpPr>
            <a:spLocks xmlns:a="http://schemas.openxmlformats.org/drawingml/2006/main" noGrp="1"/>
          </p:cNvSpPr>
          <p:nvPr/>
        </p:nvSpPr>
        <p:spPr>
          <a:xfrm xmlns:a="http://schemas.openxmlformats.org/drawingml/2006/main">
            <a:off x="762000" y="23050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Equality filter</a:t>
            </a:r>
          </a:p>
        </p:txBody>
      </p:sp>
      <p:sp>
        <p:nvSpPr>
          <p:cNvPr id="16" name="">
            <a:extLst xmlns:a="http://schemas.openxmlformats.org/drawingml/2006/main">
              <a:ext uri="{FF2B5EF4-FFF2-40B4-BE49-F238E27FC236}">
                <a16:creationId xmlns:a16="http://schemas.microsoft.com/office/drawing/2014/main" id="{C395F7BC-F4C4-4596-9F1D-37E4ED469D39}"/>
              </a:ext>
            </a:extLst>
          </p:cNvPr>
          <p:cNvSpPr>
            <a:spLocks xmlns:a="http://schemas.openxmlformats.org/drawingml/2006/main" noGrp="1"/>
          </p:cNvSpPr>
          <p:nvPr/>
        </p:nvSpPr>
        <p:spPr>
          <a:xfrm xmlns:a="http://schemas.openxmlformats.org/drawingml/2006/main">
            <a:off x="2876550" y="2228850"/>
            <a:ext cx="2857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A9DFD638-D76E-4E2A-A4EF-AB9EF79DA2C4}"/>
              </a:ext>
            </a:extLst>
          </p:cNvPr>
          <p:cNvSpPr>
            <a:spLocks xmlns:a="http://schemas.openxmlformats.org/drawingml/2006/main" noGrp="1"/>
          </p:cNvSpPr>
          <p:nvPr/>
        </p:nvSpPr>
        <p:spPr>
          <a:xfrm xmlns:a="http://schemas.openxmlformats.org/drawingml/2006/main">
            <a:off x="2952750" y="23050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category = 'streetlight'</a:t>
            </a:r>
          </a:p>
        </p:txBody>
      </p:sp>
      <p:sp>
        <p:nvSpPr>
          <p:cNvPr id="18" name="">
            <a:extLst xmlns:a="http://schemas.openxmlformats.org/drawingml/2006/main">
              <a:ext uri="{FF2B5EF4-FFF2-40B4-BE49-F238E27FC236}">
                <a16:creationId xmlns:a16="http://schemas.microsoft.com/office/drawing/2014/main" id="{AE16AC0B-E61F-47C1-90C8-1138FDD50030}"/>
              </a:ext>
            </a:extLst>
          </p:cNvPr>
          <p:cNvSpPr>
            <a:spLocks xmlns:a="http://schemas.openxmlformats.org/drawingml/2006/main" noGrp="1"/>
          </p:cNvSpPr>
          <p:nvPr/>
        </p:nvSpPr>
        <p:spPr>
          <a:xfrm xmlns:a="http://schemas.openxmlformats.org/drawingml/2006/main">
            <a:off x="5734050" y="2228850"/>
            <a:ext cx="3143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403CAA85-3D44-402B-B10A-9ECA1A07F010}"/>
              </a:ext>
            </a:extLst>
          </p:cNvPr>
          <p:cNvSpPr>
            <a:spLocks xmlns:a="http://schemas.openxmlformats.org/drawingml/2006/main" noGrp="1"/>
          </p:cNvSpPr>
          <p:nvPr/>
        </p:nvSpPr>
        <p:spPr>
          <a:xfrm xmlns:a="http://schemas.openxmlformats.org/drawingml/2006/main">
            <a:off x="5810250" y="23050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Often useful early in a B-tree key</a:t>
            </a:r>
          </a:p>
        </p:txBody>
      </p:sp>
      <p:sp>
        <p:nvSpPr>
          <p:cNvPr id="20" name="">
            <a:extLst xmlns:a="http://schemas.openxmlformats.org/drawingml/2006/main">
              <a:ext uri="{FF2B5EF4-FFF2-40B4-BE49-F238E27FC236}">
                <a16:creationId xmlns:a16="http://schemas.microsoft.com/office/drawing/2014/main" id="{1744AD91-F896-49DB-8DBA-75FA405E621F}"/>
              </a:ext>
            </a:extLst>
          </p:cNvPr>
          <p:cNvSpPr>
            <a:spLocks xmlns:a="http://schemas.openxmlformats.org/drawingml/2006/main" noGrp="1"/>
          </p:cNvSpPr>
          <p:nvPr/>
        </p:nvSpPr>
        <p:spPr>
          <a:xfrm xmlns:a="http://schemas.openxmlformats.org/drawingml/2006/main">
            <a:off x="8877300" y="2228850"/>
            <a:ext cx="26289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B4AC5922-7190-4F41-A0B1-A6A28975A528}"/>
              </a:ext>
            </a:extLst>
          </p:cNvPr>
          <p:cNvSpPr>
            <a:spLocks xmlns:a="http://schemas.openxmlformats.org/drawingml/2006/main" noGrp="1"/>
          </p:cNvSpPr>
          <p:nvPr/>
        </p:nvSpPr>
        <p:spPr>
          <a:xfrm xmlns:a="http://schemas.openxmlformats.org/drawingml/2006/main">
            <a:off x="8953500" y="23050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Low selectivity may limit value</a:t>
            </a:r>
          </a:p>
        </p:txBody>
      </p:sp>
      <p:sp>
        <p:nvSpPr>
          <p:cNvPr id="22" name="">
            <a:extLst xmlns:a="http://schemas.openxmlformats.org/drawingml/2006/main">
              <a:ext uri="{FF2B5EF4-FFF2-40B4-BE49-F238E27FC236}">
                <a16:creationId xmlns:a16="http://schemas.microsoft.com/office/drawing/2014/main" id="{760CC8B6-87E4-4647-B96A-A73319D3822F}"/>
              </a:ext>
            </a:extLst>
          </p:cNvPr>
          <p:cNvSpPr>
            <a:spLocks xmlns:a="http://schemas.openxmlformats.org/drawingml/2006/main" noGrp="1"/>
          </p:cNvSpPr>
          <p:nvPr/>
        </p:nvSpPr>
        <p:spPr>
          <a:xfrm xmlns:a="http://schemas.openxmlformats.org/drawingml/2006/main">
            <a:off x="685800" y="2914650"/>
            <a:ext cx="21907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6AB5F01F-36E6-4D90-A6F4-936D48CEEFB6}"/>
              </a:ext>
            </a:extLst>
          </p:cNvPr>
          <p:cNvSpPr>
            <a:spLocks xmlns:a="http://schemas.openxmlformats.org/drawingml/2006/main" noGrp="1"/>
          </p:cNvSpPr>
          <p:nvPr/>
        </p:nvSpPr>
        <p:spPr>
          <a:xfrm xmlns:a="http://schemas.openxmlformats.org/drawingml/2006/main">
            <a:off x="762000" y="29908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Set/equality filter</a:t>
            </a:r>
          </a:p>
        </p:txBody>
      </p:sp>
      <p:sp>
        <p:nvSpPr>
          <p:cNvPr id="24" name="">
            <a:extLst xmlns:a="http://schemas.openxmlformats.org/drawingml/2006/main">
              <a:ext uri="{FF2B5EF4-FFF2-40B4-BE49-F238E27FC236}">
                <a16:creationId xmlns:a16="http://schemas.microsoft.com/office/drawing/2014/main" id="{C48AE767-D3A6-400E-8050-D01274FB3E7B}"/>
              </a:ext>
            </a:extLst>
          </p:cNvPr>
          <p:cNvSpPr>
            <a:spLocks xmlns:a="http://schemas.openxmlformats.org/drawingml/2006/main" noGrp="1"/>
          </p:cNvSpPr>
          <p:nvPr/>
        </p:nvSpPr>
        <p:spPr>
          <a:xfrm xmlns:a="http://schemas.openxmlformats.org/drawingml/2006/main">
            <a:off x="2876550" y="2914650"/>
            <a:ext cx="2857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A486A5DF-6E00-440E-BBF0-1C27583567C9}"/>
              </a:ext>
            </a:extLst>
          </p:cNvPr>
          <p:cNvSpPr>
            <a:spLocks xmlns:a="http://schemas.openxmlformats.org/drawingml/2006/main" noGrp="1"/>
          </p:cNvSpPr>
          <p:nvPr/>
        </p:nvSpPr>
        <p:spPr>
          <a:xfrm xmlns:a="http://schemas.openxmlformats.org/drawingml/2006/main">
            <a:off x="2952750" y="29908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IN (...) </a:t>
            </a:r>
          </a:p>
        </p:txBody>
      </p:sp>
      <p:sp>
        <p:nvSpPr>
          <p:cNvPr id="26" name="">
            <a:extLst xmlns:a="http://schemas.openxmlformats.org/drawingml/2006/main">
              <a:ext uri="{FF2B5EF4-FFF2-40B4-BE49-F238E27FC236}">
                <a16:creationId xmlns:a16="http://schemas.microsoft.com/office/drawing/2014/main" id="{23AEF691-98FB-4EFD-8A57-D88A1B827050}"/>
              </a:ext>
            </a:extLst>
          </p:cNvPr>
          <p:cNvSpPr>
            <a:spLocks xmlns:a="http://schemas.openxmlformats.org/drawingml/2006/main" noGrp="1"/>
          </p:cNvSpPr>
          <p:nvPr/>
        </p:nvSpPr>
        <p:spPr>
          <a:xfrm xmlns:a="http://schemas.openxmlformats.org/drawingml/2006/main">
            <a:off x="5734050" y="2914650"/>
            <a:ext cx="31432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E22B5270-223C-43B4-8DDF-7056A31B845D}"/>
              </a:ext>
            </a:extLst>
          </p:cNvPr>
          <p:cNvSpPr>
            <a:spLocks xmlns:a="http://schemas.openxmlformats.org/drawingml/2006/main" noGrp="1"/>
          </p:cNvSpPr>
          <p:nvPr/>
        </p:nvSpPr>
        <p:spPr>
          <a:xfrm xmlns:a="http://schemas.openxmlformats.org/drawingml/2006/main">
            <a:off x="5810250" y="29908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May follow another equality key</a:t>
            </a:r>
          </a:p>
        </p:txBody>
      </p:sp>
      <p:sp>
        <p:nvSpPr>
          <p:cNvPr id="28" name="">
            <a:extLst xmlns:a="http://schemas.openxmlformats.org/drawingml/2006/main">
              <a:ext uri="{FF2B5EF4-FFF2-40B4-BE49-F238E27FC236}">
                <a16:creationId xmlns:a16="http://schemas.microsoft.com/office/drawing/2014/main" id="{778014E2-83F2-4675-84B9-C392C777606E}"/>
              </a:ext>
            </a:extLst>
          </p:cNvPr>
          <p:cNvSpPr>
            <a:spLocks xmlns:a="http://schemas.openxmlformats.org/drawingml/2006/main" noGrp="1"/>
          </p:cNvSpPr>
          <p:nvPr/>
        </p:nvSpPr>
        <p:spPr>
          <a:xfrm xmlns:a="http://schemas.openxmlformats.org/drawingml/2006/main">
            <a:off x="8877300" y="2914650"/>
            <a:ext cx="26289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BCEDF0F1-6C2A-49D8-B442-3007FD04EEFB}"/>
              </a:ext>
            </a:extLst>
          </p:cNvPr>
          <p:cNvSpPr>
            <a:spLocks xmlns:a="http://schemas.openxmlformats.org/drawingml/2006/main" noGrp="1"/>
          </p:cNvSpPr>
          <p:nvPr/>
        </p:nvSpPr>
        <p:spPr>
          <a:xfrm xmlns:a="http://schemas.openxmlformats.org/drawingml/2006/main">
            <a:off x="8953500" y="29908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Distribution and combinations matter</a:t>
            </a:r>
          </a:p>
        </p:txBody>
      </p:sp>
      <p:sp>
        <p:nvSpPr>
          <p:cNvPr id="30" name="">
            <a:extLst xmlns:a="http://schemas.openxmlformats.org/drawingml/2006/main">
              <a:ext uri="{FF2B5EF4-FFF2-40B4-BE49-F238E27FC236}">
                <a16:creationId xmlns:a16="http://schemas.microsoft.com/office/drawing/2014/main" id="{A0684EB7-733E-4E90-A88F-861B0CABCE7B}"/>
              </a:ext>
            </a:extLst>
          </p:cNvPr>
          <p:cNvSpPr>
            <a:spLocks xmlns:a="http://schemas.openxmlformats.org/drawingml/2006/main" noGrp="1"/>
          </p:cNvSpPr>
          <p:nvPr/>
        </p:nvSpPr>
        <p:spPr>
          <a:xfrm xmlns:a="http://schemas.openxmlformats.org/drawingml/2006/main">
            <a:off x="685800" y="3600450"/>
            <a:ext cx="2190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8DACBB05-9D6A-498F-AF1B-C78E7CCADE6B}"/>
              </a:ext>
            </a:extLst>
          </p:cNvPr>
          <p:cNvSpPr>
            <a:spLocks xmlns:a="http://schemas.openxmlformats.org/drawingml/2006/main" noGrp="1"/>
          </p:cNvSpPr>
          <p:nvPr/>
        </p:nvSpPr>
        <p:spPr>
          <a:xfrm xmlns:a="http://schemas.openxmlformats.org/drawingml/2006/main">
            <a:off x="762000" y="36766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Order/range</a:t>
            </a:r>
          </a:p>
        </p:txBody>
      </p:sp>
      <p:sp>
        <p:nvSpPr>
          <p:cNvPr id="32" name="">
            <a:extLst xmlns:a="http://schemas.openxmlformats.org/drawingml/2006/main">
              <a:ext uri="{FF2B5EF4-FFF2-40B4-BE49-F238E27FC236}">
                <a16:creationId xmlns:a16="http://schemas.microsoft.com/office/drawing/2014/main" id="{DFD4277E-85E5-4C91-A67B-FDBAD3FA13F9}"/>
              </a:ext>
            </a:extLst>
          </p:cNvPr>
          <p:cNvSpPr>
            <a:spLocks xmlns:a="http://schemas.openxmlformats.org/drawingml/2006/main" noGrp="1"/>
          </p:cNvSpPr>
          <p:nvPr/>
        </p:nvSpPr>
        <p:spPr>
          <a:xfrm xmlns:a="http://schemas.openxmlformats.org/drawingml/2006/main">
            <a:off x="2876550" y="3600450"/>
            <a:ext cx="2857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62E27B8-1317-4C25-8475-2B996470DDD3}"/>
              </a:ext>
            </a:extLst>
          </p:cNvPr>
          <p:cNvSpPr>
            <a:spLocks xmlns:a="http://schemas.openxmlformats.org/drawingml/2006/main" noGrp="1"/>
          </p:cNvSpPr>
          <p:nvPr/>
        </p:nvSpPr>
        <p:spPr>
          <a:xfrm xmlns:a="http://schemas.openxmlformats.org/drawingml/2006/main">
            <a:off x="2952750" y="36766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opened_at DESC</a:t>
            </a:r>
          </a:p>
        </p:txBody>
      </p:sp>
      <p:sp>
        <p:nvSpPr>
          <p:cNvPr id="34" name="">
            <a:extLst xmlns:a="http://schemas.openxmlformats.org/drawingml/2006/main">
              <a:ext uri="{FF2B5EF4-FFF2-40B4-BE49-F238E27FC236}">
                <a16:creationId xmlns:a16="http://schemas.microsoft.com/office/drawing/2014/main" id="{7E3CF38A-2DF4-4F76-8707-749AE65C3906}"/>
              </a:ext>
            </a:extLst>
          </p:cNvPr>
          <p:cNvSpPr>
            <a:spLocks xmlns:a="http://schemas.openxmlformats.org/drawingml/2006/main" noGrp="1"/>
          </p:cNvSpPr>
          <p:nvPr/>
        </p:nvSpPr>
        <p:spPr>
          <a:xfrm xmlns:a="http://schemas.openxmlformats.org/drawingml/2006/main">
            <a:off x="5734050" y="3600450"/>
            <a:ext cx="3143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311F8DB3-3346-47EA-95F0-40F7E51F70E0}"/>
              </a:ext>
            </a:extLst>
          </p:cNvPr>
          <p:cNvSpPr>
            <a:spLocks xmlns:a="http://schemas.openxmlformats.org/drawingml/2006/main" noGrp="1"/>
          </p:cNvSpPr>
          <p:nvPr/>
        </p:nvSpPr>
        <p:spPr>
          <a:xfrm xmlns:a="http://schemas.openxmlformats.org/drawingml/2006/main">
            <a:off x="5810250" y="36766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Can provide order after leading keys</a:t>
            </a:r>
          </a:p>
        </p:txBody>
      </p:sp>
      <p:sp>
        <p:nvSpPr>
          <p:cNvPr id="36" name="">
            <a:extLst xmlns:a="http://schemas.openxmlformats.org/drawingml/2006/main">
              <a:ext uri="{FF2B5EF4-FFF2-40B4-BE49-F238E27FC236}">
                <a16:creationId xmlns:a16="http://schemas.microsoft.com/office/drawing/2014/main" id="{106702D7-D161-453B-8F20-289C69F8188D}"/>
              </a:ext>
            </a:extLst>
          </p:cNvPr>
          <p:cNvSpPr>
            <a:spLocks xmlns:a="http://schemas.openxmlformats.org/drawingml/2006/main" noGrp="1"/>
          </p:cNvSpPr>
          <p:nvPr/>
        </p:nvSpPr>
        <p:spPr>
          <a:xfrm xmlns:a="http://schemas.openxmlformats.org/drawingml/2006/main">
            <a:off x="8877300" y="3600450"/>
            <a:ext cx="26289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24236DBD-8DDB-4F22-9EE1-863AAADAAFF9}"/>
              </a:ext>
            </a:extLst>
          </p:cNvPr>
          <p:cNvSpPr>
            <a:spLocks xmlns:a="http://schemas.openxmlformats.org/drawingml/2006/main" noGrp="1"/>
          </p:cNvSpPr>
          <p:nvPr/>
        </p:nvSpPr>
        <p:spPr>
          <a:xfrm xmlns:a="http://schemas.openxmlformats.org/drawingml/2006/main">
            <a:off x="8953500" y="36766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Range can limit later-key use</a:t>
            </a:r>
          </a:p>
        </p:txBody>
      </p:sp>
      <p:sp>
        <p:nvSpPr>
          <p:cNvPr id="38" name="">
            <a:extLst xmlns:a="http://schemas.openxmlformats.org/drawingml/2006/main">
              <a:ext uri="{FF2B5EF4-FFF2-40B4-BE49-F238E27FC236}">
                <a16:creationId xmlns:a16="http://schemas.microsoft.com/office/drawing/2014/main" id="{A47851A2-397A-4E03-88C3-6FAD83A871F9}"/>
              </a:ext>
            </a:extLst>
          </p:cNvPr>
          <p:cNvSpPr>
            <a:spLocks xmlns:a="http://schemas.openxmlformats.org/drawingml/2006/main" noGrp="1"/>
          </p:cNvSpPr>
          <p:nvPr/>
        </p:nvSpPr>
        <p:spPr>
          <a:xfrm xmlns:a="http://schemas.openxmlformats.org/drawingml/2006/main">
            <a:off x="685800" y="4286250"/>
            <a:ext cx="21907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61A0C6AD-92FE-452E-9881-5CA080BCB0D8}"/>
              </a:ext>
            </a:extLst>
          </p:cNvPr>
          <p:cNvSpPr>
            <a:spLocks xmlns:a="http://schemas.openxmlformats.org/drawingml/2006/main" noGrp="1"/>
          </p:cNvSpPr>
          <p:nvPr/>
        </p:nvSpPr>
        <p:spPr>
          <a:xfrm xmlns:a="http://schemas.openxmlformats.org/drawingml/2006/main">
            <a:off x="762000" y="43624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Returned fields</a:t>
            </a:r>
          </a:p>
        </p:txBody>
      </p:sp>
      <p:sp>
        <p:nvSpPr>
          <p:cNvPr id="40" name="">
            <a:extLst xmlns:a="http://schemas.openxmlformats.org/drawingml/2006/main">
              <a:ext uri="{FF2B5EF4-FFF2-40B4-BE49-F238E27FC236}">
                <a16:creationId xmlns:a16="http://schemas.microsoft.com/office/drawing/2014/main" id="{065B0210-D633-46BF-B0A1-57E5AF2248C1}"/>
              </a:ext>
            </a:extLst>
          </p:cNvPr>
          <p:cNvSpPr>
            <a:spLocks xmlns:a="http://schemas.openxmlformats.org/drawingml/2006/main" noGrp="1"/>
          </p:cNvSpPr>
          <p:nvPr/>
        </p:nvSpPr>
        <p:spPr>
          <a:xfrm xmlns:a="http://schemas.openxmlformats.org/drawingml/2006/main">
            <a:off x="2876550" y="4286250"/>
            <a:ext cx="2857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9083971A-7311-4CCB-92C9-4C17B9451AD9}"/>
              </a:ext>
            </a:extLst>
          </p:cNvPr>
          <p:cNvSpPr>
            <a:spLocks xmlns:a="http://schemas.openxmlformats.org/drawingml/2006/main" noGrp="1"/>
          </p:cNvSpPr>
          <p:nvPr/>
        </p:nvSpPr>
        <p:spPr>
          <a:xfrm xmlns:a="http://schemas.openxmlformats.org/drawingml/2006/main">
            <a:off x="2952750" y="43624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ticket_id, subject</a:t>
            </a:r>
          </a:p>
        </p:txBody>
      </p:sp>
      <p:sp>
        <p:nvSpPr>
          <p:cNvPr id="42" name="">
            <a:extLst xmlns:a="http://schemas.openxmlformats.org/drawingml/2006/main">
              <a:ext uri="{FF2B5EF4-FFF2-40B4-BE49-F238E27FC236}">
                <a16:creationId xmlns:a16="http://schemas.microsoft.com/office/drawing/2014/main" id="{47328010-B677-46D0-9CB7-8483D3CF4924}"/>
              </a:ext>
            </a:extLst>
          </p:cNvPr>
          <p:cNvSpPr>
            <a:spLocks xmlns:a="http://schemas.openxmlformats.org/drawingml/2006/main" noGrp="1"/>
          </p:cNvSpPr>
          <p:nvPr/>
        </p:nvSpPr>
        <p:spPr>
          <a:xfrm xmlns:a="http://schemas.openxmlformats.org/drawingml/2006/main">
            <a:off x="5734050" y="4286250"/>
            <a:ext cx="31432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BC66712D-B0A2-4474-928C-6C0C69AF2B22}"/>
              </a:ext>
            </a:extLst>
          </p:cNvPr>
          <p:cNvSpPr>
            <a:spLocks xmlns:a="http://schemas.openxmlformats.org/drawingml/2006/main" noGrp="1"/>
          </p:cNvSpPr>
          <p:nvPr/>
        </p:nvSpPr>
        <p:spPr>
          <a:xfrm xmlns:a="http://schemas.openxmlformats.org/drawingml/2006/main">
            <a:off x="5810250" y="43624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INCLUDE may reduce heap visits</a:t>
            </a:r>
          </a:p>
        </p:txBody>
      </p:sp>
      <p:sp>
        <p:nvSpPr>
          <p:cNvPr id="44" name="">
            <a:extLst xmlns:a="http://schemas.openxmlformats.org/drawingml/2006/main">
              <a:ext uri="{FF2B5EF4-FFF2-40B4-BE49-F238E27FC236}">
                <a16:creationId xmlns:a16="http://schemas.microsoft.com/office/drawing/2014/main" id="{F0D70D0C-7480-427C-AC61-A4FC1DA7E42F}"/>
              </a:ext>
            </a:extLst>
          </p:cNvPr>
          <p:cNvSpPr>
            <a:spLocks xmlns:a="http://schemas.openxmlformats.org/drawingml/2006/main" noGrp="1"/>
          </p:cNvSpPr>
          <p:nvPr/>
        </p:nvSpPr>
        <p:spPr>
          <a:xfrm xmlns:a="http://schemas.openxmlformats.org/drawingml/2006/main">
            <a:off x="8877300" y="4286250"/>
            <a:ext cx="26289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C6547FA1-4CDB-4E2B-A938-5100823C6913}"/>
              </a:ext>
            </a:extLst>
          </p:cNvPr>
          <p:cNvSpPr>
            <a:spLocks xmlns:a="http://schemas.openxmlformats.org/drawingml/2006/main" noGrp="1"/>
          </p:cNvSpPr>
          <p:nvPr/>
        </p:nvSpPr>
        <p:spPr>
          <a:xfrm xmlns:a="http://schemas.openxmlformats.org/drawingml/2006/main">
            <a:off x="8953500" y="43624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Wider index increases cost</a:t>
            </a:r>
          </a:p>
        </p:txBody>
      </p:sp>
    </p:spTree>
    <p:extLst>
      <p:ext uri="{BB962C8B-B14F-4D97-AF65-F5344CB8AC3E}">
        <p14:creationId xmlns:p14="http://schemas.microsoft.com/office/powerpoint/2010/main" val="190192893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DAB4AFE-B2D6-44E9-9294-0C390573E0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582D7F4-C38D-48EC-8D2F-056D78703B9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45504AE1-8B06-4249-93AA-06DFC05F8A0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Compare the mechanism, not only the elapsed-time number</a:t>
            </a:r>
          </a:p>
        </p:txBody>
      </p:sp>
      <p:sp>
        <p:nvSpPr>
          <p:cNvPr id="4" name="">
            <a:extLst xmlns:a="http://schemas.openxmlformats.org/drawingml/2006/main">
              <a:ext uri="{FF2B5EF4-FFF2-40B4-BE49-F238E27FC236}">
                <a16:creationId xmlns:a16="http://schemas.microsoft.com/office/drawing/2014/main" id="{1F0610C0-F359-4A6A-9B77-A8CCE4F322B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AFF1F4A-2493-4130-AD75-BCD233C37E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6AF2A855-0AD4-453B-B4C9-46B0B3D19992}"/>
              </a:ext>
            </a:extLst>
          </p:cNvPr>
          <p:cNvSpPr>
            <a:spLocks xmlns:a="http://schemas.openxmlformats.org/drawingml/2006/main" noGrp="1"/>
          </p:cNvSpPr>
          <p:nvPr/>
        </p:nvSpPr>
        <p:spPr>
          <a:xfrm xmlns:a="http://schemas.openxmlformats.org/drawingml/2006/main">
            <a:off x="685800" y="1714500"/>
            <a:ext cx="2190750" cy="5143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7" name="">
            <a:extLst xmlns:a="http://schemas.openxmlformats.org/drawingml/2006/main">
              <a:ext uri="{FF2B5EF4-FFF2-40B4-BE49-F238E27FC236}">
                <a16:creationId xmlns:a16="http://schemas.microsoft.com/office/drawing/2014/main" id="{83A09AB8-BB53-4C47-9AD8-16A0DD082D5C}"/>
              </a:ext>
            </a:extLst>
          </p:cNvPr>
          <p:cNvSpPr>
            <a:spLocks xmlns:a="http://schemas.openxmlformats.org/drawingml/2006/main" noGrp="1"/>
          </p:cNvSpPr>
          <p:nvPr/>
        </p:nvSpPr>
        <p:spPr>
          <a:xfrm xmlns:a="http://schemas.openxmlformats.org/drawingml/2006/main">
            <a:off x="762000" y="18097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Evidence</a:t>
            </a:r>
          </a:p>
        </p:txBody>
      </p:sp>
      <p:sp>
        <p:nvSpPr>
          <p:cNvPr id="8" name="">
            <a:extLst xmlns:a="http://schemas.openxmlformats.org/drawingml/2006/main">
              <a:ext uri="{FF2B5EF4-FFF2-40B4-BE49-F238E27FC236}">
                <a16:creationId xmlns:a16="http://schemas.microsoft.com/office/drawing/2014/main" id="{499914DD-27D0-49EB-BEB2-FCCF082029B9}"/>
              </a:ext>
            </a:extLst>
          </p:cNvPr>
          <p:cNvSpPr>
            <a:spLocks xmlns:a="http://schemas.openxmlformats.org/drawingml/2006/main" noGrp="1"/>
          </p:cNvSpPr>
          <p:nvPr/>
        </p:nvSpPr>
        <p:spPr>
          <a:xfrm xmlns:a="http://schemas.openxmlformats.org/drawingml/2006/main">
            <a:off x="2876550" y="1714500"/>
            <a:ext cx="23812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8C4F4DD-252E-402D-A17A-9F61B3D05D02}"/>
              </a:ext>
            </a:extLst>
          </p:cNvPr>
          <p:cNvSpPr>
            <a:spLocks xmlns:a="http://schemas.openxmlformats.org/drawingml/2006/main" noGrp="1"/>
          </p:cNvSpPr>
          <p:nvPr/>
        </p:nvSpPr>
        <p:spPr>
          <a:xfrm xmlns:a="http://schemas.openxmlformats.org/drawingml/2006/main">
            <a:off x="2952750" y="18097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Baseline</a:t>
            </a:r>
          </a:p>
        </p:txBody>
      </p:sp>
      <p:sp>
        <p:nvSpPr>
          <p:cNvPr id="10" name="">
            <a:extLst xmlns:a="http://schemas.openxmlformats.org/drawingml/2006/main">
              <a:ext uri="{FF2B5EF4-FFF2-40B4-BE49-F238E27FC236}">
                <a16:creationId xmlns:a16="http://schemas.microsoft.com/office/drawing/2014/main" id="{DD06DAA1-DC4E-4D45-B041-B8CA95BBE511}"/>
              </a:ext>
            </a:extLst>
          </p:cNvPr>
          <p:cNvSpPr>
            <a:spLocks xmlns:a="http://schemas.openxmlformats.org/drawingml/2006/main" noGrp="1"/>
          </p:cNvSpPr>
          <p:nvPr/>
        </p:nvSpPr>
        <p:spPr>
          <a:xfrm xmlns:a="http://schemas.openxmlformats.org/drawingml/2006/main">
            <a:off x="525780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3EF2E55-4F42-430C-A0C2-5A8D3C7A8DC8}"/>
              </a:ext>
            </a:extLst>
          </p:cNvPr>
          <p:cNvSpPr>
            <a:spLocks xmlns:a="http://schemas.openxmlformats.org/drawingml/2006/main" noGrp="1"/>
          </p:cNvSpPr>
          <p:nvPr/>
        </p:nvSpPr>
        <p:spPr>
          <a:xfrm xmlns:a="http://schemas.openxmlformats.org/drawingml/2006/main">
            <a:off x="533400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With candidate index</a:t>
            </a:r>
          </a:p>
        </p:txBody>
      </p:sp>
      <p:sp>
        <p:nvSpPr>
          <p:cNvPr id="12" name="">
            <a:extLst xmlns:a="http://schemas.openxmlformats.org/drawingml/2006/main">
              <a:ext uri="{FF2B5EF4-FFF2-40B4-BE49-F238E27FC236}">
                <a16:creationId xmlns:a16="http://schemas.microsoft.com/office/drawing/2014/main" id="{A66D0A73-9CB7-46E6-94D2-186C1F8E13F7}"/>
              </a:ext>
            </a:extLst>
          </p:cNvPr>
          <p:cNvSpPr>
            <a:spLocks xmlns:a="http://schemas.openxmlformats.org/drawingml/2006/main" noGrp="1"/>
          </p:cNvSpPr>
          <p:nvPr/>
        </p:nvSpPr>
        <p:spPr>
          <a:xfrm xmlns:a="http://schemas.openxmlformats.org/drawingml/2006/main">
            <a:off x="8115300" y="1714500"/>
            <a:ext cx="3390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5A071AF0-66F5-4E29-B49B-C8BF72995E79}"/>
              </a:ext>
            </a:extLst>
          </p:cNvPr>
          <p:cNvSpPr>
            <a:spLocks xmlns:a="http://schemas.openxmlformats.org/drawingml/2006/main" noGrp="1"/>
          </p:cNvSpPr>
          <p:nvPr/>
        </p:nvSpPr>
        <p:spPr>
          <a:xfrm xmlns:a="http://schemas.openxmlformats.org/drawingml/2006/main">
            <a:off x="8191500" y="1809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Interpretation</a:t>
            </a:r>
          </a:p>
        </p:txBody>
      </p:sp>
      <p:sp>
        <p:nvSpPr>
          <p:cNvPr id="14" name="">
            <a:extLst xmlns:a="http://schemas.openxmlformats.org/drawingml/2006/main">
              <a:ext uri="{FF2B5EF4-FFF2-40B4-BE49-F238E27FC236}">
                <a16:creationId xmlns:a16="http://schemas.microsoft.com/office/drawing/2014/main" id="{108A199D-31BC-4EAE-9E43-41F267D37867}"/>
              </a:ext>
            </a:extLst>
          </p:cNvPr>
          <p:cNvSpPr>
            <a:spLocks xmlns:a="http://schemas.openxmlformats.org/drawingml/2006/main" noGrp="1"/>
          </p:cNvSpPr>
          <p:nvPr/>
        </p:nvSpPr>
        <p:spPr>
          <a:xfrm xmlns:a="http://schemas.openxmlformats.org/drawingml/2006/main">
            <a:off x="685800" y="2228850"/>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20FB2202-AF6E-40CB-B53E-F0F6166F36AA}"/>
              </a:ext>
            </a:extLst>
          </p:cNvPr>
          <p:cNvSpPr>
            <a:spLocks xmlns:a="http://schemas.openxmlformats.org/drawingml/2006/main" noGrp="1"/>
          </p:cNvSpPr>
          <p:nvPr/>
        </p:nvSpPr>
        <p:spPr>
          <a:xfrm xmlns:a="http://schemas.openxmlformats.org/drawingml/2006/main">
            <a:off x="762000" y="23050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Access</a:t>
            </a:r>
          </a:p>
        </p:txBody>
      </p:sp>
      <p:sp>
        <p:nvSpPr>
          <p:cNvPr id="16" name="">
            <a:extLst xmlns:a="http://schemas.openxmlformats.org/drawingml/2006/main">
              <a:ext uri="{FF2B5EF4-FFF2-40B4-BE49-F238E27FC236}">
                <a16:creationId xmlns:a16="http://schemas.microsoft.com/office/drawing/2014/main" id="{ACD9747C-8FF5-4B96-BD4A-7C4CF50542E3}"/>
              </a:ext>
            </a:extLst>
          </p:cNvPr>
          <p:cNvSpPr>
            <a:spLocks xmlns:a="http://schemas.openxmlformats.org/drawingml/2006/main" noGrp="1"/>
          </p:cNvSpPr>
          <p:nvPr/>
        </p:nvSpPr>
        <p:spPr>
          <a:xfrm xmlns:a="http://schemas.openxmlformats.org/drawingml/2006/main">
            <a:off x="2876550" y="2228850"/>
            <a:ext cx="2381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B99AA8E2-9225-4581-9FCE-F0E8FE6DCE7D}"/>
              </a:ext>
            </a:extLst>
          </p:cNvPr>
          <p:cNvSpPr>
            <a:spLocks xmlns:a="http://schemas.openxmlformats.org/drawingml/2006/main" noGrp="1"/>
          </p:cNvSpPr>
          <p:nvPr/>
        </p:nvSpPr>
        <p:spPr>
          <a:xfrm xmlns:a="http://schemas.openxmlformats.org/drawingml/2006/main">
            <a:off x="2952750" y="23050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sequential scan</a:t>
            </a:r>
          </a:p>
        </p:txBody>
      </p:sp>
      <p:sp>
        <p:nvSpPr>
          <p:cNvPr id="18" name="">
            <a:extLst xmlns:a="http://schemas.openxmlformats.org/drawingml/2006/main">
              <a:ext uri="{FF2B5EF4-FFF2-40B4-BE49-F238E27FC236}">
                <a16:creationId xmlns:a16="http://schemas.microsoft.com/office/drawing/2014/main" id="{6099DDA1-CFC5-45CA-ACC9-DE77E09F0637}"/>
              </a:ext>
            </a:extLst>
          </p:cNvPr>
          <p:cNvSpPr>
            <a:spLocks xmlns:a="http://schemas.openxmlformats.org/drawingml/2006/main" noGrp="1"/>
          </p:cNvSpPr>
          <p:nvPr/>
        </p:nvSpPr>
        <p:spPr>
          <a:xfrm xmlns:a="http://schemas.openxmlformats.org/drawingml/2006/main">
            <a:off x="5257800" y="2228850"/>
            <a:ext cx="2857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E73B1B79-60E1-42C1-9747-B1D75A492A36}"/>
              </a:ext>
            </a:extLst>
          </p:cNvPr>
          <p:cNvSpPr>
            <a:spLocks xmlns:a="http://schemas.openxmlformats.org/drawingml/2006/main" noGrp="1"/>
          </p:cNvSpPr>
          <p:nvPr/>
        </p:nvSpPr>
        <p:spPr>
          <a:xfrm xmlns:a="http://schemas.openxmlformats.org/drawingml/2006/main">
            <a:off x="5334000" y="23050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index or bitmap path</a:t>
            </a:r>
          </a:p>
        </p:txBody>
      </p:sp>
      <p:sp>
        <p:nvSpPr>
          <p:cNvPr id="20" name="">
            <a:extLst xmlns:a="http://schemas.openxmlformats.org/drawingml/2006/main">
              <a:ext uri="{FF2B5EF4-FFF2-40B4-BE49-F238E27FC236}">
                <a16:creationId xmlns:a16="http://schemas.microsoft.com/office/drawing/2014/main" id="{92170C1F-7F50-413A-8CFF-85FDA6043238}"/>
              </a:ext>
            </a:extLst>
          </p:cNvPr>
          <p:cNvSpPr>
            <a:spLocks xmlns:a="http://schemas.openxmlformats.org/drawingml/2006/main" noGrp="1"/>
          </p:cNvSpPr>
          <p:nvPr/>
        </p:nvSpPr>
        <p:spPr>
          <a:xfrm xmlns:a="http://schemas.openxmlformats.org/drawingml/2006/main">
            <a:off x="8115300" y="2228850"/>
            <a:ext cx="33909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18C7007E-C746-41B0-A5FF-F45D972CBD42}"/>
              </a:ext>
            </a:extLst>
          </p:cNvPr>
          <p:cNvSpPr>
            <a:spLocks xmlns:a="http://schemas.openxmlformats.org/drawingml/2006/main" noGrp="1"/>
          </p:cNvSpPr>
          <p:nvPr/>
        </p:nvSpPr>
        <p:spPr>
          <a:xfrm xmlns:a="http://schemas.openxmlformats.org/drawingml/2006/main">
            <a:off x="8191500" y="230505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Did the candidate target the predicate?</a:t>
            </a:r>
          </a:p>
        </p:txBody>
      </p:sp>
      <p:sp>
        <p:nvSpPr>
          <p:cNvPr id="22" name="">
            <a:extLst xmlns:a="http://schemas.openxmlformats.org/drawingml/2006/main">
              <a:ext uri="{FF2B5EF4-FFF2-40B4-BE49-F238E27FC236}">
                <a16:creationId xmlns:a16="http://schemas.microsoft.com/office/drawing/2014/main" id="{042BF367-B9DD-4C4D-B9EC-94458B895688}"/>
              </a:ext>
            </a:extLst>
          </p:cNvPr>
          <p:cNvSpPr>
            <a:spLocks xmlns:a="http://schemas.openxmlformats.org/drawingml/2006/main" noGrp="1"/>
          </p:cNvSpPr>
          <p:nvPr/>
        </p:nvSpPr>
        <p:spPr>
          <a:xfrm xmlns:a="http://schemas.openxmlformats.org/drawingml/2006/main">
            <a:off x="685800" y="2895600"/>
            <a:ext cx="219075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05D952DB-08FC-4E6F-A13D-4E193722C4EF}"/>
              </a:ext>
            </a:extLst>
          </p:cNvPr>
          <p:cNvSpPr>
            <a:spLocks xmlns:a="http://schemas.openxmlformats.org/drawingml/2006/main" noGrp="1"/>
          </p:cNvSpPr>
          <p:nvPr/>
        </p:nvSpPr>
        <p:spPr>
          <a:xfrm xmlns:a="http://schemas.openxmlformats.org/drawingml/2006/main">
            <a:off x="762000" y="297180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Sort</a:t>
            </a:r>
          </a:p>
        </p:txBody>
      </p:sp>
      <p:sp>
        <p:nvSpPr>
          <p:cNvPr id="24" name="">
            <a:extLst xmlns:a="http://schemas.openxmlformats.org/drawingml/2006/main">
              <a:ext uri="{FF2B5EF4-FFF2-40B4-BE49-F238E27FC236}">
                <a16:creationId xmlns:a16="http://schemas.microsoft.com/office/drawing/2014/main" id="{72F790B8-B014-4FF6-A4B0-F0A16EB9F4C4}"/>
              </a:ext>
            </a:extLst>
          </p:cNvPr>
          <p:cNvSpPr>
            <a:spLocks xmlns:a="http://schemas.openxmlformats.org/drawingml/2006/main" noGrp="1"/>
          </p:cNvSpPr>
          <p:nvPr/>
        </p:nvSpPr>
        <p:spPr>
          <a:xfrm xmlns:a="http://schemas.openxmlformats.org/drawingml/2006/main">
            <a:off x="2876550" y="2895600"/>
            <a:ext cx="238125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FB31F97F-BEF5-4879-B6AC-D4EB30A59DF8}"/>
              </a:ext>
            </a:extLst>
          </p:cNvPr>
          <p:cNvSpPr>
            <a:spLocks xmlns:a="http://schemas.openxmlformats.org/drawingml/2006/main" noGrp="1"/>
          </p:cNvSpPr>
          <p:nvPr/>
        </p:nvSpPr>
        <p:spPr>
          <a:xfrm xmlns:a="http://schemas.openxmlformats.org/drawingml/2006/main">
            <a:off x="2952750" y="29718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explicit sort</a:t>
            </a:r>
          </a:p>
        </p:txBody>
      </p:sp>
      <p:sp>
        <p:nvSpPr>
          <p:cNvPr id="26" name="">
            <a:extLst xmlns:a="http://schemas.openxmlformats.org/drawingml/2006/main">
              <a:ext uri="{FF2B5EF4-FFF2-40B4-BE49-F238E27FC236}">
                <a16:creationId xmlns:a16="http://schemas.microsoft.com/office/drawing/2014/main" id="{1FD3017C-44D9-4B13-806D-C15B79C6BA51}"/>
              </a:ext>
            </a:extLst>
          </p:cNvPr>
          <p:cNvSpPr>
            <a:spLocks xmlns:a="http://schemas.openxmlformats.org/drawingml/2006/main" noGrp="1"/>
          </p:cNvSpPr>
          <p:nvPr/>
        </p:nvSpPr>
        <p:spPr>
          <a:xfrm xmlns:a="http://schemas.openxmlformats.org/drawingml/2006/main">
            <a:off x="5257800" y="2895600"/>
            <a:ext cx="285750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9DBB3F95-03DF-4D0F-999F-1D6D10B132A9}"/>
              </a:ext>
            </a:extLst>
          </p:cNvPr>
          <p:cNvSpPr>
            <a:spLocks xmlns:a="http://schemas.openxmlformats.org/drawingml/2006/main" noGrp="1"/>
          </p:cNvSpPr>
          <p:nvPr/>
        </p:nvSpPr>
        <p:spPr>
          <a:xfrm xmlns:a="http://schemas.openxmlformats.org/drawingml/2006/main">
            <a:off x="5334000" y="29718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removed or smaller</a:t>
            </a:r>
          </a:p>
        </p:txBody>
      </p:sp>
      <p:sp>
        <p:nvSpPr>
          <p:cNvPr id="28" name="">
            <a:extLst xmlns:a="http://schemas.openxmlformats.org/drawingml/2006/main">
              <a:ext uri="{FF2B5EF4-FFF2-40B4-BE49-F238E27FC236}">
                <a16:creationId xmlns:a16="http://schemas.microsoft.com/office/drawing/2014/main" id="{3ACE8935-BF5A-4F02-A4B6-FDF81DAA87C9}"/>
              </a:ext>
            </a:extLst>
          </p:cNvPr>
          <p:cNvSpPr>
            <a:spLocks xmlns:a="http://schemas.openxmlformats.org/drawingml/2006/main" noGrp="1"/>
          </p:cNvSpPr>
          <p:nvPr/>
        </p:nvSpPr>
        <p:spPr>
          <a:xfrm xmlns:a="http://schemas.openxmlformats.org/drawingml/2006/main">
            <a:off x="8115300" y="2895600"/>
            <a:ext cx="339090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0290E160-D126-41B7-AFA5-DDB6E726174F}"/>
              </a:ext>
            </a:extLst>
          </p:cNvPr>
          <p:cNvSpPr>
            <a:spLocks xmlns:a="http://schemas.openxmlformats.org/drawingml/2006/main" noGrp="1"/>
          </p:cNvSpPr>
          <p:nvPr/>
        </p:nvSpPr>
        <p:spPr>
          <a:xfrm xmlns:a="http://schemas.openxmlformats.org/drawingml/2006/main">
            <a:off x="8191500" y="29718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Did key order support requested order?</a:t>
            </a:r>
          </a:p>
        </p:txBody>
      </p:sp>
      <p:sp>
        <p:nvSpPr>
          <p:cNvPr id="30" name="">
            <a:extLst xmlns:a="http://schemas.openxmlformats.org/drawingml/2006/main">
              <a:ext uri="{FF2B5EF4-FFF2-40B4-BE49-F238E27FC236}">
                <a16:creationId xmlns:a16="http://schemas.microsoft.com/office/drawing/2014/main" id="{B9CF48D2-FA2B-426D-9056-43FB37C0FDED}"/>
              </a:ext>
            </a:extLst>
          </p:cNvPr>
          <p:cNvSpPr>
            <a:spLocks xmlns:a="http://schemas.openxmlformats.org/drawingml/2006/main" noGrp="1"/>
          </p:cNvSpPr>
          <p:nvPr/>
        </p:nvSpPr>
        <p:spPr>
          <a:xfrm xmlns:a="http://schemas.openxmlformats.org/drawingml/2006/main">
            <a:off x="685800" y="3562350"/>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5DCCA18A-A57F-4EA4-9E41-02200558CA39}"/>
              </a:ext>
            </a:extLst>
          </p:cNvPr>
          <p:cNvSpPr>
            <a:spLocks xmlns:a="http://schemas.openxmlformats.org/drawingml/2006/main" noGrp="1"/>
          </p:cNvSpPr>
          <p:nvPr/>
        </p:nvSpPr>
        <p:spPr>
          <a:xfrm xmlns:a="http://schemas.openxmlformats.org/drawingml/2006/main">
            <a:off x="762000" y="36385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Rows / buffers</a:t>
            </a:r>
          </a:p>
        </p:txBody>
      </p:sp>
      <p:sp>
        <p:nvSpPr>
          <p:cNvPr id="32" name="">
            <a:extLst xmlns:a="http://schemas.openxmlformats.org/drawingml/2006/main">
              <a:ext uri="{FF2B5EF4-FFF2-40B4-BE49-F238E27FC236}">
                <a16:creationId xmlns:a16="http://schemas.microsoft.com/office/drawing/2014/main" id="{F27CA2A6-2B2E-4314-A8A5-D610C79A1510}"/>
              </a:ext>
            </a:extLst>
          </p:cNvPr>
          <p:cNvSpPr>
            <a:spLocks xmlns:a="http://schemas.openxmlformats.org/drawingml/2006/main" noGrp="1"/>
          </p:cNvSpPr>
          <p:nvPr/>
        </p:nvSpPr>
        <p:spPr>
          <a:xfrm xmlns:a="http://schemas.openxmlformats.org/drawingml/2006/main">
            <a:off x="2876550" y="3562350"/>
            <a:ext cx="2381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D122D48-3F81-48DF-A55A-54A328178A5B}"/>
              </a:ext>
            </a:extLst>
          </p:cNvPr>
          <p:cNvSpPr>
            <a:spLocks xmlns:a="http://schemas.openxmlformats.org/drawingml/2006/main" noGrp="1"/>
          </p:cNvSpPr>
          <p:nvPr/>
        </p:nvSpPr>
        <p:spPr>
          <a:xfrm xmlns:a="http://schemas.openxmlformats.org/drawingml/2006/main">
            <a:off x="2952750" y="36385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broad work</a:t>
            </a:r>
          </a:p>
        </p:txBody>
      </p:sp>
      <p:sp>
        <p:nvSpPr>
          <p:cNvPr id="34" name="">
            <a:extLst xmlns:a="http://schemas.openxmlformats.org/drawingml/2006/main">
              <a:ext uri="{FF2B5EF4-FFF2-40B4-BE49-F238E27FC236}">
                <a16:creationId xmlns:a16="http://schemas.microsoft.com/office/drawing/2014/main" id="{EE900690-D027-4580-AC8D-FB8DA4B26F76}"/>
              </a:ext>
            </a:extLst>
          </p:cNvPr>
          <p:cNvSpPr>
            <a:spLocks xmlns:a="http://schemas.openxmlformats.org/drawingml/2006/main" noGrp="1"/>
          </p:cNvSpPr>
          <p:nvPr/>
        </p:nvSpPr>
        <p:spPr>
          <a:xfrm xmlns:a="http://schemas.openxmlformats.org/drawingml/2006/main">
            <a:off x="5257800" y="3562350"/>
            <a:ext cx="2857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DBA1BAAB-4861-4DEE-98DE-572680BCC812}"/>
              </a:ext>
            </a:extLst>
          </p:cNvPr>
          <p:cNvSpPr>
            <a:spLocks xmlns:a="http://schemas.openxmlformats.org/drawingml/2006/main" noGrp="1"/>
          </p:cNvSpPr>
          <p:nvPr/>
        </p:nvSpPr>
        <p:spPr>
          <a:xfrm xmlns:a="http://schemas.openxmlformats.org/drawingml/2006/main">
            <a:off x="5334000" y="36385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reduced or unchanged</a:t>
            </a:r>
          </a:p>
        </p:txBody>
      </p:sp>
      <p:sp>
        <p:nvSpPr>
          <p:cNvPr id="36" name="">
            <a:extLst xmlns:a="http://schemas.openxmlformats.org/drawingml/2006/main">
              <a:ext uri="{FF2B5EF4-FFF2-40B4-BE49-F238E27FC236}">
                <a16:creationId xmlns:a16="http://schemas.microsoft.com/office/drawing/2014/main" id="{CE321208-2CE0-4655-BE3A-6D7D85E57A50}"/>
              </a:ext>
            </a:extLst>
          </p:cNvPr>
          <p:cNvSpPr>
            <a:spLocks xmlns:a="http://schemas.openxmlformats.org/drawingml/2006/main" noGrp="1"/>
          </p:cNvSpPr>
          <p:nvPr/>
        </p:nvSpPr>
        <p:spPr>
          <a:xfrm xmlns:a="http://schemas.openxmlformats.org/drawingml/2006/main">
            <a:off x="8115300" y="3562350"/>
            <a:ext cx="33909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D866ADB3-D4F2-4596-8B83-550B34E15CC2}"/>
              </a:ext>
            </a:extLst>
          </p:cNvPr>
          <p:cNvSpPr>
            <a:spLocks xmlns:a="http://schemas.openxmlformats.org/drawingml/2006/main" noGrp="1"/>
          </p:cNvSpPr>
          <p:nvPr/>
        </p:nvSpPr>
        <p:spPr>
          <a:xfrm xmlns:a="http://schemas.openxmlformats.org/drawingml/2006/main">
            <a:off x="8191500" y="363855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Where did work move?</a:t>
            </a:r>
          </a:p>
        </p:txBody>
      </p:sp>
      <p:sp>
        <p:nvSpPr>
          <p:cNvPr id="38" name="">
            <a:extLst xmlns:a="http://schemas.openxmlformats.org/drawingml/2006/main">
              <a:ext uri="{FF2B5EF4-FFF2-40B4-BE49-F238E27FC236}">
                <a16:creationId xmlns:a16="http://schemas.microsoft.com/office/drawing/2014/main" id="{027CAEC8-4F6B-41E2-A890-C92119D22791}"/>
              </a:ext>
            </a:extLst>
          </p:cNvPr>
          <p:cNvSpPr>
            <a:spLocks xmlns:a="http://schemas.openxmlformats.org/drawingml/2006/main" noGrp="1"/>
          </p:cNvSpPr>
          <p:nvPr/>
        </p:nvSpPr>
        <p:spPr>
          <a:xfrm xmlns:a="http://schemas.openxmlformats.org/drawingml/2006/main">
            <a:off x="685800" y="4229100"/>
            <a:ext cx="219075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A828947E-7773-409A-B0DE-F69FA72DAC2B}"/>
              </a:ext>
            </a:extLst>
          </p:cNvPr>
          <p:cNvSpPr>
            <a:spLocks xmlns:a="http://schemas.openxmlformats.org/drawingml/2006/main" noGrp="1"/>
          </p:cNvSpPr>
          <p:nvPr/>
        </p:nvSpPr>
        <p:spPr>
          <a:xfrm xmlns:a="http://schemas.openxmlformats.org/drawingml/2006/main">
            <a:off x="762000" y="430530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Runtime</a:t>
            </a:r>
          </a:p>
        </p:txBody>
      </p:sp>
      <p:sp>
        <p:nvSpPr>
          <p:cNvPr id="40" name="">
            <a:extLst xmlns:a="http://schemas.openxmlformats.org/drawingml/2006/main">
              <a:ext uri="{FF2B5EF4-FFF2-40B4-BE49-F238E27FC236}">
                <a16:creationId xmlns:a16="http://schemas.microsoft.com/office/drawing/2014/main" id="{D427EB98-F46F-489E-8334-D4E71354F943}"/>
              </a:ext>
            </a:extLst>
          </p:cNvPr>
          <p:cNvSpPr>
            <a:spLocks xmlns:a="http://schemas.openxmlformats.org/drawingml/2006/main" noGrp="1"/>
          </p:cNvSpPr>
          <p:nvPr/>
        </p:nvSpPr>
        <p:spPr>
          <a:xfrm xmlns:a="http://schemas.openxmlformats.org/drawingml/2006/main">
            <a:off x="2876550" y="4229100"/>
            <a:ext cx="238125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5EA79A6A-15E5-43ED-95F3-22FED1013CBB}"/>
              </a:ext>
            </a:extLst>
          </p:cNvPr>
          <p:cNvSpPr>
            <a:spLocks xmlns:a="http://schemas.openxmlformats.org/drawingml/2006/main" noGrp="1"/>
          </p:cNvSpPr>
          <p:nvPr/>
        </p:nvSpPr>
        <p:spPr>
          <a:xfrm xmlns:a="http://schemas.openxmlformats.org/drawingml/2006/main">
            <a:off x="2952750" y="43053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repeatable range</a:t>
            </a:r>
          </a:p>
        </p:txBody>
      </p:sp>
      <p:sp>
        <p:nvSpPr>
          <p:cNvPr id="42" name="">
            <a:extLst xmlns:a="http://schemas.openxmlformats.org/drawingml/2006/main">
              <a:ext uri="{FF2B5EF4-FFF2-40B4-BE49-F238E27FC236}">
                <a16:creationId xmlns:a16="http://schemas.microsoft.com/office/drawing/2014/main" id="{16BF76FD-E56A-445B-B9DB-E7A3551DC449}"/>
              </a:ext>
            </a:extLst>
          </p:cNvPr>
          <p:cNvSpPr>
            <a:spLocks xmlns:a="http://schemas.openxmlformats.org/drawingml/2006/main" noGrp="1"/>
          </p:cNvSpPr>
          <p:nvPr/>
        </p:nvSpPr>
        <p:spPr>
          <a:xfrm xmlns:a="http://schemas.openxmlformats.org/drawingml/2006/main">
            <a:off x="5257800" y="4229100"/>
            <a:ext cx="285750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9CD835C9-22EB-4C8B-A8B0-41294C9BE7C0}"/>
              </a:ext>
            </a:extLst>
          </p:cNvPr>
          <p:cNvSpPr>
            <a:spLocks xmlns:a="http://schemas.openxmlformats.org/drawingml/2006/main" noGrp="1"/>
          </p:cNvSpPr>
          <p:nvPr/>
        </p:nvSpPr>
        <p:spPr>
          <a:xfrm xmlns:a="http://schemas.openxmlformats.org/drawingml/2006/main">
            <a:off x="5334000" y="43053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repeatable range</a:t>
            </a:r>
          </a:p>
        </p:txBody>
      </p:sp>
      <p:sp>
        <p:nvSpPr>
          <p:cNvPr id="44" name="">
            <a:extLst xmlns:a="http://schemas.openxmlformats.org/drawingml/2006/main">
              <a:ext uri="{FF2B5EF4-FFF2-40B4-BE49-F238E27FC236}">
                <a16:creationId xmlns:a16="http://schemas.microsoft.com/office/drawing/2014/main" id="{BCDC9BB9-4705-4620-9252-2CD611F3BDFA}"/>
              </a:ext>
            </a:extLst>
          </p:cNvPr>
          <p:cNvSpPr>
            <a:spLocks xmlns:a="http://schemas.openxmlformats.org/drawingml/2006/main" noGrp="1"/>
          </p:cNvSpPr>
          <p:nvPr/>
        </p:nvSpPr>
        <p:spPr>
          <a:xfrm xmlns:a="http://schemas.openxmlformats.org/drawingml/2006/main">
            <a:off x="8115300" y="4229100"/>
            <a:ext cx="3390900" cy="6667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5CC16BC7-0835-42D4-9028-509D87446444}"/>
              </a:ext>
            </a:extLst>
          </p:cNvPr>
          <p:cNvSpPr>
            <a:spLocks xmlns:a="http://schemas.openxmlformats.org/drawingml/2006/main" noGrp="1"/>
          </p:cNvSpPr>
          <p:nvPr/>
        </p:nvSpPr>
        <p:spPr>
          <a:xfrm xmlns:a="http://schemas.openxmlformats.org/drawingml/2006/main">
            <a:off x="8191500" y="43053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Is change meaningful under conditions?</a:t>
            </a:r>
          </a:p>
        </p:txBody>
      </p:sp>
    </p:spTree>
    <p:extLst>
      <p:ext uri="{BB962C8B-B14F-4D97-AF65-F5344CB8AC3E}">
        <p14:creationId xmlns:p14="http://schemas.microsoft.com/office/powerpoint/2010/main" val="1626573102"/>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CC007FD-A8F6-4A9D-8A0F-B18A33FCD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73280B0-50ED-4504-AD39-93A414C5395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D4AEA5D6-B548-4EB8-88FF-8D648AA6824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Keeping an index creates continuing operational work</a:t>
            </a:r>
          </a:p>
        </p:txBody>
      </p:sp>
      <p:sp>
        <p:nvSpPr>
          <p:cNvPr id="4" name="">
            <a:extLst xmlns:a="http://schemas.openxmlformats.org/drawingml/2006/main">
              <a:ext uri="{FF2B5EF4-FFF2-40B4-BE49-F238E27FC236}">
                <a16:creationId xmlns:a16="http://schemas.microsoft.com/office/drawing/2014/main" id="{8619510C-EDB7-4A96-9033-1F14F3388F5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69F6FA-152B-4A21-ADEB-1A6E821E03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7D6657C2-A7BB-43EE-A455-71ABB6E57631}"/>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C2410C"/>
          </a:solidFill>
          <a:ln xmlns:a="http://schemas.openxmlformats.org/drawingml/2006/main" w="19050">
            <a:solidFill>
              <a:srgbClr val="C2410C"/>
            </a:solidFill>
            <a:prstDash val="solid"/>
          </a:ln>
        </p:spPr>
      </p:sp>
      <p:sp>
        <p:nvSpPr>
          <p:cNvPr id="7" name="">
            <a:extLst xmlns:a="http://schemas.openxmlformats.org/drawingml/2006/main">
              <a:ext uri="{FF2B5EF4-FFF2-40B4-BE49-F238E27FC236}">
                <a16:creationId xmlns:a16="http://schemas.microsoft.com/office/drawing/2014/main" id="{F373F849-D769-40F3-BEE4-665A550C9BB1}"/>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F23ADAFE-B55D-49E0-9FA5-D75AEAA08BD6}"/>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Measure benefit for the named read workload and check neighboring queries.</a:t>
            </a:r>
          </a:p>
        </p:txBody>
      </p:sp>
      <p:sp>
        <p:nvSpPr>
          <p:cNvPr id="9" name="">
            <a:extLst xmlns:a="http://schemas.openxmlformats.org/drawingml/2006/main">
              <a:ext uri="{FF2B5EF4-FFF2-40B4-BE49-F238E27FC236}">
                <a16:creationId xmlns:a16="http://schemas.microsoft.com/office/drawing/2014/main" id="{A8C8CD60-424D-4348-99D6-ED5274C87F65}"/>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BBF455A-9370-42E5-86FF-87E761C92B4D}"/>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1" name="">
            <a:extLst xmlns:a="http://schemas.openxmlformats.org/drawingml/2006/main">
              <a:ext uri="{FF2B5EF4-FFF2-40B4-BE49-F238E27FC236}">
                <a16:creationId xmlns:a16="http://schemas.microsoft.com/office/drawing/2014/main" id="{914841D8-D3A0-4E73-BFE3-0A0275E5AF44}"/>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7BE0378E-FEC7-4292-A86B-34FC2F5489AE}"/>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Account for insert, update, delete, storage, cache, and build costs.</a:t>
            </a:r>
          </a:p>
        </p:txBody>
      </p:sp>
      <p:sp>
        <p:nvSpPr>
          <p:cNvPr id="13" name="">
            <a:extLst xmlns:a="http://schemas.openxmlformats.org/drawingml/2006/main">
              <a:ext uri="{FF2B5EF4-FFF2-40B4-BE49-F238E27FC236}">
                <a16:creationId xmlns:a16="http://schemas.microsoft.com/office/drawing/2014/main" id="{EB7488CE-4FA8-40EF-94EA-A5E26A33CC76}"/>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D19E462C-1F54-494E-B5F2-200043E3160B}"/>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5" name="">
            <a:extLst xmlns:a="http://schemas.openxmlformats.org/drawingml/2006/main">
              <a:ext uri="{FF2B5EF4-FFF2-40B4-BE49-F238E27FC236}">
                <a16:creationId xmlns:a16="http://schemas.microsoft.com/office/drawing/2014/main" id="{EBED9534-A90D-403E-B521-09272B2AA1B8}"/>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BDBE9F21-D8DE-48C6-A7D5-AFDE243DA589}"/>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Name ownership, monitoring, statistics, vacuum, and maintenance expectations.</a:t>
            </a:r>
          </a:p>
        </p:txBody>
      </p:sp>
      <p:sp>
        <p:nvSpPr>
          <p:cNvPr id="17" name="">
            <a:extLst xmlns:a="http://schemas.openxmlformats.org/drawingml/2006/main">
              <a:ext uri="{FF2B5EF4-FFF2-40B4-BE49-F238E27FC236}">
                <a16:creationId xmlns:a16="http://schemas.microsoft.com/office/drawing/2014/main" id="{6DF9B94B-A55F-4926-81E7-CCA40AC2A812}"/>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0EDF5496-681E-4D31-9DB1-A53008DE5F7B}"/>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9" name="">
            <a:extLst xmlns:a="http://schemas.openxmlformats.org/drawingml/2006/main">
              <a:ext uri="{FF2B5EF4-FFF2-40B4-BE49-F238E27FC236}">
                <a16:creationId xmlns:a16="http://schemas.microsoft.com/office/drawing/2014/main" id="{985064C1-A8AE-4F5E-9C3D-9F65C6599A0C}"/>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3728C6BD-7F3C-448D-9BD1-A5B3B9E2F22B}"/>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State fixture and cache limits; schedule remeasurement when scale or workload changes.</a:t>
            </a:r>
          </a:p>
        </p:txBody>
      </p:sp>
      <p:sp>
        <p:nvSpPr>
          <p:cNvPr id="21" name="">
            <a:extLst xmlns:a="http://schemas.openxmlformats.org/drawingml/2006/main">
              <a:ext uri="{FF2B5EF4-FFF2-40B4-BE49-F238E27FC236}">
                <a16:creationId xmlns:a16="http://schemas.microsoft.com/office/drawing/2014/main" id="{15A013FB-CFC7-45AB-99C2-719E548DBA65}"/>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44671911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5DC442D-87E3-4674-A1CB-E651B88C9F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4BCBC4E-430E-405C-8889-72427ED4B9D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07  /  CST4714</a:t>
            </a:r>
          </a:p>
        </p:txBody>
      </p:sp>
      <p:sp>
        <p:nvSpPr>
          <p:cNvPr id="3" name="slide-title">
            <a:extLst xmlns:a="http://schemas.openxmlformats.org/drawingml/2006/main">
              <a:ext uri="{FF2B5EF4-FFF2-40B4-BE49-F238E27FC236}">
                <a16:creationId xmlns:a16="http://schemas.microsoft.com/office/drawing/2014/main" id="{F041866B-0A3C-4755-AF49-BE02439E33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Test one index hypothesis</a:t>
            </a:r>
          </a:p>
        </p:txBody>
      </p:sp>
      <p:sp>
        <p:nvSpPr>
          <p:cNvPr id="4" name="">
            <a:extLst xmlns:a="http://schemas.openxmlformats.org/drawingml/2006/main">
              <a:ext uri="{FF2B5EF4-FFF2-40B4-BE49-F238E27FC236}">
                <a16:creationId xmlns:a16="http://schemas.microsoft.com/office/drawing/2014/main" id="{1E92A15A-6FE1-4CB4-B601-ACC46D28409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9283C1E-B5C0-4C61-90F1-1852A39174B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358B6313-68FE-4B6D-B4E9-8A1F780B2238}"/>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Create one candidate index, remeasure the same query, and decide whether its benefit justifies its costs.</a:t>
            </a:r>
          </a:p>
        </p:txBody>
      </p:sp>
      <p:sp>
        <p:nvSpPr>
          <p:cNvPr id="7" name="">
            <a:extLst xmlns:a="http://schemas.openxmlformats.org/drawingml/2006/main">
              <a:ext uri="{FF2B5EF4-FFF2-40B4-BE49-F238E27FC236}">
                <a16:creationId xmlns:a16="http://schemas.microsoft.com/office/drawing/2014/main" id="{2F4332A5-5C1A-4BFB-8348-FB2D30C2F26C}"/>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80273746-FB33-446E-8756-86147D4A3183}"/>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Predict the access, sort, row, or buffer change the index should cause.</a:t>
            </a:r>
          </a:p>
        </p:txBody>
      </p:sp>
      <p:sp>
        <p:nvSpPr>
          <p:cNvPr id="9" name="">
            <a:extLst xmlns:a="http://schemas.openxmlformats.org/drawingml/2006/main">
              <a:ext uri="{FF2B5EF4-FFF2-40B4-BE49-F238E27FC236}">
                <a16:creationId xmlns:a16="http://schemas.microsoft.com/office/drawing/2014/main" id="{AB3C7DF0-2717-4BEB-883C-FF9DD4ED18AB}"/>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DFF0E3C9-90D4-4268-8FFA-DB5700CAD988}"/>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only that candidate and rerun the identical query under comparable conditions.</a:t>
            </a:r>
          </a:p>
        </p:txBody>
      </p:sp>
      <p:sp>
        <p:nvSpPr>
          <p:cNvPr id="11" name="">
            <a:extLst xmlns:a="http://schemas.openxmlformats.org/drawingml/2006/main">
              <a:ext uri="{FF2B5EF4-FFF2-40B4-BE49-F238E27FC236}">
                <a16:creationId xmlns:a16="http://schemas.microsoft.com/office/drawing/2014/main" id="{6FB9F272-5001-40BD-A168-ADDF05650381}"/>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B701E0E8-FFB1-4B4D-8291-EDC9164D9846}"/>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Compare plans and recommend keep or drop with one cost and one limitation.</a:t>
            </a:r>
          </a:p>
        </p:txBody>
      </p:sp>
      <p:sp>
        <p:nvSpPr>
          <p:cNvPr id="13" name="">
            <a:extLst xmlns:a="http://schemas.openxmlformats.org/drawingml/2006/main">
              <a:ext uri="{FF2B5EF4-FFF2-40B4-BE49-F238E27FC236}">
                <a16:creationId xmlns:a16="http://schemas.microsoft.com/office/drawing/2014/main" id="{2836A43B-DACE-4798-A839-EAEEBBE7680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80CF7273-7452-4E5D-A5D2-228492E85AB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before/after index recommendation</a:t>
            </a:r>
          </a:p>
        </p:txBody>
      </p:sp>
    </p:spTree>
    <p:extLst>
      <p:ext uri="{BB962C8B-B14F-4D97-AF65-F5344CB8AC3E}">
        <p14:creationId xmlns:p14="http://schemas.microsoft.com/office/powerpoint/2010/main" val="194107514"/>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556A3D-8728-4F99-B2F8-700F4D48EB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FB1EB21-7F4C-4B5E-BDD8-03BA6DB3E1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4721923D-ACF7-4C99-AD46-2C4F1B95C991}"/>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851"/>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Performance claims require a baseline, mechanism, and tradeoff</a:t>
            </a:r>
          </a:p>
        </p:txBody>
      </p:sp>
      <p:sp>
        <p:nvSpPr>
          <p:cNvPr id="4" name="">
            <a:extLst xmlns:a="http://schemas.openxmlformats.org/drawingml/2006/main">
              <a:ext uri="{FF2B5EF4-FFF2-40B4-BE49-F238E27FC236}">
                <a16:creationId xmlns:a16="http://schemas.microsoft.com/office/drawing/2014/main" id="{0628BEBB-A9B5-4C54-868C-EDF5AD4CC7F4}"/>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C2410C"/>
                </a:solidFill>
                <a:latin typeface="Helvetica Neue"/>
                <a:ea typeface="Helvetica Neue"/>
                <a:cs typeface="Helvetica Neue"/>
              </a:defRPr>
            </a:pPr>
            <a:r>
              <a:rPr sz="2550" b="1">
                <a:solidFill>
                  <a:srgbClr val="C2410C"/>
                </a:solidFill>
                <a:latin typeface="Helvetica Neue"/>
                <a:ea typeface="Helvetica Neue"/>
                <a:cs typeface="Helvetica Neue"/>
              </a:rPr>
              <a:t>Read the plan, test one hypothesis, preserve correctness, and pay for only useful indexes.</a:t>
            </a:r>
          </a:p>
        </p:txBody>
      </p:sp>
      <p:sp>
        <p:nvSpPr>
          <p:cNvPr id="5" name="">
            <a:extLst xmlns:a="http://schemas.openxmlformats.org/drawingml/2006/main">
              <a:ext uri="{FF2B5EF4-FFF2-40B4-BE49-F238E27FC236}">
                <a16:creationId xmlns:a16="http://schemas.microsoft.com/office/drawing/2014/main" id="{5E32447D-169E-4449-BA02-CDCEC1DD27B0}"/>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6" name="">
            <a:extLst xmlns:a="http://schemas.openxmlformats.org/drawingml/2006/main">
              <a:ext uri="{FF2B5EF4-FFF2-40B4-BE49-F238E27FC236}">
                <a16:creationId xmlns:a16="http://schemas.microsoft.com/office/drawing/2014/main" id="{9BBAE45B-3D1D-4D6B-B4C4-EDC5FC54FDC4}"/>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Where did the plan perform its work?</a:t>
            </a:r>
          </a:p>
        </p:txBody>
      </p:sp>
      <p:sp>
        <p:nvSpPr>
          <p:cNvPr id="7" name="">
            <a:extLst xmlns:a="http://schemas.openxmlformats.org/drawingml/2006/main">
              <a:ext uri="{FF2B5EF4-FFF2-40B4-BE49-F238E27FC236}">
                <a16:creationId xmlns:a16="http://schemas.microsoft.com/office/drawing/2014/main" id="{E396ED45-41A2-42FD-B9A7-F24FA48AD8C1}"/>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63C17A8F-2471-41B5-84AD-5CD697AB1FAE}"/>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changed after the index?</a:t>
            </a:r>
          </a:p>
        </p:txBody>
      </p:sp>
      <p:sp>
        <p:nvSpPr>
          <p:cNvPr id="9" name="">
            <a:extLst xmlns:a="http://schemas.openxmlformats.org/drawingml/2006/main">
              <a:ext uri="{FF2B5EF4-FFF2-40B4-BE49-F238E27FC236}">
                <a16:creationId xmlns:a16="http://schemas.microsoft.com/office/drawing/2014/main" id="{4C113CF4-C3BF-4FB9-8F8F-49A558288E5A}"/>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D5BCABFF-99EC-454E-94BE-4558AA85D467}"/>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ongoing cost accompanies the benefit?</a:t>
            </a:r>
          </a:p>
        </p:txBody>
      </p:sp>
      <p:sp>
        <p:nvSpPr>
          <p:cNvPr id="11" name="">
            <a:extLst xmlns:a="http://schemas.openxmlformats.org/drawingml/2006/main">
              <a:ext uri="{FF2B5EF4-FFF2-40B4-BE49-F238E27FC236}">
                <a16:creationId xmlns:a16="http://schemas.microsoft.com/office/drawing/2014/main" id="{568757BF-C5DF-4212-87E5-BDC7975B973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Tree>
    <p:extLst>
      <p:ext uri="{BB962C8B-B14F-4D97-AF65-F5344CB8AC3E}">
        <p14:creationId xmlns:p14="http://schemas.microsoft.com/office/powerpoint/2010/main" val="494584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7: Query Plans, Measurements, and Index Design</dc:title>
  <dcterms:created xsi:type="dcterms:W3CDTF">2026-08-09T04:11:13.7520000Z</dcterms:created>
  <dcterms:modified xsi:type="dcterms:W3CDTF">2026-08-09T00:00:00Z</dcterms:modified>
  <dc:subject>CST 4714 Database Administration</dc:subject>
  <dc:description>Week 7 presentation for Operating Cloud Databases.</dc:description>
  <dc:language>en-US</dc:language>
  <keywords>database administration; PostgreSQL; MongoDB; cloud databases; OER</keywords>
  <category>Open Educational Resource</category>
  <contentStatus>Release Candidate</contentStatus>
</coreProperties>
</file>