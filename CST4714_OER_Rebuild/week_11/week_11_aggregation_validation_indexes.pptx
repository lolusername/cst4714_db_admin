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4f749dba89431f" /><Relationship Type="http://schemas.openxmlformats.org/officeDocument/2006/relationships/extended-properties" Target="/docProps/app.xml" Id="Rd71a9b5a82f94c4b" /><Relationship Type="http://schemas.openxmlformats.org/officeDocument/2006/relationships/officeDocument" Target="/ppt/presentation.xml" Id="Rd8f76e4c88d14d36" /></Relationships>
</file>

<file path=ppt/presentation.xml><?xml version="1.0" encoding="utf-8"?>
<p:presentation xmlns:p="http://schemas.openxmlformats.org/presentationml/2006/main">
  <p:sldMasterIdLst>
    <p:sldMasterId xmlns:r="http://schemas.openxmlformats.org/officeDocument/2006/relationships" id="2147483648" r:id="R0fcf3e499a9d41fa"/>
  </p:sldMasterIdLst>
  <p:notesMasterIdLst>
    <p:notesMasterId xmlns:r="http://schemas.openxmlformats.org/officeDocument/2006/relationships" r:id="Rcbaf00b526d24de8"/>
  </p:notesMasterIdLst>
  <p:sldIdLst>
    <p:sldId xmlns:r="http://schemas.openxmlformats.org/officeDocument/2006/relationships" id="256" r:id="R4744400b86894113"/>
    <p:sldId xmlns:r="http://schemas.openxmlformats.org/officeDocument/2006/relationships" id="257" r:id="Rd13a4235cd524950"/>
    <p:sldId xmlns:r="http://schemas.openxmlformats.org/officeDocument/2006/relationships" id="258" r:id="R166e8efd6d214642"/>
    <p:sldId xmlns:r="http://schemas.openxmlformats.org/officeDocument/2006/relationships" id="259" r:id="Rfd70cd302a62408f"/>
    <p:sldId xmlns:r="http://schemas.openxmlformats.org/officeDocument/2006/relationships" id="260" r:id="Ra6cfbb65890b42d0"/>
    <p:sldId xmlns:r="http://schemas.openxmlformats.org/officeDocument/2006/relationships" id="261" r:id="R8eebcdb94aa5451d"/>
    <p:sldId xmlns:r="http://schemas.openxmlformats.org/officeDocument/2006/relationships" id="262" r:id="R6162bd7b37db4754"/>
    <p:sldId xmlns:r="http://schemas.openxmlformats.org/officeDocument/2006/relationships" id="263" r:id="R81d20da8c8304072"/>
    <p:sldId xmlns:r="http://schemas.openxmlformats.org/officeDocument/2006/relationships" id="264" r:id="R2733b0a65c9446be"/>
    <p:sldId xmlns:r="http://schemas.openxmlformats.org/officeDocument/2006/relationships" id="265" r:id="R13e4a7aa33c74930"/>
    <p:sldId xmlns:r="http://schemas.openxmlformats.org/officeDocument/2006/relationships" id="266" r:id="R47eac9a7f6a34c81"/>
    <p:sldId xmlns:r="http://schemas.openxmlformats.org/officeDocument/2006/relationships" id="267" r:id="Rc87426b2102f41d4"/>
    <p:sldId xmlns:r="http://schemas.openxmlformats.org/officeDocument/2006/relationships" id="268" r:id="R984af995e2c14887"/>
    <p:sldId xmlns:r="http://schemas.openxmlformats.org/officeDocument/2006/relationships" id="269" r:id="Rffa712ffcdd2448e"/>
    <p:sldId xmlns:r="http://schemas.openxmlformats.org/officeDocument/2006/relationships" id="270" r:id="Rbc2c9fa1f25644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81b197a2ae4595" /><Relationship Type="http://schemas.openxmlformats.org/officeDocument/2006/relationships/slideMaster" Target="/ppt/slideMasters/slideMaster1.xml" Id="R0fcf3e499a9d41fa" /><Relationship Type="http://schemas.openxmlformats.org/officeDocument/2006/relationships/notesMaster" Target="/ppt/notesMasters/notesMaster1.xml" Id="Rcbaf00b526d24de8" /><Relationship Type="http://schemas.openxmlformats.org/officeDocument/2006/relationships/presProps" Target="/ppt/presProps.xml" Id="R97bd6669e8c24205" /><Relationship Type="http://schemas.openxmlformats.org/officeDocument/2006/relationships/tableStyles" Target="/ppt/tableStyles.xml" Id="R7e5d033939d249d5" /><Relationship Type="http://schemas.openxmlformats.org/officeDocument/2006/relationships/slide" Target="/ppt/slides/slide1.xml" Id="R4744400b86894113" /><Relationship Type="http://schemas.openxmlformats.org/officeDocument/2006/relationships/slide" Target="/ppt/slides/slide2.xml" Id="Rd13a4235cd524950" /><Relationship Type="http://schemas.openxmlformats.org/officeDocument/2006/relationships/slide" Target="/ppt/slides/slide3.xml" Id="R166e8efd6d214642" /><Relationship Type="http://schemas.openxmlformats.org/officeDocument/2006/relationships/slide" Target="/ppt/slides/slide4.xml" Id="Rfd70cd302a62408f" /><Relationship Type="http://schemas.openxmlformats.org/officeDocument/2006/relationships/slide" Target="/ppt/slides/slide5.xml" Id="Ra6cfbb65890b42d0" /><Relationship Type="http://schemas.openxmlformats.org/officeDocument/2006/relationships/slide" Target="/ppt/slides/slide6.xml" Id="R8eebcdb94aa5451d" /><Relationship Type="http://schemas.openxmlformats.org/officeDocument/2006/relationships/slide" Target="/ppt/slides/slide7.xml" Id="R6162bd7b37db4754" /><Relationship Type="http://schemas.openxmlformats.org/officeDocument/2006/relationships/slide" Target="/ppt/slides/slide8.xml" Id="R81d20da8c8304072" /><Relationship Type="http://schemas.openxmlformats.org/officeDocument/2006/relationships/slide" Target="/ppt/slides/slide9.xml" Id="R2733b0a65c9446be" /><Relationship Type="http://schemas.openxmlformats.org/officeDocument/2006/relationships/slide" Target="/ppt/slides/slide10.xml" Id="R13e4a7aa33c74930" /><Relationship Type="http://schemas.openxmlformats.org/officeDocument/2006/relationships/slide" Target="/ppt/slides/slide11.xml" Id="R47eac9a7f6a34c81" /><Relationship Type="http://schemas.openxmlformats.org/officeDocument/2006/relationships/slide" Target="/ppt/slides/slide12.xml" Id="Rc87426b2102f41d4" /><Relationship Type="http://schemas.openxmlformats.org/officeDocument/2006/relationships/slide" Target="/ppt/slides/slide13.xml" Id="R984af995e2c14887" /><Relationship Type="http://schemas.openxmlformats.org/officeDocument/2006/relationships/slide" Target="/ppt/slides/slide14.xml" Id="Rffa712ffcdd2448e" /><Relationship Type="http://schemas.openxmlformats.org/officeDocument/2006/relationships/slide" Target="/ppt/slides/slide15.xml" Id="Rbc2c9fa1f25644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67c96dfb5a4b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deb8032d3f4c91" /><Relationship Type="http://schemas.openxmlformats.org/officeDocument/2006/relationships/notesMaster" Target="/ppt/notesMasters/notesMaster1.xml" Id="Rcdef9254da1344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67aa9a4a854a54" /><Relationship Type="http://schemas.openxmlformats.org/officeDocument/2006/relationships/notesMaster" Target="/ppt/notesMasters/notesMaster1.xml" Id="R864823d294484f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b7500daeb84447" /><Relationship Type="http://schemas.openxmlformats.org/officeDocument/2006/relationships/notesMaster" Target="/ppt/notesMasters/notesMaster1.xml" Id="Refde02079e934f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19af4827024dbf" /><Relationship Type="http://schemas.openxmlformats.org/officeDocument/2006/relationships/notesMaster" Target="/ppt/notesMasters/notesMaster1.xml" Id="R7da3f609e31249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d3882490c04e6a" /><Relationship Type="http://schemas.openxmlformats.org/officeDocument/2006/relationships/notesMaster" Target="/ppt/notesMasters/notesMaster1.xml" Id="Rce345d61fe7c40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e888c919b14613" /><Relationship Type="http://schemas.openxmlformats.org/officeDocument/2006/relationships/notesMaster" Target="/ppt/notesMasters/notesMaster1.xml" Id="Rb84da36e489842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df574612d540f4" /><Relationship Type="http://schemas.openxmlformats.org/officeDocument/2006/relationships/notesMaster" Target="/ppt/notesMasters/notesMaster1.xml" Id="R03ec9e22d97c49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2bd73b1ec74c31" /><Relationship Type="http://schemas.openxmlformats.org/officeDocument/2006/relationships/notesMaster" Target="/ppt/notesMasters/notesMaster1.xml" Id="Ra6384775d1634b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c57dc39c0c4326" /><Relationship Type="http://schemas.openxmlformats.org/officeDocument/2006/relationships/notesMaster" Target="/ppt/notesMasters/notesMaster1.xml" Id="Rc92a157c4ab646e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e040faa0c4d4754" /><Relationship Type="http://schemas.openxmlformats.org/officeDocument/2006/relationships/notesMaster" Target="/ppt/notesMasters/notesMaster1.xml" Id="R653cece7950f47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2877ebc24524eb7" /><Relationship Type="http://schemas.openxmlformats.org/officeDocument/2006/relationships/notesMaster" Target="/ppt/notesMasters/notesMaster1.xml" Id="R74cb37d4389b42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07a7d8f5774486" /><Relationship Type="http://schemas.openxmlformats.org/officeDocument/2006/relationships/notesMaster" Target="/ppt/notesMasters/notesMaster1.xml" Id="R99016ace6f934f8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af1114dc3314f8a" /><Relationship Type="http://schemas.openxmlformats.org/officeDocument/2006/relationships/notesMaster" Target="/ppt/notesMasters/notesMaster1.xml" Id="R330ad70ef0484ad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8731abffb6f44b8" /><Relationship Type="http://schemas.openxmlformats.org/officeDocument/2006/relationships/notesMaster" Target="/ppt/notesMasters/notesMaster1.xml" Id="Rbbff01e6890e427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a18266db7434a89" /><Relationship Type="http://schemas.openxmlformats.org/officeDocument/2006/relationships/notesMaster" Target="/ppt/notesMasters/notesMaster1.xml" Id="R6ff7805ac5f343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combines three MongoDB operations around one workload. An aggregation pipeline transforms a stream of documents stage by stage. A collection validator rejects documents outside an explicit rule. An index can reduce work for a specific filter and sort, while adding write and storage costs.</a:t>
            </a:r>
          </a:p>
          <a:p xmlns:a="http://schemas.openxmlformats.org/drawingml/2006/main">
            <a:r>
              <a:t/>
            </a:r>
          </a:p>
          <a:p xmlns:a="http://schemas.openxmlformats.org/drawingml/2006/main">
            <a:r>
              <a:t>The first day builds a pipeline and validation evidence packet. The second day pairs a distinct MongoDB University sort-performance lab with a career-connected response to the inventory-platform case video. The response is submitted as plain Brightspace text, not as a separate Markdown file or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aggregation pipeline is not an unordered bag of stages. Each stage consumes the documents produced by the previous stage. `$match` filters. `$unwind` can change one document with an array into several documents, one per array element. `$group` changes grain by producing one result per group key. `$sort` orders the current documents. `$project` shapes or computes fields.</a:t>
            </a:r>
          </a:p>
          <a:p xmlns:a="http://schemas.openxmlformats.org/drawingml/2006/main">
            <a:r>
              <a:t/>
            </a:r>
          </a:p>
          <a:p xmlns:a="http://schemas.openxmlformats.org/drawingml/2006/main">
            <a:r>
              <a:t>Stage order affects both meaning and cost. Moving `$match` earlier can reduce downstream work when the predicate remains semantically valid. Moving `$project` too early can remove a field a later stage needs. At every stage, state what one document represents, how many documents are expected, and which fields remain.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Grain is as important in aggregation as it is in SQL. The input collection may contain one document per ticket. Unwinding the events array creates one working document per ticket-event pair. Grouping by category then creates one output document per category.</a:t>
            </a:r>
          </a:p>
          <a:p xmlns:a="http://schemas.openxmlformats.org/drawingml/2006/main">
            <a:r>
              <a:t/>
            </a:r>
          </a:p>
          <a:p xmlns:a="http://schemas.openxmlformats.org/drawingml/2006/main">
            <a:r>
              <a:t>A count after unwind counts event elements, not tickets. A count before unwind counts ticket documents. If the intended question is ‘how many tickets had a status change,’ the pipeline may need to deduplicate ticket identity or match the relevant event and group accordingly. The stage names do not supply the meaning; the document shape and grain at that point 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pipeline asks for active-ticket counts by category together with the highest priority rank in each category. `$match` limits the source to active tickets. `$group` changes grain to one result per category. `$sum: 1` counts active ticket documents in each group, and `$max` summarizes the numeric priority rank.</a:t>
            </a:r>
          </a:p>
          <a:p xmlns:a="http://schemas.openxmlformats.org/drawingml/2006/main">
            <a:r>
              <a:t/>
            </a:r>
          </a:p>
          <a:p xmlns:a="http://schemas.openxmlformats.org/drawingml/2006/main">
            <a:r>
              <a:t>`$sort` orders larger groups first and uses category as a deterministic tie break. `$project` renames the group key and removes `_id` from the final shape. Before execution, calculate expected groups from the six-document fixture. Verification checks category names, counts, and the final total across groups against the active-ticket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early selective match can reduce work and may use an index when it appears at the beginning of a compatible pipeline. That is valuable only when moving the predicate preserves meaning. A filter on source status can usually occur before grouping.</a:t>
            </a:r>
          </a:p>
          <a:p xmlns:a="http://schemas.openxmlformats.org/drawingml/2006/main">
            <a:r>
              <a:t/>
            </a:r>
          </a:p>
          <a:p xmlns:a="http://schemas.openxmlformats.org/drawingml/2006/main">
            <a:r>
              <a:t>A condition on `ticket_count` cannot occur before `$group` creates that field. A filter intended for one unwound array element may not mean the same thing when applied to the original array document. This is the same discipline used for SQL `WHERE` and `HAVING`: identify which grain the predicate describes. Optimization must preserve semantics before it reduces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 databases are often called schema flexible because documents in a collection can vary and the application can evolve shape without a table-wide migration for every change. That does not mean shape is irrelevant or that every write should be accepted.</a:t>
            </a:r>
          </a:p>
          <a:p xmlns:a="http://schemas.openxmlformats.org/drawingml/2006/main">
            <a:r>
              <a:t/>
            </a:r>
          </a:p>
          <a:p xmlns:a="http://schemas.openxmlformats.org/drawingml/2006/main">
            <a:r>
              <a:t>MongoDB collection validation can use JSON Schema-style rules and query expressions to require fields, BSON types, enumerated values, and nested structure. Validation protects new or updated writes under the configured level and action. It does not automatically repair existing invalid documents, establish application authorization, or encode every cross-document rule. The rule and its expected failure need behavioral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validator requires three fields. Ticket identity accepts BSON integer or long values. Status must be one of the supported values. Opening time must be a BSON date, not merely a string that looks like a date.</a:t>
            </a:r>
          </a:p>
          <a:p xmlns:a="http://schemas.openxmlformats.org/drawingml/2006/main">
            <a:r>
              <a:t/>
            </a:r>
          </a:p>
          <a:p xmlns:a="http://schemas.openxmlformats.org/drawingml/2006/main">
            <a:r>
              <a:t>The enum protects vocabulary but does not enforce every legal transition between statuses. Cross-document uniqueness, ownership, and workflow may require indexes, transactions, or application logic. The offline `mongomock` library does not enforce MongoDB's server-side JSON Schema behavior, so the course labels that limitation. Static or application-level checks can support reasoning, but only a real MongoDB server result proves server enforcement.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testing should be controlled. First insert a valid boundary document to show that the rule does not reject legitimate data. Then change one relevant feature: omit a required field, use the wrong BSON type, or provide an unsupported status.</a:t>
            </a:r>
          </a:p>
          <a:p xmlns:a="http://schemas.openxmlformats.org/drawingml/2006/main">
            <a:r>
              <a:t/>
            </a:r>
          </a:p>
          <a:p xmlns:a="http://schemas.openxmlformats.org/drawingml/2006/main">
            <a:r>
              <a:t>The expected result is a validation error from the intended collection and rule. If the test fails because authentication, database name, or duplicate `_id` is wrong, it does not prove validation. Record the error code or essential message safely. Clean up the valid test document or use a disposable collection. The test supports the declared contract for the cases tested and names what remains outside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this lab individually in the disposable course database. Build the assigned pipeline one stage at a time. After each stage, record what one document represents and the expected count or key fields. Run the final pipeline and verify group totals against a simpler count.</a:t>
            </a:r>
          </a:p>
          <a:p xmlns:a="http://schemas.openxmlformats.org/drawingml/2006/main">
            <a:r>
              <a:t/>
            </a:r>
          </a:p>
          <a:p xmlns:a="http://schemas.openxmlformats.org/drawingml/2006/main">
            <a:r>
              <a:t>Then install or inspect the collection validator on the real-server path, or use the explicitly labeled offline reasoning path. Record one accepted document and one expected rejection where the validation rule is the cause. Submit one packet containing pipeline, stage-grain notes, verification, validator, and behavior evidence. Redact private Atlas account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second day, we focus on a common workload: filter documents, sort the matches, and return a small result. If the filter is broad and no suitable index provides order, MongoDB may examine many documents and perform an in-memory or disk-assisted sort subject to product behavior and limits.</a:t>
            </a:r>
          </a:p>
          <a:p xmlns:a="http://schemas.openxmlformats.org/drawingml/2006/main">
            <a:r>
              <a:t/>
            </a:r>
          </a:p>
          <a:p xmlns:a="http://schemas.openxmlformats.org/drawingml/2006/main">
            <a:r>
              <a:t>A compound index can support equality fields followed by sort fields when its key order matches the query. The external lab provides guided practice. The course response must still state the query shape, index evidence, cost, and limit rather than treating course completion as the whole learning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query with equality filters on status and category and a descending sort by opening time, a candidate compound index can place the equality fields first and the sort field after them. Within a fixed equality prefix, the index key order can supply the requested time order.</a:t>
            </a:r>
          </a:p>
          <a:p xmlns:a="http://schemas.openxmlformats.org/drawingml/2006/main">
            <a:r>
              <a:t/>
            </a:r>
          </a:p>
          <a:p xmlns:a="http://schemas.openxmlformats.org/drawingml/2006/main">
            <a:r>
              <a:t>The exact order among equality fields may affect prefix reuse and other workloads. Projection fields can be included in an index design when coverage is valuable, but wider indexes cost more storage and writes. A candidate is not justified until explain evidence shows reduced documents or keys examined, elimination of a blocking sort where relevant, and acceptable impact on the rest of the workload.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MongoDB explain output varies by version and execution engine, so read the current official structure rather than memorizing one JSON path. The durable questions are which index or collection access path was used, how many keys and documents were examined, how many results were returned, and whether a sort stage required additional work.</a:t>
            </a:r>
          </a:p>
          <a:p xmlns:a="http://schemas.openxmlformats.org/drawingml/2006/main">
            <a:r>
              <a:t/>
            </a:r>
          </a:p>
          <a:p xmlns:a="http://schemas.openxmlformats.org/drawingml/2006/main">
            <a:r>
              <a:t>Compare before and after with the same query and data. A result count of 25 does not reveal whether 25 or 250,000 documents were examined. A lower examined-to-returned ratio can support the mechanism claim, but the index still imposes write and storage costs. Preserve the relevant explain evidence and state the product/version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the MongoDB University activity Improving Performance of Sort Stages - Lab Only individually. This activity is distinct from the Week 10 instructor demonstration and student modeling activity. Capture only the completion and score evidence requested by the lab, with private account information redacted.</a:t>
            </a:r>
          </a:p>
          <a:p xmlns:a="http://schemas.openxmlformats.org/drawingml/2006/main">
            <a:r>
              <a:t/>
            </a:r>
          </a:p>
          <a:p xmlns:a="http://schemas.openxmlformats.org/drawingml/2006/main">
            <a:r>
              <a:t>Then write the case response directly in Brightspace text. Use the event-driven inventory platform video to identify one data-model or operations decision. Make a direct claim, cite specific evidence from the case or course workload, and state a tradeoff or unresolved risk. Do not create or submit a Markdown file. The completion evidence and response form one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response should sound like a short technical recommendation, not a video recap. Begin with the decision you believe the case illustrates. Support it with a concrete detail: an event pattern, inventory access path, document boundary, aggregation need, validation rule, or index behavior.</a:t>
            </a:r>
          </a:p>
          <a:p xmlns:a="http://schemas.openxmlformats.org/drawingml/2006/main">
            <a:r>
              <a:t/>
            </a:r>
          </a:p>
          <a:p xmlns:a="http://schemas.openxmlformats.org/drawingml/2006/main">
            <a:r>
              <a:t>Then state a tradeoff. Event-driven systems add delivery, ordering, idempotency, observability, and recovery questions. A document model can improve locality while complicating shared updates. An index can improve a read while adding write work. A concise response that names evidence and uncertainty demonstrates job-relevant reasoning better than a list of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connected aggregation, validation, and index evidence. Pipeline stages transform documents in order and can change grain. Stage movement is valid only when semantics remain the same. Validation makes selected document rules observable through accepted and rejected writes.</a:t>
            </a:r>
          </a:p>
          <a:p xmlns:a="http://schemas.openxmlformats.org/drawingml/2006/main">
            <a:r>
              <a:t/>
            </a:r>
          </a:p>
          <a:p xmlns:a="http://schemas.openxmlformats.org/drawingml/2006/main">
            <a:r>
              <a:t>Compound index order follows a real filter-and-sort workload, and explain evidence reveals keys, documents, results, and sort behavior. The external lab supplies practice; the course response supplies interpretation and tradeoff. Next week we will move from workload operations to system reliability: replication, elections, read and write concerns, backup boundaries, and a verified MongoDB logical recovery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64c01ceb1b48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b889a3da0d48be" /><Relationship Type="http://schemas.openxmlformats.org/officeDocument/2006/relationships/slideLayout" Target="/ppt/slideLayouts/slideLayout1.xml" Id="R7c8b1c9389ad45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8b1c9389ad45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5a9fa5ed8b54048" /><Relationship Type="http://schemas.openxmlformats.org/officeDocument/2006/relationships/notesSlide" Target="/ppt/notesSlides/notesSlide1.xml" Id="R7c607edb524540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4de82327174779" /><Relationship Type="http://schemas.openxmlformats.org/officeDocument/2006/relationships/notesSlide" Target="/ppt/notesSlides/notesSlide2.xml" Id="Rf8dacf2b8f1346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b446b579fc4121" /><Relationship Type="http://schemas.openxmlformats.org/officeDocument/2006/relationships/notesSlide" Target="/ppt/notesSlides/notesSlide3.xml" Id="R0def955ed76b4a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2f590f7bb34685" /><Relationship Type="http://schemas.openxmlformats.org/officeDocument/2006/relationships/notesSlide" Target="/ppt/notesSlides/notesSlide4.xml" Id="R64949e33e59a4c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17bd7de1eca46ee" /><Relationship Type="http://schemas.openxmlformats.org/officeDocument/2006/relationships/notesSlide" Target="/ppt/notesSlides/notesSlide5.xml" Id="R55a25e218c714d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06bb84967342eb" /><Relationship Type="http://schemas.openxmlformats.org/officeDocument/2006/relationships/notesSlide" Target="/ppt/notesSlides/notesSlide6.xml" Id="R0fde94fad31e47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f7ac6070ab4c9e" /><Relationship Type="http://schemas.openxmlformats.org/officeDocument/2006/relationships/notesSlide" Target="/ppt/notesSlides/notesSlide7.xml" Id="Re87648fcd67c4f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492596096624ebd" /><Relationship Type="http://schemas.openxmlformats.org/officeDocument/2006/relationships/notesSlide" Target="/ppt/notesSlides/notesSlide8.xml" Id="Refa5472d5e934f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be433357ba463b" /><Relationship Type="http://schemas.openxmlformats.org/officeDocument/2006/relationships/notesSlide" Target="/ppt/notesSlides/notesSlide9.xml" Id="Ree1470cdb861481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7410873df1d4aae" /><Relationship Type="http://schemas.openxmlformats.org/officeDocument/2006/relationships/notesSlide" Target="/ppt/notesSlides/notesSlide10.xml" Id="R2cea8ee1311d40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c3d87e920ac4e81" /><Relationship Type="http://schemas.openxmlformats.org/officeDocument/2006/relationships/notesSlide" Target="/ppt/notesSlides/notesSlide11.xml" Id="R04ed5eec3fcb416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6a09375da6845cc" /><Relationship Type="http://schemas.openxmlformats.org/officeDocument/2006/relationships/notesSlide" Target="/ppt/notesSlides/notesSlide12.xml" Id="Rdc15190fb883443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1f235a80d1d46bd" /><Relationship Type="http://schemas.openxmlformats.org/officeDocument/2006/relationships/notesSlide" Target="/ppt/notesSlides/notesSlide13.xml" Id="R049b4231e0c24c5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f46c816804041b9" /><Relationship Type="http://schemas.openxmlformats.org/officeDocument/2006/relationships/notesSlide" Target="/ppt/notesSlides/notesSlide14.xml" Id="Rbb7d80b7b3474ee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7d2ccd24ef640f1" /><Relationship Type="http://schemas.openxmlformats.org/officeDocument/2006/relationships/notesSlide" Target="/ppt/notesSlides/notesSlide15.xml" Id="R20bae4c7367a4cb2"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52ABD9-2632-4DA2-BD67-1251839AA2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106CF6A8-C3A3-41C1-93F8-75F2319DBB2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3" name="">
            <a:extLst xmlns:a="http://schemas.openxmlformats.org/drawingml/2006/main">
              <a:ext uri="{FF2B5EF4-FFF2-40B4-BE49-F238E27FC236}">
                <a16:creationId xmlns:a16="http://schemas.microsoft.com/office/drawing/2014/main" id="{6A4B0A91-8A19-43B7-BF2D-71FCB29CDAD3}"/>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1D4ED8"/>
                </a:solidFill>
                <a:latin typeface="Helvetica Neue"/>
                <a:ea typeface="Helvetica Neue"/>
                <a:cs typeface="Helvetica Neue"/>
              </a:defRPr>
            </a:pPr>
            <a:r>
              <a:rPr sz="1350" b="1">
                <a:solidFill>
                  <a:srgbClr val="1D4ED8"/>
                </a:solidFill>
                <a:latin typeface="Helvetica Neue"/>
                <a:ea typeface="Helvetica Neue"/>
                <a:cs typeface="Helvetica Neue"/>
              </a:rPr>
              <a:t>WEEK 11</a:t>
            </a:r>
          </a:p>
        </p:txBody>
      </p:sp>
      <p:sp>
        <p:nvSpPr>
          <p:cNvPr id="4" name="cover-title">
            <a:extLst xmlns:a="http://schemas.openxmlformats.org/drawingml/2006/main">
              <a:ext uri="{FF2B5EF4-FFF2-40B4-BE49-F238E27FC236}">
                <a16:creationId xmlns:a16="http://schemas.microsoft.com/office/drawing/2014/main" id="{31427E73-8316-430D-88DF-AB9FCCE83027}"/>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Aggregation, Validation, and MongoDB Index Evidence</a:t>
            </a:r>
          </a:p>
        </p:txBody>
      </p:sp>
      <p:sp>
        <p:nvSpPr>
          <p:cNvPr id="5" name="cover-subtitle">
            <a:extLst xmlns:a="http://schemas.openxmlformats.org/drawingml/2006/main">
              <a:ext uri="{FF2B5EF4-FFF2-40B4-BE49-F238E27FC236}">
                <a16:creationId xmlns:a16="http://schemas.microsoft.com/office/drawing/2014/main" id="{251A0B73-530F-4BF5-9679-091106F37F1A}"/>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Track document shape through a pipeline, reject invalid writes, and connect sort performance to a real index decision.</a:t>
            </a:r>
          </a:p>
        </p:txBody>
      </p:sp>
      <p:sp>
        <p:nvSpPr>
          <p:cNvPr id="6" name="">
            <a:extLst xmlns:a="http://schemas.openxmlformats.org/drawingml/2006/main">
              <a:ext uri="{FF2B5EF4-FFF2-40B4-BE49-F238E27FC236}">
                <a16:creationId xmlns:a16="http://schemas.microsoft.com/office/drawing/2014/main" id="{DE60A2FD-98F5-4FC3-9DED-B9FC2517D7E2}"/>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563ECB88-E46F-4491-A44C-9FA5FE86EFDA}"/>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1D4ED8"/>
                </a:solidFill>
                <a:latin typeface="Helvetica Neue"/>
                <a:ea typeface="Helvetica Neue"/>
                <a:cs typeface="Helvetica Neue"/>
              </a:defRPr>
            </a:pPr>
            <a:r>
              <a:rPr sz="8400" b="1">
                <a:solidFill>
                  <a:srgbClr val="1D4ED8"/>
                </a:solidFill>
                <a:latin typeface="Helvetica Neue"/>
                <a:ea typeface="Helvetica Neue"/>
                <a:cs typeface="Helvetica Neue"/>
              </a:rPr>
              <a:t>11</a:t>
            </a:r>
          </a:p>
        </p:txBody>
      </p:sp>
    </p:spTree>
    <p:extLst>
      <p:ext uri="{BB962C8B-B14F-4D97-AF65-F5344CB8AC3E}">
        <p14:creationId xmlns:p14="http://schemas.microsoft.com/office/powerpoint/2010/main" val="1544050079"/>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6DCE50E-F3F2-4F89-A790-1F3AD37267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C1389A23-5257-49E1-B851-801A369A50B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11  /  CST4714</a:t>
            </a:r>
          </a:p>
        </p:txBody>
      </p:sp>
      <p:sp>
        <p:nvSpPr>
          <p:cNvPr id="3" name="slide-title">
            <a:extLst xmlns:a="http://schemas.openxmlformats.org/drawingml/2006/main">
              <a:ext uri="{FF2B5EF4-FFF2-40B4-BE49-F238E27FC236}">
                <a16:creationId xmlns:a16="http://schemas.microsoft.com/office/drawing/2014/main" id="{13EDE31F-C9A8-49F4-B95E-80E34AD072F8}"/>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pipeline is an ordered sequence of transformations</a:t>
            </a:r>
          </a:p>
        </p:txBody>
      </p:sp>
      <p:sp>
        <p:nvSpPr>
          <p:cNvPr id="4" name="">
            <a:extLst xmlns:a="http://schemas.openxmlformats.org/drawingml/2006/main">
              <a:ext uri="{FF2B5EF4-FFF2-40B4-BE49-F238E27FC236}">
                <a16:creationId xmlns:a16="http://schemas.microsoft.com/office/drawing/2014/main" id="{D4FA5AB4-08C5-4BC5-AA12-1A178B9A13F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04D500E3-A280-453C-91A4-8C16AC5AD55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DA46EB96-C195-4B52-A069-A5F2AABB693D}"/>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94622549-CE13-451E-B667-0261F92E6C45}"/>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D4ED8"/>
          </a:solidFill>
          <a:ln xmlns:a="http://schemas.openxmlformats.org/drawingml/2006/main" w="28575">
            <a:solidFill>
              <a:srgbClr val="1D4ED8"/>
            </a:solidFill>
            <a:prstDash val="solid"/>
          </a:ln>
        </p:spPr>
      </p:sp>
      <p:sp>
        <p:nvSpPr>
          <p:cNvPr id="8" name="">
            <a:extLst xmlns:a="http://schemas.openxmlformats.org/drawingml/2006/main">
              <a:ext uri="{FF2B5EF4-FFF2-40B4-BE49-F238E27FC236}">
                <a16:creationId xmlns:a16="http://schemas.microsoft.com/office/drawing/2014/main" id="{7E2AD120-DEC0-4174-B995-A1C43D0F8291}"/>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A3E48281-0C4B-4111-BB1F-CA6FDA307ECD}"/>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$match</a:t>
            </a:r>
          </a:p>
        </p:txBody>
      </p:sp>
      <p:sp>
        <p:nvSpPr>
          <p:cNvPr id="10" name="">
            <a:extLst xmlns:a="http://schemas.openxmlformats.org/drawingml/2006/main">
              <a:ext uri="{FF2B5EF4-FFF2-40B4-BE49-F238E27FC236}">
                <a16:creationId xmlns:a16="http://schemas.microsoft.com/office/drawing/2014/main" id="{0C88C45B-AEFF-49C7-A402-B690BA3418FD}"/>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Retain documents satisfying a filter</a:t>
            </a:r>
          </a:p>
        </p:txBody>
      </p:sp>
      <p:sp>
        <p:nvSpPr>
          <p:cNvPr id="11" name="">
            <a:extLst xmlns:a="http://schemas.openxmlformats.org/drawingml/2006/main">
              <a:ext uri="{FF2B5EF4-FFF2-40B4-BE49-F238E27FC236}">
                <a16:creationId xmlns:a16="http://schemas.microsoft.com/office/drawing/2014/main" id="{9866337C-6B8D-4B0B-8511-BCFD521713D4}"/>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12" name="">
            <a:extLst xmlns:a="http://schemas.openxmlformats.org/drawingml/2006/main">
              <a:ext uri="{FF2B5EF4-FFF2-40B4-BE49-F238E27FC236}">
                <a16:creationId xmlns:a16="http://schemas.microsoft.com/office/drawing/2014/main" id="{AA435F00-A4F8-46EC-9023-D586851B7C7C}"/>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02D30423-F713-4D21-BD91-029358DE2035}"/>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$unwind</a:t>
            </a:r>
          </a:p>
        </p:txBody>
      </p:sp>
      <p:sp>
        <p:nvSpPr>
          <p:cNvPr id="14" name="">
            <a:extLst xmlns:a="http://schemas.openxmlformats.org/drawingml/2006/main">
              <a:ext uri="{FF2B5EF4-FFF2-40B4-BE49-F238E27FC236}">
                <a16:creationId xmlns:a16="http://schemas.microsoft.com/office/drawing/2014/main" id="{4AA613E0-BBD9-4ABD-BCDC-5C3DDF6091CC}"/>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Emit one document per selected array element</a:t>
            </a:r>
          </a:p>
        </p:txBody>
      </p:sp>
      <p:sp>
        <p:nvSpPr>
          <p:cNvPr id="15" name="">
            <a:extLst xmlns:a="http://schemas.openxmlformats.org/drawingml/2006/main">
              <a:ext uri="{FF2B5EF4-FFF2-40B4-BE49-F238E27FC236}">
                <a16:creationId xmlns:a16="http://schemas.microsoft.com/office/drawing/2014/main" id="{43C46FDA-D871-49C3-A14E-ECD54C152FB2}"/>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16" name="">
            <a:extLst xmlns:a="http://schemas.openxmlformats.org/drawingml/2006/main">
              <a:ext uri="{FF2B5EF4-FFF2-40B4-BE49-F238E27FC236}">
                <a16:creationId xmlns:a16="http://schemas.microsoft.com/office/drawing/2014/main" id="{3EEAAB6A-50D5-40BD-9243-F0AA73C677BB}"/>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54222D54-2019-4F31-AE15-6B9343450BD5}"/>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$group</a:t>
            </a:r>
          </a:p>
        </p:txBody>
      </p:sp>
      <p:sp>
        <p:nvSpPr>
          <p:cNvPr id="18" name="">
            <a:extLst xmlns:a="http://schemas.openxmlformats.org/drawingml/2006/main">
              <a:ext uri="{FF2B5EF4-FFF2-40B4-BE49-F238E27FC236}">
                <a16:creationId xmlns:a16="http://schemas.microsoft.com/office/drawing/2014/main" id="{F182519A-752D-4D62-A64B-AE5B4173BC3D}"/>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Change grain to one result per group key</a:t>
            </a:r>
          </a:p>
        </p:txBody>
      </p:sp>
      <p:sp>
        <p:nvSpPr>
          <p:cNvPr id="19" name="">
            <a:extLst xmlns:a="http://schemas.openxmlformats.org/drawingml/2006/main">
              <a:ext uri="{FF2B5EF4-FFF2-40B4-BE49-F238E27FC236}">
                <a16:creationId xmlns:a16="http://schemas.microsoft.com/office/drawing/2014/main" id="{EDF01A1A-AD4B-40D7-A19F-8540BC086FAE}"/>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20" name="">
            <a:extLst xmlns:a="http://schemas.openxmlformats.org/drawingml/2006/main">
              <a:ext uri="{FF2B5EF4-FFF2-40B4-BE49-F238E27FC236}">
                <a16:creationId xmlns:a16="http://schemas.microsoft.com/office/drawing/2014/main" id="{D52044E8-8467-4D47-B47D-8C17E11290D8}"/>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C32934CC-0240-4FDE-B13F-80736A709A0A}"/>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$sort</a:t>
            </a:r>
          </a:p>
        </p:txBody>
      </p:sp>
      <p:sp>
        <p:nvSpPr>
          <p:cNvPr id="22" name="">
            <a:extLst xmlns:a="http://schemas.openxmlformats.org/drawingml/2006/main">
              <a:ext uri="{FF2B5EF4-FFF2-40B4-BE49-F238E27FC236}">
                <a16:creationId xmlns:a16="http://schemas.microsoft.com/office/drawing/2014/main" id="{8DF0E070-C43F-4E89-AAB3-9374618A0C55}"/>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Order the current result documents</a:t>
            </a:r>
          </a:p>
        </p:txBody>
      </p:sp>
      <p:sp>
        <p:nvSpPr>
          <p:cNvPr id="23" name="">
            <a:extLst xmlns:a="http://schemas.openxmlformats.org/drawingml/2006/main">
              <a:ext uri="{FF2B5EF4-FFF2-40B4-BE49-F238E27FC236}">
                <a16:creationId xmlns:a16="http://schemas.microsoft.com/office/drawing/2014/main" id="{AE528FA0-A6DD-4F84-9C51-4B1084DB3A30}"/>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24" name="">
            <a:extLst xmlns:a="http://schemas.openxmlformats.org/drawingml/2006/main">
              <a:ext uri="{FF2B5EF4-FFF2-40B4-BE49-F238E27FC236}">
                <a16:creationId xmlns:a16="http://schemas.microsoft.com/office/drawing/2014/main" id="{332DA7C0-F958-49C5-B487-7F13DC17D63E}"/>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8F6BEE9F-E533-4878-878A-05399D9ECC72}"/>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$project</a:t>
            </a:r>
          </a:p>
        </p:txBody>
      </p:sp>
      <p:sp>
        <p:nvSpPr>
          <p:cNvPr id="26" name="">
            <a:extLst xmlns:a="http://schemas.openxmlformats.org/drawingml/2006/main">
              <a:ext uri="{FF2B5EF4-FFF2-40B4-BE49-F238E27FC236}">
                <a16:creationId xmlns:a16="http://schemas.microsoft.com/office/drawing/2014/main" id="{4A482C75-D96F-4F26-969C-2F64D0DC329D}"/>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Choose and compute the final fields</a:t>
            </a:r>
          </a:p>
        </p:txBody>
      </p:sp>
      <p:sp>
        <p:nvSpPr>
          <p:cNvPr id="27" name="">
            <a:extLst xmlns:a="http://schemas.openxmlformats.org/drawingml/2006/main">
              <a:ext uri="{FF2B5EF4-FFF2-40B4-BE49-F238E27FC236}">
                <a16:creationId xmlns:a16="http://schemas.microsoft.com/office/drawing/2014/main" id="{3AC2F8C5-EBBD-4D87-8ECC-13AE481053D0}"/>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Every stage receives the previous stage's output shape and count.</a:t>
            </a:r>
          </a:p>
        </p:txBody>
      </p:sp>
    </p:spTree>
    <p:extLst>
      <p:ext uri="{BB962C8B-B14F-4D97-AF65-F5344CB8AC3E}">
        <p14:creationId xmlns:p14="http://schemas.microsoft.com/office/powerpoint/2010/main" val="1335401698"/>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0C82C7A-DD4B-4D4F-8505-BBFE92A5A2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1061783-F8C8-4367-A80D-24D9C8008CF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11  /  CST4714</a:t>
            </a:r>
          </a:p>
        </p:txBody>
      </p:sp>
      <p:sp>
        <p:nvSpPr>
          <p:cNvPr id="3" name="slide-title">
            <a:extLst xmlns:a="http://schemas.openxmlformats.org/drawingml/2006/main">
              <a:ext uri="{FF2B5EF4-FFF2-40B4-BE49-F238E27FC236}">
                <a16:creationId xmlns:a16="http://schemas.microsoft.com/office/drawing/2014/main" id="{0226D5A6-40E7-497F-BCC7-28E4A14E5C3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Pipeline grain can change more than once</a:t>
            </a:r>
          </a:p>
        </p:txBody>
      </p:sp>
      <p:sp>
        <p:nvSpPr>
          <p:cNvPr id="4" name="">
            <a:extLst xmlns:a="http://schemas.openxmlformats.org/drawingml/2006/main">
              <a:ext uri="{FF2B5EF4-FFF2-40B4-BE49-F238E27FC236}">
                <a16:creationId xmlns:a16="http://schemas.microsoft.com/office/drawing/2014/main" id="{C036E70E-E1FC-4CDD-999A-8E7FFED8EA7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6E8E10F-EB13-4C61-A5DB-30A94266B7F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primary-claim">
            <a:extLst xmlns:a="http://schemas.openxmlformats.org/drawingml/2006/main">
              <a:ext uri="{FF2B5EF4-FFF2-40B4-BE49-F238E27FC236}">
                <a16:creationId xmlns:a16="http://schemas.microsoft.com/office/drawing/2014/main" id="{2933420E-92E9-4495-97F4-438AB0C777A5}"/>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1D4ED8"/>
                </a:solidFill>
                <a:latin typeface="Helvetica Neue"/>
                <a:ea typeface="Helvetica Neue"/>
                <a:cs typeface="Helvetica Neue"/>
              </a:defRPr>
            </a:pPr>
            <a:r>
              <a:rPr sz="2925" b="1">
                <a:solidFill>
                  <a:srgbClr val="1D4ED8"/>
                </a:solidFill>
                <a:latin typeface="Helvetica Neue"/>
                <a:ea typeface="Helvetica Neue"/>
                <a:cs typeface="Helvetica Neue"/>
              </a:rPr>
              <a:t>ticket → ticket-event pair → one result per category</a:t>
            </a:r>
          </a:p>
        </p:txBody>
      </p:sp>
      <p:sp>
        <p:nvSpPr>
          <p:cNvPr id="7" name="">
            <a:extLst xmlns:a="http://schemas.openxmlformats.org/drawingml/2006/main">
              <a:ext uri="{FF2B5EF4-FFF2-40B4-BE49-F238E27FC236}">
                <a16:creationId xmlns:a16="http://schemas.microsoft.com/office/drawing/2014/main" id="{FB04603F-39FE-4C1C-82AB-18CD6F33B657}"/>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D4ED8"/>
            </a:solidFill>
            <a:prstDash val="solid"/>
          </a:ln>
        </p:spPr>
      </p:sp>
      <p:sp>
        <p:nvSpPr>
          <p:cNvPr id="8" name="">
            <a:extLst xmlns:a="http://schemas.openxmlformats.org/drawingml/2006/main">
              <a:ext uri="{FF2B5EF4-FFF2-40B4-BE49-F238E27FC236}">
                <a16:creationId xmlns:a16="http://schemas.microsoft.com/office/drawing/2014/main" id="{3A58148C-2AC8-45EE-B2B2-86E2217A36DC}"/>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INPUT</a:t>
            </a:r>
          </a:p>
        </p:txBody>
      </p:sp>
      <p:sp>
        <p:nvSpPr>
          <p:cNvPr id="9" name="">
            <a:extLst xmlns:a="http://schemas.openxmlformats.org/drawingml/2006/main">
              <a:ext uri="{FF2B5EF4-FFF2-40B4-BE49-F238E27FC236}">
                <a16:creationId xmlns:a16="http://schemas.microsoft.com/office/drawing/2014/main" id="{1EBD3128-3013-46AD-ACC1-301CC32AF1B6}"/>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One source document per ticket.</a:t>
            </a:r>
          </a:p>
        </p:txBody>
      </p:sp>
      <p:sp>
        <p:nvSpPr>
          <p:cNvPr id="10" name="">
            <a:extLst xmlns:a="http://schemas.openxmlformats.org/drawingml/2006/main">
              <a:ext uri="{FF2B5EF4-FFF2-40B4-BE49-F238E27FC236}">
                <a16:creationId xmlns:a16="http://schemas.microsoft.com/office/drawing/2014/main" id="{5FCF50A8-1037-40F1-8B47-1EE16881F95E}"/>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9DC80E4C-A8C8-4AC6-BAAC-C2980E86D3F2}"/>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AFTER UNWIND</a:t>
            </a:r>
          </a:p>
        </p:txBody>
      </p:sp>
      <p:sp>
        <p:nvSpPr>
          <p:cNvPr id="12" name="">
            <a:extLst xmlns:a="http://schemas.openxmlformats.org/drawingml/2006/main">
              <a:ext uri="{FF2B5EF4-FFF2-40B4-BE49-F238E27FC236}">
                <a16:creationId xmlns:a16="http://schemas.microsoft.com/office/drawing/2014/main" id="{532EA5D5-5489-4FA4-8686-DB3C0F5E5A1F}"/>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One working document per ticket-event element.</a:t>
            </a:r>
          </a:p>
        </p:txBody>
      </p:sp>
      <p:sp>
        <p:nvSpPr>
          <p:cNvPr id="13" name="">
            <a:extLst xmlns:a="http://schemas.openxmlformats.org/drawingml/2006/main">
              <a:ext uri="{FF2B5EF4-FFF2-40B4-BE49-F238E27FC236}">
                <a16:creationId xmlns:a16="http://schemas.microsoft.com/office/drawing/2014/main" id="{06DB6EF7-A922-48C3-9E1E-CB9B5C654F26}"/>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9B70F97D-323A-46BE-99BA-ACD8133DC457}"/>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AFTER GROUP</a:t>
            </a:r>
          </a:p>
        </p:txBody>
      </p:sp>
      <p:sp>
        <p:nvSpPr>
          <p:cNvPr id="15" name="">
            <a:extLst xmlns:a="http://schemas.openxmlformats.org/drawingml/2006/main">
              <a:ext uri="{FF2B5EF4-FFF2-40B4-BE49-F238E27FC236}">
                <a16:creationId xmlns:a16="http://schemas.microsoft.com/office/drawing/2014/main" id="{A49670D0-46AA-4314-AC19-84644D9D3284}"/>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One output document per category with aggregate values.</a:t>
            </a:r>
          </a:p>
        </p:txBody>
      </p:sp>
    </p:spTree>
    <p:extLst>
      <p:ext uri="{BB962C8B-B14F-4D97-AF65-F5344CB8AC3E}">
        <p14:creationId xmlns:p14="http://schemas.microsoft.com/office/powerpoint/2010/main" val="1422059149"/>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6CFB3E3-6590-4726-8BFB-FE5B4D1D3A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1C25036B-443F-4F3B-B093-5979F9815A93}"/>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11  /  CST4714</a:t>
            </a:r>
          </a:p>
        </p:txBody>
      </p:sp>
      <p:sp>
        <p:nvSpPr>
          <p:cNvPr id="3" name="slide-title">
            <a:extLst xmlns:a="http://schemas.openxmlformats.org/drawingml/2006/main">
              <a:ext uri="{FF2B5EF4-FFF2-40B4-BE49-F238E27FC236}">
                <a16:creationId xmlns:a16="http://schemas.microsoft.com/office/drawing/2014/main" id="{8F80EF2E-4D78-4EAC-B7CD-166BDF17FB6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Build the pipeline around one answerable workload question</a:t>
            </a:r>
          </a:p>
        </p:txBody>
      </p:sp>
      <p:sp>
        <p:nvSpPr>
          <p:cNvPr id="4" name="">
            <a:extLst xmlns:a="http://schemas.openxmlformats.org/drawingml/2006/main">
              <a:ext uri="{FF2B5EF4-FFF2-40B4-BE49-F238E27FC236}">
                <a16:creationId xmlns:a16="http://schemas.microsoft.com/office/drawing/2014/main" id="{3A560BA7-1829-48F8-B084-1E89A6B1E65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5461C2AA-109B-4960-A1C3-1282C71875A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code-frame">
            <a:extLst xmlns:a="http://schemas.openxmlformats.org/drawingml/2006/main">
              <a:ext uri="{FF2B5EF4-FFF2-40B4-BE49-F238E27FC236}">
                <a16:creationId xmlns:a16="http://schemas.microsoft.com/office/drawing/2014/main" id="{C1870178-6708-436B-A862-AE91C38F48C2}"/>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A2A9E423-96E3-4AEC-B90C-473DFAC4465F}"/>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pipeline =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{"$match": {"status": {"$in": ["new", "open", "in_progress"]}}},</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{"$group":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"_id": "$category",</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"ticket_count": {"$sum": 1},</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"highest_priority": {"$max": "$priority_rank"}</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{"$sort": {"ticket_count": -1, "_id": 1}},</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{"$project":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"_id": 0, "category": "$_id",</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"ticket_count": 1, "highest_priority": 1</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a:t>
            </a:r>
          </a:p>
        </p:txBody>
      </p:sp>
      <p:sp>
        <p:nvSpPr>
          <p:cNvPr id="8" name="">
            <a:extLst xmlns:a="http://schemas.openxmlformats.org/drawingml/2006/main">
              <a:ext uri="{FF2B5EF4-FFF2-40B4-BE49-F238E27FC236}">
                <a16:creationId xmlns:a16="http://schemas.microsoft.com/office/drawing/2014/main" id="{55217A6A-B4B8-45A6-9B86-4B860C586A5C}"/>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1D4ED8"/>
                </a:solidFill>
                <a:latin typeface="Helvetica Neue"/>
                <a:ea typeface="Helvetica Neue"/>
                <a:cs typeface="Helvetica Neue"/>
              </a:defRPr>
            </a:pPr>
            <a:r>
              <a:rPr sz="1725" b="1">
                <a:solidFill>
                  <a:srgbClr val="1D4ED8"/>
                </a:solidFill>
                <a:latin typeface="Helvetica Neue"/>
                <a:ea typeface="Helvetica Neue"/>
                <a:cs typeface="Helvetica Neue"/>
              </a:rPr>
              <a:t>Result</a:t>
            </a:r>
          </a:p>
        </p:txBody>
      </p:sp>
      <p:sp>
        <p:nvSpPr>
          <p:cNvPr id="9" name="">
            <a:extLst xmlns:a="http://schemas.openxmlformats.org/drawingml/2006/main">
              <a:ext uri="{FF2B5EF4-FFF2-40B4-BE49-F238E27FC236}">
                <a16:creationId xmlns:a16="http://schemas.microsoft.com/office/drawing/2014/main" id="{D2738C96-963E-4A19-B82B-2F4EE604CE13}"/>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82F2E2AA-F448-40C5-9F25-308CCD3C0345}"/>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One input document per active ticket</a:t>
            </a:r>
          </a:p>
        </p:txBody>
      </p:sp>
      <p:sp>
        <p:nvSpPr>
          <p:cNvPr id="11" name="">
            <a:extLst xmlns:a="http://schemas.openxmlformats.org/drawingml/2006/main">
              <a:ext uri="{FF2B5EF4-FFF2-40B4-BE49-F238E27FC236}">
                <a16:creationId xmlns:a16="http://schemas.microsoft.com/office/drawing/2014/main" id="{EE0A4B60-E406-40FF-B7E4-DFA612F360E1}"/>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82ACA2C0-601E-44DE-AA66-7E2750EBB970}"/>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One grouped result per category</a:t>
            </a:r>
          </a:p>
        </p:txBody>
      </p:sp>
      <p:sp>
        <p:nvSpPr>
          <p:cNvPr id="13" name="">
            <a:extLst xmlns:a="http://schemas.openxmlformats.org/drawingml/2006/main">
              <a:ext uri="{FF2B5EF4-FFF2-40B4-BE49-F238E27FC236}">
                <a16:creationId xmlns:a16="http://schemas.microsoft.com/office/drawing/2014/main" id="{79C091E6-1966-4F1A-B54A-CDE82AD9950F}"/>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7034BA8B-C7A1-4143-8939-9D7293F65AF6}"/>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Stable tie-break order by category</a:t>
            </a:r>
          </a:p>
        </p:txBody>
      </p:sp>
    </p:spTree>
    <p:extLst>
      <p:ext uri="{BB962C8B-B14F-4D97-AF65-F5344CB8AC3E}">
        <p14:creationId xmlns:p14="http://schemas.microsoft.com/office/powerpoint/2010/main" val="1812352749"/>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F9AD3AF-5E7B-472B-B00C-811F23F0AE7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C692A157-65F1-4AAC-B83A-3EF42C92BFC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11  /  CST4714</a:t>
            </a:r>
          </a:p>
        </p:txBody>
      </p:sp>
      <p:sp>
        <p:nvSpPr>
          <p:cNvPr id="3" name="slide-title">
            <a:extLst xmlns:a="http://schemas.openxmlformats.org/drawingml/2006/main">
              <a:ext uri="{FF2B5EF4-FFF2-40B4-BE49-F238E27FC236}">
                <a16:creationId xmlns:a16="http://schemas.microsoft.com/office/drawing/2014/main" id="{5369896C-94C5-45FB-A43F-39D24D879C0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Move filters early only when the meaning remains the same</a:t>
            </a:r>
          </a:p>
        </p:txBody>
      </p:sp>
      <p:sp>
        <p:nvSpPr>
          <p:cNvPr id="4" name="">
            <a:extLst xmlns:a="http://schemas.openxmlformats.org/drawingml/2006/main">
              <a:ext uri="{FF2B5EF4-FFF2-40B4-BE49-F238E27FC236}">
                <a16:creationId xmlns:a16="http://schemas.microsoft.com/office/drawing/2014/main" id="{BB8588DF-CC8B-44C4-8422-B7CD2CF7BB45}"/>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9AED342-E53C-4534-9AF5-C87BD72286B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EEAF98D5-80B8-4273-BAD0-C226AF921AFE}"/>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D4ED8"/>
                </a:solidFill>
                <a:latin typeface="Helvetica Neue"/>
                <a:ea typeface="Helvetica Neue"/>
                <a:cs typeface="Helvetica Neue"/>
              </a:defRPr>
            </a:pPr>
            <a:r>
              <a:rPr sz="1950" b="1">
                <a:solidFill>
                  <a:srgbClr val="1D4ED8"/>
                </a:solidFill>
                <a:latin typeface="Helvetica Neue"/>
                <a:ea typeface="Helvetica Neue"/>
                <a:cs typeface="Helvetica Neue"/>
              </a:rPr>
              <a:t>Helpful early match</a:t>
            </a:r>
          </a:p>
        </p:txBody>
      </p:sp>
      <p:sp>
        <p:nvSpPr>
          <p:cNvPr id="7" name="">
            <a:extLst xmlns:a="http://schemas.openxmlformats.org/drawingml/2006/main">
              <a:ext uri="{FF2B5EF4-FFF2-40B4-BE49-F238E27FC236}">
                <a16:creationId xmlns:a16="http://schemas.microsoft.com/office/drawing/2014/main" id="{78FDBC3B-62A6-434D-B2A7-6C2BD8F2E10A}"/>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Invalid movement</a:t>
            </a:r>
          </a:p>
        </p:txBody>
      </p:sp>
      <p:sp>
        <p:nvSpPr>
          <p:cNvPr id="8" name="">
            <a:extLst xmlns:a="http://schemas.openxmlformats.org/drawingml/2006/main">
              <a:ext uri="{FF2B5EF4-FFF2-40B4-BE49-F238E27FC236}">
                <a16:creationId xmlns:a16="http://schemas.microsoft.com/office/drawing/2014/main" id="{FAEB5930-97D7-4B88-8CB3-D7DEB977CF76}"/>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8D79B49D-03D1-4791-A0ED-F64145E6EBE6}"/>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7FC0480B-9A22-4519-8871-92B90B29C670}"/>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Uses source fields available before transformation</a:t>
            </a:r>
          </a:p>
        </p:txBody>
      </p:sp>
      <p:sp>
        <p:nvSpPr>
          <p:cNvPr id="11" name="">
            <a:extLst xmlns:a="http://schemas.openxmlformats.org/drawingml/2006/main">
              <a:ext uri="{FF2B5EF4-FFF2-40B4-BE49-F238E27FC236}">
                <a16:creationId xmlns:a16="http://schemas.microsoft.com/office/drawing/2014/main" id="{845C5511-01DF-4295-BAB9-E1327DA6F929}"/>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521AF0F5-4837-4ADB-8473-57D121A0AC3A}"/>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Reduces documents entering expensive stages</a:t>
            </a:r>
          </a:p>
        </p:txBody>
      </p:sp>
      <p:sp>
        <p:nvSpPr>
          <p:cNvPr id="13" name="">
            <a:extLst xmlns:a="http://schemas.openxmlformats.org/drawingml/2006/main">
              <a:ext uri="{FF2B5EF4-FFF2-40B4-BE49-F238E27FC236}">
                <a16:creationId xmlns:a16="http://schemas.microsoft.com/office/drawing/2014/main" id="{3FD46A72-3272-4266-BBAE-509D7AEA3C62}"/>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0C291836-3DD9-4595-AEA9-E50EE3BFF298}"/>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May allow an index to support the initial pipeline stage</a:t>
            </a:r>
          </a:p>
        </p:txBody>
      </p:sp>
      <p:sp>
        <p:nvSpPr>
          <p:cNvPr id="15" name="">
            <a:extLst xmlns:a="http://schemas.openxmlformats.org/drawingml/2006/main">
              <a:ext uri="{FF2B5EF4-FFF2-40B4-BE49-F238E27FC236}">
                <a16:creationId xmlns:a16="http://schemas.microsoft.com/office/drawing/2014/main" id="{32C606B1-F4C8-4BD6-8BC5-4CF90E9ABE0B}"/>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9684F619-861B-4A0F-99B7-18712E8D7EDF}"/>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Filters on a computed field before it exists</a:t>
            </a:r>
          </a:p>
        </p:txBody>
      </p:sp>
      <p:sp>
        <p:nvSpPr>
          <p:cNvPr id="17" name="">
            <a:extLst xmlns:a="http://schemas.openxmlformats.org/drawingml/2006/main">
              <a:ext uri="{FF2B5EF4-FFF2-40B4-BE49-F238E27FC236}">
                <a16:creationId xmlns:a16="http://schemas.microsoft.com/office/drawing/2014/main" id="{4A2C46A1-8F1A-425B-BC64-04C8EC050806}"/>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2DACE2AA-F9D6-4701-8B79-F94B405BA035}"/>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Moves a post-group condition to source documents</a:t>
            </a:r>
          </a:p>
        </p:txBody>
      </p:sp>
      <p:sp>
        <p:nvSpPr>
          <p:cNvPr id="19" name="">
            <a:extLst xmlns:a="http://schemas.openxmlformats.org/drawingml/2006/main">
              <a:ext uri="{FF2B5EF4-FFF2-40B4-BE49-F238E27FC236}">
                <a16:creationId xmlns:a16="http://schemas.microsoft.com/office/drawing/2014/main" id="{72F3C1B1-9DBF-4D4C-A158-E43E899C89E8}"/>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E8345AF4-4BFA-47C5-9990-0E2659E1BCF5}"/>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Changes which array element or group satisfies the question</a:t>
            </a:r>
          </a:p>
        </p:txBody>
      </p:sp>
    </p:spTree>
    <p:extLst>
      <p:ext uri="{BB962C8B-B14F-4D97-AF65-F5344CB8AC3E}">
        <p14:creationId xmlns:p14="http://schemas.microsoft.com/office/powerpoint/2010/main" val="1691247799"/>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98597CC-E3CE-4B82-8122-41F0053F84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7FC410F-CCC2-4591-A175-C7AE062BF711}"/>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11  /  CST4714</a:t>
            </a:r>
          </a:p>
        </p:txBody>
      </p:sp>
      <p:sp>
        <p:nvSpPr>
          <p:cNvPr id="3" name="slide-title">
            <a:extLst xmlns:a="http://schemas.openxmlformats.org/drawingml/2006/main">
              <a:ext uri="{FF2B5EF4-FFF2-40B4-BE49-F238E27FC236}">
                <a16:creationId xmlns:a16="http://schemas.microsoft.com/office/drawing/2014/main" id="{3CCED818-3491-4095-A7D1-21A8F7639EF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Validation turns shape expectations into server behavior</a:t>
            </a:r>
          </a:p>
        </p:txBody>
      </p:sp>
      <p:sp>
        <p:nvSpPr>
          <p:cNvPr id="4" name="">
            <a:extLst xmlns:a="http://schemas.openxmlformats.org/drawingml/2006/main">
              <a:ext uri="{FF2B5EF4-FFF2-40B4-BE49-F238E27FC236}">
                <a16:creationId xmlns:a16="http://schemas.microsoft.com/office/drawing/2014/main" id="{367D706A-6250-45CF-909E-29A3609B3D8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6C30C32-1CD8-471D-B4C6-53A7901A283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primary-claim">
            <a:extLst xmlns:a="http://schemas.openxmlformats.org/drawingml/2006/main">
              <a:ext uri="{FF2B5EF4-FFF2-40B4-BE49-F238E27FC236}">
                <a16:creationId xmlns:a16="http://schemas.microsoft.com/office/drawing/2014/main" id="{5E3D899B-A059-4B53-96C5-5B598B8343DE}"/>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1D4ED8"/>
                </a:solidFill>
                <a:latin typeface="Helvetica Neue"/>
                <a:ea typeface="Helvetica Neue"/>
                <a:cs typeface="Helvetica Neue"/>
              </a:defRPr>
            </a:pPr>
            <a:r>
              <a:rPr sz="2925" b="1">
                <a:solidFill>
                  <a:srgbClr val="1D4ED8"/>
                </a:solidFill>
                <a:latin typeface="Helvetica Neue"/>
                <a:ea typeface="Helvetica Neue"/>
                <a:cs typeface="Helvetica Neue"/>
              </a:rPr>
              <a:t>A schema-flexible database can still reject missing, mistyped, or unsupported values.</a:t>
            </a:r>
          </a:p>
        </p:txBody>
      </p:sp>
      <p:sp>
        <p:nvSpPr>
          <p:cNvPr id="7" name="">
            <a:extLst xmlns:a="http://schemas.openxmlformats.org/drawingml/2006/main">
              <a:ext uri="{FF2B5EF4-FFF2-40B4-BE49-F238E27FC236}">
                <a16:creationId xmlns:a16="http://schemas.microsoft.com/office/drawing/2014/main" id="{E4A07ED2-DA19-4A6C-AB0B-DF8A27AC7492}"/>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D4ED8"/>
            </a:solidFill>
            <a:prstDash val="solid"/>
          </a:ln>
        </p:spPr>
      </p:sp>
      <p:sp>
        <p:nvSpPr>
          <p:cNvPr id="8" name="">
            <a:extLst xmlns:a="http://schemas.openxmlformats.org/drawingml/2006/main">
              <a:ext uri="{FF2B5EF4-FFF2-40B4-BE49-F238E27FC236}">
                <a16:creationId xmlns:a16="http://schemas.microsoft.com/office/drawing/2014/main" id="{0FD8F26F-0296-49CF-A9A4-20F1566E5914}"/>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REQUIRED</a:t>
            </a:r>
          </a:p>
        </p:txBody>
      </p:sp>
      <p:sp>
        <p:nvSpPr>
          <p:cNvPr id="9" name="">
            <a:extLst xmlns:a="http://schemas.openxmlformats.org/drawingml/2006/main">
              <a:ext uri="{FF2B5EF4-FFF2-40B4-BE49-F238E27FC236}">
                <a16:creationId xmlns:a16="http://schemas.microsoft.com/office/drawing/2014/main" id="{FC66C502-8688-4318-A7AE-46BFAF276640}"/>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Fields that must exist for every accepted document.</a:t>
            </a:r>
          </a:p>
        </p:txBody>
      </p:sp>
      <p:sp>
        <p:nvSpPr>
          <p:cNvPr id="10" name="">
            <a:extLst xmlns:a="http://schemas.openxmlformats.org/drawingml/2006/main">
              <a:ext uri="{FF2B5EF4-FFF2-40B4-BE49-F238E27FC236}">
                <a16:creationId xmlns:a16="http://schemas.microsoft.com/office/drawing/2014/main" id="{1C5E0070-9C03-474E-8662-0BC40AE8823F}"/>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5EB280F8-F812-4406-A136-BD3DDACF52FB}"/>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TYPE</a:t>
            </a:r>
          </a:p>
        </p:txBody>
      </p:sp>
      <p:sp>
        <p:nvSpPr>
          <p:cNvPr id="12" name="">
            <a:extLst xmlns:a="http://schemas.openxmlformats.org/drawingml/2006/main">
              <a:ext uri="{FF2B5EF4-FFF2-40B4-BE49-F238E27FC236}">
                <a16:creationId xmlns:a16="http://schemas.microsoft.com/office/drawing/2014/main" id="{A5D7950D-6117-4C8C-9251-82DA134EC0A2}"/>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BSON types expected for identity, date, number, object, or array.</a:t>
            </a:r>
          </a:p>
        </p:txBody>
      </p:sp>
      <p:sp>
        <p:nvSpPr>
          <p:cNvPr id="13" name="">
            <a:extLst xmlns:a="http://schemas.openxmlformats.org/drawingml/2006/main">
              <a:ext uri="{FF2B5EF4-FFF2-40B4-BE49-F238E27FC236}">
                <a16:creationId xmlns:a16="http://schemas.microsoft.com/office/drawing/2014/main" id="{20A67CF9-D03F-4218-A467-7ACBA9CDD112}"/>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5AE85FDE-5745-4BD1-BF74-30846EDD47D4}"/>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VALUE</a:t>
            </a:r>
          </a:p>
        </p:txBody>
      </p:sp>
      <p:sp>
        <p:nvSpPr>
          <p:cNvPr id="15" name="">
            <a:extLst xmlns:a="http://schemas.openxmlformats.org/drawingml/2006/main">
              <a:ext uri="{FF2B5EF4-FFF2-40B4-BE49-F238E27FC236}">
                <a16:creationId xmlns:a16="http://schemas.microsoft.com/office/drawing/2014/main" id="{3B1C7004-1C8A-4D3B-B739-5EC94EE67E16}"/>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Enumerations or nested rules that protect the collection contract.</a:t>
            </a:r>
          </a:p>
        </p:txBody>
      </p:sp>
    </p:spTree>
    <p:extLst>
      <p:ext uri="{BB962C8B-B14F-4D97-AF65-F5344CB8AC3E}">
        <p14:creationId xmlns:p14="http://schemas.microsoft.com/office/powerpoint/2010/main" val="1790820804"/>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1B55A60-30F2-499A-9A78-6BE3C19B40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36AC835-9F1A-4327-9D89-C5A88496483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11  /  CST4714</a:t>
            </a:r>
          </a:p>
        </p:txBody>
      </p:sp>
      <p:sp>
        <p:nvSpPr>
          <p:cNvPr id="3" name="slide-title">
            <a:extLst xmlns:a="http://schemas.openxmlformats.org/drawingml/2006/main">
              <a:ext uri="{FF2B5EF4-FFF2-40B4-BE49-F238E27FC236}">
                <a16:creationId xmlns:a16="http://schemas.microsoft.com/office/drawing/2014/main" id="{E252369C-7AF3-4F9C-8D5A-13BC64E5520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validator documents required fields, BSON types, and values</a:t>
            </a:r>
          </a:p>
        </p:txBody>
      </p:sp>
      <p:sp>
        <p:nvSpPr>
          <p:cNvPr id="4" name="">
            <a:extLst xmlns:a="http://schemas.openxmlformats.org/drawingml/2006/main">
              <a:ext uri="{FF2B5EF4-FFF2-40B4-BE49-F238E27FC236}">
                <a16:creationId xmlns:a16="http://schemas.microsoft.com/office/drawing/2014/main" id="{E7DC71CC-7F2F-432A-B010-27EA3A736F3C}"/>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3C21B33F-272B-4FA0-8A66-B63D660F2D2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7</a:t>
            </a:r>
          </a:p>
        </p:txBody>
      </p:sp>
      <p:sp>
        <p:nvSpPr>
          <p:cNvPr id="6" name="code-frame">
            <a:extLst xmlns:a="http://schemas.openxmlformats.org/drawingml/2006/main">
              <a:ext uri="{FF2B5EF4-FFF2-40B4-BE49-F238E27FC236}">
                <a16:creationId xmlns:a16="http://schemas.microsoft.com/office/drawing/2014/main" id="{B1332351-AD75-45A9-AB35-8BCF7F1B0B84}"/>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04385EEF-C1F9-4A7B-A272-E34A36EC322F}"/>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validator =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"$jsonSchema":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"bsonType": "object",</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"required": ["ticket_id", "status", "opened_at"],</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"properties":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"ticket_id": {"bsonType": ["int", "long"]},</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"status": {"enum": ["new", "open", "in_progress", "resolved", "closed"]},</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"opened_at": {"bsonType": "date"}</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a:t>
            </a:r>
          </a:p>
        </p:txBody>
      </p:sp>
      <p:sp>
        <p:nvSpPr>
          <p:cNvPr id="8" name="">
            <a:extLst xmlns:a="http://schemas.openxmlformats.org/drawingml/2006/main">
              <a:ext uri="{FF2B5EF4-FFF2-40B4-BE49-F238E27FC236}">
                <a16:creationId xmlns:a16="http://schemas.microsoft.com/office/drawing/2014/main" id="{3FE69BF5-2C6F-4B00-A5AA-BB8DB25A255D}"/>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1D4ED8"/>
                </a:solidFill>
                <a:latin typeface="Helvetica Neue"/>
                <a:ea typeface="Helvetica Neue"/>
                <a:cs typeface="Helvetica Neue"/>
              </a:defRPr>
            </a:pPr>
            <a:r>
              <a:rPr sz="1725" b="1">
                <a:solidFill>
                  <a:srgbClr val="1D4ED8"/>
                </a:solidFill>
                <a:latin typeface="Helvetica Neue"/>
                <a:ea typeface="Helvetica Neue"/>
                <a:cs typeface="Helvetica Neue"/>
              </a:rPr>
              <a:t>Boundary</a:t>
            </a:r>
          </a:p>
        </p:txBody>
      </p:sp>
      <p:sp>
        <p:nvSpPr>
          <p:cNvPr id="9" name="">
            <a:extLst xmlns:a="http://schemas.openxmlformats.org/drawingml/2006/main">
              <a:ext uri="{FF2B5EF4-FFF2-40B4-BE49-F238E27FC236}">
                <a16:creationId xmlns:a16="http://schemas.microsoft.com/office/drawing/2014/main" id="{6EB3EA4E-FA20-46B6-9070-9126984F8408}"/>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F0D36189-3231-4754-80CB-8A8A07CC685B}"/>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BSON date is not an arbitrary date-looking string.</a:t>
            </a:r>
          </a:p>
        </p:txBody>
      </p:sp>
      <p:sp>
        <p:nvSpPr>
          <p:cNvPr id="11" name="">
            <a:extLst xmlns:a="http://schemas.openxmlformats.org/drawingml/2006/main">
              <a:ext uri="{FF2B5EF4-FFF2-40B4-BE49-F238E27FC236}">
                <a16:creationId xmlns:a16="http://schemas.microsoft.com/office/drawing/2014/main" id="{CD23D324-2E05-40FE-9DD7-7C3188CE32BD}"/>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9A9560E6-1404-4AEB-82BC-65424657D9E3}"/>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Enum protects vocabulary, not legal transitions.</a:t>
            </a:r>
          </a:p>
        </p:txBody>
      </p:sp>
      <p:sp>
        <p:nvSpPr>
          <p:cNvPr id="13" name="">
            <a:extLst xmlns:a="http://schemas.openxmlformats.org/drawingml/2006/main">
              <a:ext uri="{FF2B5EF4-FFF2-40B4-BE49-F238E27FC236}">
                <a16:creationId xmlns:a16="http://schemas.microsoft.com/office/drawing/2014/main" id="{0A27CC2E-5720-4FDA-B904-2F4186DC4DA3}"/>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AD6990A4-850C-49CC-9541-CC7058542725}"/>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Server behavior requires a real MongoDB path.</a:t>
            </a:r>
          </a:p>
        </p:txBody>
      </p:sp>
    </p:spTree>
    <p:extLst>
      <p:ext uri="{BB962C8B-B14F-4D97-AF65-F5344CB8AC3E}">
        <p14:creationId xmlns:p14="http://schemas.microsoft.com/office/powerpoint/2010/main" val="1793159880"/>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F945174-A9E4-4B7B-819C-A60CFF3059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A3A5B17-04DE-4603-B3C5-58B686E3FF8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11  /  CST4714</a:t>
            </a:r>
          </a:p>
        </p:txBody>
      </p:sp>
      <p:sp>
        <p:nvSpPr>
          <p:cNvPr id="3" name="slide-title">
            <a:extLst xmlns:a="http://schemas.openxmlformats.org/drawingml/2006/main">
              <a:ext uri="{FF2B5EF4-FFF2-40B4-BE49-F238E27FC236}">
                <a16:creationId xmlns:a16="http://schemas.microsoft.com/office/drawing/2014/main" id="{389F4E75-E534-49F7-A7E0-123CD4D2953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Validation needs an accepted and a rejected write</a:t>
            </a:r>
          </a:p>
        </p:txBody>
      </p:sp>
      <p:sp>
        <p:nvSpPr>
          <p:cNvPr id="4" name="">
            <a:extLst xmlns:a="http://schemas.openxmlformats.org/drawingml/2006/main">
              <a:ext uri="{FF2B5EF4-FFF2-40B4-BE49-F238E27FC236}">
                <a16:creationId xmlns:a16="http://schemas.microsoft.com/office/drawing/2014/main" id="{52FFFE44-719F-43CE-A0A5-08AC4CB8831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30DDA352-D7FF-47B5-BCC7-7173EA48241B}"/>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8</a:t>
            </a:r>
          </a:p>
        </p:txBody>
      </p:sp>
      <p:sp>
        <p:nvSpPr>
          <p:cNvPr id="6" name="">
            <a:extLst xmlns:a="http://schemas.openxmlformats.org/drawingml/2006/main">
              <a:ext uri="{FF2B5EF4-FFF2-40B4-BE49-F238E27FC236}">
                <a16:creationId xmlns:a16="http://schemas.microsoft.com/office/drawing/2014/main" id="{C172802E-364E-4FC2-A46C-F592290C0094}"/>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D4ED8"/>
                </a:solidFill>
                <a:latin typeface="Helvetica Neue"/>
                <a:ea typeface="Helvetica Neue"/>
                <a:cs typeface="Helvetica Neue"/>
              </a:defRPr>
            </a:pPr>
            <a:r>
              <a:rPr sz="1950" b="1">
                <a:solidFill>
                  <a:srgbClr val="1D4ED8"/>
                </a:solidFill>
                <a:latin typeface="Helvetica Neue"/>
                <a:ea typeface="Helvetica Neue"/>
                <a:cs typeface="Helvetica Neue"/>
              </a:rPr>
              <a:t>Expected success</a:t>
            </a:r>
          </a:p>
        </p:txBody>
      </p:sp>
      <p:sp>
        <p:nvSpPr>
          <p:cNvPr id="7" name="">
            <a:extLst xmlns:a="http://schemas.openxmlformats.org/drawingml/2006/main">
              <a:ext uri="{FF2B5EF4-FFF2-40B4-BE49-F238E27FC236}">
                <a16:creationId xmlns:a16="http://schemas.microsoft.com/office/drawing/2014/main" id="{2741A411-DD00-495A-BBEC-AA144A7FB079}"/>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Expected rejection</a:t>
            </a:r>
          </a:p>
        </p:txBody>
      </p:sp>
      <p:sp>
        <p:nvSpPr>
          <p:cNvPr id="8" name="">
            <a:extLst xmlns:a="http://schemas.openxmlformats.org/drawingml/2006/main">
              <a:ext uri="{FF2B5EF4-FFF2-40B4-BE49-F238E27FC236}">
                <a16:creationId xmlns:a16="http://schemas.microsoft.com/office/drawing/2014/main" id="{57376EB7-0FFB-4A2E-88B6-FE725237A75A}"/>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49E56DE4-A711-40CC-B3F2-B7BF146329FA}"/>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1A4C3D0C-55F9-4CE1-B6A3-5F2AD7A21075}"/>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All required fields are present</a:t>
            </a:r>
          </a:p>
        </p:txBody>
      </p:sp>
      <p:sp>
        <p:nvSpPr>
          <p:cNvPr id="11" name="">
            <a:extLst xmlns:a="http://schemas.openxmlformats.org/drawingml/2006/main">
              <a:ext uri="{FF2B5EF4-FFF2-40B4-BE49-F238E27FC236}">
                <a16:creationId xmlns:a16="http://schemas.microsoft.com/office/drawing/2014/main" id="{514B756C-EF6A-4B7B-8A32-7B39C3B6AAD2}"/>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027C38EB-74C6-4789-AFD8-6C366E0FDF15}"/>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BSON types match the declared contract</a:t>
            </a:r>
          </a:p>
        </p:txBody>
      </p:sp>
      <p:sp>
        <p:nvSpPr>
          <p:cNvPr id="13" name="">
            <a:extLst xmlns:a="http://schemas.openxmlformats.org/drawingml/2006/main">
              <a:ext uri="{FF2B5EF4-FFF2-40B4-BE49-F238E27FC236}">
                <a16:creationId xmlns:a16="http://schemas.microsoft.com/office/drawing/2014/main" id="{E4DA4147-6391-42C5-8033-9B4BFE4E134E}"/>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FCEDC9BA-F370-4A37-923C-EC69CCF94EF2}"/>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Status belongs to the supported vocabulary</a:t>
            </a:r>
          </a:p>
        </p:txBody>
      </p:sp>
      <p:sp>
        <p:nvSpPr>
          <p:cNvPr id="15" name="">
            <a:extLst xmlns:a="http://schemas.openxmlformats.org/drawingml/2006/main">
              <a:ext uri="{FF2B5EF4-FFF2-40B4-BE49-F238E27FC236}">
                <a16:creationId xmlns:a16="http://schemas.microsoft.com/office/drawing/2014/main" id="{28869EFD-1131-4A8C-8E40-3E7A5CEA3870}"/>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A69D7256-AC4B-4A2C-8F5E-2100941D191A}"/>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 one deliberately invalid field or missing requirement</a:t>
            </a:r>
          </a:p>
        </p:txBody>
      </p:sp>
      <p:sp>
        <p:nvSpPr>
          <p:cNvPr id="17" name="">
            <a:extLst xmlns:a="http://schemas.openxmlformats.org/drawingml/2006/main">
              <a:ext uri="{FF2B5EF4-FFF2-40B4-BE49-F238E27FC236}">
                <a16:creationId xmlns:a16="http://schemas.microsoft.com/office/drawing/2014/main" id="{DA40BD8B-2519-4FF4-A313-5340D9268794}"/>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B524290E-3680-4E8E-A0F9-4D961254E125}"/>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Confirm the validation failure rather than another error</a:t>
            </a:r>
          </a:p>
        </p:txBody>
      </p:sp>
      <p:sp>
        <p:nvSpPr>
          <p:cNvPr id="19" name="">
            <a:extLst xmlns:a="http://schemas.openxmlformats.org/drawingml/2006/main">
              <a:ext uri="{FF2B5EF4-FFF2-40B4-BE49-F238E27FC236}">
                <a16:creationId xmlns:a16="http://schemas.microsoft.com/office/drawing/2014/main" id="{FB820099-D463-45B1-BAB9-472CCAD80587}"/>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4F391BBA-58A6-4390-A9DE-9EBB284499F2}"/>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Remove or roll back any disposable test data</a:t>
            </a:r>
          </a:p>
        </p:txBody>
      </p:sp>
    </p:spTree>
    <p:extLst>
      <p:ext uri="{BB962C8B-B14F-4D97-AF65-F5344CB8AC3E}">
        <p14:creationId xmlns:p14="http://schemas.microsoft.com/office/powerpoint/2010/main" val="692939857"/>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902B747-25F6-4FA3-8FAF-1993F8BA1E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D88F670-4657-4FC0-A549-8BB6BF6024D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11  /  CST4714</a:t>
            </a:r>
          </a:p>
        </p:txBody>
      </p:sp>
      <p:sp>
        <p:nvSpPr>
          <p:cNvPr id="3" name="slide-title">
            <a:extLst xmlns:a="http://schemas.openxmlformats.org/drawingml/2006/main">
              <a:ext uri="{FF2B5EF4-FFF2-40B4-BE49-F238E27FC236}">
                <a16:creationId xmlns:a16="http://schemas.microsoft.com/office/drawing/2014/main" id="{910A4057-0062-4BBE-8BBF-35943B86044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1: Pipeline and validation studio</a:t>
            </a:r>
          </a:p>
        </p:txBody>
      </p:sp>
      <p:sp>
        <p:nvSpPr>
          <p:cNvPr id="4" name="">
            <a:extLst xmlns:a="http://schemas.openxmlformats.org/drawingml/2006/main">
              <a:ext uri="{FF2B5EF4-FFF2-40B4-BE49-F238E27FC236}">
                <a16:creationId xmlns:a16="http://schemas.microsoft.com/office/drawing/2014/main" id="{7D931FDF-BE15-45DE-BB8B-83C96BA43C45}"/>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8DA0AAD5-06CA-4233-902F-59F85226066F}"/>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9</a:t>
            </a:r>
          </a:p>
        </p:txBody>
      </p:sp>
      <p:sp>
        <p:nvSpPr>
          <p:cNvPr id="6" name="">
            <a:extLst xmlns:a="http://schemas.openxmlformats.org/drawingml/2006/main">
              <a:ext uri="{FF2B5EF4-FFF2-40B4-BE49-F238E27FC236}">
                <a16:creationId xmlns:a16="http://schemas.microsoft.com/office/drawing/2014/main" id="{2BB0C30E-A3E0-407E-8AAB-0C4173F6F5C0}"/>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Build one aggregation with tracked grain and test one document validation rule.</a:t>
            </a:r>
          </a:p>
        </p:txBody>
      </p:sp>
      <p:sp>
        <p:nvSpPr>
          <p:cNvPr id="7" name="">
            <a:extLst xmlns:a="http://schemas.openxmlformats.org/drawingml/2006/main">
              <a:ext uri="{FF2B5EF4-FFF2-40B4-BE49-F238E27FC236}">
                <a16:creationId xmlns:a16="http://schemas.microsoft.com/office/drawing/2014/main" id="{6BA6DA6A-FA2E-46F5-90F5-F26E40F6CF28}"/>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8" name="">
            <a:extLst xmlns:a="http://schemas.openxmlformats.org/drawingml/2006/main">
              <a:ext uri="{FF2B5EF4-FFF2-40B4-BE49-F238E27FC236}">
                <a16:creationId xmlns:a16="http://schemas.microsoft.com/office/drawing/2014/main" id="{9E0277D4-03B7-45C0-BAE8-7F648F647364}"/>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Predict input and output identifiers, counts, and shape for each pipeline stage.</a:t>
            </a:r>
          </a:p>
        </p:txBody>
      </p:sp>
      <p:sp>
        <p:nvSpPr>
          <p:cNvPr id="9" name="">
            <a:extLst xmlns:a="http://schemas.openxmlformats.org/drawingml/2006/main">
              <a:ext uri="{FF2B5EF4-FFF2-40B4-BE49-F238E27FC236}">
                <a16:creationId xmlns:a16="http://schemas.microsoft.com/office/drawing/2014/main" id="{61971CD1-9838-41C5-A820-4B39E04FF5E2}"/>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B8258245-D6FF-4B81-9EBB-FD9C2C69D180}"/>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Run the pipeline, verify grouped results, and explain one stage-order decision.</a:t>
            </a:r>
          </a:p>
        </p:txBody>
      </p:sp>
      <p:sp>
        <p:nvSpPr>
          <p:cNvPr id="11" name="">
            <a:extLst xmlns:a="http://schemas.openxmlformats.org/drawingml/2006/main">
              <a:ext uri="{FF2B5EF4-FFF2-40B4-BE49-F238E27FC236}">
                <a16:creationId xmlns:a16="http://schemas.microsoft.com/office/drawing/2014/main" id="{14340E4D-CCDD-4AB1-B54D-8DCF94E6FA69}"/>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432CE078-0EA0-42D7-9D93-BF4B75A46D53}"/>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Install or inspect the validator and record one valid and one expected-invalid write.</a:t>
            </a:r>
          </a:p>
        </p:txBody>
      </p:sp>
      <p:sp>
        <p:nvSpPr>
          <p:cNvPr id="13" name="">
            <a:extLst xmlns:a="http://schemas.openxmlformats.org/drawingml/2006/main">
              <a:ext uri="{FF2B5EF4-FFF2-40B4-BE49-F238E27FC236}">
                <a16:creationId xmlns:a16="http://schemas.microsoft.com/office/drawing/2014/main" id="{DBBB0A38-9C68-427E-BC7F-5D87FB39FB27}"/>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sp>
      <p:sp>
        <p:nvSpPr>
          <p:cNvPr id="14" name="">
            <a:extLst xmlns:a="http://schemas.openxmlformats.org/drawingml/2006/main">
              <a:ext uri="{FF2B5EF4-FFF2-40B4-BE49-F238E27FC236}">
                <a16:creationId xmlns:a16="http://schemas.microsoft.com/office/drawing/2014/main" id="{4031A43A-FB8F-41D1-8836-032A97EA8AD3}"/>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pipeline-and-validation evidence packet</a:t>
            </a:r>
          </a:p>
        </p:txBody>
      </p:sp>
    </p:spTree>
    <p:extLst>
      <p:ext uri="{BB962C8B-B14F-4D97-AF65-F5344CB8AC3E}">
        <p14:creationId xmlns:p14="http://schemas.microsoft.com/office/powerpoint/2010/main" val="849562849"/>
      </p:ext>
    </p:extLst>
  </p:cSld>
</p:sld>
</file>

<file path=ppt/slides/slide10.xml><?xml version="1.0" encoding="utf-8"?>
<p:sld xmlns:p="http://schemas.openxmlformats.org/presentationml/2006/main">
  <p:cSld>
    <p:bg>
      <p:bgPr>
        <a:solidFill xmlns:a="http://schemas.openxmlformats.org/drawingml/2006/main">
          <a:srgbClr val="1D4ED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4F64061-0940-49F4-A535-2C7C0BDF21D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2" name="">
            <a:extLst xmlns:a="http://schemas.openxmlformats.org/drawingml/2006/main">
              <a:ext uri="{FF2B5EF4-FFF2-40B4-BE49-F238E27FC236}">
                <a16:creationId xmlns:a16="http://schemas.microsoft.com/office/drawing/2014/main" id="{FE765A9E-7878-4AE2-B3D5-8C50CB631F76}"/>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6F1D4B46-3558-458C-9542-0D51F1CDB714}"/>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Filter, sort, and index order form one workload</a:t>
            </a:r>
          </a:p>
        </p:txBody>
      </p:sp>
      <p:sp>
        <p:nvSpPr>
          <p:cNvPr id="4" name="">
            <a:extLst xmlns:a="http://schemas.openxmlformats.org/drawingml/2006/main">
              <a:ext uri="{FF2B5EF4-FFF2-40B4-BE49-F238E27FC236}">
                <a16:creationId xmlns:a16="http://schemas.microsoft.com/office/drawing/2014/main" id="{6C043A0D-7270-4CF3-B43C-F424FA1E91E9}"/>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a:solidFill>
                  <a:srgbClr val="F8FAFC"/>
                </a:solidFill>
                <a:latin typeface="Helvetica Neue"/>
                <a:ea typeface="Helvetica Neue"/>
                <a:cs typeface="Helvetica Neue"/>
              </a:defRPr>
            </a:pPr>
            <a:r>
              <a:rPr sz="1950">
                <a:solidFill>
                  <a:srgbClr val="F8FAFC"/>
                </a:solidFill>
                <a:latin typeface="Helvetica Neue"/>
                <a:ea typeface="Helvetica Neue"/>
                <a:cs typeface="Helvetica Neue"/>
              </a:rPr>
              <a:t>A sort becomes expensive when too many documents reach it without a supporting order.</a:t>
            </a:r>
          </a:p>
        </p:txBody>
      </p:sp>
      <p:sp>
        <p:nvSpPr>
          <p:cNvPr id="5" name="">
            <a:extLst xmlns:a="http://schemas.openxmlformats.org/drawingml/2006/main">
              <a:ext uri="{FF2B5EF4-FFF2-40B4-BE49-F238E27FC236}">
                <a16:creationId xmlns:a16="http://schemas.microsoft.com/office/drawing/2014/main" id="{319BD9D1-96FC-401E-A3FE-B1E1CE1FCD7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E2E8F0"/>
                </a:solidFill>
                <a:latin typeface="Helvetica Neue"/>
                <a:ea typeface="Helvetica Neue"/>
                <a:cs typeface="Helvetica Neue"/>
              </a:defRPr>
            </a:pPr>
            <a:r>
              <a:rPr sz="825">
                <a:solidFill>
                  <a:srgbClr val="E2E8F0"/>
                </a:solidFill>
                <a:latin typeface="Helvetica Neue"/>
                <a:ea typeface="Helvetica Neue"/>
                <a:cs typeface="Helvetica Neue"/>
              </a:rPr>
              <a:t>10</a:t>
            </a:r>
          </a:p>
        </p:txBody>
      </p:sp>
    </p:spTree>
    <p:extLst>
      <p:ext uri="{BB962C8B-B14F-4D97-AF65-F5344CB8AC3E}">
        <p14:creationId xmlns:p14="http://schemas.microsoft.com/office/powerpoint/2010/main" val="1732754168"/>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24C5382F-1A5F-4AB3-A853-42F7D79C1C9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7AE86F8-3678-4E8E-8EDE-ACEA209BF4D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11  /  CST4714</a:t>
            </a:r>
          </a:p>
        </p:txBody>
      </p:sp>
      <p:sp>
        <p:nvSpPr>
          <p:cNvPr id="3" name="slide-title">
            <a:extLst xmlns:a="http://schemas.openxmlformats.org/drawingml/2006/main">
              <a:ext uri="{FF2B5EF4-FFF2-40B4-BE49-F238E27FC236}">
                <a16:creationId xmlns:a16="http://schemas.microsoft.com/office/drawing/2014/main" id="{867439E2-7745-4BB6-84BF-32C61C100B66}"/>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Compound index order follows the filter-and-sort pattern</a:t>
            </a:r>
          </a:p>
        </p:txBody>
      </p:sp>
      <p:sp>
        <p:nvSpPr>
          <p:cNvPr id="4" name="">
            <a:extLst xmlns:a="http://schemas.openxmlformats.org/drawingml/2006/main">
              <a:ext uri="{FF2B5EF4-FFF2-40B4-BE49-F238E27FC236}">
                <a16:creationId xmlns:a16="http://schemas.microsoft.com/office/drawing/2014/main" id="{3FB4A67B-31AB-4ABA-AA01-7C5F9BC64EB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3D349277-13B4-4568-BB96-3B2B7890ED80}"/>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7206A3FB-7F34-4942-A0CD-DFAC95E3DCB9}"/>
              </a:ext>
            </a:extLst>
          </p:cNvPr>
          <p:cNvSpPr>
            <a:spLocks xmlns:a="http://schemas.openxmlformats.org/drawingml/2006/main" noGrp="1"/>
          </p:cNvSpPr>
          <p:nvPr/>
        </p:nvSpPr>
        <p:spPr>
          <a:xfrm xmlns:a="http://schemas.openxmlformats.org/drawingml/2006/main">
            <a:off x="685800" y="1714500"/>
            <a:ext cx="2190750" cy="51435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sp>
      <p:sp>
        <p:nvSpPr>
          <p:cNvPr id="7" name="">
            <a:extLst xmlns:a="http://schemas.openxmlformats.org/drawingml/2006/main">
              <a:ext uri="{FF2B5EF4-FFF2-40B4-BE49-F238E27FC236}">
                <a16:creationId xmlns:a16="http://schemas.microsoft.com/office/drawing/2014/main" id="{68AFA909-3994-42AE-AFE1-3B3582E39E96}"/>
              </a:ext>
            </a:extLst>
          </p:cNvPr>
          <p:cNvSpPr>
            <a:spLocks xmlns:a="http://schemas.openxmlformats.org/drawingml/2006/main" noGrp="1"/>
          </p:cNvSpPr>
          <p:nvPr/>
        </p:nvSpPr>
        <p:spPr>
          <a:xfrm xmlns:a="http://schemas.openxmlformats.org/drawingml/2006/main">
            <a:off x="762000" y="18097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Query part</a:t>
            </a:r>
          </a:p>
        </p:txBody>
      </p:sp>
      <p:sp>
        <p:nvSpPr>
          <p:cNvPr id="8" name="">
            <a:extLst xmlns:a="http://schemas.openxmlformats.org/drawingml/2006/main">
              <a:ext uri="{FF2B5EF4-FFF2-40B4-BE49-F238E27FC236}">
                <a16:creationId xmlns:a16="http://schemas.microsoft.com/office/drawing/2014/main" id="{CA44B03E-1785-411F-B0A4-970FEF030EEB}"/>
              </a:ext>
            </a:extLst>
          </p:cNvPr>
          <p:cNvSpPr>
            <a:spLocks xmlns:a="http://schemas.openxmlformats.org/drawingml/2006/main" noGrp="1"/>
          </p:cNvSpPr>
          <p:nvPr/>
        </p:nvSpPr>
        <p:spPr>
          <a:xfrm xmlns:a="http://schemas.openxmlformats.org/drawingml/2006/main">
            <a:off x="2876550" y="1714500"/>
            <a:ext cx="29527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5275263E-ED5A-4CC2-9F81-5CB204809644}"/>
              </a:ext>
            </a:extLst>
          </p:cNvPr>
          <p:cNvSpPr>
            <a:spLocks xmlns:a="http://schemas.openxmlformats.org/drawingml/2006/main" noGrp="1"/>
          </p:cNvSpPr>
          <p:nvPr/>
        </p:nvSpPr>
        <p:spPr>
          <a:xfrm xmlns:a="http://schemas.openxmlformats.org/drawingml/2006/main">
            <a:off x="2952750" y="1809750"/>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Example</a:t>
            </a:r>
          </a:p>
        </p:txBody>
      </p:sp>
      <p:sp>
        <p:nvSpPr>
          <p:cNvPr id="10" name="">
            <a:extLst xmlns:a="http://schemas.openxmlformats.org/drawingml/2006/main">
              <a:ext uri="{FF2B5EF4-FFF2-40B4-BE49-F238E27FC236}">
                <a16:creationId xmlns:a16="http://schemas.microsoft.com/office/drawing/2014/main" id="{8332B41C-85F0-4C29-B709-9C3F2521FC7A}"/>
              </a:ext>
            </a:extLst>
          </p:cNvPr>
          <p:cNvSpPr>
            <a:spLocks xmlns:a="http://schemas.openxmlformats.org/drawingml/2006/main" noGrp="1"/>
          </p:cNvSpPr>
          <p:nvPr/>
        </p:nvSpPr>
        <p:spPr>
          <a:xfrm xmlns:a="http://schemas.openxmlformats.org/drawingml/2006/main">
            <a:off x="5829300" y="1714500"/>
            <a:ext cx="26670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CCB14CED-DC25-4381-926F-A3DB43CF7FE9}"/>
              </a:ext>
            </a:extLst>
          </p:cNvPr>
          <p:cNvSpPr>
            <a:spLocks xmlns:a="http://schemas.openxmlformats.org/drawingml/2006/main" noGrp="1"/>
          </p:cNvSpPr>
          <p:nvPr/>
        </p:nvSpPr>
        <p:spPr>
          <a:xfrm xmlns:a="http://schemas.openxmlformats.org/drawingml/2006/main">
            <a:off x="5905500" y="18097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Candidate key</a:t>
            </a:r>
          </a:p>
        </p:txBody>
      </p:sp>
      <p:sp>
        <p:nvSpPr>
          <p:cNvPr id="12" name="">
            <a:extLst xmlns:a="http://schemas.openxmlformats.org/drawingml/2006/main">
              <a:ext uri="{FF2B5EF4-FFF2-40B4-BE49-F238E27FC236}">
                <a16:creationId xmlns:a16="http://schemas.microsoft.com/office/drawing/2014/main" id="{88DE58DD-1CFD-4565-AD97-19AC0EA2BCC8}"/>
              </a:ext>
            </a:extLst>
          </p:cNvPr>
          <p:cNvSpPr>
            <a:spLocks xmlns:a="http://schemas.openxmlformats.org/drawingml/2006/main" noGrp="1"/>
          </p:cNvSpPr>
          <p:nvPr/>
        </p:nvSpPr>
        <p:spPr>
          <a:xfrm xmlns:a="http://schemas.openxmlformats.org/drawingml/2006/main">
            <a:off x="8496300" y="1714500"/>
            <a:ext cx="30099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349CF12B-15D3-4CA8-B01D-C7D73395E212}"/>
              </a:ext>
            </a:extLst>
          </p:cNvPr>
          <p:cNvSpPr>
            <a:spLocks xmlns:a="http://schemas.openxmlformats.org/drawingml/2006/main" noGrp="1"/>
          </p:cNvSpPr>
          <p:nvPr/>
        </p:nvSpPr>
        <p:spPr>
          <a:xfrm xmlns:a="http://schemas.openxmlformats.org/drawingml/2006/main">
            <a:off x="8572500" y="18097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Reasoning</a:t>
            </a:r>
          </a:p>
        </p:txBody>
      </p:sp>
      <p:sp>
        <p:nvSpPr>
          <p:cNvPr id="14" name="">
            <a:extLst xmlns:a="http://schemas.openxmlformats.org/drawingml/2006/main">
              <a:ext uri="{FF2B5EF4-FFF2-40B4-BE49-F238E27FC236}">
                <a16:creationId xmlns:a16="http://schemas.microsoft.com/office/drawing/2014/main" id="{39A5648F-8487-4629-B646-46298D596F1F}"/>
              </a:ext>
            </a:extLst>
          </p:cNvPr>
          <p:cNvSpPr>
            <a:spLocks xmlns:a="http://schemas.openxmlformats.org/drawingml/2006/main" noGrp="1"/>
          </p:cNvSpPr>
          <p:nvPr/>
        </p:nvSpPr>
        <p:spPr>
          <a:xfrm xmlns:a="http://schemas.openxmlformats.org/drawingml/2006/main">
            <a:off x="685800" y="2228850"/>
            <a:ext cx="21907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248ACBC4-5A15-4449-8AC7-969B34EB8CC7}"/>
              </a:ext>
            </a:extLst>
          </p:cNvPr>
          <p:cNvSpPr>
            <a:spLocks xmlns:a="http://schemas.openxmlformats.org/drawingml/2006/main" noGrp="1"/>
          </p:cNvSpPr>
          <p:nvPr/>
        </p:nvSpPr>
        <p:spPr>
          <a:xfrm xmlns:a="http://schemas.openxmlformats.org/drawingml/2006/main">
            <a:off x="762000" y="2305050"/>
            <a:ext cx="2038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Equality filter</a:t>
            </a:r>
          </a:p>
        </p:txBody>
      </p:sp>
      <p:sp>
        <p:nvSpPr>
          <p:cNvPr id="16" name="">
            <a:extLst xmlns:a="http://schemas.openxmlformats.org/drawingml/2006/main">
              <a:ext uri="{FF2B5EF4-FFF2-40B4-BE49-F238E27FC236}">
                <a16:creationId xmlns:a16="http://schemas.microsoft.com/office/drawing/2014/main" id="{04E6A8D2-D0E8-4D02-88D9-D54FC3C65E5F}"/>
              </a:ext>
            </a:extLst>
          </p:cNvPr>
          <p:cNvSpPr>
            <a:spLocks xmlns:a="http://schemas.openxmlformats.org/drawingml/2006/main" noGrp="1"/>
          </p:cNvSpPr>
          <p:nvPr/>
        </p:nvSpPr>
        <p:spPr>
          <a:xfrm xmlns:a="http://schemas.openxmlformats.org/drawingml/2006/main">
            <a:off x="2876550" y="2228850"/>
            <a:ext cx="29527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D58E637D-B200-44A6-A234-F1785D98D387}"/>
              </a:ext>
            </a:extLst>
          </p:cNvPr>
          <p:cNvSpPr>
            <a:spLocks xmlns:a="http://schemas.openxmlformats.org/drawingml/2006/main" noGrp="1"/>
          </p:cNvSpPr>
          <p:nvPr/>
        </p:nvSpPr>
        <p:spPr>
          <a:xfrm xmlns:a="http://schemas.openxmlformats.org/drawingml/2006/main">
            <a:off x="2952750" y="2305050"/>
            <a:ext cx="2800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status = 'open'</a:t>
            </a:r>
          </a:p>
        </p:txBody>
      </p:sp>
      <p:sp>
        <p:nvSpPr>
          <p:cNvPr id="18" name="">
            <a:extLst xmlns:a="http://schemas.openxmlformats.org/drawingml/2006/main">
              <a:ext uri="{FF2B5EF4-FFF2-40B4-BE49-F238E27FC236}">
                <a16:creationId xmlns:a16="http://schemas.microsoft.com/office/drawing/2014/main" id="{DEC4791D-2E61-4D8A-B0FC-4E2B6BB61AC8}"/>
              </a:ext>
            </a:extLst>
          </p:cNvPr>
          <p:cNvSpPr>
            <a:spLocks xmlns:a="http://schemas.openxmlformats.org/drawingml/2006/main" noGrp="1"/>
          </p:cNvSpPr>
          <p:nvPr/>
        </p:nvSpPr>
        <p:spPr>
          <a:xfrm xmlns:a="http://schemas.openxmlformats.org/drawingml/2006/main">
            <a:off x="5829300" y="2228850"/>
            <a:ext cx="2667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ECBD3CA3-3AAB-4F97-AB3F-32A548185033}"/>
              </a:ext>
            </a:extLst>
          </p:cNvPr>
          <p:cNvSpPr>
            <a:spLocks xmlns:a="http://schemas.openxmlformats.org/drawingml/2006/main" noGrp="1"/>
          </p:cNvSpPr>
          <p:nvPr/>
        </p:nvSpPr>
        <p:spPr>
          <a:xfrm xmlns:a="http://schemas.openxmlformats.org/drawingml/2006/main">
            <a:off x="5905500" y="2305050"/>
            <a:ext cx="2514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 status: 1, ... }</a:t>
            </a:r>
          </a:p>
        </p:txBody>
      </p:sp>
      <p:sp>
        <p:nvSpPr>
          <p:cNvPr id="20" name="">
            <a:extLst xmlns:a="http://schemas.openxmlformats.org/drawingml/2006/main">
              <a:ext uri="{FF2B5EF4-FFF2-40B4-BE49-F238E27FC236}">
                <a16:creationId xmlns:a16="http://schemas.microsoft.com/office/drawing/2014/main" id="{5D3B9681-4020-46F7-BB3C-7A1F759EC152}"/>
              </a:ext>
            </a:extLst>
          </p:cNvPr>
          <p:cNvSpPr>
            <a:spLocks xmlns:a="http://schemas.openxmlformats.org/drawingml/2006/main" noGrp="1"/>
          </p:cNvSpPr>
          <p:nvPr/>
        </p:nvSpPr>
        <p:spPr>
          <a:xfrm xmlns:a="http://schemas.openxmlformats.org/drawingml/2006/main">
            <a:off x="8496300" y="2228850"/>
            <a:ext cx="30099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D54A3CC7-8E16-4CA9-84C7-0881C07DCFBD}"/>
              </a:ext>
            </a:extLst>
          </p:cNvPr>
          <p:cNvSpPr>
            <a:spLocks xmlns:a="http://schemas.openxmlformats.org/drawingml/2006/main" noGrp="1"/>
          </p:cNvSpPr>
          <p:nvPr/>
        </p:nvSpPr>
        <p:spPr>
          <a:xfrm xmlns:a="http://schemas.openxmlformats.org/drawingml/2006/main">
            <a:off x="8572500" y="2305050"/>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narrow the key range first</a:t>
            </a:r>
          </a:p>
        </p:txBody>
      </p:sp>
      <p:sp>
        <p:nvSpPr>
          <p:cNvPr id="22" name="">
            <a:extLst xmlns:a="http://schemas.openxmlformats.org/drawingml/2006/main">
              <a:ext uri="{FF2B5EF4-FFF2-40B4-BE49-F238E27FC236}">
                <a16:creationId xmlns:a16="http://schemas.microsoft.com/office/drawing/2014/main" id="{E5BAE707-B12D-4AC6-B029-E0F2C59EBE53}"/>
              </a:ext>
            </a:extLst>
          </p:cNvPr>
          <p:cNvSpPr>
            <a:spLocks xmlns:a="http://schemas.openxmlformats.org/drawingml/2006/main" noGrp="1"/>
          </p:cNvSpPr>
          <p:nvPr/>
        </p:nvSpPr>
        <p:spPr>
          <a:xfrm xmlns:a="http://schemas.openxmlformats.org/drawingml/2006/main">
            <a:off x="685800" y="3028950"/>
            <a:ext cx="2190750" cy="8001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66739B79-5B79-4EE2-9ED5-E2C0FDF5C96E}"/>
              </a:ext>
            </a:extLst>
          </p:cNvPr>
          <p:cNvSpPr>
            <a:spLocks xmlns:a="http://schemas.openxmlformats.org/drawingml/2006/main" noGrp="1"/>
          </p:cNvSpPr>
          <p:nvPr/>
        </p:nvSpPr>
        <p:spPr>
          <a:xfrm xmlns:a="http://schemas.openxmlformats.org/drawingml/2006/main">
            <a:off x="762000" y="3105150"/>
            <a:ext cx="2038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Second equality</a:t>
            </a:r>
          </a:p>
        </p:txBody>
      </p:sp>
      <p:sp>
        <p:nvSpPr>
          <p:cNvPr id="24" name="">
            <a:extLst xmlns:a="http://schemas.openxmlformats.org/drawingml/2006/main">
              <a:ext uri="{FF2B5EF4-FFF2-40B4-BE49-F238E27FC236}">
                <a16:creationId xmlns:a16="http://schemas.microsoft.com/office/drawing/2014/main" id="{8E2DECCF-674C-4BAC-813F-600F78463FB1}"/>
              </a:ext>
            </a:extLst>
          </p:cNvPr>
          <p:cNvSpPr>
            <a:spLocks xmlns:a="http://schemas.openxmlformats.org/drawingml/2006/main" noGrp="1"/>
          </p:cNvSpPr>
          <p:nvPr/>
        </p:nvSpPr>
        <p:spPr>
          <a:xfrm xmlns:a="http://schemas.openxmlformats.org/drawingml/2006/main">
            <a:off x="2876550" y="3028950"/>
            <a:ext cx="2952750" cy="8001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4A4E5F02-F6B5-46AA-B056-5C67AFD0D936}"/>
              </a:ext>
            </a:extLst>
          </p:cNvPr>
          <p:cNvSpPr>
            <a:spLocks xmlns:a="http://schemas.openxmlformats.org/drawingml/2006/main" noGrp="1"/>
          </p:cNvSpPr>
          <p:nvPr/>
        </p:nvSpPr>
        <p:spPr>
          <a:xfrm xmlns:a="http://schemas.openxmlformats.org/drawingml/2006/main">
            <a:off x="2952750" y="3105150"/>
            <a:ext cx="2800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category = 'streetlight'</a:t>
            </a:r>
          </a:p>
        </p:txBody>
      </p:sp>
      <p:sp>
        <p:nvSpPr>
          <p:cNvPr id="26" name="">
            <a:extLst xmlns:a="http://schemas.openxmlformats.org/drawingml/2006/main">
              <a:ext uri="{FF2B5EF4-FFF2-40B4-BE49-F238E27FC236}">
                <a16:creationId xmlns:a16="http://schemas.microsoft.com/office/drawing/2014/main" id="{F3B04052-6767-44D7-9F45-7CC498AFBF4D}"/>
              </a:ext>
            </a:extLst>
          </p:cNvPr>
          <p:cNvSpPr>
            <a:spLocks xmlns:a="http://schemas.openxmlformats.org/drawingml/2006/main" noGrp="1"/>
          </p:cNvSpPr>
          <p:nvPr/>
        </p:nvSpPr>
        <p:spPr>
          <a:xfrm xmlns:a="http://schemas.openxmlformats.org/drawingml/2006/main">
            <a:off x="5829300" y="3028950"/>
            <a:ext cx="2667000" cy="8001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0914D1DA-EF57-4565-B4B8-04D837152834}"/>
              </a:ext>
            </a:extLst>
          </p:cNvPr>
          <p:cNvSpPr>
            <a:spLocks xmlns:a="http://schemas.openxmlformats.org/drawingml/2006/main" noGrp="1"/>
          </p:cNvSpPr>
          <p:nvPr/>
        </p:nvSpPr>
        <p:spPr>
          <a:xfrm xmlns:a="http://schemas.openxmlformats.org/drawingml/2006/main">
            <a:off x="5905500" y="3105150"/>
            <a:ext cx="2514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 ..., category: 1, ... }</a:t>
            </a:r>
          </a:p>
        </p:txBody>
      </p:sp>
      <p:sp>
        <p:nvSpPr>
          <p:cNvPr id="28" name="">
            <a:extLst xmlns:a="http://schemas.openxmlformats.org/drawingml/2006/main">
              <a:ext uri="{FF2B5EF4-FFF2-40B4-BE49-F238E27FC236}">
                <a16:creationId xmlns:a16="http://schemas.microsoft.com/office/drawing/2014/main" id="{7B01F5B9-EE9E-4379-88B6-727039C191F2}"/>
              </a:ext>
            </a:extLst>
          </p:cNvPr>
          <p:cNvSpPr>
            <a:spLocks xmlns:a="http://schemas.openxmlformats.org/drawingml/2006/main" noGrp="1"/>
          </p:cNvSpPr>
          <p:nvPr/>
        </p:nvSpPr>
        <p:spPr>
          <a:xfrm xmlns:a="http://schemas.openxmlformats.org/drawingml/2006/main">
            <a:off x="8496300" y="3028950"/>
            <a:ext cx="3009900" cy="8001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43F7FC2B-E1E7-405A-8E0A-06E1098FB10E}"/>
              </a:ext>
            </a:extLst>
          </p:cNvPr>
          <p:cNvSpPr>
            <a:spLocks xmlns:a="http://schemas.openxmlformats.org/drawingml/2006/main" noGrp="1"/>
          </p:cNvSpPr>
          <p:nvPr/>
        </p:nvSpPr>
        <p:spPr>
          <a:xfrm xmlns:a="http://schemas.openxmlformats.org/drawingml/2006/main">
            <a:off x="8572500" y="3105150"/>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continue equality prefix</a:t>
            </a:r>
          </a:p>
        </p:txBody>
      </p:sp>
      <p:sp>
        <p:nvSpPr>
          <p:cNvPr id="30" name="">
            <a:extLst xmlns:a="http://schemas.openxmlformats.org/drawingml/2006/main">
              <a:ext uri="{FF2B5EF4-FFF2-40B4-BE49-F238E27FC236}">
                <a16:creationId xmlns:a16="http://schemas.microsoft.com/office/drawing/2014/main" id="{1F2DCB3B-4945-4BF4-96A9-8EAFE9526C6D}"/>
              </a:ext>
            </a:extLst>
          </p:cNvPr>
          <p:cNvSpPr>
            <a:spLocks xmlns:a="http://schemas.openxmlformats.org/drawingml/2006/main" noGrp="1"/>
          </p:cNvSpPr>
          <p:nvPr/>
        </p:nvSpPr>
        <p:spPr>
          <a:xfrm xmlns:a="http://schemas.openxmlformats.org/drawingml/2006/main">
            <a:off x="685800" y="3829050"/>
            <a:ext cx="21907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FEA1F613-8AE9-47EE-A7DB-AF1107F77883}"/>
              </a:ext>
            </a:extLst>
          </p:cNvPr>
          <p:cNvSpPr>
            <a:spLocks xmlns:a="http://schemas.openxmlformats.org/drawingml/2006/main" noGrp="1"/>
          </p:cNvSpPr>
          <p:nvPr/>
        </p:nvSpPr>
        <p:spPr>
          <a:xfrm xmlns:a="http://schemas.openxmlformats.org/drawingml/2006/main">
            <a:off x="762000" y="3905250"/>
            <a:ext cx="2038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Sort</a:t>
            </a:r>
          </a:p>
        </p:txBody>
      </p:sp>
      <p:sp>
        <p:nvSpPr>
          <p:cNvPr id="32" name="">
            <a:extLst xmlns:a="http://schemas.openxmlformats.org/drawingml/2006/main">
              <a:ext uri="{FF2B5EF4-FFF2-40B4-BE49-F238E27FC236}">
                <a16:creationId xmlns:a16="http://schemas.microsoft.com/office/drawing/2014/main" id="{25F19136-5B3B-4422-888B-3DC108AA85EE}"/>
              </a:ext>
            </a:extLst>
          </p:cNvPr>
          <p:cNvSpPr>
            <a:spLocks xmlns:a="http://schemas.openxmlformats.org/drawingml/2006/main" noGrp="1"/>
          </p:cNvSpPr>
          <p:nvPr/>
        </p:nvSpPr>
        <p:spPr>
          <a:xfrm xmlns:a="http://schemas.openxmlformats.org/drawingml/2006/main">
            <a:off x="2876550" y="3829050"/>
            <a:ext cx="29527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41D01EA7-1B56-4A9D-A64F-88B67B448D78}"/>
              </a:ext>
            </a:extLst>
          </p:cNvPr>
          <p:cNvSpPr>
            <a:spLocks xmlns:a="http://schemas.openxmlformats.org/drawingml/2006/main" noGrp="1"/>
          </p:cNvSpPr>
          <p:nvPr/>
        </p:nvSpPr>
        <p:spPr>
          <a:xfrm xmlns:a="http://schemas.openxmlformats.org/drawingml/2006/main">
            <a:off x="2952750" y="3905250"/>
            <a:ext cx="2800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opened_at descending</a:t>
            </a:r>
          </a:p>
        </p:txBody>
      </p:sp>
      <p:sp>
        <p:nvSpPr>
          <p:cNvPr id="34" name="">
            <a:extLst xmlns:a="http://schemas.openxmlformats.org/drawingml/2006/main">
              <a:ext uri="{FF2B5EF4-FFF2-40B4-BE49-F238E27FC236}">
                <a16:creationId xmlns:a16="http://schemas.microsoft.com/office/drawing/2014/main" id="{0A123472-8605-4783-8AC7-2EB71D91E7CC}"/>
              </a:ext>
            </a:extLst>
          </p:cNvPr>
          <p:cNvSpPr>
            <a:spLocks xmlns:a="http://schemas.openxmlformats.org/drawingml/2006/main" noGrp="1"/>
          </p:cNvSpPr>
          <p:nvPr/>
        </p:nvSpPr>
        <p:spPr>
          <a:xfrm xmlns:a="http://schemas.openxmlformats.org/drawingml/2006/main">
            <a:off x="5829300" y="3829050"/>
            <a:ext cx="2667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CAC2ED0E-9DA8-4ACA-8F8B-079357F13B06}"/>
              </a:ext>
            </a:extLst>
          </p:cNvPr>
          <p:cNvSpPr>
            <a:spLocks xmlns:a="http://schemas.openxmlformats.org/drawingml/2006/main" noGrp="1"/>
          </p:cNvSpPr>
          <p:nvPr/>
        </p:nvSpPr>
        <p:spPr>
          <a:xfrm xmlns:a="http://schemas.openxmlformats.org/drawingml/2006/main">
            <a:off x="5905500" y="3905250"/>
            <a:ext cx="2514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 ..., opened_at: -1 }</a:t>
            </a:r>
          </a:p>
        </p:txBody>
      </p:sp>
      <p:sp>
        <p:nvSpPr>
          <p:cNvPr id="36" name="">
            <a:extLst xmlns:a="http://schemas.openxmlformats.org/drawingml/2006/main">
              <a:ext uri="{FF2B5EF4-FFF2-40B4-BE49-F238E27FC236}">
                <a16:creationId xmlns:a16="http://schemas.microsoft.com/office/drawing/2014/main" id="{8E7A3620-A115-4241-A3A6-ACE12CEC048D}"/>
              </a:ext>
            </a:extLst>
          </p:cNvPr>
          <p:cNvSpPr>
            <a:spLocks xmlns:a="http://schemas.openxmlformats.org/drawingml/2006/main" noGrp="1"/>
          </p:cNvSpPr>
          <p:nvPr/>
        </p:nvSpPr>
        <p:spPr>
          <a:xfrm xmlns:a="http://schemas.openxmlformats.org/drawingml/2006/main">
            <a:off x="8496300" y="3829050"/>
            <a:ext cx="30099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BC7CA4A4-A5D3-4E8C-98FA-629AD8EF9992}"/>
              </a:ext>
            </a:extLst>
          </p:cNvPr>
          <p:cNvSpPr>
            <a:spLocks xmlns:a="http://schemas.openxmlformats.org/drawingml/2006/main" noGrp="1"/>
          </p:cNvSpPr>
          <p:nvPr/>
        </p:nvSpPr>
        <p:spPr>
          <a:xfrm xmlns:a="http://schemas.openxmlformats.org/drawingml/2006/main">
            <a:off x="8572500" y="3905250"/>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read matching keys in requested order</a:t>
            </a:r>
          </a:p>
        </p:txBody>
      </p:sp>
      <p:sp>
        <p:nvSpPr>
          <p:cNvPr id="38" name="">
            <a:extLst xmlns:a="http://schemas.openxmlformats.org/drawingml/2006/main">
              <a:ext uri="{FF2B5EF4-FFF2-40B4-BE49-F238E27FC236}">
                <a16:creationId xmlns:a16="http://schemas.microsoft.com/office/drawing/2014/main" id="{A0AC1921-D143-4230-8E99-0C3FFD049506}"/>
              </a:ext>
            </a:extLst>
          </p:cNvPr>
          <p:cNvSpPr>
            <a:spLocks xmlns:a="http://schemas.openxmlformats.org/drawingml/2006/main" noGrp="1"/>
          </p:cNvSpPr>
          <p:nvPr/>
        </p:nvSpPr>
        <p:spPr>
          <a:xfrm xmlns:a="http://schemas.openxmlformats.org/drawingml/2006/main">
            <a:off x="685800" y="4629150"/>
            <a:ext cx="2190750" cy="8001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BA4F9CFB-063A-4E38-88A8-64A7768E851D}"/>
              </a:ext>
            </a:extLst>
          </p:cNvPr>
          <p:cNvSpPr>
            <a:spLocks xmlns:a="http://schemas.openxmlformats.org/drawingml/2006/main" noGrp="1"/>
          </p:cNvSpPr>
          <p:nvPr/>
        </p:nvSpPr>
        <p:spPr>
          <a:xfrm xmlns:a="http://schemas.openxmlformats.org/drawingml/2006/main">
            <a:off x="762000" y="4705350"/>
            <a:ext cx="2038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Projection</a:t>
            </a:r>
          </a:p>
        </p:txBody>
      </p:sp>
      <p:sp>
        <p:nvSpPr>
          <p:cNvPr id="40" name="">
            <a:extLst xmlns:a="http://schemas.openxmlformats.org/drawingml/2006/main">
              <a:ext uri="{FF2B5EF4-FFF2-40B4-BE49-F238E27FC236}">
                <a16:creationId xmlns:a16="http://schemas.microsoft.com/office/drawing/2014/main" id="{F9811D0F-6688-41B1-91F0-FB008B03008F}"/>
              </a:ext>
            </a:extLst>
          </p:cNvPr>
          <p:cNvSpPr>
            <a:spLocks xmlns:a="http://schemas.openxmlformats.org/drawingml/2006/main" noGrp="1"/>
          </p:cNvSpPr>
          <p:nvPr/>
        </p:nvSpPr>
        <p:spPr>
          <a:xfrm xmlns:a="http://schemas.openxmlformats.org/drawingml/2006/main">
            <a:off x="2876550" y="4629150"/>
            <a:ext cx="2952750" cy="8001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1" name="">
            <a:extLst xmlns:a="http://schemas.openxmlformats.org/drawingml/2006/main">
              <a:ext uri="{FF2B5EF4-FFF2-40B4-BE49-F238E27FC236}">
                <a16:creationId xmlns:a16="http://schemas.microsoft.com/office/drawing/2014/main" id="{FBA28536-7054-490A-B72B-8DCBE7A595AC}"/>
              </a:ext>
            </a:extLst>
          </p:cNvPr>
          <p:cNvSpPr>
            <a:spLocks xmlns:a="http://schemas.openxmlformats.org/drawingml/2006/main" noGrp="1"/>
          </p:cNvSpPr>
          <p:nvPr/>
        </p:nvSpPr>
        <p:spPr>
          <a:xfrm xmlns:a="http://schemas.openxmlformats.org/drawingml/2006/main">
            <a:off x="2952750" y="4705350"/>
            <a:ext cx="2800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ticket_id + subject</a:t>
            </a:r>
          </a:p>
        </p:txBody>
      </p:sp>
      <p:sp>
        <p:nvSpPr>
          <p:cNvPr id="42" name="">
            <a:extLst xmlns:a="http://schemas.openxmlformats.org/drawingml/2006/main">
              <a:ext uri="{FF2B5EF4-FFF2-40B4-BE49-F238E27FC236}">
                <a16:creationId xmlns:a16="http://schemas.microsoft.com/office/drawing/2014/main" id="{2684BB29-390F-4A5C-B8FB-64F967292DC6}"/>
              </a:ext>
            </a:extLst>
          </p:cNvPr>
          <p:cNvSpPr>
            <a:spLocks xmlns:a="http://schemas.openxmlformats.org/drawingml/2006/main" noGrp="1"/>
          </p:cNvSpPr>
          <p:nvPr/>
        </p:nvSpPr>
        <p:spPr>
          <a:xfrm xmlns:a="http://schemas.openxmlformats.org/drawingml/2006/main">
            <a:off x="5829300" y="4629150"/>
            <a:ext cx="2667000" cy="8001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396F4373-C40C-45BA-9816-795E95435F69}"/>
              </a:ext>
            </a:extLst>
          </p:cNvPr>
          <p:cNvSpPr>
            <a:spLocks xmlns:a="http://schemas.openxmlformats.org/drawingml/2006/main" noGrp="1"/>
          </p:cNvSpPr>
          <p:nvPr/>
        </p:nvSpPr>
        <p:spPr>
          <a:xfrm xmlns:a="http://schemas.openxmlformats.org/drawingml/2006/main">
            <a:off x="5905500" y="4705350"/>
            <a:ext cx="2514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optional covered fields</a:t>
            </a:r>
          </a:p>
        </p:txBody>
      </p:sp>
      <p:sp>
        <p:nvSpPr>
          <p:cNvPr id="44" name="">
            <a:extLst xmlns:a="http://schemas.openxmlformats.org/drawingml/2006/main">
              <a:ext uri="{FF2B5EF4-FFF2-40B4-BE49-F238E27FC236}">
                <a16:creationId xmlns:a16="http://schemas.microsoft.com/office/drawing/2014/main" id="{BC9FD2D6-F1BF-4249-9203-1A1866717383}"/>
              </a:ext>
            </a:extLst>
          </p:cNvPr>
          <p:cNvSpPr>
            <a:spLocks xmlns:a="http://schemas.openxmlformats.org/drawingml/2006/main" noGrp="1"/>
          </p:cNvSpPr>
          <p:nvPr/>
        </p:nvSpPr>
        <p:spPr>
          <a:xfrm xmlns:a="http://schemas.openxmlformats.org/drawingml/2006/main">
            <a:off x="8496300" y="4629150"/>
            <a:ext cx="3009900" cy="8001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5" name="">
            <a:extLst xmlns:a="http://schemas.openxmlformats.org/drawingml/2006/main">
              <a:ext uri="{FF2B5EF4-FFF2-40B4-BE49-F238E27FC236}">
                <a16:creationId xmlns:a16="http://schemas.microsoft.com/office/drawing/2014/main" id="{A82411E5-AAB6-4FEC-B33C-A8E65719E342}"/>
              </a:ext>
            </a:extLst>
          </p:cNvPr>
          <p:cNvSpPr>
            <a:spLocks xmlns:a="http://schemas.openxmlformats.org/drawingml/2006/main" noGrp="1"/>
          </p:cNvSpPr>
          <p:nvPr/>
        </p:nvSpPr>
        <p:spPr>
          <a:xfrm xmlns:a="http://schemas.openxmlformats.org/drawingml/2006/main">
            <a:off x="8572500" y="4705350"/>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wider index has greater cost</a:t>
            </a:r>
          </a:p>
        </p:txBody>
      </p:sp>
    </p:spTree>
    <p:extLst>
      <p:ext uri="{BB962C8B-B14F-4D97-AF65-F5344CB8AC3E}">
        <p14:creationId xmlns:p14="http://schemas.microsoft.com/office/powerpoint/2010/main" val="394335108"/>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A33DCDC-F4AF-48A2-BE05-1AE91AF2F7B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CC13864-28B1-45FE-B5A7-43B4416AF10B}"/>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11  /  CST4714</a:t>
            </a:r>
          </a:p>
        </p:txBody>
      </p:sp>
      <p:sp>
        <p:nvSpPr>
          <p:cNvPr id="3" name="slide-title">
            <a:extLst xmlns:a="http://schemas.openxmlformats.org/drawingml/2006/main">
              <a:ext uri="{FF2B5EF4-FFF2-40B4-BE49-F238E27FC236}">
                <a16:creationId xmlns:a16="http://schemas.microsoft.com/office/drawing/2014/main" id="{3E0AD2ED-11D8-4B04-88A8-08E8DA36058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Explain connects the query, index, and observed work</a:t>
            </a:r>
          </a:p>
        </p:txBody>
      </p:sp>
      <p:sp>
        <p:nvSpPr>
          <p:cNvPr id="4" name="">
            <a:extLst xmlns:a="http://schemas.openxmlformats.org/drawingml/2006/main">
              <a:ext uri="{FF2B5EF4-FFF2-40B4-BE49-F238E27FC236}">
                <a16:creationId xmlns:a16="http://schemas.microsoft.com/office/drawing/2014/main" id="{D80CCB1E-6B17-4211-8C08-7DD9D03E3B1B}"/>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8A185CD-7A8F-408A-8CD1-BAF8F1F5EB7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EAFF86A5-C9FF-4538-8279-D6B02CB081B1}"/>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D4ED8"/>
                </a:solidFill>
                <a:latin typeface="Helvetica Neue"/>
                <a:ea typeface="Helvetica Neue"/>
                <a:cs typeface="Helvetica Neue"/>
              </a:defRPr>
            </a:pPr>
            <a:r>
              <a:rPr sz="1950" b="1">
                <a:solidFill>
                  <a:srgbClr val="1D4ED8"/>
                </a:solidFill>
                <a:latin typeface="Helvetica Neue"/>
                <a:ea typeface="Helvetica Neue"/>
                <a:cs typeface="Helvetica Neue"/>
              </a:rPr>
              <a:t>Before candidate</a:t>
            </a:r>
          </a:p>
        </p:txBody>
      </p:sp>
      <p:sp>
        <p:nvSpPr>
          <p:cNvPr id="7" name="">
            <a:extLst xmlns:a="http://schemas.openxmlformats.org/drawingml/2006/main">
              <a:ext uri="{FF2B5EF4-FFF2-40B4-BE49-F238E27FC236}">
                <a16:creationId xmlns:a16="http://schemas.microsoft.com/office/drawing/2014/main" id="{2F3AEF92-33F7-4CE9-B72E-0C476DDAA95F}"/>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After candidate</a:t>
            </a:r>
          </a:p>
        </p:txBody>
      </p:sp>
      <p:sp>
        <p:nvSpPr>
          <p:cNvPr id="8" name="">
            <a:extLst xmlns:a="http://schemas.openxmlformats.org/drawingml/2006/main">
              <a:ext uri="{FF2B5EF4-FFF2-40B4-BE49-F238E27FC236}">
                <a16:creationId xmlns:a16="http://schemas.microsoft.com/office/drawing/2014/main" id="{98E0A15D-272A-4C86-826E-922647B32454}"/>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1C65C14F-5953-406A-870F-D0A99B81D704}"/>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0611158F-F65C-4EF8-8E09-4476CC7592DA}"/>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Collection scan or broad keys/documents examined</a:t>
            </a:r>
          </a:p>
        </p:txBody>
      </p:sp>
      <p:sp>
        <p:nvSpPr>
          <p:cNvPr id="11" name="">
            <a:extLst xmlns:a="http://schemas.openxmlformats.org/drawingml/2006/main">
              <a:ext uri="{FF2B5EF4-FFF2-40B4-BE49-F238E27FC236}">
                <a16:creationId xmlns:a16="http://schemas.microsoft.com/office/drawing/2014/main" id="{201861DA-EDDE-474C-B1A1-E63EEC245D45}"/>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085BB114-B8D7-41AA-B091-AD3F62E6699E}"/>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Explicit sort stage or larger working set</a:t>
            </a:r>
          </a:p>
        </p:txBody>
      </p:sp>
      <p:sp>
        <p:nvSpPr>
          <p:cNvPr id="13" name="">
            <a:extLst xmlns:a="http://schemas.openxmlformats.org/drawingml/2006/main">
              <a:ext uri="{FF2B5EF4-FFF2-40B4-BE49-F238E27FC236}">
                <a16:creationId xmlns:a16="http://schemas.microsoft.com/office/drawing/2014/main" id="{55904D28-62D1-4E66-B270-FFC8E9C85D04}"/>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F8B3FE42-329E-44FF-BE35-7936DDCBE0F3}"/>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Result count alone hides work</a:t>
            </a:r>
          </a:p>
        </p:txBody>
      </p:sp>
      <p:sp>
        <p:nvSpPr>
          <p:cNvPr id="15" name="">
            <a:extLst xmlns:a="http://schemas.openxmlformats.org/drawingml/2006/main">
              <a:ext uri="{FF2B5EF4-FFF2-40B4-BE49-F238E27FC236}">
                <a16:creationId xmlns:a16="http://schemas.microsoft.com/office/drawing/2014/main" id="{F44DAC70-E97C-4327-8119-19EA36238E4E}"/>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062F6D7E-DB3B-4A2B-9199-D78EF76DF568}"/>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Index bounds match the filter prefix</a:t>
            </a:r>
          </a:p>
        </p:txBody>
      </p:sp>
      <p:sp>
        <p:nvSpPr>
          <p:cNvPr id="17" name="">
            <a:extLst xmlns:a="http://schemas.openxmlformats.org/drawingml/2006/main">
              <a:ext uri="{FF2B5EF4-FFF2-40B4-BE49-F238E27FC236}">
                <a16:creationId xmlns:a16="http://schemas.microsoft.com/office/drawing/2014/main" id="{54574065-353C-4B90-AA90-B6C2CF28BDAA}"/>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40C3CABE-E1F4-485D-AC41-3F33EE39CB02}"/>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Sort is supported or reduced</a:t>
            </a:r>
          </a:p>
        </p:txBody>
      </p:sp>
      <p:sp>
        <p:nvSpPr>
          <p:cNvPr id="19" name="">
            <a:extLst xmlns:a="http://schemas.openxmlformats.org/drawingml/2006/main">
              <a:ext uri="{FF2B5EF4-FFF2-40B4-BE49-F238E27FC236}">
                <a16:creationId xmlns:a16="http://schemas.microsoft.com/office/drawing/2014/main" id="{65AA5945-BEF4-4BF8-AFB3-C44CD455A643}"/>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A3F254AD-E837-48E3-832F-49C6A37914AB}"/>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Keys/documents examined and result correctness are compared</a:t>
            </a:r>
          </a:p>
        </p:txBody>
      </p:sp>
    </p:spTree>
    <p:extLst>
      <p:ext uri="{BB962C8B-B14F-4D97-AF65-F5344CB8AC3E}">
        <p14:creationId xmlns:p14="http://schemas.microsoft.com/office/powerpoint/2010/main" val="1080683872"/>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7E2F965-9DE3-4E14-867C-7583024418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05AB81FA-5D54-4818-AC1B-54105A7F0BA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11  /  CST4714</a:t>
            </a:r>
          </a:p>
        </p:txBody>
      </p:sp>
      <p:sp>
        <p:nvSpPr>
          <p:cNvPr id="3" name="slide-title">
            <a:extLst xmlns:a="http://schemas.openxmlformats.org/drawingml/2006/main">
              <a:ext uri="{FF2B5EF4-FFF2-40B4-BE49-F238E27FC236}">
                <a16:creationId xmlns:a16="http://schemas.microsoft.com/office/drawing/2014/main" id="{627CE7F3-BEBB-4951-B4EA-1CF826AE54FF}"/>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2: Sort performance and case-study response</a:t>
            </a:r>
          </a:p>
        </p:txBody>
      </p:sp>
      <p:sp>
        <p:nvSpPr>
          <p:cNvPr id="4" name="">
            <a:extLst xmlns:a="http://schemas.openxmlformats.org/drawingml/2006/main">
              <a:ext uri="{FF2B5EF4-FFF2-40B4-BE49-F238E27FC236}">
                <a16:creationId xmlns:a16="http://schemas.microsoft.com/office/drawing/2014/main" id="{1794EAB9-52EC-450F-A14D-CECA45B3DC9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5DE3630-8851-4329-9684-91E2212C2959}"/>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13</a:t>
            </a:r>
          </a:p>
        </p:txBody>
      </p:sp>
      <p:sp>
        <p:nvSpPr>
          <p:cNvPr id="6" name="">
            <a:extLst xmlns:a="http://schemas.openxmlformats.org/drawingml/2006/main">
              <a:ext uri="{FF2B5EF4-FFF2-40B4-BE49-F238E27FC236}">
                <a16:creationId xmlns:a16="http://schemas.microsoft.com/office/drawing/2014/main" id="{C0A50954-A3DD-4C0D-8A4B-FBD7A42DE526}"/>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Complete the distinct sort-stage lab, then connect the index decision to an event-driven inventory case.</a:t>
            </a:r>
          </a:p>
        </p:txBody>
      </p:sp>
      <p:sp>
        <p:nvSpPr>
          <p:cNvPr id="7" name="">
            <a:extLst xmlns:a="http://schemas.openxmlformats.org/drawingml/2006/main">
              <a:ext uri="{FF2B5EF4-FFF2-40B4-BE49-F238E27FC236}">
                <a16:creationId xmlns:a16="http://schemas.microsoft.com/office/drawing/2014/main" id="{D7D17E3F-77CE-4AE7-8B9C-C954D0ABA3DB}"/>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8" name="">
            <a:extLst xmlns:a="http://schemas.openxmlformats.org/drawingml/2006/main">
              <a:ext uri="{FF2B5EF4-FFF2-40B4-BE49-F238E27FC236}">
                <a16:creationId xmlns:a16="http://schemas.microsoft.com/office/drawing/2014/main" id="{A960E444-1CC1-47B6-9468-6262C4A5B059}"/>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Complete Improving Performance of Sort Stages - Lab Only individually and capture redacted score evidence.</a:t>
            </a:r>
          </a:p>
        </p:txBody>
      </p:sp>
      <p:sp>
        <p:nvSpPr>
          <p:cNvPr id="9" name="">
            <a:extLst xmlns:a="http://schemas.openxmlformats.org/drawingml/2006/main">
              <a:ext uri="{FF2B5EF4-FFF2-40B4-BE49-F238E27FC236}">
                <a16:creationId xmlns:a16="http://schemas.microsoft.com/office/drawing/2014/main" id="{181DCE41-B454-4527-B3DE-D9CD0492499C}"/>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4E4383D3-CA36-40AE-9515-4CCA8CCDC74F}"/>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State the filter, sort, index mechanism, and one write/storage tradeoff in your own words.</a:t>
            </a:r>
          </a:p>
        </p:txBody>
      </p:sp>
      <p:sp>
        <p:nvSpPr>
          <p:cNvPr id="11" name="">
            <a:extLst xmlns:a="http://schemas.openxmlformats.org/drawingml/2006/main">
              <a:ext uri="{FF2B5EF4-FFF2-40B4-BE49-F238E27FC236}">
                <a16:creationId xmlns:a16="http://schemas.microsoft.com/office/drawing/2014/main" id="{BBBA9B2A-5F03-445C-AF64-837595EEACF9}"/>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10D9FE92-84C3-4C2A-B965-0E1470712066}"/>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Write the case response as 200–300 words of Brightspace text using claim, evidence, and tradeoff.</a:t>
            </a:r>
          </a:p>
        </p:txBody>
      </p:sp>
      <p:sp>
        <p:nvSpPr>
          <p:cNvPr id="13" name="">
            <a:extLst xmlns:a="http://schemas.openxmlformats.org/drawingml/2006/main">
              <a:ext uri="{FF2B5EF4-FFF2-40B4-BE49-F238E27FC236}">
                <a16:creationId xmlns:a16="http://schemas.microsoft.com/office/drawing/2014/main" id="{DDF31E9E-0DEE-41E2-9E83-E12EFFD36E11}"/>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sp>
      <p:sp>
        <p:nvSpPr>
          <p:cNvPr id="14" name="">
            <a:extLst xmlns:a="http://schemas.openxmlformats.org/drawingml/2006/main">
              <a:ext uri="{FF2B5EF4-FFF2-40B4-BE49-F238E27FC236}">
                <a16:creationId xmlns:a16="http://schemas.microsoft.com/office/drawing/2014/main" id="{E186EAF5-CA20-4F27-8E36-DE3FBAFD2F19}"/>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Brightspace text response with redacted completion evidence</a:t>
            </a:r>
          </a:p>
        </p:txBody>
      </p:sp>
    </p:spTree>
    <p:extLst>
      <p:ext uri="{BB962C8B-B14F-4D97-AF65-F5344CB8AC3E}">
        <p14:creationId xmlns:p14="http://schemas.microsoft.com/office/powerpoint/2010/main" val="983038938"/>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A410A20-5FFA-4693-9516-F7A110A23F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C6023F7-5A0F-46E4-BE94-8AE0B92C8F6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11  /  CST4714</a:t>
            </a:r>
          </a:p>
        </p:txBody>
      </p:sp>
      <p:sp>
        <p:nvSpPr>
          <p:cNvPr id="3" name="slide-title">
            <a:extLst xmlns:a="http://schemas.openxmlformats.org/drawingml/2006/main">
              <a:ext uri="{FF2B5EF4-FFF2-40B4-BE49-F238E27FC236}">
                <a16:creationId xmlns:a16="http://schemas.microsoft.com/office/drawing/2014/main" id="{EA581FD5-C790-4DBE-885C-134BA3BCFB7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career response makes a technical decision visible</a:t>
            </a:r>
          </a:p>
        </p:txBody>
      </p:sp>
      <p:sp>
        <p:nvSpPr>
          <p:cNvPr id="4" name="">
            <a:extLst xmlns:a="http://schemas.openxmlformats.org/drawingml/2006/main">
              <a:ext uri="{FF2B5EF4-FFF2-40B4-BE49-F238E27FC236}">
                <a16:creationId xmlns:a16="http://schemas.microsoft.com/office/drawing/2014/main" id="{0E6C73AC-480D-4380-849A-2EF0100A528A}"/>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BE8EDDD-5434-478F-AA8E-823AE2BAC2B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14</a:t>
            </a:r>
          </a:p>
        </p:txBody>
      </p:sp>
      <p:sp>
        <p:nvSpPr>
          <p:cNvPr id="6" name="">
            <a:extLst xmlns:a="http://schemas.openxmlformats.org/drawingml/2006/main">
              <a:ext uri="{FF2B5EF4-FFF2-40B4-BE49-F238E27FC236}">
                <a16:creationId xmlns:a16="http://schemas.microsoft.com/office/drawing/2014/main" id="{DBD0BAB9-EFEB-477D-A668-739ACA4A967F}"/>
              </a:ext>
            </a:extLst>
          </p:cNvPr>
          <p:cNvSpPr>
            <a:spLocks xmlns:a="http://schemas.openxmlformats.org/drawingml/2006/main" noGrp="1"/>
          </p:cNvSpPr>
          <p:nvPr/>
        </p:nvSpPr>
        <p:spPr>
          <a:xfrm xmlns:a="http://schemas.openxmlformats.org/drawingml/2006/main">
            <a:off x="800100" y="1733550"/>
            <a:ext cx="361950" cy="361950"/>
          </a:xfrm>
          <a:prstGeom xmlns:a="http://schemas.openxmlformats.org/drawingml/2006/main" prst="ellipse">
            <a:avLst/>
          </a:prstGeom>
          <a:solidFill xmlns:a="http://schemas.openxmlformats.org/drawingml/2006/main">
            <a:srgbClr val="1D4ED8"/>
          </a:solidFill>
          <a:ln xmlns:a="http://schemas.openxmlformats.org/drawingml/2006/main" w="19050">
            <a:solidFill>
              <a:srgbClr val="1D4ED8"/>
            </a:solidFill>
            <a:prstDash val="solid"/>
          </a:ln>
        </p:spPr>
      </p:sp>
      <p:sp>
        <p:nvSpPr>
          <p:cNvPr id="7" name="">
            <a:extLst xmlns:a="http://schemas.openxmlformats.org/drawingml/2006/main">
              <a:ext uri="{FF2B5EF4-FFF2-40B4-BE49-F238E27FC236}">
                <a16:creationId xmlns:a16="http://schemas.microsoft.com/office/drawing/2014/main" id="{5095082E-1F0F-459F-A72B-C556DC49813B}"/>
              </a:ext>
            </a:extLst>
          </p:cNvPr>
          <p:cNvSpPr>
            <a:spLocks xmlns:a="http://schemas.openxmlformats.org/drawingml/2006/main" noGrp="1"/>
          </p:cNvSpPr>
          <p:nvPr/>
        </p:nvSpPr>
        <p:spPr>
          <a:xfrm xmlns:a="http://schemas.openxmlformats.org/drawingml/2006/main">
            <a:off x="838200" y="17907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D30E1D99-8994-4018-9A54-12F9D9371D68}"/>
              </a:ext>
            </a:extLst>
          </p:cNvPr>
          <p:cNvSpPr>
            <a:spLocks xmlns:a="http://schemas.openxmlformats.org/drawingml/2006/main" noGrp="1"/>
          </p:cNvSpPr>
          <p:nvPr/>
        </p:nvSpPr>
        <p:spPr>
          <a:xfrm xmlns:a="http://schemas.openxmlformats.org/drawingml/2006/main">
            <a:off x="1390650" y="16954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Claim: state the design or operations decision directly rather than summarizing the video.</a:t>
            </a:r>
          </a:p>
        </p:txBody>
      </p:sp>
      <p:sp>
        <p:nvSpPr>
          <p:cNvPr id="9" name="">
            <a:extLst xmlns:a="http://schemas.openxmlformats.org/drawingml/2006/main">
              <a:ext uri="{FF2B5EF4-FFF2-40B4-BE49-F238E27FC236}">
                <a16:creationId xmlns:a16="http://schemas.microsoft.com/office/drawing/2014/main" id="{E6585525-F64A-432C-B9E5-CD54D11FC42E}"/>
              </a:ext>
            </a:extLst>
          </p:cNvPr>
          <p:cNvSpPr>
            <a:spLocks xmlns:a="http://schemas.openxmlformats.org/drawingml/2006/main" noGrp="1"/>
          </p:cNvSpPr>
          <p:nvPr/>
        </p:nvSpPr>
        <p:spPr>
          <a:xfrm xmlns:a="http://schemas.openxmlformats.org/drawingml/2006/main">
            <a:off x="1390650" y="23812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0083AE3C-272F-4706-9B34-F4D1411F62A2}"/>
              </a:ext>
            </a:extLst>
          </p:cNvPr>
          <p:cNvSpPr>
            <a:spLocks xmlns:a="http://schemas.openxmlformats.org/drawingml/2006/main" noGrp="1"/>
          </p:cNvSpPr>
          <p:nvPr/>
        </p:nvSpPr>
        <p:spPr>
          <a:xfrm xmlns:a="http://schemas.openxmlformats.org/drawingml/2006/main">
            <a:off x="800100" y="26289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D4ED8"/>
            </a:solidFill>
            <a:prstDash val="solid"/>
          </a:ln>
        </p:spPr>
      </p:sp>
      <p:sp>
        <p:nvSpPr>
          <p:cNvPr id="11" name="">
            <a:extLst xmlns:a="http://schemas.openxmlformats.org/drawingml/2006/main">
              <a:ext uri="{FF2B5EF4-FFF2-40B4-BE49-F238E27FC236}">
                <a16:creationId xmlns:a16="http://schemas.microsoft.com/office/drawing/2014/main" id="{D7118E97-9863-4C8E-B70B-62091B7D8702}"/>
              </a:ext>
            </a:extLst>
          </p:cNvPr>
          <p:cNvSpPr>
            <a:spLocks xmlns:a="http://schemas.openxmlformats.org/drawingml/2006/main" noGrp="1"/>
          </p:cNvSpPr>
          <p:nvPr/>
        </p:nvSpPr>
        <p:spPr>
          <a:xfrm xmlns:a="http://schemas.openxmlformats.org/drawingml/2006/main">
            <a:off x="838200" y="26860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D4ED8"/>
                </a:solidFill>
                <a:latin typeface="Helvetica Neue"/>
                <a:ea typeface="Helvetica Neue"/>
                <a:cs typeface="Helvetica Neue"/>
              </a:defRPr>
            </a:pPr>
            <a:r>
              <a:rPr sz="1050" b="1">
                <a:solidFill>
                  <a:srgbClr val="1D4ED8"/>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3757B5EA-C83A-4925-A08B-03EDE13D8161}"/>
              </a:ext>
            </a:extLst>
          </p:cNvPr>
          <p:cNvSpPr>
            <a:spLocks xmlns:a="http://schemas.openxmlformats.org/drawingml/2006/main" noGrp="1"/>
          </p:cNvSpPr>
          <p:nvPr/>
        </p:nvSpPr>
        <p:spPr>
          <a:xfrm xmlns:a="http://schemas.openxmlformats.org/drawingml/2006/main">
            <a:off x="1390650" y="25908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Evidence: cite a concrete workload, pipeline, validation, index, or reliability detail.</a:t>
            </a:r>
          </a:p>
        </p:txBody>
      </p:sp>
      <p:sp>
        <p:nvSpPr>
          <p:cNvPr id="13" name="">
            <a:extLst xmlns:a="http://schemas.openxmlformats.org/drawingml/2006/main">
              <a:ext uri="{FF2B5EF4-FFF2-40B4-BE49-F238E27FC236}">
                <a16:creationId xmlns:a16="http://schemas.microsoft.com/office/drawing/2014/main" id="{454B7F30-D5CD-42C8-BA8C-98D459F951D0}"/>
              </a:ext>
            </a:extLst>
          </p:cNvPr>
          <p:cNvSpPr>
            <a:spLocks xmlns:a="http://schemas.openxmlformats.org/drawingml/2006/main" noGrp="1"/>
          </p:cNvSpPr>
          <p:nvPr/>
        </p:nvSpPr>
        <p:spPr>
          <a:xfrm xmlns:a="http://schemas.openxmlformats.org/drawingml/2006/main">
            <a:off x="1390650" y="32766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B4A778BB-431F-48F5-84A0-6AC04B3533DC}"/>
              </a:ext>
            </a:extLst>
          </p:cNvPr>
          <p:cNvSpPr>
            <a:spLocks xmlns:a="http://schemas.openxmlformats.org/drawingml/2006/main" noGrp="1"/>
          </p:cNvSpPr>
          <p:nvPr/>
        </p:nvSpPr>
        <p:spPr>
          <a:xfrm xmlns:a="http://schemas.openxmlformats.org/drawingml/2006/main">
            <a:off x="800100" y="352425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D4ED8"/>
            </a:solidFill>
            <a:prstDash val="solid"/>
          </a:ln>
        </p:spPr>
      </p:sp>
      <p:sp>
        <p:nvSpPr>
          <p:cNvPr id="15" name="">
            <a:extLst xmlns:a="http://schemas.openxmlformats.org/drawingml/2006/main">
              <a:ext uri="{FF2B5EF4-FFF2-40B4-BE49-F238E27FC236}">
                <a16:creationId xmlns:a16="http://schemas.microsoft.com/office/drawing/2014/main" id="{6C48B07B-E8CA-498E-B604-849E248AF52F}"/>
              </a:ext>
            </a:extLst>
          </p:cNvPr>
          <p:cNvSpPr>
            <a:spLocks xmlns:a="http://schemas.openxmlformats.org/drawingml/2006/main" noGrp="1"/>
          </p:cNvSpPr>
          <p:nvPr/>
        </p:nvSpPr>
        <p:spPr>
          <a:xfrm xmlns:a="http://schemas.openxmlformats.org/drawingml/2006/main">
            <a:off x="838200" y="3581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D4ED8"/>
                </a:solidFill>
                <a:latin typeface="Helvetica Neue"/>
                <a:ea typeface="Helvetica Neue"/>
                <a:cs typeface="Helvetica Neue"/>
              </a:defRPr>
            </a:pPr>
            <a:r>
              <a:rPr sz="1050" b="1">
                <a:solidFill>
                  <a:srgbClr val="1D4ED8"/>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6A71A8DB-4E6F-44D7-A4B6-D893E1BA1669}"/>
              </a:ext>
            </a:extLst>
          </p:cNvPr>
          <p:cNvSpPr>
            <a:spLocks xmlns:a="http://schemas.openxmlformats.org/drawingml/2006/main" noGrp="1"/>
          </p:cNvSpPr>
          <p:nvPr/>
        </p:nvSpPr>
        <p:spPr>
          <a:xfrm xmlns:a="http://schemas.openxmlformats.org/drawingml/2006/main">
            <a:off x="1390650" y="34861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Tradeoff: identify a cost, consistency risk, operational burden, or unanswered measurement.</a:t>
            </a:r>
          </a:p>
        </p:txBody>
      </p:sp>
      <p:sp>
        <p:nvSpPr>
          <p:cNvPr id="17" name="">
            <a:extLst xmlns:a="http://schemas.openxmlformats.org/drawingml/2006/main">
              <a:ext uri="{FF2B5EF4-FFF2-40B4-BE49-F238E27FC236}">
                <a16:creationId xmlns:a16="http://schemas.microsoft.com/office/drawing/2014/main" id="{053B1C8F-1837-43AB-A544-C9BB9EFDE355}"/>
              </a:ext>
            </a:extLst>
          </p:cNvPr>
          <p:cNvSpPr>
            <a:spLocks xmlns:a="http://schemas.openxmlformats.org/drawingml/2006/main" noGrp="1"/>
          </p:cNvSpPr>
          <p:nvPr/>
        </p:nvSpPr>
        <p:spPr>
          <a:xfrm xmlns:a="http://schemas.openxmlformats.org/drawingml/2006/main">
            <a:off x="1390650" y="41719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CDAABB15-C016-458A-823D-1CE993FE217E}"/>
              </a:ext>
            </a:extLst>
          </p:cNvPr>
          <p:cNvSpPr>
            <a:spLocks xmlns:a="http://schemas.openxmlformats.org/drawingml/2006/main" noGrp="1"/>
          </p:cNvSpPr>
          <p:nvPr/>
        </p:nvSpPr>
        <p:spPr>
          <a:xfrm xmlns:a="http://schemas.openxmlformats.org/drawingml/2006/main">
            <a:off x="800100" y="44196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D4ED8"/>
            </a:solidFill>
            <a:prstDash val="solid"/>
          </a:ln>
        </p:spPr>
      </p:sp>
      <p:sp>
        <p:nvSpPr>
          <p:cNvPr id="19" name="">
            <a:extLst xmlns:a="http://schemas.openxmlformats.org/drawingml/2006/main">
              <a:ext uri="{FF2B5EF4-FFF2-40B4-BE49-F238E27FC236}">
                <a16:creationId xmlns:a16="http://schemas.microsoft.com/office/drawing/2014/main" id="{1752B439-5AB3-436B-807D-D092A48A7627}"/>
              </a:ext>
            </a:extLst>
          </p:cNvPr>
          <p:cNvSpPr>
            <a:spLocks xmlns:a="http://schemas.openxmlformats.org/drawingml/2006/main" noGrp="1"/>
          </p:cNvSpPr>
          <p:nvPr/>
        </p:nvSpPr>
        <p:spPr>
          <a:xfrm xmlns:a="http://schemas.openxmlformats.org/drawingml/2006/main">
            <a:off x="838200" y="4476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D4ED8"/>
                </a:solidFill>
                <a:latin typeface="Helvetica Neue"/>
                <a:ea typeface="Helvetica Neue"/>
                <a:cs typeface="Helvetica Neue"/>
              </a:defRPr>
            </a:pPr>
            <a:r>
              <a:rPr sz="1050" b="1">
                <a:solidFill>
                  <a:srgbClr val="1D4ED8"/>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1306F12E-F9AF-4F11-9F12-AA4CE78FBFE4}"/>
              </a:ext>
            </a:extLst>
          </p:cNvPr>
          <p:cNvSpPr>
            <a:spLocks xmlns:a="http://schemas.openxmlformats.org/drawingml/2006/main" noGrp="1"/>
          </p:cNvSpPr>
          <p:nvPr/>
        </p:nvSpPr>
        <p:spPr>
          <a:xfrm xmlns:a="http://schemas.openxmlformats.org/drawingml/2006/main">
            <a:off x="1390650" y="43815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Professional clarity: write concise Brightspace text and avoid unsupported product praise.</a:t>
            </a:r>
          </a:p>
        </p:txBody>
      </p:sp>
      <p:sp>
        <p:nvSpPr>
          <p:cNvPr id="21" name="">
            <a:extLst xmlns:a="http://schemas.openxmlformats.org/drawingml/2006/main">
              <a:ext uri="{FF2B5EF4-FFF2-40B4-BE49-F238E27FC236}">
                <a16:creationId xmlns:a16="http://schemas.microsoft.com/office/drawing/2014/main" id="{4BB6A887-09F7-4BA0-9685-E1929B7B4D0A}"/>
              </a:ext>
            </a:extLst>
          </p:cNvPr>
          <p:cNvSpPr>
            <a:spLocks xmlns:a="http://schemas.openxmlformats.org/drawingml/2006/main" noGrp="1"/>
          </p:cNvSpPr>
          <p:nvPr/>
        </p:nvSpPr>
        <p:spPr>
          <a:xfrm xmlns:a="http://schemas.openxmlformats.org/drawingml/2006/main">
            <a:off x="1390650" y="50673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821359763"/>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D3D8F22-79DA-469C-A4B4-A72B359CB06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E66AE1DB-C4C8-4C24-9A28-723C4B1FCC4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3" name="">
            <a:extLst xmlns:a="http://schemas.openxmlformats.org/drawingml/2006/main">
              <a:ext uri="{FF2B5EF4-FFF2-40B4-BE49-F238E27FC236}">
                <a16:creationId xmlns:a16="http://schemas.microsoft.com/office/drawing/2014/main" id="{72D97D81-3892-4579-A3FB-D13AC0526C9B}"/>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86365"/>
          </a:bodyPr>
          <a:lstStyle xmlns:a="http://schemas.openxmlformats.org/drawingml/2006/main"/>
          <a:p xmlns:a="http://schemas.openxmlformats.org/drawingml/2006/main">
            <a:pPr>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MongoDB operations connect shape, rules, and measured work</a:t>
            </a:r>
          </a:p>
        </p:txBody>
      </p:sp>
      <p:sp>
        <p:nvSpPr>
          <p:cNvPr id="4" name="">
            <a:extLst xmlns:a="http://schemas.openxmlformats.org/drawingml/2006/main">
              <a:ext uri="{FF2B5EF4-FFF2-40B4-BE49-F238E27FC236}">
                <a16:creationId xmlns:a16="http://schemas.microsoft.com/office/drawing/2014/main" id="{4D0C49C0-6CD2-4FCD-B761-19BF07776888}"/>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550" b="1">
                <a:solidFill>
                  <a:srgbClr val="1D4ED8"/>
                </a:solidFill>
                <a:latin typeface="Helvetica Neue"/>
                <a:ea typeface="Helvetica Neue"/>
                <a:cs typeface="Helvetica Neue"/>
              </a:defRPr>
            </a:pPr>
            <a:r>
              <a:rPr sz="2550" b="1">
                <a:solidFill>
                  <a:srgbClr val="1D4ED8"/>
                </a:solidFill>
                <a:latin typeface="Helvetica Neue"/>
                <a:ea typeface="Helvetica Neue"/>
                <a:cs typeface="Helvetica Neue"/>
              </a:rPr>
              <a:t>Track pipeline grain, enforce the document boundary, and justify indexes from explain evidence.</a:t>
            </a:r>
          </a:p>
        </p:txBody>
      </p:sp>
      <p:sp>
        <p:nvSpPr>
          <p:cNvPr id="5" name="">
            <a:extLst xmlns:a="http://schemas.openxmlformats.org/drawingml/2006/main">
              <a:ext uri="{FF2B5EF4-FFF2-40B4-BE49-F238E27FC236}">
                <a16:creationId xmlns:a16="http://schemas.microsoft.com/office/drawing/2014/main" id="{BD0F715F-6F67-4B24-B458-A0FD73051177}"/>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6" name="">
            <a:extLst xmlns:a="http://schemas.openxmlformats.org/drawingml/2006/main">
              <a:ext uri="{FF2B5EF4-FFF2-40B4-BE49-F238E27FC236}">
                <a16:creationId xmlns:a16="http://schemas.microsoft.com/office/drawing/2014/main" id="{DA1C76BA-D948-41BF-99AF-11A365E0058B}"/>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What does one document represent after each stage?</a:t>
            </a:r>
          </a:p>
        </p:txBody>
      </p:sp>
      <p:sp>
        <p:nvSpPr>
          <p:cNvPr id="7" name="">
            <a:extLst xmlns:a="http://schemas.openxmlformats.org/drawingml/2006/main">
              <a:ext uri="{FF2B5EF4-FFF2-40B4-BE49-F238E27FC236}">
                <a16:creationId xmlns:a16="http://schemas.microsoft.com/office/drawing/2014/main" id="{BB241DB0-BE89-43D8-8FFD-E33AFBAB408A}"/>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8" name="">
            <a:extLst xmlns:a="http://schemas.openxmlformats.org/drawingml/2006/main">
              <a:ext uri="{FF2B5EF4-FFF2-40B4-BE49-F238E27FC236}">
                <a16:creationId xmlns:a16="http://schemas.microsoft.com/office/drawing/2014/main" id="{F52DD3C5-11D9-4371-9948-64719D05B43C}"/>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invalid write does validation reject?</a:t>
            </a:r>
          </a:p>
        </p:txBody>
      </p:sp>
      <p:sp>
        <p:nvSpPr>
          <p:cNvPr id="9" name="">
            <a:extLst xmlns:a="http://schemas.openxmlformats.org/drawingml/2006/main">
              <a:ext uri="{FF2B5EF4-FFF2-40B4-BE49-F238E27FC236}">
                <a16:creationId xmlns:a16="http://schemas.microsoft.com/office/drawing/2014/main" id="{8B773FAA-9CDC-46B7-95E7-776CC8D5ECBC}"/>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DB6C304B-BC0E-45AC-B85C-86BCD0397DD2}"/>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filter-and-sort work changed after the index?</a:t>
            </a:r>
          </a:p>
        </p:txBody>
      </p:sp>
      <p:sp>
        <p:nvSpPr>
          <p:cNvPr id="11" name="">
            <a:extLst xmlns:a="http://schemas.openxmlformats.org/drawingml/2006/main">
              <a:ext uri="{FF2B5EF4-FFF2-40B4-BE49-F238E27FC236}">
                <a16:creationId xmlns:a16="http://schemas.microsoft.com/office/drawing/2014/main" id="{E85D347A-5C27-4603-AB60-3C079AD9116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15</a:t>
            </a:r>
          </a:p>
        </p:txBody>
      </p:sp>
    </p:spTree>
    <p:extLst>
      <p:ext uri="{BB962C8B-B14F-4D97-AF65-F5344CB8AC3E}">
        <p14:creationId xmlns:p14="http://schemas.microsoft.com/office/powerpoint/2010/main" val="13836107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Atilio Barreda</dc:creator>
  <lastModifiedBy>Atilio Barreda</lastModifiedBy>
  <dc:title>Week 11: Aggregation, Validation, and MongoDB Index Evidence</dc:title>
  <dcterms:created xsi:type="dcterms:W3CDTF">2026-08-09T04:11:16.1800000Z</dcterms:created>
  <dcterms:modified xsi:type="dcterms:W3CDTF">2026-08-09T00:00:00Z</dcterms:modified>
  <dc:subject>CST 4714 Database Administration</dc:subject>
  <dc:description>Week 11 presentation for Operating Cloud Databases.</dc:description>
  <dc:language>en-US</dc:language>
  <keywords>database administration; PostgreSQL; MongoDB; cloud databases; OER</keywords>
  <category>Open Educational Resource</category>
  <contentStatus>Release Candidate</contentStatus>
</coreProperties>
</file>