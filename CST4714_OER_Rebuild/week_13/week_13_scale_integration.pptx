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a038a178954a18" /><Relationship Type="http://schemas.openxmlformats.org/officeDocument/2006/relationships/extended-properties" Target="/docProps/app.xml" Id="R413e93da75a948ae" /><Relationship Type="http://schemas.openxmlformats.org/officeDocument/2006/relationships/officeDocument" Target="/ppt/presentation.xml" Id="R0066880fd03249c6" /></Relationships>
</file>

<file path=ppt/presentation.xml><?xml version="1.0" encoding="utf-8"?>
<p:presentation xmlns:p="http://schemas.openxmlformats.org/presentationml/2006/main">
  <p:sldMasterIdLst>
    <p:sldMasterId xmlns:r="http://schemas.openxmlformats.org/officeDocument/2006/relationships" id="2147483648" r:id="R1347dff71e5e4c3e"/>
  </p:sldMasterIdLst>
  <p:notesMasterIdLst>
    <p:notesMasterId xmlns:r="http://schemas.openxmlformats.org/officeDocument/2006/relationships" r:id="Rc865659a16a147c4"/>
  </p:notesMasterIdLst>
  <p:sldIdLst>
    <p:sldId xmlns:r="http://schemas.openxmlformats.org/officeDocument/2006/relationships" id="256" r:id="Rbccadf6dc0b747b9"/>
    <p:sldId xmlns:r="http://schemas.openxmlformats.org/officeDocument/2006/relationships" id="257" r:id="R5025115e3b444e48"/>
    <p:sldId xmlns:r="http://schemas.openxmlformats.org/officeDocument/2006/relationships" id="258" r:id="Rb0c8d4f7270c4892"/>
    <p:sldId xmlns:r="http://schemas.openxmlformats.org/officeDocument/2006/relationships" id="259" r:id="R41f8fadeba524288"/>
    <p:sldId xmlns:r="http://schemas.openxmlformats.org/officeDocument/2006/relationships" id="260" r:id="R6dfb98073c5f444b"/>
    <p:sldId xmlns:r="http://schemas.openxmlformats.org/officeDocument/2006/relationships" id="261" r:id="R0097d7666dfb44ac"/>
    <p:sldId xmlns:r="http://schemas.openxmlformats.org/officeDocument/2006/relationships" id="262" r:id="R7b5893b0a2f1461a"/>
    <p:sldId xmlns:r="http://schemas.openxmlformats.org/officeDocument/2006/relationships" id="263" r:id="Rf98b6b1c45d6462a"/>
    <p:sldId xmlns:r="http://schemas.openxmlformats.org/officeDocument/2006/relationships" id="264" r:id="R9c0b84d0af3e4201"/>
    <p:sldId xmlns:r="http://schemas.openxmlformats.org/officeDocument/2006/relationships" id="265" r:id="Rd4fc2ccef74541c0"/>
    <p:sldId xmlns:r="http://schemas.openxmlformats.org/officeDocument/2006/relationships" id="266" r:id="R1cb65bafc61e4292"/>
    <p:sldId xmlns:r="http://schemas.openxmlformats.org/officeDocument/2006/relationships" id="267" r:id="Rbfe9b517699246ab"/>
    <p:sldId xmlns:r="http://schemas.openxmlformats.org/officeDocument/2006/relationships" id="268" r:id="Re9b61a40ceb84f07"/>
    <p:sldId xmlns:r="http://schemas.openxmlformats.org/officeDocument/2006/relationships" id="269" r:id="R706be5b062454c8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28cb03fc454333" /><Relationship Type="http://schemas.openxmlformats.org/officeDocument/2006/relationships/slideMaster" Target="/ppt/slideMasters/slideMaster1.xml" Id="R1347dff71e5e4c3e" /><Relationship Type="http://schemas.openxmlformats.org/officeDocument/2006/relationships/notesMaster" Target="/ppt/notesMasters/notesMaster1.xml" Id="Rc865659a16a147c4" /><Relationship Type="http://schemas.openxmlformats.org/officeDocument/2006/relationships/presProps" Target="/ppt/presProps.xml" Id="R8a6c2489dd7d4789" /><Relationship Type="http://schemas.openxmlformats.org/officeDocument/2006/relationships/tableStyles" Target="/ppt/tableStyles.xml" Id="R61d8ad35e400411d" /><Relationship Type="http://schemas.openxmlformats.org/officeDocument/2006/relationships/slide" Target="/ppt/slides/slide1.xml" Id="Rbccadf6dc0b747b9" /><Relationship Type="http://schemas.openxmlformats.org/officeDocument/2006/relationships/slide" Target="/ppt/slides/slide2.xml" Id="R5025115e3b444e48" /><Relationship Type="http://schemas.openxmlformats.org/officeDocument/2006/relationships/slide" Target="/ppt/slides/slide3.xml" Id="Rb0c8d4f7270c4892" /><Relationship Type="http://schemas.openxmlformats.org/officeDocument/2006/relationships/slide" Target="/ppt/slides/slide4.xml" Id="R41f8fadeba524288" /><Relationship Type="http://schemas.openxmlformats.org/officeDocument/2006/relationships/slide" Target="/ppt/slides/slide5.xml" Id="R6dfb98073c5f444b" /><Relationship Type="http://schemas.openxmlformats.org/officeDocument/2006/relationships/slide" Target="/ppt/slides/slide6.xml" Id="R0097d7666dfb44ac" /><Relationship Type="http://schemas.openxmlformats.org/officeDocument/2006/relationships/slide" Target="/ppt/slides/slide7.xml" Id="R7b5893b0a2f1461a" /><Relationship Type="http://schemas.openxmlformats.org/officeDocument/2006/relationships/slide" Target="/ppt/slides/slide8.xml" Id="Rf98b6b1c45d6462a" /><Relationship Type="http://schemas.openxmlformats.org/officeDocument/2006/relationships/slide" Target="/ppt/slides/slide9.xml" Id="R9c0b84d0af3e4201" /><Relationship Type="http://schemas.openxmlformats.org/officeDocument/2006/relationships/slide" Target="/ppt/slides/slide10.xml" Id="Rd4fc2ccef74541c0" /><Relationship Type="http://schemas.openxmlformats.org/officeDocument/2006/relationships/slide" Target="/ppt/slides/slide11.xml" Id="R1cb65bafc61e4292" /><Relationship Type="http://schemas.openxmlformats.org/officeDocument/2006/relationships/slide" Target="/ppt/slides/slide12.xml" Id="Rbfe9b517699246ab" /><Relationship Type="http://schemas.openxmlformats.org/officeDocument/2006/relationships/slide" Target="/ppt/slides/slide13.xml" Id="Re9b61a40ceb84f07" /><Relationship Type="http://schemas.openxmlformats.org/officeDocument/2006/relationships/slide" Target="/ppt/slides/slide14.xml" Id="R706be5b062454c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66d41635df49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181955dc94ae9" /><Relationship Type="http://schemas.openxmlformats.org/officeDocument/2006/relationships/notesMaster" Target="/ppt/notesMasters/notesMaster1.xml" Id="Ra601dd17c0534c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8606c153d641a0" /><Relationship Type="http://schemas.openxmlformats.org/officeDocument/2006/relationships/notesMaster" Target="/ppt/notesMasters/notesMaster1.xml" Id="Ra863753a8f334d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66944f743e464c" /><Relationship Type="http://schemas.openxmlformats.org/officeDocument/2006/relationships/notesMaster" Target="/ppt/notesMasters/notesMaster1.xml" Id="Rb356a1d2e3c14c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c2d4ff2bc84284" /><Relationship Type="http://schemas.openxmlformats.org/officeDocument/2006/relationships/notesMaster" Target="/ppt/notesMasters/notesMaster1.xml" Id="Rc54f3a23c1d14f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a7b59312184daf" /><Relationship Type="http://schemas.openxmlformats.org/officeDocument/2006/relationships/notesMaster" Target="/ppt/notesMasters/notesMaster1.xml" Id="Ra5f7db7aeb7a47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a4a30d1b1842dd" /><Relationship Type="http://schemas.openxmlformats.org/officeDocument/2006/relationships/notesMaster" Target="/ppt/notesMasters/notesMaster1.xml" Id="Rd9f05c0296204d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3e090f82614304" /><Relationship Type="http://schemas.openxmlformats.org/officeDocument/2006/relationships/notesMaster" Target="/ppt/notesMasters/notesMaster1.xml" Id="R0a8f5a65a11f4f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56fe51e63240fb" /><Relationship Type="http://schemas.openxmlformats.org/officeDocument/2006/relationships/notesMaster" Target="/ppt/notesMasters/notesMaster1.xml" Id="R2578fd630bcd41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67bfbdff6041c2" /><Relationship Type="http://schemas.openxmlformats.org/officeDocument/2006/relationships/notesMaster" Target="/ppt/notesMasters/notesMaster1.xml" Id="R27e8b0d7cef849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5edb128732438c" /><Relationship Type="http://schemas.openxmlformats.org/officeDocument/2006/relationships/notesMaster" Target="/ppt/notesMasters/notesMaster1.xml" Id="R122bb8c8232448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7324b17b19495d" /><Relationship Type="http://schemas.openxmlformats.org/officeDocument/2006/relationships/notesMaster" Target="/ppt/notesMasters/notesMaster1.xml" Id="R4b890cfe943e41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5106464b3e44a2" /><Relationship Type="http://schemas.openxmlformats.org/officeDocument/2006/relationships/notesMaster" Target="/ppt/notesMasters/notesMaster1.xml" Id="R16443e3c0de94f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0cbf3734034a78" /><Relationship Type="http://schemas.openxmlformats.org/officeDocument/2006/relationships/notesMaster" Target="/ppt/notesMasters/notesMaster1.xml" Id="R137f6bf2f85e41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0dff9f817d4a12" /><Relationship Type="http://schemas.openxmlformats.org/officeDocument/2006/relationships/notesMaster" Target="/ppt/notesMasters/notesMaster1.xml" Id="Rc45f0d58333045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connects two skills that often appear separately: reasoning about scale and writing a small client that moves real data safely. Scale is not a yes-or-no property of a database. It is a relationship among workload, data volume, latency, throughput, growth, cost, and operating complexity.</a:t>
            </a:r>
          </a:p>
          <a:p xmlns:a="http://schemas.openxmlformats.org/drawingml/2006/main">
            <a:r>
              <a:t/>
            </a:r>
          </a:p>
          <a:p xmlns:a="http://schemas.openxmlformats.org/drawingml/2006/main">
            <a:r>
              <a:t>We will compare tuning, vertical scaling, replication, partitioning, and sharding. We will evaluate candidate shard keys without pretending that a free Atlas deployment is a sharded cluster. Then a Python notebook will inspect a small public cybersecurity dataset, test distribution assumptions, load one chosen platform or the offline path, and verify more than an insert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claim such as ‘MongoDB scales’ or ‘PostgreSQL will be too slow’ has no usable scope. Begin with quantities. How many records exist now? How large is the working set and each important index? Which query shapes dominate? What are average and peak reads and writes? Which latency and error objectives matter to users?</a:t>
            </a:r>
          </a:p>
          <a:p xmlns:a="http://schemas.openxmlformats.org/drawingml/2006/main">
            <a:r>
              <a:t/>
            </a:r>
          </a:p>
          <a:p xmlns:a="http://schemas.openxmlformats.org/drawingml/2006/main">
            <a:r>
              <a:t>Then add a time horizon. A beginner project does not need fabricated enterprise traffic. It can state a small present workload, one plausible growth scenario, and one trigger for reevaluation. For example: if the newest-open-ticket query exceeds a measured latency objective at ten times the current fixture, inspect its plan and working set before adding 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step is measurement, not architecture. A slow request may be scanning unnecessary rows, sorting without support, returning too much data, or waiting on another transaction. Adding nodes does not remove those causes and can make them harder to observe.</a:t>
            </a:r>
          </a:p>
          <a:p xmlns:a="http://schemas.openxmlformats.org/drawingml/2006/main">
            <a:r>
              <a:t/>
            </a:r>
          </a:p>
          <a:p xmlns:a="http://schemas.openxmlformats.org/drawingml/2006/main">
            <a:r>
              <a:t>After removing waste, vertical scaling may be the simplest next step when the workload still fits one database node or tier. Caching and read replicas can serve selected reads, but they add freshness and invalidation decisions. Partitioning or sharding distributes data and work, while also adding routing, rebalancing, network failure, cross-partition coordination, backup, and monitoring obligations.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places copies of the logical dataset on multiple members. It supports availability and can support selected read routing under explicit consistency tradeoffs. Each data-bearing member still stores the replica-set data rather than owning only one disjoint part of a sharded collection.</a:t>
            </a:r>
          </a:p>
          <a:p xmlns:a="http://schemas.openxmlformats.org/drawingml/2006/main">
            <a:r>
              <a:t/>
            </a:r>
          </a:p>
          <a:p xmlns:a="http://schemas.openxmlformats.org/drawingml/2006/main">
            <a:r>
              <a:t>Sharding divides a collection's shard-key ranges across shards. Each shard is normally itself a replica set, so a production sharded architecture combines distribution and replication. Atlas Free gives us a replica-set environment but does not let us create a sharded cluster. We will analyze and simulate distribution rather than claiming experience with a paid deployment we did not 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Applications connect through `mongos`, a query router. The router consults cluster metadata maintained by the config server replica set. It uses shard-key ranges to target one shard, a limited shard set, or every relevant shard, then merges results when necessary.</a:t>
            </a:r>
          </a:p>
          <a:p xmlns:a="http://schemas.openxmlformats.org/drawingml/2006/main">
            <a:r>
              <a:t/>
            </a:r>
          </a:p>
          <a:p xmlns:a="http://schemas.openxmlformats.org/drawingml/2006/main">
            <a:r>
              <a:t>Each shard stores part of the collection and is normally a replica set for availability. Chunks or ranges can move as the cluster balances distribution. This architecture creates durable operating obligations: routing health, metadata health, balancing, cross-shard operations, recovery order, and cost. The shard key is central because it controls both where documents live and which queries can avoid broad scatter-gather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Cardinality asks how many distinct values exist. A Boolean field or a five-value status field cannot create many independent ranges by itself. Frequency asks how evenly the values and traffic are distributed. A field can have millions of values while one tenant or category still dominates the workload.</a:t>
            </a:r>
          </a:p>
          <a:p xmlns:a="http://schemas.openxmlformats.org/drawingml/2006/main">
            <a:r>
              <a:t/>
            </a:r>
          </a:p>
          <a:p xmlns:a="http://schemas.openxmlformats.org/drawingml/2006/main">
            <a:r>
              <a:t>Monotonicity asks whether new values continually increase or decrease. Range sharding on a timestamp or sequence can send new writes toward the range containing the current extreme. Targeting asks whether common queries include the shard key. A query missing the needed key prefix may be broadcast. A good candidate balances distribution and targeting; high cardinality alone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Ranged sharding preserves order. Nearby shard-key values stay in nearby ranges, so a bounded range query can be routed efficiently when it contains the key. The same locality can create hotspots when a key is monotonic or one range receives disproportionate traffic.</a:t>
            </a:r>
          </a:p>
          <a:p xmlns:a="http://schemas.openxmlformats.org/drawingml/2006/main">
            <a:r>
              <a:t/>
            </a:r>
          </a:p>
          <a:p xmlns:a="http://schemas.openxmlformats.org/drawingml/2006/main">
            <a:r>
              <a:t>Hashed sharding transforms the value for distribution. It can spread sequential identifiers more evenly, but a range query on the original value no longer maps to one contiguous hash range. That query may contact many shards. The choice follows real query and write patterns. Even distribution is not sufficient when every important query becomes scatter-gather.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CISA Known Exploited Vulnerabilities subset gives us concrete fields to examine. Status-like fields have low cardinality. Date added has many values and can support time questions, but new records arrive at the newest end. A hashed vulnerability identifier may distribute documents well and target exact lookups, while vendor or time questions can scatter.</a:t>
            </a:r>
          </a:p>
          <a:p xmlns:a="http://schemas.openxmlformats.org/drawingml/2006/main">
            <a:r>
              <a:t/>
            </a:r>
          </a:p>
          <a:p xmlns:a="http://schemas.openxmlformats.org/drawingml/2006/main">
            <a:r>
              <a:t>A compound candidate beginning with vendor or project may serve vendor-oriented questions, but real frequency matters because a few vendors can dominate. This table does not select a production key. It identifies measurements, query patterns, and risks. Recommending not to shard yet is valid when the dataset and workload do not justify the added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individually in the Week 13 notebook. Begin with the bundled, versioned CISA sample so the class has a reliable offline path. If the current public feed is available, compare its retrieval date and structure before using it. Record source, terms, selected fields, nulls, duplicate vulnerability identifiers, date conversion, and one question the subset can answer.</a:t>
            </a:r>
          </a:p>
          <a:p xmlns:a="http://schemas.openxmlformats.org/drawingml/2006/main">
            <a:r>
              <a:t/>
            </a:r>
          </a:p>
          <a:p xmlns:a="http://schemas.openxmlformats.org/drawingml/2006/main">
            <a:r>
              <a:t>Then evaluate each candidate key from actual measurements. Run the deterministic range and hash simulations and explain what the bucket counts do and do not model. Recommend one candidate or recommend not sharding yet. The goal is a defensible decision based on this workload, not a claim that a simulated bucket is a real sharded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two uses a small Python client to make data integration visible. Large helper libraries can hide the exact connection, transformation, write, and verification steps that beginners need to understand. The notebook keeps those steps direct and heavily explained.</a:t>
            </a:r>
          </a:p>
          <a:p xmlns:a="http://schemas.openxmlformats.org/drawingml/2006/main">
            <a:r>
              <a:t/>
            </a:r>
          </a:p>
          <a:p xmlns:a="http://schemas.openxmlformats.org/drawingml/2006/main">
            <a:r>
              <a:t>You may choose Atlas, Supabase or PostgreSQL, both for an explicitly different experiment, or the complete offline SQLite path. The learning outcome is not a successful cloud screenshot. It is the ability to explain how the client authenticated, how source fields became database values, how reruns avoid duplication, and which checks support the import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Atlas, the URI describes topology discovery, TLS, authentication, and options. Enter it at runtime through the hidden prompt, then ping before any write. Do not add `tlsInsecure=True` as a routine fix because that disables certificate validation and can conceal the real problem. Check the URI, driver, system time, DNS, Atlas network access, and current supported TLS path.</a:t>
            </a:r>
          </a:p>
          <a:p xmlns:a="http://schemas.openxmlformats.org/drawingml/2006/main">
            <a:r>
              <a:t/>
            </a:r>
          </a:p>
          <a:p xmlns:a="http://schemas.openxmlformats.org/drawingml/2006/main">
            <a:r>
              <a:t>For PostgreSQL or Supabase, the connection URL identifies host, port, database, role, TLS behavior, and often a connection mode. If a Colab environment cannot reach a direct IPv6 address, use the provider's current IPv4-compatible pooler URI instead of changing SQL code randomly. In both systems, stable keys and upsert behavior make a rerun deliberate rather than duplicative.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before loading. Record the source and data-use terms, understand the fields, measure size, identify nulls and duplicates, and choose a small subset tied to an answerable question. Transform explicitly so dates, missing values, and field names do not change by accident.</a:t>
            </a:r>
          </a:p>
          <a:p xmlns:a="http://schemas.openxmlformats.org/drawingml/2006/main">
            <a:r>
              <a:t/>
            </a:r>
          </a:p>
          <a:p xmlns:a="http://schemas.openxmlformats.org/drawingml/2006/main">
            <a:r>
              <a:t>Connect at runtime, test the connection, and identify the exact disposable target. Write a small idempotent batch using a stable vulnerability identifier. Verification should compare expected and observed counts, retrieve one known identifier, inspect representative types, and answer one grouped question. These checks support scope, but they do not prove that every source value, permission, or future rerun is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notebook individually. Choose one platform path that you can operate safely today. Cloud credentials belong only in the hidden runtime prompt. The offline SQLite path is a complete evidence path when cloud access is blocked, not a lesser blank fallback. If you choose both cloud systems, each must have a distinct ownership or modeling purpose rather than duplicating rows for appearance.</a:t>
            </a:r>
          </a:p>
          <a:p xmlns:a="http://schemas.openxmlformats.org/drawingml/2006/main">
            <a:r>
              <a:t/>
            </a:r>
          </a:p>
          <a:p xmlns:a="http://schemas.openxmlformats.org/drawingml/2006/main">
            <a:r>
              <a:t>Load records idempotently by vulnerability identifier. Verify expected and observed count, one known identifier, representative types, and one grouped question. Explain what those checks do not prove. Finish the notebook's short final-project checkpoint without redefining the final assignment, then confirm that no URI, password, key, token, private host, or output containing one remains.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replaced the vague question ‘does it scale?’ with measurable workload, objective, and growth assumptions. We compared query and model improvement, vertical scaling, replication, partitioning, and sharding. A shard key must balance cardinality, frequency, monotonicity, and query targeting; even distribution alone does not guarantee efficient access.</a:t>
            </a:r>
          </a:p>
          <a:p xmlns:a="http://schemas.openxmlformats.org/drawingml/2006/main">
            <a:r>
              <a:t/>
            </a:r>
          </a:p>
          <a:p xmlns:a="http://schemas.openxmlformats.org/drawingml/2006/main">
            <a:r>
              <a:t>The Python notebook made the client contract visible across source inspection, credential-safe connection, explicit transformation, idempotent write, and multi-part verification. Scaling also scales credentials, metrics, backups, failure combinations, and cost. Next week we will examine those obligations when one application uses more than one database and a derived copy becomes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a4a3301a441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2200e3a104473f" /><Relationship Type="http://schemas.openxmlformats.org/officeDocument/2006/relationships/slideLayout" Target="/ppt/slideLayouts/slideLayout1.xml" Id="Rb6f2123a4df440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f2123a4df440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dcef8bf10847f4" /><Relationship Type="http://schemas.openxmlformats.org/officeDocument/2006/relationships/notesSlide" Target="/ppt/notesSlides/notesSlide1.xml" Id="Rcb945340d1fd45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eb661343f04f85" /><Relationship Type="http://schemas.openxmlformats.org/officeDocument/2006/relationships/notesSlide" Target="/ppt/notesSlides/notesSlide2.xml" Id="R0b83cdc6846d42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c56913329b4a89" /><Relationship Type="http://schemas.openxmlformats.org/officeDocument/2006/relationships/notesSlide" Target="/ppt/notesSlides/notesSlide3.xml" Id="R87364b18cee24d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ce8343099a4366" /><Relationship Type="http://schemas.openxmlformats.org/officeDocument/2006/relationships/notesSlide" Target="/ppt/notesSlides/notesSlide4.xml" Id="R997184e3ffc349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276da8044647b2" /><Relationship Type="http://schemas.openxmlformats.org/officeDocument/2006/relationships/notesSlide" Target="/ppt/notesSlides/notesSlide5.xml" Id="R393d4c68b8e049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78a49294dc4f43" /><Relationship Type="http://schemas.openxmlformats.org/officeDocument/2006/relationships/notesSlide" Target="/ppt/notesSlides/notesSlide6.xml" Id="Rb60833e2a59f42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f9c4d2a2034b61" /><Relationship Type="http://schemas.openxmlformats.org/officeDocument/2006/relationships/notesSlide" Target="/ppt/notesSlides/notesSlide7.xml" Id="R8c64e85f681248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2da9c0e8334f34" /><Relationship Type="http://schemas.openxmlformats.org/officeDocument/2006/relationships/notesSlide" Target="/ppt/notesSlides/notesSlide8.xml" Id="R58381a8f737644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09501f00e3487d" /><Relationship Type="http://schemas.openxmlformats.org/officeDocument/2006/relationships/notesSlide" Target="/ppt/notesSlides/notesSlide9.xml" Id="Rf2c67837907243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f6f15e1b214421" /><Relationship Type="http://schemas.openxmlformats.org/officeDocument/2006/relationships/notesSlide" Target="/ppt/notesSlides/notesSlide10.xml" Id="R10ade4c040ea47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192d529c2846a6" /><Relationship Type="http://schemas.openxmlformats.org/officeDocument/2006/relationships/notesSlide" Target="/ppt/notesSlides/notesSlide11.xml" Id="Ra93b12386bf842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dfd6d99b7b4ec6" /><Relationship Type="http://schemas.openxmlformats.org/officeDocument/2006/relationships/notesSlide" Target="/ppt/notesSlides/notesSlide12.xml" Id="R0a4553f3af9746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9e1e685d264451" /><Relationship Type="http://schemas.openxmlformats.org/officeDocument/2006/relationships/notesSlide" Target="/ppt/notesSlides/notesSlide13.xml" Id="R43599ee3cf374c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1bc624facd40be" /><Relationship Type="http://schemas.openxmlformats.org/officeDocument/2006/relationships/notesSlide" Target="/ppt/notesSlides/notesSlide14.xml" Id="Rb5eb44fd3e3545b5"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3174C-F650-439C-B13A-44E47F39B5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882B07A6-3A3F-45B4-A086-49EF41BD76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1DCA0241-2F3E-4BA6-9590-41959E37BAF8}"/>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350" b="1">
                <a:solidFill>
                  <a:srgbClr val="15803D"/>
                </a:solidFill>
                <a:latin typeface="Helvetica Neue"/>
                <a:ea typeface="Helvetica Neue"/>
                <a:cs typeface="Helvetica Neue"/>
              </a:defRPr>
            </a:pPr>
            <a:r>
              <a:rPr sz="1350" b="1">
                <a:solidFill>
                  <a:srgbClr val="15803D"/>
                </a:solidFill>
                <a:latin typeface="Helvetica Neue"/>
                <a:ea typeface="Helvetica Neue"/>
                <a:cs typeface="Helvetica Neue"/>
              </a:rPr>
              <a:t>WEEK 13</a:t>
            </a:r>
          </a:p>
        </p:txBody>
      </p:sp>
      <p:sp>
        <p:nvSpPr>
          <p:cNvPr id="4" name="cover-title">
            <a:extLst xmlns:a="http://schemas.openxmlformats.org/drawingml/2006/main">
              <a:ext uri="{FF2B5EF4-FFF2-40B4-BE49-F238E27FC236}">
                <a16:creationId xmlns:a16="http://schemas.microsoft.com/office/drawing/2014/main" id="{A07C6ADE-12C6-4FE2-97CF-6270FDF7DEE2}"/>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Capacity, Sharding, and Python Integration</a:t>
            </a:r>
          </a:p>
        </p:txBody>
      </p:sp>
      <p:sp>
        <p:nvSpPr>
          <p:cNvPr id="5" name="cover-subtitle">
            <a:extLst xmlns:a="http://schemas.openxmlformats.org/drawingml/2006/main">
              <a:ext uri="{FF2B5EF4-FFF2-40B4-BE49-F238E27FC236}">
                <a16:creationId xmlns:a16="http://schemas.microsoft.com/office/drawing/2014/main" id="{70F69847-0203-405A-A0D5-FDD81E2A3BD0}"/>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Measure growth, evaluate distribution, and load public data without hiding client or data-quality decisions.</a:t>
            </a:r>
          </a:p>
        </p:txBody>
      </p:sp>
      <p:sp>
        <p:nvSpPr>
          <p:cNvPr id="6" name="">
            <a:extLst xmlns:a="http://schemas.openxmlformats.org/drawingml/2006/main">
              <a:ext uri="{FF2B5EF4-FFF2-40B4-BE49-F238E27FC236}">
                <a16:creationId xmlns:a16="http://schemas.microsoft.com/office/drawing/2014/main" id="{584644AD-E023-4C72-AB0B-03A133F72C42}"/>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066B8561-4174-4FCD-96BD-70F7758D5C45}"/>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400" b="1">
                <a:solidFill>
                  <a:srgbClr val="15803D"/>
                </a:solidFill>
                <a:latin typeface="Helvetica Neue"/>
                <a:ea typeface="Helvetica Neue"/>
                <a:cs typeface="Helvetica Neue"/>
              </a:defRPr>
            </a:pPr>
            <a:r>
              <a:rPr sz="8400" b="1">
                <a:solidFill>
                  <a:srgbClr val="15803D"/>
                </a:solidFill>
                <a:latin typeface="Helvetica Neue"/>
                <a:ea typeface="Helvetica Neue"/>
                <a:cs typeface="Helvetica Neue"/>
              </a:rPr>
              <a:t>13</a:t>
            </a:r>
          </a:p>
        </p:txBody>
      </p:sp>
    </p:spTree>
    <p:extLst>
      <p:ext uri="{BB962C8B-B14F-4D97-AF65-F5344CB8AC3E}">
        <p14:creationId xmlns:p14="http://schemas.microsoft.com/office/powerpoint/2010/main" val="48455498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46FCBC-62F8-40A4-B46E-DDFE1E123A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905195F-67E6-40A4-ACF4-87D5634B8D3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6A8684A4-64DD-4A88-A682-EDE3893BAB0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capacity claim needs quantities and a time horizon</a:t>
            </a:r>
          </a:p>
        </p:txBody>
      </p:sp>
      <p:sp>
        <p:nvSpPr>
          <p:cNvPr id="4" name="">
            <a:extLst xmlns:a="http://schemas.openxmlformats.org/drawingml/2006/main">
              <a:ext uri="{FF2B5EF4-FFF2-40B4-BE49-F238E27FC236}">
                <a16:creationId xmlns:a16="http://schemas.microsoft.com/office/drawing/2014/main" id="{EE9087FF-F653-4678-A75E-D0AA628B3D4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0667121-9DBE-439F-88AA-EDAE0BCA31E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AF7F80EC-F480-4EC3-BB3A-86EE4DE25BC7}"/>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Will it scale? becomes answerable only after the workload is measurable.</a:t>
            </a:r>
          </a:p>
        </p:txBody>
      </p:sp>
      <p:sp>
        <p:nvSpPr>
          <p:cNvPr id="7" name="">
            <a:extLst xmlns:a="http://schemas.openxmlformats.org/drawingml/2006/main">
              <a:ext uri="{FF2B5EF4-FFF2-40B4-BE49-F238E27FC236}">
                <a16:creationId xmlns:a16="http://schemas.microsoft.com/office/drawing/2014/main" id="{3E36D30B-AD43-4274-BC31-5F69D25A49CF}"/>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72B30447-25C6-4D43-9045-D15BB2B1F47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DEMAND</a:t>
            </a:r>
          </a:p>
        </p:txBody>
      </p:sp>
      <p:sp>
        <p:nvSpPr>
          <p:cNvPr id="9" name="">
            <a:extLst xmlns:a="http://schemas.openxmlformats.org/drawingml/2006/main">
              <a:ext uri="{FF2B5EF4-FFF2-40B4-BE49-F238E27FC236}">
                <a16:creationId xmlns:a16="http://schemas.microsoft.com/office/drawing/2014/main" id="{833EE52F-0F55-4177-842E-811CD0FF322E}"/>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Records, object size, read and write shapes, and peak throughput.</a:t>
            </a:r>
          </a:p>
        </p:txBody>
      </p:sp>
      <p:sp>
        <p:nvSpPr>
          <p:cNvPr id="10" name="">
            <a:extLst xmlns:a="http://schemas.openxmlformats.org/drawingml/2006/main">
              <a:ext uri="{FF2B5EF4-FFF2-40B4-BE49-F238E27FC236}">
                <a16:creationId xmlns:a16="http://schemas.microsoft.com/office/drawing/2014/main" id="{DE8934B6-217A-4AFC-98D3-B0CF17C3B51F}"/>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5A101D2-6A26-46CD-960E-B25088E51543}"/>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OBJECTIVE</a:t>
            </a:r>
          </a:p>
        </p:txBody>
      </p:sp>
      <p:sp>
        <p:nvSpPr>
          <p:cNvPr id="12" name="">
            <a:extLst xmlns:a="http://schemas.openxmlformats.org/drawingml/2006/main">
              <a:ext uri="{FF2B5EF4-FFF2-40B4-BE49-F238E27FC236}">
                <a16:creationId xmlns:a16="http://schemas.microsoft.com/office/drawing/2014/main" id="{0B500D13-3C1A-4755-A653-1B4DDFCEF819}"/>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Acceptable latency, errors, freshness, retention, and recovery behavior.</a:t>
            </a:r>
          </a:p>
        </p:txBody>
      </p:sp>
      <p:sp>
        <p:nvSpPr>
          <p:cNvPr id="13" name="">
            <a:extLst xmlns:a="http://schemas.openxmlformats.org/drawingml/2006/main">
              <a:ext uri="{FF2B5EF4-FFF2-40B4-BE49-F238E27FC236}">
                <a16:creationId xmlns:a16="http://schemas.microsoft.com/office/drawing/2014/main" id="{4B4C477D-9B9E-483D-A69B-1085F0D3DC51}"/>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B7CD854B-4D3D-48E1-ABDA-10599A74B1B2}"/>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HORIZON</a:t>
            </a:r>
          </a:p>
        </p:txBody>
      </p:sp>
      <p:sp>
        <p:nvSpPr>
          <p:cNvPr id="15" name="">
            <a:extLst xmlns:a="http://schemas.openxmlformats.org/drawingml/2006/main">
              <a:ext uri="{FF2B5EF4-FFF2-40B4-BE49-F238E27FC236}">
                <a16:creationId xmlns:a16="http://schemas.microsoft.com/office/drawing/2014/main" id="{F6C29405-AA5C-461D-96E9-9E7546FBD07C}"/>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Current state, plausible growth, and the measurement that triggers change.</a:t>
            </a:r>
          </a:p>
        </p:txBody>
      </p:sp>
    </p:spTree>
    <p:extLst>
      <p:ext uri="{BB962C8B-B14F-4D97-AF65-F5344CB8AC3E}">
        <p14:creationId xmlns:p14="http://schemas.microsoft.com/office/powerpoint/2010/main" val="148007506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586C10-9F72-46A3-8273-134C374054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E927CC-C223-440E-A9F4-177D979D26F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62385573-1162-4D12-AD14-14FD1F56975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Scale the bottleneck only after locating it</a:t>
            </a:r>
          </a:p>
        </p:txBody>
      </p:sp>
      <p:sp>
        <p:nvSpPr>
          <p:cNvPr id="4" name="">
            <a:extLst xmlns:a="http://schemas.openxmlformats.org/drawingml/2006/main">
              <a:ext uri="{FF2B5EF4-FFF2-40B4-BE49-F238E27FC236}">
                <a16:creationId xmlns:a16="http://schemas.microsoft.com/office/drawing/2014/main" id="{485169C9-0C78-4631-A688-BF07FCE279A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5A45E34-D6C6-4066-AFE6-9C68EFC02AE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593D8592-0E41-4BF9-8B32-B634666179DB}"/>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9474F83D-BEAF-4370-A0A0-0277D5C9B648}"/>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64DBCBD-FBF5-45C5-A851-27579E4174C5}"/>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7C7D1A7D-ECF2-4F57-BBB0-6B1146726EE5}"/>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Measure</a:t>
            </a:r>
          </a:p>
        </p:txBody>
      </p:sp>
      <p:sp>
        <p:nvSpPr>
          <p:cNvPr id="10" name="">
            <a:extLst xmlns:a="http://schemas.openxmlformats.org/drawingml/2006/main">
              <a:ext uri="{FF2B5EF4-FFF2-40B4-BE49-F238E27FC236}">
                <a16:creationId xmlns:a16="http://schemas.microsoft.com/office/drawing/2014/main" id="{E7CB7014-C0DD-458F-A70A-E80A805DCF71}"/>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Workload, plans, latency, throughput, storage, and growth</a:t>
            </a:r>
          </a:p>
        </p:txBody>
      </p:sp>
      <p:sp>
        <p:nvSpPr>
          <p:cNvPr id="11" name="">
            <a:extLst xmlns:a="http://schemas.openxmlformats.org/drawingml/2006/main">
              <a:ext uri="{FF2B5EF4-FFF2-40B4-BE49-F238E27FC236}">
                <a16:creationId xmlns:a16="http://schemas.microsoft.com/office/drawing/2014/main" id="{B10F1EEF-C0A3-4545-AAD7-3359DCCC7953}"/>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0E64A7DD-5EEC-404E-9A73-E28948FD7634}"/>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1ABE0454-DA46-4103-B846-813266630F77}"/>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Remove waste</a:t>
            </a:r>
          </a:p>
        </p:txBody>
      </p:sp>
      <p:sp>
        <p:nvSpPr>
          <p:cNvPr id="14" name="">
            <a:extLst xmlns:a="http://schemas.openxmlformats.org/drawingml/2006/main">
              <a:ext uri="{FF2B5EF4-FFF2-40B4-BE49-F238E27FC236}">
                <a16:creationId xmlns:a16="http://schemas.microsoft.com/office/drawing/2014/main" id="{CDE4640C-7CE7-48EC-A8BA-86FB8A001AC7}"/>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Fix model, query, index, batching, and retention problems</a:t>
            </a:r>
          </a:p>
        </p:txBody>
      </p:sp>
      <p:sp>
        <p:nvSpPr>
          <p:cNvPr id="15" name="">
            <a:extLst xmlns:a="http://schemas.openxmlformats.org/drawingml/2006/main">
              <a:ext uri="{FF2B5EF4-FFF2-40B4-BE49-F238E27FC236}">
                <a16:creationId xmlns:a16="http://schemas.microsoft.com/office/drawing/2014/main" id="{E6E9C68C-863F-48BD-AD4D-7971CE020DF5}"/>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8F7F008B-E54F-4E1C-8324-A69405FB7124}"/>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EA81B579-6512-4FE9-977E-ADB5D1973F04}"/>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Scale up</a:t>
            </a:r>
          </a:p>
        </p:txBody>
      </p:sp>
      <p:sp>
        <p:nvSpPr>
          <p:cNvPr id="18" name="">
            <a:extLst xmlns:a="http://schemas.openxmlformats.org/drawingml/2006/main">
              <a:ext uri="{FF2B5EF4-FFF2-40B4-BE49-F238E27FC236}">
                <a16:creationId xmlns:a16="http://schemas.microsoft.com/office/drawing/2014/main" id="{5968F52F-F49E-41F9-82CA-AD53ACB8FE03}"/>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Add CPU, memory, or storage when one node remains suitable</a:t>
            </a:r>
          </a:p>
        </p:txBody>
      </p:sp>
      <p:sp>
        <p:nvSpPr>
          <p:cNvPr id="19" name="">
            <a:extLst xmlns:a="http://schemas.openxmlformats.org/drawingml/2006/main">
              <a:ext uri="{FF2B5EF4-FFF2-40B4-BE49-F238E27FC236}">
                <a16:creationId xmlns:a16="http://schemas.microsoft.com/office/drawing/2014/main" id="{3FB2949E-386F-433F-B3D5-186D2F93FBB4}"/>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C29D2CE2-9CA8-44E7-8A3D-58D40CDD1F9A}"/>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6A256A85-D5E1-4B89-8982-1E781F3143D1}"/>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 reads</a:t>
            </a:r>
          </a:p>
        </p:txBody>
      </p:sp>
      <p:sp>
        <p:nvSpPr>
          <p:cNvPr id="22" name="">
            <a:extLst xmlns:a="http://schemas.openxmlformats.org/drawingml/2006/main">
              <a:ext uri="{FF2B5EF4-FFF2-40B4-BE49-F238E27FC236}">
                <a16:creationId xmlns:a16="http://schemas.microsoft.com/office/drawing/2014/main" id="{DDC03A2B-304A-4BF8-A5B9-6FD2421E704C}"/>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cache or replicas with explicit freshness semantics</a:t>
            </a:r>
          </a:p>
        </p:txBody>
      </p:sp>
      <p:sp>
        <p:nvSpPr>
          <p:cNvPr id="23" name="">
            <a:extLst xmlns:a="http://schemas.openxmlformats.org/drawingml/2006/main">
              <a:ext uri="{FF2B5EF4-FFF2-40B4-BE49-F238E27FC236}">
                <a16:creationId xmlns:a16="http://schemas.microsoft.com/office/drawing/2014/main" id="{E511F4C4-EACC-4E46-8188-ACC2E3C215A2}"/>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C69CCEA8-94B5-4C6C-8C49-F7687567473B}"/>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D9F4FA62-611F-451C-85AA-E0650880BA5F}"/>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Distribute</a:t>
            </a:r>
          </a:p>
        </p:txBody>
      </p:sp>
      <p:sp>
        <p:nvSpPr>
          <p:cNvPr id="26" name="">
            <a:extLst xmlns:a="http://schemas.openxmlformats.org/drawingml/2006/main">
              <a:ext uri="{FF2B5EF4-FFF2-40B4-BE49-F238E27FC236}">
                <a16:creationId xmlns:a16="http://schemas.microsoft.com/office/drawing/2014/main" id="{FB997656-CF75-4482-81FA-E127161A3336}"/>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Partition or shard when evidence justifies coordination cost</a:t>
            </a:r>
          </a:p>
        </p:txBody>
      </p:sp>
      <p:sp>
        <p:nvSpPr>
          <p:cNvPr id="27" name="">
            <a:extLst xmlns:a="http://schemas.openxmlformats.org/drawingml/2006/main">
              <a:ext uri="{FF2B5EF4-FFF2-40B4-BE49-F238E27FC236}">
                <a16:creationId xmlns:a16="http://schemas.microsoft.com/office/drawing/2014/main" id="{D701A3D8-6F22-40B6-91E6-9F6E0B2D7544}"/>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Distribution multiplies operating work, so it should not be the first reflex.</a:t>
            </a:r>
          </a:p>
        </p:txBody>
      </p:sp>
    </p:spTree>
    <p:extLst>
      <p:ext uri="{BB962C8B-B14F-4D97-AF65-F5344CB8AC3E}">
        <p14:creationId xmlns:p14="http://schemas.microsoft.com/office/powerpoint/2010/main" val="18872118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926CCA-D974-4714-B215-C88E95A0F8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344E28C-054F-4211-90A3-48BA852D579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B86B2EAC-AA37-4633-83CA-D60DA7BD71C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Replication and sharding solve different growth problems</a:t>
            </a:r>
          </a:p>
        </p:txBody>
      </p:sp>
      <p:sp>
        <p:nvSpPr>
          <p:cNvPr id="4" name="">
            <a:extLst xmlns:a="http://schemas.openxmlformats.org/drawingml/2006/main">
              <a:ext uri="{FF2B5EF4-FFF2-40B4-BE49-F238E27FC236}">
                <a16:creationId xmlns:a16="http://schemas.microsoft.com/office/drawing/2014/main" id="{E4A92273-DCDC-497B-B90A-88965CF552A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6FF2FAF-F8FB-495D-B4E6-8E833B37D30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354FDE85-0474-42B5-8920-3B278F67CC48}"/>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Replication</a:t>
            </a:r>
          </a:p>
        </p:txBody>
      </p:sp>
      <p:sp>
        <p:nvSpPr>
          <p:cNvPr id="7" name="">
            <a:extLst xmlns:a="http://schemas.openxmlformats.org/drawingml/2006/main">
              <a:ext uri="{FF2B5EF4-FFF2-40B4-BE49-F238E27FC236}">
                <a16:creationId xmlns:a16="http://schemas.microsoft.com/office/drawing/2014/main" id="{249284F4-6B60-46E1-9CB7-B94E5C54F7CC}"/>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Sharding</a:t>
            </a:r>
          </a:p>
        </p:txBody>
      </p:sp>
      <p:sp>
        <p:nvSpPr>
          <p:cNvPr id="8" name="">
            <a:extLst xmlns:a="http://schemas.openxmlformats.org/drawingml/2006/main">
              <a:ext uri="{FF2B5EF4-FFF2-40B4-BE49-F238E27FC236}">
                <a16:creationId xmlns:a16="http://schemas.microsoft.com/office/drawing/2014/main" id="{BC177C34-2D1D-4604-83C1-17B763D9A697}"/>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EDC932F5-BD99-41DA-998E-3A0F6A01623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C276F618-A671-49BD-A1D8-8892C3130A32}"/>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Members maintain copies of the logical dataset</a:t>
            </a:r>
          </a:p>
        </p:txBody>
      </p:sp>
      <p:sp>
        <p:nvSpPr>
          <p:cNvPr id="11" name="">
            <a:extLst xmlns:a="http://schemas.openxmlformats.org/drawingml/2006/main">
              <a:ext uri="{FF2B5EF4-FFF2-40B4-BE49-F238E27FC236}">
                <a16:creationId xmlns:a16="http://schemas.microsoft.com/office/drawing/2014/main" id="{4D90D650-3218-4E46-B529-B74E42E08A6D}"/>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541120C8-6BDA-4697-98EF-BD8557256370}"/>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support failover and selected read-routing goals</a:t>
            </a:r>
          </a:p>
        </p:txBody>
      </p:sp>
      <p:sp>
        <p:nvSpPr>
          <p:cNvPr id="13" name="">
            <a:extLst xmlns:a="http://schemas.openxmlformats.org/drawingml/2006/main">
              <a:ext uri="{FF2B5EF4-FFF2-40B4-BE49-F238E27FC236}">
                <a16:creationId xmlns:a16="http://schemas.microsoft.com/office/drawing/2014/main" id="{D40A0D66-5A70-4C06-873A-1816BFC952C9}"/>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79E24896-E229-4305-9584-ACB383DE934B}"/>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divide one collection's full storage among replicas</a:t>
            </a:r>
          </a:p>
        </p:txBody>
      </p:sp>
      <p:sp>
        <p:nvSpPr>
          <p:cNvPr id="15" name="">
            <a:extLst xmlns:a="http://schemas.openxmlformats.org/drawingml/2006/main">
              <a:ext uri="{FF2B5EF4-FFF2-40B4-BE49-F238E27FC236}">
                <a16:creationId xmlns:a16="http://schemas.microsoft.com/office/drawing/2014/main" id="{4D1FE097-A592-465A-A9F2-D809BA996A0B}"/>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AEDA4A74-00DF-4568-A2A1-F1BFE93A3AAF}"/>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Distributes collection ranges across shards</a:t>
            </a:r>
          </a:p>
        </p:txBody>
      </p:sp>
      <p:sp>
        <p:nvSpPr>
          <p:cNvPr id="17" name="">
            <a:extLst xmlns:a="http://schemas.openxmlformats.org/drawingml/2006/main">
              <a:ext uri="{FF2B5EF4-FFF2-40B4-BE49-F238E27FC236}">
                <a16:creationId xmlns:a16="http://schemas.microsoft.com/office/drawing/2014/main" id="{27CDC171-70BE-4D01-8119-1C45054209FB}"/>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034F7E9-1775-4192-AFE6-92D958768D93}"/>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spread storage and selected read or write work</a:t>
            </a:r>
          </a:p>
        </p:txBody>
      </p:sp>
      <p:sp>
        <p:nvSpPr>
          <p:cNvPr id="19" name="">
            <a:extLst xmlns:a="http://schemas.openxmlformats.org/drawingml/2006/main">
              <a:ext uri="{FF2B5EF4-FFF2-40B4-BE49-F238E27FC236}">
                <a16:creationId xmlns:a16="http://schemas.microsoft.com/office/drawing/2014/main" id="{0498DC9A-F960-4E67-B387-CABCBCF11EC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85CBEE3B-0F63-419C-BC47-7E25B37327E3}"/>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Adds routing, metadata, balancing, and cross-shard coordination</a:t>
            </a:r>
          </a:p>
        </p:txBody>
      </p:sp>
    </p:spTree>
    <p:extLst>
      <p:ext uri="{BB962C8B-B14F-4D97-AF65-F5344CB8AC3E}">
        <p14:creationId xmlns:p14="http://schemas.microsoft.com/office/powerpoint/2010/main" val="1020141608"/>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D46FB7-A596-49E7-91B1-669418F895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C978EE1-78AD-47C7-B0AE-E252F0DC414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52E0A8F8-24A5-4753-B5ED-AF343A4D6B8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sharded cluster routes requests through metadata</a:t>
            </a:r>
          </a:p>
        </p:txBody>
      </p:sp>
      <p:sp>
        <p:nvSpPr>
          <p:cNvPr id="4" name="">
            <a:extLst xmlns:a="http://schemas.openxmlformats.org/drawingml/2006/main">
              <a:ext uri="{FF2B5EF4-FFF2-40B4-BE49-F238E27FC236}">
                <a16:creationId xmlns:a16="http://schemas.microsoft.com/office/drawing/2014/main" id="{E53828D7-7F61-49B2-9D8D-CB2CE2B69C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9C6EBAA-46D6-4BB9-9647-D485702A3E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651BDD6E-2A9B-424F-8108-F1353F57E8A6}"/>
              </a:ext>
            </a:extLst>
          </p:cNvPr>
          <p:cNvSpPr>
            <a:spLocks xmlns:a="http://schemas.openxmlformats.org/drawingml/2006/main" noGrp="1"/>
          </p:cNvSpPr>
          <p:nvPr/>
        </p:nvSpPr>
        <p:spPr>
          <a:xfrm xmlns:a="http://schemas.openxmlformats.org/drawingml/2006/main">
            <a:off x="1809750" y="3214688"/>
            <a:ext cx="3000375"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36BFFBF5-AB1F-4E21-907B-F188AEE467CB}"/>
              </a:ext>
            </a:extLst>
          </p:cNvPr>
          <p:cNvSpPr>
            <a:spLocks xmlns:a="http://schemas.openxmlformats.org/drawingml/2006/main" noGrp="1"/>
          </p:cNvSpPr>
          <p:nvPr/>
        </p:nvSpPr>
        <p:spPr>
          <a:xfrm xmlns:a="http://schemas.openxmlformats.org/drawingml/2006/main" flipV="1">
            <a:off x="4810125" y="2095500"/>
            <a:ext cx="3048000" cy="1119188"/>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C856E0C6-0A00-48E6-9A3B-D204D26B3DC2}"/>
              </a:ext>
            </a:extLst>
          </p:cNvPr>
          <p:cNvSpPr>
            <a:spLocks xmlns:a="http://schemas.openxmlformats.org/drawingml/2006/main" noGrp="1"/>
          </p:cNvSpPr>
          <p:nvPr/>
        </p:nvSpPr>
        <p:spPr>
          <a:xfrm xmlns:a="http://schemas.openxmlformats.org/drawingml/2006/main">
            <a:off x="4810125" y="3214688"/>
            <a:ext cx="3048000" cy="1309688"/>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D81731B8-010F-4961-948E-A129A35D413C}"/>
              </a:ext>
            </a:extLst>
          </p:cNvPr>
          <p:cNvSpPr>
            <a:spLocks xmlns:a="http://schemas.openxmlformats.org/drawingml/2006/main" noGrp="1"/>
          </p:cNvSpPr>
          <p:nvPr/>
        </p:nvSpPr>
        <p:spPr>
          <a:xfrm xmlns:a="http://schemas.openxmlformats.org/drawingml/2006/main">
            <a:off x="4810125" y="3214688"/>
            <a:ext cx="5810250"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10" name="">
            <a:extLst xmlns:a="http://schemas.openxmlformats.org/drawingml/2006/main">
              <a:ext uri="{FF2B5EF4-FFF2-40B4-BE49-F238E27FC236}">
                <a16:creationId xmlns:a16="http://schemas.microsoft.com/office/drawing/2014/main" id="{1A2C1007-CECF-4C46-9A7B-CBA40A2BDA81}"/>
              </a:ext>
            </a:extLst>
          </p:cNvPr>
          <p:cNvSpPr>
            <a:spLocks xmlns:a="http://schemas.openxmlformats.org/drawingml/2006/main" noGrp="1"/>
          </p:cNvSpPr>
          <p:nvPr/>
        </p:nvSpPr>
        <p:spPr>
          <a:xfrm xmlns:a="http://schemas.openxmlformats.org/drawingml/2006/main">
            <a:off x="7048500" y="3005138"/>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routing map</a:t>
            </a:r>
          </a:p>
        </p:txBody>
      </p:sp>
      <p:sp>
        <p:nvSpPr>
          <p:cNvPr id="11" name="">
            <a:extLst xmlns:a="http://schemas.openxmlformats.org/drawingml/2006/main">
              <a:ext uri="{FF2B5EF4-FFF2-40B4-BE49-F238E27FC236}">
                <a16:creationId xmlns:a16="http://schemas.microsoft.com/office/drawing/2014/main" id="{A1B45EF6-2031-4D92-A631-F24765A275CD}"/>
              </a:ext>
            </a:extLst>
          </p:cNvPr>
          <p:cNvSpPr>
            <a:spLocks xmlns:a="http://schemas.openxmlformats.org/drawingml/2006/main" noGrp="1"/>
          </p:cNvSpPr>
          <p:nvPr/>
        </p:nvSpPr>
        <p:spPr>
          <a:xfrm xmlns:a="http://schemas.openxmlformats.org/drawingml/2006/main">
            <a:off x="762000" y="2714625"/>
            <a:ext cx="2095500" cy="1000125"/>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Application</a:t>
            </a:r>
          </a:p>
        </p:txBody>
      </p:sp>
      <p:sp>
        <p:nvSpPr>
          <p:cNvPr id="12" name="">
            <a:extLst xmlns:a="http://schemas.openxmlformats.org/drawingml/2006/main">
              <a:ext uri="{FF2B5EF4-FFF2-40B4-BE49-F238E27FC236}">
                <a16:creationId xmlns:a16="http://schemas.microsoft.com/office/drawing/2014/main" id="{AAE26816-42B5-4554-A192-926D974294BD}"/>
              </a:ext>
            </a:extLst>
          </p:cNvPr>
          <p:cNvSpPr>
            <a:spLocks xmlns:a="http://schemas.openxmlformats.org/drawingml/2006/main" noGrp="1"/>
          </p:cNvSpPr>
          <p:nvPr/>
        </p:nvSpPr>
        <p:spPr>
          <a:xfrm xmlns:a="http://schemas.openxmlformats.org/drawingml/2006/main">
            <a:off x="3762375" y="2524125"/>
            <a:ext cx="20955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mongos</a:t>
            </a:r>
          </a:p>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query router</a:t>
            </a:r>
          </a:p>
        </p:txBody>
      </p:sp>
      <p:sp>
        <p:nvSpPr>
          <p:cNvPr id="13" name="">
            <a:extLst xmlns:a="http://schemas.openxmlformats.org/drawingml/2006/main">
              <a:ext uri="{FF2B5EF4-FFF2-40B4-BE49-F238E27FC236}">
                <a16:creationId xmlns:a16="http://schemas.microsoft.com/office/drawing/2014/main" id="{1BFFAFA8-4B3C-4DD0-84D2-991C5A1C89FF}"/>
              </a:ext>
            </a:extLst>
          </p:cNvPr>
          <p:cNvSpPr>
            <a:spLocks xmlns:a="http://schemas.openxmlformats.org/drawingml/2006/main" noGrp="1"/>
          </p:cNvSpPr>
          <p:nvPr/>
        </p:nvSpPr>
        <p:spPr>
          <a:xfrm xmlns:a="http://schemas.openxmlformats.org/drawingml/2006/main">
            <a:off x="3762375" y="40005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targets and merges</a:t>
            </a:r>
          </a:p>
        </p:txBody>
      </p:sp>
      <p:sp>
        <p:nvSpPr>
          <p:cNvPr id="14" name="">
            <a:extLst xmlns:a="http://schemas.openxmlformats.org/drawingml/2006/main">
              <a:ext uri="{FF2B5EF4-FFF2-40B4-BE49-F238E27FC236}">
                <a16:creationId xmlns:a16="http://schemas.microsoft.com/office/drawing/2014/main" id="{8604858A-640E-4573-83BB-25628B3E8BD4}"/>
              </a:ext>
            </a:extLst>
          </p:cNvPr>
          <p:cNvSpPr>
            <a:spLocks xmlns:a="http://schemas.openxmlformats.org/drawingml/2006/main" noGrp="1"/>
          </p:cNvSpPr>
          <p:nvPr/>
        </p:nvSpPr>
        <p:spPr>
          <a:xfrm xmlns:a="http://schemas.openxmlformats.org/drawingml/2006/main">
            <a:off x="6858000" y="1571625"/>
            <a:ext cx="20002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Shard A</a:t>
            </a:r>
          </a:p>
        </p:txBody>
      </p:sp>
      <p:sp>
        <p:nvSpPr>
          <p:cNvPr id="15" name="">
            <a:extLst xmlns:a="http://schemas.openxmlformats.org/drawingml/2006/main">
              <a:ext uri="{FF2B5EF4-FFF2-40B4-BE49-F238E27FC236}">
                <a16:creationId xmlns:a16="http://schemas.microsoft.com/office/drawing/2014/main" id="{6649DF07-FAE0-4C4E-AC25-F9095241634E}"/>
              </a:ext>
            </a:extLst>
          </p:cNvPr>
          <p:cNvSpPr>
            <a:spLocks xmlns:a="http://schemas.openxmlformats.org/drawingml/2006/main" noGrp="1"/>
          </p:cNvSpPr>
          <p:nvPr/>
        </p:nvSpPr>
        <p:spPr>
          <a:xfrm xmlns:a="http://schemas.openxmlformats.org/drawingml/2006/main">
            <a:off x="6858000" y="271462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replica set + ranges</a:t>
            </a:r>
          </a:p>
        </p:txBody>
      </p:sp>
      <p:sp>
        <p:nvSpPr>
          <p:cNvPr id="16" name="">
            <a:extLst xmlns:a="http://schemas.openxmlformats.org/drawingml/2006/main">
              <a:ext uri="{FF2B5EF4-FFF2-40B4-BE49-F238E27FC236}">
                <a16:creationId xmlns:a16="http://schemas.microsoft.com/office/drawing/2014/main" id="{16E539BB-F881-46BD-8537-4B1ED7472392}"/>
              </a:ext>
            </a:extLst>
          </p:cNvPr>
          <p:cNvSpPr>
            <a:spLocks xmlns:a="http://schemas.openxmlformats.org/drawingml/2006/main" noGrp="1"/>
          </p:cNvSpPr>
          <p:nvPr/>
        </p:nvSpPr>
        <p:spPr>
          <a:xfrm xmlns:a="http://schemas.openxmlformats.org/drawingml/2006/main">
            <a:off x="6858000" y="4000500"/>
            <a:ext cx="20002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Shard B</a:t>
            </a:r>
          </a:p>
        </p:txBody>
      </p:sp>
      <p:sp>
        <p:nvSpPr>
          <p:cNvPr id="17" name="">
            <a:extLst xmlns:a="http://schemas.openxmlformats.org/drawingml/2006/main">
              <a:ext uri="{FF2B5EF4-FFF2-40B4-BE49-F238E27FC236}">
                <a16:creationId xmlns:a16="http://schemas.microsoft.com/office/drawing/2014/main" id="{F511191B-FF37-4EAC-A79C-56E2CBBB9635}"/>
              </a:ext>
            </a:extLst>
          </p:cNvPr>
          <p:cNvSpPr>
            <a:spLocks xmlns:a="http://schemas.openxmlformats.org/drawingml/2006/main" noGrp="1"/>
          </p:cNvSpPr>
          <p:nvPr/>
        </p:nvSpPr>
        <p:spPr>
          <a:xfrm xmlns:a="http://schemas.openxmlformats.org/drawingml/2006/main">
            <a:off x="6858000" y="51435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replica set + ranges</a:t>
            </a:r>
          </a:p>
        </p:txBody>
      </p:sp>
      <p:sp>
        <p:nvSpPr>
          <p:cNvPr id="18" name="">
            <a:extLst xmlns:a="http://schemas.openxmlformats.org/drawingml/2006/main">
              <a:ext uri="{FF2B5EF4-FFF2-40B4-BE49-F238E27FC236}">
                <a16:creationId xmlns:a16="http://schemas.microsoft.com/office/drawing/2014/main" id="{8B62E6E6-51E8-4C92-82A6-D26CA98AEC36}"/>
              </a:ext>
            </a:extLst>
          </p:cNvPr>
          <p:cNvSpPr>
            <a:spLocks xmlns:a="http://schemas.openxmlformats.org/drawingml/2006/main" noGrp="1"/>
          </p:cNvSpPr>
          <p:nvPr/>
        </p:nvSpPr>
        <p:spPr>
          <a:xfrm xmlns:a="http://schemas.openxmlformats.org/drawingml/2006/main">
            <a:off x="9620250" y="2714625"/>
            <a:ext cx="20002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Config servers</a:t>
            </a:r>
          </a:p>
        </p:txBody>
      </p:sp>
      <p:sp>
        <p:nvSpPr>
          <p:cNvPr id="19" name="">
            <a:extLst xmlns:a="http://schemas.openxmlformats.org/drawingml/2006/main">
              <a:ext uri="{FF2B5EF4-FFF2-40B4-BE49-F238E27FC236}">
                <a16:creationId xmlns:a16="http://schemas.microsoft.com/office/drawing/2014/main" id="{BC514EDE-965A-4412-BBA4-91BBD22DF320}"/>
              </a:ext>
            </a:extLst>
          </p:cNvPr>
          <p:cNvSpPr>
            <a:spLocks xmlns:a="http://schemas.openxmlformats.org/drawingml/2006/main" noGrp="1"/>
          </p:cNvSpPr>
          <p:nvPr/>
        </p:nvSpPr>
        <p:spPr>
          <a:xfrm xmlns:a="http://schemas.openxmlformats.org/drawingml/2006/main">
            <a:off x="9620250" y="38100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cluster metadata</a:t>
            </a:r>
          </a:p>
        </p:txBody>
      </p:sp>
      <p:sp>
        <p:nvSpPr>
          <p:cNvPr id="20" name="">
            <a:extLst xmlns:a="http://schemas.openxmlformats.org/drawingml/2006/main">
              <a:ext uri="{FF2B5EF4-FFF2-40B4-BE49-F238E27FC236}">
                <a16:creationId xmlns:a16="http://schemas.microsoft.com/office/drawing/2014/main" id="{0D9D36B0-28EA-4404-B6E5-0F6CCD2E09B6}"/>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shard key determines distribution and whether a query can target a limited shard set.</a:t>
            </a:r>
          </a:p>
        </p:txBody>
      </p:sp>
    </p:spTree>
    <p:extLst>
      <p:ext uri="{BB962C8B-B14F-4D97-AF65-F5344CB8AC3E}">
        <p14:creationId xmlns:p14="http://schemas.microsoft.com/office/powerpoint/2010/main" val="115448833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B4820A-A162-447E-8F9B-D800135D9C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44981C8-4C24-4D2A-8FA0-8CA86F59D6E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6250916C-E404-4995-95FE-528358C66E9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shard-key candidate must answer four questions</a:t>
            </a:r>
          </a:p>
        </p:txBody>
      </p:sp>
      <p:sp>
        <p:nvSpPr>
          <p:cNvPr id="4" name="">
            <a:extLst xmlns:a="http://schemas.openxmlformats.org/drawingml/2006/main">
              <a:ext uri="{FF2B5EF4-FFF2-40B4-BE49-F238E27FC236}">
                <a16:creationId xmlns:a16="http://schemas.microsoft.com/office/drawing/2014/main" id="{41415CD0-E55A-496E-B9C5-8033111DA56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1372461-8E65-471B-8ECC-3F9F213C58F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BE062654-2F38-4071-B17F-8997338285C6}"/>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sp>
      <p:sp>
        <p:nvSpPr>
          <p:cNvPr id="7" name="">
            <a:extLst xmlns:a="http://schemas.openxmlformats.org/drawingml/2006/main">
              <a:ext uri="{FF2B5EF4-FFF2-40B4-BE49-F238E27FC236}">
                <a16:creationId xmlns:a16="http://schemas.microsoft.com/office/drawing/2014/main" id="{F0DD8124-09CF-41D6-9DBD-E664C7A3FA19}"/>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6E367356-9581-4188-AE81-402EDED1CEB3}"/>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Cardinality: are there enough distinct values to create useful distribution choices?</a:t>
            </a:r>
          </a:p>
        </p:txBody>
      </p:sp>
      <p:sp>
        <p:nvSpPr>
          <p:cNvPr id="9" name="">
            <a:extLst xmlns:a="http://schemas.openxmlformats.org/drawingml/2006/main">
              <a:ext uri="{FF2B5EF4-FFF2-40B4-BE49-F238E27FC236}">
                <a16:creationId xmlns:a16="http://schemas.microsoft.com/office/drawing/2014/main" id="{C4D482EA-1D86-4544-8F90-DA26A6440CE2}"/>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4022911-FE70-4B8A-88F4-E9FF7967816F}"/>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1" name="">
            <a:extLst xmlns:a="http://schemas.openxmlformats.org/drawingml/2006/main">
              <a:ext uri="{FF2B5EF4-FFF2-40B4-BE49-F238E27FC236}">
                <a16:creationId xmlns:a16="http://schemas.microsoft.com/office/drawing/2014/main" id="{512DDE09-EB6F-478A-B748-30DDB80429CC}"/>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607A0DBC-3599-4375-91E4-C9C2467DE655}"/>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Frequency: does one value dominate documents, requests, or bytes despite high cardinality?</a:t>
            </a:r>
          </a:p>
        </p:txBody>
      </p:sp>
      <p:sp>
        <p:nvSpPr>
          <p:cNvPr id="13" name="">
            <a:extLst xmlns:a="http://schemas.openxmlformats.org/drawingml/2006/main">
              <a:ext uri="{FF2B5EF4-FFF2-40B4-BE49-F238E27FC236}">
                <a16:creationId xmlns:a16="http://schemas.microsoft.com/office/drawing/2014/main" id="{A647D8F6-A262-46B9-AB7B-A0A8D22A1460}"/>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775C612-953A-4FD4-935B-48A9F56C78F9}"/>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5" name="">
            <a:extLst xmlns:a="http://schemas.openxmlformats.org/drawingml/2006/main">
              <a:ext uri="{FF2B5EF4-FFF2-40B4-BE49-F238E27FC236}">
                <a16:creationId xmlns:a16="http://schemas.microsoft.com/office/drawing/2014/main" id="{1F7266A5-8B3D-4DDF-9256-A1464B291A11}"/>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7EF1C637-3F4E-4F1E-B34F-43CFB29118DD}"/>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Monotonicity: will new values continually arrive at one range extreme and create a hotspot?</a:t>
            </a:r>
          </a:p>
        </p:txBody>
      </p:sp>
      <p:sp>
        <p:nvSpPr>
          <p:cNvPr id="17" name="">
            <a:extLst xmlns:a="http://schemas.openxmlformats.org/drawingml/2006/main">
              <a:ext uri="{FF2B5EF4-FFF2-40B4-BE49-F238E27FC236}">
                <a16:creationId xmlns:a16="http://schemas.microsoft.com/office/drawing/2014/main" id="{CE3EF524-FD9A-46CB-86E7-DFD934730331}"/>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AA548D9C-BD02-4D43-BC5D-B8E54BD1114B}"/>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9" name="">
            <a:extLst xmlns:a="http://schemas.openxmlformats.org/drawingml/2006/main">
              <a:ext uri="{FF2B5EF4-FFF2-40B4-BE49-F238E27FC236}">
                <a16:creationId xmlns:a16="http://schemas.microsoft.com/office/drawing/2014/main" id="{B54B9BA9-531B-41AD-AB4F-CFC6D1F05CBC}"/>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5A3D5AC7-548B-4D19-99A0-227C22B8EDF5}"/>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Targeting: do important queries contain enough shard-key information to avoid broad routing?</a:t>
            </a:r>
          </a:p>
        </p:txBody>
      </p:sp>
      <p:sp>
        <p:nvSpPr>
          <p:cNvPr id="21" name="">
            <a:extLst xmlns:a="http://schemas.openxmlformats.org/drawingml/2006/main">
              <a:ext uri="{FF2B5EF4-FFF2-40B4-BE49-F238E27FC236}">
                <a16:creationId xmlns:a16="http://schemas.microsoft.com/office/drawing/2014/main" id="{668F9352-DA8D-4B65-8336-2E33D588359A}"/>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935502751"/>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5A9307-3A21-4C48-BEB9-F491317C22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6AB0B24-D21C-4DC8-B9F0-AD9CFD99CE6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D38E0348-367F-4D52-8DB0-9F5011A887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Ranged and hashed distribution trade locality for spread</a:t>
            </a:r>
          </a:p>
        </p:txBody>
      </p:sp>
      <p:sp>
        <p:nvSpPr>
          <p:cNvPr id="4" name="">
            <a:extLst xmlns:a="http://schemas.openxmlformats.org/drawingml/2006/main">
              <a:ext uri="{FF2B5EF4-FFF2-40B4-BE49-F238E27FC236}">
                <a16:creationId xmlns:a16="http://schemas.microsoft.com/office/drawing/2014/main" id="{ACAB85DD-46C5-43D8-AABA-0D5662A1BA4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4C05E28-F41D-4B69-9C29-384260CCDF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5DACA696-89E0-47A5-943C-86DC0FCFE4B2}"/>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Ranged shard key</a:t>
            </a:r>
          </a:p>
        </p:txBody>
      </p:sp>
      <p:sp>
        <p:nvSpPr>
          <p:cNvPr id="7" name="">
            <a:extLst xmlns:a="http://schemas.openxmlformats.org/drawingml/2006/main">
              <a:ext uri="{FF2B5EF4-FFF2-40B4-BE49-F238E27FC236}">
                <a16:creationId xmlns:a16="http://schemas.microsoft.com/office/drawing/2014/main" id="{8D9B8EDD-0F3D-47DF-8158-7CB57AE1A269}"/>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Hashed shard key</a:t>
            </a:r>
          </a:p>
        </p:txBody>
      </p:sp>
      <p:sp>
        <p:nvSpPr>
          <p:cNvPr id="8" name="">
            <a:extLst xmlns:a="http://schemas.openxmlformats.org/drawingml/2006/main">
              <a:ext uri="{FF2B5EF4-FFF2-40B4-BE49-F238E27FC236}">
                <a16:creationId xmlns:a16="http://schemas.microsoft.com/office/drawing/2014/main" id="{974BADFB-A34F-4C36-96B5-A4B3FDBA9FEC}"/>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DDD91A5B-5A7B-4C08-B982-1400EA94001A}"/>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2020E561-76C6-4813-BBD4-53C8B2E16A37}"/>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nearby key values in nearby ranges</a:t>
            </a:r>
          </a:p>
        </p:txBody>
      </p:sp>
      <p:sp>
        <p:nvSpPr>
          <p:cNvPr id="11" name="">
            <a:extLst xmlns:a="http://schemas.openxmlformats.org/drawingml/2006/main">
              <a:ext uri="{FF2B5EF4-FFF2-40B4-BE49-F238E27FC236}">
                <a16:creationId xmlns:a16="http://schemas.microsoft.com/office/drawing/2014/main" id="{0F307BF1-DC7A-49A7-ACA0-C16CA800ECFD}"/>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6A3117D4-C420-4129-A9B2-2F481CA13B98}"/>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target bounded range queries</a:t>
            </a:r>
          </a:p>
        </p:txBody>
      </p:sp>
      <p:sp>
        <p:nvSpPr>
          <p:cNvPr id="13" name="">
            <a:extLst xmlns:a="http://schemas.openxmlformats.org/drawingml/2006/main">
              <a:ext uri="{FF2B5EF4-FFF2-40B4-BE49-F238E27FC236}">
                <a16:creationId xmlns:a16="http://schemas.microsoft.com/office/drawing/2014/main" id="{266FF9F1-1A43-4C39-A3E6-57F6D01F4FA1}"/>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5E713EDF-E266-438C-BF8B-69DCFB553BF2}"/>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Skew or monotonic inserts can concentrate work</a:t>
            </a:r>
          </a:p>
        </p:txBody>
      </p:sp>
      <p:sp>
        <p:nvSpPr>
          <p:cNvPr id="15" name="">
            <a:extLst xmlns:a="http://schemas.openxmlformats.org/drawingml/2006/main">
              <a:ext uri="{FF2B5EF4-FFF2-40B4-BE49-F238E27FC236}">
                <a16:creationId xmlns:a16="http://schemas.microsoft.com/office/drawing/2014/main" id="{A52FE40F-AF4A-4266-A534-983D4FBF53C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28F63E83-5FBD-4397-A117-500359D3BA48}"/>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Hashes key values to improve distribution</a:t>
            </a:r>
          </a:p>
        </p:txBody>
      </p:sp>
      <p:sp>
        <p:nvSpPr>
          <p:cNvPr id="17" name="">
            <a:extLst xmlns:a="http://schemas.openxmlformats.org/drawingml/2006/main">
              <a:ext uri="{FF2B5EF4-FFF2-40B4-BE49-F238E27FC236}">
                <a16:creationId xmlns:a16="http://schemas.microsoft.com/office/drawing/2014/main" id="{88EE8143-F444-4948-8DAF-1577B5E4E0D0}"/>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5023420-D75F-44E3-A150-3830703F042B}"/>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spread monotonic identifiers</a:t>
            </a:r>
          </a:p>
        </p:txBody>
      </p:sp>
      <p:sp>
        <p:nvSpPr>
          <p:cNvPr id="19" name="">
            <a:extLst xmlns:a="http://schemas.openxmlformats.org/drawingml/2006/main">
              <a:ext uri="{FF2B5EF4-FFF2-40B4-BE49-F238E27FC236}">
                <a16:creationId xmlns:a16="http://schemas.microsoft.com/office/drawing/2014/main" id="{2C44E155-8B2F-4623-9A78-52A8C5786470}"/>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ED1CB383-387F-48C2-8A82-9651DD036724}"/>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Original-value range queries lose locality and may scatter</a:t>
            </a:r>
          </a:p>
        </p:txBody>
      </p:sp>
    </p:spTree>
    <p:extLst>
      <p:ext uri="{BB962C8B-B14F-4D97-AF65-F5344CB8AC3E}">
        <p14:creationId xmlns:p14="http://schemas.microsoft.com/office/powerpoint/2010/main" val="1777269813"/>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8CF751-29C0-4262-BD08-83A81063A0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E5F520B-3FB6-4FDA-9B69-A817AC03567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D920A22B-4943-42C5-9D4F-67B8AB6F30C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Candidate keys reveal different risks in the same dataset</a:t>
            </a:r>
          </a:p>
        </p:txBody>
      </p:sp>
      <p:sp>
        <p:nvSpPr>
          <p:cNvPr id="4" name="">
            <a:extLst xmlns:a="http://schemas.openxmlformats.org/drawingml/2006/main">
              <a:ext uri="{FF2B5EF4-FFF2-40B4-BE49-F238E27FC236}">
                <a16:creationId xmlns:a16="http://schemas.microsoft.com/office/drawing/2014/main" id="{F53C8F15-A951-490C-A2CB-3AB702E76CE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9ADD714-442E-409B-91BE-16535E98554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58D9E49F-D4A0-40FA-B193-53DF013BE727}"/>
              </a:ext>
            </a:extLst>
          </p:cNvPr>
          <p:cNvSpPr>
            <a:spLocks xmlns:a="http://schemas.openxmlformats.org/drawingml/2006/main" noGrp="1"/>
          </p:cNvSpPr>
          <p:nvPr/>
        </p:nvSpPr>
        <p:spPr>
          <a:xfrm xmlns:a="http://schemas.openxmlformats.org/drawingml/2006/main">
            <a:off x="685800" y="1714500"/>
            <a:ext cx="2476500" cy="5143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A12CFB81-A5BB-4F27-8099-7F1E5A1B682C}"/>
              </a:ext>
            </a:extLst>
          </p:cNvPr>
          <p:cNvSpPr>
            <a:spLocks xmlns:a="http://schemas.openxmlformats.org/drawingml/2006/main" noGrp="1"/>
          </p:cNvSpPr>
          <p:nvPr/>
        </p:nvSpPr>
        <p:spPr>
          <a:xfrm xmlns:a="http://schemas.openxmlformats.org/drawingml/2006/main">
            <a:off x="76200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a:t>
            </a:r>
          </a:p>
        </p:txBody>
      </p:sp>
      <p:sp>
        <p:nvSpPr>
          <p:cNvPr id="8" name="">
            <a:extLst xmlns:a="http://schemas.openxmlformats.org/drawingml/2006/main">
              <a:ext uri="{FF2B5EF4-FFF2-40B4-BE49-F238E27FC236}">
                <a16:creationId xmlns:a16="http://schemas.microsoft.com/office/drawing/2014/main" id="{53B3EC05-8C61-494C-94FF-20EBF265C820}"/>
              </a:ext>
            </a:extLst>
          </p:cNvPr>
          <p:cNvSpPr>
            <a:spLocks xmlns:a="http://schemas.openxmlformats.org/drawingml/2006/main" noGrp="1"/>
          </p:cNvSpPr>
          <p:nvPr/>
        </p:nvSpPr>
        <p:spPr>
          <a:xfrm xmlns:a="http://schemas.openxmlformats.org/drawingml/2006/main">
            <a:off x="3162300" y="1714500"/>
            <a:ext cx="3048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592201F4-1A85-49C8-BCC3-119F022F94FE}"/>
              </a:ext>
            </a:extLst>
          </p:cNvPr>
          <p:cNvSpPr>
            <a:spLocks xmlns:a="http://schemas.openxmlformats.org/drawingml/2006/main" noGrp="1"/>
          </p:cNvSpPr>
          <p:nvPr/>
        </p:nvSpPr>
        <p:spPr>
          <a:xfrm xmlns:a="http://schemas.openxmlformats.org/drawingml/2006/main">
            <a:off x="3238500" y="18097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Cardinality/frequency</a:t>
            </a:r>
          </a:p>
        </p:txBody>
      </p:sp>
      <p:sp>
        <p:nvSpPr>
          <p:cNvPr id="10" name="">
            <a:extLst xmlns:a="http://schemas.openxmlformats.org/drawingml/2006/main">
              <a:ext uri="{FF2B5EF4-FFF2-40B4-BE49-F238E27FC236}">
                <a16:creationId xmlns:a16="http://schemas.microsoft.com/office/drawing/2014/main" id="{12C6A562-05FD-4882-A84F-581181C4B638}"/>
              </a:ext>
            </a:extLst>
          </p:cNvPr>
          <p:cNvSpPr>
            <a:spLocks xmlns:a="http://schemas.openxmlformats.org/drawingml/2006/main" noGrp="1"/>
          </p:cNvSpPr>
          <p:nvPr/>
        </p:nvSpPr>
        <p:spPr>
          <a:xfrm xmlns:a="http://schemas.openxmlformats.org/drawingml/2006/main">
            <a:off x="6210300" y="1714500"/>
            <a:ext cx="2667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953A6FB9-1435-4967-B42F-384E96A99120}"/>
              </a:ext>
            </a:extLst>
          </p:cNvPr>
          <p:cNvSpPr>
            <a:spLocks xmlns:a="http://schemas.openxmlformats.org/drawingml/2006/main" noGrp="1"/>
          </p:cNvSpPr>
          <p:nvPr/>
        </p:nvSpPr>
        <p:spPr>
          <a:xfrm xmlns:a="http://schemas.openxmlformats.org/drawingml/2006/main">
            <a:off x="6286500" y="1809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Targeting</a:t>
            </a:r>
          </a:p>
        </p:txBody>
      </p:sp>
      <p:sp>
        <p:nvSpPr>
          <p:cNvPr id="12" name="">
            <a:extLst xmlns:a="http://schemas.openxmlformats.org/drawingml/2006/main">
              <a:ext uri="{FF2B5EF4-FFF2-40B4-BE49-F238E27FC236}">
                <a16:creationId xmlns:a16="http://schemas.microsoft.com/office/drawing/2014/main" id="{7B02EB28-E981-4E9D-A725-68102B046A2D}"/>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EFDD5845-2BCD-49BD-8884-628E62763AE5}"/>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Main risk</a:t>
            </a:r>
          </a:p>
        </p:txBody>
      </p:sp>
      <p:sp>
        <p:nvSpPr>
          <p:cNvPr id="14" name="">
            <a:extLst xmlns:a="http://schemas.openxmlformats.org/drawingml/2006/main">
              <a:ext uri="{FF2B5EF4-FFF2-40B4-BE49-F238E27FC236}">
                <a16:creationId xmlns:a16="http://schemas.microsoft.com/office/drawing/2014/main" id="{4E1448AC-EB49-403F-A9A6-4B79823123E2}"/>
              </a:ext>
            </a:extLst>
          </p:cNvPr>
          <p:cNvSpPr>
            <a:spLocks xmlns:a="http://schemas.openxmlformats.org/drawingml/2006/main" noGrp="1"/>
          </p:cNvSpPr>
          <p:nvPr/>
        </p:nvSpPr>
        <p:spPr>
          <a:xfrm xmlns:a="http://schemas.openxmlformats.org/drawingml/2006/main">
            <a:off x="685800" y="22288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8790DE38-A035-4233-823D-7244701987CB}"/>
              </a:ext>
            </a:extLst>
          </p:cNvPr>
          <p:cNvSpPr>
            <a:spLocks xmlns:a="http://schemas.openxmlformats.org/drawingml/2006/main" noGrp="1"/>
          </p:cNvSpPr>
          <p:nvPr/>
        </p:nvSpPr>
        <p:spPr>
          <a:xfrm xmlns:a="http://schemas.openxmlformats.org/drawingml/2006/main">
            <a:off x="762000" y="23050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a:t>
            </a:r>
          </a:p>
        </p:txBody>
      </p:sp>
      <p:sp>
        <p:nvSpPr>
          <p:cNvPr id="16" name="">
            <a:extLst xmlns:a="http://schemas.openxmlformats.org/drawingml/2006/main">
              <a:ext uri="{FF2B5EF4-FFF2-40B4-BE49-F238E27FC236}">
                <a16:creationId xmlns:a16="http://schemas.microsoft.com/office/drawing/2014/main" id="{3417435B-BF62-44EC-AD7A-E90D713174BA}"/>
              </a:ext>
            </a:extLst>
          </p:cNvPr>
          <p:cNvSpPr>
            <a:spLocks xmlns:a="http://schemas.openxmlformats.org/drawingml/2006/main" noGrp="1"/>
          </p:cNvSpPr>
          <p:nvPr/>
        </p:nvSpPr>
        <p:spPr>
          <a:xfrm xmlns:a="http://schemas.openxmlformats.org/drawingml/2006/main">
            <a:off x="3162300" y="22288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5AACC052-9155-4B1D-851C-31F70D545965}"/>
              </a:ext>
            </a:extLst>
          </p:cNvPr>
          <p:cNvSpPr>
            <a:spLocks xmlns:a="http://schemas.openxmlformats.org/drawingml/2006/main" noGrp="1"/>
          </p:cNvSpPr>
          <p:nvPr/>
        </p:nvSpPr>
        <p:spPr>
          <a:xfrm xmlns:a="http://schemas.openxmlformats.org/drawingml/2006/main">
            <a:off x="3238500" y="23050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few repeated values</a:t>
            </a:r>
          </a:p>
        </p:txBody>
      </p:sp>
      <p:sp>
        <p:nvSpPr>
          <p:cNvPr id="18" name="">
            <a:extLst xmlns:a="http://schemas.openxmlformats.org/drawingml/2006/main">
              <a:ext uri="{FF2B5EF4-FFF2-40B4-BE49-F238E27FC236}">
                <a16:creationId xmlns:a16="http://schemas.microsoft.com/office/drawing/2014/main" id="{6DFB852A-4B22-491B-B7B8-94D561773284}"/>
              </a:ext>
            </a:extLst>
          </p:cNvPr>
          <p:cNvSpPr>
            <a:spLocks xmlns:a="http://schemas.openxmlformats.org/drawingml/2006/main" noGrp="1"/>
          </p:cNvSpPr>
          <p:nvPr/>
        </p:nvSpPr>
        <p:spPr>
          <a:xfrm xmlns:a="http://schemas.openxmlformats.org/drawingml/2006/main">
            <a:off x="6210300" y="22288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97C1F33C-04D8-4F0D-9387-6AD3D2946211}"/>
              </a:ext>
            </a:extLst>
          </p:cNvPr>
          <p:cNvSpPr>
            <a:spLocks xmlns:a="http://schemas.openxmlformats.org/drawingml/2006/main" noGrp="1"/>
          </p:cNvSpPr>
          <p:nvPr/>
        </p:nvSpPr>
        <p:spPr>
          <a:xfrm xmlns:a="http://schemas.openxmlformats.org/drawingml/2006/main">
            <a:off x="6286500" y="23050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filters only</a:t>
            </a:r>
          </a:p>
        </p:txBody>
      </p:sp>
      <p:sp>
        <p:nvSpPr>
          <p:cNvPr id="20" name="">
            <a:extLst xmlns:a="http://schemas.openxmlformats.org/drawingml/2006/main">
              <a:ext uri="{FF2B5EF4-FFF2-40B4-BE49-F238E27FC236}">
                <a16:creationId xmlns:a16="http://schemas.microsoft.com/office/drawing/2014/main" id="{84ED5843-2D59-49F2-AADE-5E9D8CCA5C7D}"/>
              </a:ext>
            </a:extLst>
          </p:cNvPr>
          <p:cNvSpPr>
            <a:spLocks xmlns:a="http://schemas.openxmlformats.org/drawingml/2006/main" noGrp="1"/>
          </p:cNvSpPr>
          <p:nvPr/>
        </p:nvSpPr>
        <p:spPr>
          <a:xfrm xmlns:a="http://schemas.openxmlformats.org/drawingml/2006/main">
            <a:off x="8877300" y="22288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4241FE5A-E2C3-4D8B-88CE-86A875F05170}"/>
              </a:ext>
            </a:extLst>
          </p:cNvPr>
          <p:cNvSpPr>
            <a:spLocks xmlns:a="http://schemas.openxmlformats.org/drawingml/2006/main" noGrp="1"/>
          </p:cNvSpPr>
          <p:nvPr/>
        </p:nvSpPr>
        <p:spPr>
          <a:xfrm xmlns:a="http://schemas.openxmlformats.org/drawingml/2006/main">
            <a:off x="8953500" y="23050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hot or oversized values</a:t>
            </a:r>
          </a:p>
        </p:txBody>
      </p:sp>
      <p:sp>
        <p:nvSpPr>
          <p:cNvPr id="22" name="">
            <a:extLst xmlns:a="http://schemas.openxmlformats.org/drawingml/2006/main">
              <a:ext uri="{FF2B5EF4-FFF2-40B4-BE49-F238E27FC236}">
                <a16:creationId xmlns:a16="http://schemas.microsoft.com/office/drawing/2014/main" id="{7949E308-7FF8-4881-972B-5A65F7527881}"/>
              </a:ext>
            </a:extLst>
          </p:cNvPr>
          <p:cNvSpPr>
            <a:spLocks xmlns:a="http://schemas.openxmlformats.org/drawingml/2006/main" noGrp="1"/>
          </p:cNvSpPr>
          <p:nvPr/>
        </p:nvSpPr>
        <p:spPr>
          <a:xfrm xmlns:a="http://schemas.openxmlformats.org/drawingml/2006/main">
            <a:off x="685800" y="30099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FFDC5467-4949-4256-B331-CD1BD4BF2E66}"/>
              </a:ext>
            </a:extLst>
          </p:cNvPr>
          <p:cNvSpPr>
            <a:spLocks xmlns:a="http://schemas.openxmlformats.org/drawingml/2006/main" noGrp="1"/>
          </p:cNvSpPr>
          <p:nvPr/>
        </p:nvSpPr>
        <p:spPr>
          <a:xfrm xmlns:a="http://schemas.openxmlformats.org/drawingml/2006/main">
            <a:off x="762000" y="30861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dateAdded ranged</a:t>
            </a:r>
          </a:p>
        </p:txBody>
      </p:sp>
      <p:sp>
        <p:nvSpPr>
          <p:cNvPr id="24" name="">
            <a:extLst xmlns:a="http://schemas.openxmlformats.org/drawingml/2006/main">
              <a:ext uri="{FF2B5EF4-FFF2-40B4-BE49-F238E27FC236}">
                <a16:creationId xmlns:a16="http://schemas.microsoft.com/office/drawing/2014/main" id="{74ACFF76-E605-41ED-B1B4-62240A2D010B}"/>
              </a:ext>
            </a:extLst>
          </p:cNvPr>
          <p:cNvSpPr>
            <a:spLocks xmlns:a="http://schemas.openxmlformats.org/drawingml/2006/main" noGrp="1"/>
          </p:cNvSpPr>
          <p:nvPr/>
        </p:nvSpPr>
        <p:spPr>
          <a:xfrm xmlns:a="http://schemas.openxmlformats.org/drawingml/2006/main">
            <a:off x="3162300" y="30099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11407755-3153-499F-B98C-CC68DF410F21}"/>
              </a:ext>
            </a:extLst>
          </p:cNvPr>
          <p:cNvSpPr>
            <a:spLocks xmlns:a="http://schemas.openxmlformats.org/drawingml/2006/main" noGrp="1"/>
          </p:cNvSpPr>
          <p:nvPr/>
        </p:nvSpPr>
        <p:spPr>
          <a:xfrm xmlns:a="http://schemas.openxmlformats.org/drawingml/2006/main">
            <a:off x="3238500" y="30861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many, often monotonic</a:t>
            </a:r>
          </a:p>
        </p:txBody>
      </p:sp>
      <p:sp>
        <p:nvSpPr>
          <p:cNvPr id="26" name="">
            <a:extLst xmlns:a="http://schemas.openxmlformats.org/drawingml/2006/main">
              <a:ext uri="{FF2B5EF4-FFF2-40B4-BE49-F238E27FC236}">
                <a16:creationId xmlns:a16="http://schemas.microsoft.com/office/drawing/2014/main" id="{C15856B0-D9F0-4813-9D50-588ECA3AD9DF}"/>
              </a:ext>
            </a:extLst>
          </p:cNvPr>
          <p:cNvSpPr>
            <a:spLocks xmlns:a="http://schemas.openxmlformats.org/drawingml/2006/main" noGrp="1"/>
          </p:cNvSpPr>
          <p:nvPr/>
        </p:nvSpPr>
        <p:spPr>
          <a:xfrm xmlns:a="http://schemas.openxmlformats.org/drawingml/2006/main">
            <a:off x="6210300" y="30099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CA9E99CB-9F14-4CD7-92AD-922C6D934E8D}"/>
              </a:ext>
            </a:extLst>
          </p:cNvPr>
          <p:cNvSpPr>
            <a:spLocks xmlns:a="http://schemas.openxmlformats.org/drawingml/2006/main" noGrp="1"/>
          </p:cNvSpPr>
          <p:nvPr/>
        </p:nvSpPr>
        <p:spPr>
          <a:xfrm xmlns:a="http://schemas.openxmlformats.org/drawingml/2006/main">
            <a:off x="6286500" y="30861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time-window queries</a:t>
            </a:r>
          </a:p>
        </p:txBody>
      </p:sp>
      <p:sp>
        <p:nvSpPr>
          <p:cNvPr id="28" name="">
            <a:extLst xmlns:a="http://schemas.openxmlformats.org/drawingml/2006/main">
              <a:ext uri="{FF2B5EF4-FFF2-40B4-BE49-F238E27FC236}">
                <a16:creationId xmlns:a16="http://schemas.microsoft.com/office/drawing/2014/main" id="{7A67BC94-9E86-482F-A2CA-8DC39E7DA053}"/>
              </a:ext>
            </a:extLst>
          </p:cNvPr>
          <p:cNvSpPr>
            <a:spLocks xmlns:a="http://schemas.openxmlformats.org/drawingml/2006/main" noGrp="1"/>
          </p:cNvSpPr>
          <p:nvPr/>
        </p:nvSpPr>
        <p:spPr>
          <a:xfrm xmlns:a="http://schemas.openxmlformats.org/drawingml/2006/main">
            <a:off x="8877300" y="30099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F17E5F07-ED04-4905-BE39-D07E317D8DF0}"/>
              </a:ext>
            </a:extLst>
          </p:cNvPr>
          <p:cNvSpPr>
            <a:spLocks xmlns:a="http://schemas.openxmlformats.org/drawingml/2006/main" noGrp="1"/>
          </p:cNvSpPr>
          <p:nvPr/>
        </p:nvSpPr>
        <p:spPr>
          <a:xfrm xmlns:a="http://schemas.openxmlformats.org/drawingml/2006/main">
            <a:off x="8953500" y="30861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latest-write range hotspot</a:t>
            </a:r>
          </a:p>
        </p:txBody>
      </p:sp>
      <p:sp>
        <p:nvSpPr>
          <p:cNvPr id="30" name="">
            <a:extLst xmlns:a="http://schemas.openxmlformats.org/drawingml/2006/main">
              <a:ext uri="{FF2B5EF4-FFF2-40B4-BE49-F238E27FC236}">
                <a16:creationId xmlns:a16="http://schemas.microsoft.com/office/drawing/2014/main" id="{2708D3D6-0753-48B2-824B-6F07E7E8AC58}"/>
              </a:ext>
            </a:extLst>
          </p:cNvPr>
          <p:cNvSpPr>
            <a:spLocks xmlns:a="http://schemas.openxmlformats.org/drawingml/2006/main" noGrp="1"/>
          </p:cNvSpPr>
          <p:nvPr/>
        </p:nvSpPr>
        <p:spPr>
          <a:xfrm xmlns:a="http://schemas.openxmlformats.org/drawingml/2006/main">
            <a:off x="685800" y="37909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1FBFE9AD-65F0-4133-925A-196E225A0213}"/>
              </a:ext>
            </a:extLst>
          </p:cNvPr>
          <p:cNvSpPr>
            <a:spLocks xmlns:a="http://schemas.openxmlformats.org/drawingml/2006/main" noGrp="1"/>
          </p:cNvSpPr>
          <p:nvPr/>
        </p:nvSpPr>
        <p:spPr>
          <a:xfrm xmlns:a="http://schemas.openxmlformats.org/drawingml/2006/main">
            <a:off x="762000" y="3867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cveID hashed</a:t>
            </a:r>
          </a:p>
        </p:txBody>
      </p:sp>
      <p:sp>
        <p:nvSpPr>
          <p:cNvPr id="32" name="">
            <a:extLst xmlns:a="http://schemas.openxmlformats.org/drawingml/2006/main">
              <a:ext uri="{FF2B5EF4-FFF2-40B4-BE49-F238E27FC236}">
                <a16:creationId xmlns:a16="http://schemas.microsoft.com/office/drawing/2014/main" id="{0864BB0C-EB69-460A-A57A-84BB9CCF6EDC}"/>
              </a:ext>
            </a:extLst>
          </p:cNvPr>
          <p:cNvSpPr>
            <a:spLocks xmlns:a="http://schemas.openxmlformats.org/drawingml/2006/main" noGrp="1"/>
          </p:cNvSpPr>
          <p:nvPr/>
        </p:nvSpPr>
        <p:spPr>
          <a:xfrm xmlns:a="http://schemas.openxmlformats.org/drawingml/2006/main">
            <a:off x="3162300" y="37909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B0FFF27D-6E15-45C4-ACB7-20B656F9E13C}"/>
              </a:ext>
            </a:extLst>
          </p:cNvPr>
          <p:cNvSpPr>
            <a:spLocks xmlns:a="http://schemas.openxmlformats.org/drawingml/2006/main" noGrp="1"/>
          </p:cNvSpPr>
          <p:nvPr/>
        </p:nvSpPr>
        <p:spPr>
          <a:xfrm xmlns:a="http://schemas.openxmlformats.org/drawingml/2006/main">
            <a:off x="3238500" y="38671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high and likely spread</a:t>
            </a:r>
          </a:p>
        </p:txBody>
      </p:sp>
      <p:sp>
        <p:nvSpPr>
          <p:cNvPr id="34" name="">
            <a:extLst xmlns:a="http://schemas.openxmlformats.org/drawingml/2006/main">
              <a:ext uri="{FF2B5EF4-FFF2-40B4-BE49-F238E27FC236}">
                <a16:creationId xmlns:a16="http://schemas.microsoft.com/office/drawing/2014/main" id="{E6EE7F29-6701-47EB-A472-FF8860C64704}"/>
              </a:ext>
            </a:extLst>
          </p:cNvPr>
          <p:cNvSpPr>
            <a:spLocks xmlns:a="http://schemas.openxmlformats.org/drawingml/2006/main" noGrp="1"/>
          </p:cNvSpPr>
          <p:nvPr/>
        </p:nvSpPr>
        <p:spPr>
          <a:xfrm xmlns:a="http://schemas.openxmlformats.org/drawingml/2006/main">
            <a:off x="6210300" y="37909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55A6CAB7-89CD-4B33-82AD-7DA8970CD79C}"/>
              </a:ext>
            </a:extLst>
          </p:cNvPr>
          <p:cNvSpPr>
            <a:spLocks xmlns:a="http://schemas.openxmlformats.org/drawingml/2006/main" noGrp="1"/>
          </p:cNvSpPr>
          <p:nvPr/>
        </p:nvSpPr>
        <p:spPr>
          <a:xfrm xmlns:a="http://schemas.openxmlformats.org/drawingml/2006/main">
            <a:off x="6286500" y="38671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exact identifier lookup</a:t>
            </a:r>
          </a:p>
        </p:txBody>
      </p:sp>
      <p:sp>
        <p:nvSpPr>
          <p:cNvPr id="36" name="">
            <a:extLst xmlns:a="http://schemas.openxmlformats.org/drawingml/2006/main">
              <a:ext uri="{FF2B5EF4-FFF2-40B4-BE49-F238E27FC236}">
                <a16:creationId xmlns:a16="http://schemas.microsoft.com/office/drawing/2014/main" id="{78EC4483-955F-41E2-9123-9EE7A2DE783F}"/>
              </a:ext>
            </a:extLst>
          </p:cNvPr>
          <p:cNvSpPr>
            <a:spLocks xmlns:a="http://schemas.openxmlformats.org/drawingml/2006/main" noGrp="1"/>
          </p:cNvSpPr>
          <p:nvPr/>
        </p:nvSpPr>
        <p:spPr>
          <a:xfrm xmlns:a="http://schemas.openxmlformats.org/drawingml/2006/main">
            <a:off x="8877300" y="37909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B6746ADA-551A-4807-97FE-AC4EA30E759E}"/>
              </a:ext>
            </a:extLst>
          </p:cNvPr>
          <p:cNvSpPr>
            <a:spLocks xmlns:a="http://schemas.openxmlformats.org/drawingml/2006/main" noGrp="1"/>
          </p:cNvSpPr>
          <p:nvPr/>
        </p:nvSpPr>
        <p:spPr>
          <a:xfrm xmlns:a="http://schemas.openxmlformats.org/drawingml/2006/main">
            <a:off x="8953500" y="3867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time/vendor queries scatter</a:t>
            </a:r>
          </a:p>
        </p:txBody>
      </p:sp>
      <p:sp>
        <p:nvSpPr>
          <p:cNvPr id="38" name="">
            <a:extLst xmlns:a="http://schemas.openxmlformats.org/drawingml/2006/main">
              <a:ext uri="{FF2B5EF4-FFF2-40B4-BE49-F238E27FC236}">
                <a16:creationId xmlns:a16="http://schemas.microsoft.com/office/drawing/2014/main" id="{3C360B15-5E05-45C8-81EF-F7FC427AF5A8}"/>
              </a:ext>
            </a:extLst>
          </p:cNvPr>
          <p:cNvSpPr>
            <a:spLocks xmlns:a="http://schemas.openxmlformats.org/drawingml/2006/main" noGrp="1"/>
          </p:cNvSpPr>
          <p:nvPr/>
        </p:nvSpPr>
        <p:spPr>
          <a:xfrm xmlns:a="http://schemas.openxmlformats.org/drawingml/2006/main">
            <a:off x="685800" y="45720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3E7FD626-8AD1-4A9C-8530-790C24D1E4D2}"/>
              </a:ext>
            </a:extLst>
          </p:cNvPr>
          <p:cNvSpPr>
            <a:spLocks xmlns:a="http://schemas.openxmlformats.org/drawingml/2006/main" noGrp="1"/>
          </p:cNvSpPr>
          <p:nvPr/>
        </p:nvSpPr>
        <p:spPr>
          <a:xfrm xmlns:a="http://schemas.openxmlformats.org/drawingml/2006/main">
            <a:off x="762000" y="46482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vendorProject + key</a:t>
            </a:r>
          </a:p>
        </p:txBody>
      </p:sp>
      <p:sp>
        <p:nvSpPr>
          <p:cNvPr id="40" name="">
            <a:extLst xmlns:a="http://schemas.openxmlformats.org/drawingml/2006/main">
              <a:ext uri="{FF2B5EF4-FFF2-40B4-BE49-F238E27FC236}">
                <a16:creationId xmlns:a16="http://schemas.microsoft.com/office/drawing/2014/main" id="{E8453DF1-3038-4206-9300-DB53161E6EED}"/>
              </a:ext>
            </a:extLst>
          </p:cNvPr>
          <p:cNvSpPr>
            <a:spLocks xmlns:a="http://schemas.openxmlformats.org/drawingml/2006/main" noGrp="1"/>
          </p:cNvSpPr>
          <p:nvPr/>
        </p:nvSpPr>
        <p:spPr>
          <a:xfrm xmlns:a="http://schemas.openxmlformats.org/drawingml/2006/main">
            <a:off x="3162300" y="45720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FAD814D4-86C6-4354-89B3-8BA63E9333F2}"/>
              </a:ext>
            </a:extLst>
          </p:cNvPr>
          <p:cNvSpPr>
            <a:spLocks xmlns:a="http://schemas.openxmlformats.org/drawingml/2006/main" noGrp="1"/>
          </p:cNvSpPr>
          <p:nvPr/>
        </p:nvSpPr>
        <p:spPr>
          <a:xfrm xmlns:a="http://schemas.openxmlformats.org/drawingml/2006/main">
            <a:off x="3238500" y="46482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skew must be measured</a:t>
            </a:r>
          </a:p>
        </p:txBody>
      </p:sp>
      <p:sp>
        <p:nvSpPr>
          <p:cNvPr id="42" name="">
            <a:extLst xmlns:a="http://schemas.openxmlformats.org/drawingml/2006/main">
              <a:ext uri="{FF2B5EF4-FFF2-40B4-BE49-F238E27FC236}">
                <a16:creationId xmlns:a16="http://schemas.microsoft.com/office/drawing/2014/main" id="{F0091E0D-1AA8-4E5E-96FE-43C96848BDE0}"/>
              </a:ext>
            </a:extLst>
          </p:cNvPr>
          <p:cNvSpPr>
            <a:spLocks xmlns:a="http://schemas.openxmlformats.org/drawingml/2006/main" noGrp="1"/>
          </p:cNvSpPr>
          <p:nvPr/>
        </p:nvSpPr>
        <p:spPr>
          <a:xfrm xmlns:a="http://schemas.openxmlformats.org/drawingml/2006/main">
            <a:off x="6210300" y="45720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3508DECB-93E1-4EE4-92EE-B8788812B564}"/>
              </a:ext>
            </a:extLst>
          </p:cNvPr>
          <p:cNvSpPr>
            <a:spLocks xmlns:a="http://schemas.openxmlformats.org/drawingml/2006/main" noGrp="1"/>
          </p:cNvSpPr>
          <p:nvPr/>
        </p:nvSpPr>
        <p:spPr>
          <a:xfrm xmlns:a="http://schemas.openxmlformats.org/drawingml/2006/main">
            <a:off x="6286500" y="46482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vendor-oriented workloads</a:t>
            </a:r>
          </a:p>
        </p:txBody>
      </p:sp>
      <p:sp>
        <p:nvSpPr>
          <p:cNvPr id="44" name="">
            <a:extLst xmlns:a="http://schemas.openxmlformats.org/drawingml/2006/main">
              <a:ext uri="{FF2B5EF4-FFF2-40B4-BE49-F238E27FC236}">
                <a16:creationId xmlns:a16="http://schemas.microsoft.com/office/drawing/2014/main" id="{7E1D4409-1F71-465A-984C-088EB9B0C629}"/>
              </a:ext>
            </a:extLst>
          </p:cNvPr>
          <p:cNvSpPr>
            <a:spLocks xmlns:a="http://schemas.openxmlformats.org/drawingml/2006/main" noGrp="1"/>
          </p:cNvSpPr>
          <p:nvPr/>
        </p:nvSpPr>
        <p:spPr>
          <a:xfrm xmlns:a="http://schemas.openxmlformats.org/drawingml/2006/main">
            <a:off x="8877300" y="45720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42F077B5-3D59-432A-9826-1CC1E2F1228B}"/>
              </a:ext>
            </a:extLst>
          </p:cNvPr>
          <p:cNvSpPr>
            <a:spLocks xmlns:a="http://schemas.openxmlformats.org/drawingml/2006/main" noGrp="1"/>
          </p:cNvSpPr>
          <p:nvPr/>
        </p:nvSpPr>
        <p:spPr>
          <a:xfrm xmlns:a="http://schemas.openxmlformats.org/drawingml/2006/main">
            <a:off x="8953500" y="46482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dominant vendors and complexity</a:t>
            </a:r>
          </a:p>
        </p:txBody>
      </p:sp>
    </p:spTree>
    <p:extLst>
      <p:ext uri="{BB962C8B-B14F-4D97-AF65-F5344CB8AC3E}">
        <p14:creationId xmlns:p14="http://schemas.microsoft.com/office/powerpoint/2010/main" val="129264003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A73EDB-0FCB-48B1-BBB3-47B2AE137D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6564623-B375-4449-9466-7E6A8F57794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C2E79DB3-F273-45D2-9A30-9A00354F691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Day 1 studio: Measure distribution before recommending scale</a:t>
            </a:r>
          </a:p>
        </p:txBody>
      </p:sp>
      <p:sp>
        <p:nvSpPr>
          <p:cNvPr id="4" name="">
            <a:extLst xmlns:a="http://schemas.openxmlformats.org/drawingml/2006/main">
              <a:ext uri="{FF2B5EF4-FFF2-40B4-BE49-F238E27FC236}">
                <a16:creationId xmlns:a16="http://schemas.microsoft.com/office/drawing/2014/main" id="{6188B9DE-6581-4742-BBA9-3235688606F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0BEF39A-5FF3-4E27-9E08-F03154E4EB4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151F775F-7B61-492F-91E5-BA41EF33840D}"/>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the notebook to audit public data and simulate candidate range and hash distribution.</a:t>
            </a:r>
          </a:p>
        </p:txBody>
      </p:sp>
      <p:sp>
        <p:nvSpPr>
          <p:cNvPr id="7" name="">
            <a:extLst xmlns:a="http://schemas.openxmlformats.org/drawingml/2006/main">
              <a:ext uri="{FF2B5EF4-FFF2-40B4-BE49-F238E27FC236}">
                <a16:creationId xmlns:a16="http://schemas.microsoft.com/office/drawing/2014/main" id="{A4CA85F6-1C14-4067-8959-AB7A9CCB1B41}"/>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4CDCFF5F-E2F0-4814-AD6C-DBB052CAF4CB}"/>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source, retrieval date, fields, nulls, duplicates, types, and one answerable question.</a:t>
            </a:r>
          </a:p>
        </p:txBody>
      </p:sp>
      <p:sp>
        <p:nvSpPr>
          <p:cNvPr id="9" name="">
            <a:extLst xmlns:a="http://schemas.openxmlformats.org/drawingml/2006/main">
              <a:ext uri="{FF2B5EF4-FFF2-40B4-BE49-F238E27FC236}">
                <a16:creationId xmlns:a16="http://schemas.microsoft.com/office/drawing/2014/main" id="{2EB5A2D2-E303-4C0F-8F2F-4C202BC87BC4}"/>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ECE9245F-A33F-4752-8DD1-E5B337F8CA51}"/>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Compare candidate cardinality, high-frequency values, monotonicity, and query targeting.</a:t>
            </a:r>
          </a:p>
        </p:txBody>
      </p:sp>
      <p:sp>
        <p:nvSpPr>
          <p:cNvPr id="11" name="">
            <a:extLst xmlns:a="http://schemas.openxmlformats.org/drawingml/2006/main">
              <a:ext uri="{FF2B5EF4-FFF2-40B4-BE49-F238E27FC236}">
                <a16:creationId xmlns:a16="http://schemas.microsoft.com/office/drawing/2014/main" id="{7FA706B2-4A84-4219-BC49-D626895A7E49}"/>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78636C81-7591-4CE6-9C9B-5FDF64F9CEF1}"/>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Interpret deterministic range and hash simulations, then recommend a candidate or no sharding yet.</a:t>
            </a:r>
          </a:p>
        </p:txBody>
      </p:sp>
      <p:sp>
        <p:nvSpPr>
          <p:cNvPr id="13" name="">
            <a:extLst xmlns:a="http://schemas.openxmlformats.org/drawingml/2006/main">
              <a:ext uri="{FF2B5EF4-FFF2-40B4-BE49-F238E27FC236}">
                <a16:creationId xmlns:a16="http://schemas.microsoft.com/office/drawing/2014/main" id="{08080510-BD63-4B1C-9BF9-F2C727976813}"/>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B9D5377C-467B-4BFB-B8F7-C41D903FEE9D}"/>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the first completed half of the Week 13 notebook</a:t>
            </a:r>
          </a:p>
        </p:txBody>
      </p:sp>
    </p:spTree>
    <p:extLst>
      <p:ext uri="{BB962C8B-B14F-4D97-AF65-F5344CB8AC3E}">
        <p14:creationId xmlns:p14="http://schemas.microsoft.com/office/powerpoint/2010/main" val="17792843"/>
      </p:ext>
    </p:extLst>
  </p:cSld>
</p:sld>
</file>

<file path=ppt/slides/slide10.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EC7938-0F9B-4776-B875-B1D9432BD9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 name="">
            <a:extLst xmlns:a="http://schemas.openxmlformats.org/drawingml/2006/main">
              <a:ext uri="{FF2B5EF4-FFF2-40B4-BE49-F238E27FC236}">
                <a16:creationId xmlns:a16="http://schemas.microsoft.com/office/drawing/2014/main" id="{C7D187E3-D5C2-4C7F-9C7B-20D859B98580}"/>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5E1C9020-3080-4723-8680-4B964D2FEBB1}"/>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 small client should expose every important boundary</a:t>
            </a:r>
          </a:p>
        </p:txBody>
      </p:sp>
      <p:sp>
        <p:nvSpPr>
          <p:cNvPr id="4" name="">
            <a:extLst xmlns:a="http://schemas.openxmlformats.org/drawingml/2006/main">
              <a:ext uri="{FF2B5EF4-FFF2-40B4-BE49-F238E27FC236}">
                <a16:creationId xmlns:a16="http://schemas.microsoft.com/office/drawing/2014/main" id="{73C098EE-555C-4A7D-872F-D729A99112D2}"/>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Connect safely, transform explicitly, write idempotently, and verify a real question.</a:t>
            </a:r>
          </a:p>
        </p:txBody>
      </p:sp>
      <p:sp>
        <p:nvSpPr>
          <p:cNvPr id="5" name="">
            <a:extLst xmlns:a="http://schemas.openxmlformats.org/drawingml/2006/main">
              <a:ext uri="{FF2B5EF4-FFF2-40B4-BE49-F238E27FC236}">
                <a16:creationId xmlns:a16="http://schemas.microsoft.com/office/drawing/2014/main" id="{01667C89-08B6-45C0-B298-7AFD508FEBE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10</a:t>
            </a:r>
          </a:p>
        </p:txBody>
      </p:sp>
    </p:spTree>
    <p:extLst>
      <p:ext uri="{BB962C8B-B14F-4D97-AF65-F5344CB8AC3E}">
        <p14:creationId xmlns:p14="http://schemas.microsoft.com/office/powerpoint/2010/main" val="1558917921"/>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6F6C37-1C3E-40DC-925D-2A46AEE27C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D9B1923-9BB3-4B82-8871-7A60E78DBF1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8900D2EE-1D6E-47F1-8E1F-FF2733F007F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client contract differs, but safe connection habits transfer</a:t>
            </a:r>
          </a:p>
        </p:txBody>
      </p:sp>
      <p:sp>
        <p:nvSpPr>
          <p:cNvPr id="4" name="">
            <a:extLst xmlns:a="http://schemas.openxmlformats.org/drawingml/2006/main">
              <a:ext uri="{FF2B5EF4-FFF2-40B4-BE49-F238E27FC236}">
                <a16:creationId xmlns:a16="http://schemas.microsoft.com/office/drawing/2014/main" id="{CD099D58-C76B-4D20-BF24-1E6905D9976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3E072AB-3ED3-44DF-9E91-C2A3C808463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598426F3-A283-4054-BC19-C8F3D317A8D3}"/>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MongoDB Atlas with PyMongo</a:t>
            </a:r>
          </a:p>
        </p:txBody>
      </p:sp>
      <p:sp>
        <p:nvSpPr>
          <p:cNvPr id="7" name="">
            <a:extLst xmlns:a="http://schemas.openxmlformats.org/drawingml/2006/main">
              <a:ext uri="{FF2B5EF4-FFF2-40B4-BE49-F238E27FC236}">
                <a16:creationId xmlns:a16="http://schemas.microsoft.com/office/drawing/2014/main" id="{832C0870-6F3D-4DFB-9090-624D7A9BC5C9}"/>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PostgreSQL/Supabase with Psycopg</a:t>
            </a:r>
          </a:p>
        </p:txBody>
      </p:sp>
      <p:sp>
        <p:nvSpPr>
          <p:cNvPr id="8" name="">
            <a:extLst xmlns:a="http://schemas.openxmlformats.org/drawingml/2006/main">
              <a:ext uri="{FF2B5EF4-FFF2-40B4-BE49-F238E27FC236}">
                <a16:creationId xmlns:a16="http://schemas.microsoft.com/office/drawing/2014/main" id="{5E001020-5AE5-4F7C-83B6-276687161B72}"/>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AE5B2DD6-770B-4B65-B384-05885A898BE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BE1281BB-9A8F-4F66-9CC6-58122D19AA29}"/>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Runtime URI, DNS/TLS, database and collection</a:t>
            </a:r>
          </a:p>
        </p:txBody>
      </p:sp>
      <p:sp>
        <p:nvSpPr>
          <p:cNvPr id="11" name="">
            <a:extLst xmlns:a="http://schemas.openxmlformats.org/drawingml/2006/main">
              <a:ext uri="{FF2B5EF4-FFF2-40B4-BE49-F238E27FC236}">
                <a16:creationId xmlns:a16="http://schemas.microsoft.com/office/drawing/2014/main" id="{014DDA25-30C3-447D-B39A-58C6F2E56144}"/>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80157185-9E54-4399-ACBE-C78A4F4B130B}"/>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Ping before writes; never normalize tlsInsecure</a:t>
            </a:r>
          </a:p>
        </p:txBody>
      </p:sp>
      <p:sp>
        <p:nvSpPr>
          <p:cNvPr id="13" name="">
            <a:extLst xmlns:a="http://schemas.openxmlformats.org/drawingml/2006/main">
              <a:ext uri="{FF2B5EF4-FFF2-40B4-BE49-F238E27FC236}">
                <a16:creationId xmlns:a16="http://schemas.microsoft.com/office/drawing/2014/main" id="{A057A5E6-251D-4A0C-9F48-E27DCAB772C9}"/>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776BA17B-C41D-4D40-BF99-BCF04DC26A28}"/>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Stable _id or upsert filter supports reruns</a:t>
            </a:r>
          </a:p>
        </p:txBody>
      </p:sp>
      <p:sp>
        <p:nvSpPr>
          <p:cNvPr id="15" name="">
            <a:extLst xmlns:a="http://schemas.openxmlformats.org/drawingml/2006/main">
              <a:ext uri="{FF2B5EF4-FFF2-40B4-BE49-F238E27FC236}">
                <a16:creationId xmlns:a16="http://schemas.microsoft.com/office/drawing/2014/main" id="{FF3737A2-7E83-4057-98EB-9F55C13058C4}"/>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BA82BC43-C9BE-43BD-88B7-C499FBF5E81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Runtime URL, TLS, role, database, schema, and table</a:t>
            </a:r>
          </a:p>
        </p:txBody>
      </p:sp>
      <p:sp>
        <p:nvSpPr>
          <p:cNvPr id="17" name="">
            <a:extLst xmlns:a="http://schemas.openxmlformats.org/drawingml/2006/main">
              <a:ext uri="{FF2B5EF4-FFF2-40B4-BE49-F238E27FC236}">
                <a16:creationId xmlns:a16="http://schemas.microsoft.com/office/drawing/2014/main" id="{B20239C0-2CE1-4CC6-B97E-53B25B464EB0}"/>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493F0A6B-16A6-4F7C-8295-4CAFEB1836C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 the current IPv4-compatible pooler when direct IPv6 is unreachable</a:t>
            </a:r>
          </a:p>
        </p:txBody>
      </p:sp>
      <p:sp>
        <p:nvSpPr>
          <p:cNvPr id="19" name="">
            <a:extLst xmlns:a="http://schemas.openxmlformats.org/drawingml/2006/main">
              <a:ext uri="{FF2B5EF4-FFF2-40B4-BE49-F238E27FC236}">
                <a16:creationId xmlns:a16="http://schemas.microsoft.com/office/drawing/2014/main" id="{9395EAD9-DAE4-4DDF-9AAA-2A80F04E17E9}"/>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35061F30-6B11-4232-B9C2-712E216EC0E6}"/>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Primary key plus ON CONFLICT supports reruns</a:t>
            </a:r>
          </a:p>
        </p:txBody>
      </p:sp>
    </p:spTree>
    <p:extLst>
      <p:ext uri="{BB962C8B-B14F-4D97-AF65-F5344CB8AC3E}">
        <p14:creationId xmlns:p14="http://schemas.microsoft.com/office/powerpoint/2010/main" val="193877513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B94682-238F-47B3-8D07-B8AD6230F3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E29A78F-11C0-4D48-B30D-76B6E516587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5559E5E9-BD5E-434B-A59A-AEBA24948DC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trustworthy import has a visible before and after</a:t>
            </a:r>
          </a:p>
        </p:txBody>
      </p:sp>
      <p:sp>
        <p:nvSpPr>
          <p:cNvPr id="4" name="">
            <a:extLst xmlns:a="http://schemas.openxmlformats.org/drawingml/2006/main">
              <a:ext uri="{FF2B5EF4-FFF2-40B4-BE49-F238E27FC236}">
                <a16:creationId xmlns:a16="http://schemas.microsoft.com/office/drawing/2014/main" id="{831BDCC8-7928-4D8D-884C-585645FF112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9CB872A-25B6-4FB2-94C2-8D8FB9180E3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94072B9B-30E5-4615-9A5D-BE436D058B56}"/>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4035FA95-14CF-43A3-A4C4-AA3C8B7E4D8B}"/>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8994D52B-0C5E-4826-BB62-BC9C87701FC7}"/>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2176E0CD-A4F7-4954-A287-88F197327538}"/>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Inspect</a:t>
            </a:r>
          </a:p>
        </p:txBody>
      </p:sp>
      <p:sp>
        <p:nvSpPr>
          <p:cNvPr id="10" name="">
            <a:extLst xmlns:a="http://schemas.openxmlformats.org/drawingml/2006/main">
              <a:ext uri="{FF2B5EF4-FFF2-40B4-BE49-F238E27FC236}">
                <a16:creationId xmlns:a16="http://schemas.microsoft.com/office/drawing/2014/main" id="{766E9BC4-BF3E-4219-B0A6-A83AF22A4A75}"/>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Source, terms, schema, size, nulls, duplicates</a:t>
            </a:r>
          </a:p>
        </p:txBody>
      </p:sp>
      <p:sp>
        <p:nvSpPr>
          <p:cNvPr id="11" name="">
            <a:extLst xmlns:a="http://schemas.openxmlformats.org/drawingml/2006/main">
              <a:ext uri="{FF2B5EF4-FFF2-40B4-BE49-F238E27FC236}">
                <a16:creationId xmlns:a16="http://schemas.microsoft.com/office/drawing/2014/main" id="{4A732678-8359-48A9-B7A0-0BFEF5E26B73}"/>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AE860617-93F3-490D-A260-8B76BB6DF7DE}"/>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EB5ED387-3B77-4F57-AA2C-2517BA6CFD55}"/>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Transform</a:t>
            </a:r>
          </a:p>
        </p:txBody>
      </p:sp>
      <p:sp>
        <p:nvSpPr>
          <p:cNvPr id="14" name="">
            <a:extLst xmlns:a="http://schemas.openxmlformats.org/drawingml/2006/main">
              <a:ext uri="{FF2B5EF4-FFF2-40B4-BE49-F238E27FC236}">
                <a16:creationId xmlns:a16="http://schemas.microsoft.com/office/drawing/2014/main" id="{576B5EFE-5124-48DA-BA15-44A3244709A5}"/>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Select fields and convert dates or missing values</a:t>
            </a:r>
          </a:p>
        </p:txBody>
      </p:sp>
      <p:sp>
        <p:nvSpPr>
          <p:cNvPr id="15" name="">
            <a:extLst xmlns:a="http://schemas.openxmlformats.org/drawingml/2006/main">
              <a:ext uri="{FF2B5EF4-FFF2-40B4-BE49-F238E27FC236}">
                <a16:creationId xmlns:a16="http://schemas.microsoft.com/office/drawing/2014/main" id="{F3A54930-57F0-420A-A350-AD03253FF564}"/>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C10A767C-BCD4-425D-98E7-188E12CEF4B5}"/>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C1B18A06-8414-4C2C-9937-18803D6BC9E4}"/>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Connect</a:t>
            </a:r>
          </a:p>
        </p:txBody>
      </p:sp>
      <p:sp>
        <p:nvSpPr>
          <p:cNvPr id="18" name="">
            <a:extLst xmlns:a="http://schemas.openxmlformats.org/drawingml/2006/main">
              <a:ext uri="{FF2B5EF4-FFF2-40B4-BE49-F238E27FC236}">
                <a16:creationId xmlns:a16="http://schemas.microsoft.com/office/drawing/2014/main" id="{9C1A3E6C-2AE8-4420-BF35-B6A2AA1A2F33}"/>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Enter secret at runtime, ping, and name the exact target</a:t>
            </a:r>
          </a:p>
        </p:txBody>
      </p:sp>
      <p:sp>
        <p:nvSpPr>
          <p:cNvPr id="19" name="">
            <a:extLst xmlns:a="http://schemas.openxmlformats.org/drawingml/2006/main">
              <a:ext uri="{FF2B5EF4-FFF2-40B4-BE49-F238E27FC236}">
                <a16:creationId xmlns:a16="http://schemas.microsoft.com/office/drawing/2014/main" id="{73F436A2-3BE8-4851-AC0B-FADFDB61D2E3}"/>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10FC4747-1919-404B-A6C6-8BE9285A968C}"/>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71A2458-AF8C-4F4F-B387-6DA53CFBF3D6}"/>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Write</a:t>
            </a:r>
          </a:p>
        </p:txBody>
      </p:sp>
      <p:sp>
        <p:nvSpPr>
          <p:cNvPr id="22" name="">
            <a:extLst xmlns:a="http://schemas.openxmlformats.org/drawingml/2006/main">
              <a:ext uri="{FF2B5EF4-FFF2-40B4-BE49-F238E27FC236}">
                <a16:creationId xmlns:a16="http://schemas.microsoft.com/office/drawing/2014/main" id="{96D53D24-19FD-4B56-8A48-29B3B038FC4E}"/>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a small batch and stable key for idempotent reruns</a:t>
            </a:r>
          </a:p>
        </p:txBody>
      </p:sp>
      <p:sp>
        <p:nvSpPr>
          <p:cNvPr id="23" name="">
            <a:extLst xmlns:a="http://schemas.openxmlformats.org/drawingml/2006/main">
              <a:ext uri="{FF2B5EF4-FFF2-40B4-BE49-F238E27FC236}">
                <a16:creationId xmlns:a16="http://schemas.microsoft.com/office/drawing/2014/main" id="{6C13124B-46B2-48D3-8817-610797EFCCF0}"/>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4E480E96-A2AA-432F-BED4-1EF94777EE2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D4ECC038-94FA-45B5-9F92-F5232EBD060D}"/>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6" name="">
            <a:extLst xmlns:a="http://schemas.openxmlformats.org/drawingml/2006/main">
              <a:ext uri="{FF2B5EF4-FFF2-40B4-BE49-F238E27FC236}">
                <a16:creationId xmlns:a16="http://schemas.microsoft.com/office/drawing/2014/main" id="{B93692A6-278A-4934-80CA-EB9AAF0A1F19}"/>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Compare counts, known ID, types, and grouped question</a:t>
            </a:r>
          </a:p>
        </p:txBody>
      </p:sp>
      <p:sp>
        <p:nvSpPr>
          <p:cNvPr id="27" name="">
            <a:extLst xmlns:a="http://schemas.openxmlformats.org/drawingml/2006/main">
              <a:ext uri="{FF2B5EF4-FFF2-40B4-BE49-F238E27FC236}">
                <a16:creationId xmlns:a16="http://schemas.microsoft.com/office/drawing/2014/main" id="{B9543E44-4056-49D1-8061-7D302A94FB48}"/>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An acknowledged batch is one observation, not the complete proof.</a:t>
            </a:r>
          </a:p>
        </p:txBody>
      </p:sp>
    </p:spTree>
    <p:extLst>
      <p:ext uri="{BB962C8B-B14F-4D97-AF65-F5344CB8AC3E}">
        <p14:creationId xmlns:p14="http://schemas.microsoft.com/office/powerpoint/2010/main" val="92892676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E60B40-9A69-4996-A856-435DBE74E7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028E8CE-63C7-4BC1-ACFA-45B70EC0B35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1DA88552-A0EC-49A2-A015-BB99DF1ECA4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Public data capacity and cloud integration</a:t>
            </a:r>
          </a:p>
        </p:txBody>
      </p:sp>
      <p:sp>
        <p:nvSpPr>
          <p:cNvPr id="4" name="">
            <a:extLst xmlns:a="http://schemas.openxmlformats.org/drawingml/2006/main">
              <a:ext uri="{FF2B5EF4-FFF2-40B4-BE49-F238E27FC236}">
                <a16:creationId xmlns:a16="http://schemas.microsoft.com/office/drawing/2014/main" id="{7D3EB020-C990-4B9C-BE96-B38F7B51073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333282D-85ED-4E12-A664-9390FB0FF00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A28FED1E-E5AC-45E6-BE5D-E1055A2F42DA}"/>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Finish one notebook that joins source audit, distribution evidence, a safe load, and query verification.</a:t>
            </a:r>
          </a:p>
        </p:txBody>
      </p:sp>
      <p:sp>
        <p:nvSpPr>
          <p:cNvPr id="7" name="">
            <a:extLst xmlns:a="http://schemas.openxmlformats.org/drawingml/2006/main">
              <a:ext uri="{FF2B5EF4-FFF2-40B4-BE49-F238E27FC236}">
                <a16:creationId xmlns:a16="http://schemas.microsoft.com/office/drawing/2014/main" id="{AE61478F-0714-48D1-AF25-8D96BF55905C}"/>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EA7D14FD-AC2C-42A7-9AD8-1072D3815FED}"/>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Atlas, PostgreSQL/Supabase, both for different responsibilities, or the full offline SQLite path.</a:t>
            </a:r>
          </a:p>
        </p:txBody>
      </p:sp>
      <p:sp>
        <p:nvSpPr>
          <p:cNvPr id="9" name="">
            <a:extLst xmlns:a="http://schemas.openxmlformats.org/drawingml/2006/main">
              <a:ext uri="{FF2B5EF4-FFF2-40B4-BE49-F238E27FC236}">
                <a16:creationId xmlns:a16="http://schemas.microsoft.com/office/drawing/2014/main" id="{F881AC4D-8FEF-4C56-800B-733910C79E3A}"/>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A98DE6D4-9C01-4F57-9CFA-B99FB5E810BA}"/>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Load the small subset idempotently, then verify count, known identifier, types, and one grouped question.</a:t>
            </a:r>
          </a:p>
        </p:txBody>
      </p:sp>
      <p:sp>
        <p:nvSpPr>
          <p:cNvPr id="11" name="">
            <a:extLst xmlns:a="http://schemas.openxmlformats.org/drawingml/2006/main">
              <a:ext uri="{FF2B5EF4-FFF2-40B4-BE49-F238E27FC236}">
                <a16:creationId xmlns:a16="http://schemas.microsoft.com/office/drawing/2014/main" id="{6F483DC2-DD2B-402F-B8A0-F0BB56D3E0A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3333802C-2E9F-418A-86FA-BF4E825656E2}"/>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State one final-project connection without changing the canonical final-project requirements, and scan for secrets.</a:t>
            </a:r>
          </a:p>
        </p:txBody>
      </p:sp>
      <p:sp>
        <p:nvSpPr>
          <p:cNvPr id="13" name="">
            <a:extLst xmlns:a="http://schemas.openxmlformats.org/drawingml/2006/main">
              <a:ext uri="{FF2B5EF4-FFF2-40B4-BE49-F238E27FC236}">
                <a16:creationId xmlns:a16="http://schemas.microsoft.com/office/drawing/2014/main" id="{EDB09F50-0BD6-4827-BB0D-CF20564F8196}"/>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FE9AFD65-6D15-4DDC-B2D5-454DD08386E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completed 06_public_data_capacity_integration.ipynb notebook</a:t>
            </a:r>
          </a:p>
        </p:txBody>
      </p:sp>
    </p:spTree>
    <p:extLst>
      <p:ext uri="{BB962C8B-B14F-4D97-AF65-F5344CB8AC3E}">
        <p14:creationId xmlns:p14="http://schemas.microsoft.com/office/powerpoint/2010/main" val="64683718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D16827-C2D9-42D0-94B1-A4CB403E7F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692C89F-330C-42E2-B9AF-10B5121336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38C56CD1-F616-4AAA-8AF1-2EB382F33D0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9811"/>
          </a:bodyPr>
          <a:lstStyle xmlns:a="http://schemas.openxmlformats.org/drawingml/2006/main"/>
          <a:p xmlns:a="http://schemas.openxmlformats.org/drawingml/2006/main">
            <a:pPr>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Scale decisions connect workload evidence to operating cost</a:t>
            </a:r>
          </a:p>
        </p:txBody>
      </p:sp>
      <p:sp>
        <p:nvSpPr>
          <p:cNvPr id="4" name="">
            <a:extLst xmlns:a="http://schemas.openxmlformats.org/drawingml/2006/main">
              <a:ext uri="{FF2B5EF4-FFF2-40B4-BE49-F238E27FC236}">
                <a16:creationId xmlns:a16="http://schemas.microsoft.com/office/drawing/2014/main" id="{FBFD3D4D-79DE-4414-933E-308386E68A67}"/>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2550" b="1">
                <a:solidFill>
                  <a:srgbClr val="15803D"/>
                </a:solidFill>
                <a:latin typeface="Helvetica Neue"/>
                <a:ea typeface="Helvetica Neue"/>
                <a:cs typeface="Helvetica Neue"/>
              </a:defRPr>
            </a:pPr>
            <a:r>
              <a:rPr sz="2550" b="1">
                <a:solidFill>
                  <a:srgbClr val="15803D"/>
                </a:solidFill>
                <a:latin typeface="Helvetica Neue"/>
                <a:ea typeface="Helvetica Neue"/>
                <a:cs typeface="Helvetica Neue"/>
              </a:rPr>
              <a:t>Measure first, distribute only when justified, and verify every data movement.</a:t>
            </a:r>
          </a:p>
        </p:txBody>
      </p:sp>
      <p:sp>
        <p:nvSpPr>
          <p:cNvPr id="5" name="">
            <a:extLst xmlns:a="http://schemas.openxmlformats.org/drawingml/2006/main">
              <a:ext uri="{FF2B5EF4-FFF2-40B4-BE49-F238E27FC236}">
                <a16:creationId xmlns:a16="http://schemas.microsoft.com/office/drawing/2014/main" id="{2467A35F-21D2-4974-83C4-39F136732896}"/>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6" name="">
            <a:extLst xmlns:a="http://schemas.openxmlformats.org/drawingml/2006/main">
              <a:ext uri="{FF2B5EF4-FFF2-40B4-BE49-F238E27FC236}">
                <a16:creationId xmlns:a16="http://schemas.microsoft.com/office/drawing/2014/main" id="{24335820-C0FF-46D0-BF16-7D8755494862}"/>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quantity would trigger a scale change?</a:t>
            </a:r>
          </a:p>
        </p:txBody>
      </p:sp>
      <p:sp>
        <p:nvSpPr>
          <p:cNvPr id="7" name="">
            <a:extLst xmlns:a="http://schemas.openxmlformats.org/drawingml/2006/main">
              <a:ext uri="{FF2B5EF4-FFF2-40B4-BE49-F238E27FC236}">
                <a16:creationId xmlns:a16="http://schemas.microsoft.com/office/drawing/2014/main" id="{1CA04F81-D2DF-4431-A9AD-8F516E565A0B}"/>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D9679310-B22D-4975-BB67-3FF853C02582}"/>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How do cardinality, frequency, monotonicity, and targeting interact?</a:t>
            </a:r>
          </a:p>
        </p:txBody>
      </p:sp>
      <p:sp>
        <p:nvSpPr>
          <p:cNvPr id="9" name="">
            <a:extLst xmlns:a="http://schemas.openxmlformats.org/drawingml/2006/main">
              <a:ext uri="{FF2B5EF4-FFF2-40B4-BE49-F238E27FC236}">
                <a16:creationId xmlns:a16="http://schemas.microsoft.com/office/drawing/2014/main" id="{92BE88C6-60DC-4806-83FD-C4CE7D03C5A8}"/>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7B7597FD-CF46-4F9E-8365-AEBA66121A8F}"/>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import evidence supports the claim, and which limits remain?</a:t>
            </a:r>
          </a:p>
        </p:txBody>
      </p:sp>
      <p:sp>
        <p:nvSpPr>
          <p:cNvPr id="11" name="">
            <a:extLst xmlns:a="http://schemas.openxmlformats.org/drawingml/2006/main">
              <a:ext uri="{FF2B5EF4-FFF2-40B4-BE49-F238E27FC236}">
                <a16:creationId xmlns:a16="http://schemas.microsoft.com/office/drawing/2014/main" id="{C5991123-5058-4E00-B4AF-CE8F2B5423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Tree>
    <p:extLst>
      <p:ext uri="{BB962C8B-B14F-4D97-AF65-F5344CB8AC3E}">
        <p14:creationId xmlns:p14="http://schemas.microsoft.com/office/powerpoint/2010/main" val="639441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2026-07-13T07:44:24.9100000Z</dcterms:created>
  <dcterms:modified xsi:type="dcterms:W3CDTF">2026-07-13T07:44:24.9100000Z</dcterms:modified>
</coreProperties>
</file>