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eae9ba17694071" /><Relationship Type="http://schemas.openxmlformats.org/officeDocument/2006/relationships/extended-properties" Target="/docProps/app.xml" Id="Ra07925a8b55b4b56" /><Relationship Type="http://schemas.openxmlformats.org/officeDocument/2006/relationships/officeDocument" Target="/ppt/presentation.xml" Id="R0a52202bd2be4fc4" /></Relationships>
</file>

<file path=ppt/presentation.xml><?xml version="1.0" encoding="utf-8"?>
<p:presentation xmlns:p="http://schemas.openxmlformats.org/presentationml/2006/main">
  <p:sldMasterIdLst>
    <p:sldMasterId xmlns:r="http://schemas.openxmlformats.org/officeDocument/2006/relationships" id="2147483648" r:id="R308ab22a505342b8"/>
  </p:sldMasterIdLst>
  <p:notesMasterIdLst>
    <p:notesMasterId xmlns:r="http://schemas.openxmlformats.org/officeDocument/2006/relationships" r:id="Raf1f6c1f72be40d9"/>
  </p:notesMasterIdLst>
  <p:sldIdLst>
    <p:sldId xmlns:r="http://schemas.openxmlformats.org/officeDocument/2006/relationships" id="256" r:id="R41df65ae753741eb"/>
    <p:sldId xmlns:r="http://schemas.openxmlformats.org/officeDocument/2006/relationships" id="257" r:id="Rcfbf71aafbac4785"/>
    <p:sldId xmlns:r="http://schemas.openxmlformats.org/officeDocument/2006/relationships" id="258" r:id="R73bba68667534551"/>
    <p:sldId xmlns:r="http://schemas.openxmlformats.org/officeDocument/2006/relationships" id="259" r:id="Rc0e460312a944a0b"/>
    <p:sldId xmlns:r="http://schemas.openxmlformats.org/officeDocument/2006/relationships" id="260" r:id="Rd6494972043b4dcd"/>
    <p:sldId xmlns:r="http://schemas.openxmlformats.org/officeDocument/2006/relationships" id="261" r:id="R651c963a8dd34024"/>
    <p:sldId xmlns:r="http://schemas.openxmlformats.org/officeDocument/2006/relationships" id="262" r:id="R3fc67ea4c6f141c0"/>
    <p:sldId xmlns:r="http://schemas.openxmlformats.org/officeDocument/2006/relationships" id="263" r:id="R8e86db0bd6184ddc"/>
    <p:sldId xmlns:r="http://schemas.openxmlformats.org/officeDocument/2006/relationships" id="264" r:id="R9a107bdd85e24526"/>
    <p:sldId xmlns:r="http://schemas.openxmlformats.org/officeDocument/2006/relationships" id="265" r:id="Rffb3d6784cd64a45"/>
    <p:sldId xmlns:r="http://schemas.openxmlformats.org/officeDocument/2006/relationships" id="266" r:id="R7ddcd4c885fb4397"/>
    <p:sldId xmlns:r="http://schemas.openxmlformats.org/officeDocument/2006/relationships" id="267" r:id="R5f903daee3244fff"/>
    <p:sldId xmlns:r="http://schemas.openxmlformats.org/officeDocument/2006/relationships" id="268" r:id="R7975c5f636ac4077"/>
    <p:sldId xmlns:r="http://schemas.openxmlformats.org/officeDocument/2006/relationships" id="269" r:id="R7dd3d59fe3464554"/>
    <p:sldId xmlns:r="http://schemas.openxmlformats.org/officeDocument/2006/relationships" id="270" r:id="Rd2ed9485883a4140"/>
    <p:sldId xmlns:r="http://schemas.openxmlformats.org/officeDocument/2006/relationships" id="271" r:id="Re2a4cb5b9cfc4994"/>
    <p:sldId xmlns:r="http://schemas.openxmlformats.org/officeDocument/2006/relationships" id="272" r:id="R02fff34f436343c1"/>
    <p:sldId xmlns:r="http://schemas.openxmlformats.org/officeDocument/2006/relationships" id="273" r:id="Rb25017996e204a32"/>
    <p:sldId xmlns:r="http://schemas.openxmlformats.org/officeDocument/2006/relationships" id="274" r:id="R5dda84ee22b94c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dc12f2f9ad46d3" /><Relationship Type="http://schemas.openxmlformats.org/officeDocument/2006/relationships/slideMaster" Target="/ppt/slideMasters/slideMaster1.xml" Id="R308ab22a505342b8" /><Relationship Type="http://schemas.openxmlformats.org/officeDocument/2006/relationships/notesMaster" Target="/ppt/notesMasters/notesMaster1.xml" Id="Raf1f6c1f72be40d9" /><Relationship Type="http://schemas.openxmlformats.org/officeDocument/2006/relationships/presProps" Target="/ppt/presProps.xml" Id="R3f7647cf1c9b4c20" /><Relationship Type="http://schemas.openxmlformats.org/officeDocument/2006/relationships/tableStyles" Target="/ppt/tableStyles.xml" Id="Ra7fe1ca148ca4ba3" /><Relationship Type="http://schemas.openxmlformats.org/officeDocument/2006/relationships/slide" Target="/ppt/slides/slide1.xml" Id="R41df65ae753741eb" /><Relationship Type="http://schemas.openxmlformats.org/officeDocument/2006/relationships/slide" Target="/ppt/slides/slide2.xml" Id="Rcfbf71aafbac4785" /><Relationship Type="http://schemas.openxmlformats.org/officeDocument/2006/relationships/slide" Target="/ppt/slides/slide3.xml" Id="R73bba68667534551" /><Relationship Type="http://schemas.openxmlformats.org/officeDocument/2006/relationships/slide" Target="/ppt/slides/slide4.xml" Id="Rc0e460312a944a0b" /><Relationship Type="http://schemas.openxmlformats.org/officeDocument/2006/relationships/slide" Target="/ppt/slides/slide5.xml" Id="Rd6494972043b4dcd" /><Relationship Type="http://schemas.openxmlformats.org/officeDocument/2006/relationships/slide" Target="/ppt/slides/slide6.xml" Id="R651c963a8dd34024" /><Relationship Type="http://schemas.openxmlformats.org/officeDocument/2006/relationships/slide" Target="/ppt/slides/slide7.xml" Id="R3fc67ea4c6f141c0" /><Relationship Type="http://schemas.openxmlformats.org/officeDocument/2006/relationships/slide" Target="/ppt/slides/slide8.xml" Id="R8e86db0bd6184ddc" /><Relationship Type="http://schemas.openxmlformats.org/officeDocument/2006/relationships/slide" Target="/ppt/slides/slide9.xml" Id="R9a107bdd85e24526" /><Relationship Type="http://schemas.openxmlformats.org/officeDocument/2006/relationships/slide" Target="/ppt/slides/slide10.xml" Id="Rffb3d6784cd64a45" /><Relationship Type="http://schemas.openxmlformats.org/officeDocument/2006/relationships/slide" Target="/ppt/slides/slide11.xml" Id="R7ddcd4c885fb4397" /><Relationship Type="http://schemas.openxmlformats.org/officeDocument/2006/relationships/slide" Target="/ppt/slides/slide12.xml" Id="R5f903daee3244fff" /><Relationship Type="http://schemas.openxmlformats.org/officeDocument/2006/relationships/slide" Target="/ppt/slides/slide13.xml" Id="R7975c5f636ac4077" /><Relationship Type="http://schemas.openxmlformats.org/officeDocument/2006/relationships/slide" Target="/ppt/slides/slide14.xml" Id="R7dd3d59fe3464554" /><Relationship Type="http://schemas.openxmlformats.org/officeDocument/2006/relationships/slide" Target="/ppt/slides/slide15.xml" Id="Rd2ed9485883a4140" /><Relationship Type="http://schemas.openxmlformats.org/officeDocument/2006/relationships/slide" Target="/ppt/slides/slide16.xml" Id="Re2a4cb5b9cfc4994" /><Relationship Type="http://schemas.openxmlformats.org/officeDocument/2006/relationships/slide" Target="/ppt/slides/slide17.xml" Id="R02fff34f436343c1" /><Relationship Type="http://schemas.openxmlformats.org/officeDocument/2006/relationships/slide" Target="/ppt/slides/slide18.xml" Id="Rb25017996e204a32" /><Relationship Type="http://schemas.openxmlformats.org/officeDocument/2006/relationships/slide" Target="/ppt/slides/slide19.xml" Id="R5dda84ee22b94c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b82073d9c741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62c42bb92241f7" /><Relationship Type="http://schemas.openxmlformats.org/officeDocument/2006/relationships/notesMaster" Target="/ppt/notesMasters/notesMaster1.xml" Id="R5b24a816aec24d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b6dc0ca9574a9b" /><Relationship Type="http://schemas.openxmlformats.org/officeDocument/2006/relationships/notesMaster" Target="/ppt/notesMasters/notesMaster1.xml" Id="Rab45301dee744a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09ff6fbcca424b" /><Relationship Type="http://schemas.openxmlformats.org/officeDocument/2006/relationships/notesMaster" Target="/ppt/notesMasters/notesMaster1.xml" Id="R5d318957ff664d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5f8db6d6754575" /><Relationship Type="http://schemas.openxmlformats.org/officeDocument/2006/relationships/notesMaster" Target="/ppt/notesMasters/notesMaster1.xml" Id="R7ff958af59f84c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e41dd22fef4615" /><Relationship Type="http://schemas.openxmlformats.org/officeDocument/2006/relationships/notesMaster" Target="/ppt/notesMasters/notesMaster1.xml" Id="R9cc7310212724e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93dca4621c46e2" /><Relationship Type="http://schemas.openxmlformats.org/officeDocument/2006/relationships/notesMaster" Target="/ppt/notesMasters/notesMaster1.xml" Id="R28b75daf32b940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15c4d89640454d" /><Relationship Type="http://schemas.openxmlformats.org/officeDocument/2006/relationships/notesMaster" Target="/ppt/notesMasters/notesMaster1.xml" Id="Rb54c8995a04043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ca2abedf0c489f" /><Relationship Type="http://schemas.openxmlformats.org/officeDocument/2006/relationships/notesMaster" Target="/ppt/notesMasters/notesMaster1.xml" Id="R56a7ca8b157b45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ba39b02e0545a6" /><Relationship Type="http://schemas.openxmlformats.org/officeDocument/2006/relationships/notesMaster" Target="/ppt/notesMasters/notesMaster1.xml" Id="Rb0ed9fcbbbc944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9f1d7ae6e14e8f" /><Relationship Type="http://schemas.openxmlformats.org/officeDocument/2006/relationships/notesMaster" Target="/ppt/notesMasters/notesMaster1.xml" Id="Rb3697589800f41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5e4d8b7a2a4517" /><Relationship Type="http://schemas.openxmlformats.org/officeDocument/2006/relationships/notesMaster" Target="/ppt/notesMasters/notesMaster1.xml" Id="R500fe1fbf31448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da549e47cc4b30" /><Relationship Type="http://schemas.openxmlformats.org/officeDocument/2006/relationships/notesMaster" Target="/ppt/notesMasters/notesMaster1.xml" Id="R6abb233c244243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8b29c52d1d44ed" /><Relationship Type="http://schemas.openxmlformats.org/officeDocument/2006/relationships/notesMaster" Target="/ppt/notesMasters/notesMaster1.xml" Id="Re4347f8b537f45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bfa40ba56d4386" /><Relationship Type="http://schemas.openxmlformats.org/officeDocument/2006/relationships/notesMaster" Target="/ppt/notesMasters/notesMaster1.xml" Id="R372d999c590a4d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7354becdcfd49fa" /><Relationship Type="http://schemas.openxmlformats.org/officeDocument/2006/relationships/notesMaster" Target="/ppt/notesMasters/notesMaster1.xml" Id="R6787abae1db849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779faa583c4ca1" /><Relationship Type="http://schemas.openxmlformats.org/officeDocument/2006/relationships/notesMaster" Target="/ppt/notesMasters/notesMaster1.xml" Id="R8795dadb0c344fd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51290cd5af14070" /><Relationship Type="http://schemas.openxmlformats.org/officeDocument/2006/relationships/notesMaster" Target="/ppt/notesMasters/notesMaster1.xml" Id="Rc032104d30354f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860198c2d474b3b" /><Relationship Type="http://schemas.openxmlformats.org/officeDocument/2006/relationships/notesMaster" Target="/ppt/notesMasters/notesMaster1.xml" Id="R6952123d9e07481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25e31cdaebb4c4d" /><Relationship Type="http://schemas.openxmlformats.org/officeDocument/2006/relationships/notesMaster" Target="/ppt/notesMasters/notesMaster1.xml" Id="Re2cef08e097444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is a major SQL and relational-model review. The course will not assume that syntax remembered from an earlier class is immediately available. We will rebuild it through a repeatable sequence: state the question, identify result grain, choose relational operations, predict the output, execute SQL, and verify the result.</a:t>
            </a:r>
          </a:p>
          <a:p xmlns:a="http://schemas.openxmlformats.org/drawingml/2006/main">
            <a:r>
              <a:t/>
            </a:r>
          </a:p>
          <a:p xmlns:a="http://schemas.openxmlformats.org/drawingml/2006/main">
            <a:r>
              <a:t>The goal is not to race through every SQL feature. The goal is to recover the core language that administration depends on: filtering, projection, sorting, joins, grouping, subqueries, common table expressions, set operations, and safe data changes. Every query will produce evidence, not just an answer displayed on a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Many SQL mistakes are not grammar mistakes. The query runs, but its result has the wrong grain, duplicates, missing rows, or an unintended filter. Starting from `SELECT` encourages us to assemble clauses before the question is precise.</a:t>
            </a:r>
          </a:p>
          <a:p xmlns:a="http://schemas.openxmlformats.org/drawingml/2006/main">
            <a:r>
              <a:t/>
            </a:r>
          </a:p>
          <a:p xmlns:a="http://schemas.openxmlformats.org/drawingml/2006/main">
            <a:r>
              <a:t>Instead, state the question and what one result row represents. Identify the source relations and operations. Predict stable identifiers, columns, and approximate count. Then write SQL. Verification comes after execution because a successful command proves only that the database accepted the syntax and completed the operation. It does not prove that the query answered the intended question. This sequence lets you recover syntax from meaning and diagnose results without guessing.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 grain is the fastest way to make a query understandable. A query that returns ticket identifiers, subjects, and priorities may remain at one row per ticket. Once ticket events are joined, a ticket can repeat because one result row may now represent one matching ticket-event pair.</a:t>
            </a:r>
          </a:p>
          <a:p xmlns:a="http://schemas.openxmlformats.org/drawingml/2006/main">
            <a:r>
              <a:t/>
            </a:r>
          </a:p>
          <a:p xmlns:a="http://schemas.openxmlformats.org/drawingml/2006/main">
            <a:r>
              <a:t>Aggregation changes grain deliberately. Grouping by status produces one row per status group, not one row per ticket. Every selected expression must make sense at that grain: either it identifies the group or summarizes rows within the group. Before running a query, complete the sentence ‘one output row represents.’ After running it, inspect the identifiers or group keys that can confirm the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mapping is useful, but SQL is not a perfect spelling of mathematical relational algebra. Selection commonly becomes `WHERE`, and projection commonly becomes the column list after `SELECT`. A join becomes a `JOIN` with a condition that defines valid tuple pairs. Grouping creates a new grain and uses aggregate functions. Difference can appear as `EXCEPT` or as a carefully written `NOT EXISTS` condition.</a:t>
            </a:r>
          </a:p>
          <a:p xmlns:a="http://schemas.openxmlformats.org/drawingml/2006/main">
            <a:r>
              <a:t/>
            </a:r>
          </a:p>
          <a:p xmlns:a="http://schemas.openxmlformats.org/drawingml/2006/main">
            <a:r>
              <a:t>The checks column matters because SQL tables and results often behave as bags, allowing duplicate rows. SQL also includes `NULL` and three-valued logic. Those features do not make SQL unrelational; they mean that translating an operation requires attention to the language's actual semantics.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comment records the expected result grain: one row per matching ticket. The `FROM` clause identifies the source relation. The `WHERE` predicate performs selection by retaining high-priority tuples. The column list performs projection by retaining only the ticket identifier, subject, and priority. `ORDER BY` changes presentation order; it does not change which rows belong to the result.</a:t>
            </a:r>
          </a:p>
          <a:p xmlns:a="http://schemas.openxmlformats.org/drawingml/2006/main">
            <a:r>
              <a:t/>
            </a:r>
          </a:p>
          <a:p xmlns:a="http://schemas.openxmlformats.org/drawingml/2006/main">
            <a:r>
              <a:t>Before running this query, inspect the small fixture and predict the matching identifiers. After running it, compare those identifiers and the row count with the prediction. If the query returns unexpected rows, inspect the stored priority values and predicate. Do not add `DISTINCT`, because there is no join here that should multiply ticket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`NULL` marks missing or unknown information. It is not the number zero, an empty string, or an ordinary value that equals itself. The predicate `assignee_id = NULL` does not become true for unassigned tickets. Use `IS NULL`.</a:t>
            </a:r>
          </a:p>
          <a:p xmlns:a="http://schemas.openxmlformats.org/drawingml/2006/main">
            <a:r>
              <a:t/>
            </a:r>
          </a:p>
          <a:p xmlns:a="http://schemas.openxmlformats.org/drawingml/2006/main">
            <a:r>
              <a:t>Three-valued logic also affects negative predicates. If a status is `NULL`, then `status &lt;&gt; 'closed'` evaluates to unknown, not true. The `WHERE` clause retains only rows for which the predicate is true, so the unknown row is excluded. Whenever missing data matters, write small examples containing a known value, a different known value, and `NULL`. Predict each predicate instead of relying on an everyday-language interpretation of ‘not 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asks for the three newest active tickets. The `WHERE` clause defines active using an explicit set of status values. The `ORDER BY` clause sorts newest opening times first. The second sort key, `ticket_id`, makes ties deterministic when two tickets share an opening time. `LIMIT 3` is meaningful only after the order is defined.</a:t>
            </a:r>
          </a:p>
          <a:p xmlns:a="http://schemas.openxmlformats.org/drawingml/2006/main">
            <a:r>
              <a:t/>
            </a:r>
          </a:p>
          <a:p xmlns:a="http://schemas.openxmlformats.org/drawingml/2006/main">
            <a:r>
              <a:t>Without `ORDER BY`, a database is free to return any three qualifying rows. Physical storage order is not a contract. Even with an order, decide how `NULL` values should be placed if the sort attribute permits them. State the business definition of active and newest instead of assuming the column names supply the complete meaning.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join condition `users.user_id = tickets.requester_id` defines valid pairs. User 101 matches two ticket tuples, so that user's attributes repeat in two result rows. User 102 matches one ticket. Because each ticket has one requester in this model, the result can still be described as one row per matching ticket. That claim depends on the relationship and constraints.</a:t>
            </a:r>
          </a:p>
          <a:p xmlns:a="http://schemas.openxmlformats.org/drawingml/2006/main">
            <a:r>
              <a:t/>
            </a:r>
          </a:p>
          <a:p xmlns:a="http://schemas.openxmlformats.org/drawingml/2006/main">
            <a:r>
              <a:t>An inner join drops source tuples with no match. If a user has no ticket, that user does not appear. If a ticket contains an invalid requester identifier and no foreign key prevents it, that ticket also disappears from this join. Before interpreting a join, inspect both its condition and which unmatched source rows the join type retains or drops.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query from the data relationships outward. `tickets` is named `t` and `users` is named `u`; aliases shorten references without changing the relations. The `ON` clause states that the requester's identifier in a ticket must match the user's identifier. The `WHERE` clause then keeps only open joined rows.</a:t>
            </a:r>
          </a:p>
          <a:p xmlns:a="http://schemas.openxmlformats.org/drawingml/2006/main">
            <a:r>
              <a:t/>
            </a:r>
          </a:p>
          <a:p xmlns:a="http://schemas.openxmlformats.org/drawingml/2006/main">
            <a:r>
              <a:t>One output row represents one open ticket and its matching requester. The selected attributes support that grain: ticket identifier, ticket subject, and requester display name. Verify the result by first selecting open ticket identifiers from `tickets` alone, then confirming the requester identifier for each and looking up those users. That second reasoning path is slower but valuable for a small fixture.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inner join answers questions about matches. A left join answers questions that must preserve every tuple on the left, including those with no match. If tickets are on the left and agents are on the right, an unassigned ticket remains in a left-join result with `NULL` in the agent attributes.</a:t>
            </a:r>
          </a:p>
          <a:p xmlns:a="http://schemas.openxmlformats.org/drawingml/2006/main">
            <a:r>
              <a:t/>
            </a:r>
          </a:p>
          <a:p xmlns:a="http://schemas.openxmlformats.org/drawingml/2006/main">
            <a:r>
              <a:t>Predicate placement matters. A condition on the right table placed in `WHERE` can remove the `NULL` rows and accidentally turn the result into inner-join behavior. When the condition defines which right-side tuples may match while preserving unmatched left rows, place it in the `ON` clause. Always build a fixture containing at least one unmatched left tuple so the difference is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ticket 1003 has three status events. Joining tickets to ticket events produces three rows containing ticket 1003. That repetition is the correct representation of three matching pairs. It becomes a counting error when a query uses `count(*)` and labels the result ‘number of tickets.’ The count is actually joined rows, which may mean events.</a:t>
            </a:r>
          </a:p>
          <a:p xmlns:a="http://schemas.openxmlformats.org/drawingml/2006/main">
            <a:r>
              <a:t/>
            </a:r>
          </a:p>
          <a:p xmlns:a="http://schemas.openxmlformats.org/drawingml/2006/main">
            <a:r>
              <a:t>Repair begins with the question. To count events, joined rows may be correct. To count tickets that have events, group by ticket identity, use `count(distinct ticket_id)` with care, or use `EXISTS`, depending on the intended result. Do not use `DISTINCT` as a visual cleanup step before understanding why rows repeat.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begins with ticket rows opened on or after the stated date. `WHERE` filters those source rows before grouping. `GROUP BY status` changes the grain to one result row per status value. `count(*)` summarizes the number of qualifying ticket rows in each group. `HAVING` then removes groups whose count is less than two.</a:t>
            </a:r>
          </a:p>
          <a:p xmlns:a="http://schemas.openxmlformats.org/drawingml/2006/main">
            <a:r>
              <a:t/>
            </a:r>
          </a:p>
          <a:p xmlns:a="http://schemas.openxmlformats.org/drawingml/2006/main">
            <a:r>
              <a:t>A common error is selecting `subject` alongside `status` and `count(*)` without grouping or aggregating the subject. At one row per status, there may be many subjects and no single subject value represents the group. Every selected expression must either identify the group or summarize values inside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Subqueries and common table expressions are ways to compose relational results. A subquery can produce a set used by `IN`, answer an existence question with `EXISTS`, or act as a derived relation. A correlated subquery refers to the current outer row, so its semantics and potential cost deserve attention.</a:t>
            </a:r>
          </a:p>
          <a:p xmlns:a="http://schemas.openxmlformats.org/drawingml/2006/main">
            <a:r>
              <a:t/>
            </a:r>
          </a:p>
          <a:p xmlns:a="http://schemas.openxmlformats.org/drawingml/2006/main">
            <a:r>
              <a:t>A common table expression, introduced with `WITH`, names an intermediate query. That name can make grain explicit: first compute one row per ticket with the latest event, then join that result to users. A CTE is not automatically a performance optimization. Use it to clarify reasoning, then inspect the actual plan when performance matters.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operations combine query results with the same number of columns and compatible types. `UNION` returns rows that occur in either result and removes duplicate result rows. `UNION ALL` appends results and keeps duplicates, which is often faster and semantically correct when repeated rows matter. `INTERSECT` keeps rows present in both. `EXCEPT` keeps rows from the first result that are absent from the second.</a:t>
            </a:r>
          </a:p>
          <a:p xmlns:a="http://schemas.openxmlformats.org/drawingml/2006/main">
            <a:r>
              <a:t/>
            </a:r>
          </a:p>
          <a:p xmlns:a="http://schemas.openxmlformats.org/drawingml/2006/main">
            <a:r>
              <a:t>Column names come from the first query, but positions determine compatibility. Relational union and difference operate on sets; SQL gives explicit choices about duplicates. For anti-join questions, compare `EXCEPT` and `NOT EXISTS`, especially when `NULL` can appear in compared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manipulation should be treated as an operation with scope and evidence. `BEGIN` creates an explicit transaction boundary. The update uses the primary key in its predicate, which makes the intended target narrow and checkable. The following `SELECT` verifies the row and value while the change is still uncommitted. `ROLLBACK` discards the transaction so the teaching fixture returns to its starting state.</a:t>
            </a:r>
          </a:p>
          <a:p xmlns:a="http://schemas.openxmlformats.org/drawingml/2006/main">
            <a:r>
              <a:t/>
            </a:r>
          </a:p>
          <a:p xmlns:a="http://schemas.openxmlformats.org/drawingml/2006/main">
            <a:r>
              <a:t>In a real change, count the target rows before updating and inspect the command's affected-row result. A transaction is not a substitute for a correct predicate, backup, or authorization. It provides a boundary within which related actions can commit together or be rolled back before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Verification is not rerunning the same query and receiving the same wrong answer. Begin by restating result grain and inspecting stable identifiers. Compare the count with a prediction from the small fixture or with a simpler query that isolates one relationship.</a:t>
            </a:r>
          </a:p>
          <a:p xmlns:a="http://schemas.openxmlformats.org/drawingml/2006/main">
            <a:r>
              <a:t/>
            </a:r>
          </a:p>
          <a:p xmlns:a="http://schemas.openxmlformats.org/drawingml/2006/main">
            <a:r>
              <a:t>A useful fixture includes edge cases. Test an unassigned ticket for left-join behavior, a `NULL` value for predicate behavior, several events for row multiplication, and a status that forms a small group. A second reasoning path may be a hand calculation, a different query shape, or an expected invariant. Finally, name the limit. Small-fixture correctness does not prove production performance, concurrency safety, authorization, or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lab is individual and uses the Metro Support setup in an approved PostgreSQL environment. Work through the query ladder in order because each query adds one idea while the data remains familiar. Before each query, write a short grain comment and predict an identifier set or count.</a:t>
            </a:r>
          </a:p>
          <a:p xmlns:a="http://schemas.openxmlformats.org/drawingml/2006/main">
            <a:r>
              <a:t/>
            </a:r>
          </a:p>
          <a:p xmlns:a="http://schemas.openxmlformats.org/drawingml/2006/main">
            <a:r>
              <a:t>Run the query and compare the result. If it differs, record what changed in your model or SQL. Do not erase every failed attempt; a concise corrected query and explanation can be stronger evidence than a perfect-looking final screenshot. Submit one SQL file containing the assigned queries, grain comments, and verification notes. The notebook provides an open DuckDB path when cloud PostgreSQL is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lab is also individual. Begin with a relationship question and choose inner or left join based on whether unmatched left rows belong in the result. Account for repeated and missing rows using identifiers, not visual intuition.</a:t>
            </a:r>
          </a:p>
          <a:p xmlns:a="http://schemas.openxmlformats.org/drawingml/2006/main">
            <a:r>
              <a:t/>
            </a:r>
          </a:p>
          <a:p xmlns:a="http://schemas.openxmlformats.org/drawingml/2006/main">
            <a:r>
              <a:t>Next, produce one grouped result. State what one group row represents, place source-row predicates in `WHERE`, and place aggregate predicates in `HAVING`. Finish with a narrow data change inside an explicit transaction. Verify the changed row and roll back. Submit one evidence record containing the SQL, selected outputs, and a short statement of what the checks prove and do not prove. No database URL or password belongs in the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review rebuilt SQL as relational reasoning rather than a list of clauses. Selection and projection control rows and attributes. Joins create matching pairs and can multiply rows. Left joins preserve unmatched tuples. Grouping creates a new result grain. Subqueries, CTEs, and set operations compose results. Transactions provide a safe rehearsal boundary for data changes.</a:t>
            </a:r>
          </a:p>
          <a:p xmlns:a="http://schemas.openxmlformats.org/drawingml/2006/main">
            <a:r>
              <a:t/>
            </a:r>
          </a:p>
          <a:p xmlns:a="http://schemas.openxmlformats.org/drawingml/2006/main">
            <a:r>
              <a:t>The durable habit is to predict and verify. If a result is surprising, return to grain, relationship, `NULL`, duplicate behavior, predicate placement, and the fixture's edge cases. Next week we will use these query skills to inspect and build schemas. The course will continue retrieving SQL, so this is not the last opportunity to practice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a7fed3af8a40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228e0b01fd4c79" /><Relationship Type="http://schemas.openxmlformats.org/officeDocument/2006/relationships/slideLayout" Target="/ppt/slideLayouts/slideLayout1.xml" Id="Rd628a7a1faa247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28a7a1faa247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379c3dc4594517" /><Relationship Type="http://schemas.openxmlformats.org/officeDocument/2006/relationships/notesSlide" Target="/ppt/notesSlides/notesSlide1.xml" Id="Rb549ed80437e4c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5015a6adce4742" /><Relationship Type="http://schemas.openxmlformats.org/officeDocument/2006/relationships/notesSlide" Target="/ppt/notesSlides/notesSlide2.xml" Id="R2f66ecd77b4a4d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4a862e2ce94d9a" /><Relationship Type="http://schemas.openxmlformats.org/officeDocument/2006/relationships/notesSlide" Target="/ppt/notesSlides/notesSlide3.xml" Id="Ra441942d14b84f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e38330fdf74475" /><Relationship Type="http://schemas.openxmlformats.org/officeDocument/2006/relationships/notesSlide" Target="/ppt/notesSlides/notesSlide4.xml" Id="R5dd4356e0c684f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cefae6de104754" /><Relationship Type="http://schemas.openxmlformats.org/officeDocument/2006/relationships/notesSlide" Target="/ppt/notesSlides/notesSlide5.xml" Id="R4cbd302f04ed40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433559b8ad403c" /><Relationship Type="http://schemas.openxmlformats.org/officeDocument/2006/relationships/notesSlide" Target="/ppt/notesSlides/notesSlide6.xml" Id="R72ad71283f2d48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703c46cb3c46c6" /><Relationship Type="http://schemas.openxmlformats.org/officeDocument/2006/relationships/notesSlide" Target="/ppt/notesSlides/notesSlide7.xml" Id="R9184f2fd28b848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4042ad04c54202" /><Relationship Type="http://schemas.openxmlformats.org/officeDocument/2006/relationships/notesSlide" Target="/ppt/notesSlides/notesSlide8.xml" Id="R2043e6d798a84c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ea4ebfe0dcc4dec" /><Relationship Type="http://schemas.openxmlformats.org/officeDocument/2006/relationships/notesSlide" Target="/ppt/notesSlides/notesSlide9.xml" Id="Rfcecb17d45534a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dad7f94877d4986" /><Relationship Type="http://schemas.openxmlformats.org/officeDocument/2006/relationships/notesSlide" Target="/ppt/notesSlides/notesSlide10.xml" Id="Rd2820e460f3b41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9a0c894b2a4cba" /><Relationship Type="http://schemas.openxmlformats.org/officeDocument/2006/relationships/notesSlide" Target="/ppt/notesSlides/notesSlide11.xml" Id="R3298789904114f0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ac82246fed24918" /><Relationship Type="http://schemas.openxmlformats.org/officeDocument/2006/relationships/notesSlide" Target="/ppt/notesSlides/notesSlide12.xml" Id="R7ac4b85c412b4a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e04e149d662494f" /><Relationship Type="http://schemas.openxmlformats.org/officeDocument/2006/relationships/notesSlide" Target="/ppt/notesSlides/notesSlide13.xml" Id="Rb53d18e6f1a1470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50f6041424146dc" /><Relationship Type="http://schemas.openxmlformats.org/officeDocument/2006/relationships/notesSlide" Target="/ppt/notesSlides/notesSlide14.xml" Id="Rf90b525cfd55455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fc2da19569c46da" /><Relationship Type="http://schemas.openxmlformats.org/officeDocument/2006/relationships/notesSlide" Target="/ppt/notesSlides/notesSlide15.xml" Id="R7ddab6bf3d8e422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bceff84dd0e488c" /><Relationship Type="http://schemas.openxmlformats.org/officeDocument/2006/relationships/notesSlide" Target="/ppt/notesSlides/notesSlide16.xml" Id="R17b23ead9dfc4bf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471a17183884645" /><Relationship Type="http://schemas.openxmlformats.org/officeDocument/2006/relationships/notesSlide" Target="/ppt/notesSlides/notesSlide17.xml" Id="R7085f868469647e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25ab63611f44b38" /><Relationship Type="http://schemas.openxmlformats.org/officeDocument/2006/relationships/notesSlide" Target="/ppt/notesSlides/notesSlide18.xml" Id="Rcc654e83f43e423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4f0b61a3d8f44a0" /><Relationship Type="http://schemas.openxmlformats.org/officeDocument/2006/relationships/notesSlide" Target="/ppt/notesSlides/notesSlide19.xml" Id="R71c572768fea4c4b"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B57528-1155-40C6-8B3D-A0AB837CFA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4FF9CEAA-406D-410D-A3E1-3B759E4E2F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D08E8F17-41AE-4B3F-8F30-6FD056993937}"/>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0F766E"/>
                </a:solidFill>
                <a:latin typeface="Helvetica Neue"/>
                <a:ea typeface="Helvetica Neue"/>
                <a:cs typeface="Helvetica Neue"/>
              </a:defRPr>
            </a:pPr>
            <a:r>
              <a:rPr sz="1350" b="1">
                <a:solidFill>
                  <a:srgbClr val="0F766E"/>
                </a:solidFill>
                <a:latin typeface="Helvetica Neue"/>
                <a:ea typeface="Helvetica Neue"/>
                <a:cs typeface="Helvetica Neue"/>
              </a:rPr>
              <a:t>WEEK 02</a:t>
            </a:r>
          </a:p>
        </p:txBody>
      </p:sp>
      <p:sp>
        <p:nvSpPr>
          <p:cNvPr id="4" name="cover-title">
            <a:extLst xmlns:a="http://schemas.openxmlformats.org/drawingml/2006/main">
              <a:ext uri="{FF2B5EF4-FFF2-40B4-BE49-F238E27FC236}">
                <a16:creationId xmlns:a16="http://schemas.microsoft.com/office/drawing/2014/main" id="{6E7E4F9B-3D4F-4672-8CED-715B28C08348}"/>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Relational Algebra and SQL Review Studio</a:t>
            </a:r>
          </a:p>
        </p:txBody>
      </p:sp>
      <p:sp>
        <p:nvSpPr>
          <p:cNvPr id="5" name="cover-subtitle">
            <a:extLst xmlns:a="http://schemas.openxmlformats.org/drawingml/2006/main">
              <a:ext uri="{FF2B5EF4-FFF2-40B4-BE49-F238E27FC236}">
                <a16:creationId xmlns:a16="http://schemas.microsoft.com/office/drawing/2014/main" id="{4098DCA7-4D8C-4608-B406-FF6246CD4A96}"/>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Recover forgotten SQL by predicting result grain, tuples, and evidence first.</a:t>
            </a:r>
          </a:p>
        </p:txBody>
      </p:sp>
      <p:sp>
        <p:nvSpPr>
          <p:cNvPr id="6" name="">
            <a:extLst xmlns:a="http://schemas.openxmlformats.org/drawingml/2006/main">
              <a:ext uri="{FF2B5EF4-FFF2-40B4-BE49-F238E27FC236}">
                <a16:creationId xmlns:a16="http://schemas.microsoft.com/office/drawing/2014/main" id="{9A5CF2E6-2B5B-4E2B-B133-13766501291D}"/>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5E8C74AF-E8E6-4290-820A-F07A5157F0C7}"/>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0F766E"/>
                </a:solidFill>
                <a:latin typeface="Helvetica Neue"/>
                <a:ea typeface="Helvetica Neue"/>
                <a:cs typeface="Helvetica Neue"/>
              </a:defRPr>
            </a:pPr>
            <a:r>
              <a:rPr sz="8400" b="1">
                <a:solidFill>
                  <a:srgbClr val="0F766E"/>
                </a:solidFill>
                <a:latin typeface="Helvetica Neue"/>
                <a:ea typeface="Helvetica Neue"/>
                <a:cs typeface="Helvetica Neue"/>
              </a:rPr>
              <a:t>02</a:t>
            </a:r>
          </a:p>
        </p:txBody>
      </p:sp>
    </p:spTree>
    <p:extLst>
      <p:ext uri="{BB962C8B-B14F-4D97-AF65-F5344CB8AC3E}">
        <p14:creationId xmlns:p14="http://schemas.microsoft.com/office/powerpoint/2010/main" val="863759952"/>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155DE73-E3BD-487D-91B7-F6B7A57B6C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8891060-DD99-4CDA-8A22-C24D57EC162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11712344-5181-46B8-A719-8344AEED947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correct query begins before the word SELECT</a:t>
            </a:r>
          </a:p>
        </p:txBody>
      </p:sp>
      <p:sp>
        <p:nvSpPr>
          <p:cNvPr id="4" name="">
            <a:extLst xmlns:a="http://schemas.openxmlformats.org/drawingml/2006/main">
              <a:ext uri="{FF2B5EF4-FFF2-40B4-BE49-F238E27FC236}">
                <a16:creationId xmlns:a16="http://schemas.microsoft.com/office/drawing/2014/main" id="{4339DAD8-C891-451D-BDF7-5DF1F12D9B7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91494DC-8A3D-49CF-A0AC-A772DFE77D4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03FA8731-1EF9-4A5E-918E-2F2997EA0264}"/>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0F766E"/>
                </a:solidFill>
                <a:latin typeface="Helvetica Neue"/>
                <a:ea typeface="Helvetica Neue"/>
                <a:cs typeface="Helvetica Neue"/>
              </a:defRPr>
            </a:pPr>
            <a:r>
              <a:rPr sz="2925" b="1">
                <a:solidFill>
                  <a:srgbClr val="0F766E"/>
                </a:solidFill>
                <a:latin typeface="Helvetica Neue"/>
                <a:ea typeface="Helvetica Neue"/>
                <a:cs typeface="Helvetica Neue"/>
              </a:rPr>
              <a:t>Question → grain → operations → prediction → SQL → verification</a:t>
            </a:r>
          </a:p>
        </p:txBody>
      </p:sp>
      <p:sp>
        <p:nvSpPr>
          <p:cNvPr id="7" name="">
            <a:extLst xmlns:a="http://schemas.openxmlformats.org/drawingml/2006/main">
              <a:ext uri="{FF2B5EF4-FFF2-40B4-BE49-F238E27FC236}">
                <a16:creationId xmlns:a16="http://schemas.microsoft.com/office/drawing/2014/main" id="{5C6B1BDD-48EF-4453-A842-57AEC57500E1}"/>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326ECA07-C9A5-41B1-9770-9023A24FE9BC}"/>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BEFORE</a:t>
            </a:r>
          </a:p>
        </p:txBody>
      </p:sp>
      <p:sp>
        <p:nvSpPr>
          <p:cNvPr id="9" name="">
            <a:extLst xmlns:a="http://schemas.openxmlformats.org/drawingml/2006/main">
              <a:ext uri="{FF2B5EF4-FFF2-40B4-BE49-F238E27FC236}">
                <a16:creationId xmlns:a16="http://schemas.microsoft.com/office/drawing/2014/main" id="{6ED8F6A7-DB20-448F-9F9C-29CFF4962E56}"/>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Name the source relations and what one result row should mean.</a:t>
            </a:r>
          </a:p>
        </p:txBody>
      </p:sp>
      <p:sp>
        <p:nvSpPr>
          <p:cNvPr id="10" name="">
            <a:extLst xmlns:a="http://schemas.openxmlformats.org/drawingml/2006/main">
              <a:ext uri="{FF2B5EF4-FFF2-40B4-BE49-F238E27FC236}">
                <a16:creationId xmlns:a16="http://schemas.microsoft.com/office/drawing/2014/main" id="{BB72B7C1-5F1C-4C6A-A765-DFB17DF4DC41}"/>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3FB6C6D4-5043-4162-A30B-99CFD19DAF1A}"/>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DURING</a:t>
            </a:r>
          </a:p>
        </p:txBody>
      </p:sp>
      <p:sp>
        <p:nvSpPr>
          <p:cNvPr id="12" name="">
            <a:extLst xmlns:a="http://schemas.openxmlformats.org/drawingml/2006/main">
              <a:ext uri="{FF2B5EF4-FFF2-40B4-BE49-F238E27FC236}">
                <a16:creationId xmlns:a16="http://schemas.microsoft.com/office/drawing/2014/main" id="{6C9401D0-13A5-4A85-B61D-E7B0206F7AF0}"/>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Translate relational operations into clauses and join conditions.</a:t>
            </a:r>
          </a:p>
        </p:txBody>
      </p:sp>
      <p:sp>
        <p:nvSpPr>
          <p:cNvPr id="13" name="">
            <a:extLst xmlns:a="http://schemas.openxmlformats.org/drawingml/2006/main">
              <a:ext uri="{FF2B5EF4-FFF2-40B4-BE49-F238E27FC236}">
                <a16:creationId xmlns:a16="http://schemas.microsoft.com/office/drawing/2014/main" id="{CE0B36CC-0F88-45FC-BE7E-A00A380D8ADD}"/>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D80043FF-45C9-4347-B2A5-6A99DD1B13A5}"/>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AFTER</a:t>
            </a:r>
          </a:p>
        </p:txBody>
      </p:sp>
      <p:sp>
        <p:nvSpPr>
          <p:cNvPr id="15" name="">
            <a:extLst xmlns:a="http://schemas.openxmlformats.org/drawingml/2006/main">
              <a:ext uri="{FF2B5EF4-FFF2-40B4-BE49-F238E27FC236}">
                <a16:creationId xmlns:a16="http://schemas.microsoft.com/office/drawing/2014/main" id="{1ABFB073-743E-4062-8D1D-7FD8B63CBE45}"/>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Compare identifiers, counts, nulls, and a second reasoning path.</a:t>
            </a:r>
          </a:p>
        </p:txBody>
      </p:sp>
    </p:spTree>
    <p:extLst>
      <p:ext uri="{BB962C8B-B14F-4D97-AF65-F5344CB8AC3E}">
        <p14:creationId xmlns:p14="http://schemas.microsoft.com/office/powerpoint/2010/main" val="342427742"/>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534AD1E-07AF-4094-987D-DA451630B8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6A0F4E3-B5FF-4208-A96D-C9D33E06618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08722A76-923D-4777-84B6-08F00C680F3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Result grain controls how every clause should be read</a:t>
            </a:r>
          </a:p>
        </p:txBody>
      </p:sp>
      <p:sp>
        <p:nvSpPr>
          <p:cNvPr id="4" name="">
            <a:extLst xmlns:a="http://schemas.openxmlformats.org/drawingml/2006/main">
              <a:ext uri="{FF2B5EF4-FFF2-40B4-BE49-F238E27FC236}">
                <a16:creationId xmlns:a16="http://schemas.microsoft.com/office/drawing/2014/main" id="{FF139447-8941-48EE-BAFB-3D531D1D84A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5FA620E-0523-45E6-AF9D-28323F7A647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410ECCBF-13B0-4A17-85EC-F3F90A5D4096}"/>
              </a:ext>
            </a:extLst>
          </p:cNvPr>
          <p:cNvSpPr>
            <a:spLocks xmlns:a="http://schemas.openxmlformats.org/drawingml/2006/main" noGrp="1"/>
          </p:cNvSpPr>
          <p:nvPr/>
        </p:nvSpPr>
        <p:spPr>
          <a:xfrm xmlns:a="http://schemas.openxmlformats.org/drawingml/2006/main">
            <a:off x="6096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0F766E"/>
                </a:solidFill>
                <a:latin typeface="Helvetica Neue"/>
                <a:ea typeface="Helvetica Neue"/>
                <a:cs typeface="Helvetica Neue"/>
              </a:defRPr>
            </a:pPr>
            <a:r>
              <a:rPr sz="1875" b="1">
                <a:solidFill>
                  <a:srgbClr val="0F766E"/>
                </a:solidFill>
                <a:latin typeface="Helvetica Neue"/>
                <a:ea typeface="Helvetica Neue"/>
                <a:cs typeface="Helvetica Neue"/>
              </a:rPr>
              <a:t>One row per ticket</a:t>
            </a:r>
          </a:p>
        </p:txBody>
      </p:sp>
      <p:sp>
        <p:nvSpPr>
          <p:cNvPr id="7" name="">
            <a:extLst xmlns:a="http://schemas.openxmlformats.org/drawingml/2006/main">
              <a:ext uri="{FF2B5EF4-FFF2-40B4-BE49-F238E27FC236}">
                <a16:creationId xmlns:a16="http://schemas.microsoft.com/office/drawing/2014/main" id="{FAF00300-00A4-40BD-9001-40F36ADCBECC}"/>
              </a:ext>
            </a:extLst>
          </p:cNvPr>
          <p:cNvSpPr>
            <a:spLocks xmlns:a="http://schemas.openxmlformats.org/drawingml/2006/main" noGrp="1"/>
          </p:cNvSpPr>
          <p:nvPr/>
        </p:nvSpPr>
        <p:spPr>
          <a:xfrm xmlns:a="http://schemas.openxmlformats.org/drawingml/2006/main">
            <a:off x="609600" y="2276475"/>
            <a:ext cx="34417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8C1540FD-3AD1-4D38-BF2E-498400CF952D}"/>
              </a:ext>
            </a:extLst>
          </p:cNvPr>
          <p:cNvSpPr>
            <a:spLocks xmlns:a="http://schemas.openxmlformats.org/drawingml/2006/main" noGrp="1"/>
          </p:cNvSpPr>
          <p:nvPr/>
        </p:nvSpPr>
        <p:spPr>
          <a:xfrm xmlns:a="http://schemas.openxmlformats.org/drawingml/2006/main">
            <a:off x="6096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475569"/>
                </a:solidFill>
                <a:latin typeface="Helvetica Neue"/>
                <a:ea typeface="Helvetica Neue"/>
                <a:cs typeface="Helvetica Neue"/>
              </a:defRPr>
            </a:pPr>
            <a:r>
              <a:rPr sz="1575">
                <a:solidFill>
                  <a:srgbClr val="475569"/>
                </a:solidFill>
                <a:latin typeface="Helvetica Neue"/>
                <a:ea typeface="Helvetica Neue"/>
                <a:cs typeface="Helvetica Neue"/>
              </a:rPr>
              <a:t>Selecting ticket attributes keeps the source grain unless a join multiplies rows.</a:t>
            </a:r>
          </a:p>
        </p:txBody>
      </p:sp>
      <p:sp>
        <p:nvSpPr>
          <p:cNvPr id="9" name="">
            <a:extLst xmlns:a="http://schemas.openxmlformats.org/drawingml/2006/main">
              <a:ext uri="{FF2B5EF4-FFF2-40B4-BE49-F238E27FC236}">
                <a16:creationId xmlns:a16="http://schemas.microsoft.com/office/drawing/2014/main" id="{D6E9E785-56EC-441B-B6FC-C65306779EF9}"/>
              </a:ext>
            </a:extLst>
          </p:cNvPr>
          <p:cNvSpPr>
            <a:spLocks xmlns:a="http://schemas.openxmlformats.org/drawingml/2006/main" noGrp="1"/>
          </p:cNvSpPr>
          <p:nvPr/>
        </p:nvSpPr>
        <p:spPr>
          <a:xfrm xmlns:a="http://schemas.openxmlformats.org/drawingml/2006/main">
            <a:off x="6096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Check ticket identifiers.</a:t>
            </a:r>
          </a:p>
        </p:txBody>
      </p:sp>
      <p:sp>
        <p:nvSpPr>
          <p:cNvPr id="10" name="">
            <a:extLst xmlns:a="http://schemas.openxmlformats.org/drawingml/2006/main">
              <a:ext uri="{FF2B5EF4-FFF2-40B4-BE49-F238E27FC236}">
                <a16:creationId xmlns:a16="http://schemas.microsoft.com/office/drawing/2014/main" id="{1109483B-9A68-41ED-B854-04DA4B2807D3}"/>
              </a:ext>
            </a:extLst>
          </p:cNvPr>
          <p:cNvSpPr>
            <a:spLocks xmlns:a="http://schemas.openxmlformats.org/drawingml/2006/main" noGrp="1"/>
          </p:cNvSpPr>
          <p:nvPr/>
        </p:nvSpPr>
        <p:spPr>
          <a:xfrm xmlns:a="http://schemas.openxmlformats.org/drawingml/2006/main">
            <a:off x="437515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One row per event</a:t>
            </a:r>
          </a:p>
        </p:txBody>
      </p:sp>
      <p:sp>
        <p:nvSpPr>
          <p:cNvPr id="11" name="">
            <a:extLst xmlns:a="http://schemas.openxmlformats.org/drawingml/2006/main">
              <a:ext uri="{FF2B5EF4-FFF2-40B4-BE49-F238E27FC236}">
                <a16:creationId xmlns:a16="http://schemas.microsoft.com/office/drawing/2014/main" id="{088A3471-B13C-4202-9B63-BC2DD0A9E219}"/>
              </a:ext>
            </a:extLst>
          </p:cNvPr>
          <p:cNvSpPr>
            <a:spLocks xmlns:a="http://schemas.openxmlformats.org/drawingml/2006/main" noGrp="1"/>
          </p:cNvSpPr>
          <p:nvPr/>
        </p:nvSpPr>
        <p:spPr>
          <a:xfrm xmlns:a="http://schemas.openxmlformats.org/drawingml/2006/main">
            <a:off x="437515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2" name="">
            <a:extLst xmlns:a="http://schemas.openxmlformats.org/drawingml/2006/main">
              <a:ext uri="{FF2B5EF4-FFF2-40B4-BE49-F238E27FC236}">
                <a16:creationId xmlns:a16="http://schemas.microsoft.com/office/drawing/2014/main" id="{242C073E-C9F8-4728-8B94-9F70EB03A5B0}"/>
              </a:ext>
            </a:extLst>
          </p:cNvPr>
          <p:cNvSpPr>
            <a:spLocks xmlns:a="http://schemas.openxmlformats.org/drawingml/2006/main" noGrp="1"/>
          </p:cNvSpPr>
          <p:nvPr/>
        </p:nvSpPr>
        <p:spPr>
          <a:xfrm xmlns:a="http://schemas.openxmlformats.org/drawingml/2006/main">
            <a:off x="437515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475569"/>
                </a:solidFill>
                <a:latin typeface="Helvetica Neue"/>
                <a:ea typeface="Helvetica Neue"/>
                <a:cs typeface="Helvetica Neue"/>
              </a:defRPr>
            </a:pPr>
            <a:r>
              <a:rPr sz="1575">
                <a:solidFill>
                  <a:srgbClr val="475569"/>
                </a:solidFill>
                <a:latin typeface="Helvetica Neue"/>
                <a:ea typeface="Helvetica Neue"/>
                <a:cs typeface="Helvetica Neue"/>
              </a:rPr>
              <a:t>Joining events to tickets produces repeated ticket values when several events match.</a:t>
            </a:r>
          </a:p>
        </p:txBody>
      </p:sp>
      <p:sp>
        <p:nvSpPr>
          <p:cNvPr id="13" name="">
            <a:extLst xmlns:a="http://schemas.openxmlformats.org/drawingml/2006/main">
              <a:ext uri="{FF2B5EF4-FFF2-40B4-BE49-F238E27FC236}">
                <a16:creationId xmlns:a16="http://schemas.microsoft.com/office/drawing/2014/main" id="{FE71FF2A-9943-48A7-9670-611C71A94685}"/>
              </a:ext>
            </a:extLst>
          </p:cNvPr>
          <p:cNvSpPr>
            <a:spLocks xmlns:a="http://schemas.openxmlformats.org/drawingml/2006/main" noGrp="1"/>
          </p:cNvSpPr>
          <p:nvPr/>
        </p:nvSpPr>
        <p:spPr>
          <a:xfrm xmlns:a="http://schemas.openxmlformats.org/drawingml/2006/main">
            <a:off x="437515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Count events, not tickets.</a:t>
            </a:r>
          </a:p>
        </p:txBody>
      </p:sp>
      <p:sp>
        <p:nvSpPr>
          <p:cNvPr id="14" name="">
            <a:extLst xmlns:a="http://schemas.openxmlformats.org/drawingml/2006/main">
              <a:ext uri="{FF2B5EF4-FFF2-40B4-BE49-F238E27FC236}">
                <a16:creationId xmlns:a16="http://schemas.microsoft.com/office/drawing/2014/main" id="{F45D9AD8-494B-4CA1-AAA1-C97FB9C36367}"/>
              </a:ext>
            </a:extLst>
          </p:cNvPr>
          <p:cNvSpPr>
            <a:spLocks xmlns:a="http://schemas.openxmlformats.org/drawingml/2006/main" noGrp="1"/>
          </p:cNvSpPr>
          <p:nvPr/>
        </p:nvSpPr>
        <p:spPr>
          <a:xfrm xmlns:a="http://schemas.openxmlformats.org/drawingml/2006/main">
            <a:off x="81407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One row per status</a:t>
            </a:r>
          </a:p>
        </p:txBody>
      </p:sp>
      <p:sp>
        <p:nvSpPr>
          <p:cNvPr id="15" name="">
            <a:extLst xmlns:a="http://schemas.openxmlformats.org/drawingml/2006/main">
              <a:ext uri="{FF2B5EF4-FFF2-40B4-BE49-F238E27FC236}">
                <a16:creationId xmlns:a16="http://schemas.microsoft.com/office/drawing/2014/main" id="{95DC68CC-7FB7-472A-B92E-2762CC78305E}"/>
              </a:ext>
            </a:extLst>
          </p:cNvPr>
          <p:cNvSpPr>
            <a:spLocks xmlns:a="http://schemas.openxmlformats.org/drawingml/2006/main" noGrp="1"/>
          </p:cNvSpPr>
          <p:nvPr/>
        </p:nvSpPr>
        <p:spPr>
          <a:xfrm xmlns:a="http://schemas.openxmlformats.org/drawingml/2006/main">
            <a:off x="814070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6" name="">
            <a:extLst xmlns:a="http://schemas.openxmlformats.org/drawingml/2006/main">
              <a:ext uri="{FF2B5EF4-FFF2-40B4-BE49-F238E27FC236}">
                <a16:creationId xmlns:a16="http://schemas.microsoft.com/office/drawing/2014/main" id="{7D50242D-49C3-4C4D-B604-AF3BF4DC8671}"/>
              </a:ext>
            </a:extLst>
          </p:cNvPr>
          <p:cNvSpPr>
            <a:spLocks xmlns:a="http://schemas.openxmlformats.org/drawingml/2006/main" noGrp="1"/>
          </p:cNvSpPr>
          <p:nvPr/>
        </p:nvSpPr>
        <p:spPr>
          <a:xfrm xmlns:a="http://schemas.openxmlformats.org/drawingml/2006/main">
            <a:off x="81407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475569"/>
                </a:solidFill>
                <a:latin typeface="Helvetica Neue"/>
                <a:ea typeface="Helvetica Neue"/>
                <a:cs typeface="Helvetica Neue"/>
              </a:defRPr>
            </a:pPr>
            <a:r>
              <a:rPr sz="1575">
                <a:solidFill>
                  <a:srgbClr val="475569"/>
                </a:solidFill>
                <a:latin typeface="Helvetica Neue"/>
                <a:ea typeface="Helvetica Neue"/>
                <a:cs typeface="Helvetica Neue"/>
              </a:rPr>
              <a:t>Grouping changes grain from source rows to one result row for each status value.</a:t>
            </a:r>
          </a:p>
        </p:txBody>
      </p:sp>
      <p:sp>
        <p:nvSpPr>
          <p:cNvPr id="17" name="">
            <a:extLst xmlns:a="http://schemas.openxmlformats.org/drawingml/2006/main">
              <a:ext uri="{FF2B5EF4-FFF2-40B4-BE49-F238E27FC236}">
                <a16:creationId xmlns:a16="http://schemas.microsoft.com/office/drawing/2014/main" id="{8718E18D-5382-484A-9BD2-D2C23F1F6B86}"/>
              </a:ext>
            </a:extLst>
          </p:cNvPr>
          <p:cNvSpPr>
            <a:spLocks xmlns:a="http://schemas.openxmlformats.org/drawingml/2006/main" noGrp="1"/>
          </p:cNvSpPr>
          <p:nvPr/>
        </p:nvSpPr>
        <p:spPr>
          <a:xfrm xmlns:a="http://schemas.openxmlformats.org/drawingml/2006/main">
            <a:off x="81407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0F766E"/>
                </a:solidFill>
                <a:latin typeface="Helvetica Neue"/>
                <a:ea typeface="Helvetica Neue"/>
                <a:cs typeface="Helvetica Neue"/>
              </a:defRPr>
            </a:pPr>
            <a:r>
              <a:rPr sz="1275" b="1">
                <a:solidFill>
                  <a:srgbClr val="0F766E"/>
                </a:solidFill>
                <a:latin typeface="Helvetica Neue"/>
                <a:ea typeface="Helvetica Neue"/>
                <a:cs typeface="Helvetica Neue"/>
              </a:rPr>
              <a:t>Check group keys.</a:t>
            </a:r>
          </a:p>
        </p:txBody>
      </p:sp>
    </p:spTree>
    <p:extLst>
      <p:ext uri="{BB962C8B-B14F-4D97-AF65-F5344CB8AC3E}">
        <p14:creationId xmlns:p14="http://schemas.microsoft.com/office/powerpoint/2010/main" val="1973137572"/>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A780F648-E643-4CD0-8979-303348D96D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E4CCACC-10E4-4220-A414-DDE7C942583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0BFC510F-3E8F-49BC-BDAC-604C7F649C7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Relational operations map to SQL, but semantics still matter</a:t>
            </a:r>
          </a:p>
        </p:txBody>
      </p:sp>
      <p:sp>
        <p:nvSpPr>
          <p:cNvPr id="4" name="">
            <a:extLst xmlns:a="http://schemas.openxmlformats.org/drawingml/2006/main">
              <a:ext uri="{FF2B5EF4-FFF2-40B4-BE49-F238E27FC236}">
                <a16:creationId xmlns:a16="http://schemas.microsoft.com/office/drawing/2014/main" id="{4C36E940-F210-4EF2-B130-32852AE090A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33B6567-CC64-4C8B-8725-ED42B0165FEF}"/>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source-note">
            <a:extLst xmlns:a="http://schemas.openxmlformats.org/drawingml/2006/main">
              <a:ext uri="{FF2B5EF4-FFF2-40B4-BE49-F238E27FC236}">
                <a16:creationId xmlns:a16="http://schemas.microsoft.com/office/drawing/2014/main" id="{88D7CB74-DCF5-46A3-AD78-07546C872DEC}"/>
              </a:ext>
            </a:extLst>
          </p:cNvPr>
          <p:cNvSpPr>
            <a:spLocks xmlns:a="http://schemas.openxmlformats.org/drawingml/2006/main" noGrp="1"/>
          </p:cNvSpPr>
          <p:nvPr/>
        </p:nvSpPr>
        <p:spPr>
          <a:xfrm xmlns:a="http://schemas.openxmlformats.org/drawingml/2006/main">
            <a:off x="609600" y="6448425"/>
            <a:ext cx="914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750">
                <a:solidFill>
                  <a:srgbClr val="94A3B8"/>
                </a:solidFill>
                <a:latin typeface="Helvetica Neue"/>
                <a:ea typeface="Helvetica Neue"/>
                <a:cs typeface="Helvetica Neue"/>
              </a:defRPr>
            </a:pPr>
            <a:r>
              <a:rPr sz="750">
                <a:solidFill>
                  <a:srgbClr val="94A3B8"/>
                </a:solidFill>
                <a:latin typeface="Helvetica Neue"/>
                <a:ea typeface="Helvetica Neue"/>
                <a:cs typeface="Helvetica Neue"/>
              </a:rPr>
              <a:t>Course-authored relational-to-SQL mapping; see Module 2 for definitions.</a:t>
            </a:r>
          </a:p>
        </p:txBody>
      </p:sp>
      <p:sp>
        <p:nvSpPr>
          <p:cNvPr id="7" name="">
            <a:extLst xmlns:a="http://schemas.openxmlformats.org/drawingml/2006/main">
              <a:ext uri="{FF2B5EF4-FFF2-40B4-BE49-F238E27FC236}">
                <a16:creationId xmlns:a16="http://schemas.microsoft.com/office/drawing/2014/main" id="{D65158FF-0FA8-4908-A05A-CFF6B173FBE4}"/>
              </a:ext>
            </a:extLst>
          </p:cNvPr>
          <p:cNvSpPr>
            <a:spLocks xmlns:a="http://schemas.openxmlformats.org/drawingml/2006/main" noGrp="1"/>
          </p:cNvSpPr>
          <p:nvPr/>
        </p:nvSpPr>
        <p:spPr>
          <a:xfrm xmlns:a="http://schemas.openxmlformats.org/drawingml/2006/main">
            <a:off x="685800" y="1714500"/>
            <a:ext cx="2000250" cy="5143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95C13753-D043-46F9-A993-510F7E185CAC}"/>
              </a:ext>
            </a:extLst>
          </p:cNvPr>
          <p:cNvSpPr>
            <a:spLocks xmlns:a="http://schemas.openxmlformats.org/drawingml/2006/main" noGrp="1"/>
          </p:cNvSpPr>
          <p:nvPr/>
        </p:nvSpPr>
        <p:spPr>
          <a:xfrm xmlns:a="http://schemas.openxmlformats.org/drawingml/2006/main">
            <a:off x="762000" y="18097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Operation</a:t>
            </a:r>
          </a:p>
        </p:txBody>
      </p:sp>
      <p:sp>
        <p:nvSpPr>
          <p:cNvPr id="9" name="">
            <a:extLst xmlns:a="http://schemas.openxmlformats.org/drawingml/2006/main">
              <a:ext uri="{FF2B5EF4-FFF2-40B4-BE49-F238E27FC236}">
                <a16:creationId xmlns:a16="http://schemas.microsoft.com/office/drawing/2014/main" id="{A6CFADB2-939F-4269-9E36-7A78855922EA}"/>
              </a:ext>
            </a:extLst>
          </p:cNvPr>
          <p:cNvSpPr>
            <a:spLocks xmlns:a="http://schemas.openxmlformats.org/drawingml/2006/main" noGrp="1"/>
          </p:cNvSpPr>
          <p:nvPr/>
        </p:nvSpPr>
        <p:spPr>
          <a:xfrm xmlns:a="http://schemas.openxmlformats.org/drawingml/2006/main">
            <a:off x="2686050" y="1714500"/>
            <a:ext cx="29527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1E4C9E2-CF96-4BC9-BA58-FC944800DA92}"/>
              </a:ext>
            </a:extLst>
          </p:cNvPr>
          <p:cNvSpPr>
            <a:spLocks xmlns:a="http://schemas.openxmlformats.org/drawingml/2006/main" noGrp="1"/>
          </p:cNvSpPr>
          <p:nvPr/>
        </p:nvSpPr>
        <p:spPr>
          <a:xfrm xmlns:a="http://schemas.openxmlformats.org/drawingml/2006/main">
            <a:off x="2762250" y="180975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Relational idea</a:t>
            </a:r>
          </a:p>
        </p:txBody>
      </p:sp>
      <p:sp>
        <p:nvSpPr>
          <p:cNvPr id="11" name="">
            <a:extLst xmlns:a="http://schemas.openxmlformats.org/drawingml/2006/main">
              <a:ext uri="{FF2B5EF4-FFF2-40B4-BE49-F238E27FC236}">
                <a16:creationId xmlns:a16="http://schemas.microsoft.com/office/drawing/2014/main" id="{B0CAB3C6-0EA2-4AEF-9D25-102482453602}"/>
              </a:ext>
            </a:extLst>
          </p:cNvPr>
          <p:cNvSpPr>
            <a:spLocks xmlns:a="http://schemas.openxmlformats.org/drawingml/2006/main" noGrp="1"/>
          </p:cNvSpPr>
          <p:nvPr/>
        </p:nvSpPr>
        <p:spPr>
          <a:xfrm xmlns:a="http://schemas.openxmlformats.org/drawingml/2006/main">
            <a:off x="5638800" y="1714500"/>
            <a:ext cx="30480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2" name="">
            <a:extLst xmlns:a="http://schemas.openxmlformats.org/drawingml/2006/main">
              <a:ext uri="{FF2B5EF4-FFF2-40B4-BE49-F238E27FC236}">
                <a16:creationId xmlns:a16="http://schemas.microsoft.com/office/drawing/2014/main" id="{7370BC48-FBEE-4B79-B991-D01FB100C60D}"/>
              </a:ext>
            </a:extLst>
          </p:cNvPr>
          <p:cNvSpPr>
            <a:spLocks xmlns:a="http://schemas.openxmlformats.org/drawingml/2006/main" noGrp="1"/>
          </p:cNvSpPr>
          <p:nvPr/>
        </p:nvSpPr>
        <p:spPr>
          <a:xfrm xmlns:a="http://schemas.openxmlformats.org/drawingml/2006/main">
            <a:off x="5715000" y="18097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Common SQL form</a:t>
            </a:r>
          </a:p>
        </p:txBody>
      </p:sp>
      <p:sp>
        <p:nvSpPr>
          <p:cNvPr id="13" name="">
            <a:extLst xmlns:a="http://schemas.openxmlformats.org/drawingml/2006/main">
              <a:ext uri="{FF2B5EF4-FFF2-40B4-BE49-F238E27FC236}">
                <a16:creationId xmlns:a16="http://schemas.microsoft.com/office/drawing/2014/main" id="{4CE18493-5ED7-4716-90BA-8BAB92480E1A}"/>
              </a:ext>
            </a:extLst>
          </p:cNvPr>
          <p:cNvSpPr>
            <a:spLocks xmlns:a="http://schemas.openxmlformats.org/drawingml/2006/main" noGrp="1"/>
          </p:cNvSpPr>
          <p:nvPr/>
        </p:nvSpPr>
        <p:spPr>
          <a:xfrm xmlns:a="http://schemas.openxmlformats.org/drawingml/2006/main">
            <a:off x="8686800" y="1714500"/>
            <a:ext cx="28194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451F5EED-B00F-4169-9279-EE2D83FE6610}"/>
              </a:ext>
            </a:extLst>
          </p:cNvPr>
          <p:cNvSpPr>
            <a:spLocks xmlns:a="http://schemas.openxmlformats.org/drawingml/2006/main" noGrp="1"/>
          </p:cNvSpPr>
          <p:nvPr/>
        </p:nvSpPr>
        <p:spPr>
          <a:xfrm xmlns:a="http://schemas.openxmlformats.org/drawingml/2006/main">
            <a:off x="8763000" y="18097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Check</a:t>
            </a:r>
          </a:p>
        </p:txBody>
      </p:sp>
      <p:sp>
        <p:nvSpPr>
          <p:cNvPr id="15" name="">
            <a:extLst xmlns:a="http://schemas.openxmlformats.org/drawingml/2006/main">
              <a:ext uri="{FF2B5EF4-FFF2-40B4-BE49-F238E27FC236}">
                <a16:creationId xmlns:a16="http://schemas.microsoft.com/office/drawing/2014/main" id="{31384C0F-D6E5-4DCA-93B2-958D11EEFC88}"/>
              </a:ext>
            </a:extLst>
          </p:cNvPr>
          <p:cNvSpPr>
            <a:spLocks xmlns:a="http://schemas.openxmlformats.org/drawingml/2006/main" noGrp="1"/>
          </p:cNvSpPr>
          <p:nvPr/>
        </p:nvSpPr>
        <p:spPr>
          <a:xfrm xmlns:a="http://schemas.openxmlformats.org/drawingml/2006/main">
            <a:off x="685800" y="2228850"/>
            <a:ext cx="20002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6" name="">
            <a:extLst xmlns:a="http://schemas.openxmlformats.org/drawingml/2006/main">
              <a:ext uri="{FF2B5EF4-FFF2-40B4-BE49-F238E27FC236}">
                <a16:creationId xmlns:a16="http://schemas.microsoft.com/office/drawing/2014/main" id="{E8BDAEDF-0615-4744-8497-2DBA07D3F5B4}"/>
              </a:ext>
            </a:extLst>
          </p:cNvPr>
          <p:cNvSpPr>
            <a:spLocks xmlns:a="http://schemas.openxmlformats.org/drawingml/2006/main" noGrp="1"/>
          </p:cNvSpPr>
          <p:nvPr/>
        </p:nvSpPr>
        <p:spPr>
          <a:xfrm xmlns:a="http://schemas.openxmlformats.org/drawingml/2006/main">
            <a:off x="762000" y="2305050"/>
            <a:ext cx="1847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Selection σ</a:t>
            </a:r>
          </a:p>
        </p:txBody>
      </p:sp>
      <p:sp>
        <p:nvSpPr>
          <p:cNvPr id="17" name="">
            <a:extLst xmlns:a="http://schemas.openxmlformats.org/drawingml/2006/main">
              <a:ext uri="{FF2B5EF4-FFF2-40B4-BE49-F238E27FC236}">
                <a16:creationId xmlns:a16="http://schemas.microsoft.com/office/drawing/2014/main" id="{E3F861F3-363E-4383-BEBF-800D71D507BE}"/>
              </a:ext>
            </a:extLst>
          </p:cNvPr>
          <p:cNvSpPr>
            <a:spLocks xmlns:a="http://schemas.openxmlformats.org/drawingml/2006/main" noGrp="1"/>
          </p:cNvSpPr>
          <p:nvPr/>
        </p:nvSpPr>
        <p:spPr>
          <a:xfrm xmlns:a="http://schemas.openxmlformats.org/drawingml/2006/main">
            <a:off x="2686050" y="2228850"/>
            <a:ext cx="29527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5F4760DA-9058-40A2-8F5E-5047520B0746}"/>
              </a:ext>
            </a:extLst>
          </p:cNvPr>
          <p:cNvSpPr>
            <a:spLocks xmlns:a="http://schemas.openxmlformats.org/drawingml/2006/main" noGrp="1"/>
          </p:cNvSpPr>
          <p:nvPr/>
        </p:nvSpPr>
        <p:spPr>
          <a:xfrm xmlns:a="http://schemas.openxmlformats.org/drawingml/2006/main">
            <a:off x="2762250" y="2305050"/>
            <a:ext cx="280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keep tuples satisfying a predicate</a:t>
            </a:r>
          </a:p>
        </p:txBody>
      </p:sp>
      <p:sp>
        <p:nvSpPr>
          <p:cNvPr id="19" name="">
            <a:extLst xmlns:a="http://schemas.openxmlformats.org/drawingml/2006/main">
              <a:ext uri="{FF2B5EF4-FFF2-40B4-BE49-F238E27FC236}">
                <a16:creationId xmlns:a16="http://schemas.microsoft.com/office/drawing/2014/main" id="{4545709D-FE65-49B7-AFDA-F358A084CF16}"/>
              </a:ext>
            </a:extLst>
          </p:cNvPr>
          <p:cNvSpPr>
            <a:spLocks xmlns:a="http://schemas.openxmlformats.org/drawingml/2006/main" noGrp="1"/>
          </p:cNvSpPr>
          <p:nvPr/>
        </p:nvSpPr>
        <p:spPr>
          <a:xfrm xmlns:a="http://schemas.openxmlformats.org/drawingml/2006/main">
            <a:off x="5638800" y="2228850"/>
            <a:ext cx="3048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B8B36696-24E7-40C5-BB43-180502557A10}"/>
              </a:ext>
            </a:extLst>
          </p:cNvPr>
          <p:cNvSpPr>
            <a:spLocks xmlns:a="http://schemas.openxmlformats.org/drawingml/2006/main" noGrp="1"/>
          </p:cNvSpPr>
          <p:nvPr/>
        </p:nvSpPr>
        <p:spPr>
          <a:xfrm xmlns:a="http://schemas.openxmlformats.org/drawingml/2006/main">
            <a:off x="5715000" y="2305050"/>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WHERE</a:t>
            </a:r>
          </a:p>
        </p:txBody>
      </p:sp>
      <p:sp>
        <p:nvSpPr>
          <p:cNvPr id="21" name="">
            <a:extLst xmlns:a="http://schemas.openxmlformats.org/drawingml/2006/main">
              <a:ext uri="{FF2B5EF4-FFF2-40B4-BE49-F238E27FC236}">
                <a16:creationId xmlns:a16="http://schemas.microsoft.com/office/drawing/2014/main" id="{6CF92D30-10A5-436A-9791-1F7AE8ACE43C}"/>
              </a:ext>
            </a:extLst>
          </p:cNvPr>
          <p:cNvSpPr>
            <a:spLocks xmlns:a="http://schemas.openxmlformats.org/drawingml/2006/main" noGrp="1"/>
          </p:cNvSpPr>
          <p:nvPr/>
        </p:nvSpPr>
        <p:spPr>
          <a:xfrm xmlns:a="http://schemas.openxmlformats.org/drawingml/2006/main">
            <a:off x="8686800" y="2228850"/>
            <a:ext cx="28194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6D6F14E3-62DB-4D68-A8D3-BBE7E7AB9F5B}"/>
              </a:ext>
            </a:extLst>
          </p:cNvPr>
          <p:cNvSpPr>
            <a:spLocks xmlns:a="http://schemas.openxmlformats.org/drawingml/2006/main" noGrp="1"/>
          </p:cNvSpPr>
          <p:nvPr/>
        </p:nvSpPr>
        <p:spPr>
          <a:xfrm xmlns:a="http://schemas.openxmlformats.org/drawingml/2006/main">
            <a:off x="8763000" y="23050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NULL and predicate scope</a:t>
            </a:r>
          </a:p>
        </p:txBody>
      </p:sp>
      <p:sp>
        <p:nvSpPr>
          <p:cNvPr id="23" name="">
            <a:extLst xmlns:a="http://schemas.openxmlformats.org/drawingml/2006/main">
              <a:ext uri="{FF2B5EF4-FFF2-40B4-BE49-F238E27FC236}">
                <a16:creationId xmlns:a16="http://schemas.microsoft.com/office/drawing/2014/main" id="{7CE9748B-2F83-4D00-B4A1-CE40E18E84FE}"/>
              </a:ext>
            </a:extLst>
          </p:cNvPr>
          <p:cNvSpPr>
            <a:spLocks xmlns:a="http://schemas.openxmlformats.org/drawingml/2006/main" noGrp="1"/>
          </p:cNvSpPr>
          <p:nvPr/>
        </p:nvSpPr>
        <p:spPr>
          <a:xfrm xmlns:a="http://schemas.openxmlformats.org/drawingml/2006/main">
            <a:off x="685800" y="2838450"/>
            <a:ext cx="2000250" cy="6096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67E41502-E6DD-497F-9CAC-D4C5BDB8B48D}"/>
              </a:ext>
            </a:extLst>
          </p:cNvPr>
          <p:cNvSpPr>
            <a:spLocks xmlns:a="http://schemas.openxmlformats.org/drawingml/2006/main" noGrp="1"/>
          </p:cNvSpPr>
          <p:nvPr/>
        </p:nvSpPr>
        <p:spPr>
          <a:xfrm xmlns:a="http://schemas.openxmlformats.org/drawingml/2006/main">
            <a:off x="762000" y="2914650"/>
            <a:ext cx="1847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Projection π</a:t>
            </a:r>
          </a:p>
        </p:txBody>
      </p:sp>
      <p:sp>
        <p:nvSpPr>
          <p:cNvPr id="25" name="">
            <a:extLst xmlns:a="http://schemas.openxmlformats.org/drawingml/2006/main">
              <a:ext uri="{FF2B5EF4-FFF2-40B4-BE49-F238E27FC236}">
                <a16:creationId xmlns:a16="http://schemas.microsoft.com/office/drawing/2014/main" id="{939F4BDC-0708-4F1D-9C3D-1AF1DF80E927}"/>
              </a:ext>
            </a:extLst>
          </p:cNvPr>
          <p:cNvSpPr>
            <a:spLocks xmlns:a="http://schemas.openxmlformats.org/drawingml/2006/main" noGrp="1"/>
          </p:cNvSpPr>
          <p:nvPr/>
        </p:nvSpPr>
        <p:spPr>
          <a:xfrm xmlns:a="http://schemas.openxmlformats.org/drawingml/2006/main">
            <a:off x="2686050" y="2838450"/>
            <a:ext cx="2952750" cy="6096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BD9E560D-2D08-448D-B2FB-F7B53BB0D029}"/>
              </a:ext>
            </a:extLst>
          </p:cNvPr>
          <p:cNvSpPr>
            <a:spLocks xmlns:a="http://schemas.openxmlformats.org/drawingml/2006/main" noGrp="1"/>
          </p:cNvSpPr>
          <p:nvPr/>
        </p:nvSpPr>
        <p:spPr>
          <a:xfrm xmlns:a="http://schemas.openxmlformats.org/drawingml/2006/main">
            <a:off x="2762250" y="2914650"/>
            <a:ext cx="280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keep named attributes</a:t>
            </a:r>
          </a:p>
        </p:txBody>
      </p:sp>
      <p:sp>
        <p:nvSpPr>
          <p:cNvPr id="27" name="">
            <a:extLst xmlns:a="http://schemas.openxmlformats.org/drawingml/2006/main">
              <a:ext uri="{FF2B5EF4-FFF2-40B4-BE49-F238E27FC236}">
                <a16:creationId xmlns:a16="http://schemas.microsoft.com/office/drawing/2014/main" id="{83B7C188-D7D8-4811-889E-CD9C8F44E99C}"/>
              </a:ext>
            </a:extLst>
          </p:cNvPr>
          <p:cNvSpPr>
            <a:spLocks xmlns:a="http://schemas.openxmlformats.org/drawingml/2006/main" noGrp="1"/>
          </p:cNvSpPr>
          <p:nvPr/>
        </p:nvSpPr>
        <p:spPr>
          <a:xfrm xmlns:a="http://schemas.openxmlformats.org/drawingml/2006/main">
            <a:off x="5638800" y="2838450"/>
            <a:ext cx="3048000" cy="6096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D14E110E-0F20-456E-9339-603ED93D4A42}"/>
              </a:ext>
            </a:extLst>
          </p:cNvPr>
          <p:cNvSpPr>
            <a:spLocks xmlns:a="http://schemas.openxmlformats.org/drawingml/2006/main" noGrp="1"/>
          </p:cNvSpPr>
          <p:nvPr/>
        </p:nvSpPr>
        <p:spPr>
          <a:xfrm xmlns:a="http://schemas.openxmlformats.org/drawingml/2006/main">
            <a:off x="5715000" y="2914650"/>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SELECT columns</a:t>
            </a:r>
          </a:p>
        </p:txBody>
      </p:sp>
      <p:sp>
        <p:nvSpPr>
          <p:cNvPr id="29" name="">
            <a:extLst xmlns:a="http://schemas.openxmlformats.org/drawingml/2006/main">
              <a:ext uri="{FF2B5EF4-FFF2-40B4-BE49-F238E27FC236}">
                <a16:creationId xmlns:a16="http://schemas.microsoft.com/office/drawing/2014/main" id="{B9FAC32E-62D9-409C-92F0-14742B959230}"/>
              </a:ext>
            </a:extLst>
          </p:cNvPr>
          <p:cNvSpPr>
            <a:spLocks xmlns:a="http://schemas.openxmlformats.org/drawingml/2006/main" noGrp="1"/>
          </p:cNvSpPr>
          <p:nvPr/>
        </p:nvSpPr>
        <p:spPr>
          <a:xfrm xmlns:a="http://schemas.openxmlformats.org/drawingml/2006/main">
            <a:off x="8686800" y="2838450"/>
            <a:ext cx="2819400" cy="6096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0" name="">
            <a:extLst xmlns:a="http://schemas.openxmlformats.org/drawingml/2006/main">
              <a:ext uri="{FF2B5EF4-FFF2-40B4-BE49-F238E27FC236}">
                <a16:creationId xmlns:a16="http://schemas.microsoft.com/office/drawing/2014/main" id="{68AD5CAF-65D2-434E-BEA0-2403C3689895}"/>
              </a:ext>
            </a:extLst>
          </p:cNvPr>
          <p:cNvSpPr>
            <a:spLocks xmlns:a="http://schemas.openxmlformats.org/drawingml/2006/main" noGrp="1"/>
          </p:cNvSpPr>
          <p:nvPr/>
        </p:nvSpPr>
        <p:spPr>
          <a:xfrm xmlns:a="http://schemas.openxmlformats.org/drawingml/2006/main">
            <a:off x="8763000" y="29146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SQL keeps duplicates by default</a:t>
            </a:r>
          </a:p>
        </p:txBody>
      </p:sp>
      <p:sp>
        <p:nvSpPr>
          <p:cNvPr id="31" name="">
            <a:extLst xmlns:a="http://schemas.openxmlformats.org/drawingml/2006/main">
              <a:ext uri="{FF2B5EF4-FFF2-40B4-BE49-F238E27FC236}">
                <a16:creationId xmlns:a16="http://schemas.microsoft.com/office/drawing/2014/main" id="{18136B75-2765-4F8F-97E7-6486B193759B}"/>
              </a:ext>
            </a:extLst>
          </p:cNvPr>
          <p:cNvSpPr>
            <a:spLocks xmlns:a="http://schemas.openxmlformats.org/drawingml/2006/main" noGrp="1"/>
          </p:cNvSpPr>
          <p:nvPr/>
        </p:nvSpPr>
        <p:spPr>
          <a:xfrm xmlns:a="http://schemas.openxmlformats.org/drawingml/2006/main">
            <a:off x="685800" y="3448050"/>
            <a:ext cx="20002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6182797F-A7B5-41A0-A20A-5C7E8A8129E9}"/>
              </a:ext>
            </a:extLst>
          </p:cNvPr>
          <p:cNvSpPr>
            <a:spLocks xmlns:a="http://schemas.openxmlformats.org/drawingml/2006/main" noGrp="1"/>
          </p:cNvSpPr>
          <p:nvPr/>
        </p:nvSpPr>
        <p:spPr>
          <a:xfrm xmlns:a="http://schemas.openxmlformats.org/drawingml/2006/main">
            <a:off x="762000" y="3524250"/>
            <a:ext cx="1847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Join ⋈</a:t>
            </a:r>
          </a:p>
        </p:txBody>
      </p:sp>
      <p:sp>
        <p:nvSpPr>
          <p:cNvPr id="33" name="">
            <a:extLst xmlns:a="http://schemas.openxmlformats.org/drawingml/2006/main">
              <a:ext uri="{FF2B5EF4-FFF2-40B4-BE49-F238E27FC236}">
                <a16:creationId xmlns:a16="http://schemas.microsoft.com/office/drawing/2014/main" id="{57B078E9-8892-4C72-8BF7-EE58F07B30C5}"/>
              </a:ext>
            </a:extLst>
          </p:cNvPr>
          <p:cNvSpPr>
            <a:spLocks xmlns:a="http://schemas.openxmlformats.org/drawingml/2006/main" noGrp="1"/>
          </p:cNvSpPr>
          <p:nvPr/>
        </p:nvSpPr>
        <p:spPr>
          <a:xfrm xmlns:a="http://schemas.openxmlformats.org/drawingml/2006/main">
            <a:off x="2686050" y="3448050"/>
            <a:ext cx="29527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4" name="">
            <a:extLst xmlns:a="http://schemas.openxmlformats.org/drawingml/2006/main">
              <a:ext uri="{FF2B5EF4-FFF2-40B4-BE49-F238E27FC236}">
                <a16:creationId xmlns:a16="http://schemas.microsoft.com/office/drawing/2014/main" id="{6660AC5B-FEB0-4DFF-B81C-65FA169D8EE2}"/>
              </a:ext>
            </a:extLst>
          </p:cNvPr>
          <p:cNvSpPr>
            <a:spLocks xmlns:a="http://schemas.openxmlformats.org/drawingml/2006/main" noGrp="1"/>
          </p:cNvSpPr>
          <p:nvPr/>
        </p:nvSpPr>
        <p:spPr>
          <a:xfrm xmlns:a="http://schemas.openxmlformats.org/drawingml/2006/main">
            <a:off x="2762250" y="3524250"/>
            <a:ext cx="280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keep matching tuple pairs</a:t>
            </a:r>
          </a:p>
        </p:txBody>
      </p:sp>
      <p:sp>
        <p:nvSpPr>
          <p:cNvPr id="35" name="">
            <a:extLst xmlns:a="http://schemas.openxmlformats.org/drawingml/2006/main">
              <a:ext uri="{FF2B5EF4-FFF2-40B4-BE49-F238E27FC236}">
                <a16:creationId xmlns:a16="http://schemas.microsoft.com/office/drawing/2014/main" id="{EB97C827-D961-4CFB-9A84-A4BF947B8B38}"/>
              </a:ext>
            </a:extLst>
          </p:cNvPr>
          <p:cNvSpPr>
            <a:spLocks xmlns:a="http://schemas.openxmlformats.org/drawingml/2006/main" noGrp="1"/>
          </p:cNvSpPr>
          <p:nvPr/>
        </p:nvSpPr>
        <p:spPr>
          <a:xfrm xmlns:a="http://schemas.openxmlformats.org/drawingml/2006/main">
            <a:off x="5638800" y="3448050"/>
            <a:ext cx="3048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6" name="">
            <a:extLst xmlns:a="http://schemas.openxmlformats.org/drawingml/2006/main">
              <a:ext uri="{FF2B5EF4-FFF2-40B4-BE49-F238E27FC236}">
                <a16:creationId xmlns:a16="http://schemas.microsoft.com/office/drawing/2014/main" id="{B57BA943-D24F-420E-9812-1EE491F73A91}"/>
              </a:ext>
            </a:extLst>
          </p:cNvPr>
          <p:cNvSpPr>
            <a:spLocks xmlns:a="http://schemas.openxmlformats.org/drawingml/2006/main" noGrp="1"/>
          </p:cNvSpPr>
          <p:nvPr/>
        </p:nvSpPr>
        <p:spPr>
          <a:xfrm xmlns:a="http://schemas.openxmlformats.org/drawingml/2006/main">
            <a:off x="5715000" y="3524250"/>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JOIN ... ON</a:t>
            </a:r>
          </a:p>
        </p:txBody>
      </p:sp>
      <p:sp>
        <p:nvSpPr>
          <p:cNvPr id="37" name="">
            <a:extLst xmlns:a="http://schemas.openxmlformats.org/drawingml/2006/main">
              <a:ext uri="{FF2B5EF4-FFF2-40B4-BE49-F238E27FC236}">
                <a16:creationId xmlns:a16="http://schemas.microsoft.com/office/drawing/2014/main" id="{5E975A06-AEFB-41D2-A255-B00DF88BCFD4}"/>
              </a:ext>
            </a:extLst>
          </p:cNvPr>
          <p:cNvSpPr>
            <a:spLocks xmlns:a="http://schemas.openxmlformats.org/drawingml/2006/main" noGrp="1"/>
          </p:cNvSpPr>
          <p:nvPr/>
        </p:nvSpPr>
        <p:spPr>
          <a:xfrm xmlns:a="http://schemas.openxmlformats.org/drawingml/2006/main">
            <a:off x="8686800" y="3448050"/>
            <a:ext cx="28194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8" name="">
            <a:extLst xmlns:a="http://schemas.openxmlformats.org/drawingml/2006/main">
              <a:ext uri="{FF2B5EF4-FFF2-40B4-BE49-F238E27FC236}">
                <a16:creationId xmlns:a16="http://schemas.microsoft.com/office/drawing/2014/main" id="{F42452A7-2BB7-42D6-A83A-7FE5FBA05DF1}"/>
              </a:ext>
            </a:extLst>
          </p:cNvPr>
          <p:cNvSpPr>
            <a:spLocks xmlns:a="http://schemas.openxmlformats.org/drawingml/2006/main" noGrp="1"/>
          </p:cNvSpPr>
          <p:nvPr/>
        </p:nvSpPr>
        <p:spPr>
          <a:xfrm xmlns:a="http://schemas.openxmlformats.org/drawingml/2006/main">
            <a:off x="8763000" y="35242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relationship and row multiplication</a:t>
            </a:r>
          </a:p>
        </p:txBody>
      </p:sp>
      <p:sp>
        <p:nvSpPr>
          <p:cNvPr id="39" name="">
            <a:extLst xmlns:a="http://schemas.openxmlformats.org/drawingml/2006/main">
              <a:ext uri="{FF2B5EF4-FFF2-40B4-BE49-F238E27FC236}">
                <a16:creationId xmlns:a16="http://schemas.microsoft.com/office/drawing/2014/main" id="{30013569-39FE-4C19-A397-F48DA4B43ADE}"/>
              </a:ext>
            </a:extLst>
          </p:cNvPr>
          <p:cNvSpPr>
            <a:spLocks xmlns:a="http://schemas.openxmlformats.org/drawingml/2006/main" noGrp="1"/>
          </p:cNvSpPr>
          <p:nvPr/>
        </p:nvSpPr>
        <p:spPr>
          <a:xfrm xmlns:a="http://schemas.openxmlformats.org/drawingml/2006/main">
            <a:off x="685800" y="4057650"/>
            <a:ext cx="2000250" cy="6096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0" name="">
            <a:extLst xmlns:a="http://schemas.openxmlformats.org/drawingml/2006/main">
              <a:ext uri="{FF2B5EF4-FFF2-40B4-BE49-F238E27FC236}">
                <a16:creationId xmlns:a16="http://schemas.microsoft.com/office/drawing/2014/main" id="{E1CBDD1D-7820-40EA-B29B-E2D0A01AC3BB}"/>
              </a:ext>
            </a:extLst>
          </p:cNvPr>
          <p:cNvSpPr>
            <a:spLocks xmlns:a="http://schemas.openxmlformats.org/drawingml/2006/main" noGrp="1"/>
          </p:cNvSpPr>
          <p:nvPr/>
        </p:nvSpPr>
        <p:spPr>
          <a:xfrm xmlns:a="http://schemas.openxmlformats.org/drawingml/2006/main">
            <a:off x="762000" y="4133850"/>
            <a:ext cx="1847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Grouping γ</a:t>
            </a:r>
          </a:p>
        </p:txBody>
      </p:sp>
      <p:sp>
        <p:nvSpPr>
          <p:cNvPr id="41" name="">
            <a:extLst xmlns:a="http://schemas.openxmlformats.org/drawingml/2006/main">
              <a:ext uri="{FF2B5EF4-FFF2-40B4-BE49-F238E27FC236}">
                <a16:creationId xmlns:a16="http://schemas.microsoft.com/office/drawing/2014/main" id="{78926305-16C7-42C4-B20B-A972EE832CC7}"/>
              </a:ext>
            </a:extLst>
          </p:cNvPr>
          <p:cNvSpPr>
            <a:spLocks xmlns:a="http://schemas.openxmlformats.org/drawingml/2006/main" noGrp="1"/>
          </p:cNvSpPr>
          <p:nvPr/>
        </p:nvSpPr>
        <p:spPr>
          <a:xfrm xmlns:a="http://schemas.openxmlformats.org/drawingml/2006/main">
            <a:off x="2686050" y="4057650"/>
            <a:ext cx="2952750" cy="6096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2" name="">
            <a:extLst xmlns:a="http://schemas.openxmlformats.org/drawingml/2006/main">
              <a:ext uri="{FF2B5EF4-FFF2-40B4-BE49-F238E27FC236}">
                <a16:creationId xmlns:a16="http://schemas.microsoft.com/office/drawing/2014/main" id="{17F3962B-2D92-48EC-886D-D6E686A7F363}"/>
              </a:ext>
            </a:extLst>
          </p:cNvPr>
          <p:cNvSpPr>
            <a:spLocks xmlns:a="http://schemas.openxmlformats.org/drawingml/2006/main" noGrp="1"/>
          </p:cNvSpPr>
          <p:nvPr/>
        </p:nvSpPr>
        <p:spPr>
          <a:xfrm xmlns:a="http://schemas.openxmlformats.org/drawingml/2006/main">
            <a:off x="2762250" y="4133850"/>
            <a:ext cx="280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form groups and summarize</a:t>
            </a:r>
          </a:p>
        </p:txBody>
      </p:sp>
      <p:sp>
        <p:nvSpPr>
          <p:cNvPr id="43" name="">
            <a:extLst xmlns:a="http://schemas.openxmlformats.org/drawingml/2006/main">
              <a:ext uri="{FF2B5EF4-FFF2-40B4-BE49-F238E27FC236}">
                <a16:creationId xmlns:a16="http://schemas.microsoft.com/office/drawing/2014/main" id="{F98EA25D-1117-412C-9714-B92CC7182F69}"/>
              </a:ext>
            </a:extLst>
          </p:cNvPr>
          <p:cNvSpPr>
            <a:spLocks xmlns:a="http://schemas.openxmlformats.org/drawingml/2006/main" noGrp="1"/>
          </p:cNvSpPr>
          <p:nvPr/>
        </p:nvSpPr>
        <p:spPr>
          <a:xfrm xmlns:a="http://schemas.openxmlformats.org/drawingml/2006/main">
            <a:off x="5638800" y="4057650"/>
            <a:ext cx="3048000" cy="6096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4" name="">
            <a:extLst xmlns:a="http://schemas.openxmlformats.org/drawingml/2006/main">
              <a:ext uri="{FF2B5EF4-FFF2-40B4-BE49-F238E27FC236}">
                <a16:creationId xmlns:a16="http://schemas.microsoft.com/office/drawing/2014/main" id="{5EF9CC60-03C2-41A4-A917-FA1E574CAFBD}"/>
              </a:ext>
            </a:extLst>
          </p:cNvPr>
          <p:cNvSpPr>
            <a:spLocks xmlns:a="http://schemas.openxmlformats.org/drawingml/2006/main" noGrp="1"/>
          </p:cNvSpPr>
          <p:nvPr/>
        </p:nvSpPr>
        <p:spPr>
          <a:xfrm xmlns:a="http://schemas.openxmlformats.org/drawingml/2006/main">
            <a:off x="5715000" y="4133850"/>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GROUP BY + aggregates</a:t>
            </a:r>
          </a:p>
        </p:txBody>
      </p:sp>
      <p:sp>
        <p:nvSpPr>
          <p:cNvPr id="45" name="">
            <a:extLst xmlns:a="http://schemas.openxmlformats.org/drawingml/2006/main">
              <a:ext uri="{FF2B5EF4-FFF2-40B4-BE49-F238E27FC236}">
                <a16:creationId xmlns:a16="http://schemas.microsoft.com/office/drawing/2014/main" id="{65556EA8-A23C-4DFC-9C70-51EBF7AAC079}"/>
              </a:ext>
            </a:extLst>
          </p:cNvPr>
          <p:cNvSpPr>
            <a:spLocks xmlns:a="http://schemas.openxmlformats.org/drawingml/2006/main" noGrp="1"/>
          </p:cNvSpPr>
          <p:nvPr/>
        </p:nvSpPr>
        <p:spPr>
          <a:xfrm xmlns:a="http://schemas.openxmlformats.org/drawingml/2006/main">
            <a:off x="8686800" y="4057650"/>
            <a:ext cx="2819400" cy="6096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6" name="">
            <a:extLst xmlns:a="http://schemas.openxmlformats.org/drawingml/2006/main">
              <a:ext uri="{FF2B5EF4-FFF2-40B4-BE49-F238E27FC236}">
                <a16:creationId xmlns:a16="http://schemas.microsoft.com/office/drawing/2014/main" id="{78FAC6D3-87C9-4286-9448-E4E4F169C002}"/>
              </a:ext>
            </a:extLst>
          </p:cNvPr>
          <p:cNvSpPr>
            <a:spLocks xmlns:a="http://schemas.openxmlformats.org/drawingml/2006/main" noGrp="1"/>
          </p:cNvSpPr>
          <p:nvPr/>
        </p:nvSpPr>
        <p:spPr>
          <a:xfrm xmlns:a="http://schemas.openxmlformats.org/drawingml/2006/main">
            <a:off x="8763000" y="41338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new result grain</a:t>
            </a:r>
          </a:p>
        </p:txBody>
      </p:sp>
      <p:sp>
        <p:nvSpPr>
          <p:cNvPr id="47" name="">
            <a:extLst xmlns:a="http://schemas.openxmlformats.org/drawingml/2006/main">
              <a:ext uri="{FF2B5EF4-FFF2-40B4-BE49-F238E27FC236}">
                <a16:creationId xmlns:a16="http://schemas.microsoft.com/office/drawing/2014/main" id="{4B788CC9-54DA-4BA1-A444-22DCC21A45E5}"/>
              </a:ext>
            </a:extLst>
          </p:cNvPr>
          <p:cNvSpPr>
            <a:spLocks xmlns:a="http://schemas.openxmlformats.org/drawingml/2006/main" noGrp="1"/>
          </p:cNvSpPr>
          <p:nvPr/>
        </p:nvSpPr>
        <p:spPr>
          <a:xfrm xmlns:a="http://schemas.openxmlformats.org/drawingml/2006/main">
            <a:off x="685800" y="4667250"/>
            <a:ext cx="20002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8" name="">
            <a:extLst xmlns:a="http://schemas.openxmlformats.org/drawingml/2006/main">
              <a:ext uri="{FF2B5EF4-FFF2-40B4-BE49-F238E27FC236}">
                <a16:creationId xmlns:a16="http://schemas.microsoft.com/office/drawing/2014/main" id="{26DF72A6-9013-450C-BB51-8DCF7D35C9FF}"/>
              </a:ext>
            </a:extLst>
          </p:cNvPr>
          <p:cNvSpPr>
            <a:spLocks xmlns:a="http://schemas.openxmlformats.org/drawingml/2006/main" noGrp="1"/>
          </p:cNvSpPr>
          <p:nvPr/>
        </p:nvSpPr>
        <p:spPr>
          <a:xfrm xmlns:a="http://schemas.openxmlformats.org/drawingml/2006/main">
            <a:off x="762000" y="4743450"/>
            <a:ext cx="1847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Difference −</a:t>
            </a:r>
          </a:p>
        </p:txBody>
      </p:sp>
      <p:sp>
        <p:nvSpPr>
          <p:cNvPr id="49" name="">
            <a:extLst xmlns:a="http://schemas.openxmlformats.org/drawingml/2006/main">
              <a:ext uri="{FF2B5EF4-FFF2-40B4-BE49-F238E27FC236}">
                <a16:creationId xmlns:a16="http://schemas.microsoft.com/office/drawing/2014/main" id="{9D42601B-5E40-4335-B3B4-CFB599E31CE4}"/>
              </a:ext>
            </a:extLst>
          </p:cNvPr>
          <p:cNvSpPr>
            <a:spLocks xmlns:a="http://schemas.openxmlformats.org/drawingml/2006/main" noGrp="1"/>
          </p:cNvSpPr>
          <p:nvPr/>
        </p:nvSpPr>
        <p:spPr>
          <a:xfrm xmlns:a="http://schemas.openxmlformats.org/drawingml/2006/main">
            <a:off x="2686050" y="4667250"/>
            <a:ext cx="29527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50" name="">
            <a:extLst xmlns:a="http://schemas.openxmlformats.org/drawingml/2006/main">
              <a:ext uri="{FF2B5EF4-FFF2-40B4-BE49-F238E27FC236}">
                <a16:creationId xmlns:a16="http://schemas.microsoft.com/office/drawing/2014/main" id="{78A75BFC-FDE4-4D79-AE1D-FCC8F7DB45B8}"/>
              </a:ext>
            </a:extLst>
          </p:cNvPr>
          <p:cNvSpPr>
            <a:spLocks xmlns:a="http://schemas.openxmlformats.org/drawingml/2006/main" noGrp="1"/>
          </p:cNvSpPr>
          <p:nvPr/>
        </p:nvSpPr>
        <p:spPr>
          <a:xfrm xmlns:a="http://schemas.openxmlformats.org/drawingml/2006/main">
            <a:off x="2762250" y="4743450"/>
            <a:ext cx="280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tuples in A but not B</a:t>
            </a:r>
          </a:p>
        </p:txBody>
      </p:sp>
      <p:sp>
        <p:nvSpPr>
          <p:cNvPr id="51" name="">
            <a:extLst xmlns:a="http://schemas.openxmlformats.org/drawingml/2006/main">
              <a:ext uri="{FF2B5EF4-FFF2-40B4-BE49-F238E27FC236}">
                <a16:creationId xmlns:a16="http://schemas.microsoft.com/office/drawing/2014/main" id="{2D35E30B-AE8A-4ABF-9C26-0CF99776DC60}"/>
              </a:ext>
            </a:extLst>
          </p:cNvPr>
          <p:cNvSpPr>
            <a:spLocks xmlns:a="http://schemas.openxmlformats.org/drawingml/2006/main" noGrp="1"/>
          </p:cNvSpPr>
          <p:nvPr/>
        </p:nvSpPr>
        <p:spPr>
          <a:xfrm xmlns:a="http://schemas.openxmlformats.org/drawingml/2006/main">
            <a:off x="5638800" y="4667250"/>
            <a:ext cx="3048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52" name="">
            <a:extLst xmlns:a="http://schemas.openxmlformats.org/drawingml/2006/main">
              <a:ext uri="{FF2B5EF4-FFF2-40B4-BE49-F238E27FC236}">
                <a16:creationId xmlns:a16="http://schemas.microsoft.com/office/drawing/2014/main" id="{13C4CD8F-298D-4362-BD7F-14E6E3D327B0}"/>
              </a:ext>
            </a:extLst>
          </p:cNvPr>
          <p:cNvSpPr>
            <a:spLocks xmlns:a="http://schemas.openxmlformats.org/drawingml/2006/main" noGrp="1"/>
          </p:cNvSpPr>
          <p:nvPr/>
        </p:nvSpPr>
        <p:spPr>
          <a:xfrm xmlns:a="http://schemas.openxmlformats.org/drawingml/2006/main">
            <a:off x="5715000" y="4743450"/>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EXCEPT / NOT EXISTS</a:t>
            </a:r>
          </a:p>
        </p:txBody>
      </p:sp>
      <p:sp>
        <p:nvSpPr>
          <p:cNvPr id="53" name="">
            <a:extLst xmlns:a="http://schemas.openxmlformats.org/drawingml/2006/main">
              <a:ext uri="{FF2B5EF4-FFF2-40B4-BE49-F238E27FC236}">
                <a16:creationId xmlns:a16="http://schemas.microsoft.com/office/drawing/2014/main" id="{FE069604-94B4-4D62-893F-A77F81EC6750}"/>
              </a:ext>
            </a:extLst>
          </p:cNvPr>
          <p:cNvSpPr>
            <a:spLocks xmlns:a="http://schemas.openxmlformats.org/drawingml/2006/main" noGrp="1"/>
          </p:cNvSpPr>
          <p:nvPr/>
        </p:nvSpPr>
        <p:spPr>
          <a:xfrm xmlns:a="http://schemas.openxmlformats.org/drawingml/2006/main">
            <a:off x="8686800" y="4667250"/>
            <a:ext cx="28194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54" name="">
            <a:extLst xmlns:a="http://schemas.openxmlformats.org/drawingml/2006/main">
              <a:ext uri="{FF2B5EF4-FFF2-40B4-BE49-F238E27FC236}">
                <a16:creationId xmlns:a16="http://schemas.microsoft.com/office/drawing/2014/main" id="{C6BF253B-2FAA-4718-AD63-F52D49D8B804}"/>
              </a:ext>
            </a:extLst>
          </p:cNvPr>
          <p:cNvSpPr>
            <a:spLocks xmlns:a="http://schemas.openxmlformats.org/drawingml/2006/main" noGrp="1"/>
          </p:cNvSpPr>
          <p:nvPr/>
        </p:nvSpPr>
        <p:spPr>
          <a:xfrm xmlns:a="http://schemas.openxmlformats.org/drawingml/2006/main">
            <a:off x="8763000" y="47434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duplicate and NULL behavior</a:t>
            </a:r>
          </a:p>
        </p:txBody>
      </p:sp>
    </p:spTree>
    <p:extLst>
      <p:ext uri="{BB962C8B-B14F-4D97-AF65-F5344CB8AC3E}">
        <p14:creationId xmlns:p14="http://schemas.microsoft.com/office/powerpoint/2010/main" val="384631022"/>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6A627D9-9EB5-4D8B-889A-B8EB8D619A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8E8EB40-2EF3-439F-8405-6D955773AC7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FC5B1493-F2A2-4B31-A6E5-EBC22C75C00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Selection and projection become WHERE and the column list</a:t>
            </a:r>
          </a:p>
        </p:txBody>
      </p:sp>
      <p:sp>
        <p:nvSpPr>
          <p:cNvPr id="4" name="">
            <a:extLst xmlns:a="http://schemas.openxmlformats.org/drawingml/2006/main">
              <a:ext uri="{FF2B5EF4-FFF2-40B4-BE49-F238E27FC236}">
                <a16:creationId xmlns:a16="http://schemas.microsoft.com/office/drawing/2014/main" id="{DC636CDD-77BA-4873-A7CD-05D5B2ADB3D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5CA81D3-CE9F-4B85-9A8C-DC115285EFF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code-frame">
            <a:extLst xmlns:a="http://schemas.openxmlformats.org/drawingml/2006/main">
              <a:ext uri="{FF2B5EF4-FFF2-40B4-BE49-F238E27FC236}">
                <a16:creationId xmlns:a16="http://schemas.microsoft.com/office/drawing/2014/main" id="{B33A5F83-A548-4DE9-89C6-1F48183EB896}"/>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F76E2B07-FE0D-47C9-B12F-FA8A7BF67D49}"/>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Grain: one row per matching ticket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SELECT ticket_id, subject, priority</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FROM tickets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WHERE priority = 'high'</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ORDER BY ticket_id;</a:t>
            </a:r>
          </a:p>
        </p:txBody>
      </p:sp>
      <p:sp>
        <p:nvSpPr>
          <p:cNvPr id="8" name="">
            <a:extLst xmlns:a="http://schemas.openxmlformats.org/drawingml/2006/main">
              <a:ext uri="{FF2B5EF4-FFF2-40B4-BE49-F238E27FC236}">
                <a16:creationId xmlns:a16="http://schemas.microsoft.com/office/drawing/2014/main" id="{F5D233AA-AD22-4EB5-9CEC-202554AE1E43}"/>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Predict before running</a:t>
            </a:r>
          </a:p>
        </p:txBody>
      </p:sp>
      <p:sp>
        <p:nvSpPr>
          <p:cNvPr id="9" name="">
            <a:extLst xmlns:a="http://schemas.openxmlformats.org/drawingml/2006/main">
              <a:ext uri="{FF2B5EF4-FFF2-40B4-BE49-F238E27FC236}">
                <a16:creationId xmlns:a16="http://schemas.microsoft.com/office/drawing/2014/main" id="{9B60C099-54B1-4465-B88A-B8C85D8CCE7D}"/>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C7C2C337-ED2C-4EC6-A009-8EE6C277A54A}"/>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Which ticket identifiers should appear?</a:t>
            </a:r>
          </a:p>
        </p:txBody>
      </p:sp>
      <p:sp>
        <p:nvSpPr>
          <p:cNvPr id="11" name="">
            <a:extLst xmlns:a="http://schemas.openxmlformats.org/drawingml/2006/main">
              <a:ext uri="{FF2B5EF4-FFF2-40B4-BE49-F238E27FC236}">
                <a16:creationId xmlns:a16="http://schemas.microsoft.com/office/drawing/2014/main" id="{C6ED976C-97A8-44DB-9A31-D1AB47C72A08}"/>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9BB5715F-1F95-4D9F-84BC-63C92E8FA66E}"/>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Which three attributes remain?</a:t>
            </a:r>
          </a:p>
        </p:txBody>
      </p:sp>
      <p:sp>
        <p:nvSpPr>
          <p:cNvPr id="13" name="">
            <a:extLst xmlns:a="http://schemas.openxmlformats.org/drawingml/2006/main">
              <a:ext uri="{FF2B5EF4-FFF2-40B4-BE49-F238E27FC236}">
                <a16:creationId xmlns:a16="http://schemas.microsoft.com/office/drawing/2014/main" id="{E1FBD413-6D17-4344-9F3C-9000AD1CD6FF}"/>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21ABF69D-5C4F-4E18-AFDC-5D7FC2DB0090}"/>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Does ordering change membership?</a:t>
            </a:r>
          </a:p>
        </p:txBody>
      </p:sp>
    </p:spTree>
    <p:extLst>
      <p:ext uri="{BB962C8B-B14F-4D97-AF65-F5344CB8AC3E}">
        <p14:creationId xmlns:p14="http://schemas.microsoft.com/office/powerpoint/2010/main" val="1190728010"/>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65C14C3-E5B4-4109-B6F7-92EBEAC679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E8B460B-5738-4FF3-9474-A4586638ACC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866F101E-750B-4EB3-B9F7-6B95E5DF995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NULL means unknown or absent, not an ordinary value</a:t>
            </a:r>
          </a:p>
        </p:txBody>
      </p:sp>
      <p:sp>
        <p:nvSpPr>
          <p:cNvPr id="4" name="">
            <a:extLst xmlns:a="http://schemas.openxmlformats.org/drawingml/2006/main">
              <a:ext uri="{FF2B5EF4-FFF2-40B4-BE49-F238E27FC236}">
                <a16:creationId xmlns:a16="http://schemas.microsoft.com/office/drawing/2014/main" id="{D7F5E3E8-916D-4EF4-A4C4-7A23B2D8FD6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9E55EB07-1CBC-4B56-AB26-B2BDB4A6F93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83AA40A7-1704-4816-BA14-2AE601C16E78}"/>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Wrong mental model</a:t>
            </a:r>
          </a:p>
        </p:txBody>
      </p:sp>
      <p:sp>
        <p:nvSpPr>
          <p:cNvPr id="7" name="">
            <a:extLst xmlns:a="http://schemas.openxmlformats.org/drawingml/2006/main">
              <a:ext uri="{FF2B5EF4-FFF2-40B4-BE49-F238E27FC236}">
                <a16:creationId xmlns:a16="http://schemas.microsoft.com/office/drawing/2014/main" id="{769F3138-313B-4490-B6C0-414A418DCCA4}"/>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SQL behavior to test</a:t>
            </a:r>
          </a:p>
        </p:txBody>
      </p:sp>
      <p:sp>
        <p:nvSpPr>
          <p:cNvPr id="8" name="">
            <a:extLst xmlns:a="http://schemas.openxmlformats.org/drawingml/2006/main">
              <a:ext uri="{FF2B5EF4-FFF2-40B4-BE49-F238E27FC236}">
                <a16:creationId xmlns:a16="http://schemas.microsoft.com/office/drawing/2014/main" id="{3B2F0BFC-44AB-4FA4-8A40-72EA060A26BE}"/>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2F4F58F7-80DB-44AC-BB9B-2135EEA40309}"/>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61980721-0729-4F0E-A5A2-D217F0E2EBA6}"/>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`assignee_id = NULL`</a:t>
            </a:r>
          </a:p>
        </p:txBody>
      </p:sp>
      <p:sp>
        <p:nvSpPr>
          <p:cNvPr id="11" name="">
            <a:extLst xmlns:a="http://schemas.openxmlformats.org/drawingml/2006/main">
              <a:ext uri="{FF2B5EF4-FFF2-40B4-BE49-F238E27FC236}">
                <a16:creationId xmlns:a16="http://schemas.microsoft.com/office/drawing/2014/main" id="{F94D36FC-7F0B-44CD-A510-10C7BC39FDAA}"/>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BBF7811F-9B49-48D5-9E77-7C541666ADF6}"/>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`status &lt;&gt; 'closed'` includes every other row</a:t>
            </a:r>
          </a:p>
        </p:txBody>
      </p:sp>
      <p:sp>
        <p:nvSpPr>
          <p:cNvPr id="13" name="">
            <a:extLst xmlns:a="http://schemas.openxmlformats.org/drawingml/2006/main">
              <a:ext uri="{FF2B5EF4-FFF2-40B4-BE49-F238E27FC236}">
                <a16:creationId xmlns:a16="http://schemas.microsoft.com/office/drawing/2014/main" id="{2BA458AB-C6E6-4628-AF28-E7EF8FFBACCF}"/>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B8A981EF-CB56-47FF-B7BC-7BDE94AF404C}"/>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Unknown behaves like false in every context</a:t>
            </a:r>
          </a:p>
        </p:txBody>
      </p:sp>
      <p:sp>
        <p:nvSpPr>
          <p:cNvPr id="15" name="">
            <a:extLst xmlns:a="http://schemas.openxmlformats.org/drawingml/2006/main">
              <a:ext uri="{FF2B5EF4-FFF2-40B4-BE49-F238E27FC236}">
                <a16:creationId xmlns:a16="http://schemas.microsoft.com/office/drawing/2014/main" id="{F8B974B2-02EE-460E-8176-922ADCF53A93}"/>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6A9BCD7F-668A-4FD8-A052-3B2AB9E8D95A}"/>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 `IS NULL` or `IS NOT NULL`</a:t>
            </a:r>
          </a:p>
        </p:txBody>
      </p:sp>
      <p:sp>
        <p:nvSpPr>
          <p:cNvPr id="17" name="">
            <a:extLst xmlns:a="http://schemas.openxmlformats.org/drawingml/2006/main">
              <a:ext uri="{FF2B5EF4-FFF2-40B4-BE49-F238E27FC236}">
                <a16:creationId xmlns:a16="http://schemas.microsoft.com/office/drawing/2014/main" id="{D247259F-6910-4134-84E4-BE61D44136D6}"/>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F8F8E98C-AEBB-4A7B-905C-0A07694FA6D8}"/>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Comparisons with NULL evaluate to unknown</a:t>
            </a:r>
          </a:p>
        </p:txBody>
      </p:sp>
      <p:sp>
        <p:nvSpPr>
          <p:cNvPr id="19" name="">
            <a:extLst xmlns:a="http://schemas.openxmlformats.org/drawingml/2006/main">
              <a:ext uri="{FF2B5EF4-FFF2-40B4-BE49-F238E27FC236}">
                <a16:creationId xmlns:a16="http://schemas.microsoft.com/office/drawing/2014/main" id="{84760C83-0D96-497D-B193-83CC730BC6AE}"/>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130D70B5-5EC7-4741-985A-5AEA72145739}"/>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WHERE retains only predicates that are true</a:t>
            </a:r>
          </a:p>
        </p:txBody>
      </p:sp>
    </p:spTree>
    <p:extLst>
      <p:ext uri="{BB962C8B-B14F-4D97-AF65-F5344CB8AC3E}">
        <p14:creationId xmlns:p14="http://schemas.microsoft.com/office/powerpoint/2010/main" val="1812204663"/>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DFE4CF1-2C75-423A-82EE-3F5C7915B5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C51E819-3469-4BAB-9F3D-12A6C53F4351}"/>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D8EEEE17-0097-4FC5-813D-04944FA9B0A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Sorting and limiting require a deterministic question</a:t>
            </a:r>
          </a:p>
        </p:txBody>
      </p:sp>
      <p:sp>
        <p:nvSpPr>
          <p:cNvPr id="4" name="">
            <a:extLst xmlns:a="http://schemas.openxmlformats.org/drawingml/2006/main">
              <a:ext uri="{FF2B5EF4-FFF2-40B4-BE49-F238E27FC236}">
                <a16:creationId xmlns:a16="http://schemas.microsoft.com/office/drawing/2014/main" id="{2DBD6ACF-481D-4F0F-B7F3-DF109990115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FE77841-C92E-4821-91B4-E824BF7A465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code-frame">
            <a:extLst xmlns:a="http://schemas.openxmlformats.org/drawingml/2006/main">
              <a:ext uri="{FF2B5EF4-FFF2-40B4-BE49-F238E27FC236}">
                <a16:creationId xmlns:a16="http://schemas.microsoft.com/office/drawing/2014/main" id="{435B185B-2619-46D4-84DA-14CE2CA57A68}"/>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BF19536B-7EEA-4E1D-AD53-CB1C79FD6D9A}"/>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SELECT ticket_id, opened_at, priority</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FROM tickets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WHERE status IN ('new', 'open', 'in_progress')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ORDER BY opened_at DESC, ticket_id DESC</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LIMIT 3;</a:t>
            </a:r>
          </a:p>
        </p:txBody>
      </p:sp>
      <p:sp>
        <p:nvSpPr>
          <p:cNvPr id="8" name="">
            <a:extLst xmlns:a="http://schemas.openxmlformats.org/drawingml/2006/main">
              <a:ext uri="{FF2B5EF4-FFF2-40B4-BE49-F238E27FC236}">
                <a16:creationId xmlns:a16="http://schemas.microsoft.com/office/drawing/2014/main" id="{FF71A3F1-CA3C-42D7-B798-827837737AA4}"/>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Meaning</a:t>
            </a:r>
          </a:p>
        </p:txBody>
      </p:sp>
      <p:sp>
        <p:nvSpPr>
          <p:cNvPr id="9" name="">
            <a:extLst xmlns:a="http://schemas.openxmlformats.org/drawingml/2006/main">
              <a:ext uri="{FF2B5EF4-FFF2-40B4-BE49-F238E27FC236}">
                <a16:creationId xmlns:a16="http://schemas.microsoft.com/office/drawing/2014/main" id="{3CC11207-DADF-4F1B-A4F9-2664D77403AC}"/>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EADF47DB-251D-456C-ADC4-A7E828EE636E}"/>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Filter active tickets first.</a:t>
            </a:r>
          </a:p>
        </p:txBody>
      </p:sp>
      <p:sp>
        <p:nvSpPr>
          <p:cNvPr id="11" name="">
            <a:extLst xmlns:a="http://schemas.openxmlformats.org/drawingml/2006/main">
              <a:ext uri="{FF2B5EF4-FFF2-40B4-BE49-F238E27FC236}">
                <a16:creationId xmlns:a16="http://schemas.microsoft.com/office/drawing/2014/main" id="{99D2053D-7E97-4726-8B9F-E9C0DF3829FA}"/>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355C1234-56B1-467F-B54F-A3C89D901420}"/>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Sort newest to oldest.</a:t>
            </a:r>
          </a:p>
        </p:txBody>
      </p:sp>
      <p:sp>
        <p:nvSpPr>
          <p:cNvPr id="13" name="">
            <a:extLst xmlns:a="http://schemas.openxmlformats.org/drawingml/2006/main">
              <a:ext uri="{FF2B5EF4-FFF2-40B4-BE49-F238E27FC236}">
                <a16:creationId xmlns:a16="http://schemas.microsoft.com/office/drawing/2014/main" id="{655C95DC-E5B9-4C78-99B2-2CA0E81FA891}"/>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FC6D8014-67AA-4ADF-AA86-BA6C7BC0CCCA}"/>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Use ticket_id to break ties.</a:t>
            </a:r>
          </a:p>
        </p:txBody>
      </p:sp>
    </p:spTree>
    <p:extLst>
      <p:ext uri="{BB962C8B-B14F-4D97-AF65-F5344CB8AC3E}">
        <p14:creationId xmlns:p14="http://schemas.microsoft.com/office/powerpoint/2010/main" val="760977678"/>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36462E3-7A16-4B1C-9F1D-1AB0CCEBCC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4D13E6F-EECB-4A48-B6EE-667D9DE40D28}"/>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1E4F5271-E93D-4321-89A3-4A6F400EAD7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An inner join keeps matching tuple pairs</a:t>
            </a:r>
          </a:p>
        </p:txBody>
      </p:sp>
      <p:sp>
        <p:nvSpPr>
          <p:cNvPr id="4" name="">
            <a:extLst xmlns:a="http://schemas.openxmlformats.org/drawingml/2006/main">
              <a:ext uri="{FF2B5EF4-FFF2-40B4-BE49-F238E27FC236}">
                <a16:creationId xmlns:a16="http://schemas.microsoft.com/office/drawing/2014/main" id="{EFB1C10E-F8BE-4D46-9CE3-81131466F7AC}"/>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35E93C6-B9C2-4107-AACE-4DC363AF894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D2DA0720-4357-469E-890D-BFADEBE4F17A}"/>
              </a:ext>
            </a:extLst>
          </p:cNvPr>
          <p:cNvSpPr>
            <a:spLocks xmlns:a="http://schemas.openxmlformats.org/drawingml/2006/main" noGrp="1"/>
          </p:cNvSpPr>
          <p:nvPr/>
        </p:nvSpPr>
        <p:spPr>
          <a:xfrm xmlns:a="http://schemas.openxmlformats.org/drawingml/2006/main" flipV="1">
            <a:off x="2047875" y="2238375"/>
            <a:ext cx="7143750" cy="333375"/>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7" name="">
            <a:extLst xmlns:a="http://schemas.openxmlformats.org/drawingml/2006/main">
              <a:ext uri="{FF2B5EF4-FFF2-40B4-BE49-F238E27FC236}">
                <a16:creationId xmlns:a16="http://schemas.microsoft.com/office/drawing/2014/main" id="{1613BADA-E8DD-461C-A777-942F66F39AC7}"/>
              </a:ext>
            </a:extLst>
          </p:cNvPr>
          <p:cNvSpPr>
            <a:spLocks xmlns:a="http://schemas.openxmlformats.org/drawingml/2006/main" noGrp="1"/>
          </p:cNvSpPr>
          <p:nvPr/>
        </p:nvSpPr>
        <p:spPr>
          <a:xfrm xmlns:a="http://schemas.openxmlformats.org/drawingml/2006/main">
            <a:off x="2047875" y="2571750"/>
            <a:ext cx="7143750" cy="904875"/>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8" name="">
            <a:extLst xmlns:a="http://schemas.openxmlformats.org/drawingml/2006/main">
              <a:ext uri="{FF2B5EF4-FFF2-40B4-BE49-F238E27FC236}">
                <a16:creationId xmlns:a16="http://schemas.microsoft.com/office/drawing/2014/main" id="{3265D964-1DED-4E1D-B74C-2BA44D6B5D09}"/>
              </a:ext>
            </a:extLst>
          </p:cNvPr>
          <p:cNvSpPr>
            <a:spLocks xmlns:a="http://schemas.openxmlformats.org/drawingml/2006/main" noGrp="1"/>
          </p:cNvSpPr>
          <p:nvPr/>
        </p:nvSpPr>
        <p:spPr>
          <a:xfrm xmlns:a="http://schemas.openxmlformats.org/drawingml/2006/main">
            <a:off x="2047875" y="4572000"/>
            <a:ext cx="7143750" cy="142875"/>
          </a:xfrm>
          <a:prstGeom xmlns:a="http://schemas.openxmlformats.org/drawingml/2006/main" prst="line">
            <a:avLst/>
          </a:prstGeom>
          <a:noFill xmlns:a="http://schemas.openxmlformats.org/drawingml/2006/main"/>
          <a:ln xmlns:a="http://schemas.openxmlformats.org/drawingml/2006/main" w="28575">
            <a:solidFill>
              <a:srgbClr val="475569"/>
            </a:solidFill>
            <a:prstDash val="solid"/>
          </a:ln>
        </p:spPr>
      </p:sp>
      <p:sp>
        <p:nvSpPr>
          <p:cNvPr id="9" name="">
            <a:extLst xmlns:a="http://schemas.openxmlformats.org/drawingml/2006/main">
              <a:ext uri="{FF2B5EF4-FFF2-40B4-BE49-F238E27FC236}">
                <a16:creationId xmlns:a16="http://schemas.microsoft.com/office/drawing/2014/main" id="{E32B9FAF-30B0-4D4A-BC70-1487DA3C745B}"/>
              </a:ext>
            </a:extLst>
          </p:cNvPr>
          <p:cNvSpPr>
            <a:spLocks xmlns:a="http://schemas.openxmlformats.org/drawingml/2006/main" noGrp="1"/>
          </p:cNvSpPr>
          <p:nvPr/>
        </p:nvSpPr>
        <p:spPr>
          <a:xfrm xmlns:a="http://schemas.openxmlformats.org/drawingml/2006/main">
            <a:off x="762000" y="2095500"/>
            <a:ext cx="2571750" cy="95250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users.user_id</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101</a:t>
            </a:r>
          </a:p>
        </p:txBody>
      </p:sp>
      <p:sp>
        <p:nvSpPr>
          <p:cNvPr id="10" name="">
            <a:extLst xmlns:a="http://schemas.openxmlformats.org/drawingml/2006/main">
              <a:ext uri="{FF2B5EF4-FFF2-40B4-BE49-F238E27FC236}">
                <a16:creationId xmlns:a16="http://schemas.microsoft.com/office/drawing/2014/main" id="{DD6CE661-AC20-4AB8-8E00-C13F18DDCE8C}"/>
              </a:ext>
            </a:extLst>
          </p:cNvPr>
          <p:cNvSpPr>
            <a:spLocks xmlns:a="http://schemas.openxmlformats.org/drawingml/2006/main" noGrp="1"/>
          </p:cNvSpPr>
          <p:nvPr/>
        </p:nvSpPr>
        <p:spPr>
          <a:xfrm xmlns:a="http://schemas.openxmlformats.org/drawingml/2006/main">
            <a:off x="762000" y="4095750"/>
            <a:ext cx="25717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users.user_id</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102</a:t>
            </a:r>
          </a:p>
        </p:txBody>
      </p:sp>
      <p:sp>
        <p:nvSpPr>
          <p:cNvPr id="11" name="">
            <a:extLst xmlns:a="http://schemas.openxmlformats.org/drawingml/2006/main">
              <a:ext uri="{FF2B5EF4-FFF2-40B4-BE49-F238E27FC236}">
                <a16:creationId xmlns:a16="http://schemas.microsoft.com/office/drawing/2014/main" id="{884E280F-88F3-4418-A8C2-55FF181FB509}"/>
              </a:ext>
            </a:extLst>
          </p:cNvPr>
          <p:cNvSpPr>
            <a:spLocks xmlns:a="http://schemas.openxmlformats.org/drawingml/2006/main" noGrp="1"/>
          </p:cNvSpPr>
          <p:nvPr/>
        </p:nvSpPr>
        <p:spPr>
          <a:xfrm xmlns:a="http://schemas.openxmlformats.org/drawingml/2006/main">
            <a:off x="7620000" y="1809750"/>
            <a:ext cx="3143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ticket 1001 / requester 101</a:t>
            </a:r>
          </a:p>
        </p:txBody>
      </p:sp>
      <p:sp>
        <p:nvSpPr>
          <p:cNvPr id="12" name="">
            <a:extLst xmlns:a="http://schemas.openxmlformats.org/drawingml/2006/main">
              <a:ext uri="{FF2B5EF4-FFF2-40B4-BE49-F238E27FC236}">
                <a16:creationId xmlns:a16="http://schemas.microsoft.com/office/drawing/2014/main" id="{40B26E18-9E48-4563-A385-FC7D3CA5073D}"/>
              </a:ext>
            </a:extLst>
          </p:cNvPr>
          <p:cNvSpPr>
            <a:spLocks xmlns:a="http://schemas.openxmlformats.org/drawingml/2006/main" noGrp="1"/>
          </p:cNvSpPr>
          <p:nvPr/>
        </p:nvSpPr>
        <p:spPr>
          <a:xfrm xmlns:a="http://schemas.openxmlformats.org/drawingml/2006/main">
            <a:off x="7620000" y="3048000"/>
            <a:ext cx="3143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ticket 1003 / requester 101</a:t>
            </a:r>
          </a:p>
        </p:txBody>
      </p:sp>
      <p:sp>
        <p:nvSpPr>
          <p:cNvPr id="13" name="">
            <a:extLst xmlns:a="http://schemas.openxmlformats.org/drawingml/2006/main">
              <a:ext uri="{FF2B5EF4-FFF2-40B4-BE49-F238E27FC236}">
                <a16:creationId xmlns:a16="http://schemas.microsoft.com/office/drawing/2014/main" id="{A75CEC8D-6DD7-42FF-9F86-FE86DFE9249E}"/>
              </a:ext>
            </a:extLst>
          </p:cNvPr>
          <p:cNvSpPr>
            <a:spLocks xmlns:a="http://schemas.openxmlformats.org/drawingml/2006/main" noGrp="1"/>
          </p:cNvSpPr>
          <p:nvPr/>
        </p:nvSpPr>
        <p:spPr>
          <a:xfrm xmlns:a="http://schemas.openxmlformats.org/drawingml/2006/main">
            <a:off x="7620000" y="4286250"/>
            <a:ext cx="3143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ticket 1002 / requester 102</a:t>
            </a:r>
          </a:p>
        </p:txBody>
      </p:sp>
      <p:sp>
        <p:nvSpPr>
          <p:cNvPr id="14" name="">
            <a:extLst xmlns:a="http://schemas.openxmlformats.org/drawingml/2006/main">
              <a:ext uri="{FF2B5EF4-FFF2-40B4-BE49-F238E27FC236}">
                <a16:creationId xmlns:a16="http://schemas.microsoft.com/office/drawing/2014/main" id="{D8A031CB-1F0C-4F8D-B2EE-FB6824B586B9}"/>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Result grain: one row per matching user-ticket pair, which is one row per ticket in this relationship.</a:t>
            </a:r>
          </a:p>
        </p:txBody>
      </p:sp>
    </p:spTree>
    <p:extLst>
      <p:ext uri="{BB962C8B-B14F-4D97-AF65-F5344CB8AC3E}">
        <p14:creationId xmlns:p14="http://schemas.microsoft.com/office/powerpoint/2010/main" val="198825620"/>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914D922-535C-4E7C-8505-DBF274E803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3B07943-56DE-4565-828A-4DAF8C6EA56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2E732D22-4158-4DEC-8186-973298FD4DA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Write the relationship in ON, then filter the result in WHERE</a:t>
            </a:r>
          </a:p>
        </p:txBody>
      </p:sp>
      <p:sp>
        <p:nvSpPr>
          <p:cNvPr id="4" name="">
            <a:extLst xmlns:a="http://schemas.openxmlformats.org/drawingml/2006/main">
              <a:ext uri="{FF2B5EF4-FFF2-40B4-BE49-F238E27FC236}">
                <a16:creationId xmlns:a16="http://schemas.microsoft.com/office/drawing/2014/main" id="{D7039685-48B4-48DE-9B8F-D8F22F8B327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47B0716-C11F-419D-9E95-38C1F5CD9B5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code-frame">
            <a:extLst xmlns:a="http://schemas.openxmlformats.org/drawingml/2006/main">
              <a:ext uri="{FF2B5EF4-FFF2-40B4-BE49-F238E27FC236}">
                <a16:creationId xmlns:a16="http://schemas.microsoft.com/office/drawing/2014/main" id="{41AA25ED-D5C7-4B0F-A0DF-982B572CEB71}"/>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43ED292E-FABD-4C82-98D8-D55F4C28C746}"/>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SELECT t.ticket_id, t.subject, u.display_name</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FROM tickets AS 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JOIN users AS u</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ON u.user_id = t.requester_id</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WHERE t.status = 'open'</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ORDER BY t.ticket_id;</a:t>
            </a:r>
          </a:p>
        </p:txBody>
      </p:sp>
      <p:sp>
        <p:nvSpPr>
          <p:cNvPr id="8" name="">
            <a:extLst xmlns:a="http://schemas.openxmlformats.org/drawingml/2006/main">
              <a:ext uri="{FF2B5EF4-FFF2-40B4-BE49-F238E27FC236}">
                <a16:creationId xmlns:a16="http://schemas.microsoft.com/office/drawing/2014/main" id="{2504A0FC-A359-42A1-9315-EBF2F43954C2}"/>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Read it in this order</a:t>
            </a:r>
          </a:p>
        </p:txBody>
      </p:sp>
      <p:sp>
        <p:nvSpPr>
          <p:cNvPr id="9" name="">
            <a:extLst xmlns:a="http://schemas.openxmlformats.org/drawingml/2006/main">
              <a:ext uri="{FF2B5EF4-FFF2-40B4-BE49-F238E27FC236}">
                <a16:creationId xmlns:a16="http://schemas.microsoft.com/office/drawing/2014/main" id="{8F5EF005-6937-41EC-9CC8-895FFE84598B}"/>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734E7C3B-A6DC-4D3F-B0C5-E75DC56F3EC4}"/>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Source tickets and users</a:t>
            </a:r>
          </a:p>
        </p:txBody>
      </p:sp>
      <p:sp>
        <p:nvSpPr>
          <p:cNvPr id="11" name="">
            <a:extLst xmlns:a="http://schemas.openxmlformats.org/drawingml/2006/main">
              <a:ext uri="{FF2B5EF4-FFF2-40B4-BE49-F238E27FC236}">
                <a16:creationId xmlns:a16="http://schemas.microsoft.com/office/drawing/2014/main" id="{7F2DC5BA-BC36-422A-A930-C18EE6D5EC2B}"/>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224F808E-D5A0-4EDA-A8C8-0D7B15D736AE}"/>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Matching identity condition</a:t>
            </a:r>
          </a:p>
        </p:txBody>
      </p:sp>
      <p:sp>
        <p:nvSpPr>
          <p:cNvPr id="13" name="">
            <a:extLst xmlns:a="http://schemas.openxmlformats.org/drawingml/2006/main">
              <a:ext uri="{FF2B5EF4-FFF2-40B4-BE49-F238E27FC236}">
                <a16:creationId xmlns:a16="http://schemas.microsoft.com/office/drawing/2014/main" id="{1A75DAB9-15E3-40F5-8655-364D5FF192A7}"/>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33955B08-3D7A-40E5-985A-266F2C45EFE4}"/>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Open-ticket filter and output grain</a:t>
            </a:r>
          </a:p>
        </p:txBody>
      </p:sp>
    </p:spTree>
    <p:extLst>
      <p:ext uri="{BB962C8B-B14F-4D97-AF65-F5344CB8AC3E}">
        <p14:creationId xmlns:p14="http://schemas.microsoft.com/office/powerpoint/2010/main" val="531407474"/>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C75397C-758C-4AAE-9A5B-550409258C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0F8335B8-0F31-4171-B0C3-F4EA4E45D84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36DBAA1F-299F-4056-ACAD-0EB5A45D72E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LEFT JOIN preserves the left side and marks missing matches</a:t>
            </a:r>
          </a:p>
        </p:txBody>
      </p:sp>
      <p:sp>
        <p:nvSpPr>
          <p:cNvPr id="4" name="">
            <a:extLst xmlns:a="http://schemas.openxmlformats.org/drawingml/2006/main">
              <a:ext uri="{FF2B5EF4-FFF2-40B4-BE49-F238E27FC236}">
                <a16:creationId xmlns:a16="http://schemas.microsoft.com/office/drawing/2014/main" id="{098FD6DC-D75C-4FF7-AA4E-CE0080AB425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A816968-F3EF-4F3F-B871-8BF8A3DC1743}"/>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60066A7A-26C7-400A-89A4-7576DFD3C47A}"/>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INNER JOIN</a:t>
            </a:r>
          </a:p>
        </p:txBody>
      </p:sp>
      <p:sp>
        <p:nvSpPr>
          <p:cNvPr id="7" name="">
            <a:extLst xmlns:a="http://schemas.openxmlformats.org/drawingml/2006/main">
              <a:ext uri="{FF2B5EF4-FFF2-40B4-BE49-F238E27FC236}">
                <a16:creationId xmlns:a16="http://schemas.microsoft.com/office/drawing/2014/main" id="{0E4F97E9-AB3A-42DC-B9D8-1B32C6D66E34}"/>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LEFT JOIN</a:t>
            </a:r>
          </a:p>
        </p:txBody>
      </p:sp>
      <p:sp>
        <p:nvSpPr>
          <p:cNvPr id="8" name="">
            <a:extLst xmlns:a="http://schemas.openxmlformats.org/drawingml/2006/main">
              <a:ext uri="{FF2B5EF4-FFF2-40B4-BE49-F238E27FC236}">
                <a16:creationId xmlns:a16="http://schemas.microsoft.com/office/drawing/2014/main" id="{D5B829BF-3C24-444F-B03E-71D9D90FE6CC}"/>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171411AD-73C8-40B8-8FAA-81CEC894B319}"/>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D035FE8C-F62C-4863-8643-33C07DEA806C}"/>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Keeps only matching pairs</a:t>
            </a:r>
          </a:p>
        </p:txBody>
      </p:sp>
      <p:sp>
        <p:nvSpPr>
          <p:cNvPr id="11" name="">
            <a:extLst xmlns:a="http://schemas.openxmlformats.org/drawingml/2006/main">
              <a:ext uri="{FF2B5EF4-FFF2-40B4-BE49-F238E27FC236}">
                <a16:creationId xmlns:a16="http://schemas.microsoft.com/office/drawing/2014/main" id="{B6AAF4AC-62D4-4F09-95ED-4371F0F4D20B}"/>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2C8B689D-9EED-43CC-A900-1B081BADE3DA}"/>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Drops a ticket with no matching assignee</a:t>
            </a:r>
          </a:p>
        </p:txBody>
      </p:sp>
      <p:sp>
        <p:nvSpPr>
          <p:cNvPr id="13" name="">
            <a:extLst xmlns:a="http://schemas.openxmlformats.org/drawingml/2006/main">
              <a:ext uri="{FF2B5EF4-FFF2-40B4-BE49-F238E27FC236}">
                <a16:creationId xmlns:a16="http://schemas.microsoft.com/office/drawing/2014/main" id="{4F69A145-B609-41F2-9F60-A4BD03D0E208}"/>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E5A5484C-D02F-468F-BC94-03A4D43B636F}"/>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Useful when the relationship must exist for the question</a:t>
            </a:r>
          </a:p>
        </p:txBody>
      </p:sp>
      <p:sp>
        <p:nvSpPr>
          <p:cNvPr id="15" name="">
            <a:extLst xmlns:a="http://schemas.openxmlformats.org/drawingml/2006/main">
              <a:ext uri="{FF2B5EF4-FFF2-40B4-BE49-F238E27FC236}">
                <a16:creationId xmlns:a16="http://schemas.microsoft.com/office/drawing/2014/main" id="{E6BECEC4-E3E8-4097-862D-7203556DD172}"/>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B5B679E9-06C0-4D6E-BE9D-B365AA716EC9}"/>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Keeps every left-side ticket</a:t>
            </a:r>
          </a:p>
        </p:txBody>
      </p:sp>
      <p:sp>
        <p:nvSpPr>
          <p:cNvPr id="17" name="">
            <a:extLst xmlns:a="http://schemas.openxmlformats.org/drawingml/2006/main">
              <a:ext uri="{FF2B5EF4-FFF2-40B4-BE49-F238E27FC236}">
                <a16:creationId xmlns:a16="http://schemas.microsoft.com/office/drawing/2014/main" id="{5CCF30FC-46FF-4078-8BCD-633684255D80}"/>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16464298-777A-4599-82B2-6AF4CBD97B42}"/>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Produces NULL right-side attributes when unmatched</a:t>
            </a:r>
          </a:p>
        </p:txBody>
      </p:sp>
      <p:sp>
        <p:nvSpPr>
          <p:cNvPr id="19" name="">
            <a:extLst xmlns:a="http://schemas.openxmlformats.org/drawingml/2006/main">
              <a:ext uri="{FF2B5EF4-FFF2-40B4-BE49-F238E27FC236}">
                <a16:creationId xmlns:a16="http://schemas.microsoft.com/office/drawing/2014/main" id="{9D561187-05CF-4CED-9387-D71B8B3C62BD}"/>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16B4793E-D53B-4BA1-8A4D-59A6363D21CA}"/>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Useful for finding unassigned or missing relationships</a:t>
            </a:r>
          </a:p>
        </p:txBody>
      </p:sp>
    </p:spTree>
    <p:extLst>
      <p:ext uri="{BB962C8B-B14F-4D97-AF65-F5344CB8AC3E}">
        <p14:creationId xmlns:p14="http://schemas.microsoft.com/office/powerpoint/2010/main" val="1751712247"/>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97BBFDA-599D-41B2-86A2-FC3E0027E85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62AA50E-5E24-4A24-844B-0FA957C5869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250D46D1-C7C4-4B54-B634-CC7F00727AA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One-to-many joins can multiply rows without being wrong</a:t>
            </a:r>
          </a:p>
        </p:txBody>
      </p:sp>
      <p:sp>
        <p:nvSpPr>
          <p:cNvPr id="4" name="">
            <a:extLst xmlns:a="http://schemas.openxmlformats.org/drawingml/2006/main">
              <a:ext uri="{FF2B5EF4-FFF2-40B4-BE49-F238E27FC236}">
                <a16:creationId xmlns:a16="http://schemas.microsoft.com/office/drawing/2014/main" id="{2370228E-C967-42F2-98FC-9BAEE251151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8A7A8D7-4F4D-435A-ACFD-D1CC0A1BF803}"/>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primary-claim">
            <a:extLst xmlns:a="http://schemas.openxmlformats.org/drawingml/2006/main">
              <a:ext uri="{FF2B5EF4-FFF2-40B4-BE49-F238E27FC236}">
                <a16:creationId xmlns:a16="http://schemas.microsoft.com/office/drawing/2014/main" id="{FDB8B6B4-82A2-4134-9A6C-55A1C859FC7E}"/>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0F766E"/>
                </a:solidFill>
                <a:latin typeface="Helvetica Neue"/>
                <a:ea typeface="Helvetica Neue"/>
                <a:cs typeface="Helvetica Neue"/>
              </a:defRPr>
            </a:pPr>
            <a:r>
              <a:rPr sz="2925" b="1">
                <a:solidFill>
                  <a:srgbClr val="0F766E"/>
                </a:solidFill>
                <a:latin typeface="Helvetica Neue"/>
                <a:ea typeface="Helvetica Neue"/>
                <a:cs typeface="Helvetica Neue"/>
              </a:rPr>
              <a:t>Count the entity you mean, not whatever rows the join produced.</a:t>
            </a:r>
          </a:p>
        </p:txBody>
      </p:sp>
      <p:sp>
        <p:nvSpPr>
          <p:cNvPr id="7" name="">
            <a:extLst xmlns:a="http://schemas.openxmlformats.org/drawingml/2006/main">
              <a:ext uri="{FF2B5EF4-FFF2-40B4-BE49-F238E27FC236}">
                <a16:creationId xmlns:a16="http://schemas.microsoft.com/office/drawing/2014/main" id="{E41864B0-952A-416A-8D76-ED7983855D79}"/>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0F766E"/>
            </a:solidFill>
            <a:prstDash val="solid"/>
          </a:ln>
        </p:spPr>
      </p:sp>
      <p:sp>
        <p:nvSpPr>
          <p:cNvPr id="8" name="">
            <a:extLst xmlns:a="http://schemas.openxmlformats.org/drawingml/2006/main">
              <a:ext uri="{FF2B5EF4-FFF2-40B4-BE49-F238E27FC236}">
                <a16:creationId xmlns:a16="http://schemas.microsoft.com/office/drawing/2014/main" id="{9F96E444-EFEF-4798-A152-9E1C4682B951}"/>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TICKET</a:t>
            </a:r>
          </a:p>
        </p:txBody>
      </p:sp>
      <p:sp>
        <p:nvSpPr>
          <p:cNvPr id="9" name="">
            <a:extLst xmlns:a="http://schemas.openxmlformats.org/drawingml/2006/main">
              <a:ext uri="{FF2B5EF4-FFF2-40B4-BE49-F238E27FC236}">
                <a16:creationId xmlns:a16="http://schemas.microsoft.com/office/drawing/2014/main" id="{20367FE0-88CC-400C-B3DA-666EAC7BC139}"/>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One ticket may have many event tuples.</a:t>
            </a:r>
          </a:p>
        </p:txBody>
      </p:sp>
      <p:sp>
        <p:nvSpPr>
          <p:cNvPr id="10" name="">
            <a:extLst xmlns:a="http://schemas.openxmlformats.org/drawingml/2006/main">
              <a:ext uri="{FF2B5EF4-FFF2-40B4-BE49-F238E27FC236}">
                <a16:creationId xmlns:a16="http://schemas.microsoft.com/office/drawing/2014/main" id="{ADA40D83-F802-430E-ABC4-BB0A554849B0}"/>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D0ED6F28-A396-4FAB-A638-8E9C84F35B7A}"/>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JOIN ROW</a:t>
            </a:r>
          </a:p>
        </p:txBody>
      </p:sp>
      <p:sp>
        <p:nvSpPr>
          <p:cNvPr id="12" name="">
            <a:extLst xmlns:a="http://schemas.openxmlformats.org/drawingml/2006/main">
              <a:ext uri="{FF2B5EF4-FFF2-40B4-BE49-F238E27FC236}">
                <a16:creationId xmlns:a16="http://schemas.microsoft.com/office/drawing/2014/main" id="{5F0DB102-614D-4B83-8325-84F296B2FD3D}"/>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One output row can represent one ticket-event pair.</a:t>
            </a:r>
          </a:p>
        </p:txBody>
      </p:sp>
      <p:sp>
        <p:nvSpPr>
          <p:cNvPr id="13" name="">
            <a:extLst xmlns:a="http://schemas.openxmlformats.org/drawingml/2006/main">
              <a:ext uri="{FF2B5EF4-FFF2-40B4-BE49-F238E27FC236}">
                <a16:creationId xmlns:a16="http://schemas.microsoft.com/office/drawing/2014/main" id="{EF336D40-FF0D-4790-8E49-99ACF79D39B6}"/>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1EE601E7-35EC-4435-AE5C-1E8748F63D50}"/>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0F766E"/>
                </a:solidFill>
                <a:latin typeface="Helvetica Neue"/>
                <a:ea typeface="Helvetica Neue"/>
                <a:cs typeface="Helvetica Neue"/>
              </a:defRPr>
            </a:pPr>
            <a:r>
              <a:rPr sz="1125" b="1">
                <a:solidFill>
                  <a:srgbClr val="0F766E"/>
                </a:solidFill>
                <a:latin typeface="Helvetica Neue"/>
                <a:ea typeface="Helvetica Neue"/>
                <a:cs typeface="Helvetica Neue"/>
              </a:rPr>
              <a:t>COUNT</a:t>
            </a:r>
          </a:p>
        </p:txBody>
      </p:sp>
      <p:sp>
        <p:nvSpPr>
          <p:cNvPr id="15" name="">
            <a:extLst xmlns:a="http://schemas.openxmlformats.org/drawingml/2006/main">
              <a:ext uri="{FF2B5EF4-FFF2-40B4-BE49-F238E27FC236}">
                <a16:creationId xmlns:a16="http://schemas.microsoft.com/office/drawing/2014/main" id="{80BCD515-DBEE-48D7-925B-1689A0F7B243}"/>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Use the correct grain, grouping, or distinct identity.</a:t>
            </a:r>
          </a:p>
        </p:txBody>
      </p:sp>
    </p:spTree>
    <p:extLst>
      <p:ext uri="{BB962C8B-B14F-4D97-AF65-F5344CB8AC3E}">
        <p14:creationId xmlns:p14="http://schemas.microsoft.com/office/powerpoint/2010/main" val="1133258088"/>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7927BC4-5BB8-4C4C-9317-A0DE59619F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31ECD62-6C17-4DAD-9B04-8088C841639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F6630541-E84E-408A-961B-E2EDCF5FAE5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GROUP BY changes grain; HAVING filters groups</a:t>
            </a:r>
          </a:p>
        </p:txBody>
      </p:sp>
      <p:sp>
        <p:nvSpPr>
          <p:cNvPr id="4" name="">
            <a:extLst xmlns:a="http://schemas.openxmlformats.org/drawingml/2006/main">
              <a:ext uri="{FF2B5EF4-FFF2-40B4-BE49-F238E27FC236}">
                <a16:creationId xmlns:a16="http://schemas.microsoft.com/office/drawing/2014/main" id="{5A7AFD97-A7B3-453C-8BE0-31D0670984D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DBB4430-5F9F-4FF3-BCA6-1074E30D84D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code-frame">
            <a:extLst xmlns:a="http://schemas.openxmlformats.org/drawingml/2006/main">
              <a:ext uri="{FF2B5EF4-FFF2-40B4-BE49-F238E27FC236}">
                <a16:creationId xmlns:a16="http://schemas.microsoft.com/office/drawing/2014/main" id="{0927A2CD-3B56-41FE-ABCC-3B72A5B56C4A}"/>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8481A18B-DD1C-41FB-B6A4-1240CD49E53C}"/>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SELECT status, count(*) AS ticket_count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FROM tickets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WHERE opened_at &gt;= DATE '2026-02-01'</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GROUP BY status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HAVING count(*) &gt;= 2</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ORDER BY ticket_count DESC, status;</a:t>
            </a:r>
          </a:p>
        </p:txBody>
      </p:sp>
      <p:sp>
        <p:nvSpPr>
          <p:cNvPr id="8" name="">
            <a:extLst xmlns:a="http://schemas.openxmlformats.org/drawingml/2006/main">
              <a:ext uri="{FF2B5EF4-FFF2-40B4-BE49-F238E27FC236}">
                <a16:creationId xmlns:a16="http://schemas.microsoft.com/office/drawing/2014/main" id="{2380B879-1BAC-454B-9521-AF97A354502E}"/>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Result grain</a:t>
            </a:r>
          </a:p>
        </p:txBody>
      </p:sp>
      <p:sp>
        <p:nvSpPr>
          <p:cNvPr id="9" name="">
            <a:extLst xmlns:a="http://schemas.openxmlformats.org/drawingml/2006/main">
              <a:ext uri="{FF2B5EF4-FFF2-40B4-BE49-F238E27FC236}">
                <a16:creationId xmlns:a16="http://schemas.microsoft.com/office/drawing/2014/main" id="{E5EEB96D-897F-4319-89DB-F1A9029C339A}"/>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CFC729D3-F2CD-4F8A-A097-A7BDA54AD6D4}"/>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WHERE filters source ticket rows.</a:t>
            </a:r>
          </a:p>
        </p:txBody>
      </p:sp>
      <p:sp>
        <p:nvSpPr>
          <p:cNvPr id="11" name="">
            <a:extLst xmlns:a="http://schemas.openxmlformats.org/drawingml/2006/main">
              <a:ext uri="{FF2B5EF4-FFF2-40B4-BE49-F238E27FC236}">
                <a16:creationId xmlns:a16="http://schemas.microsoft.com/office/drawing/2014/main" id="{BCF75D90-C4DD-48C6-9373-60EE403280A7}"/>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833F8458-0EF2-43FB-A156-4FA9405F17D6}"/>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GROUP BY makes one row per status.</a:t>
            </a:r>
          </a:p>
        </p:txBody>
      </p:sp>
      <p:sp>
        <p:nvSpPr>
          <p:cNvPr id="13" name="">
            <a:extLst xmlns:a="http://schemas.openxmlformats.org/drawingml/2006/main">
              <a:ext uri="{FF2B5EF4-FFF2-40B4-BE49-F238E27FC236}">
                <a16:creationId xmlns:a16="http://schemas.microsoft.com/office/drawing/2014/main" id="{AB1ADC83-2C14-4F5C-83DB-2152EDA344FC}"/>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2F8C284A-F202-499A-AD00-9102CA1DDA58}"/>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HAVING keeps qualifying status groups.</a:t>
            </a:r>
          </a:p>
        </p:txBody>
      </p:sp>
    </p:spTree>
    <p:extLst>
      <p:ext uri="{BB962C8B-B14F-4D97-AF65-F5344CB8AC3E}">
        <p14:creationId xmlns:p14="http://schemas.microsoft.com/office/powerpoint/2010/main" val="34360147"/>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34F42B5-C162-4704-907B-CF576C2FE5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1755C96-99AF-431C-BEB2-5F10763945F5}"/>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3C3FAB1A-260D-40D5-8C0A-3A2652EB643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Subqueries and CTEs can name intermediate reasoning</a:t>
            </a:r>
          </a:p>
        </p:txBody>
      </p:sp>
      <p:sp>
        <p:nvSpPr>
          <p:cNvPr id="4" name="">
            <a:extLst xmlns:a="http://schemas.openxmlformats.org/drawingml/2006/main">
              <a:ext uri="{FF2B5EF4-FFF2-40B4-BE49-F238E27FC236}">
                <a16:creationId xmlns:a16="http://schemas.microsoft.com/office/drawing/2014/main" id="{61864C7B-F2A5-44D6-B826-1C4304C25ED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B98403F7-5DBE-47EA-AA7B-9C26A763C6C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E649744F-2E52-442F-BA50-3365B67FBA4D}"/>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0F766E"/>
                </a:solidFill>
                <a:latin typeface="Helvetica Neue"/>
                <a:ea typeface="Helvetica Neue"/>
                <a:cs typeface="Helvetica Neue"/>
              </a:defRPr>
            </a:pPr>
            <a:r>
              <a:rPr sz="1950" b="1">
                <a:solidFill>
                  <a:srgbClr val="0F766E"/>
                </a:solidFill>
                <a:latin typeface="Helvetica Neue"/>
                <a:ea typeface="Helvetica Neue"/>
                <a:cs typeface="Helvetica Neue"/>
              </a:rPr>
              <a:t>Subquery</a:t>
            </a:r>
          </a:p>
        </p:txBody>
      </p:sp>
      <p:sp>
        <p:nvSpPr>
          <p:cNvPr id="7" name="">
            <a:extLst xmlns:a="http://schemas.openxmlformats.org/drawingml/2006/main">
              <a:ext uri="{FF2B5EF4-FFF2-40B4-BE49-F238E27FC236}">
                <a16:creationId xmlns:a16="http://schemas.microsoft.com/office/drawing/2014/main" id="{70CE419E-F968-4259-B911-EB89EFD0B324}"/>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Common table expression</a:t>
            </a:r>
          </a:p>
        </p:txBody>
      </p:sp>
      <p:sp>
        <p:nvSpPr>
          <p:cNvPr id="8" name="">
            <a:extLst xmlns:a="http://schemas.openxmlformats.org/drawingml/2006/main">
              <a:ext uri="{FF2B5EF4-FFF2-40B4-BE49-F238E27FC236}">
                <a16:creationId xmlns:a16="http://schemas.microsoft.com/office/drawing/2014/main" id="{7B625FE0-5CBC-4022-844C-8D649548A13D}"/>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06D4B798-C412-45FC-A616-1D3EE7C35A4D}"/>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A94B2096-FBAD-4726-8905-BFBBE334EB56}"/>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Nested inside another statement</a:t>
            </a:r>
          </a:p>
        </p:txBody>
      </p:sp>
      <p:sp>
        <p:nvSpPr>
          <p:cNvPr id="11" name="">
            <a:extLst xmlns:a="http://schemas.openxmlformats.org/drawingml/2006/main">
              <a:ext uri="{FF2B5EF4-FFF2-40B4-BE49-F238E27FC236}">
                <a16:creationId xmlns:a16="http://schemas.microsoft.com/office/drawing/2014/main" id="{65EB7245-AB94-467F-B01D-482AF6D1B769}"/>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B6345719-6D6B-4627-80B4-4F391763B4E0}"/>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Useful for membership, existence, or a derived relation</a:t>
            </a:r>
          </a:p>
        </p:txBody>
      </p:sp>
      <p:sp>
        <p:nvSpPr>
          <p:cNvPr id="13" name="">
            <a:extLst xmlns:a="http://schemas.openxmlformats.org/drawingml/2006/main">
              <a:ext uri="{FF2B5EF4-FFF2-40B4-BE49-F238E27FC236}">
                <a16:creationId xmlns:a16="http://schemas.microsoft.com/office/drawing/2014/main" id="{4F2688B7-D8B5-4D05-AE0C-6EB378EAD130}"/>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23479CAC-93FB-4D66-B9EC-A96D622FEC20}"/>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Correlated forms may run conceptually per outer row</a:t>
            </a:r>
          </a:p>
        </p:txBody>
      </p:sp>
      <p:sp>
        <p:nvSpPr>
          <p:cNvPr id="15" name="">
            <a:extLst xmlns:a="http://schemas.openxmlformats.org/drawingml/2006/main">
              <a:ext uri="{FF2B5EF4-FFF2-40B4-BE49-F238E27FC236}">
                <a16:creationId xmlns:a16="http://schemas.microsoft.com/office/drawing/2014/main" id="{4F5B624B-8255-4DF2-AFF6-7F182390C424}"/>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E3F9238F-84AA-4C64-AB63-E202D3877A57}"/>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Names an intermediate result with WITH</a:t>
            </a:r>
          </a:p>
        </p:txBody>
      </p:sp>
      <p:sp>
        <p:nvSpPr>
          <p:cNvPr id="17" name="">
            <a:extLst xmlns:a="http://schemas.openxmlformats.org/drawingml/2006/main">
              <a:ext uri="{FF2B5EF4-FFF2-40B4-BE49-F238E27FC236}">
                <a16:creationId xmlns:a16="http://schemas.microsoft.com/office/drawing/2014/main" id="{3AA71CD8-E5A2-4BDF-A83B-F0522F45564D}"/>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CAA90BA4-05CE-4A97-AA12-74074A2900DA}"/>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make multi-step grain changes visible</a:t>
            </a:r>
          </a:p>
        </p:txBody>
      </p:sp>
      <p:sp>
        <p:nvSpPr>
          <p:cNvPr id="19" name="">
            <a:extLst xmlns:a="http://schemas.openxmlformats.org/drawingml/2006/main">
              <a:ext uri="{FF2B5EF4-FFF2-40B4-BE49-F238E27FC236}">
                <a16:creationId xmlns:a16="http://schemas.microsoft.com/office/drawing/2014/main" id="{DFF884F2-EEE1-448D-9205-7FBADAF0D6BB}"/>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2E5D3C04-E3A6-4B8A-96FE-844BEC79D1B2}"/>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Does not automatically guarantee materialization or speed</a:t>
            </a:r>
          </a:p>
        </p:txBody>
      </p:sp>
    </p:spTree>
    <p:extLst>
      <p:ext uri="{BB962C8B-B14F-4D97-AF65-F5344CB8AC3E}">
        <p14:creationId xmlns:p14="http://schemas.microsoft.com/office/powerpoint/2010/main" val="1751309906"/>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AE397FB9-A64C-4452-B4D6-E728BB7975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8AFA63E-3701-4BBE-BD06-E5798222E16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6DACF490-1AAB-45DA-B4E0-ECA738A1C730}"/>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Set operations combine compatible result shapes</a:t>
            </a:r>
          </a:p>
        </p:txBody>
      </p:sp>
      <p:sp>
        <p:nvSpPr>
          <p:cNvPr id="4" name="">
            <a:extLst xmlns:a="http://schemas.openxmlformats.org/drawingml/2006/main">
              <a:ext uri="{FF2B5EF4-FFF2-40B4-BE49-F238E27FC236}">
                <a16:creationId xmlns:a16="http://schemas.microsoft.com/office/drawing/2014/main" id="{463901D7-7C3C-4C33-9B33-A80F032BADE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4D84E00-70D0-43C6-8F0C-50A2A69C775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14</a:t>
            </a:r>
          </a:p>
        </p:txBody>
      </p:sp>
      <p:sp>
        <p:nvSpPr>
          <p:cNvPr id="6" name="">
            <a:extLst xmlns:a="http://schemas.openxmlformats.org/drawingml/2006/main">
              <a:ext uri="{FF2B5EF4-FFF2-40B4-BE49-F238E27FC236}">
                <a16:creationId xmlns:a16="http://schemas.microsoft.com/office/drawing/2014/main" id="{0290DDD8-03D6-4225-AD44-9568FC61215D}"/>
              </a:ext>
            </a:extLst>
          </p:cNvPr>
          <p:cNvSpPr>
            <a:spLocks xmlns:a="http://schemas.openxmlformats.org/drawingml/2006/main" noGrp="1"/>
          </p:cNvSpPr>
          <p:nvPr/>
        </p:nvSpPr>
        <p:spPr>
          <a:xfrm xmlns:a="http://schemas.openxmlformats.org/drawingml/2006/main">
            <a:off x="685800" y="1714500"/>
            <a:ext cx="2000250" cy="5143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E4BBA9D4-73E9-4E89-927E-14BCF0A67B5C}"/>
              </a:ext>
            </a:extLst>
          </p:cNvPr>
          <p:cNvSpPr>
            <a:spLocks xmlns:a="http://schemas.openxmlformats.org/drawingml/2006/main" noGrp="1"/>
          </p:cNvSpPr>
          <p:nvPr/>
        </p:nvSpPr>
        <p:spPr>
          <a:xfrm xmlns:a="http://schemas.openxmlformats.org/drawingml/2006/main">
            <a:off x="762000" y="18097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Operator</a:t>
            </a:r>
          </a:p>
        </p:txBody>
      </p:sp>
      <p:sp>
        <p:nvSpPr>
          <p:cNvPr id="8" name="">
            <a:extLst xmlns:a="http://schemas.openxmlformats.org/drawingml/2006/main">
              <a:ext uri="{FF2B5EF4-FFF2-40B4-BE49-F238E27FC236}">
                <a16:creationId xmlns:a16="http://schemas.microsoft.com/office/drawing/2014/main" id="{1785ECE5-C3FF-42F8-B610-9F06B1BC39B9}"/>
              </a:ext>
            </a:extLst>
          </p:cNvPr>
          <p:cNvSpPr>
            <a:spLocks xmlns:a="http://schemas.openxmlformats.org/drawingml/2006/main" noGrp="1"/>
          </p:cNvSpPr>
          <p:nvPr/>
        </p:nvSpPr>
        <p:spPr>
          <a:xfrm xmlns:a="http://schemas.openxmlformats.org/drawingml/2006/main">
            <a:off x="2686050" y="1714500"/>
            <a:ext cx="29527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65F0F40F-9096-4DC2-AC9C-1B41A120F48D}"/>
              </a:ext>
            </a:extLst>
          </p:cNvPr>
          <p:cNvSpPr>
            <a:spLocks xmlns:a="http://schemas.openxmlformats.org/drawingml/2006/main" noGrp="1"/>
          </p:cNvSpPr>
          <p:nvPr/>
        </p:nvSpPr>
        <p:spPr>
          <a:xfrm xmlns:a="http://schemas.openxmlformats.org/drawingml/2006/main">
            <a:off x="2762250" y="180975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Membership</a:t>
            </a:r>
          </a:p>
        </p:txBody>
      </p:sp>
      <p:sp>
        <p:nvSpPr>
          <p:cNvPr id="10" name="">
            <a:extLst xmlns:a="http://schemas.openxmlformats.org/drawingml/2006/main">
              <a:ext uri="{FF2B5EF4-FFF2-40B4-BE49-F238E27FC236}">
                <a16:creationId xmlns:a16="http://schemas.microsoft.com/office/drawing/2014/main" id="{6DFF9BD6-D1F6-4041-BD46-956B96B91060}"/>
              </a:ext>
            </a:extLst>
          </p:cNvPr>
          <p:cNvSpPr>
            <a:spLocks xmlns:a="http://schemas.openxmlformats.org/drawingml/2006/main" noGrp="1"/>
          </p:cNvSpPr>
          <p:nvPr/>
        </p:nvSpPr>
        <p:spPr>
          <a:xfrm xmlns:a="http://schemas.openxmlformats.org/drawingml/2006/main">
            <a:off x="5638800" y="1714500"/>
            <a:ext cx="23812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C1269062-5AB5-48BA-8811-5E3932694CDB}"/>
              </a:ext>
            </a:extLst>
          </p:cNvPr>
          <p:cNvSpPr>
            <a:spLocks xmlns:a="http://schemas.openxmlformats.org/drawingml/2006/main" noGrp="1"/>
          </p:cNvSpPr>
          <p:nvPr/>
        </p:nvSpPr>
        <p:spPr>
          <a:xfrm xmlns:a="http://schemas.openxmlformats.org/drawingml/2006/main">
            <a:off x="5715000" y="180975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Duplicates</a:t>
            </a:r>
          </a:p>
        </p:txBody>
      </p:sp>
      <p:sp>
        <p:nvSpPr>
          <p:cNvPr id="12" name="">
            <a:extLst xmlns:a="http://schemas.openxmlformats.org/drawingml/2006/main">
              <a:ext uri="{FF2B5EF4-FFF2-40B4-BE49-F238E27FC236}">
                <a16:creationId xmlns:a16="http://schemas.microsoft.com/office/drawing/2014/main" id="{18F56CBC-08D6-4FD1-AD6B-2257C15BF9C2}"/>
              </a:ext>
            </a:extLst>
          </p:cNvPr>
          <p:cNvSpPr>
            <a:spLocks xmlns:a="http://schemas.openxmlformats.org/drawingml/2006/main" noGrp="1"/>
          </p:cNvSpPr>
          <p:nvPr/>
        </p:nvSpPr>
        <p:spPr>
          <a:xfrm xmlns:a="http://schemas.openxmlformats.org/drawingml/2006/main">
            <a:off x="8020050" y="1714500"/>
            <a:ext cx="34861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9958B41C-0EDD-42C5-899F-89F65E9DEE75}"/>
              </a:ext>
            </a:extLst>
          </p:cNvPr>
          <p:cNvSpPr>
            <a:spLocks xmlns:a="http://schemas.openxmlformats.org/drawingml/2006/main" noGrp="1"/>
          </p:cNvSpPr>
          <p:nvPr/>
        </p:nvSpPr>
        <p:spPr>
          <a:xfrm xmlns:a="http://schemas.openxmlformats.org/drawingml/2006/main">
            <a:off x="8096250" y="18097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Typical question</a:t>
            </a:r>
          </a:p>
        </p:txBody>
      </p:sp>
      <p:sp>
        <p:nvSpPr>
          <p:cNvPr id="14" name="">
            <a:extLst xmlns:a="http://schemas.openxmlformats.org/drawingml/2006/main">
              <a:ext uri="{FF2B5EF4-FFF2-40B4-BE49-F238E27FC236}">
                <a16:creationId xmlns:a16="http://schemas.microsoft.com/office/drawing/2014/main" id="{EAA5BEA5-B85C-478F-B40C-C5CD1CF0F9FD}"/>
              </a:ext>
            </a:extLst>
          </p:cNvPr>
          <p:cNvSpPr>
            <a:spLocks xmlns:a="http://schemas.openxmlformats.org/drawingml/2006/main" noGrp="1"/>
          </p:cNvSpPr>
          <p:nvPr/>
        </p:nvSpPr>
        <p:spPr>
          <a:xfrm xmlns:a="http://schemas.openxmlformats.org/drawingml/2006/main">
            <a:off x="685800" y="2228850"/>
            <a:ext cx="2000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75F6BDCE-E164-4F22-9701-E0C968188DC2}"/>
              </a:ext>
            </a:extLst>
          </p:cNvPr>
          <p:cNvSpPr>
            <a:spLocks xmlns:a="http://schemas.openxmlformats.org/drawingml/2006/main" noGrp="1"/>
          </p:cNvSpPr>
          <p:nvPr/>
        </p:nvSpPr>
        <p:spPr>
          <a:xfrm xmlns:a="http://schemas.openxmlformats.org/drawingml/2006/main">
            <a:off x="762000" y="2305050"/>
            <a:ext cx="1847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UNION</a:t>
            </a:r>
          </a:p>
        </p:txBody>
      </p:sp>
      <p:sp>
        <p:nvSpPr>
          <p:cNvPr id="16" name="">
            <a:extLst xmlns:a="http://schemas.openxmlformats.org/drawingml/2006/main">
              <a:ext uri="{FF2B5EF4-FFF2-40B4-BE49-F238E27FC236}">
                <a16:creationId xmlns:a16="http://schemas.microsoft.com/office/drawing/2014/main" id="{B038ECF3-A018-4088-954D-CA13B04F8807}"/>
              </a:ext>
            </a:extLst>
          </p:cNvPr>
          <p:cNvSpPr>
            <a:spLocks xmlns:a="http://schemas.openxmlformats.org/drawingml/2006/main" noGrp="1"/>
          </p:cNvSpPr>
          <p:nvPr/>
        </p:nvSpPr>
        <p:spPr>
          <a:xfrm xmlns:a="http://schemas.openxmlformats.org/drawingml/2006/main">
            <a:off x="2686050" y="2228850"/>
            <a:ext cx="2952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7B91BDC8-777F-4600-B12F-C6A12CD37203}"/>
              </a:ext>
            </a:extLst>
          </p:cNvPr>
          <p:cNvSpPr>
            <a:spLocks xmlns:a="http://schemas.openxmlformats.org/drawingml/2006/main" noGrp="1"/>
          </p:cNvSpPr>
          <p:nvPr/>
        </p:nvSpPr>
        <p:spPr>
          <a:xfrm xmlns:a="http://schemas.openxmlformats.org/drawingml/2006/main">
            <a:off x="2762250" y="230505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rows from A or B</a:t>
            </a:r>
          </a:p>
        </p:txBody>
      </p:sp>
      <p:sp>
        <p:nvSpPr>
          <p:cNvPr id="18" name="">
            <a:extLst xmlns:a="http://schemas.openxmlformats.org/drawingml/2006/main">
              <a:ext uri="{FF2B5EF4-FFF2-40B4-BE49-F238E27FC236}">
                <a16:creationId xmlns:a16="http://schemas.microsoft.com/office/drawing/2014/main" id="{5BE9FDC4-32B0-4E5B-9565-46D084E0C67B}"/>
              </a:ext>
            </a:extLst>
          </p:cNvPr>
          <p:cNvSpPr>
            <a:spLocks xmlns:a="http://schemas.openxmlformats.org/drawingml/2006/main" noGrp="1"/>
          </p:cNvSpPr>
          <p:nvPr/>
        </p:nvSpPr>
        <p:spPr>
          <a:xfrm xmlns:a="http://schemas.openxmlformats.org/drawingml/2006/main">
            <a:off x="5638800" y="2228850"/>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DB8C2E94-F4B0-496C-BA72-96F388E5AC9F}"/>
              </a:ext>
            </a:extLst>
          </p:cNvPr>
          <p:cNvSpPr>
            <a:spLocks xmlns:a="http://schemas.openxmlformats.org/drawingml/2006/main" noGrp="1"/>
          </p:cNvSpPr>
          <p:nvPr/>
        </p:nvSpPr>
        <p:spPr>
          <a:xfrm xmlns:a="http://schemas.openxmlformats.org/drawingml/2006/main">
            <a:off x="5715000" y="2305050"/>
            <a:ext cx="2228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removes duplicates</a:t>
            </a:r>
          </a:p>
        </p:txBody>
      </p:sp>
      <p:sp>
        <p:nvSpPr>
          <p:cNvPr id="20" name="">
            <a:extLst xmlns:a="http://schemas.openxmlformats.org/drawingml/2006/main">
              <a:ext uri="{FF2B5EF4-FFF2-40B4-BE49-F238E27FC236}">
                <a16:creationId xmlns:a16="http://schemas.microsoft.com/office/drawing/2014/main" id="{9F83EC4A-95AA-4B50-8D40-30345123BA85}"/>
              </a:ext>
            </a:extLst>
          </p:cNvPr>
          <p:cNvSpPr>
            <a:spLocks xmlns:a="http://schemas.openxmlformats.org/drawingml/2006/main" noGrp="1"/>
          </p:cNvSpPr>
          <p:nvPr/>
        </p:nvSpPr>
        <p:spPr>
          <a:xfrm xmlns:a="http://schemas.openxmlformats.org/drawingml/2006/main">
            <a:off x="8020050" y="2228850"/>
            <a:ext cx="34861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66A4EDE4-7285-46BB-BD57-8840AEFD870F}"/>
              </a:ext>
            </a:extLst>
          </p:cNvPr>
          <p:cNvSpPr>
            <a:spLocks xmlns:a="http://schemas.openxmlformats.org/drawingml/2006/main" noGrp="1"/>
          </p:cNvSpPr>
          <p:nvPr/>
        </p:nvSpPr>
        <p:spPr>
          <a:xfrm xmlns:a="http://schemas.openxmlformats.org/drawingml/2006/main">
            <a:off x="8096250" y="23050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all identifiers appearing in either result</a:t>
            </a:r>
          </a:p>
        </p:txBody>
      </p:sp>
      <p:sp>
        <p:nvSpPr>
          <p:cNvPr id="22" name="">
            <a:extLst xmlns:a="http://schemas.openxmlformats.org/drawingml/2006/main">
              <a:ext uri="{FF2B5EF4-FFF2-40B4-BE49-F238E27FC236}">
                <a16:creationId xmlns:a16="http://schemas.microsoft.com/office/drawing/2014/main" id="{D6FAB7C1-3530-4D86-B892-F6B9836001DE}"/>
              </a:ext>
            </a:extLst>
          </p:cNvPr>
          <p:cNvSpPr>
            <a:spLocks xmlns:a="http://schemas.openxmlformats.org/drawingml/2006/main" noGrp="1"/>
          </p:cNvSpPr>
          <p:nvPr/>
        </p:nvSpPr>
        <p:spPr>
          <a:xfrm xmlns:a="http://schemas.openxmlformats.org/drawingml/2006/main">
            <a:off x="685800" y="2971800"/>
            <a:ext cx="2000250" cy="7429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377EAEC6-0182-4AE9-89DC-075852FB38FA}"/>
              </a:ext>
            </a:extLst>
          </p:cNvPr>
          <p:cNvSpPr>
            <a:spLocks xmlns:a="http://schemas.openxmlformats.org/drawingml/2006/main" noGrp="1"/>
          </p:cNvSpPr>
          <p:nvPr/>
        </p:nvSpPr>
        <p:spPr>
          <a:xfrm xmlns:a="http://schemas.openxmlformats.org/drawingml/2006/main">
            <a:off x="762000" y="3048000"/>
            <a:ext cx="1847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UNION ALL</a:t>
            </a:r>
          </a:p>
        </p:txBody>
      </p:sp>
      <p:sp>
        <p:nvSpPr>
          <p:cNvPr id="24" name="">
            <a:extLst xmlns:a="http://schemas.openxmlformats.org/drawingml/2006/main">
              <a:ext uri="{FF2B5EF4-FFF2-40B4-BE49-F238E27FC236}">
                <a16:creationId xmlns:a16="http://schemas.microsoft.com/office/drawing/2014/main" id="{6A1D2D59-F550-4926-BB45-110DB69D28B3}"/>
              </a:ext>
            </a:extLst>
          </p:cNvPr>
          <p:cNvSpPr>
            <a:spLocks xmlns:a="http://schemas.openxmlformats.org/drawingml/2006/main" noGrp="1"/>
          </p:cNvSpPr>
          <p:nvPr/>
        </p:nvSpPr>
        <p:spPr>
          <a:xfrm xmlns:a="http://schemas.openxmlformats.org/drawingml/2006/main">
            <a:off x="2686050" y="2971800"/>
            <a:ext cx="2952750" cy="7429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DEC0B14A-701F-4A85-8FD9-B6AF6FF616AF}"/>
              </a:ext>
            </a:extLst>
          </p:cNvPr>
          <p:cNvSpPr>
            <a:spLocks xmlns:a="http://schemas.openxmlformats.org/drawingml/2006/main" noGrp="1"/>
          </p:cNvSpPr>
          <p:nvPr/>
        </p:nvSpPr>
        <p:spPr>
          <a:xfrm xmlns:a="http://schemas.openxmlformats.org/drawingml/2006/main">
            <a:off x="2762250" y="304800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rows from A then B</a:t>
            </a:r>
          </a:p>
        </p:txBody>
      </p:sp>
      <p:sp>
        <p:nvSpPr>
          <p:cNvPr id="26" name="">
            <a:extLst xmlns:a="http://schemas.openxmlformats.org/drawingml/2006/main">
              <a:ext uri="{FF2B5EF4-FFF2-40B4-BE49-F238E27FC236}">
                <a16:creationId xmlns:a16="http://schemas.microsoft.com/office/drawing/2014/main" id="{A23F898A-4134-4124-9EC5-AE938A29494C}"/>
              </a:ext>
            </a:extLst>
          </p:cNvPr>
          <p:cNvSpPr>
            <a:spLocks xmlns:a="http://schemas.openxmlformats.org/drawingml/2006/main" noGrp="1"/>
          </p:cNvSpPr>
          <p:nvPr/>
        </p:nvSpPr>
        <p:spPr>
          <a:xfrm xmlns:a="http://schemas.openxmlformats.org/drawingml/2006/main">
            <a:off x="5638800" y="2971800"/>
            <a:ext cx="2381250" cy="7429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16503518-1205-4472-A818-24ECAA3C9D92}"/>
              </a:ext>
            </a:extLst>
          </p:cNvPr>
          <p:cNvSpPr>
            <a:spLocks xmlns:a="http://schemas.openxmlformats.org/drawingml/2006/main" noGrp="1"/>
          </p:cNvSpPr>
          <p:nvPr/>
        </p:nvSpPr>
        <p:spPr>
          <a:xfrm xmlns:a="http://schemas.openxmlformats.org/drawingml/2006/main">
            <a:off x="5715000" y="3048000"/>
            <a:ext cx="2228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keeps duplicates</a:t>
            </a:r>
          </a:p>
        </p:txBody>
      </p:sp>
      <p:sp>
        <p:nvSpPr>
          <p:cNvPr id="28" name="">
            <a:extLst xmlns:a="http://schemas.openxmlformats.org/drawingml/2006/main">
              <a:ext uri="{FF2B5EF4-FFF2-40B4-BE49-F238E27FC236}">
                <a16:creationId xmlns:a16="http://schemas.microsoft.com/office/drawing/2014/main" id="{E821D47F-9B88-427E-A72B-8282FA733116}"/>
              </a:ext>
            </a:extLst>
          </p:cNvPr>
          <p:cNvSpPr>
            <a:spLocks xmlns:a="http://schemas.openxmlformats.org/drawingml/2006/main" noGrp="1"/>
          </p:cNvSpPr>
          <p:nvPr/>
        </p:nvSpPr>
        <p:spPr>
          <a:xfrm xmlns:a="http://schemas.openxmlformats.org/drawingml/2006/main">
            <a:off x="8020050" y="2971800"/>
            <a:ext cx="3486150" cy="7429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21C8A3DA-4CC2-48F9-A981-F452FB081AB5}"/>
              </a:ext>
            </a:extLst>
          </p:cNvPr>
          <p:cNvSpPr>
            <a:spLocks xmlns:a="http://schemas.openxmlformats.org/drawingml/2006/main" noGrp="1"/>
          </p:cNvSpPr>
          <p:nvPr/>
        </p:nvSpPr>
        <p:spPr>
          <a:xfrm xmlns:a="http://schemas.openxmlformats.org/drawingml/2006/main">
            <a:off x="8096250" y="304800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append compatible event streams</a:t>
            </a:r>
          </a:p>
        </p:txBody>
      </p:sp>
      <p:sp>
        <p:nvSpPr>
          <p:cNvPr id="30" name="">
            <a:extLst xmlns:a="http://schemas.openxmlformats.org/drawingml/2006/main">
              <a:ext uri="{FF2B5EF4-FFF2-40B4-BE49-F238E27FC236}">
                <a16:creationId xmlns:a16="http://schemas.microsoft.com/office/drawing/2014/main" id="{D5EEBE1F-9A34-4CA6-89E9-0A037A724891}"/>
              </a:ext>
            </a:extLst>
          </p:cNvPr>
          <p:cNvSpPr>
            <a:spLocks xmlns:a="http://schemas.openxmlformats.org/drawingml/2006/main" noGrp="1"/>
          </p:cNvSpPr>
          <p:nvPr/>
        </p:nvSpPr>
        <p:spPr>
          <a:xfrm xmlns:a="http://schemas.openxmlformats.org/drawingml/2006/main">
            <a:off x="685800" y="3714750"/>
            <a:ext cx="2000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67EDFD8D-CC81-46AD-B1DD-2260510CDE90}"/>
              </a:ext>
            </a:extLst>
          </p:cNvPr>
          <p:cNvSpPr>
            <a:spLocks xmlns:a="http://schemas.openxmlformats.org/drawingml/2006/main" noGrp="1"/>
          </p:cNvSpPr>
          <p:nvPr/>
        </p:nvSpPr>
        <p:spPr>
          <a:xfrm xmlns:a="http://schemas.openxmlformats.org/drawingml/2006/main">
            <a:off x="762000" y="3790950"/>
            <a:ext cx="1847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INTERSECT</a:t>
            </a:r>
          </a:p>
        </p:txBody>
      </p:sp>
      <p:sp>
        <p:nvSpPr>
          <p:cNvPr id="32" name="">
            <a:extLst xmlns:a="http://schemas.openxmlformats.org/drawingml/2006/main">
              <a:ext uri="{FF2B5EF4-FFF2-40B4-BE49-F238E27FC236}">
                <a16:creationId xmlns:a16="http://schemas.microsoft.com/office/drawing/2014/main" id="{9836EAC8-61D6-4569-9545-6CB19CDDE42E}"/>
              </a:ext>
            </a:extLst>
          </p:cNvPr>
          <p:cNvSpPr>
            <a:spLocks xmlns:a="http://schemas.openxmlformats.org/drawingml/2006/main" noGrp="1"/>
          </p:cNvSpPr>
          <p:nvPr/>
        </p:nvSpPr>
        <p:spPr>
          <a:xfrm xmlns:a="http://schemas.openxmlformats.org/drawingml/2006/main">
            <a:off x="2686050" y="3714750"/>
            <a:ext cx="2952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37C7C613-391A-4664-925D-1A358024FAF0}"/>
              </a:ext>
            </a:extLst>
          </p:cNvPr>
          <p:cNvSpPr>
            <a:spLocks xmlns:a="http://schemas.openxmlformats.org/drawingml/2006/main" noGrp="1"/>
          </p:cNvSpPr>
          <p:nvPr/>
        </p:nvSpPr>
        <p:spPr>
          <a:xfrm xmlns:a="http://schemas.openxmlformats.org/drawingml/2006/main">
            <a:off x="2762250" y="379095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rows in both</a:t>
            </a:r>
          </a:p>
        </p:txBody>
      </p:sp>
      <p:sp>
        <p:nvSpPr>
          <p:cNvPr id="34" name="">
            <a:extLst xmlns:a="http://schemas.openxmlformats.org/drawingml/2006/main">
              <a:ext uri="{FF2B5EF4-FFF2-40B4-BE49-F238E27FC236}">
                <a16:creationId xmlns:a16="http://schemas.microsoft.com/office/drawing/2014/main" id="{17988550-1B24-4169-B255-71A01CFA7CAF}"/>
              </a:ext>
            </a:extLst>
          </p:cNvPr>
          <p:cNvSpPr>
            <a:spLocks xmlns:a="http://schemas.openxmlformats.org/drawingml/2006/main" noGrp="1"/>
          </p:cNvSpPr>
          <p:nvPr/>
        </p:nvSpPr>
        <p:spPr>
          <a:xfrm xmlns:a="http://schemas.openxmlformats.org/drawingml/2006/main">
            <a:off x="5638800" y="3714750"/>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6481BF29-0A2D-4DA7-A029-2CFC833F1D3E}"/>
              </a:ext>
            </a:extLst>
          </p:cNvPr>
          <p:cNvSpPr>
            <a:spLocks xmlns:a="http://schemas.openxmlformats.org/drawingml/2006/main" noGrp="1"/>
          </p:cNvSpPr>
          <p:nvPr/>
        </p:nvSpPr>
        <p:spPr>
          <a:xfrm xmlns:a="http://schemas.openxmlformats.org/drawingml/2006/main">
            <a:off x="5715000" y="3790950"/>
            <a:ext cx="2228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distinct by default</a:t>
            </a:r>
          </a:p>
        </p:txBody>
      </p:sp>
      <p:sp>
        <p:nvSpPr>
          <p:cNvPr id="36" name="">
            <a:extLst xmlns:a="http://schemas.openxmlformats.org/drawingml/2006/main">
              <a:ext uri="{FF2B5EF4-FFF2-40B4-BE49-F238E27FC236}">
                <a16:creationId xmlns:a16="http://schemas.microsoft.com/office/drawing/2014/main" id="{0565B7C5-1A23-4646-8379-F7D648F21EEA}"/>
              </a:ext>
            </a:extLst>
          </p:cNvPr>
          <p:cNvSpPr>
            <a:spLocks xmlns:a="http://schemas.openxmlformats.org/drawingml/2006/main" noGrp="1"/>
          </p:cNvSpPr>
          <p:nvPr/>
        </p:nvSpPr>
        <p:spPr>
          <a:xfrm xmlns:a="http://schemas.openxmlformats.org/drawingml/2006/main">
            <a:off x="8020050" y="3714750"/>
            <a:ext cx="34861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8FA2CD01-5210-40B2-B3BA-4BAFF65FAAD7}"/>
              </a:ext>
            </a:extLst>
          </p:cNvPr>
          <p:cNvSpPr>
            <a:spLocks xmlns:a="http://schemas.openxmlformats.org/drawingml/2006/main" noGrp="1"/>
          </p:cNvSpPr>
          <p:nvPr/>
        </p:nvSpPr>
        <p:spPr>
          <a:xfrm xmlns:a="http://schemas.openxmlformats.org/drawingml/2006/main">
            <a:off x="8096250" y="37909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identifiers meeting two independent conditions</a:t>
            </a:r>
          </a:p>
        </p:txBody>
      </p:sp>
      <p:sp>
        <p:nvSpPr>
          <p:cNvPr id="38" name="">
            <a:extLst xmlns:a="http://schemas.openxmlformats.org/drawingml/2006/main">
              <a:ext uri="{FF2B5EF4-FFF2-40B4-BE49-F238E27FC236}">
                <a16:creationId xmlns:a16="http://schemas.microsoft.com/office/drawing/2014/main" id="{F0738FCB-52DE-4099-99CF-F6403CE6F8A9}"/>
              </a:ext>
            </a:extLst>
          </p:cNvPr>
          <p:cNvSpPr>
            <a:spLocks xmlns:a="http://schemas.openxmlformats.org/drawingml/2006/main" noGrp="1"/>
          </p:cNvSpPr>
          <p:nvPr/>
        </p:nvSpPr>
        <p:spPr>
          <a:xfrm xmlns:a="http://schemas.openxmlformats.org/drawingml/2006/main">
            <a:off x="685800" y="4457700"/>
            <a:ext cx="2000250" cy="7429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E2AD3BCB-B152-41A5-929C-3AB8DB9FC6D8}"/>
              </a:ext>
            </a:extLst>
          </p:cNvPr>
          <p:cNvSpPr>
            <a:spLocks xmlns:a="http://schemas.openxmlformats.org/drawingml/2006/main" noGrp="1"/>
          </p:cNvSpPr>
          <p:nvPr/>
        </p:nvSpPr>
        <p:spPr>
          <a:xfrm xmlns:a="http://schemas.openxmlformats.org/drawingml/2006/main">
            <a:off x="762000" y="4533900"/>
            <a:ext cx="1847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EXCEPT</a:t>
            </a:r>
          </a:p>
        </p:txBody>
      </p:sp>
      <p:sp>
        <p:nvSpPr>
          <p:cNvPr id="40" name="">
            <a:extLst xmlns:a="http://schemas.openxmlformats.org/drawingml/2006/main">
              <a:ext uri="{FF2B5EF4-FFF2-40B4-BE49-F238E27FC236}">
                <a16:creationId xmlns:a16="http://schemas.microsoft.com/office/drawing/2014/main" id="{9604A721-563D-4198-BF2A-EDC3325D3D33}"/>
              </a:ext>
            </a:extLst>
          </p:cNvPr>
          <p:cNvSpPr>
            <a:spLocks xmlns:a="http://schemas.openxmlformats.org/drawingml/2006/main" noGrp="1"/>
          </p:cNvSpPr>
          <p:nvPr/>
        </p:nvSpPr>
        <p:spPr>
          <a:xfrm xmlns:a="http://schemas.openxmlformats.org/drawingml/2006/main">
            <a:off x="2686050" y="4457700"/>
            <a:ext cx="2952750" cy="7429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0819CEE9-D901-42A0-AD89-F5E7E7473DC8}"/>
              </a:ext>
            </a:extLst>
          </p:cNvPr>
          <p:cNvSpPr>
            <a:spLocks xmlns:a="http://schemas.openxmlformats.org/drawingml/2006/main" noGrp="1"/>
          </p:cNvSpPr>
          <p:nvPr/>
        </p:nvSpPr>
        <p:spPr>
          <a:xfrm xmlns:a="http://schemas.openxmlformats.org/drawingml/2006/main">
            <a:off x="2762250" y="453390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rows in A but not B</a:t>
            </a:r>
          </a:p>
        </p:txBody>
      </p:sp>
      <p:sp>
        <p:nvSpPr>
          <p:cNvPr id="42" name="">
            <a:extLst xmlns:a="http://schemas.openxmlformats.org/drawingml/2006/main">
              <a:ext uri="{FF2B5EF4-FFF2-40B4-BE49-F238E27FC236}">
                <a16:creationId xmlns:a16="http://schemas.microsoft.com/office/drawing/2014/main" id="{7F02F552-6BBA-4DCC-B57D-FE3234B9FF5D}"/>
              </a:ext>
            </a:extLst>
          </p:cNvPr>
          <p:cNvSpPr>
            <a:spLocks xmlns:a="http://schemas.openxmlformats.org/drawingml/2006/main" noGrp="1"/>
          </p:cNvSpPr>
          <p:nvPr/>
        </p:nvSpPr>
        <p:spPr>
          <a:xfrm xmlns:a="http://schemas.openxmlformats.org/drawingml/2006/main">
            <a:off x="5638800" y="4457700"/>
            <a:ext cx="2381250" cy="7429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25006DC5-47B9-4B86-9DAA-A9CD2855CF79}"/>
              </a:ext>
            </a:extLst>
          </p:cNvPr>
          <p:cNvSpPr>
            <a:spLocks xmlns:a="http://schemas.openxmlformats.org/drawingml/2006/main" noGrp="1"/>
          </p:cNvSpPr>
          <p:nvPr/>
        </p:nvSpPr>
        <p:spPr>
          <a:xfrm xmlns:a="http://schemas.openxmlformats.org/drawingml/2006/main">
            <a:off x="5715000" y="4533900"/>
            <a:ext cx="2228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distinct by default</a:t>
            </a:r>
          </a:p>
        </p:txBody>
      </p:sp>
      <p:sp>
        <p:nvSpPr>
          <p:cNvPr id="44" name="">
            <a:extLst xmlns:a="http://schemas.openxmlformats.org/drawingml/2006/main">
              <a:ext uri="{FF2B5EF4-FFF2-40B4-BE49-F238E27FC236}">
                <a16:creationId xmlns:a16="http://schemas.microsoft.com/office/drawing/2014/main" id="{CC3F34AA-5182-4B95-BDB3-1BB5E15454C7}"/>
              </a:ext>
            </a:extLst>
          </p:cNvPr>
          <p:cNvSpPr>
            <a:spLocks xmlns:a="http://schemas.openxmlformats.org/drawingml/2006/main" noGrp="1"/>
          </p:cNvSpPr>
          <p:nvPr/>
        </p:nvSpPr>
        <p:spPr>
          <a:xfrm xmlns:a="http://schemas.openxmlformats.org/drawingml/2006/main">
            <a:off x="8020050" y="4457700"/>
            <a:ext cx="3486150" cy="7429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14FB8242-03C2-4CC9-92EB-5B63E2823160}"/>
              </a:ext>
            </a:extLst>
          </p:cNvPr>
          <p:cNvSpPr>
            <a:spLocks xmlns:a="http://schemas.openxmlformats.org/drawingml/2006/main" noGrp="1"/>
          </p:cNvSpPr>
          <p:nvPr/>
        </p:nvSpPr>
        <p:spPr>
          <a:xfrm xmlns:a="http://schemas.openxmlformats.org/drawingml/2006/main">
            <a:off x="8096250" y="453390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users with no matching membership in B</a:t>
            </a:r>
          </a:p>
        </p:txBody>
      </p:sp>
    </p:spTree>
    <p:extLst>
      <p:ext uri="{BB962C8B-B14F-4D97-AF65-F5344CB8AC3E}">
        <p14:creationId xmlns:p14="http://schemas.microsoft.com/office/powerpoint/2010/main" val="1988287032"/>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1E2E80C-5608-4921-BFB3-1E4753990E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FD04FB4-FBFA-446B-B116-49245092AA7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E0093DB2-BC39-45D4-8621-5D5BD79B33C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Test a data change inside a transaction before keeping it</a:t>
            </a:r>
          </a:p>
        </p:txBody>
      </p:sp>
      <p:sp>
        <p:nvSpPr>
          <p:cNvPr id="4" name="">
            <a:extLst xmlns:a="http://schemas.openxmlformats.org/drawingml/2006/main">
              <a:ext uri="{FF2B5EF4-FFF2-40B4-BE49-F238E27FC236}">
                <a16:creationId xmlns:a16="http://schemas.microsoft.com/office/drawing/2014/main" id="{3707EE1B-B68B-4876-9B90-A5F28AED4779}"/>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9EDA9E31-C45F-4978-A69A-BA2D76B2068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15</a:t>
            </a:r>
          </a:p>
        </p:txBody>
      </p:sp>
      <p:sp>
        <p:nvSpPr>
          <p:cNvPr id="6" name="code-frame">
            <a:extLst xmlns:a="http://schemas.openxmlformats.org/drawingml/2006/main">
              <a:ext uri="{FF2B5EF4-FFF2-40B4-BE49-F238E27FC236}">
                <a16:creationId xmlns:a16="http://schemas.microsoft.com/office/drawing/2014/main" id="{9DA20479-6832-46B9-8D32-A38CE21CD1E2}"/>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6EC33496-252D-4066-A466-BBA8647FAC7A}"/>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BEGIN;</a:t>
            </a:r>
          </a:p>
          <a:p xmlns:a="http://schemas.openxmlformats.org/drawingml/2006/main">
            <a:r>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UPDATE tickets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SET priority = 'high'</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WHERE ticket_id = 1002;</a:t>
            </a:r>
          </a:p>
          <a:p xmlns:a="http://schemas.openxmlformats.org/drawingml/2006/main">
            <a:r>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SELECT ticket_id, priority</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FROM tickets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WHERE ticket_id = 1002;</a:t>
            </a:r>
          </a:p>
          <a:p xmlns:a="http://schemas.openxmlformats.org/drawingml/2006/main">
            <a:r>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ROLLBACK;</a:t>
            </a:r>
          </a:p>
        </p:txBody>
      </p:sp>
      <p:sp>
        <p:nvSpPr>
          <p:cNvPr id="8" name="">
            <a:extLst xmlns:a="http://schemas.openxmlformats.org/drawingml/2006/main">
              <a:ext uri="{FF2B5EF4-FFF2-40B4-BE49-F238E27FC236}">
                <a16:creationId xmlns:a16="http://schemas.microsoft.com/office/drawing/2014/main" id="{37F773DD-BD58-4E61-9607-3B6A17539204}"/>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0F766E"/>
                </a:solidFill>
                <a:latin typeface="Helvetica Neue"/>
                <a:ea typeface="Helvetica Neue"/>
                <a:cs typeface="Helvetica Neue"/>
              </a:defRPr>
            </a:pPr>
            <a:r>
              <a:rPr sz="1725" b="1">
                <a:solidFill>
                  <a:srgbClr val="0F766E"/>
                </a:solidFill>
                <a:latin typeface="Helvetica Neue"/>
                <a:ea typeface="Helvetica Neue"/>
                <a:cs typeface="Helvetica Neue"/>
              </a:rPr>
              <a:t>Safe rehearsal</a:t>
            </a:r>
          </a:p>
        </p:txBody>
      </p:sp>
      <p:sp>
        <p:nvSpPr>
          <p:cNvPr id="9" name="">
            <a:extLst xmlns:a="http://schemas.openxmlformats.org/drawingml/2006/main">
              <a:ext uri="{FF2B5EF4-FFF2-40B4-BE49-F238E27FC236}">
                <a16:creationId xmlns:a16="http://schemas.microsoft.com/office/drawing/2014/main" id="{C3CFBF32-568C-4CC3-8155-7D0A23768AFA}"/>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D6CED6CD-8157-4E74-9C6A-7AF9113DB3E2}"/>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Use a narrow predicate and inspect affected rows.</a:t>
            </a:r>
          </a:p>
        </p:txBody>
      </p:sp>
      <p:sp>
        <p:nvSpPr>
          <p:cNvPr id="11" name="">
            <a:extLst xmlns:a="http://schemas.openxmlformats.org/drawingml/2006/main">
              <a:ext uri="{FF2B5EF4-FFF2-40B4-BE49-F238E27FC236}">
                <a16:creationId xmlns:a16="http://schemas.microsoft.com/office/drawing/2014/main" id="{898EED25-F175-4F5A-8C2E-AF8819320E56}"/>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D2E45AB6-3E4E-43D4-8241-7497AD29C723}"/>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Verify the changed value inside the transaction.</a:t>
            </a:r>
          </a:p>
        </p:txBody>
      </p:sp>
      <p:sp>
        <p:nvSpPr>
          <p:cNvPr id="13" name="">
            <a:extLst xmlns:a="http://schemas.openxmlformats.org/drawingml/2006/main">
              <a:ext uri="{FF2B5EF4-FFF2-40B4-BE49-F238E27FC236}">
                <a16:creationId xmlns:a16="http://schemas.microsoft.com/office/drawing/2014/main" id="{C2965A28-F517-4934-A537-BA5A7FF54893}"/>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4" name="">
            <a:extLst xmlns:a="http://schemas.openxmlformats.org/drawingml/2006/main">
              <a:ext uri="{FF2B5EF4-FFF2-40B4-BE49-F238E27FC236}">
                <a16:creationId xmlns:a16="http://schemas.microsoft.com/office/drawing/2014/main" id="{5D6F8F33-6FC5-4BE1-A042-D70FC8129F60}"/>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Rollback returns the fixture to its starting state.</a:t>
            </a:r>
          </a:p>
        </p:txBody>
      </p:sp>
    </p:spTree>
    <p:extLst>
      <p:ext uri="{BB962C8B-B14F-4D97-AF65-F5344CB8AC3E}">
        <p14:creationId xmlns:p14="http://schemas.microsoft.com/office/powerpoint/2010/main" val="401496849"/>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6B5EF24-5E36-4FCE-B7E2-2ACE041EE4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657F907-811F-4F2A-B4BC-3247AF81BF79}"/>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65C3AF0E-7E0E-4EA2-ACE6-B79DD98788B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Verification tests whether the result answers the question</a:t>
            </a:r>
          </a:p>
        </p:txBody>
      </p:sp>
      <p:sp>
        <p:nvSpPr>
          <p:cNvPr id="4" name="">
            <a:extLst xmlns:a="http://schemas.openxmlformats.org/drawingml/2006/main">
              <a:ext uri="{FF2B5EF4-FFF2-40B4-BE49-F238E27FC236}">
                <a16:creationId xmlns:a16="http://schemas.microsoft.com/office/drawing/2014/main" id="{00982687-A4CD-4DFE-AC16-C9F6EECABCA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70D6F95-9602-481D-9580-402498F79A5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16</a:t>
            </a:r>
          </a:p>
        </p:txBody>
      </p:sp>
      <p:sp>
        <p:nvSpPr>
          <p:cNvPr id="6" name="">
            <a:extLst xmlns:a="http://schemas.openxmlformats.org/drawingml/2006/main">
              <a:ext uri="{FF2B5EF4-FFF2-40B4-BE49-F238E27FC236}">
                <a16:creationId xmlns:a16="http://schemas.microsoft.com/office/drawing/2014/main" id="{7BC6D1EB-8A22-44CC-B3F9-3842839E6A24}"/>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0F766E"/>
          </a:solidFill>
          <a:ln xmlns:a="http://schemas.openxmlformats.org/drawingml/2006/main" w="19050">
            <a:solidFill>
              <a:srgbClr val="0F766E"/>
            </a:solidFill>
            <a:prstDash val="solid"/>
          </a:ln>
        </p:spPr>
      </p:sp>
      <p:sp>
        <p:nvSpPr>
          <p:cNvPr id="7" name="">
            <a:extLst xmlns:a="http://schemas.openxmlformats.org/drawingml/2006/main">
              <a:ext uri="{FF2B5EF4-FFF2-40B4-BE49-F238E27FC236}">
                <a16:creationId xmlns:a16="http://schemas.microsoft.com/office/drawing/2014/main" id="{C994C486-337D-4323-BE4A-5A1F475498E0}"/>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93C29986-F984-4EBE-BDA6-899F8F43ED94}"/>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Restate result grain and inspect stable identifiers or group keys.</a:t>
            </a:r>
          </a:p>
        </p:txBody>
      </p:sp>
      <p:sp>
        <p:nvSpPr>
          <p:cNvPr id="9" name="">
            <a:extLst xmlns:a="http://schemas.openxmlformats.org/drawingml/2006/main">
              <a:ext uri="{FF2B5EF4-FFF2-40B4-BE49-F238E27FC236}">
                <a16:creationId xmlns:a16="http://schemas.microsoft.com/office/drawing/2014/main" id="{172C1679-A1D3-42F6-81AC-DD55D999DD5B}"/>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8718B17F-5FC9-4EED-ACB4-DC1D4AB845D1}"/>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F766E"/>
            </a:solidFill>
            <a:prstDash val="solid"/>
          </a:ln>
        </p:spPr>
      </p:sp>
      <p:sp>
        <p:nvSpPr>
          <p:cNvPr id="11" name="">
            <a:extLst xmlns:a="http://schemas.openxmlformats.org/drawingml/2006/main">
              <a:ext uri="{FF2B5EF4-FFF2-40B4-BE49-F238E27FC236}">
                <a16:creationId xmlns:a16="http://schemas.microsoft.com/office/drawing/2014/main" id="{3765662B-D16E-4B17-9B82-B0EEC317ECE6}"/>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1E2904FB-E855-4A2A-8082-C207F3437329}"/>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Compare row count with a hand prediction or a simpler query.</a:t>
            </a:r>
          </a:p>
        </p:txBody>
      </p:sp>
      <p:sp>
        <p:nvSpPr>
          <p:cNvPr id="13" name="">
            <a:extLst xmlns:a="http://schemas.openxmlformats.org/drawingml/2006/main">
              <a:ext uri="{FF2B5EF4-FFF2-40B4-BE49-F238E27FC236}">
                <a16:creationId xmlns:a16="http://schemas.microsoft.com/office/drawing/2014/main" id="{D68BC649-E455-41AB-8D0B-17C9D9BFF907}"/>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23CD8D54-5AB1-47F2-9DB4-CA0FCF6E0DC6}"/>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F766E"/>
            </a:solidFill>
            <a:prstDash val="solid"/>
          </a:ln>
        </p:spPr>
      </p:sp>
      <p:sp>
        <p:nvSpPr>
          <p:cNvPr id="15" name="">
            <a:extLst xmlns:a="http://schemas.openxmlformats.org/drawingml/2006/main">
              <a:ext uri="{FF2B5EF4-FFF2-40B4-BE49-F238E27FC236}">
                <a16:creationId xmlns:a16="http://schemas.microsoft.com/office/drawing/2014/main" id="{9C742ACD-D6D7-4CAA-A133-A5ACE1B1E3DD}"/>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6D623C1D-24B2-48E8-9A34-2870A9FE1AED}"/>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Include edge cases: NULL, unmatched relationships, duplicates, and empty groups.</a:t>
            </a:r>
          </a:p>
        </p:txBody>
      </p:sp>
      <p:sp>
        <p:nvSpPr>
          <p:cNvPr id="17" name="">
            <a:extLst xmlns:a="http://schemas.openxmlformats.org/drawingml/2006/main">
              <a:ext uri="{FF2B5EF4-FFF2-40B4-BE49-F238E27FC236}">
                <a16:creationId xmlns:a16="http://schemas.microsoft.com/office/drawing/2014/main" id="{7B0E6E5F-DD78-42F4-A009-22687004D627}"/>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0627E02D-B619-4D8C-9D06-2AC95F16084A}"/>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F766E"/>
            </a:solidFill>
            <a:prstDash val="solid"/>
          </a:ln>
        </p:spPr>
      </p:sp>
      <p:sp>
        <p:nvSpPr>
          <p:cNvPr id="19" name="">
            <a:extLst xmlns:a="http://schemas.openxmlformats.org/drawingml/2006/main">
              <a:ext uri="{FF2B5EF4-FFF2-40B4-BE49-F238E27FC236}">
                <a16:creationId xmlns:a16="http://schemas.microsoft.com/office/drawing/2014/main" id="{06DF3DD4-3B8A-40CF-97DD-414FE261A242}"/>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0F766E"/>
                </a:solidFill>
                <a:latin typeface="Helvetica Neue"/>
                <a:ea typeface="Helvetica Neue"/>
                <a:cs typeface="Helvetica Neue"/>
              </a:defRPr>
            </a:pPr>
            <a:r>
              <a:rPr sz="1050" b="1">
                <a:solidFill>
                  <a:srgbClr val="0F766E"/>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2C38DF21-02F5-435E-B1FA-F0EEFF7B84D1}"/>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Use a second reasoning path and state what both checks still do not prove.</a:t>
            </a:r>
          </a:p>
        </p:txBody>
      </p:sp>
      <p:sp>
        <p:nvSpPr>
          <p:cNvPr id="21" name="">
            <a:extLst xmlns:a="http://schemas.openxmlformats.org/drawingml/2006/main">
              <a:ext uri="{FF2B5EF4-FFF2-40B4-BE49-F238E27FC236}">
                <a16:creationId xmlns:a16="http://schemas.microsoft.com/office/drawing/2014/main" id="{077A6D6E-CD71-4069-B233-9E72C547ED64}"/>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269407970"/>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E88293E-CA4D-480B-A78E-3F1BDFF6C7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0417E618-808F-43EC-9BD7-917AEB981F4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1952C5C2-03DA-47BE-A3E3-A9BA122D0A8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Complete the SQL query ladder</a:t>
            </a:r>
          </a:p>
        </p:txBody>
      </p:sp>
      <p:sp>
        <p:nvSpPr>
          <p:cNvPr id="4" name="">
            <a:extLst xmlns:a="http://schemas.openxmlformats.org/drawingml/2006/main">
              <a:ext uri="{FF2B5EF4-FFF2-40B4-BE49-F238E27FC236}">
                <a16:creationId xmlns:a16="http://schemas.microsoft.com/office/drawing/2014/main" id="{2E4CC275-1E8B-468D-BED4-2B0D7521A02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8FA7166-3EC6-4400-B0D2-414134D0096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17</a:t>
            </a:r>
          </a:p>
        </p:txBody>
      </p:sp>
      <p:sp>
        <p:nvSpPr>
          <p:cNvPr id="6" name="">
            <a:extLst xmlns:a="http://schemas.openxmlformats.org/drawingml/2006/main">
              <a:ext uri="{FF2B5EF4-FFF2-40B4-BE49-F238E27FC236}">
                <a16:creationId xmlns:a16="http://schemas.microsoft.com/office/drawing/2014/main" id="{28A818A2-0009-43CC-AB90-1124DE40DF03}"/>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Translate increasingly complex relational questions into SQL and verify each result.</a:t>
            </a:r>
          </a:p>
        </p:txBody>
      </p:sp>
      <p:sp>
        <p:nvSpPr>
          <p:cNvPr id="7" name="">
            <a:extLst xmlns:a="http://schemas.openxmlformats.org/drawingml/2006/main">
              <a:ext uri="{FF2B5EF4-FFF2-40B4-BE49-F238E27FC236}">
                <a16:creationId xmlns:a16="http://schemas.microsoft.com/office/drawing/2014/main" id="{A0AB7B1A-6A7B-4465-8F8F-60B254A8CCDE}"/>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48A61DC0-9A7D-4C1F-8E9E-FC5B1E7DD9CC}"/>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Write grain notes before filters, projections, ordering, and limits.</a:t>
            </a:r>
          </a:p>
        </p:txBody>
      </p:sp>
      <p:sp>
        <p:nvSpPr>
          <p:cNvPr id="9" name="">
            <a:extLst xmlns:a="http://schemas.openxmlformats.org/drawingml/2006/main">
              <a:ext uri="{FF2B5EF4-FFF2-40B4-BE49-F238E27FC236}">
                <a16:creationId xmlns:a16="http://schemas.microsoft.com/office/drawing/2014/main" id="{82E03E23-5D9C-403A-84BA-DB6170EF11F1}"/>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D2DB8B07-F464-401B-A777-CD70D8142B72}"/>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Predict stable identifiers or counts before running each query.</a:t>
            </a:r>
          </a:p>
        </p:txBody>
      </p:sp>
      <p:sp>
        <p:nvSpPr>
          <p:cNvPr id="11" name="">
            <a:extLst xmlns:a="http://schemas.openxmlformats.org/drawingml/2006/main">
              <a:ext uri="{FF2B5EF4-FFF2-40B4-BE49-F238E27FC236}">
                <a16:creationId xmlns:a16="http://schemas.microsoft.com/office/drawing/2014/main" id="{83330F0F-FE40-4DAE-B0FE-972D3575245C}"/>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457358E8-B3CD-433C-9CA1-6AE9B5910B13}"/>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Keep the SQL and a short verification note for the assigned checkpoint.</a:t>
            </a:r>
          </a:p>
        </p:txBody>
      </p:sp>
      <p:sp>
        <p:nvSpPr>
          <p:cNvPr id="13" name="">
            <a:extLst xmlns:a="http://schemas.openxmlformats.org/drawingml/2006/main">
              <a:ext uri="{FF2B5EF4-FFF2-40B4-BE49-F238E27FC236}">
                <a16:creationId xmlns:a16="http://schemas.microsoft.com/office/drawing/2014/main" id="{973030FC-1A51-43FE-B8E6-544CC402AE50}"/>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F2DD7727-A092-4412-BC4B-6599AB64AB95}"/>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SQL file with grain and verification notes</a:t>
            </a:r>
          </a:p>
        </p:txBody>
      </p:sp>
    </p:spTree>
    <p:extLst>
      <p:ext uri="{BB962C8B-B14F-4D97-AF65-F5344CB8AC3E}">
        <p14:creationId xmlns:p14="http://schemas.microsoft.com/office/powerpoint/2010/main" val="1335509648"/>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F685AF4-85B0-45CF-9A99-EF4FC44BAD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406868BA-B141-495A-88CD-E252D8103BE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0F766E"/>
                </a:solidFill>
                <a:latin typeface="Helvetica Neue"/>
                <a:ea typeface="Helvetica Neue"/>
                <a:cs typeface="Helvetica Neue"/>
              </a:defRPr>
            </a:pPr>
            <a:r>
              <a:rPr sz="975" b="1">
                <a:solidFill>
                  <a:srgbClr val="0F766E"/>
                </a:solidFill>
                <a:latin typeface="Helvetica Neue"/>
                <a:ea typeface="Helvetica Neue"/>
                <a:cs typeface="Helvetica Neue"/>
              </a:rPr>
              <a:t>WEEK 02  /  CST4714</a:t>
            </a:r>
          </a:p>
        </p:txBody>
      </p:sp>
      <p:sp>
        <p:nvSpPr>
          <p:cNvPr id="3" name="slide-title">
            <a:extLst xmlns:a="http://schemas.openxmlformats.org/drawingml/2006/main">
              <a:ext uri="{FF2B5EF4-FFF2-40B4-BE49-F238E27FC236}">
                <a16:creationId xmlns:a16="http://schemas.microsoft.com/office/drawing/2014/main" id="{2BDD7163-6F52-4571-9829-7B4F33A22BB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Join, summarize, and rehearse a safe change</a:t>
            </a:r>
          </a:p>
        </p:txBody>
      </p:sp>
      <p:sp>
        <p:nvSpPr>
          <p:cNvPr id="4" name="">
            <a:extLst xmlns:a="http://schemas.openxmlformats.org/drawingml/2006/main">
              <a:ext uri="{FF2B5EF4-FFF2-40B4-BE49-F238E27FC236}">
                <a16:creationId xmlns:a16="http://schemas.microsoft.com/office/drawing/2014/main" id="{B46E5CCE-AD99-40DB-B9DA-17641BA76D0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34E429D-70DC-4F70-87DF-F7576C25631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18</a:t>
            </a:r>
          </a:p>
        </p:txBody>
      </p:sp>
      <p:sp>
        <p:nvSpPr>
          <p:cNvPr id="6" name="">
            <a:extLst xmlns:a="http://schemas.openxmlformats.org/drawingml/2006/main">
              <a:ext uri="{FF2B5EF4-FFF2-40B4-BE49-F238E27FC236}">
                <a16:creationId xmlns:a16="http://schemas.microsoft.com/office/drawing/2014/main" id="{EFADDD0B-5ED1-40AA-9B4B-07848409EB02}"/>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Use relationships, grouping, a second reasoning path, and transaction-guarded DML.</a:t>
            </a:r>
          </a:p>
        </p:txBody>
      </p:sp>
      <p:sp>
        <p:nvSpPr>
          <p:cNvPr id="7" name="">
            <a:extLst xmlns:a="http://schemas.openxmlformats.org/drawingml/2006/main">
              <a:ext uri="{FF2B5EF4-FFF2-40B4-BE49-F238E27FC236}">
                <a16:creationId xmlns:a16="http://schemas.microsoft.com/office/drawing/2014/main" id="{5C3EFBF1-055F-4E16-BA83-5AC4BCAF166F}"/>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DEDCD12F-04E7-49F1-BC98-47958333CE49}"/>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Build one inner or left join and account for every repeated or missing row.</a:t>
            </a:r>
          </a:p>
        </p:txBody>
      </p:sp>
      <p:sp>
        <p:nvSpPr>
          <p:cNvPr id="9" name="">
            <a:extLst xmlns:a="http://schemas.openxmlformats.org/drawingml/2006/main">
              <a:ext uri="{FF2B5EF4-FFF2-40B4-BE49-F238E27FC236}">
                <a16:creationId xmlns:a16="http://schemas.microsoft.com/office/drawing/2014/main" id="{63637759-8780-49AC-ACCE-C9904B23D989}"/>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2228752B-FCC5-4D62-95AB-190C1604ECEC}"/>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Create one grouped result with a correct group grain and filter location.</a:t>
            </a:r>
          </a:p>
        </p:txBody>
      </p:sp>
      <p:sp>
        <p:nvSpPr>
          <p:cNvPr id="11" name="">
            <a:extLst xmlns:a="http://schemas.openxmlformats.org/drawingml/2006/main">
              <a:ext uri="{FF2B5EF4-FFF2-40B4-BE49-F238E27FC236}">
                <a16:creationId xmlns:a16="http://schemas.microsoft.com/office/drawing/2014/main" id="{761E7880-0D89-4087-BE1A-8A344EBC8D50}"/>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A4EADB77-D4C2-4506-A003-9AF659947C38}"/>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Test one narrow UPDATE or DELETE, verify it, and roll it back.</a:t>
            </a:r>
          </a:p>
        </p:txBody>
      </p:sp>
      <p:sp>
        <p:nvSpPr>
          <p:cNvPr id="13" name="">
            <a:extLst xmlns:a="http://schemas.openxmlformats.org/drawingml/2006/main">
              <a:ext uri="{FF2B5EF4-FFF2-40B4-BE49-F238E27FC236}">
                <a16:creationId xmlns:a16="http://schemas.microsoft.com/office/drawing/2014/main" id="{7C364B28-52F7-46D4-875C-205E4B4D89E8}"/>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4" name="">
            <a:extLst xmlns:a="http://schemas.openxmlformats.org/drawingml/2006/main">
              <a:ext uri="{FF2B5EF4-FFF2-40B4-BE49-F238E27FC236}">
                <a16:creationId xmlns:a16="http://schemas.microsoft.com/office/drawing/2014/main" id="{B076635A-2C86-4A59-9C63-273629B84E8D}"/>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SQL evidence record</a:t>
            </a:r>
          </a:p>
        </p:txBody>
      </p:sp>
    </p:spTree>
    <p:extLst>
      <p:ext uri="{BB962C8B-B14F-4D97-AF65-F5344CB8AC3E}">
        <p14:creationId xmlns:p14="http://schemas.microsoft.com/office/powerpoint/2010/main" val="628749045"/>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C7948D-2A28-450E-8827-804B850CE73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38911F48-DDED-4A79-9D02-EDB2EF5A230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3" name="">
            <a:extLst xmlns:a="http://schemas.openxmlformats.org/drawingml/2006/main">
              <a:ext uri="{FF2B5EF4-FFF2-40B4-BE49-F238E27FC236}">
                <a16:creationId xmlns:a16="http://schemas.microsoft.com/office/drawing/2014/main" id="{D37D00A9-E9FE-4EEC-BC01-3B76A4E82A0C}"/>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99534"/>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SQL fluency is recoverable when the result has a model</a:t>
            </a:r>
          </a:p>
        </p:txBody>
      </p:sp>
      <p:sp>
        <p:nvSpPr>
          <p:cNvPr id="4" name="">
            <a:extLst xmlns:a="http://schemas.openxmlformats.org/drawingml/2006/main">
              <a:ext uri="{FF2B5EF4-FFF2-40B4-BE49-F238E27FC236}">
                <a16:creationId xmlns:a16="http://schemas.microsoft.com/office/drawing/2014/main" id="{33102790-48FE-4324-93CA-2512C8613EC5}"/>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0F766E"/>
                </a:solidFill>
                <a:latin typeface="Helvetica Neue"/>
                <a:ea typeface="Helvetica Neue"/>
                <a:cs typeface="Helvetica Neue"/>
              </a:defRPr>
            </a:pPr>
            <a:r>
              <a:rPr sz="2550" b="1">
                <a:solidFill>
                  <a:srgbClr val="0F766E"/>
                </a:solidFill>
                <a:latin typeface="Helvetica Neue"/>
                <a:ea typeface="Helvetica Neue"/>
                <a:cs typeface="Helvetica Neue"/>
              </a:rPr>
              <a:t>Do not trust syntax alone. Predict the relation, execute the query, and verify its meaning.</a:t>
            </a:r>
          </a:p>
        </p:txBody>
      </p:sp>
      <p:sp>
        <p:nvSpPr>
          <p:cNvPr id="5" name="">
            <a:extLst xmlns:a="http://schemas.openxmlformats.org/drawingml/2006/main">
              <a:ext uri="{FF2B5EF4-FFF2-40B4-BE49-F238E27FC236}">
                <a16:creationId xmlns:a16="http://schemas.microsoft.com/office/drawing/2014/main" id="{520A8827-3306-4FE4-8758-4E7FF163801C}"/>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6" name="">
            <a:extLst xmlns:a="http://schemas.openxmlformats.org/drawingml/2006/main">
              <a:ext uri="{FF2B5EF4-FFF2-40B4-BE49-F238E27FC236}">
                <a16:creationId xmlns:a16="http://schemas.microsoft.com/office/drawing/2014/main" id="{35CAA060-0AC0-4748-8723-E5B139F1C135}"/>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does one output row represent?</a:t>
            </a:r>
          </a:p>
        </p:txBody>
      </p:sp>
      <p:sp>
        <p:nvSpPr>
          <p:cNvPr id="7" name="">
            <a:extLst xmlns:a="http://schemas.openxmlformats.org/drawingml/2006/main">
              <a:ext uri="{FF2B5EF4-FFF2-40B4-BE49-F238E27FC236}">
                <a16:creationId xmlns:a16="http://schemas.microsoft.com/office/drawing/2014/main" id="{B3A4C6E7-C511-4065-9A6D-7735D3177DC9}"/>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A8AC1B33-3BF5-43DF-A3E4-269F3BF04457}"/>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Why do rows repeat or disappear?</a:t>
            </a:r>
          </a:p>
        </p:txBody>
      </p:sp>
      <p:sp>
        <p:nvSpPr>
          <p:cNvPr id="9" name="">
            <a:extLst xmlns:a="http://schemas.openxmlformats.org/drawingml/2006/main">
              <a:ext uri="{FF2B5EF4-FFF2-40B4-BE49-F238E27FC236}">
                <a16:creationId xmlns:a16="http://schemas.microsoft.com/office/drawing/2014/main" id="{30077465-4AB3-4F26-B964-0FD4B9E99798}"/>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0" name="">
            <a:extLst xmlns:a="http://schemas.openxmlformats.org/drawingml/2006/main">
              <a:ext uri="{FF2B5EF4-FFF2-40B4-BE49-F238E27FC236}">
                <a16:creationId xmlns:a16="http://schemas.microsoft.com/office/drawing/2014/main" id="{49955675-0E64-4BEB-A8F2-D1588CB4D8AA}"/>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check could prove your interpretation wrong?</a:t>
            </a:r>
          </a:p>
        </p:txBody>
      </p:sp>
      <p:sp>
        <p:nvSpPr>
          <p:cNvPr id="11" name="">
            <a:extLst xmlns:a="http://schemas.openxmlformats.org/drawingml/2006/main">
              <a:ext uri="{FF2B5EF4-FFF2-40B4-BE49-F238E27FC236}">
                <a16:creationId xmlns:a16="http://schemas.microsoft.com/office/drawing/2014/main" id="{8810DB4D-A96E-472D-AEF8-B215547A78F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19</a:t>
            </a:r>
          </a:p>
        </p:txBody>
      </p:sp>
    </p:spTree>
    <p:extLst>
      <p:ext uri="{BB962C8B-B14F-4D97-AF65-F5344CB8AC3E}">
        <p14:creationId xmlns:p14="http://schemas.microsoft.com/office/powerpoint/2010/main" val="4029219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2026-08-09T04:11:11.9800000Z</dcterms:created>
  <dcterms:modified xsi:type="dcterms:W3CDTF">2026-08-09T04:11:11.9800000Z</dcterms:modified>
</coreProperties>
</file>