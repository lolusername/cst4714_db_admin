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8e4545725d246ba" /><Relationship Type="http://schemas.openxmlformats.org/officeDocument/2006/relationships/extended-properties" Target="/docProps/app.xml" Id="Rb012296aa4594fb0" /><Relationship Type="http://schemas.openxmlformats.org/officeDocument/2006/relationships/officeDocument" Target="/ppt/presentation.xml" Id="Ra6164a55f8c44ecd" /></Relationships>
</file>

<file path=ppt/presentation.xml><?xml version="1.0" encoding="utf-8"?>
<p:presentation xmlns:p="http://schemas.openxmlformats.org/presentationml/2006/main">
  <p:sldMasterIdLst>
    <p:sldMasterId xmlns:r="http://schemas.openxmlformats.org/officeDocument/2006/relationships" id="2147483648" r:id="Rc8cc994c0ea64bc9"/>
  </p:sldMasterIdLst>
  <p:notesMasterIdLst>
    <p:notesMasterId xmlns:r="http://schemas.openxmlformats.org/officeDocument/2006/relationships" r:id="R4beec179700c4af5"/>
  </p:notesMasterIdLst>
  <p:sldIdLst>
    <p:sldId xmlns:r="http://schemas.openxmlformats.org/officeDocument/2006/relationships" id="256" r:id="R83767b036a254f7c"/>
    <p:sldId xmlns:r="http://schemas.openxmlformats.org/officeDocument/2006/relationships" id="257" r:id="Rf04952481c7f49d8"/>
    <p:sldId xmlns:r="http://schemas.openxmlformats.org/officeDocument/2006/relationships" id="258" r:id="Rf4bd5b59b36e4667"/>
    <p:sldId xmlns:r="http://schemas.openxmlformats.org/officeDocument/2006/relationships" id="259" r:id="R4f0c8a4b25724e6f"/>
    <p:sldId xmlns:r="http://schemas.openxmlformats.org/officeDocument/2006/relationships" id="260" r:id="Rf0bc8da7bf954980"/>
    <p:sldId xmlns:r="http://schemas.openxmlformats.org/officeDocument/2006/relationships" id="261" r:id="R06a4b1045dc24742"/>
    <p:sldId xmlns:r="http://schemas.openxmlformats.org/officeDocument/2006/relationships" id="262" r:id="Rda2a1d593a834c2c"/>
    <p:sldId xmlns:r="http://schemas.openxmlformats.org/officeDocument/2006/relationships" id="263" r:id="Rf642cc9ebc654725"/>
    <p:sldId xmlns:r="http://schemas.openxmlformats.org/officeDocument/2006/relationships" id="264" r:id="Rd94846934d1b4731"/>
    <p:sldId xmlns:r="http://schemas.openxmlformats.org/officeDocument/2006/relationships" id="265" r:id="Ra8c8cc6042ba4e62"/>
    <p:sldId xmlns:r="http://schemas.openxmlformats.org/officeDocument/2006/relationships" id="266" r:id="Re45a23b2a7d24ca8"/>
    <p:sldId xmlns:r="http://schemas.openxmlformats.org/officeDocument/2006/relationships" id="267" r:id="R74137c6c0fe3409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6fa95b3fcb74b58" /><Relationship Type="http://schemas.openxmlformats.org/officeDocument/2006/relationships/slideMaster" Target="/ppt/slideMasters/slideMaster1.xml" Id="Rc8cc994c0ea64bc9" /><Relationship Type="http://schemas.openxmlformats.org/officeDocument/2006/relationships/notesMaster" Target="/ppt/notesMasters/notesMaster1.xml" Id="R4beec179700c4af5" /><Relationship Type="http://schemas.openxmlformats.org/officeDocument/2006/relationships/presProps" Target="/ppt/presProps.xml" Id="R0dfc0c294e064f05" /><Relationship Type="http://schemas.openxmlformats.org/officeDocument/2006/relationships/tableStyles" Target="/ppt/tableStyles.xml" Id="Ra68120491fb74538" /><Relationship Type="http://schemas.openxmlformats.org/officeDocument/2006/relationships/slide" Target="/ppt/slides/slide1.xml" Id="R83767b036a254f7c" /><Relationship Type="http://schemas.openxmlformats.org/officeDocument/2006/relationships/slide" Target="/ppt/slides/slide2.xml" Id="Rf04952481c7f49d8" /><Relationship Type="http://schemas.openxmlformats.org/officeDocument/2006/relationships/slide" Target="/ppt/slides/slide3.xml" Id="Rf4bd5b59b36e4667" /><Relationship Type="http://schemas.openxmlformats.org/officeDocument/2006/relationships/slide" Target="/ppt/slides/slide4.xml" Id="R4f0c8a4b25724e6f" /><Relationship Type="http://schemas.openxmlformats.org/officeDocument/2006/relationships/slide" Target="/ppt/slides/slide5.xml" Id="Rf0bc8da7bf954980" /><Relationship Type="http://schemas.openxmlformats.org/officeDocument/2006/relationships/slide" Target="/ppt/slides/slide6.xml" Id="R06a4b1045dc24742" /><Relationship Type="http://schemas.openxmlformats.org/officeDocument/2006/relationships/slide" Target="/ppt/slides/slide7.xml" Id="Rda2a1d593a834c2c" /><Relationship Type="http://schemas.openxmlformats.org/officeDocument/2006/relationships/slide" Target="/ppt/slides/slide8.xml" Id="Rf642cc9ebc654725" /><Relationship Type="http://schemas.openxmlformats.org/officeDocument/2006/relationships/slide" Target="/ppt/slides/slide9.xml" Id="Rd94846934d1b4731" /><Relationship Type="http://schemas.openxmlformats.org/officeDocument/2006/relationships/slide" Target="/ppt/slides/slide10.xml" Id="Ra8c8cc6042ba4e62" /><Relationship Type="http://schemas.openxmlformats.org/officeDocument/2006/relationships/slide" Target="/ppt/slides/slide11.xml" Id="Re45a23b2a7d24ca8" /><Relationship Type="http://schemas.openxmlformats.org/officeDocument/2006/relationships/slide" Target="/ppt/slides/slide12.xml" Id="R74137c6c0fe3409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7676bdffd8a457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cca80b5070f4dad" /><Relationship Type="http://schemas.openxmlformats.org/officeDocument/2006/relationships/notesMaster" Target="/ppt/notesMasters/notesMaster1.xml" Id="Rc77ee1d7246941ac" /></Relationships>
</file>

<file path=ppt/notesSlides/_rels/notesSlide2.xml.rels>&#65279;<?xml version="1.0" encoding="utf-8"?><Relationships xmlns="http://schemas.openxmlformats.org/package/2006/relationships"><Relationship Type="http://schemas.openxmlformats.org/officeDocument/2006/relationships/slide" Target="/ppt/slides/slide2.xml" Id="R53dc9ecd0cd94557" /><Relationship Type="http://schemas.openxmlformats.org/officeDocument/2006/relationships/notesMaster" Target="/ppt/notesMasters/notesMaster1.xml" Id="Rabd7124986944d87" /></Relationships>
</file>

<file path=ppt/notesSlides/_rels/notesSlide3.xml.rels>&#65279;<?xml version="1.0" encoding="utf-8"?><Relationships xmlns="http://schemas.openxmlformats.org/package/2006/relationships"><Relationship Type="http://schemas.openxmlformats.org/officeDocument/2006/relationships/slide" Target="/ppt/slides/slide3.xml" Id="R34ef9d9084344682" /><Relationship Type="http://schemas.openxmlformats.org/officeDocument/2006/relationships/notesMaster" Target="/ppt/notesMasters/notesMaster1.xml" Id="Recf397d9fdd94c57" /></Relationships>
</file>

<file path=ppt/notesSlides/_rels/notesSlide4.xml.rels>&#65279;<?xml version="1.0" encoding="utf-8"?><Relationships xmlns="http://schemas.openxmlformats.org/package/2006/relationships"><Relationship Type="http://schemas.openxmlformats.org/officeDocument/2006/relationships/slide" Target="/ppt/slides/slide4.xml" Id="R4e086cee4b3b4383" /><Relationship Type="http://schemas.openxmlformats.org/officeDocument/2006/relationships/notesMaster" Target="/ppt/notesMasters/notesMaster1.xml" Id="R00d0d8f8a5f74500" /></Relationships>
</file>

<file path=ppt/notesSlides/_rels/notesSlide5.xml.rels>&#65279;<?xml version="1.0" encoding="utf-8"?><Relationships xmlns="http://schemas.openxmlformats.org/package/2006/relationships"><Relationship Type="http://schemas.openxmlformats.org/officeDocument/2006/relationships/slide" Target="/ppt/slides/slide5.xml" Id="Ra2ff737945fc4c2f" /><Relationship Type="http://schemas.openxmlformats.org/officeDocument/2006/relationships/notesMaster" Target="/ppt/notesMasters/notesMaster1.xml" Id="Rce566f96358a4d17" /></Relationships>
</file>

<file path=ppt/notesSlides/_rels/notesSlide6.xml.rels>&#65279;<?xml version="1.0" encoding="utf-8"?><Relationships xmlns="http://schemas.openxmlformats.org/package/2006/relationships"><Relationship Type="http://schemas.openxmlformats.org/officeDocument/2006/relationships/slide" Target="/ppt/slides/slide6.xml" Id="Ra8357fbd9a7b4a46" /><Relationship Type="http://schemas.openxmlformats.org/officeDocument/2006/relationships/notesMaster" Target="/ppt/notesMasters/notesMaster1.xml" Id="R20a3fc404b194de1" /></Relationships>
</file>

<file path=ppt/notesSlides/_rels/notesSlide7.xml.rels>&#65279;<?xml version="1.0" encoding="utf-8"?><Relationships xmlns="http://schemas.openxmlformats.org/package/2006/relationships"><Relationship Type="http://schemas.openxmlformats.org/officeDocument/2006/relationships/slide" Target="/ppt/slides/slide7.xml" Id="R285b9f6b38634f15" /><Relationship Type="http://schemas.openxmlformats.org/officeDocument/2006/relationships/notesMaster" Target="/ppt/notesMasters/notesMaster1.xml" Id="Rd8767ae34c554b98" /></Relationships>
</file>

<file path=ppt/notesSlides/_rels/notesSlide8.xml.rels>&#65279;<?xml version="1.0" encoding="utf-8"?><Relationships xmlns="http://schemas.openxmlformats.org/package/2006/relationships"><Relationship Type="http://schemas.openxmlformats.org/officeDocument/2006/relationships/slide" Target="/ppt/slides/slide8.xml" Id="Rebc1f18dec8d4b87" /><Relationship Type="http://schemas.openxmlformats.org/officeDocument/2006/relationships/notesMaster" Target="/ppt/notesMasters/notesMaster1.xml" Id="Re59abb29631a4014" /></Relationships>
</file>

<file path=ppt/notesSlides/_rels/notesSlide9.xml.rels>&#65279;<?xml version="1.0" encoding="utf-8"?><Relationships xmlns="http://schemas.openxmlformats.org/package/2006/relationships"><Relationship Type="http://schemas.openxmlformats.org/officeDocument/2006/relationships/slide" Target="/ppt/slides/slide9.xml" Id="Ra4e757d7897643eb" /><Relationship Type="http://schemas.openxmlformats.org/officeDocument/2006/relationships/notesMaster" Target="/ppt/notesMasters/notesMaster1.xml" Id="R067aa9e80a9748f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1850eb340a94792" /><Relationship Type="http://schemas.openxmlformats.org/officeDocument/2006/relationships/notesMaster" Target="/ppt/notesMasters/notesMaster1.xml" Id="Rf4329da1fa3a4a7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8bd26b9c92f4df0" /><Relationship Type="http://schemas.openxmlformats.org/officeDocument/2006/relationships/notesMaster" Target="/ppt/notesMasters/notesMaster1.xml" Id="R625f43500c4a45a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579798fb25549b0" /><Relationship Type="http://schemas.openxmlformats.org/officeDocument/2006/relationships/notesMaster" Target="/ppt/notesMasters/notesMaster1.xml" Id="R1267c7097b79419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week introduces polyglot persistence through an incident rather than a product tour. A system may use PostgreSQL for authoritative transactional facts and MongoDB for a read-optimized projection or flexible event detail. That can fit different workloads, but it creates synchronization, identity, observability, and recovery obligations.</a:t>
            </a:r>
          </a:p>
          <a:p xmlns:a="http://schemas.openxmlformats.org/drawingml/2006/main">
            <a:r>
              <a:t/>
            </a:r>
          </a:p>
          <a:p xmlns:a="http://schemas.openxmlformats.org/drawingml/2006/main">
            <a:r>
              <a:t>Our resident portal and staff dashboard disagree about one ticket. You will investigate where the update stopped, choose a repair that respects ownership and idempotency, verify beyond one record, and write a concise workplace update. The second class applies the same evidence discipline to the highest-risk gap in your final project.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polyglot system uses different data technologies for distinct responsibilities. PostgreSQL might own users, permissions, and authoritative ticket state, while MongoDB stores a read-optimized ticket projection. The design is justified only when the workload benefit is concrete.</a:t>
            </a:r>
          </a:p>
          <a:p xmlns:a="http://schemas.openxmlformats.org/drawingml/2006/main">
            <a:r>
              <a:t/>
            </a:r>
          </a:p>
          <a:p xmlns:a="http://schemas.openxmlformats.org/drawingml/2006/main">
            <a:r>
              <a:t>A second database also creates another credential, network path, schema or validator, query plan, monitoring surface, backup scope, and failure combination. A small system should prefer one suitable database when it can meet the workload. Choosing one platform is not less advanced. It can be the stronger engineering decision when cross-store consistency would add risk without measurable value.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naive synchronous dual write asks an application to update PostgreSQL and MongoDB as two separate remote actions. If the first succeeds and the second fails, the system disagrees. Reversing the order only reverses the partial-failure direction.</a:t>
            </a:r>
          </a:p>
          <a:p xmlns:a="http://schemas.openxmlformats.org/drawingml/2006/main">
            <a:r>
              <a:t/>
            </a:r>
          </a:p>
          <a:p xmlns:a="http://schemas.openxmlformats.org/drawingml/2006/main">
            <a:r>
              <a:t>A transactional outbox writes the authoritative ticket change and an event row in the same PostgreSQL transaction. A relay later publishes that event, and a consumer updates the MongoDB projection. This removes the gap between committing the source fact and recording an event to publish. It does not guarantee exactly-once end-to-end behavior. The relay or consumer can retry, messages can arrive more than once or out of order, and the projection can lag.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At-least-once delivery means an event may be delivered more than once. If the consumer increments a value or appends a duplicate on every delivery, retries can corrupt the projection. A stable event identifier can detect duplicate processing, and a stable aggregate identifier can target the correct derived document.</a:t>
            </a:r>
          </a:p>
          <a:p xmlns:a="http://schemas.openxmlformats.org/drawingml/2006/main">
            <a:r>
              <a:t/>
            </a:r>
          </a:p>
          <a:p xmlns:a="http://schemas.openxmlformats.org/drawingml/2006/main">
            <a:r>
              <a:t>Source versioning protects ordering. The consumer can apply an event only when its source version is newer than the version already stored. That turns duplicate and old deliveries into no-ops. Even then, progress records and reconciliation are required because a paused consumer or missing partition can leave derived state stale without producing a visible application error.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Begin with the authoritative source. Query the ticket by stable identifier and record status, source version, and update time. Then inspect the outbox for the event generated by that same transaction. A published timestamp supports that the relay sent it, but it does not prove downstream application.</a:t>
            </a:r>
          </a:p>
          <a:p xmlns:a="http://schemas.openxmlformats.org/drawingml/2006/main">
            <a:r>
              <a:t/>
            </a:r>
          </a:p>
          <a:p xmlns:a="http://schemas.openxmlformats.org/drawingml/2006/main">
            <a:r>
              <a:t>Next inspect consumer logs or checkpoints for the stable event identifier. Finally, query the derived MongoDB document for source version and last event identifier. The first mismatch locates the propagation boundary. Do not stop after one record. Determine which queue, time window, tenant, or partition shares the same consumer state so verification covers the probable incident scope.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PostgreSQL shows ticket 1008 resolved at source version 17. That is the authoritative state. The outbox contains event `evt-1008-17` and a published time, which rules out a missing source event. It does not prove the consumer changed MongoDB.</a:t>
            </a:r>
          </a:p>
          <a:p xmlns:a="http://schemas.openxmlformats.org/drawingml/2006/main">
            <a:r>
              <a:t/>
            </a:r>
          </a:p>
          <a:p xmlns:a="http://schemas.openxmlformats.org/drawingml/2006/main">
            <a:r>
              <a:t>The consumer received the event, timed out while writing the projection, queued a retry, and then paused because its database credential expired. MongoDB still contains version 16 and the previous event identifier. Together, these observations support a propagation failure after receipt. They do not support manually changing both databases or assuming only ticket 1008 is affected.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the incident lab individually from the supplied evidence packet. First build the timeline and distinguish observed facts from inference. Name PostgreSQL as the authoritative owner of ticket status, identify the committed version, confirm event creation and publication, locate the consumer failure, and compare the stored MongoDB version.</a:t>
            </a:r>
          </a:p>
          <a:p xmlns:a="http://schemas.openxmlformats.org/drawingml/2006/main">
            <a:r>
              <a:t/>
            </a:r>
          </a:p>
          <a:p xmlns:a="http://schemas.openxmlformats.org/drawingml/2006/main">
            <a:r>
              <a:t>Recommend restoring the consumer credential and replaying or resuming the idempotent event path under the version rule. Include five verification checks and one containment or rollback action. Finish with a short incident update written for teammates and stakeholders. Avoid blame, unsupported certainty, and product marketing language. Submit one report containing every section.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repair should preserve the architecture's ownership rule. Restore the consumer's appropriately scoped database access, then replay the recorded event or resume the retry worker through the normal handler. The handler's version condition should apply version 17 once and ignore duplicate or older deliveries.</a:t>
            </a:r>
          </a:p>
          <a:p xmlns:a="http://schemas.openxmlformats.org/drawingml/2006/main">
            <a:r>
              <a:t/>
            </a:r>
          </a:p>
          <a:p xmlns:a="http://schemas.openxmlformats.org/drawingml/2006/main">
            <a:r>
              <a:t>Manually changing both databases creates an untracked third path and can overwrite newer state. Replaying every event from the beginning creates unnecessary load and risk before the incident scope is known. Verification must cover the repaired record, retry queue, duplicate behavior, consumer lag, and a broader affected partition. If results are unexpected, pause the consumer and preserve evidence before making additional changes.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second class turns incident discipline toward the final project. A cloud connection can fail during a demonstration because of network access, DNS, TLS, a paused service, an expired credential, or a local environment. If live success is the only evidence, the presentation is fragile and the technical claim is underspecified.</a:t>
            </a:r>
          </a:p>
          <a:p xmlns:a="http://schemas.openxmlformats.org/drawingml/2006/main">
            <a:r>
              <a:t/>
            </a:r>
          </a:p>
          <a:p xmlns:a="http://schemas.openxmlformats.org/drawingml/2006/main">
            <a:r>
              <a:t>A strong project includes prepared, redacted evidence another person can inspect: schema or document shape, meaningful query output, an expected denial or invalid write, before-and-after plan evidence, backup artifact metadata, separate restore checks, and explicit limitations. Today you will find the highest-risk missing part of that chain and complete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Begin with the model. Another person should be able to state what one row or document represents, how identity works, how one relationship is represented, and which invalid state the database refuses. Then show one meaningful read and one write tied to the workload, including expected and observed results.</a:t>
            </a:r>
          </a:p>
          <a:p xmlns:a="http://schemas.openxmlformats.org/drawingml/2006/main">
            <a:r>
              <a:t/>
            </a:r>
          </a:p>
          <a:p xmlns:a="http://schemas.openxmlformats.org/drawingml/2006/main">
            <a:r>
              <a:t>Protection evidence should use the intended identity or rule and include an expected denial or invalid write, not just an administrator success. Operations evidence should cover a performance decision or recovery procedure with visible mechanism, verification, and limitation. The strongest next action is usually completing one missing evidence chain rather than adding another feature.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 individually from the canonical final-project page and rubric. Do not copy requirements from this slide into a new assignment and do not create a separate Week 14 submission. Audit the evidence you already have, then identify the one gap most likely to make your project claim hard to trust or demonstrate.</a:t>
            </a:r>
          </a:p>
          <a:p xmlns:a="http://schemas.openxmlformats.org/drawingml/2006/main">
            <a:r>
              <a:t/>
            </a:r>
          </a:p>
          <a:p xmlns:a="http://schemas.openxmlformats.org/drawingml/2006/main">
            <a:r>
              <a:t>Complete that item in the existing project package. It may be a model explanation, expected-denial test, before-and-after plan, separate restore verification, or safe run order. Redact secrets and private account details. Prepare a static or recorded fallback for any cloud-dependent evidence. The purpose is depth and reliability, not adding last-minute scope.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week showed why multiple databases multiply obligations. Every duplicated fact needs one authoritative owner, a propagation direction, acceptable lag, stable identity, idempotent handling, reconciliation, and recovery order. A transactional outbox closes one source-update gap, but delivery, retries, consumer credentials, lag, and verification still matter.</a:t>
            </a:r>
          </a:p>
          <a:p xmlns:a="http://schemas.openxmlformats.org/drawingml/2006/main">
            <a:r>
              <a:t/>
            </a:r>
          </a:p>
          <a:p xmlns:a="http://schemas.openxmlformats.org/drawingml/2006/main">
            <a:r>
              <a:t>Incident response follows stable identifiers from authoritative commit through outbox, relay, consumer, and projection. A safe repair restores the normal path and verifies a broader scope. The final-project clinic applies the same principle: do not add features when one weak evidence chain threatens the whole claim. Next week we will synthesize the course and translate that evidence into portfolio and interview language.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318f271e7ce463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3f5303c2bbc42ec" /><Relationship Type="http://schemas.openxmlformats.org/officeDocument/2006/relationships/slideLayout" Target="/ppt/slideLayouts/slideLayout1.xml" Id="R614cc2290da64c4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14cc2290da64c4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e35c3d6fe3542a7" /><Relationship Type="http://schemas.openxmlformats.org/officeDocument/2006/relationships/notesSlide" Target="/ppt/notesSlides/notesSlide1.xml" Id="R412af2d51200415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bd28b7ccd204985" /><Relationship Type="http://schemas.openxmlformats.org/officeDocument/2006/relationships/notesSlide" Target="/ppt/notesSlides/notesSlide2.xml" Id="R0b613198b5124c0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d31166bfd0a4baf" /><Relationship Type="http://schemas.openxmlformats.org/officeDocument/2006/relationships/notesSlide" Target="/ppt/notesSlides/notesSlide3.xml" Id="R5e8a743c002f490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3fdabd8868d4b3e" /><Relationship Type="http://schemas.openxmlformats.org/officeDocument/2006/relationships/notesSlide" Target="/ppt/notesSlides/notesSlide4.xml" Id="R0520e4b0ddc34b8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2dcd74b7d114f29" /><Relationship Type="http://schemas.openxmlformats.org/officeDocument/2006/relationships/notesSlide" Target="/ppt/notesSlides/notesSlide5.xml" Id="R39986d8fa1d544a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4ad43e720694f04" /><Relationship Type="http://schemas.openxmlformats.org/officeDocument/2006/relationships/notesSlide" Target="/ppt/notesSlides/notesSlide6.xml" Id="R96b4f425476b42e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f1ac13d2f474a0f" /><Relationship Type="http://schemas.openxmlformats.org/officeDocument/2006/relationships/notesSlide" Target="/ppt/notesSlides/notesSlide7.xml" Id="R1447c5b338d24d7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d51e8723cee4517" /><Relationship Type="http://schemas.openxmlformats.org/officeDocument/2006/relationships/notesSlide" Target="/ppt/notesSlides/notesSlide8.xml" Id="Rd6ac0e51da694d7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cb564c4e0ed466f" /><Relationship Type="http://schemas.openxmlformats.org/officeDocument/2006/relationships/notesSlide" Target="/ppt/notesSlides/notesSlide9.xml" Id="R740f742e86e744e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92a4fcd8d984284" /><Relationship Type="http://schemas.openxmlformats.org/officeDocument/2006/relationships/notesSlide" Target="/ppt/notesSlides/notesSlide10.xml" Id="R64460f2f969e43e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1d92b2d13704f8f" /><Relationship Type="http://schemas.openxmlformats.org/officeDocument/2006/relationships/notesSlide" Target="/ppt/notesSlides/notesSlide11.xml" Id="R35124940c4bd476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03b47aab3554f99" /><Relationship Type="http://schemas.openxmlformats.org/officeDocument/2006/relationships/notesSlide" Target="/ppt/notesSlides/notesSlide12.xml" Id="R1e861d5326d04f37" /></Relationships>
</file>

<file path=ppt/slides/slide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78D0E5C-863C-49C1-B395-A28FFC7B516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
            <a:extLst xmlns:a="http://schemas.openxmlformats.org/drawingml/2006/main">
              <a:ext uri="{FF2B5EF4-FFF2-40B4-BE49-F238E27FC236}">
                <a16:creationId xmlns:a16="http://schemas.microsoft.com/office/drawing/2014/main" id="{0D9BBCD5-D7D6-4D65-9953-DAC7916A981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3" name="">
            <a:extLst xmlns:a="http://schemas.openxmlformats.org/drawingml/2006/main">
              <a:ext uri="{FF2B5EF4-FFF2-40B4-BE49-F238E27FC236}">
                <a16:creationId xmlns:a16="http://schemas.microsoft.com/office/drawing/2014/main" id="{88363E99-C67E-4E3C-AC45-D785CE35F575}"/>
              </a:ext>
            </a:extLst>
          </p:cNvPr>
          <p:cNvSpPr>
            <a:spLocks xmlns:a="http://schemas.openxmlformats.org/drawingml/2006/main" noGrp="1"/>
          </p:cNvSpPr>
          <p:nvPr/>
        </p:nvSpPr>
        <p:spPr>
          <a:xfrm xmlns:a="http://schemas.openxmlformats.org/drawingml/2006/main">
            <a:off x="685800" y="523875"/>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350" b="1">
                <a:solidFill>
                  <a:srgbClr val="15803D"/>
                </a:solidFill>
                <a:latin typeface="Helvetica Neue"/>
                <a:ea typeface="Helvetica Neue"/>
                <a:cs typeface="Helvetica Neue"/>
              </a:defRPr>
            </a:pPr>
            <a:r>
              <a:rPr sz="1350" b="1">
                <a:solidFill>
                  <a:srgbClr val="15803D"/>
                </a:solidFill>
                <a:latin typeface="Helvetica Neue"/>
                <a:ea typeface="Helvetica Neue"/>
                <a:cs typeface="Helvetica Neue"/>
              </a:rPr>
              <a:t>WEEK 14</a:t>
            </a:r>
          </a:p>
        </p:txBody>
      </p:sp>
      <p:sp>
        <p:nvSpPr>
          <p:cNvPr id="4" name="cover-title">
            <a:extLst xmlns:a="http://schemas.openxmlformats.org/drawingml/2006/main">
              <a:ext uri="{FF2B5EF4-FFF2-40B4-BE49-F238E27FC236}">
                <a16:creationId xmlns:a16="http://schemas.microsoft.com/office/drawing/2014/main" id="{E6D56963-0A05-4C72-9769-AA561CC99B3C}"/>
              </a:ext>
            </a:extLst>
          </p:cNvPr>
          <p:cNvSpPr>
            <a:spLocks xmlns:a="http://schemas.openxmlformats.org/drawingml/2006/main" noGrp="1"/>
          </p:cNvSpPr>
          <p:nvPr/>
        </p:nvSpPr>
        <p:spPr>
          <a:xfrm xmlns:a="http://schemas.openxmlformats.org/drawingml/2006/main">
            <a:off x="685800" y="1524000"/>
            <a:ext cx="85725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4350" b="1">
                <a:solidFill>
                  <a:srgbClr val="111827"/>
                </a:solidFill>
                <a:latin typeface="Helvetica Neue"/>
                <a:ea typeface="Helvetica Neue"/>
                <a:cs typeface="Helvetica Neue"/>
              </a:defRPr>
            </a:pPr>
            <a:r>
              <a:rPr sz="4350" b="1">
                <a:solidFill>
                  <a:srgbClr val="111827"/>
                </a:solidFill>
                <a:latin typeface="Helvetica Neue"/>
                <a:ea typeface="Helvetica Neue"/>
                <a:cs typeface="Helvetica Neue"/>
              </a:rPr>
              <a:t>Polyglot Incident Response and Final Project Clinic</a:t>
            </a:r>
          </a:p>
        </p:txBody>
      </p:sp>
      <p:sp>
        <p:nvSpPr>
          <p:cNvPr id="5" name="cover-subtitle">
            <a:extLst xmlns:a="http://schemas.openxmlformats.org/drawingml/2006/main">
              <a:ext uri="{FF2B5EF4-FFF2-40B4-BE49-F238E27FC236}">
                <a16:creationId xmlns:a16="http://schemas.microsoft.com/office/drawing/2014/main" id="{22D78456-823D-45F0-A55F-D8A1C37B8E17}"/>
              </a:ext>
            </a:extLst>
          </p:cNvPr>
          <p:cNvSpPr>
            <a:spLocks xmlns:a="http://schemas.openxmlformats.org/drawingml/2006/main" noGrp="1"/>
          </p:cNvSpPr>
          <p:nvPr/>
        </p:nvSpPr>
        <p:spPr>
          <a:xfrm xmlns:a="http://schemas.openxmlformats.org/drawingml/2006/main">
            <a:off x="723900" y="3905250"/>
            <a:ext cx="8096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875">
                <a:solidFill>
                  <a:srgbClr val="475569"/>
                </a:solidFill>
                <a:latin typeface="Helvetica Neue"/>
                <a:ea typeface="Helvetica Neue"/>
                <a:cs typeface="Helvetica Neue"/>
              </a:defRPr>
            </a:pPr>
            <a:r>
              <a:rPr sz="1875">
                <a:solidFill>
                  <a:srgbClr val="475569"/>
                </a:solidFill>
                <a:latin typeface="Helvetica Neue"/>
                <a:ea typeface="Helvetica Neue"/>
                <a:cs typeface="Helvetica Neue"/>
              </a:rPr>
              <a:t>Find the authoritative fact, trace propagation, repair safely, and communicate what the evidence supports.</a:t>
            </a:r>
          </a:p>
        </p:txBody>
      </p:sp>
      <p:sp>
        <p:nvSpPr>
          <p:cNvPr id="6" name="">
            <a:extLst xmlns:a="http://schemas.openxmlformats.org/drawingml/2006/main">
              <a:ext uri="{FF2B5EF4-FFF2-40B4-BE49-F238E27FC236}">
                <a16:creationId xmlns:a16="http://schemas.microsoft.com/office/drawing/2014/main" id="{74C501BE-8E98-436B-8D51-669EB1F56723}"/>
              </a:ext>
            </a:extLst>
          </p:cNvPr>
          <p:cNvSpPr>
            <a:spLocks xmlns:a="http://schemas.openxmlformats.org/drawingml/2006/main" noGrp="1"/>
          </p:cNvSpPr>
          <p:nvPr/>
        </p:nvSpPr>
        <p:spPr>
          <a:xfrm xmlns:a="http://schemas.openxmlformats.org/drawingml/2006/main">
            <a:off x="685800" y="61722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94A3B8"/>
                </a:solidFill>
                <a:latin typeface="Helvetica Neue"/>
                <a:ea typeface="Helvetica Neue"/>
                <a:cs typeface="Helvetica Neue"/>
              </a:defRPr>
            </a:pPr>
            <a:r>
              <a:rPr sz="975" b="1">
                <a:solidFill>
                  <a:srgbClr val="94A3B8"/>
                </a:solidFill>
                <a:latin typeface="Helvetica Neue"/>
                <a:ea typeface="Helvetica Neue"/>
                <a:cs typeface="Helvetica Neue"/>
              </a:rPr>
              <a:t>OPERATING CLOUD DATABASES</a:t>
            </a:r>
          </a:p>
        </p:txBody>
      </p:sp>
      <p:sp>
        <p:nvSpPr>
          <p:cNvPr id="7" name="">
            <a:extLst xmlns:a="http://schemas.openxmlformats.org/drawingml/2006/main">
              <a:ext uri="{FF2B5EF4-FFF2-40B4-BE49-F238E27FC236}">
                <a16:creationId xmlns:a16="http://schemas.microsoft.com/office/drawing/2014/main" id="{B791B7E4-B016-48EE-8E7C-1A699ABB3580}"/>
              </a:ext>
            </a:extLst>
          </p:cNvPr>
          <p:cNvSpPr>
            <a:spLocks xmlns:a="http://schemas.openxmlformats.org/drawingml/2006/main" noGrp="1"/>
          </p:cNvSpPr>
          <p:nvPr/>
        </p:nvSpPr>
        <p:spPr>
          <a:xfrm xmlns:a="http://schemas.openxmlformats.org/drawingml/2006/main">
            <a:off x="9525000" y="4667250"/>
            <a:ext cx="2095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400" b="1">
                <a:solidFill>
                  <a:srgbClr val="15803D"/>
                </a:solidFill>
                <a:latin typeface="Helvetica Neue"/>
                <a:ea typeface="Helvetica Neue"/>
                <a:cs typeface="Helvetica Neue"/>
              </a:defRPr>
            </a:pPr>
            <a:r>
              <a:rPr sz="8400" b="1">
                <a:solidFill>
                  <a:srgbClr val="15803D"/>
                </a:solidFill>
                <a:latin typeface="Helvetica Neue"/>
                <a:ea typeface="Helvetica Neue"/>
                <a:cs typeface="Helvetica Neue"/>
              </a:rPr>
              <a:t>14</a:t>
            </a:r>
          </a:p>
        </p:txBody>
      </p:sp>
    </p:spTree>
    <p:extLst>
      <p:ext uri="{BB962C8B-B14F-4D97-AF65-F5344CB8AC3E}">
        <p14:creationId xmlns:p14="http://schemas.microsoft.com/office/powerpoint/2010/main" val="351759203"/>
      </p:ext>
    </p:extLst>
  </p:cSld>
</p:sld>
</file>

<file path=ppt/slides/slide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4DF80283-2DA5-49A1-93F9-365BEF0E626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747F02DD-B58D-4141-B31A-BC1213C7C6BB}"/>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WEEK 14  /  CST4714</a:t>
            </a:r>
          </a:p>
        </p:txBody>
      </p:sp>
      <p:sp>
        <p:nvSpPr>
          <p:cNvPr id="3" name="slide-title">
            <a:extLst xmlns:a="http://schemas.openxmlformats.org/drawingml/2006/main">
              <a:ext uri="{FF2B5EF4-FFF2-40B4-BE49-F238E27FC236}">
                <a16:creationId xmlns:a16="http://schemas.microsoft.com/office/drawing/2014/main" id="{D0900F0A-F06F-4B3C-9961-7D92BF06A557}"/>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A second database must earn its operating cost</a:t>
            </a:r>
          </a:p>
        </p:txBody>
      </p:sp>
      <p:sp>
        <p:nvSpPr>
          <p:cNvPr id="4" name="">
            <a:extLst xmlns:a="http://schemas.openxmlformats.org/drawingml/2006/main">
              <a:ext uri="{FF2B5EF4-FFF2-40B4-BE49-F238E27FC236}">
                <a16:creationId xmlns:a16="http://schemas.microsoft.com/office/drawing/2014/main" id="{3B619D24-7B95-4E56-90E6-68E6D56A6551}"/>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CB19C65B-CFF8-46FF-9A36-E44BD0062B00}"/>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2</a:t>
            </a:r>
          </a:p>
        </p:txBody>
      </p:sp>
      <p:sp>
        <p:nvSpPr>
          <p:cNvPr id="6" name="primary-claim">
            <a:extLst xmlns:a="http://schemas.openxmlformats.org/drawingml/2006/main">
              <a:ext uri="{FF2B5EF4-FFF2-40B4-BE49-F238E27FC236}">
                <a16:creationId xmlns:a16="http://schemas.microsoft.com/office/drawing/2014/main" id="{79E054CD-12E6-4D8F-9204-0F86AE51AE47}"/>
              </a:ext>
            </a:extLst>
          </p:cNvPr>
          <p:cNvSpPr>
            <a:spLocks xmlns:a="http://schemas.openxmlformats.org/drawingml/2006/main" noGrp="1"/>
          </p:cNvSpPr>
          <p:nvPr/>
        </p:nvSpPr>
        <p:spPr>
          <a:xfrm xmlns:a="http://schemas.openxmlformats.org/drawingml/2006/main">
            <a:off x="723900" y="1676400"/>
            <a:ext cx="99060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925" b="1">
                <a:solidFill>
                  <a:srgbClr val="15803D"/>
                </a:solidFill>
                <a:latin typeface="Helvetica Neue"/>
                <a:ea typeface="Helvetica Neue"/>
                <a:cs typeface="Helvetica Neue"/>
              </a:defRPr>
            </a:pPr>
            <a:r>
              <a:rPr sz="2925" b="1">
                <a:solidFill>
                  <a:srgbClr val="15803D"/>
                </a:solidFill>
                <a:latin typeface="Helvetica Neue"/>
                <a:ea typeface="Helvetica Neue"/>
                <a:cs typeface="Helvetica Neue"/>
              </a:rPr>
              <a:t>Polyglot persistence is workload specialization, not a tool collection.</a:t>
            </a:r>
          </a:p>
        </p:txBody>
      </p:sp>
      <p:sp>
        <p:nvSpPr>
          <p:cNvPr id="7" name="">
            <a:extLst xmlns:a="http://schemas.openxmlformats.org/drawingml/2006/main">
              <a:ext uri="{FF2B5EF4-FFF2-40B4-BE49-F238E27FC236}">
                <a16:creationId xmlns:a16="http://schemas.microsoft.com/office/drawing/2014/main" id="{38B058DA-C821-4EB9-A0E0-A34BEC7B26B4}"/>
              </a:ext>
            </a:extLst>
          </p:cNvPr>
          <p:cNvSpPr>
            <a:spLocks xmlns:a="http://schemas.openxmlformats.org/drawingml/2006/main" noGrp="1"/>
          </p:cNvSpPr>
          <p:nvPr/>
        </p:nvSpPr>
        <p:spPr>
          <a:xfrm xmlns:a="http://schemas.openxmlformats.org/drawingml/2006/main">
            <a:off x="723900" y="3857625"/>
            <a:ext cx="3238500" cy="0"/>
          </a:xfrm>
          <a:prstGeom xmlns:a="http://schemas.openxmlformats.org/drawingml/2006/main" prst="line">
            <a:avLst/>
          </a:prstGeom>
          <a:noFill xmlns:a="http://schemas.openxmlformats.org/drawingml/2006/main"/>
          <a:ln xmlns:a="http://schemas.openxmlformats.org/drawingml/2006/main" w="38100">
            <a:solidFill>
              <a:srgbClr val="15803D"/>
            </a:solidFill>
            <a:prstDash val="solid"/>
          </a:ln>
        </p:spPr>
      </p:sp>
      <p:sp>
        <p:nvSpPr>
          <p:cNvPr id="8" name="">
            <a:extLst xmlns:a="http://schemas.openxmlformats.org/drawingml/2006/main">
              <a:ext uri="{FF2B5EF4-FFF2-40B4-BE49-F238E27FC236}">
                <a16:creationId xmlns:a16="http://schemas.microsoft.com/office/drawing/2014/main" id="{1766B47E-47C0-4442-B6B6-50B6DD64B9E8}"/>
              </a:ext>
            </a:extLst>
          </p:cNvPr>
          <p:cNvSpPr>
            <a:spLocks xmlns:a="http://schemas.openxmlformats.org/drawingml/2006/main" noGrp="1"/>
          </p:cNvSpPr>
          <p:nvPr/>
        </p:nvSpPr>
        <p:spPr>
          <a:xfrm xmlns:a="http://schemas.openxmlformats.org/drawingml/2006/main">
            <a:off x="72390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125" b="1">
                <a:solidFill>
                  <a:srgbClr val="15803D"/>
                </a:solidFill>
                <a:latin typeface="Helvetica Neue"/>
                <a:ea typeface="Helvetica Neue"/>
                <a:cs typeface="Helvetica Neue"/>
              </a:defRPr>
            </a:pPr>
            <a:r>
              <a:rPr sz="1125" b="1">
                <a:solidFill>
                  <a:srgbClr val="15803D"/>
                </a:solidFill>
                <a:latin typeface="Helvetica Neue"/>
                <a:ea typeface="Helvetica Neue"/>
                <a:cs typeface="Helvetica Neue"/>
              </a:rPr>
              <a:t>BENEFIT</a:t>
            </a:r>
          </a:p>
        </p:txBody>
      </p:sp>
      <p:sp>
        <p:nvSpPr>
          <p:cNvPr id="9" name="">
            <a:extLst xmlns:a="http://schemas.openxmlformats.org/drawingml/2006/main">
              <a:ext uri="{FF2B5EF4-FFF2-40B4-BE49-F238E27FC236}">
                <a16:creationId xmlns:a16="http://schemas.microsoft.com/office/drawing/2014/main" id="{77BD9100-199E-4ED9-921F-B74D26CFD30D}"/>
              </a:ext>
            </a:extLst>
          </p:cNvPr>
          <p:cNvSpPr>
            <a:spLocks xmlns:a="http://schemas.openxmlformats.org/drawingml/2006/main" noGrp="1"/>
          </p:cNvSpPr>
          <p:nvPr/>
        </p:nvSpPr>
        <p:spPr>
          <a:xfrm xmlns:a="http://schemas.openxmlformats.org/drawingml/2006/main">
            <a:off x="72390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One store serves a distinct model, access, scale, or lifecycle need.</a:t>
            </a:r>
          </a:p>
        </p:txBody>
      </p:sp>
      <p:sp>
        <p:nvSpPr>
          <p:cNvPr id="10" name="">
            <a:extLst xmlns:a="http://schemas.openxmlformats.org/drawingml/2006/main">
              <a:ext uri="{FF2B5EF4-FFF2-40B4-BE49-F238E27FC236}">
                <a16:creationId xmlns:a16="http://schemas.microsoft.com/office/drawing/2014/main" id="{A333ED30-C50D-4AAE-A897-685DA49508C2}"/>
              </a:ext>
            </a:extLst>
          </p:cNvPr>
          <p:cNvSpPr>
            <a:spLocks xmlns:a="http://schemas.openxmlformats.org/drawingml/2006/main" noGrp="1"/>
          </p:cNvSpPr>
          <p:nvPr/>
        </p:nvSpPr>
        <p:spPr>
          <a:xfrm xmlns:a="http://schemas.openxmlformats.org/drawingml/2006/main">
            <a:off x="4324350" y="3857625"/>
            <a:ext cx="3238500" cy="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1" name="">
            <a:extLst xmlns:a="http://schemas.openxmlformats.org/drawingml/2006/main">
              <a:ext uri="{FF2B5EF4-FFF2-40B4-BE49-F238E27FC236}">
                <a16:creationId xmlns:a16="http://schemas.microsoft.com/office/drawing/2014/main" id="{948DE90D-EE5F-431B-A510-C89BCF63D675}"/>
              </a:ext>
            </a:extLst>
          </p:cNvPr>
          <p:cNvSpPr>
            <a:spLocks xmlns:a="http://schemas.openxmlformats.org/drawingml/2006/main" noGrp="1"/>
          </p:cNvSpPr>
          <p:nvPr/>
        </p:nvSpPr>
        <p:spPr>
          <a:xfrm xmlns:a="http://schemas.openxmlformats.org/drawingml/2006/main">
            <a:off x="432435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125" b="1">
                <a:solidFill>
                  <a:srgbClr val="15803D"/>
                </a:solidFill>
                <a:latin typeface="Helvetica Neue"/>
                <a:ea typeface="Helvetica Neue"/>
                <a:cs typeface="Helvetica Neue"/>
              </a:defRPr>
            </a:pPr>
            <a:r>
              <a:rPr sz="1125" b="1">
                <a:solidFill>
                  <a:srgbClr val="15803D"/>
                </a:solidFill>
                <a:latin typeface="Helvetica Neue"/>
                <a:ea typeface="Helvetica Neue"/>
                <a:cs typeface="Helvetica Neue"/>
              </a:rPr>
              <a:t>BOUNDARY</a:t>
            </a:r>
          </a:p>
        </p:txBody>
      </p:sp>
      <p:sp>
        <p:nvSpPr>
          <p:cNvPr id="12" name="">
            <a:extLst xmlns:a="http://schemas.openxmlformats.org/drawingml/2006/main">
              <a:ext uri="{FF2B5EF4-FFF2-40B4-BE49-F238E27FC236}">
                <a16:creationId xmlns:a16="http://schemas.microsoft.com/office/drawing/2014/main" id="{67D9DA75-F61C-4E38-AD94-76BD1F9DF5AE}"/>
              </a:ext>
            </a:extLst>
          </p:cNvPr>
          <p:cNvSpPr>
            <a:spLocks xmlns:a="http://schemas.openxmlformats.org/drawingml/2006/main" noGrp="1"/>
          </p:cNvSpPr>
          <p:nvPr/>
        </p:nvSpPr>
        <p:spPr>
          <a:xfrm xmlns:a="http://schemas.openxmlformats.org/drawingml/2006/main">
            <a:off x="432435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Every fact has one authoritative owner and a defined derived copy.</a:t>
            </a:r>
          </a:p>
        </p:txBody>
      </p:sp>
      <p:sp>
        <p:nvSpPr>
          <p:cNvPr id="13" name="">
            <a:extLst xmlns:a="http://schemas.openxmlformats.org/drawingml/2006/main">
              <a:ext uri="{FF2B5EF4-FFF2-40B4-BE49-F238E27FC236}">
                <a16:creationId xmlns:a16="http://schemas.microsoft.com/office/drawing/2014/main" id="{B02AA460-284A-4A67-8306-D2EAC685E847}"/>
              </a:ext>
            </a:extLst>
          </p:cNvPr>
          <p:cNvSpPr>
            <a:spLocks xmlns:a="http://schemas.openxmlformats.org/drawingml/2006/main" noGrp="1"/>
          </p:cNvSpPr>
          <p:nvPr/>
        </p:nvSpPr>
        <p:spPr>
          <a:xfrm xmlns:a="http://schemas.openxmlformats.org/drawingml/2006/main">
            <a:off x="7924800" y="3857625"/>
            <a:ext cx="3238500" cy="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4" name="">
            <a:extLst xmlns:a="http://schemas.openxmlformats.org/drawingml/2006/main">
              <a:ext uri="{FF2B5EF4-FFF2-40B4-BE49-F238E27FC236}">
                <a16:creationId xmlns:a16="http://schemas.microsoft.com/office/drawing/2014/main" id="{8385F8C6-C7B0-4A60-ADC6-ECB48D8B80A8}"/>
              </a:ext>
            </a:extLst>
          </p:cNvPr>
          <p:cNvSpPr>
            <a:spLocks xmlns:a="http://schemas.openxmlformats.org/drawingml/2006/main" noGrp="1"/>
          </p:cNvSpPr>
          <p:nvPr/>
        </p:nvSpPr>
        <p:spPr>
          <a:xfrm xmlns:a="http://schemas.openxmlformats.org/drawingml/2006/main">
            <a:off x="792480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125" b="1">
                <a:solidFill>
                  <a:srgbClr val="15803D"/>
                </a:solidFill>
                <a:latin typeface="Helvetica Neue"/>
                <a:ea typeface="Helvetica Neue"/>
                <a:cs typeface="Helvetica Neue"/>
              </a:defRPr>
            </a:pPr>
            <a:r>
              <a:rPr sz="1125" b="1">
                <a:solidFill>
                  <a:srgbClr val="15803D"/>
                </a:solidFill>
                <a:latin typeface="Helvetica Neue"/>
                <a:ea typeface="Helvetica Neue"/>
                <a:cs typeface="Helvetica Neue"/>
              </a:rPr>
              <a:t>OBLIGATION</a:t>
            </a:r>
          </a:p>
        </p:txBody>
      </p:sp>
      <p:sp>
        <p:nvSpPr>
          <p:cNvPr id="15" name="">
            <a:extLst xmlns:a="http://schemas.openxmlformats.org/drawingml/2006/main">
              <a:ext uri="{FF2B5EF4-FFF2-40B4-BE49-F238E27FC236}">
                <a16:creationId xmlns:a16="http://schemas.microsoft.com/office/drawing/2014/main" id="{FCC5F418-C1C9-477F-9F2E-6ED25172BA05}"/>
              </a:ext>
            </a:extLst>
          </p:cNvPr>
          <p:cNvSpPr>
            <a:spLocks xmlns:a="http://schemas.openxmlformats.org/drawingml/2006/main" noGrp="1"/>
          </p:cNvSpPr>
          <p:nvPr/>
        </p:nvSpPr>
        <p:spPr>
          <a:xfrm xmlns:a="http://schemas.openxmlformats.org/drawingml/2006/main">
            <a:off x="792480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Propagation, access, monitoring, backup, recovery, and cost now cross systems.</a:t>
            </a:r>
          </a:p>
        </p:txBody>
      </p:sp>
    </p:spTree>
    <p:extLst>
      <p:ext uri="{BB962C8B-B14F-4D97-AF65-F5344CB8AC3E}">
        <p14:creationId xmlns:p14="http://schemas.microsoft.com/office/powerpoint/2010/main" val="2046441818"/>
      </p:ext>
    </p:extLst>
  </p:cSld>
</p:sld>
</file>

<file path=ppt/slides/slide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9B85856F-7A78-4316-A280-32A1267FC0B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9ABF67A6-C22B-45A4-98BF-DF1EF16404AA}"/>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WEEK 14  /  CST4714</a:t>
            </a:r>
          </a:p>
        </p:txBody>
      </p:sp>
      <p:sp>
        <p:nvSpPr>
          <p:cNvPr id="3" name="slide-title">
            <a:extLst xmlns:a="http://schemas.openxmlformats.org/drawingml/2006/main">
              <a:ext uri="{FF2B5EF4-FFF2-40B4-BE49-F238E27FC236}">
                <a16:creationId xmlns:a16="http://schemas.microsoft.com/office/drawing/2014/main" id="{B8604628-EA45-4F2E-9504-3B5115F79065}"/>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A transactional outbox gives the change one commit boundary</a:t>
            </a:r>
          </a:p>
        </p:txBody>
      </p:sp>
      <p:sp>
        <p:nvSpPr>
          <p:cNvPr id="4" name="">
            <a:extLst xmlns:a="http://schemas.openxmlformats.org/drawingml/2006/main">
              <a:ext uri="{FF2B5EF4-FFF2-40B4-BE49-F238E27FC236}">
                <a16:creationId xmlns:a16="http://schemas.microsoft.com/office/drawing/2014/main" id="{08854225-90D6-4B05-9EEF-45C684C68A01}"/>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75CFDB0B-F7B6-4F29-9E69-C2B120C36638}"/>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3</a:t>
            </a:r>
          </a:p>
        </p:txBody>
      </p:sp>
      <p:sp>
        <p:nvSpPr>
          <p:cNvPr id="6" name="">
            <a:extLst xmlns:a="http://schemas.openxmlformats.org/drawingml/2006/main">
              <a:ext uri="{FF2B5EF4-FFF2-40B4-BE49-F238E27FC236}">
                <a16:creationId xmlns:a16="http://schemas.microsoft.com/office/drawing/2014/main" id="{4589ACB7-8B93-4D64-8407-206C583D9BCD}"/>
              </a:ext>
            </a:extLst>
          </p:cNvPr>
          <p:cNvSpPr>
            <a:spLocks xmlns:a="http://schemas.openxmlformats.org/drawingml/2006/main" noGrp="1"/>
          </p:cNvSpPr>
          <p:nvPr/>
        </p:nvSpPr>
        <p:spPr>
          <a:xfrm xmlns:a="http://schemas.openxmlformats.org/drawingml/2006/main">
            <a:off x="1905000" y="3119438"/>
            <a:ext cx="2857500" cy="0"/>
          </a:xfrm>
          <a:prstGeom xmlns:a="http://schemas.openxmlformats.org/drawingml/2006/main" prst="line">
            <a:avLst/>
          </a:prstGeom>
          <a:noFill xmlns:a="http://schemas.openxmlformats.org/drawingml/2006/main"/>
          <a:ln xmlns:a="http://schemas.openxmlformats.org/drawingml/2006/main" w="38100">
            <a:solidFill>
              <a:srgbClr val="15803D"/>
            </a:solidFill>
            <a:prstDash val="solid"/>
          </a:ln>
        </p:spPr>
      </p:sp>
      <p:sp>
        <p:nvSpPr>
          <p:cNvPr id="7" name="">
            <a:extLst xmlns:a="http://schemas.openxmlformats.org/drawingml/2006/main">
              <a:ext uri="{FF2B5EF4-FFF2-40B4-BE49-F238E27FC236}">
                <a16:creationId xmlns:a16="http://schemas.microsoft.com/office/drawing/2014/main" id="{82EC7C43-0B6D-42F6-8807-13A8C9ACE7F1}"/>
              </a:ext>
            </a:extLst>
          </p:cNvPr>
          <p:cNvSpPr>
            <a:spLocks xmlns:a="http://schemas.openxmlformats.org/drawingml/2006/main" noGrp="1"/>
          </p:cNvSpPr>
          <p:nvPr/>
        </p:nvSpPr>
        <p:spPr>
          <a:xfrm xmlns:a="http://schemas.openxmlformats.org/drawingml/2006/main">
            <a:off x="4762500" y="3119438"/>
            <a:ext cx="2667000" cy="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8" name="">
            <a:extLst xmlns:a="http://schemas.openxmlformats.org/drawingml/2006/main">
              <a:ext uri="{FF2B5EF4-FFF2-40B4-BE49-F238E27FC236}">
                <a16:creationId xmlns:a16="http://schemas.microsoft.com/office/drawing/2014/main" id="{FD0106E6-CEB6-4C79-8918-254B70FD0835}"/>
              </a:ext>
            </a:extLst>
          </p:cNvPr>
          <p:cNvSpPr>
            <a:spLocks xmlns:a="http://schemas.openxmlformats.org/drawingml/2006/main" noGrp="1"/>
          </p:cNvSpPr>
          <p:nvPr/>
        </p:nvSpPr>
        <p:spPr>
          <a:xfrm xmlns:a="http://schemas.openxmlformats.org/drawingml/2006/main">
            <a:off x="7429500" y="3119438"/>
            <a:ext cx="2976563" cy="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9" name="">
            <a:extLst xmlns:a="http://schemas.openxmlformats.org/drawingml/2006/main">
              <a:ext uri="{FF2B5EF4-FFF2-40B4-BE49-F238E27FC236}">
                <a16:creationId xmlns:a16="http://schemas.microsoft.com/office/drawing/2014/main" id="{C9AFF9CE-478A-47C6-91BE-E1030020C07B}"/>
              </a:ext>
            </a:extLst>
          </p:cNvPr>
          <p:cNvSpPr>
            <a:spLocks xmlns:a="http://schemas.openxmlformats.org/drawingml/2006/main" noGrp="1"/>
          </p:cNvSpPr>
          <p:nvPr/>
        </p:nvSpPr>
        <p:spPr>
          <a:xfrm xmlns:a="http://schemas.openxmlformats.org/drawingml/2006/main">
            <a:off x="619125" y="2428875"/>
            <a:ext cx="2571750" cy="1381125"/>
          </a:xfrm>
          <a:prstGeom xmlns:a="http://schemas.openxmlformats.org/drawingml/2006/main" prst="rect">
            <a:avLst/>
          </a:prstGeom>
          <a:solidFill xmlns:a="http://schemas.openxmlformats.org/drawingml/2006/main">
            <a:srgbClr val="15803D"/>
          </a:solidFill>
          <a:ln xmlns:a="http://schemas.openxmlformats.org/drawingml/2006/main" w="9525">
            <a:solidFill>
              <a:srgbClr val="15803D"/>
            </a:solidFill>
            <a:prstDash val="solid"/>
          </a:ln>
        </p:spPr>
        <p:txBody>
          <a:bodyPr xmlns:a="http://schemas.openxmlformats.org/drawingml/2006/main" lIns="95250" tIns="95250" rIns="95250" bIns="95250" anchor="ctr">
            <a:normAutofit fontScale="100000"/>
          </a:bodyPr>
          <a:lstStyle xmlns:a="http://schemas.openxmlformats.org/drawingml/2006/main"/>
          <a:p xmlns:a="http://schemas.openxmlformats.org/drawingml/2006/main">
            <a:pPr algn="ctr">
              <a:buNone/>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PostgreSQL</a:t>
            </a:r>
          </a:p>
          <a:p xmlns:a="http://schemas.openxmlformats.org/drawingml/2006/main">
            <a:pPr algn="ctr">
              <a:buNone/>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ticket + outbox</a:t>
            </a:r>
          </a:p>
        </p:txBody>
      </p:sp>
      <p:sp>
        <p:nvSpPr>
          <p:cNvPr id="10" name="">
            <a:extLst xmlns:a="http://schemas.openxmlformats.org/drawingml/2006/main">
              <a:ext uri="{FF2B5EF4-FFF2-40B4-BE49-F238E27FC236}">
                <a16:creationId xmlns:a16="http://schemas.microsoft.com/office/drawing/2014/main" id="{676A30AF-A603-43B4-8460-33AC4A23E7FF}"/>
              </a:ext>
            </a:extLst>
          </p:cNvPr>
          <p:cNvSpPr>
            <a:spLocks xmlns:a="http://schemas.openxmlformats.org/drawingml/2006/main" noGrp="1"/>
          </p:cNvSpPr>
          <p:nvPr/>
        </p:nvSpPr>
        <p:spPr>
          <a:xfrm xmlns:a="http://schemas.openxmlformats.org/drawingml/2006/main">
            <a:off x="619125" y="3905250"/>
            <a:ext cx="2571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125">
                <a:solidFill>
                  <a:srgbClr val="475569"/>
                </a:solidFill>
                <a:latin typeface="Helvetica Neue"/>
                <a:ea typeface="Helvetica Neue"/>
                <a:cs typeface="Helvetica Neue"/>
              </a:defRPr>
            </a:pPr>
            <a:r>
              <a:rPr sz="1125">
                <a:solidFill>
                  <a:srgbClr val="475569"/>
                </a:solidFill>
                <a:latin typeface="Helvetica Neue"/>
                <a:ea typeface="Helvetica Neue"/>
                <a:cs typeface="Helvetica Neue"/>
              </a:rPr>
              <a:t>one authoritative transaction</a:t>
            </a:r>
          </a:p>
        </p:txBody>
      </p:sp>
      <p:sp>
        <p:nvSpPr>
          <p:cNvPr id="11" name="">
            <a:extLst xmlns:a="http://schemas.openxmlformats.org/drawingml/2006/main">
              <a:ext uri="{FF2B5EF4-FFF2-40B4-BE49-F238E27FC236}">
                <a16:creationId xmlns:a16="http://schemas.microsoft.com/office/drawing/2014/main" id="{48C4B3F1-D9A3-4A00-85C2-F2C2A5496EE0}"/>
              </a:ext>
            </a:extLst>
          </p:cNvPr>
          <p:cNvSpPr>
            <a:spLocks xmlns:a="http://schemas.openxmlformats.org/drawingml/2006/main" noGrp="1"/>
          </p:cNvSpPr>
          <p:nvPr/>
        </p:nvSpPr>
        <p:spPr>
          <a:xfrm xmlns:a="http://schemas.openxmlformats.org/drawingml/2006/main">
            <a:off x="3857625" y="2571750"/>
            <a:ext cx="1809750" cy="1095375"/>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lIns="95250" tIns="95250" rIns="95250" bIns="95250" anchor="ctr">
            <a:normAutofit fontScale="100000"/>
          </a:bodyPr>
          <a:lstStyle xmlns:a="http://schemas.openxmlformats.org/drawingml/2006/main"/>
          <a:p xmlns:a="http://schemas.openxmlformats.org/drawingml/2006/main">
            <a:pPr algn="ctr">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Relay</a:t>
            </a:r>
          </a:p>
        </p:txBody>
      </p:sp>
      <p:sp>
        <p:nvSpPr>
          <p:cNvPr id="12" name="">
            <a:extLst xmlns:a="http://schemas.openxmlformats.org/drawingml/2006/main">
              <a:ext uri="{FF2B5EF4-FFF2-40B4-BE49-F238E27FC236}">
                <a16:creationId xmlns:a16="http://schemas.microsoft.com/office/drawing/2014/main" id="{3EEFD3B5-0489-4893-8092-D9B5302025AB}"/>
              </a:ext>
            </a:extLst>
          </p:cNvPr>
          <p:cNvSpPr>
            <a:spLocks xmlns:a="http://schemas.openxmlformats.org/drawingml/2006/main" noGrp="1"/>
          </p:cNvSpPr>
          <p:nvPr/>
        </p:nvSpPr>
        <p:spPr>
          <a:xfrm xmlns:a="http://schemas.openxmlformats.org/drawingml/2006/main">
            <a:off x="3857625" y="3762375"/>
            <a:ext cx="1809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125">
                <a:solidFill>
                  <a:srgbClr val="475569"/>
                </a:solidFill>
                <a:latin typeface="Helvetica Neue"/>
                <a:ea typeface="Helvetica Neue"/>
                <a:cs typeface="Helvetica Neue"/>
              </a:defRPr>
            </a:pPr>
            <a:r>
              <a:rPr sz="1125">
                <a:solidFill>
                  <a:srgbClr val="475569"/>
                </a:solidFill>
                <a:latin typeface="Helvetica Neue"/>
                <a:ea typeface="Helvetica Neue"/>
                <a:cs typeface="Helvetica Neue"/>
              </a:rPr>
              <a:t>publishes pending event</a:t>
            </a:r>
          </a:p>
        </p:txBody>
      </p:sp>
      <p:sp>
        <p:nvSpPr>
          <p:cNvPr id="13" name="">
            <a:extLst xmlns:a="http://schemas.openxmlformats.org/drawingml/2006/main">
              <a:ext uri="{FF2B5EF4-FFF2-40B4-BE49-F238E27FC236}">
                <a16:creationId xmlns:a16="http://schemas.microsoft.com/office/drawing/2014/main" id="{FB620639-E2DE-4B7C-83FA-D6BAE2D969FE}"/>
              </a:ext>
            </a:extLst>
          </p:cNvPr>
          <p:cNvSpPr>
            <a:spLocks xmlns:a="http://schemas.openxmlformats.org/drawingml/2006/main" noGrp="1"/>
          </p:cNvSpPr>
          <p:nvPr/>
        </p:nvSpPr>
        <p:spPr>
          <a:xfrm xmlns:a="http://schemas.openxmlformats.org/drawingml/2006/main">
            <a:off x="6477000" y="2571750"/>
            <a:ext cx="1905000" cy="1095375"/>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lIns="95250" tIns="95250" rIns="95250" bIns="95250" anchor="ctr">
            <a:normAutofit fontScale="100000"/>
          </a:bodyPr>
          <a:lstStyle xmlns:a="http://schemas.openxmlformats.org/drawingml/2006/main"/>
          <a:p xmlns:a="http://schemas.openxmlformats.org/drawingml/2006/main">
            <a:pPr algn="ctr">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Consumer</a:t>
            </a:r>
          </a:p>
        </p:txBody>
      </p:sp>
      <p:sp>
        <p:nvSpPr>
          <p:cNvPr id="14" name="">
            <a:extLst xmlns:a="http://schemas.openxmlformats.org/drawingml/2006/main">
              <a:ext uri="{FF2B5EF4-FFF2-40B4-BE49-F238E27FC236}">
                <a16:creationId xmlns:a16="http://schemas.microsoft.com/office/drawing/2014/main" id="{2BF95413-F074-4636-B6B6-42C0F8EF4245}"/>
              </a:ext>
            </a:extLst>
          </p:cNvPr>
          <p:cNvSpPr>
            <a:spLocks xmlns:a="http://schemas.openxmlformats.org/drawingml/2006/main" noGrp="1"/>
          </p:cNvSpPr>
          <p:nvPr/>
        </p:nvSpPr>
        <p:spPr>
          <a:xfrm xmlns:a="http://schemas.openxmlformats.org/drawingml/2006/main">
            <a:off x="6477000" y="3762375"/>
            <a:ext cx="1905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125">
                <a:solidFill>
                  <a:srgbClr val="475569"/>
                </a:solidFill>
                <a:latin typeface="Helvetica Neue"/>
                <a:ea typeface="Helvetica Neue"/>
                <a:cs typeface="Helvetica Neue"/>
              </a:defRPr>
            </a:pPr>
            <a:r>
              <a:rPr sz="1125">
                <a:solidFill>
                  <a:srgbClr val="475569"/>
                </a:solidFill>
                <a:latin typeface="Helvetica Neue"/>
                <a:ea typeface="Helvetica Neue"/>
                <a:cs typeface="Helvetica Neue"/>
              </a:rPr>
              <a:t>idempotent apply</a:t>
            </a:r>
          </a:p>
        </p:txBody>
      </p:sp>
      <p:sp>
        <p:nvSpPr>
          <p:cNvPr id="15" name="">
            <a:extLst xmlns:a="http://schemas.openxmlformats.org/drawingml/2006/main">
              <a:ext uri="{FF2B5EF4-FFF2-40B4-BE49-F238E27FC236}">
                <a16:creationId xmlns:a16="http://schemas.microsoft.com/office/drawing/2014/main" id="{DC88FA7C-09D4-4D7C-A3A8-5E0E2CF9C630}"/>
              </a:ext>
            </a:extLst>
          </p:cNvPr>
          <p:cNvSpPr>
            <a:spLocks xmlns:a="http://schemas.openxmlformats.org/drawingml/2006/main" noGrp="1"/>
          </p:cNvSpPr>
          <p:nvPr/>
        </p:nvSpPr>
        <p:spPr>
          <a:xfrm xmlns:a="http://schemas.openxmlformats.org/drawingml/2006/main">
            <a:off x="9191625" y="2428875"/>
            <a:ext cx="2428875" cy="1381125"/>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lIns="95250" tIns="95250" rIns="95250" bIns="95250" anchor="ctr">
            <a:normAutofit fontScale="100000"/>
          </a:bodyPr>
          <a:lstStyle xmlns:a="http://schemas.openxmlformats.org/drawingml/2006/main"/>
          <a:p xmlns:a="http://schemas.openxmlformats.org/drawingml/2006/main">
            <a:pPr algn="ctr">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MongoDB</a:t>
            </a:r>
          </a:p>
          <a:p xmlns:a="http://schemas.openxmlformats.org/drawingml/2006/main">
            <a:pPr algn="ctr">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read projection</a:t>
            </a:r>
          </a:p>
        </p:txBody>
      </p:sp>
      <p:sp>
        <p:nvSpPr>
          <p:cNvPr id="16" name="">
            <a:extLst xmlns:a="http://schemas.openxmlformats.org/drawingml/2006/main">
              <a:ext uri="{FF2B5EF4-FFF2-40B4-BE49-F238E27FC236}">
                <a16:creationId xmlns:a16="http://schemas.microsoft.com/office/drawing/2014/main" id="{F46F4B94-7723-41A1-9933-D5D85716D374}"/>
              </a:ext>
            </a:extLst>
          </p:cNvPr>
          <p:cNvSpPr>
            <a:spLocks xmlns:a="http://schemas.openxmlformats.org/drawingml/2006/main" noGrp="1"/>
          </p:cNvSpPr>
          <p:nvPr/>
        </p:nvSpPr>
        <p:spPr>
          <a:xfrm xmlns:a="http://schemas.openxmlformats.org/drawingml/2006/main">
            <a:off x="9191625" y="3905250"/>
            <a:ext cx="24288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125">
                <a:solidFill>
                  <a:srgbClr val="475569"/>
                </a:solidFill>
                <a:latin typeface="Helvetica Neue"/>
                <a:ea typeface="Helvetica Neue"/>
                <a:cs typeface="Helvetica Neue"/>
              </a:defRPr>
            </a:pPr>
            <a:r>
              <a:rPr sz="1125">
                <a:solidFill>
                  <a:srgbClr val="475569"/>
                </a:solidFill>
                <a:latin typeface="Helvetica Neue"/>
                <a:ea typeface="Helvetica Neue"/>
                <a:cs typeface="Helvetica Neue"/>
              </a:rPr>
              <a:t>derived state</a:t>
            </a:r>
          </a:p>
        </p:txBody>
      </p:sp>
      <p:sp>
        <p:nvSpPr>
          <p:cNvPr id="17" name="">
            <a:extLst xmlns:a="http://schemas.openxmlformats.org/drawingml/2006/main">
              <a:ext uri="{FF2B5EF4-FFF2-40B4-BE49-F238E27FC236}">
                <a16:creationId xmlns:a16="http://schemas.microsoft.com/office/drawing/2014/main" id="{8CC43E41-31F8-4E15-88D1-135E4672DAA8}"/>
              </a:ext>
            </a:extLst>
          </p:cNvPr>
          <p:cNvSpPr>
            <a:spLocks xmlns:a="http://schemas.openxmlformats.org/drawingml/2006/main" noGrp="1"/>
          </p:cNvSpPr>
          <p:nvPr/>
        </p:nvSpPr>
        <p:spPr>
          <a:xfrm xmlns:a="http://schemas.openxmlformats.org/drawingml/2006/main">
            <a:off x="895350" y="5667375"/>
            <a:ext cx="10382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350">
                <a:solidFill>
                  <a:srgbClr val="475569"/>
                </a:solidFill>
                <a:latin typeface="Helvetica Neue"/>
                <a:ea typeface="Helvetica Neue"/>
                <a:cs typeface="Helvetica Neue"/>
              </a:defRPr>
            </a:pPr>
            <a:r>
              <a:rPr sz="1350">
                <a:solidFill>
                  <a:srgbClr val="475569"/>
                </a:solidFill>
                <a:latin typeface="Helvetica Neue"/>
                <a:ea typeface="Helvetica Neue"/>
                <a:cs typeface="Helvetica Neue"/>
              </a:rPr>
              <a:t>The outbox closes the source update/event gap; delivery, retries, lag, and reconciliation still remain.</a:t>
            </a:r>
          </a:p>
        </p:txBody>
      </p:sp>
    </p:spTree>
    <p:extLst>
      <p:ext uri="{BB962C8B-B14F-4D97-AF65-F5344CB8AC3E}">
        <p14:creationId xmlns:p14="http://schemas.microsoft.com/office/powerpoint/2010/main" val="568468709"/>
      </p:ext>
    </p:extLst>
  </p:cSld>
</p:sld>
</file>

<file path=ppt/slides/slide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B6BFE55D-C474-46CE-9E7E-9FF07A3D3A3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35E0A319-83EF-4E5B-9071-9B18E7D4A6D7}"/>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WEEK 14  /  CST4714</a:t>
            </a:r>
          </a:p>
        </p:txBody>
      </p:sp>
      <p:sp>
        <p:nvSpPr>
          <p:cNvPr id="3" name="slide-title">
            <a:extLst xmlns:a="http://schemas.openxmlformats.org/drawingml/2006/main">
              <a:ext uri="{FF2B5EF4-FFF2-40B4-BE49-F238E27FC236}">
                <a16:creationId xmlns:a16="http://schemas.microsoft.com/office/drawing/2014/main" id="{6EC5C4CB-D0D1-4F06-8AA8-35B1989BB424}"/>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Delivery guarantees need stable identity and state transitions</a:t>
            </a:r>
          </a:p>
        </p:txBody>
      </p:sp>
      <p:sp>
        <p:nvSpPr>
          <p:cNvPr id="4" name="">
            <a:extLst xmlns:a="http://schemas.openxmlformats.org/drawingml/2006/main">
              <a:ext uri="{FF2B5EF4-FFF2-40B4-BE49-F238E27FC236}">
                <a16:creationId xmlns:a16="http://schemas.microsoft.com/office/drawing/2014/main" id="{8A2C3586-6855-4E51-96BA-8F95B440486B}"/>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671B8228-2884-4693-A8E8-D2ADAED026B4}"/>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4</a:t>
            </a:r>
          </a:p>
        </p:txBody>
      </p:sp>
      <p:sp>
        <p:nvSpPr>
          <p:cNvPr id="6" name="">
            <a:extLst xmlns:a="http://schemas.openxmlformats.org/drawingml/2006/main">
              <a:ext uri="{FF2B5EF4-FFF2-40B4-BE49-F238E27FC236}">
                <a16:creationId xmlns:a16="http://schemas.microsoft.com/office/drawing/2014/main" id="{4A8088D7-26AC-49A0-95FD-071D55D25422}"/>
              </a:ext>
            </a:extLst>
          </p:cNvPr>
          <p:cNvSpPr>
            <a:spLocks xmlns:a="http://schemas.openxmlformats.org/drawingml/2006/main" noGrp="1"/>
          </p:cNvSpPr>
          <p:nvPr/>
        </p:nvSpPr>
        <p:spPr>
          <a:xfrm xmlns:a="http://schemas.openxmlformats.org/drawingml/2006/main">
            <a:off x="723900" y="16764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950" b="1">
                <a:solidFill>
                  <a:srgbClr val="15803D"/>
                </a:solidFill>
                <a:latin typeface="Helvetica Neue"/>
                <a:ea typeface="Helvetica Neue"/>
                <a:cs typeface="Helvetica Neue"/>
              </a:defRPr>
            </a:pPr>
            <a:r>
              <a:rPr sz="1950" b="1">
                <a:solidFill>
                  <a:srgbClr val="15803D"/>
                </a:solidFill>
                <a:latin typeface="Helvetica Neue"/>
                <a:ea typeface="Helvetica Neue"/>
                <a:cs typeface="Helvetica Neue"/>
              </a:rPr>
              <a:t>Unsafe consumer behavior</a:t>
            </a:r>
          </a:p>
        </p:txBody>
      </p:sp>
      <p:sp>
        <p:nvSpPr>
          <p:cNvPr id="7" name="">
            <a:extLst xmlns:a="http://schemas.openxmlformats.org/drawingml/2006/main">
              <a:ext uri="{FF2B5EF4-FFF2-40B4-BE49-F238E27FC236}">
                <a16:creationId xmlns:a16="http://schemas.microsoft.com/office/drawing/2014/main" id="{E3BAF257-52EA-4F9D-B9EF-8F05D0E2D688}"/>
              </a:ext>
            </a:extLst>
          </p:cNvPr>
          <p:cNvSpPr>
            <a:spLocks xmlns:a="http://schemas.openxmlformats.org/drawingml/2006/main" noGrp="1"/>
          </p:cNvSpPr>
          <p:nvPr/>
        </p:nvSpPr>
        <p:spPr>
          <a:xfrm xmlns:a="http://schemas.openxmlformats.org/drawingml/2006/main">
            <a:off x="6705600" y="16764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950" b="1">
                <a:solidFill>
                  <a:srgbClr val="111827"/>
                </a:solidFill>
                <a:latin typeface="Helvetica Neue"/>
                <a:ea typeface="Helvetica Neue"/>
                <a:cs typeface="Helvetica Neue"/>
              </a:defRPr>
            </a:pPr>
            <a:r>
              <a:rPr sz="1950" b="1">
                <a:solidFill>
                  <a:srgbClr val="111827"/>
                </a:solidFill>
                <a:latin typeface="Helvetica Neue"/>
                <a:ea typeface="Helvetica Neue"/>
                <a:cs typeface="Helvetica Neue"/>
              </a:rPr>
              <a:t>Safer idempotent behavior</a:t>
            </a:r>
          </a:p>
        </p:txBody>
      </p:sp>
      <p:sp>
        <p:nvSpPr>
          <p:cNvPr id="8" name="">
            <a:extLst xmlns:a="http://schemas.openxmlformats.org/drawingml/2006/main">
              <a:ext uri="{FF2B5EF4-FFF2-40B4-BE49-F238E27FC236}">
                <a16:creationId xmlns:a16="http://schemas.microsoft.com/office/drawing/2014/main" id="{1907E6F0-F8C3-4C11-BCF2-BE036550629D}"/>
              </a:ext>
            </a:extLst>
          </p:cNvPr>
          <p:cNvSpPr>
            <a:spLocks xmlns:a="http://schemas.openxmlformats.org/drawingml/2006/main" noGrp="1"/>
          </p:cNvSpPr>
          <p:nvPr/>
        </p:nvSpPr>
        <p:spPr>
          <a:xfrm xmlns:a="http://schemas.openxmlformats.org/drawingml/2006/main">
            <a:off x="6096000" y="1638300"/>
            <a:ext cx="0" cy="430530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9" name="">
            <a:extLst xmlns:a="http://schemas.openxmlformats.org/drawingml/2006/main">
              <a:ext uri="{FF2B5EF4-FFF2-40B4-BE49-F238E27FC236}">
                <a16:creationId xmlns:a16="http://schemas.microsoft.com/office/drawing/2014/main" id="{89D09574-123A-4C01-89D8-3AB90D43A3EF}"/>
              </a:ext>
            </a:extLst>
          </p:cNvPr>
          <p:cNvSpPr>
            <a:spLocks xmlns:a="http://schemas.openxmlformats.org/drawingml/2006/main" noGrp="1"/>
          </p:cNvSpPr>
          <p:nvPr/>
        </p:nvSpPr>
        <p:spPr>
          <a:xfrm xmlns:a="http://schemas.openxmlformats.org/drawingml/2006/main">
            <a:off x="762000" y="2400300"/>
            <a:ext cx="85725" cy="3048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10" name="">
            <a:extLst xmlns:a="http://schemas.openxmlformats.org/drawingml/2006/main">
              <a:ext uri="{FF2B5EF4-FFF2-40B4-BE49-F238E27FC236}">
                <a16:creationId xmlns:a16="http://schemas.microsoft.com/office/drawing/2014/main" id="{2615F943-FE72-4C5F-88D8-D2085BA7F5E5}"/>
              </a:ext>
            </a:extLst>
          </p:cNvPr>
          <p:cNvSpPr>
            <a:spLocks xmlns:a="http://schemas.openxmlformats.org/drawingml/2006/main" noGrp="1"/>
          </p:cNvSpPr>
          <p:nvPr/>
        </p:nvSpPr>
        <p:spPr>
          <a:xfrm xmlns:a="http://schemas.openxmlformats.org/drawingml/2006/main">
            <a:off x="1028700" y="23431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Applies every delivery as a new side effect</a:t>
            </a:r>
          </a:p>
        </p:txBody>
      </p:sp>
      <p:sp>
        <p:nvSpPr>
          <p:cNvPr id="11" name="">
            <a:extLst xmlns:a="http://schemas.openxmlformats.org/drawingml/2006/main">
              <a:ext uri="{FF2B5EF4-FFF2-40B4-BE49-F238E27FC236}">
                <a16:creationId xmlns:a16="http://schemas.microsoft.com/office/drawing/2014/main" id="{E1FFD1F5-6AF3-4F5E-8F25-FC3FF1AA4785}"/>
              </a:ext>
            </a:extLst>
          </p:cNvPr>
          <p:cNvSpPr>
            <a:spLocks xmlns:a="http://schemas.openxmlformats.org/drawingml/2006/main" noGrp="1"/>
          </p:cNvSpPr>
          <p:nvPr/>
        </p:nvSpPr>
        <p:spPr>
          <a:xfrm xmlns:a="http://schemas.openxmlformats.org/drawingml/2006/main">
            <a:off x="762000" y="3143250"/>
            <a:ext cx="85725" cy="3048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12" name="">
            <a:extLst xmlns:a="http://schemas.openxmlformats.org/drawingml/2006/main">
              <a:ext uri="{FF2B5EF4-FFF2-40B4-BE49-F238E27FC236}">
                <a16:creationId xmlns:a16="http://schemas.microsoft.com/office/drawing/2014/main" id="{C5F5552A-759B-45F1-BBFC-4FB29E157281}"/>
              </a:ext>
            </a:extLst>
          </p:cNvPr>
          <p:cNvSpPr>
            <a:spLocks xmlns:a="http://schemas.openxmlformats.org/drawingml/2006/main" noGrp="1"/>
          </p:cNvSpPr>
          <p:nvPr/>
        </p:nvSpPr>
        <p:spPr>
          <a:xfrm xmlns:a="http://schemas.openxmlformats.org/drawingml/2006/main">
            <a:off x="1028700" y="308610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Trusts arrival order without a source version</a:t>
            </a:r>
          </a:p>
        </p:txBody>
      </p:sp>
      <p:sp>
        <p:nvSpPr>
          <p:cNvPr id="13" name="">
            <a:extLst xmlns:a="http://schemas.openxmlformats.org/drawingml/2006/main">
              <a:ext uri="{FF2B5EF4-FFF2-40B4-BE49-F238E27FC236}">
                <a16:creationId xmlns:a16="http://schemas.microsoft.com/office/drawing/2014/main" id="{4525F181-D226-49D2-A0F4-6CCDF01A7D94}"/>
              </a:ext>
            </a:extLst>
          </p:cNvPr>
          <p:cNvSpPr>
            <a:spLocks xmlns:a="http://schemas.openxmlformats.org/drawingml/2006/main" noGrp="1"/>
          </p:cNvSpPr>
          <p:nvPr/>
        </p:nvSpPr>
        <p:spPr>
          <a:xfrm xmlns:a="http://schemas.openxmlformats.org/drawingml/2006/main">
            <a:off x="762000" y="3886200"/>
            <a:ext cx="85725" cy="3048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14" name="">
            <a:extLst xmlns:a="http://schemas.openxmlformats.org/drawingml/2006/main">
              <a:ext uri="{FF2B5EF4-FFF2-40B4-BE49-F238E27FC236}">
                <a16:creationId xmlns:a16="http://schemas.microsoft.com/office/drawing/2014/main" id="{CEB654C3-7276-481F-8C3B-FE868AAE7051}"/>
              </a:ext>
            </a:extLst>
          </p:cNvPr>
          <p:cNvSpPr>
            <a:spLocks xmlns:a="http://schemas.openxmlformats.org/drawingml/2006/main" noGrp="1"/>
          </p:cNvSpPr>
          <p:nvPr/>
        </p:nvSpPr>
        <p:spPr>
          <a:xfrm xmlns:a="http://schemas.openxmlformats.org/drawingml/2006/main">
            <a:off x="1028700" y="38290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Treats one success log as proof of convergence</a:t>
            </a:r>
          </a:p>
        </p:txBody>
      </p:sp>
      <p:sp>
        <p:nvSpPr>
          <p:cNvPr id="15" name="">
            <a:extLst xmlns:a="http://schemas.openxmlformats.org/drawingml/2006/main">
              <a:ext uri="{FF2B5EF4-FFF2-40B4-BE49-F238E27FC236}">
                <a16:creationId xmlns:a16="http://schemas.microsoft.com/office/drawing/2014/main" id="{3DF4DACC-BFBB-4ED3-91F1-8AB276838413}"/>
              </a:ext>
            </a:extLst>
          </p:cNvPr>
          <p:cNvSpPr>
            <a:spLocks xmlns:a="http://schemas.openxmlformats.org/drawingml/2006/main" noGrp="1"/>
          </p:cNvSpPr>
          <p:nvPr/>
        </p:nvSpPr>
        <p:spPr>
          <a:xfrm xmlns:a="http://schemas.openxmlformats.org/drawingml/2006/main">
            <a:off x="6743700" y="240030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16" name="">
            <a:extLst xmlns:a="http://schemas.openxmlformats.org/drawingml/2006/main">
              <a:ext uri="{FF2B5EF4-FFF2-40B4-BE49-F238E27FC236}">
                <a16:creationId xmlns:a16="http://schemas.microsoft.com/office/drawing/2014/main" id="{0D0E3FAC-EA2F-4558-8C54-1980151C5BC4}"/>
              </a:ext>
            </a:extLst>
          </p:cNvPr>
          <p:cNvSpPr>
            <a:spLocks xmlns:a="http://schemas.openxmlformats.org/drawingml/2006/main" noGrp="1"/>
          </p:cNvSpPr>
          <p:nvPr/>
        </p:nvSpPr>
        <p:spPr>
          <a:xfrm xmlns:a="http://schemas.openxmlformats.org/drawingml/2006/main">
            <a:off x="7010400" y="23431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Uses stable event and aggregate identifiers</a:t>
            </a:r>
          </a:p>
        </p:txBody>
      </p:sp>
      <p:sp>
        <p:nvSpPr>
          <p:cNvPr id="17" name="">
            <a:extLst xmlns:a="http://schemas.openxmlformats.org/drawingml/2006/main">
              <a:ext uri="{FF2B5EF4-FFF2-40B4-BE49-F238E27FC236}">
                <a16:creationId xmlns:a16="http://schemas.microsoft.com/office/drawing/2014/main" id="{A89F300C-939D-433F-ACCC-08EA546D9E49}"/>
              </a:ext>
            </a:extLst>
          </p:cNvPr>
          <p:cNvSpPr>
            <a:spLocks xmlns:a="http://schemas.openxmlformats.org/drawingml/2006/main" noGrp="1"/>
          </p:cNvSpPr>
          <p:nvPr/>
        </p:nvSpPr>
        <p:spPr>
          <a:xfrm xmlns:a="http://schemas.openxmlformats.org/drawingml/2006/main">
            <a:off x="6743700" y="314325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18" name="">
            <a:extLst xmlns:a="http://schemas.openxmlformats.org/drawingml/2006/main">
              <a:ext uri="{FF2B5EF4-FFF2-40B4-BE49-F238E27FC236}">
                <a16:creationId xmlns:a16="http://schemas.microsoft.com/office/drawing/2014/main" id="{A1DD0A53-0489-472A-9EAB-F7237BDDF6C3}"/>
              </a:ext>
            </a:extLst>
          </p:cNvPr>
          <p:cNvSpPr>
            <a:spLocks xmlns:a="http://schemas.openxmlformats.org/drawingml/2006/main" noGrp="1"/>
          </p:cNvSpPr>
          <p:nvPr/>
        </p:nvSpPr>
        <p:spPr>
          <a:xfrm xmlns:a="http://schemas.openxmlformats.org/drawingml/2006/main">
            <a:off x="7010400" y="308610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Applies only a newer source version</a:t>
            </a:r>
          </a:p>
        </p:txBody>
      </p:sp>
      <p:sp>
        <p:nvSpPr>
          <p:cNvPr id="19" name="">
            <a:extLst xmlns:a="http://schemas.openxmlformats.org/drawingml/2006/main">
              <a:ext uri="{FF2B5EF4-FFF2-40B4-BE49-F238E27FC236}">
                <a16:creationId xmlns:a16="http://schemas.microsoft.com/office/drawing/2014/main" id="{E8FBAE0E-54F3-492E-9B8F-5D06ADF05815}"/>
              </a:ext>
            </a:extLst>
          </p:cNvPr>
          <p:cNvSpPr>
            <a:spLocks xmlns:a="http://schemas.openxmlformats.org/drawingml/2006/main" noGrp="1"/>
          </p:cNvSpPr>
          <p:nvPr/>
        </p:nvSpPr>
        <p:spPr>
          <a:xfrm xmlns:a="http://schemas.openxmlformats.org/drawingml/2006/main">
            <a:off x="6743700" y="388620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20" name="">
            <a:extLst xmlns:a="http://schemas.openxmlformats.org/drawingml/2006/main">
              <a:ext uri="{FF2B5EF4-FFF2-40B4-BE49-F238E27FC236}">
                <a16:creationId xmlns:a16="http://schemas.microsoft.com/office/drawing/2014/main" id="{822900D4-336E-4BDB-AADC-571E7CA62ABD}"/>
              </a:ext>
            </a:extLst>
          </p:cNvPr>
          <p:cNvSpPr>
            <a:spLocks xmlns:a="http://schemas.openxmlformats.org/drawingml/2006/main" noGrp="1"/>
          </p:cNvSpPr>
          <p:nvPr/>
        </p:nvSpPr>
        <p:spPr>
          <a:xfrm xmlns:a="http://schemas.openxmlformats.org/drawingml/2006/main">
            <a:off x="7010400" y="38290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Records progress and reconciles authoritative against derived state</a:t>
            </a:r>
          </a:p>
        </p:txBody>
      </p:sp>
    </p:spTree>
    <p:extLst>
      <p:ext uri="{BB962C8B-B14F-4D97-AF65-F5344CB8AC3E}">
        <p14:creationId xmlns:p14="http://schemas.microsoft.com/office/powerpoint/2010/main" val="1175215313"/>
      </p:ext>
    </p:extLst>
  </p:cSld>
</p:sld>
</file>

<file path=ppt/slides/slide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E5BA6402-CA88-4B5C-A0D2-6CE72C65794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ABD092D5-B7A0-402E-8CBF-73614566A666}"/>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WEEK 14  /  CST4714</a:t>
            </a:r>
          </a:p>
        </p:txBody>
      </p:sp>
      <p:sp>
        <p:nvSpPr>
          <p:cNvPr id="3" name="slide-title">
            <a:extLst xmlns:a="http://schemas.openxmlformats.org/drawingml/2006/main">
              <a:ext uri="{FF2B5EF4-FFF2-40B4-BE49-F238E27FC236}">
                <a16:creationId xmlns:a16="http://schemas.microsoft.com/office/drawing/2014/main" id="{635F93C1-C957-4771-954D-88194557AA9D}"/>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Incident triage follows the fact across every boundary</a:t>
            </a:r>
          </a:p>
        </p:txBody>
      </p:sp>
      <p:sp>
        <p:nvSpPr>
          <p:cNvPr id="4" name="">
            <a:extLst xmlns:a="http://schemas.openxmlformats.org/drawingml/2006/main">
              <a:ext uri="{FF2B5EF4-FFF2-40B4-BE49-F238E27FC236}">
                <a16:creationId xmlns:a16="http://schemas.microsoft.com/office/drawing/2014/main" id="{32394776-F9DC-4DAE-9CDB-96BE67970953}"/>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B8D80EBF-6FA8-47BA-9344-51D5ED5EFDD6}"/>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5</a:t>
            </a:r>
          </a:p>
        </p:txBody>
      </p:sp>
      <p:sp>
        <p:nvSpPr>
          <p:cNvPr id="6" name="">
            <a:extLst xmlns:a="http://schemas.openxmlformats.org/drawingml/2006/main">
              <a:ext uri="{FF2B5EF4-FFF2-40B4-BE49-F238E27FC236}">
                <a16:creationId xmlns:a16="http://schemas.microsoft.com/office/drawing/2014/main" id="{646CC392-533F-4F34-B401-82B03CA3AC6A}"/>
              </a:ext>
            </a:extLst>
          </p:cNvPr>
          <p:cNvSpPr>
            <a:spLocks xmlns:a="http://schemas.openxmlformats.org/drawingml/2006/main" noGrp="1"/>
          </p:cNvSpPr>
          <p:nvPr/>
        </p:nvSpPr>
        <p:spPr>
          <a:xfrm xmlns:a="http://schemas.openxmlformats.org/drawingml/2006/main">
            <a:off x="1524000" y="2952750"/>
            <a:ext cx="9144000" cy="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7" name="">
            <a:extLst xmlns:a="http://schemas.openxmlformats.org/drawingml/2006/main">
              <a:ext uri="{FF2B5EF4-FFF2-40B4-BE49-F238E27FC236}">
                <a16:creationId xmlns:a16="http://schemas.microsoft.com/office/drawing/2014/main" id="{2B3B517C-57FC-4643-93E6-7B49CFB51E59}"/>
              </a:ext>
            </a:extLst>
          </p:cNvPr>
          <p:cNvSpPr>
            <a:spLocks xmlns:a="http://schemas.openxmlformats.org/drawingml/2006/main" noGrp="1"/>
          </p:cNvSpPr>
          <p:nvPr/>
        </p:nvSpPr>
        <p:spPr>
          <a:xfrm xmlns:a="http://schemas.openxmlformats.org/drawingml/2006/main">
            <a:off x="1381125" y="2809875"/>
            <a:ext cx="285750" cy="285750"/>
          </a:xfrm>
          <a:prstGeom xmlns:a="http://schemas.openxmlformats.org/drawingml/2006/main" prst="ellipse">
            <a:avLst/>
          </a:prstGeom>
          <a:solidFill xmlns:a="http://schemas.openxmlformats.org/drawingml/2006/main">
            <a:srgbClr val="15803D"/>
          </a:solidFill>
          <a:ln xmlns:a="http://schemas.openxmlformats.org/drawingml/2006/main" w="28575">
            <a:solidFill>
              <a:srgbClr val="15803D"/>
            </a:solidFill>
            <a:prstDash val="solid"/>
          </a:ln>
        </p:spPr>
      </p:sp>
      <p:sp>
        <p:nvSpPr>
          <p:cNvPr id="8" name="">
            <a:extLst xmlns:a="http://schemas.openxmlformats.org/drawingml/2006/main">
              <a:ext uri="{FF2B5EF4-FFF2-40B4-BE49-F238E27FC236}">
                <a16:creationId xmlns:a16="http://schemas.microsoft.com/office/drawing/2014/main" id="{14AF4524-548E-455D-AAEE-0AF3A8A1F1FF}"/>
              </a:ext>
            </a:extLst>
          </p:cNvPr>
          <p:cNvSpPr>
            <a:spLocks xmlns:a="http://schemas.openxmlformats.org/drawingml/2006/main" noGrp="1"/>
          </p:cNvSpPr>
          <p:nvPr/>
        </p:nvSpPr>
        <p:spPr>
          <a:xfrm xmlns:a="http://schemas.openxmlformats.org/drawingml/2006/main">
            <a:off x="1409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9" name="">
            <a:extLst xmlns:a="http://schemas.openxmlformats.org/drawingml/2006/main">
              <a:ext uri="{FF2B5EF4-FFF2-40B4-BE49-F238E27FC236}">
                <a16:creationId xmlns:a16="http://schemas.microsoft.com/office/drawing/2014/main" id="{00BCBBCA-F1D0-4A9E-B449-4499334FD9D5}"/>
              </a:ext>
            </a:extLst>
          </p:cNvPr>
          <p:cNvSpPr>
            <a:spLocks xmlns:a="http://schemas.openxmlformats.org/drawingml/2006/main" noGrp="1"/>
          </p:cNvSpPr>
          <p:nvPr/>
        </p:nvSpPr>
        <p:spPr>
          <a:xfrm xmlns:a="http://schemas.openxmlformats.org/drawingml/2006/main">
            <a:off x="685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Source</a:t>
            </a:r>
          </a:p>
        </p:txBody>
      </p:sp>
      <p:sp>
        <p:nvSpPr>
          <p:cNvPr id="10" name="">
            <a:extLst xmlns:a="http://schemas.openxmlformats.org/drawingml/2006/main">
              <a:ext uri="{FF2B5EF4-FFF2-40B4-BE49-F238E27FC236}">
                <a16:creationId xmlns:a16="http://schemas.microsoft.com/office/drawing/2014/main" id="{B5EDF90A-A93F-468B-B0F3-05B427CCB0F4}"/>
              </a:ext>
            </a:extLst>
          </p:cNvPr>
          <p:cNvSpPr>
            <a:spLocks xmlns:a="http://schemas.openxmlformats.org/drawingml/2006/main" noGrp="1"/>
          </p:cNvSpPr>
          <p:nvPr/>
        </p:nvSpPr>
        <p:spPr>
          <a:xfrm xmlns:a="http://schemas.openxmlformats.org/drawingml/2006/main">
            <a:off x="647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Did the authoritative transaction commit, with which version?</a:t>
            </a:r>
          </a:p>
        </p:txBody>
      </p:sp>
      <p:sp>
        <p:nvSpPr>
          <p:cNvPr id="11" name="">
            <a:extLst xmlns:a="http://schemas.openxmlformats.org/drawingml/2006/main">
              <a:ext uri="{FF2B5EF4-FFF2-40B4-BE49-F238E27FC236}">
                <a16:creationId xmlns:a16="http://schemas.microsoft.com/office/drawing/2014/main" id="{764106A8-A7A4-43E0-BC91-824D1364B9AE}"/>
              </a:ext>
            </a:extLst>
          </p:cNvPr>
          <p:cNvSpPr>
            <a:spLocks xmlns:a="http://schemas.openxmlformats.org/drawingml/2006/main" noGrp="1"/>
          </p:cNvSpPr>
          <p:nvPr/>
        </p:nvSpPr>
        <p:spPr>
          <a:xfrm xmlns:a="http://schemas.openxmlformats.org/drawingml/2006/main">
            <a:off x="3667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15803D"/>
            </a:solidFill>
            <a:prstDash val="solid"/>
          </a:ln>
        </p:spPr>
      </p:sp>
      <p:sp>
        <p:nvSpPr>
          <p:cNvPr id="12" name="">
            <a:extLst xmlns:a="http://schemas.openxmlformats.org/drawingml/2006/main">
              <a:ext uri="{FF2B5EF4-FFF2-40B4-BE49-F238E27FC236}">
                <a16:creationId xmlns:a16="http://schemas.microsoft.com/office/drawing/2014/main" id="{47A1DCD9-5839-4ACB-88AF-B30121DDB462}"/>
              </a:ext>
            </a:extLst>
          </p:cNvPr>
          <p:cNvSpPr>
            <a:spLocks xmlns:a="http://schemas.openxmlformats.org/drawingml/2006/main" noGrp="1"/>
          </p:cNvSpPr>
          <p:nvPr/>
        </p:nvSpPr>
        <p:spPr>
          <a:xfrm xmlns:a="http://schemas.openxmlformats.org/drawingml/2006/main">
            <a:off x="3695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2</a:t>
            </a:r>
          </a:p>
        </p:txBody>
      </p:sp>
      <p:sp>
        <p:nvSpPr>
          <p:cNvPr id="13" name="">
            <a:extLst xmlns:a="http://schemas.openxmlformats.org/drawingml/2006/main">
              <a:ext uri="{FF2B5EF4-FFF2-40B4-BE49-F238E27FC236}">
                <a16:creationId xmlns:a16="http://schemas.microsoft.com/office/drawing/2014/main" id="{0DCBF3F0-3BEF-410F-A8DF-1F97511F973C}"/>
              </a:ext>
            </a:extLst>
          </p:cNvPr>
          <p:cNvSpPr>
            <a:spLocks xmlns:a="http://schemas.openxmlformats.org/drawingml/2006/main" noGrp="1"/>
          </p:cNvSpPr>
          <p:nvPr/>
        </p:nvSpPr>
        <p:spPr>
          <a:xfrm xmlns:a="http://schemas.openxmlformats.org/drawingml/2006/main">
            <a:off x="2971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Outbox</a:t>
            </a:r>
          </a:p>
        </p:txBody>
      </p:sp>
      <p:sp>
        <p:nvSpPr>
          <p:cNvPr id="14" name="">
            <a:extLst xmlns:a="http://schemas.openxmlformats.org/drawingml/2006/main">
              <a:ext uri="{FF2B5EF4-FFF2-40B4-BE49-F238E27FC236}">
                <a16:creationId xmlns:a16="http://schemas.microsoft.com/office/drawing/2014/main" id="{911F2AD2-9E1B-4175-82AF-66F48601353E}"/>
              </a:ext>
            </a:extLst>
          </p:cNvPr>
          <p:cNvSpPr>
            <a:spLocks xmlns:a="http://schemas.openxmlformats.org/drawingml/2006/main" noGrp="1"/>
          </p:cNvSpPr>
          <p:nvPr/>
        </p:nvSpPr>
        <p:spPr>
          <a:xfrm xmlns:a="http://schemas.openxmlformats.org/drawingml/2006/main">
            <a:off x="2933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Was the stable event created and marked published?</a:t>
            </a:r>
          </a:p>
        </p:txBody>
      </p:sp>
      <p:sp>
        <p:nvSpPr>
          <p:cNvPr id="15" name="">
            <a:extLst xmlns:a="http://schemas.openxmlformats.org/drawingml/2006/main">
              <a:ext uri="{FF2B5EF4-FFF2-40B4-BE49-F238E27FC236}">
                <a16:creationId xmlns:a16="http://schemas.microsoft.com/office/drawing/2014/main" id="{8523FE47-8EC1-4B18-86B9-547A18F11CAD}"/>
              </a:ext>
            </a:extLst>
          </p:cNvPr>
          <p:cNvSpPr>
            <a:spLocks xmlns:a="http://schemas.openxmlformats.org/drawingml/2006/main" noGrp="1"/>
          </p:cNvSpPr>
          <p:nvPr/>
        </p:nvSpPr>
        <p:spPr>
          <a:xfrm xmlns:a="http://schemas.openxmlformats.org/drawingml/2006/main">
            <a:off x="5953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15803D"/>
            </a:solidFill>
            <a:prstDash val="solid"/>
          </a:ln>
        </p:spPr>
      </p:sp>
      <p:sp>
        <p:nvSpPr>
          <p:cNvPr id="16" name="">
            <a:extLst xmlns:a="http://schemas.openxmlformats.org/drawingml/2006/main">
              <a:ext uri="{FF2B5EF4-FFF2-40B4-BE49-F238E27FC236}">
                <a16:creationId xmlns:a16="http://schemas.microsoft.com/office/drawing/2014/main" id="{9EF11A67-28E3-4B5A-BFC7-B7E97E1B0A6F}"/>
              </a:ext>
            </a:extLst>
          </p:cNvPr>
          <p:cNvSpPr>
            <a:spLocks xmlns:a="http://schemas.openxmlformats.org/drawingml/2006/main" noGrp="1"/>
          </p:cNvSpPr>
          <p:nvPr/>
        </p:nvSpPr>
        <p:spPr>
          <a:xfrm xmlns:a="http://schemas.openxmlformats.org/drawingml/2006/main">
            <a:off x="5981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3</a:t>
            </a:r>
          </a:p>
        </p:txBody>
      </p:sp>
      <p:sp>
        <p:nvSpPr>
          <p:cNvPr id="17" name="">
            <a:extLst xmlns:a="http://schemas.openxmlformats.org/drawingml/2006/main">
              <a:ext uri="{FF2B5EF4-FFF2-40B4-BE49-F238E27FC236}">
                <a16:creationId xmlns:a16="http://schemas.microsoft.com/office/drawing/2014/main" id="{31655098-7AC1-4B04-96CB-5F7E1F5CA81E}"/>
              </a:ext>
            </a:extLst>
          </p:cNvPr>
          <p:cNvSpPr>
            <a:spLocks xmlns:a="http://schemas.openxmlformats.org/drawingml/2006/main" noGrp="1"/>
          </p:cNvSpPr>
          <p:nvPr/>
        </p:nvSpPr>
        <p:spPr>
          <a:xfrm xmlns:a="http://schemas.openxmlformats.org/drawingml/2006/main">
            <a:off x="5257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Consumer</a:t>
            </a:r>
          </a:p>
        </p:txBody>
      </p:sp>
      <p:sp>
        <p:nvSpPr>
          <p:cNvPr id="18" name="">
            <a:extLst xmlns:a="http://schemas.openxmlformats.org/drawingml/2006/main">
              <a:ext uri="{FF2B5EF4-FFF2-40B4-BE49-F238E27FC236}">
                <a16:creationId xmlns:a16="http://schemas.microsoft.com/office/drawing/2014/main" id="{F1FB3488-5CE3-41FD-9747-835973ABB394}"/>
              </a:ext>
            </a:extLst>
          </p:cNvPr>
          <p:cNvSpPr>
            <a:spLocks xmlns:a="http://schemas.openxmlformats.org/drawingml/2006/main" noGrp="1"/>
          </p:cNvSpPr>
          <p:nvPr/>
        </p:nvSpPr>
        <p:spPr>
          <a:xfrm xmlns:a="http://schemas.openxmlformats.org/drawingml/2006/main">
            <a:off x="5219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Was it received, retried, rejected, or paused?</a:t>
            </a:r>
          </a:p>
        </p:txBody>
      </p:sp>
      <p:sp>
        <p:nvSpPr>
          <p:cNvPr id="19" name="">
            <a:extLst xmlns:a="http://schemas.openxmlformats.org/drawingml/2006/main">
              <a:ext uri="{FF2B5EF4-FFF2-40B4-BE49-F238E27FC236}">
                <a16:creationId xmlns:a16="http://schemas.microsoft.com/office/drawing/2014/main" id="{11F50185-CD4E-4805-A6DD-73BDAB6F300E}"/>
              </a:ext>
            </a:extLst>
          </p:cNvPr>
          <p:cNvSpPr>
            <a:spLocks xmlns:a="http://schemas.openxmlformats.org/drawingml/2006/main" noGrp="1"/>
          </p:cNvSpPr>
          <p:nvPr/>
        </p:nvSpPr>
        <p:spPr>
          <a:xfrm xmlns:a="http://schemas.openxmlformats.org/drawingml/2006/main">
            <a:off x="8239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15803D"/>
            </a:solidFill>
            <a:prstDash val="solid"/>
          </a:ln>
        </p:spPr>
      </p:sp>
      <p:sp>
        <p:nvSpPr>
          <p:cNvPr id="20" name="">
            <a:extLst xmlns:a="http://schemas.openxmlformats.org/drawingml/2006/main">
              <a:ext uri="{FF2B5EF4-FFF2-40B4-BE49-F238E27FC236}">
                <a16:creationId xmlns:a16="http://schemas.microsoft.com/office/drawing/2014/main" id="{7A139EBC-9B0E-43A9-85AA-3FC551A44ECF}"/>
              </a:ext>
            </a:extLst>
          </p:cNvPr>
          <p:cNvSpPr>
            <a:spLocks xmlns:a="http://schemas.openxmlformats.org/drawingml/2006/main" noGrp="1"/>
          </p:cNvSpPr>
          <p:nvPr/>
        </p:nvSpPr>
        <p:spPr>
          <a:xfrm xmlns:a="http://schemas.openxmlformats.org/drawingml/2006/main">
            <a:off x="8267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4</a:t>
            </a:r>
          </a:p>
        </p:txBody>
      </p:sp>
      <p:sp>
        <p:nvSpPr>
          <p:cNvPr id="21" name="">
            <a:extLst xmlns:a="http://schemas.openxmlformats.org/drawingml/2006/main">
              <a:ext uri="{FF2B5EF4-FFF2-40B4-BE49-F238E27FC236}">
                <a16:creationId xmlns:a16="http://schemas.microsoft.com/office/drawing/2014/main" id="{140D236E-CA7F-4D69-931D-84D7F412C866}"/>
              </a:ext>
            </a:extLst>
          </p:cNvPr>
          <p:cNvSpPr>
            <a:spLocks xmlns:a="http://schemas.openxmlformats.org/drawingml/2006/main" noGrp="1"/>
          </p:cNvSpPr>
          <p:nvPr/>
        </p:nvSpPr>
        <p:spPr>
          <a:xfrm xmlns:a="http://schemas.openxmlformats.org/drawingml/2006/main">
            <a:off x="7543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Projection</a:t>
            </a:r>
          </a:p>
        </p:txBody>
      </p:sp>
      <p:sp>
        <p:nvSpPr>
          <p:cNvPr id="22" name="">
            <a:extLst xmlns:a="http://schemas.openxmlformats.org/drawingml/2006/main">
              <a:ext uri="{FF2B5EF4-FFF2-40B4-BE49-F238E27FC236}">
                <a16:creationId xmlns:a16="http://schemas.microsoft.com/office/drawing/2014/main" id="{611F7D5B-39CD-4C4F-9D0B-F9BCE637813B}"/>
              </a:ext>
            </a:extLst>
          </p:cNvPr>
          <p:cNvSpPr>
            <a:spLocks xmlns:a="http://schemas.openxmlformats.org/drawingml/2006/main" noGrp="1"/>
          </p:cNvSpPr>
          <p:nvPr/>
        </p:nvSpPr>
        <p:spPr>
          <a:xfrm xmlns:a="http://schemas.openxmlformats.org/drawingml/2006/main">
            <a:off x="7505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Which source version and event ID are stored?</a:t>
            </a:r>
          </a:p>
        </p:txBody>
      </p:sp>
      <p:sp>
        <p:nvSpPr>
          <p:cNvPr id="23" name="">
            <a:extLst xmlns:a="http://schemas.openxmlformats.org/drawingml/2006/main">
              <a:ext uri="{FF2B5EF4-FFF2-40B4-BE49-F238E27FC236}">
                <a16:creationId xmlns:a16="http://schemas.microsoft.com/office/drawing/2014/main" id="{07D98A41-FC87-44A7-A46D-FDF2FEEA75B9}"/>
              </a:ext>
            </a:extLst>
          </p:cNvPr>
          <p:cNvSpPr>
            <a:spLocks xmlns:a="http://schemas.openxmlformats.org/drawingml/2006/main" noGrp="1"/>
          </p:cNvSpPr>
          <p:nvPr/>
        </p:nvSpPr>
        <p:spPr>
          <a:xfrm xmlns:a="http://schemas.openxmlformats.org/drawingml/2006/main">
            <a:off x="10525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15803D"/>
            </a:solidFill>
            <a:prstDash val="solid"/>
          </a:ln>
        </p:spPr>
      </p:sp>
      <p:sp>
        <p:nvSpPr>
          <p:cNvPr id="24" name="">
            <a:extLst xmlns:a="http://schemas.openxmlformats.org/drawingml/2006/main">
              <a:ext uri="{FF2B5EF4-FFF2-40B4-BE49-F238E27FC236}">
                <a16:creationId xmlns:a16="http://schemas.microsoft.com/office/drawing/2014/main" id="{4A269E78-E977-45F5-BF82-20A1681DCF58}"/>
              </a:ext>
            </a:extLst>
          </p:cNvPr>
          <p:cNvSpPr>
            <a:spLocks xmlns:a="http://schemas.openxmlformats.org/drawingml/2006/main" noGrp="1"/>
          </p:cNvSpPr>
          <p:nvPr/>
        </p:nvSpPr>
        <p:spPr>
          <a:xfrm xmlns:a="http://schemas.openxmlformats.org/drawingml/2006/main">
            <a:off x="10553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5</a:t>
            </a:r>
          </a:p>
        </p:txBody>
      </p:sp>
      <p:sp>
        <p:nvSpPr>
          <p:cNvPr id="25" name="">
            <a:extLst xmlns:a="http://schemas.openxmlformats.org/drawingml/2006/main">
              <a:ext uri="{FF2B5EF4-FFF2-40B4-BE49-F238E27FC236}">
                <a16:creationId xmlns:a16="http://schemas.microsoft.com/office/drawing/2014/main" id="{CDF98BCF-1C5B-40FC-9973-48876E246529}"/>
              </a:ext>
            </a:extLst>
          </p:cNvPr>
          <p:cNvSpPr>
            <a:spLocks xmlns:a="http://schemas.openxmlformats.org/drawingml/2006/main" noGrp="1"/>
          </p:cNvSpPr>
          <p:nvPr/>
        </p:nvSpPr>
        <p:spPr>
          <a:xfrm xmlns:a="http://schemas.openxmlformats.org/drawingml/2006/main">
            <a:off x="9829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Scope</a:t>
            </a:r>
          </a:p>
        </p:txBody>
      </p:sp>
      <p:sp>
        <p:nvSpPr>
          <p:cNvPr id="26" name="">
            <a:extLst xmlns:a="http://schemas.openxmlformats.org/drawingml/2006/main">
              <a:ext uri="{FF2B5EF4-FFF2-40B4-BE49-F238E27FC236}">
                <a16:creationId xmlns:a16="http://schemas.microsoft.com/office/drawing/2014/main" id="{5A6C98A3-58BD-482B-BA92-AC4ADDD4EEBF}"/>
              </a:ext>
            </a:extLst>
          </p:cNvPr>
          <p:cNvSpPr>
            <a:spLocks xmlns:a="http://schemas.openxmlformats.org/drawingml/2006/main" noGrp="1"/>
          </p:cNvSpPr>
          <p:nvPr/>
        </p:nvSpPr>
        <p:spPr>
          <a:xfrm xmlns:a="http://schemas.openxmlformats.org/drawingml/2006/main">
            <a:off x="9791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Which other records or partition may share the failure?</a:t>
            </a:r>
          </a:p>
        </p:txBody>
      </p:sp>
      <p:sp>
        <p:nvSpPr>
          <p:cNvPr id="27" name="">
            <a:extLst xmlns:a="http://schemas.openxmlformats.org/drawingml/2006/main">
              <a:ext uri="{FF2B5EF4-FFF2-40B4-BE49-F238E27FC236}">
                <a16:creationId xmlns:a16="http://schemas.microsoft.com/office/drawing/2014/main" id="{272AB293-D1E3-4B62-871A-59D59315E24C}"/>
              </a:ext>
            </a:extLst>
          </p:cNvPr>
          <p:cNvSpPr>
            <a:spLocks xmlns:a="http://schemas.openxmlformats.org/drawingml/2006/main" noGrp="1"/>
          </p:cNvSpPr>
          <p:nvPr/>
        </p:nvSpPr>
        <p:spPr>
          <a:xfrm xmlns:a="http://schemas.openxmlformats.org/drawingml/2006/main">
            <a:off x="914400" y="1619250"/>
            <a:ext cx="10001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875">
                <a:solidFill>
                  <a:srgbClr val="475569"/>
                </a:solidFill>
                <a:latin typeface="Helvetica Neue"/>
                <a:ea typeface="Helvetica Neue"/>
                <a:cs typeface="Helvetica Neue"/>
              </a:defRPr>
            </a:pPr>
            <a:r>
              <a:rPr sz="1875">
                <a:solidFill>
                  <a:srgbClr val="475569"/>
                </a:solidFill>
                <a:latin typeface="Helvetica Neue"/>
                <a:ea typeface="Helvetica Neue"/>
                <a:cs typeface="Helvetica Neue"/>
              </a:rPr>
              <a:t>Start with the user-visible disagreement, then locate the last confirmed state transition.</a:t>
            </a:r>
          </a:p>
        </p:txBody>
      </p:sp>
    </p:spTree>
    <p:extLst>
      <p:ext uri="{BB962C8B-B14F-4D97-AF65-F5344CB8AC3E}">
        <p14:creationId xmlns:p14="http://schemas.microsoft.com/office/powerpoint/2010/main" val="336127207"/>
      </p:ext>
    </p:extLst>
  </p:cSld>
</p:sld>
</file>

<file path=ppt/slides/slide6.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F4D4CEB7-87E9-4DB5-B4F9-434FCBDD64D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FFDAB9DE-C242-4242-BAEB-A70622992CEB}"/>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WEEK 14  /  CST4714</a:t>
            </a:r>
          </a:p>
        </p:txBody>
      </p:sp>
      <p:sp>
        <p:nvSpPr>
          <p:cNvPr id="3" name="slide-title">
            <a:extLst xmlns:a="http://schemas.openxmlformats.org/drawingml/2006/main">
              <a:ext uri="{FF2B5EF4-FFF2-40B4-BE49-F238E27FC236}">
                <a16:creationId xmlns:a16="http://schemas.microsoft.com/office/drawing/2014/main" id="{2C2210DB-76DA-4AF9-AEA9-C0354FAFC839}"/>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The evidence packet locates one failed transition</a:t>
            </a:r>
          </a:p>
        </p:txBody>
      </p:sp>
      <p:sp>
        <p:nvSpPr>
          <p:cNvPr id="4" name="">
            <a:extLst xmlns:a="http://schemas.openxmlformats.org/drawingml/2006/main">
              <a:ext uri="{FF2B5EF4-FFF2-40B4-BE49-F238E27FC236}">
                <a16:creationId xmlns:a16="http://schemas.microsoft.com/office/drawing/2014/main" id="{901D7246-5642-4616-8E57-DFC497175FE1}"/>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A172889E-8586-48C2-8C9D-2596CAB039BD}"/>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6</a:t>
            </a:r>
          </a:p>
        </p:txBody>
      </p:sp>
      <p:sp>
        <p:nvSpPr>
          <p:cNvPr id="6" name="">
            <a:extLst xmlns:a="http://schemas.openxmlformats.org/drawingml/2006/main">
              <a:ext uri="{FF2B5EF4-FFF2-40B4-BE49-F238E27FC236}">
                <a16:creationId xmlns:a16="http://schemas.microsoft.com/office/drawing/2014/main" id="{3D069619-66F0-4737-90F6-5D2C2F483167}"/>
              </a:ext>
            </a:extLst>
          </p:cNvPr>
          <p:cNvSpPr>
            <a:spLocks xmlns:a="http://schemas.openxmlformats.org/drawingml/2006/main" noGrp="1"/>
          </p:cNvSpPr>
          <p:nvPr/>
        </p:nvSpPr>
        <p:spPr>
          <a:xfrm xmlns:a="http://schemas.openxmlformats.org/drawingml/2006/main">
            <a:off x="685800" y="1714500"/>
            <a:ext cx="2000250" cy="514350"/>
          </a:xfrm>
          <a:prstGeom xmlns:a="http://schemas.openxmlformats.org/drawingml/2006/main" prst="rect">
            <a:avLst/>
          </a:prstGeom>
          <a:solidFill xmlns:a="http://schemas.openxmlformats.org/drawingml/2006/main">
            <a:srgbClr val="15803D"/>
          </a:solidFill>
          <a:ln xmlns:a="http://schemas.openxmlformats.org/drawingml/2006/main" w="9525">
            <a:solidFill>
              <a:srgbClr val="15803D"/>
            </a:solidFill>
            <a:prstDash val="solid"/>
          </a:ln>
        </p:spPr>
      </p:sp>
      <p:sp>
        <p:nvSpPr>
          <p:cNvPr id="7" name="">
            <a:extLst xmlns:a="http://schemas.openxmlformats.org/drawingml/2006/main">
              <a:ext uri="{FF2B5EF4-FFF2-40B4-BE49-F238E27FC236}">
                <a16:creationId xmlns:a16="http://schemas.microsoft.com/office/drawing/2014/main" id="{F0CDB75B-C3C9-4EA8-8565-F94517CFC793}"/>
              </a:ext>
            </a:extLst>
          </p:cNvPr>
          <p:cNvSpPr>
            <a:spLocks xmlns:a="http://schemas.openxmlformats.org/drawingml/2006/main" noGrp="1"/>
          </p:cNvSpPr>
          <p:nvPr/>
        </p:nvSpPr>
        <p:spPr>
          <a:xfrm xmlns:a="http://schemas.openxmlformats.org/drawingml/2006/main">
            <a:off x="762000" y="1809750"/>
            <a:ext cx="1847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Boundary</a:t>
            </a:r>
          </a:p>
        </p:txBody>
      </p:sp>
      <p:sp>
        <p:nvSpPr>
          <p:cNvPr id="8" name="">
            <a:extLst xmlns:a="http://schemas.openxmlformats.org/drawingml/2006/main">
              <a:ext uri="{FF2B5EF4-FFF2-40B4-BE49-F238E27FC236}">
                <a16:creationId xmlns:a16="http://schemas.microsoft.com/office/drawing/2014/main" id="{B77FC426-9746-46A4-A264-A29CFB544D2E}"/>
              </a:ext>
            </a:extLst>
          </p:cNvPr>
          <p:cNvSpPr>
            <a:spLocks xmlns:a="http://schemas.openxmlformats.org/drawingml/2006/main" noGrp="1"/>
          </p:cNvSpPr>
          <p:nvPr/>
        </p:nvSpPr>
        <p:spPr>
          <a:xfrm xmlns:a="http://schemas.openxmlformats.org/drawingml/2006/main">
            <a:off x="2686050" y="1714500"/>
            <a:ext cx="3333750" cy="514350"/>
          </a:xfrm>
          <a:prstGeom xmlns:a="http://schemas.openxmlformats.org/drawingml/2006/main" prst="rect">
            <a:avLst/>
          </a:prstGeom>
          <a:solidFill xmlns:a="http://schemas.openxmlformats.org/drawingml/2006/main">
            <a:srgbClr val="E2E8F0"/>
          </a:solidFill>
          <a:ln xmlns:a="http://schemas.openxmlformats.org/drawingml/2006/main" w="9525">
            <a:solidFill>
              <a:srgbClr val="CBD5E1"/>
            </a:solidFill>
            <a:prstDash val="solid"/>
          </a:ln>
        </p:spPr>
      </p:sp>
      <p:sp>
        <p:nvSpPr>
          <p:cNvPr id="9" name="">
            <a:extLst xmlns:a="http://schemas.openxmlformats.org/drawingml/2006/main">
              <a:ext uri="{FF2B5EF4-FFF2-40B4-BE49-F238E27FC236}">
                <a16:creationId xmlns:a16="http://schemas.microsoft.com/office/drawing/2014/main" id="{FE9C5D2A-BAEF-47D2-A928-DA01645F7AD4}"/>
              </a:ext>
            </a:extLst>
          </p:cNvPr>
          <p:cNvSpPr>
            <a:spLocks xmlns:a="http://schemas.openxmlformats.org/drawingml/2006/main" noGrp="1"/>
          </p:cNvSpPr>
          <p:nvPr/>
        </p:nvSpPr>
        <p:spPr>
          <a:xfrm xmlns:a="http://schemas.openxmlformats.org/drawingml/2006/main">
            <a:off x="2762250" y="1809750"/>
            <a:ext cx="3181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75" b="1">
                <a:solidFill>
                  <a:srgbClr val="111827"/>
                </a:solidFill>
                <a:latin typeface="Helvetica Neue"/>
                <a:ea typeface="Helvetica Neue"/>
                <a:cs typeface="Helvetica Neue"/>
              </a:defRPr>
            </a:pPr>
            <a:r>
              <a:rPr sz="1275" b="1">
                <a:solidFill>
                  <a:srgbClr val="111827"/>
                </a:solidFill>
                <a:latin typeface="Helvetica Neue"/>
                <a:ea typeface="Helvetica Neue"/>
                <a:cs typeface="Helvetica Neue"/>
              </a:rPr>
              <a:t>Observed evidence</a:t>
            </a:r>
          </a:p>
        </p:txBody>
      </p:sp>
      <p:sp>
        <p:nvSpPr>
          <p:cNvPr id="10" name="">
            <a:extLst xmlns:a="http://schemas.openxmlformats.org/drawingml/2006/main">
              <a:ext uri="{FF2B5EF4-FFF2-40B4-BE49-F238E27FC236}">
                <a16:creationId xmlns:a16="http://schemas.microsoft.com/office/drawing/2014/main" id="{2DB656F8-D249-4921-B554-BE6807CE6DBC}"/>
              </a:ext>
            </a:extLst>
          </p:cNvPr>
          <p:cNvSpPr>
            <a:spLocks xmlns:a="http://schemas.openxmlformats.org/drawingml/2006/main" noGrp="1"/>
          </p:cNvSpPr>
          <p:nvPr/>
        </p:nvSpPr>
        <p:spPr>
          <a:xfrm xmlns:a="http://schemas.openxmlformats.org/drawingml/2006/main">
            <a:off x="6019800" y="1714500"/>
            <a:ext cx="2857500" cy="514350"/>
          </a:xfrm>
          <a:prstGeom xmlns:a="http://schemas.openxmlformats.org/drawingml/2006/main" prst="rect">
            <a:avLst/>
          </a:prstGeom>
          <a:solidFill xmlns:a="http://schemas.openxmlformats.org/drawingml/2006/main">
            <a:srgbClr val="E2E8F0"/>
          </a:solidFill>
          <a:ln xmlns:a="http://schemas.openxmlformats.org/drawingml/2006/main" w="9525">
            <a:solidFill>
              <a:srgbClr val="CBD5E1"/>
            </a:solidFill>
            <a:prstDash val="solid"/>
          </a:ln>
        </p:spPr>
      </p:sp>
      <p:sp>
        <p:nvSpPr>
          <p:cNvPr id="11" name="">
            <a:extLst xmlns:a="http://schemas.openxmlformats.org/drawingml/2006/main">
              <a:ext uri="{FF2B5EF4-FFF2-40B4-BE49-F238E27FC236}">
                <a16:creationId xmlns:a16="http://schemas.microsoft.com/office/drawing/2014/main" id="{61FFDA60-0CA0-489B-B666-A12C0471E705}"/>
              </a:ext>
            </a:extLst>
          </p:cNvPr>
          <p:cNvSpPr>
            <a:spLocks xmlns:a="http://schemas.openxmlformats.org/drawingml/2006/main" noGrp="1"/>
          </p:cNvSpPr>
          <p:nvPr/>
        </p:nvSpPr>
        <p:spPr>
          <a:xfrm xmlns:a="http://schemas.openxmlformats.org/drawingml/2006/main">
            <a:off x="6096000" y="1809750"/>
            <a:ext cx="2705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75" b="1">
                <a:solidFill>
                  <a:srgbClr val="111827"/>
                </a:solidFill>
                <a:latin typeface="Helvetica Neue"/>
                <a:ea typeface="Helvetica Neue"/>
                <a:cs typeface="Helvetica Neue"/>
              </a:defRPr>
            </a:pPr>
            <a:r>
              <a:rPr sz="1275" b="1">
                <a:solidFill>
                  <a:srgbClr val="111827"/>
                </a:solidFill>
                <a:latin typeface="Helvetica Neue"/>
                <a:ea typeface="Helvetica Neue"/>
                <a:cs typeface="Helvetica Neue"/>
              </a:rPr>
              <a:t>What it supports</a:t>
            </a:r>
          </a:p>
        </p:txBody>
      </p:sp>
      <p:sp>
        <p:nvSpPr>
          <p:cNvPr id="12" name="">
            <a:extLst xmlns:a="http://schemas.openxmlformats.org/drawingml/2006/main">
              <a:ext uri="{FF2B5EF4-FFF2-40B4-BE49-F238E27FC236}">
                <a16:creationId xmlns:a16="http://schemas.microsoft.com/office/drawing/2014/main" id="{17FA6662-4472-459A-9DD9-597F6DFA157D}"/>
              </a:ext>
            </a:extLst>
          </p:cNvPr>
          <p:cNvSpPr>
            <a:spLocks xmlns:a="http://schemas.openxmlformats.org/drawingml/2006/main" noGrp="1"/>
          </p:cNvSpPr>
          <p:nvPr/>
        </p:nvSpPr>
        <p:spPr>
          <a:xfrm xmlns:a="http://schemas.openxmlformats.org/drawingml/2006/main">
            <a:off x="8877300" y="1714500"/>
            <a:ext cx="2628900" cy="514350"/>
          </a:xfrm>
          <a:prstGeom xmlns:a="http://schemas.openxmlformats.org/drawingml/2006/main" prst="rect">
            <a:avLst/>
          </a:prstGeom>
          <a:solidFill xmlns:a="http://schemas.openxmlformats.org/drawingml/2006/main">
            <a:srgbClr val="E2E8F0"/>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782547B1-8D81-4C00-AEF5-37FA74683009}"/>
              </a:ext>
            </a:extLst>
          </p:cNvPr>
          <p:cNvSpPr>
            <a:spLocks xmlns:a="http://schemas.openxmlformats.org/drawingml/2006/main" noGrp="1"/>
          </p:cNvSpPr>
          <p:nvPr/>
        </p:nvSpPr>
        <p:spPr>
          <a:xfrm xmlns:a="http://schemas.openxmlformats.org/drawingml/2006/main">
            <a:off x="8953500" y="18097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75" b="1">
                <a:solidFill>
                  <a:srgbClr val="111827"/>
                </a:solidFill>
                <a:latin typeface="Helvetica Neue"/>
                <a:ea typeface="Helvetica Neue"/>
                <a:cs typeface="Helvetica Neue"/>
              </a:defRPr>
            </a:pPr>
            <a:r>
              <a:rPr sz="1275" b="1">
                <a:solidFill>
                  <a:srgbClr val="111827"/>
                </a:solidFill>
                <a:latin typeface="Helvetica Neue"/>
                <a:ea typeface="Helvetica Neue"/>
                <a:cs typeface="Helvetica Neue"/>
              </a:rPr>
              <a:t>What it does not prove</a:t>
            </a:r>
          </a:p>
        </p:txBody>
      </p:sp>
      <p:sp>
        <p:nvSpPr>
          <p:cNvPr id="14" name="">
            <a:extLst xmlns:a="http://schemas.openxmlformats.org/drawingml/2006/main">
              <a:ext uri="{FF2B5EF4-FFF2-40B4-BE49-F238E27FC236}">
                <a16:creationId xmlns:a16="http://schemas.microsoft.com/office/drawing/2014/main" id="{D398C766-92B8-428D-816F-34DFA50FD65F}"/>
              </a:ext>
            </a:extLst>
          </p:cNvPr>
          <p:cNvSpPr>
            <a:spLocks xmlns:a="http://schemas.openxmlformats.org/drawingml/2006/main" noGrp="1"/>
          </p:cNvSpPr>
          <p:nvPr/>
        </p:nvSpPr>
        <p:spPr>
          <a:xfrm xmlns:a="http://schemas.openxmlformats.org/drawingml/2006/main">
            <a:off x="685800" y="2228850"/>
            <a:ext cx="200025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15" name="">
            <a:extLst xmlns:a="http://schemas.openxmlformats.org/drawingml/2006/main">
              <a:ext uri="{FF2B5EF4-FFF2-40B4-BE49-F238E27FC236}">
                <a16:creationId xmlns:a16="http://schemas.microsoft.com/office/drawing/2014/main" id="{4C619CC5-20D6-4841-B48A-8705770D7B94}"/>
              </a:ext>
            </a:extLst>
          </p:cNvPr>
          <p:cNvSpPr>
            <a:spLocks xmlns:a="http://schemas.openxmlformats.org/drawingml/2006/main" noGrp="1"/>
          </p:cNvSpPr>
          <p:nvPr/>
        </p:nvSpPr>
        <p:spPr>
          <a:xfrm xmlns:a="http://schemas.openxmlformats.org/drawingml/2006/main">
            <a:off x="762000" y="2305050"/>
            <a:ext cx="1847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PostgreSQL</a:t>
            </a:r>
          </a:p>
        </p:txBody>
      </p:sp>
      <p:sp>
        <p:nvSpPr>
          <p:cNvPr id="16" name="">
            <a:extLst xmlns:a="http://schemas.openxmlformats.org/drawingml/2006/main">
              <a:ext uri="{FF2B5EF4-FFF2-40B4-BE49-F238E27FC236}">
                <a16:creationId xmlns:a16="http://schemas.microsoft.com/office/drawing/2014/main" id="{66A402F2-924B-443E-A628-19D9FC7DD6A7}"/>
              </a:ext>
            </a:extLst>
          </p:cNvPr>
          <p:cNvSpPr>
            <a:spLocks xmlns:a="http://schemas.openxmlformats.org/drawingml/2006/main" noGrp="1"/>
          </p:cNvSpPr>
          <p:nvPr/>
        </p:nvSpPr>
        <p:spPr>
          <a:xfrm xmlns:a="http://schemas.openxmlformats.org/drawingml/2006/main">
            <a:off x="2686050" y="2228850"/>
            <a:ext cx="333375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17" name="">
            <a:extLst xmlns:a="http://schemas.openxmlformats.org/drawingml/2006/main">
              <a:ext uri="{FF2B5EF4-FFF2-40B4-BE49-F238E27FC236}">
                <a16:creationId xmlns:a16="http://schemas.microsoft.com/office/drawing/2014/main" id="{CD9C97D1-65FA-47D7-902C-FDED69AAC46E}"/>
              </a:ext>
            </a:extLst>
          </p:cNvPr>
          <p:cNvSpPr>
            <a:spLocks xmlns:a="http://schemas.openxmlformats.org/drawingml/2006/main" noGrp="1"/>
          </p:cNvSpPr>
          <p:nvPr/>
        </p:nvSpPr>
        <p:spPr>
          <a:xfrm xmlns:a="http://schemas.openxmlformats.org/drawingml/2006/main">
            <a:off x="2762250" y="2305050"/>
            <a:ext cx="31813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status resolved, version 17</a:t>
            </a:r>
          </a:p>
        </p:txBody>
      </p:sp>
      <p:sp>
        <p:nvSpPr>
          <p:cNvPr id="18" name="">
            <a:extLst xmlns:a="http://schemas.openxmlformats.org/drawingml/2006/main">
              <a:ext uri="{FF2B5EF4-FFF2-40B4-BE49-F238E27FC236}">
                <a16:creationId xmlns:a16="http://schemas.microsoft.com/office/drawing/2014/main" id="{9512AD16-3B1F-407D-9B75-DC9D89891B2B}"/>
              </a:ext>
            </a:extLst>
          </p:cNvPr>
          <p:cNvSpPr>
            <a:spLocks xmlns:a="http://schemas.openxmlformats.org/drawingml/2006/main" noGrp="1"/>
          </p:cNvSpPr>
          <p:nvPr/>
        </p:nvSpPr>
        <p:spPr>
          <a:xfrm xmlns:a="http://schemas.openxmlformats.org/drawingml/2006/main">
            <a:off x="6019800" y="2228850"/>
            <a:ext cx="285750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19" name="">
            <a:extLst xmlns:a="http://schemas.openxmlformats.org/drawingml/2006/main">
              <a:ext uri="{FF2B5EF4-FFF2-40B4-BE49-F238E27FC236}">
                <a16:creationId xmlns:a16="http://schemas.microsoft.com/office/drawing/2014/main" id="{65E6BFF2-4154-408F-8234-B1BAA791A6D5}"/>
              </a:ext>
            </a:extLst>
          </p:cNvPr>
          <p:cNvSpPr>
            <a:spLocks xmlns:a="http://schemas.openxmlformats.org/drawingml/2006/main" noGrp="1"/>
          </p:cNvSpPr>
          <p:nvPr/>
        </p:nvSpPr>
        <p:spPr>
          <a:xfrm xmlns:a="http://schemas.openxmlformats.org/drawingml/2006/main">
            <a:off x="6096000" y="2305050"/>
            <a:ext cx="27051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authoritative update committed</a:t>
            </a:r>
          </a:p>
        </p:txBody>
      </p:sp>
      <p:sp>
        <p:nvSpPr>
          <p:cNvPr id="20" name="">
            <a:extLst xmlns:a="http://schemas.openxmlformats.org/drawingml/2006/main">
              <a:ext uri="{FF2B5EF4-FFF2-40B4-BE49-F238E27FC236}">
                <a16:creationId xmlns:a16="http://schemas.microsoft.com/office/drawing/2014/main" id="{531719B2-0E72-4694-BE6C-22D27F6E84C7}"/>
              </a:ext>
            </a:extLst>
          </p:cNvPr>
          <p:cNvSpPr>
            <a:spLocks xmlns:a="http://schemas.openxmlformats.org/drawingml/2006/main" noGrp="1"/>
          </p:cNvSpPr>
          <p:nvPr/>
        </p:nvSpPr>
        <p:spPr>
          <a:xfrm xmlns:a="http://schemas.openxmlformats.org/drawingml/2006/main">
            <a:off x="8877300" y="2228850"/>
            <a:ext cx="262890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21" name="">
            <a:extLst xmlns:a="http://schemas.openxmlformats.org/drawingml/2006/main">
              <a:ext uri="{FF2B5EF4-FFF2-40B4-BE49-F238E27FC236}">
                <a16:creationId xmlns:a16="http://schemas.microsoft.com/office/drawing/2014/main" id="{089FFCBD-6F39-4C6F-BB38-5BEA849781FB}"/>
              </a:ext>
            </a:extLst>
          </p:cNvPr>
          <p:cNvSpPr>
            <a:spLocks xmlns:a="http://schemas.openxmlformats.org/drawingml/2006/main" noGrp="1"/>
          </p:cNvSpPr>
          <p:nvPr/>
        </p:nvSpPr>
        <p:spPr>
          <a:xfrm xmlns:a="http://schemas.openxmlformats.org/drawingml/2006/main">
            <a:off x="8953500" y="2305050"/>
            <a:ext cx="2476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projection received it</a:t>
            </a:r>
          </a:p>
        </p:txBody>
      </p:sp>
      <p:sp>
        <p:nvSpPr>
          <p:cNvPr id="22" name="">
            <a:extLst xmlns:a="http://schemas.openxmlformats.org/drawingml/2006/main">
              <a:ext uri="{FF2B5EF4-FFF2-40B4-BE49-F238E27FC236}">
                <a16:creationId xmlns:a16="http://schemas.microsoft.com/office/drawing/2014/main" id="{30CC352D-C47D-4510-A65B-46D12F410FC3}"/>
              </a:ext>
            </a:extLst>
          </p:cNvPr>
          <p:cNvSpPr>
            <a:spLocks xmlns:a="http://schemas.openxmlformats.org/drawingml/2006/main" noGrp="1"/>
          </p:cNvSpPr>
          <p:nvPr/>
        </p:nvSpPr>
        <p:spPr>
          <a:xfrm xmlns:a="http://schemas.openxmlformats.org/drawingml/2006/main">
            <a:off x="685800" y="3009900"/>
            <a:ext cx="2000250" cy="78105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23" name="">
            <a:extLst xmlns:a="http://schemas.openxmlformats.org/drawingml/2006/main">
              <a:ext uri="{FF2B5EF4-FFF2-40B4-BE49-F238E27FC236}">
                <a16:creationId xmlns:a16="http://schemas.microsoft.com/office/drawing/2014/main" id="{E95E70ED-2AEF-4A48-AD64-FE49A3081E94}"/>
              </a:ext>
            </a:extLst>
          </p:cNvPr>
          <p:cNvSpPr>
            <a:spLocks xmlns:a="http://schemas.openxmlformats.org/drawingml/2006/main" noGrp="1"/>
          </p:cNvSpPr>
          <p:nvPr/>
        </p:nvSpPr>
        <p:spPr>
          <a:xfrm xmlns:a="http://schemas.openxmlformats.org/drawingml/2006/main">
            <a:off x="762000" y="3086100"/>
            <a:ext cx="1847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Outbox</a:t>
            </a:r>
          </a:p>
        </p:txBody>
      </p:sp>
      <p:sp>
        <p:nvSpPr>
          <p:cNvPr id="24" name="">
            <a:extLst xmlns:a="http://schemas.openxmlformats.org/drawingml/2006/main">
              <a:ext uri="{FF2B5EF4-FFF2-40B4-BE49-F238E27FC236}">
                <a16:creationId xmlns:a16="http://schemas.microsoft.com/office/drawing/2014/main" id="{3CE7E48A-002F-4B68-80D3-C244F0B3027E}"/>
              </a:ext>
            </a:extLst>
          </p:cNvPr>
          <p:cNvSpPr>
            <a:spLocks xmlns:a="http://schemas.openxmlformats.org/drawingml/2006/main" noGrp="1"/>
          </p:cNvSpPr>
          <p:nvPr/>
        </p:nvSpPr>
        <p:spPr>
          <a:xfrm xmlns:a="http://schemas.openxmlformats.org/drawingml/2006/main">
            <a:off x="2686050" y="3009900"/>
            <a:ext cx="3333750" cy="78105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25" name="">
            <a:extLst xmlns:a="http://schemas.openxmlformats.org/drawingml/2006/main">
              <a:ext uri="{FF2B5EF4-FFF2-40B4-BE49-F238E27FC236}">
                <a16:creationId xmlns:a16="http://schemas.microsoft.com/office/drawing/2014/main" id="{E776A705-B080-4DC9-A34B-01386F32E085}"/>
              </a:ext>
            </a:extLst>
          </p:cNvPr>
          <p:cNvSpPr>
            <a:spLocks xmlns:a="http://schemas.openxmlformats.org/drawingml/2006/main" noGrp="1"/>
          </p:cNvSpPr>
          <p:nvPr/>
        </p:nvSpPr>
        <p:spPr>
          <a:xfrm xmlns:a="http://schemas.openxmlformats.org/drawingml/2006/main">
            <a:off x="2762250" y="3086100"/>
            <a:ext cx="31813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event 1008-17 published</a:t>
            </a:r>
          </a:p>
        </p:txBody>
      </p:sp>
      <p:sp>
        <p:nvSpPr>
          <p:cNvPr id="26" name="">
            <a:extLst xmlns:a="http://schemas.openxmlformats.org/drawingml/2006/main">
              <a:ext uri="{FF2B5EF4-FFF2-40B4-BE49-F238E27FC236}">
                <a16:creationId xmlns:a16="http://schemas.microsoft.com/office/drawing/2014/main" id="{F1258A05-D05B-4F9C-8042-45FBECA340CD}"/>
              </a:ext>
            </a:extLst>
          </p:cNvPr>
          <p:cNvSpPr>
            <a:spLocks xmlns:a="http://schemas.openxmlformats.org/drawingml/2006/main" noGrp="1"/>
          </p:cNvSpPr>
          <p:nvPr/>
        </p:nvSpPr>
        <p:spPr>
          <a:xfrm xmlns:a="http://schemas.openxmlformats.org/drawingml/2006/main">
            <a:off x="6019800" y="3009900"/>
            <a:ext cx="2857500" cy="78105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27" name="">
            <a:extLst xmlns:a="http://schemas.openxmlformats.org/drawingml/2006/main">
              <a:ext uri="{FF2B5EF4-FFF2-40B4-BE49-F238E27FC236}">
                <a16:creationId xmlns:a16="http://schemas.microsoft.com/office/drawing/2014/main" id="{DC126453-44C9-41FE-ACDE-6D51B6C02510}"/>
              </a:ext>
            </a:extLst>
          </p:cNvPr>
          <p:cNvSpPr>
            <a:spLocks xmlns:a="http://schemas.openxmlformats.org/drawingml/2006/main" noGrp="1"/>
          </p:cNvSpPr>
          <p:nvPr/>
        </p:nvSpPr>
        <p:spPr>
          <a:xfrm xmlns:a="http://schemas.openxmlformats.org/drawingml/2006/main">
            <a:off x="6096000" y="3086100"/>
            <a:ext cx="27051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event existed and relay marked publish</a:t>
            </a:r>
          </a:p>
        </p:txBody>
      </p:sp>
      <p:sp>
        <p:nvSpPr>
          <p:cNvPr id="28" name="">
            <a:extLst xmlns:a="http://schemas.openxmlformats.org/drawingml/2006/main">
              <a:ext uri="{FF2B5EF4-FFF2-40B4-BE49-F238E27FC236}">
                <a16:creationId xmlns:a16="http://schemas.microsoft.com/office/drawing/2014/main" id="{7999B07D-B624-4886-B676-A54894D2691D}"/>
              </a:ext>
            </a:extLst>
          </p:cNvPr>
          <p:cNvSpPr>
            <a:spLocks xmlns:a="http://schemas.openxmlformats.org/drawingml/2006/main" noGrp="1"/>
          </p:cNvSpPr>
          <p:nvPr/>
        </p:nvSpPr>
        <p:spPr>
          <a:xfrm xmlns:a="http://schemas.openxmlformats.org/drawingml/2006/main">
            <a:off x="8877300" y="3009900"/>
            <a:ext cx="2628900" cy="78105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29" name="">
            <a:extLst xmlns:a="http://schemas.openxmlformats.org/drawingml/2006/main">
              <a:ext uri="{FF2B5EF4-FFF2-40B4-BE49-F238E27FC236}">
                <a16:creationId xmlns:a16="http://schemas.microsoft.com/office/drawing/2014/main" id="{D02833A5-0E7B-4601-B0F0-4EFA127A19A4}"/>
              </a:ext>
            </a:extLst>
          </p:cNvPr>
          <p:cNvSpPr>
            <a:spLocks xmlns:a="http://schemas.openxmlformats.org/drawingml/2006/main" noGrp="1"/>
          </p:cNvSpPr>
          <p:nvPr/>
        </p:nvSpPr>
        <p:spPr>
          <a:xfrm xmlns:a="http://schemas.openxmlformats.org/drawingml/2006/main">
            <a:off x="8953500" y="3086100"/>
            <a:ext cx="2476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consumer applied it</a:t>
            </a:r>
          </a:p>
        </p:txBody>
      </p:sp>
      <p:sp>
        <p:nvSpPr>
          <p:cNvPr id="30" name="">
            <a:extLst xmlns:a="http://schemas.openxmlformats.org/drawingml/2006/main">
              <a:ext uri="{FF2B5EF4-FFF2-40B4-BE49-F238E27FC236}">
                <a16:creationId xmlns:a16="http://schemas.microsoft.com/office/drawing/2014/main" id="{FE160E02-B351-4322-B9CA-7E961F79281B}"/>
              </a:ext>
            </a:extLst>
          </p:cNvPr>
          <p:cNvSpPr>
            <a:spLocks xmlns:a="http://schemas.openxmlformats.org/drawingml/2006/main" noGrp="1"/>
          </p:cNvSpPr>
          <p:nvPr/>
        </p:nvSpPr>
        <p:spPr>
          <a:xfrm xmlns:a="http://schemas.openxmlformats.org/drawingml/2006/main">
            <a:off x="685800" y="3790950"/>
            <a:ext cx="200025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31" name="">
            <a:extLst xmlns:a="http://schemas.openxmlformats.org/drawingml/2006/main">
              <a:ext uri="{FF2B5EF4-FFF2-40B4-BE49-F238E27FC236}">
                <a16:creationId xmlns:a16="http://schemas.microsoft.com/office/drawing/2014/main" id="{94F4E77D-3C24-4818-ACE4-AEFD84EBF94A}"/>
              </a:ext>
            </a:extLst>
          </p:cNvPr>
          <p:cNvSpPr>
            <a:spLocks xmlns:a="http://schemas.openxmlformats.org/drawingml/2006/main" noGrp="1"/>
          </p:cNvSpPr>
          <p:nvPr/>
        </p:nvSpPr>
        <p:spPr>
          <a:xfrm xmlns:a="http://schemas.openxmlformats.org/drawingml/2006/main">
            <a:off x="762000" y="3867150"/>
            <a:ext cx="1847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Consumer</a:t>
            </a:r>
          </a:p>
        </p:txBody>
      </p:sp>
      <p:sp>
        <p:nvSpPr>
          <p:cNvPr id="32" name="">
            <a:extLst xmlns:a="http://schemas.openxmlformats.org/drawingml/2006/main">
              <a:ext uri="{FF2B5EF4-FFF2-40B4-BE49-F238E27FC236}">
                <a16:creationId xmlns:a16="http://schemas.microsoft.com/office/drawing/2014/main" id="{43008FA9-0E4A-4B34-872A-E7C81979C122}"/>
              </a:ext>
            </a:extLst>
          </p:cNvPr>
          <p:cNvSpPr>
            <a:spLocks xmlns:a="http://schemas.openxmlformats.org/drawingml/2006/main" noGrp="1"/>
          </p:cNvSpPr>
          <p:nvPr/>
        </p:nvSpPr>
        <p:spPr>
          <a:xfrm xmlns:a="http://schemas.openxmlformats.org/drawingml/2006/main">
            <a:off x="2686050" y="3790950"/>
            <a:ext cx="333375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33" name="">
            <a:extLst xmlns:a="http://schemas.openxmlformats.org/drawingml/2006/main">
              <a:ext uri="{FF2B5EF4-FFF2-40B4-BE49-F238E27FC236}">
                <a16:creationId xmlns:a16="http://schemas.microsoft.com/office/drawing/2014/main" id="{5FB7C628-2CB9-4B72-BFCB-BDE477D3D48A}"/>
              </a:ext>
            </a:extLst>
          </p:cNvPr>
          <p:cNvSpPr>
            <a:spLocks xmlns:a="http://schemas.openxmlformats.org/drawingml/2006/main" noGrp="1"/>
          </p:cNvSpPr>
          <p:nvPr/>
        </p:nvSpPr>
        <p:spPr>
          <a:xfrm xmlns:a="http://schemas.openxmlformats.org/drawingml/2006/main">
            <a:off x="2762250" y="3867150"/>
            <a:ext cx="31813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write timeout; retry worker paused</a:t>
            </a:r>
          </a:p>
        </p:txBody>
      </p:sp>
      <p:sp>
        <p:nvSpPr>
          <p:cNvPr id="34" name="">
            <a:extLst xmlns:a="http://schemas.openxmlformats.org/drawingml/2006/main">
              <a:ext uri="{FF2B5EF4-FFF2-40B4-BE49-F238E27FC236}">
                <a16:creationId xmlns:a16="http://schemas.microsoft.com/office/drawing/2014/main" id="{C2C31A4A-7487-4660-977A-A4CB2612800A}"/>
              </a:ext>
            </a:extLst>
          </p:cNvPr>
          <p:cNvSpPr>
            <a:spLocks xmlns:a="http://schemas.openxmlformats.org/drawingml/2006/main" noGrp="1"/>
          </p:cNvSpPr>
          <p:nvPr/>
        </p:nvSpPr>
        <p:spPr>
          <a:xfrm xmlns:a="http://schemas.openxmlformats.org/drawingml/2006/main">
            <a:off x="6019800" y="3790950"/>
            <a:ext cx="285750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35" name="">
            <a:extLst xmlns:a="http://schemas.openxmlformats.org/drawingml/2006/main">
              <a:ext uri="{FF2B5EF4-FFF2-40B4-BE49-F238E27FC236}">
                <a16:creationId xmlns:a16="http://schemas.microsoft.com/office/drawing/2014/main" id="{84B5D9DA-E961-47B5-A04B-0B4A9D1D8376}"/>
              </a:ext>
            </a:extLst>
          </p:cNvPr>
          <p:cNvSpPr>
            <a:spLocks xmlns:a="http://schemas.openxmlformats.org/drawingml/2006/main" noGrp="1"/>
          </p:cNvSpPr>
          <p:nvPr/>
        </p:nvSpPr>
        <p:spPr>
          <a:xfrm xmlns:a="http://schemas.openxmlformats.org/drawingml/2006/main">
            <a:off x="6096000" y="3867150"/>
            <a:ext cx="27051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propagation stopped after receipt</a:t>
            </a:r>
          </a:p>
        </p:txBody>
      </p:sp>
      <p:sp>
        <p:nvSpPr>
          <p:cNvPr id="36" name="">
            <a:extLst xmlns:a="http://schemas.openxmlformats.org/drawingml/2006/main">
              <a:ext uri="{FF2B5EF4-FFF2-40B4-BE49-F238E27FC236}">
                <a16:creationId xmlns:a16="http://schemas.microsoft.com/office/drawing/2014/main" id="{D14B4E4D-5A42-4862-97CB-24B49447EB79}"/>
              </a:ext>
            </a:extLst>
          </p:cNvPr>
          <p:cNvSpPr>
            <a:spLocks xmlns:a="http://schemas.openxmlformats.org/drawingml/2006/main" noGrp="1"/>
          </p:cNvSpPr>
          <p:nvPr/>
        </p:nvSpPr>
        <p:spPr>
          <a:xfrm xmlns:a="http://schemas.openxmlformats.org/drawingml/2006/main">
            <a:off x="8877300" y="3790950"/>
            <a:ext cx="262890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37" name="">
            <a:extLst xmlns:a="http://schemas.openxmlformats.org/drawingml/2006/main">
              <a:ext uri="{FF2B5EF4-FFF2-40B4-BE49-F238E27FC236}">
                <a16:creationId xmlns:a16="http://schemas.microsoft.com/office/drawing/2014/main" id="{BFDBC2B4-0837-4A05-9BA6-2A461426CB82}"/>
              </a:ext>
            </a:extLst>
          </p:cNvPr>
          <p:cNvSpPr>
            <a:spLocks xmlns:a="http://schemas.openxmlformats.org/drawingml/2006/main" noGrp="1"/>
          </p:cNvSpPr>
          <p:nvPr/>
        </p:nvSpPr>
        <p:spPr>
          <a:xfrm xmlns:a="http://schemas.openxmlformats.org/drawingml/2006/main">
            <a:off x="8953500" y="3867150"/>
            <a:ext cx="2476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only one event is affected</a:t>
            </a:r>
          </a:p>
        </p:txBody>
      </p:sp>
      <p:sp>
        <p:nvSpPr>
          <p:cNvPr id="38" name="">
            <a:extLst xmlns:a="http://schemas.openxmlformats.org/drawingml/2006/main">
              <a:ext uri="{FF2B5EF4-FFF2-40B4-BE49-F238E27FC236}">
                <a16:creationId xmlns:a16="http://schemas.microsoft.com/office/drawing/2014/main" id="{0E1CE786-49D8-46B0-89ED-4B0EE525DE99}"/>
              </a:ext>
            </a:extLst>
          </p:cNvPr>
          <p:cNvSpPr>
            <a:spLocks xmlns:a="http://schemas.openxmlformats.org/drawingml/2006/main" noGrp="1"/>
          </p:cNvSpPr>
          <p:nvPr/>
        </p:nvSpPr>
        <p:spPr>
          <a:xfrm xmlns:a="http://schemas.openxmlformats.org/drawingml/2006/main">
            <a:off x="685800" y="4572000"/>
            <a:ext cx="2000250" cy="78105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39" name="">
            <a:extLst xmlns:a="http://schemas.openxmlformats.org/drawingml/2006/main">
              <a:ext uri="{FF2B5EF4-FFF2-40B4-BE49-F238E27FC236}">
                <a16:creationId xmlns:a16="http://schemas.microsoft.com/office/drawing/2014/main" id="{F11FDD64-3882-4F6F-AB37-65136B3D2BEE}"/>
              </a:ext>
            </a:extLst>
          </p:cNvPr>
          <p:cNvSpPr>
            <a:spLocks xmlns:a="http://schemas.openxmlformats.org/drawingml/2006/main" noGrp="1"/>
          </p:cNvSpPr>
          <p:nvPr/>
        </p:nvSpPr>
        <p:spPr>
          <a:xfrm xmlns:a="http://schemas.openxmlformats.org/drawingml/2006/main">
            <a:off x="762000" y="4648200"/>
            <a:ext cx="1847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MongoDB</a:t>
            </a:r>
          </a:p>
        </p:txBody>
      </p:sp>
      <p:sp>
        <p:nvSpPr>
          <p:cNvPr id="40" name="">
            <a:extLst xmlns:a="http://schemas.openxmlformats.org/drawingml/2006/main">
              <a:ext uri="{FF2B5EF4-FFF2-40B4-BE49-F238E27FC236}">
                <a16:creationId xmlns:a16="http://schemas.microsoft.com/office/drawing/2014/main" id="{B4CE2EEC-984D-4AE7-8B6E-E59310C3AB71}"/>
              </a:ext>
            </a:extLst>
          </p:cNvPr>
          <p:cNvSpPr>
            <a:spLocks xmlns:a="http://schemas.openxmlformats.org/drawingml/2006/main" noGrp="1"/>
          </p:cNvSpPr>
          <p:nvPr/>
        </p:nvSpPr>
        <p:spPr>
          <a:xfrm xmlns:a="http://schemas.openxmlformats.org/drawingml/2006/main">
            <a:off x="2686050" y="4572000"/>
            <a:ext cx="3333750" cy="78105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41" name="">
            <a:extLst xmlns:a="http://schemas.openxmlformats.org/drawingml/2006/main">
              <a:ext uri="{FF2B5EF4-FFF2-40B4-BE49-F238E27FC236}">
                <a16:creationId xmlns:a16="http://schemas.microsoft.com/office/drawing/2014/main" id="{1C6AAE00-F463-44DB-834C-55C7E01BCFA0}"/>
              </a:ext>
            </a:extLst>
          </p:cNvPr>
          <p:cNvSpPr>
            <a:spLocks xmlns:a="http://schemas.openxmlformats.org/drawingml/2006/main" noGrp="1"/>
          </p:cNvSpPr>
          <p:nvPr/>
        </p:nvSpPr>
        <p:spPr>
          <a:xfrm xmlns:a="http://schemas.openxmlformats.org/drawingml/2006/main">
            <a:off x="2762250" y="4648200"/>
            <a:ext cx="31813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status open, version 16</a:t>
            </a:r>
          </a:p>
        </p:txBody>
      </p:sp>
      <p:sp>
        <p:nvSpPr>
          <p:cNvPr id="42" name="">
            <a:extLst xmlns:a="http://schemas.openxmlformats.org/drawingml/2006/main">
              <a:ext uri="{FF2B5EF4-FFF2-40B4-BE49-F238E27FC236}">
                <a16:creationId xmlns:a16="http://schemas.microsoft.com/office/drawing/2014/main" id="{24BE2BF9-79AB-4BE3-B68B-993FBF0BC75D}"/>
              </a:ext>
            </a:extLst>
          </p:cNvPr>
          <p:cNvSpPr>
            <a:spLocks xmlns:a="http://schemas.openxmlformats.org/drawingml/2006/main" noGrp="1"/>
          </p:cNvSpPr>
          <p:nvPr/>
        </p:nvSpPr>
        <p:spPr>
          <a:xfrm xmlns:a="http://schemas.openxmlformats.org/drawingml/2006/main">
            <a:off x="6019800" y="4572000"/>
            <a:ext cx="2857500" cy="78105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43" name="">
            <a:extLst xmlns:a="http://schemas.openxmlformats.org/drawingml/2006/main">
              <a:ext uri="{FF2B5EF4-FFF2-40B4-BE49-F238E27FC236}">
                <a16:creationId xmlns:a16="http://schemas.microsoft.com/office/drawing/2014/main" id="{158FEC64-3375-49EF-A43D-935C91DB0238}"/>
              </a:ext>
            </a:extLst>
          </p:cNvPr>
          <p:cNvSpPr>
            <a:spLocks xmlns:a="http://schemas.openxmlformats.org/drawingml/2006/main" noGrp="1"/>
          </p:cNvSpPr>
          <p:nvPr/>
        </p:nvSpPr>
        <p:spPr>
          <a:xfrm xmlns:a="http://schemas.openxmlformats.org/drawingml/2006/main">
            <a:off x="6096000" y="4648200"/>
            <a:ext cx="27051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projection is stale</a:t>
            </a:r>
          </a:p>
        </p:txBody>
      </p:sp>
      <p:sp>
        <p:nvSpPr>
          <p:cNvPr id="44" name="">
            <a:extLst xmlns:a="http://schemas.openxmlformats.org/drawingml/2006/main">
              <a:ext uri="{FF2B5EF4-FFF2-40B4-BE49-F238E27FC236}">
                <a16:creationId xmlns:a16="http://schemas.microsoft.com/office/drawing/2014/main" id="{2757F909-E050-4AD4-9DC1-4C0A2BA10C35}"/>
              </a:ext>
            </a:extLst>
          </p:cNvPr>
          <p:cNvSpPr>
            <a:spLocks xmlns:a="http://schemas.openxmlformats.org/drawingml/2006/main" noGrp="1"/>
          </p:cNvSpPr>
          <p:nvPr/>
        </p:nvSpPr>
        <p:spPr>
          <a:xfrm xmlns:a="http://schemas.openxmlformats.org/drawingml/2006/main">
            <a:off x="8877300" y="4572000"/>
            <a:ext cx="2628900" cy="78105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45" name="">
            <a:extLst xmlns:a="http://schemas.openxmlformats.org/drawingml/2006/main">
              <a:ext uri="{FF2B5EF4-FFF2-40B4-BE49-F238E27FC236}">
                <a16:creationId xmlns:a16="http://schemas.microsoft.com/office/drawing/2014/main" id="{19402971-FBE3-4AB8-93EC-897665B5848C}"/>
              </a:ext>
            </a:extLst>
          </p:cNvPr>
          <p:cNvSpPr>
            <a:spLocks xmlns:a="http://schemas.openxmlformats.org/drawingml/2006/main" noGrp="1"/>
          </p:cNvSpPr>
          <p:nvPr/>
        </p:nvSpPr>
        <p:spPr>
          <a:xfrm xmlns:a="http://schemas.openxmlformats.org/drawingml/2006/main">
            <a:off x="8953500" y="4648200"/>
            <a:ext cx="2476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manual edit is safest repair</a:t>
            </a:r>
          </a:p>
        </p:txBody>
      </p:sp>
    </p:spTree>
    <p:extLst>
      <p:ext uri="{BB962C8B-B14F-4D97-AF65-F5344CB8AC3E}">
        <p14:creationId xmlns:p14="http://schemas.microsoft.com/office/powerpoint/2010/main" val="1569148958"/>
      </p:ext>
    </p:extLst>
  </p:cSld>
</p:sld>
</file>

<file path=ppt/slides/slide7.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BD8575F1-62FD-406C-BAF5-52573B71946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87E2BE86-35DC-4D13-A414-209A75B98D4E}"/>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WEEK 14  /  CST4714</a:t>
            </a:r>
          </a:p>
        </p:txBody>
      </p:sp>
      <p:sp>
        <p:nvSpPr>
          <p:cNvPr id="3" name="slide-title">
            <a:extLst xmlns:a="http://schemas.openxmlformats.org/drawingml/2006/main">
              <a:ext uri="{FF2B5EF4-FFF2-40B4-BE49-F238E27FC236}">
                <a16:creationId xmlns:a16="http://schemas.microsoft.com/office/drawing/2014/main" id="{9F43C3E3-5C23-4CAB-B690-5B0F549215CC}"/>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Lab: Repair a stale MongoDB projection</a:t>
            </a:r>
          </a:p>
        </p:txBody>
      </p:sp>
      <p:sp>
        <p:nvSpPr>
          <p:cNvPr id="4" name="">
            <a:extLst xmlns:a="http://schemas.openxmlformats.org/drawingml/2006/main">
              <a:ext uri="{FF2B5EF4-FFF2-40B4-BE49-F238E27FC236}">
                <a16:creationId xmlns:a16="http://schemas.microsoft.com/office/drawing/2014/main" id="{5AC6DE09-D70C-466D-8386-C5A14083DA5D}"/>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FB0D344E-3027-43EB-B462-1C1DAD5778EE}"/>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7</a:t>
            </a:r>
          </a:p>
        </p:txBody>
      </p:sp>
      <p:sp>
        <p:nvSpPr>
          <p:cNvPr id="6" name="">
            <a:extLst xmlns:a="http://schemas.openxmlformats.org/drawingml/2006/main">
              <a:ext uri="{FF2B5EF4-FFF2-40B4-BE49-F238E27FC236}">
                <a16:creationId xmlns:a16="http://schemas.microsoft.com/office/drawing/2014/main" id="{291AD330-0F55-433E-90BD-F65BD217CBB3}"/>
              </a:ext>
            </a:extLst>
          </p:cNvPr>
          <p:cNvSpPr>
            <a:spLocks xmlns:a="http://schemas.openxmlformats.org/drawingml/2006/main" noGrp="1"/>
          </p:cNvSpPr>
          <p:nvPr/>
        </p:nvSpPr>
        <p:spPr>
          <a:xfrm xmlns:a="http://schemas.openxmlformats.org/drawingml/2006/main">
            <a:off x="723900" y="160020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875">
                <a:solidFill>
                  <a:srgbClr val="475569"/>
                </a:solidFill>
                <a:latin typeface="Helvetica Neue"/>
                <a:ea typeface="Helvetica Neue"/>
                <a:cs typeface="Helvetica Neue"/>
              </a:defRPr>
            </a:pPr>
            <a:r>
              <a:rPr sz="1875">
                <a:solidFill>
                  <a:srgbClr val="475569"/>
                </a:solidFill>
                <a:latin typeface="Helvetica Neue"/>
                <a:ea typeface="Helvetica Neue"/>
                <a:cs typeface="Helvetica Neue"/>
              </a:rPr>
              <a:t>Triage the evidence packet, preserve authoritative ownership, and write one workplace-readable incident report.</a:t>
            </a:r>
          </a:p>
        </p:txBody>
      </p:sp>
      <p:sp>
        <p:nvSpPr>
          <p:cNvPr id="7" name="">
            <a:extLst xmlns:a="http://schemas.openxmlformats.org/drawingml/2006/main">
              <a:ext uri="{FF2B5EF4-FFF2-40B4-BE49-F238E27FC236}">
                <a16:creationId xmlns:a16="http://schemas.microsoft.com/office/drawing/2014/main" id="{79AC3E83-01EE-443C-8AA0-A1431B3CA31C}"/>
              </a:ext>
            </a:extLst>
          </p:cNvPr>
          <p:cNvSpPr>
            <a:spLocks xmlns:a="http://schemas.openxmlformats.org/drawingml/2006/main" noGrp="1"/>
          </p:cNvSpPr>
          <p:nvPr/>
        </p:nvSpPr>
        <p:spPr>
          <a:xfrm xmlns:a="http://schemas.openxmlformats.org/drawingml/2006/main">
            <a:off x="876300" y="2571750"/>
            <a:ext cx="85725" cy="3048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8" name="">
            <a:extLst xmlns:a="http://schemas.openxmlformats.org/drawingml/2006/main">
              <a:ext uri="{FF2B5EF4-FFF2-40B4-BE49-F238E27FC236}">
                <a16:creationId xmlns:a16="http://schemas.microsoft.com/office/drawing/2014/main" id="{38EE6979-B48D-40E3-A5E7-F88D5F8B99B6}"/>
              </a:ext>
            </a:extLst>
          </p:cNvPr>
          <p:cNvSpPr>
            <a:spLocks xmlns:a="http://schemas.openxmlformats.org/drawingml/2006/main" noGrp="1"/>
          </p:cNvSpPr>
          <p:nvPr/>
        </p:nvSpPr>
        <p:spPr>
          <a:xfrm xmlns:a="http://schemas.openxmlformats.org/drawingml/2006/main">
            <a:off x="1143000" y="2514600"/>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Build the timeline, identify the owner, and state exactly where propagation stopped.</a:t>
            </a:r>
          </a:p>
        </p:txBody>
      </p:sp>
      <p:sp>
        <p:nvSpPr>
          <p:cNvPr id="9" name="">
            <a:extLst xmlns:a="http://schemas.openxmlformats.org/drawingml/2006/main">
              <a:ext uri="{FF2B5EF4-FFF2-40B4-BE49-F238E27FC236}">
                <a16:creationId xmlns:a16="http://schemas.microsoft.com/office/drawing/2014/main" id="{D2566652-06F3-4200-8771-A00D67D73D36}"/>
              </a:ext>
            </a:extLst>
          </p:cNvPr>
          <p:cNvSpPr>
            <a:spLocks xmlns:a="http://schemas.openxmlformats.org/drawingml/2006/main" noGrp="1"/>
          </p:cNvSpPr>
          <p:nvPr/>
        </p:nvSpPr>
        <p:spPr>
          <a:xfrm xmlns:a="http://schemas.openxmlformats.org/drawingml/2006/main">
            <a:off x="876300" y="3286125"/>
            <a:ext cx="85725" cy="3048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10" name="">
            <a:extLst xmlns:a="http://schemas.openxmlformats.org/drawingml/2006/main">
              <a:ext uri="{FF2B5EF4-FFF2-40B4-BE49-F238E27FC236}">
                <a16:creationId xmlns:a16="http://schemas.microsoft.com/office/drawing/2014/main" id="{3280327E-8E0E-469C-915D-FEB5A754DBE3}"/>
              </a:ext>
            </a:extLst>
          </p:cNvPr>
          <p:cNvSpPr>
            <a:spLocks xmlns:a="http://schemas.openxmlformats.org/drawingml/2006/main" noGrp="1"/>
          </p:cNvSpPr>
          <p:nvPr/>
        </p:nvSpPr>
        <p:spPr>
          <a:xfrm xmlns:a="http://schemas.openxmlformats.org/drawingml/2006/main">
            <a:off x="1143000" y="3228975"/>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Recommend an idempotent replay or resume action and five checks covering record, queue, duplicate effect, lag, and broader scope.</a:t>
            </a:r>
          </a:p>
        </p:txBody>
      </p:sp>
      <p:sp>
        <p:nvSpPr>
          <p:cNvPr id="11" name="">
            <a:extLst xmlns:a="http://schemas.openxmlformats.org/drawingml/2006/main">
              <a:ext uri="{FF2B5EF4-FFF2-40B4-BE49-F238E27FC236}">
                <a16:creationId xmlns:a16="http://schemas.microsoft.com/office/drawing/2014/main" id="{29484EA7-A2A7-4ED7-9609-4300E45DECA7}"/>
              </a:ext>
            </a:extLst>
          </p:cNvPr>
          <p:cNvSpPr>
            <a:spLocks xmlns:a="http://schemas.openxmlformats.org/drawingml/2006/main" noGrp="1"/>
          </p:cNvSpPr>
          <p:nvPr/>
        </p:nvSpPr>
        <p:spPr>
          <a:xfrm xmlns:a="http://schemas.openxmlformats.org/drawingml/2006/main">
            <a:off x="876300" y="4000500"/>
            <a:ext cx="85725" cy="3048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12" name="">
            <a:extLst xmlns:a="http://schemas.openxmlformats.org/drawingml/2006/main">
              <a:ext uri="{FF2B5EF4-FFF2-40B4-BE49-F238E27FC236}">
                <a16:creationId xmlns:a16="http://schemas.microsoft.com/office/drawing/2014/main" id="{EDD783CF-32A9-465A-9397-962A6B3D2445}"/>
              </a:ext>
            </a:extLst>
          </p:cNvPr>
          <p:cNvSpPr>
            <a:spLocks xmlns:a="http://schemas.openxmlformats.org/drawingml/2006/main" noGrp="1"/>
          </p:cNvSpPr>
          <p:nvPr/>
        </p:nvSpPr>
        <p:spPr>
          <a:xfrm xmlns:a="http://schemas.openxmlformats.org/drawingml/2006/main">
            <a:off x="1143000" y="3943350"/>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Write a concise incident update with impact, evidence-based cause, mitigation, verification, limitation, and prevention.</a:t>
            </a:r>
          </a:p>
        </p:txBody>
      </p:sp>
      <p:sp>
        <p:nvSpPr>
          <p:cNvPr id="13" name="">
            <a:extLst xmlns:a="http://schemas.openxmlformats.org/drawingml/2006/main">
              <a:ext uri="{FF2B5EF4-FFF2-40B4-BE49-F238E27FC236}">
                <a16:creationId xmlns:a16="http://schemas.microsoft.com/office/drawing/2014/main" id="{AC7164A1-CB8F-4410-AD18-7ED0EB842B7D}"/>
              </a:ext>
            </a:extLst>
          </p:cNvPr>
          <p:cNvSpPr>
            <a:spLocks xmlns:a="http://schemas.openxmlformats.org/drawingml/2006/main" noGrp="1"/>
          </p:cNvSpPr>
          <p:nvPr/>
        </p:nvSpPr>
        <p:spPr>
          <a:xfrm xmlns:a="http://schemas.openxmlformats.org/drawingml/2006/main">
            <a:off x="723900" y="5429250"/>
            <a:ext cx="10287000" cy="666750"/>
          </a:xfrm>
          <a:prstGeom xmlns:a="http://schemas.openxmlformats.org/drawingml/2006/main" prst="rect">
            <a:avLst/>
          </a:prstGeom>
          <a:solidFill xmlns:a="http://schemas.openxmlformats.org/drawingml/2006/main">
            <a:srgbClr val="15803D"/>
          </a:solidFill>
          <a:ln xmlns:a="http://schemas.openxmlformats.org/drawingml/2006/main" w="9525">
            <a:solidFill>
              <a:srgbClr val="15803D"/>
            </a:solidFill>
            <a:prstDash val="solid"/>
          </a:ln>
        </p:spPr>
      </p:sp>
      <p:sp>
        <p:nvSpPr>
          <p:cNvPr id="14" name="">
            <a:extLst xmlns:a="http://schemas.openxmlformats.org/drawingml/2006/main">
              <a:ext uri="{FF2B5EF4-FFF2-40B4-BE49-F238E27FC236}">
                <a16:creationId xmlns:a16="http://schemas.microsoft.com/office/drawing/2014/main" id="{BA72B5D0-BC75-445E-82C2-4EEBB71A04C0}"/>
              </a:ext>
            </a:extLst>
          </p:cNvPr>
          <p:cNvSpPr>
            <a:spLocks xmlns:a="http://schemas.openxmlformats.org/drawingml/2006/main" noGrp="1"/>
          </p:cNvSpPr>
          <p:nvPr/>
        </p:nvSpPr>
        <p:spPr>
          <a:xfrm xmlns:a="http://schemas.openxmlformats.org/drawingml/2006/main">
            <a:off x="933450" y="5591175"/>
            <a:ext cx="985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SUBMIT ONE THING  /  one week_14_incident_report.md file</a:t>
            </a:r>
          </a:p>
        </p:txBody>
      </p:sp>
    </p:spTree>
    <p:extLst>
      <p:ext uri="{BB962C8B-B14F-4D97-AF65-F5344CB8AC3E}">
        <p14:creationId xmlns:p14="http://schemas.microsoft.com/office/powerpoint/2010/main" val="1568972327"/>
      </p:ext>
    </p:extLst>
  </p:cSld>
</p:sld>
</file>

<file path=ppt/slides/slide8.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E75964E-4011-40D8-AF00-6B3C283DD29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859EE8F8-0935-443C-B712-8DCD14FAF46C}"/>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WEEK 14  /  CST4714</a:t>
            </a:r>
          </a:p>
        </p:txBody>
      </p:sp>
      <p:sp>
        <p:nvSpPr>
          <p:cNvPr id="3" name="slide-title">
            <a:extLst xmlns:a="http://schemas.openxmlformats.org/drawingml/2006/main">
              <a:ext uri="{FF2B5EF4-FFF2-40B4-BE49-F238E27FC236}">
                <a16:creationId xmlns:a16="http://schemas.microsoft.com/office/drawing/2014/main" id="{B4DAE901-B395-4C0C-93E4-2CC530ACA753}"/>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A safe repair restores the path instead of inventing truth</a:t>
            </a:r>
          </a:p>
        </p:txBody>
      </p:sp>
      <p:sp>
        <p:nvSpPr>
          <p:cNvPr id="4" name="">
            <a:extLst xmlns:a="http://schemas.openxmlformats.org/drawingml/2006/main">
              <a:ext uri="{FF2B5EF4-FFF2-40B4-BE49-F238E27FC236}">
                <a16:creationId xmlns:a16="http://schemas.microsoft.com/office/drawing/2014/main" id="{5C93E883-1417-42AD-B357-76F7F01113B4}"/>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585FE560-F100-4872-84F9-8F3205D9BD77}"/>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8</a:t>
            </a:r>
          </a:p>
        </p:txBody>
      </p:sp>
      <p:sp>
        <p:nvSpPr>
          <p:cNvPr id="6" name="primary-claim">
            <a:extLst xmlns:a="http://schemas.openxmlformats.org/drawingml/2006/main">
              <a:ext uri="{FF2B5EF4-FFF2-40B4-BE49-F238E27FC236}">
                <a16:creationId xmlns:a16="http://schemas.microsoft.com/office/drawing/2014/main" id="{0F08F5EB-494E-49B3-B6B8-1217E0982179}"/>
              </a:ext>
            </a:extLst>
          </p:cNvPr>
          <p:cNvSpPr>
            <a:spLocks xmlns:a="http://schemas.openxmlformats.org/drawingml/2006/main" noGrp="1"/>
          </p:cNvSpPr>
          <p:nvPr/>
        </p:nvSpPr>
        <p:spPr>
          <a:xfrm xmlns:a="http://schemas.openxmlformats.org/drawingml/2006/main">
            <a:off x="723900" y="1676400"/>
            <a:ext cx="99060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925" b="1">
                <a:solidFill>
                  <a:srgbClr val="15803D"/>
                </a:solidFill>
                <a:latin typeface="Helvetica Neue"/>
                <a:ea typeface="Helvetica Neue"/>
                <a:cs typeface="Helvetica Neue"/>
              </a:defRPr>
            </a:pPr>
            <a:r>
              <a:rPr sz="2925" b="1">
                <a:solidFill>
                  <a:srgbClr val="15803D"/>
                </a:solidFill>
                <a:latin typeface="Helvetica Neue"/>
                <a:ea typeface="Helvetica Neue"/>
                <a:cs typeface="Helvetica Neue"/>
              </a:rPr>
              <a:t>Repair the consumer, replay the stable event, and let the version rule reject duplicates.</a:t>
            </a:r>
          </a:p>
        </p:txBody>
      </p:sp>
      <p:sp>
        <p:nvSpPr>
          <p:cNvPr id="7" name="">
            <a:extLst xmlns:a="http://schemas.openxmlformats.org/drawingml/2006/main">
              <a:ext uri="{FF2B5EF4-FFF2-40B4-BE49-F238E27FC236}">
                <a16:creationId xmlns:a16="http://schemas.microsoft.com/office/drawing/2014/main" id="{154B2BF9-6A8E-4146-85E0-5C43767A26EC}"/>
              </a:ext>
            </a:extLst>
          </p:cNvPr>
          <p:cNvSpPr>
            <a:spLocks xmlns:a="http://schemas.openxmlformats.org/drawingml/2006/main" noGrp="1"/>
          </p:cNvSpPr>
          <p:nvPr/>
        </p:nvSpPr>
        <p:spPr>
          <a:xfrm xmlns:a="http://schemas.openxmlformats.org/drawingml/2006/main">
            <a:off x="723900" y="3857625"/>
            <a:ext cx="3238500" cy="0"/>
          </a:xfrm>
          <a:prstGeom xmlns:a="http://schemas.openxmlformats.org/drawingml/2006/main" prst="line">
            <a:avLst/>
          </a:prstGeom>
          <a:noFill xmlns:a="http://schemas.openxmlformats.org/drawingml/2006/main"/>
          <a:ln xmlns:a="http://schemas.openxmlformats.org/drawingml/2006/main" w="38100">
            <a:solidFill>
              <a:srgbClr val="15803D"/>
            </a:solidFill>
            <a:prstDash val="solid"/>
          </a:ln>
        </p:spPr>
      </p:sp>
      <p:sp>
        <p:nvSpPr>
          <p:cNvPr id="8" name="">
            <a:extLst xmlns:a="http://schemas.openxmlformats.org/drawingml/2006/main">
              <a:ext uri="{FF2B5EF4-FFF2-40B4-BE49-F238E27FC236}">
                <a16:creationId xmlns:a16="http://schemas.microsoft.com/office/drawing/2014/main" id="{4E376C60-631C-42EF-A0F5-8BA06511D78B}"/>
              </a:ext>
            </a:extLst>
          </p:cNvPr>
          <p:cNvSpPr>
            <a:spLocks xmlns:a="http://schemas.openxmlformats.org/drawingml/2006/main" noGrp="1"/>
          </p:cNvSpPr>
          <p:nvPr/>
        </p:nvSpPr>
        <p:spPr>
          <a:xfrm xmlns:a="http://schemas.openxmlformats.org/drawingml/2006/main">
            <a:off x="72390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125" b="1">
                <a:solidFill>
                  <a:srgbClr val="15803D"/>
                </a:solidFill>
                <a:latin typeface="Helvetica Neue"/>
                <a:ea typeface="Helvetica Neue"/>
                <a:cs typeface="Helvetica Neue"/>
              </a:defRPr>
            </a:pPr>
            <a:r>
              <a:rPr sz="1125" b="1">
                <a:solidFill>
                  <a:srgbClr val="15803D"/>
                </a:solidFill>
                <a:latin typeface="Helvetica Neue"/>
                <a:ea typeface="Helvetica Neue"/>
                <a:cs typeface="Helvetica Neue"/>
              </a:rPr>
              <a:t>MITIGATE</a:t>
            </a:r>
          </a:p>
        </p:txBody>
      </p:sp>
      <p:sp>
        <p:nvSpPr>
          <p:cNvPr id="9" name="">
            <a:extLst xmlns:a="http://schemas.openxmlformats.org/drawingml/2006/main">
              <a:ext uri="{FF2B5EF4-FFF2-40B4-BE49-F238E27FC236}">
                <a16:creationId xmlns:a16="http://schemas.microsoft.com/office/drawing/2014/main" id="{3C974529-CFDC-4361-8BC9-61E699EFC0D8}"/>
              </a:ext>
            </a:extLst>
          </p:cNvPr>
          <p:cNvSpPr>
            <a:spLocks xmlns:a="http://schemas.openxmlformats.org/drawingml/2006/main" noGrp="1"/>
          </p:cNvSpPr>
          <p:nvPr/>
        </p:nvSpPr>
        <p:spPr>
          <a:xfrm xmlns:a="http://schemas.openxmlformats.org/drawingml/2006/main">
            <a:off x="72390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Restore scoped consumer access and contain further stale reads if impact requires it.</a:t>
            </a:r>
          </a:p>
        </p:txBody>
      </p:sp>
      <p:sp>
        <p:nvSpPr>
          <p:cNvPr id="10" name="">
            <a:extLst xmlns:a="http://schemas.openxmlformats.org/drawingml/2006/main">
              <a:ext uri="{FF2B5EF4-FFF2-40B4-BE49-F238E27FC236}">
                <a16:creationId xmlns:a16="http://schemas.microsoft.com/office/drawing/2014/main" id="{E3C476D9-2231-4DA4-BCED-926BEA16C1EA}"/>
              </a:ext>
            </a:extLst>
          </p:cNvPr>
          <p:cNvSpPr>
            <a:spLocks xmlns:a="http://schemas.openxmlformats.org/drawingml/2006/main" noGrp="1"/>
          </p:cNvSpPr>
          <p:nvPr/>
        </p:nvSpPr>
        <p:spPr>
          <a:xfrm xmlns:a="http://schemas.openxmlformats.org/drawingml/2006/main">
            <a:off x="4324350" y="3857625"/>
            <a:ext cx="3238500" cy="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1" name="">
            <a:extLst xmlns:a="http://schemas.openxmlformats.org/drawingml/2006/main">
              <a:ext uri="{FF2B5EF4-FFF2-40B4-BE49-F238E27FC236}">
                <a16:creationId xmlns:a16="http://schemas.microsoft.com/office/drawing/2014/main" id="{716AD621-8138-4A58-9FA4-253C099561E9}"/>
              </a:ext>
            </a:extLst>
          </p:cNvPr>
          <p:cNvSpPr>
            <a:spLocks xmlns:a="http://schemas.openxmlformats.org/drawingml/2006/main" noGrp="1"/>
          </p:cNvSpPr>
          <p:nvPr/>
        </p:nvSpPr>
        <p:spPr>
          <a:xfrm xmlns:a="http://schemas.openxmlformats.org/drawingml/2006/main">
            <a:off x="432435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125" b="1">
                <a:solidFill>
                  <a:srgbClr val="15803D"/>
                </a:solidFill>
                <a:latin typeface="Helvetica Neue"/>
                <a:ea typeface="Helvetica Neue"/>
                <a:cs typeface="Helvetica Neue"/>
              </a:defRPr>
            </a:pPr>
            <a:r>
              <a:rPr sz="1125" b="1">
                <a:solidFill>
                  <a:srgbClr val="15803D"/>
                </a:solidFill>
                <a:latin typeface="Helvetica Neue"/>
                <a:ea typeface="Helvetica Neue"/>
                <a:cs typeface="Helvetica Neue"/>
              </a:rPr>
              <a:t>REPLAY</a:t>
            </a:r>
          </a:p>
        </p:txBody>
      </p:sp>
      <p:sp>
        <p:nvSpPr>
          <p:cNvPr id="12" name="">
            <a:extLst xmlns:a="http://schemas.openxmlformats.org/drawingml/2006/main">
              <a:ext uri="{FF2B5EF4-FFF2-40B4-BE49-F238E27FC236}">
                <a16:creationId xmlns:a16="http://schemas.microsoft.com/office/drawing/2014/main" id="{B0582EDE-0C25-485A-9A60-0E9FEE2FF56F}"/>
              </a:ext>
            </a:extLst>
          </p:cNvPr>
          <p:cNvSpPr>
            <a:spLocks xmlns:a="http://schemas.openxmlformats.org/drawingml/2006/main" noGrp="1"/>
          </p:cNvSpPr>
          <p:nvPr/>
        </p:nvSpPr>
        <p:spPr>
          <a:xfrm xmlns:a="http://schemas.openxmlformats.org/drawingml/2006/main">
            <a:off x="432435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Resume from the recorded event or checkpoint through the normal idempotent handler.</a:t>
            </a:r>
          </a:p>
        </p:txBody>
      </p:sp>
      <p:sp>
        <p:nvSpPr>
          <p:cNvPr id="13" name="">
            <a:extLst xmlns:a="http://schemas.openxmlformats.org/drawingml/2006/main">
              <a:ext uri="{FF2B5EF4-FFF2-40B4-BE49-F238E27FC236}">
                <a16:creationId xmlns:a16="http://schemas.microsoft.com/office/drawing/2014/main" id="{76D8FB10-E8F7-4AD0-92EF-8D2DC0D08A0F}"/>
              </a:ext>
            </a:extLst>
          </p:cNvPr>
          <p:cNvSpPr>
            <a:spLocks xmlns:a="http://schemas.openxmlformats.org/drawingml/2006/main" noGrp="1"/>
          </p:cNvSpPr>
          <p:nvPr/>
        </p:nvSpPr>
        <p:spPr>
          <a:xfrm xmlns:a="http://schemas.openxmlformats.org/drawingml/2006/main">
            <a:off x="7924800" y="3857625"/>
            <a:ext cx="3238500" cy="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4" name="">
            <a:extLst xmlns:a="http://schemas.openxmlformats.org/drawingml/2006/main">
              <a:ext uri="{FF2B5EF4-FFF2-40B4-BE49-F238E27FC236}">
                <a16:creationId xmlns:a16="http://schemas.microsoft.com/office/drawing/2014/main" id="{06210C33-A5EE-4BA3-B39D-BD3534F5CD85}"/>
              </a:ext>
            </a:extLst>
          </p:cNvPr>
          <p:cNvSpPr>
            <a:spLocks xmlns:a="http://schemas.openxmlformats.org/drawingml/2006/main" noGrp="1"/>
          </p:cNvSpPr>
          <p:nvPr/>
        </p:nvSpPr>
        <p:spPr>
          <a:xfrm xmlns:a="http://schemas.openxmlformats.org/drawingml/2006/main">
            <a:off x="792480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125" b="1">
                <a:solidFill>
                  <a:srgbClr val="15803D"/>
                </a:solidFill>
                <a:latin typeface="Helvetica Neue"/>
                <a:ea typeface="Helvetica Neue"/>
                <a:cs typeface="Helvetica Neue"/>
              </a:defRPr>
            </a:pPr>
            <a:r>
              <a:rPr sz="1125" b="1">
                <a:solidFill>
                  <a:srgbClr val="15803D"/>
                </a:solidFill>
                <a:latin typeface="Helvetica Neue"/>
                <a:ea typeface="Helvetica Neue"/>
                <a:cs typeface="Helvetica Neue"/>
              </a:rPr>
              <a:t>VERIFY</a:t>
            </a:r>
          </a:p>
        </p:txBody>
      </p:sp>
      <p:sp>
        <p:nvSpPr>
          <p:cNvPr id="15" name="">
            <a:extLst xmlns:a="http://schemas.openxmlformats.org/drawingml/2006/main">
              <a:ext uri="{FF2B5EF4-FFF2-40B4-BE49-F238E27FC236}">
                <a16:creationId xmlns:a16="http://schemas.microsoft.com/office/drawing/2014/main" id="{71998880-98ED-4F0E-8600-52A08ADDA57F}"/>
              </a:ext>
            </a:extLst>
          </p:cNvPr>
          <p:cNvSpPr>
            <a:spLocks xmlns:a="http://schemas.openxmlformats.org/drawingml/2006/main" noGrp="1"/>
          </p:cNvSpPr>
          <p:nvPr/>
        </p:nvSpPr>
        <p:spPr>
          <a:xfrm xmlns:a="http://schemas.openxmlformats.org/drawingml/2006/main">
            <a:off x="792480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Confirm version 17, queue health, no duplicate effect, normal lag, and affected partition.</a:t>
            </a:r>
          </a:p>
        </p:txBody>
      </p:sp>
    </p:spTree>
    <p:extLst>
      <p:ext uri="{BB962C8B-B14F-4D97-AF65-F5344CB8AC3E}">
        <p14:creationId xmlns:p14="http://schemas.microsoft.com/office/powerpoint/2010/main" val="1470708398"/>
      </p:ext>
    </p:extLst>
  </p:cSld>
</p:sld>
</file>

<file path=ppt/slides/slide9.xml><?xml version="1.0" encoding="utf-8"?>
<p:sld xmlns:p="http://schemas.openxmlformats.org/presentationml/2006/main">
  <p:cSld>
    <p:bg>
      <p:bgPr>
        <a:solidFill xmlns:a="http://schemas.openxmlformats.org/drawingml/2006/main">
          <a:srgbClr val="15803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260BBB2-F7E1-4D41-8014-A7756561DFC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2" name="">
            <a:extLst xmlns:a="http://schemas.openxmlformats.org/drawingml/2006/main">
              <a:ext uri="{FF2B5EF4-FFF2-40B4-BE49-F238E27FC236}">
                <a16:creationId xmlns:a16="http://schemas.microsoft.com/office/drawing/2014/main" id="{38CE128E-AEF5-4DAF-B2DA-C24766FCBFBF}"/>
              </a:ext>
            </a:extLst>
          </p:cNvPr>
          <p:cNvSpPr>
            <a:spLocks xmlns:a="http://schemas.openxmlformats.org/drawingml/2006/main" noGrp="1"/>
          </p:cNvSpPr>
          <p:nvPr/>
        </p:nvSpPr>
        <p:spPr>
          <a:xfrm xmlns:a="http://schemas.openxmlformats.org/drawingml/2006/main">
            <a:off x="685800" y="590550"/>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DAY 2</a:t>
            </a:r>
          </a:p>
        </p:txBody>
      </p:sp>
      <p:sp>
        <p:nvSpPr>
          <p:cNvPr id="3" name="">
            <a:extLst xmlns:a="http://schemas.openxmlformats.org/drawingml/2006/main">
              <a:ext uri="{FF2B5EF4-FFF2-40B4-BE49-F238E27FC236}">
                <a16:creationId xmlns:a16="http://schemas.microsoft.com/office/drawing/2014/main" id="{0FA7CDFA-45B0-44A1-B0DD-C4151EFCF78E}"/>
              </a:ext>
            </a:extLst>
          </p:cNvPr>
          <p:cNvSpPr>
            <a:spLocks xmlns:a="http://schemas.openxmlformats.org/drawingml/2006/main" noGrp="1"/>
          </p:cNvSpPr>
          <p:nvPr/>
        </p:nvSpPr>
        <p:spPr>
          <a:xfrm xmlns:a="http://schemas.openxmlformats.org/drawingml/2006/main">
            <a:off x="685800" y="1809750"/>
            <a:ext cx="990600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4350" b="1">
                <a:solidFill>
                  <a:srgbClr val="FFFFFF"/>
                </a:solidFill>
                <a:latin typeface="Helvetica Neue"/>
                <a:ea typeface="Helvetica Neue"/>
                <a:cs typeface="Helvetica Neue"/>
              </a:defRPr>
            </a:pPr>
            <a:r>
              <a:rPr sz="4350" b="1">
                <a:solidFill>
                  <a:srgbClr val="FFFFFF"/>
                </a:solidFill>
                <a:latin typeface="Helvetica Neue"/>
                <a:ea typeface="Helvetica Neue"/>
                <a:cs typeface="Helvetica Neue"/>
              </a:rPr>
              <a:t>Final evidence should survive a failed live demo</a:t>
            </a:r>
          </a:p>
        </p:txBody>
      </p:sp>
      <p:sp>
        <p:nvSpPr>
          <p:cNvPr id="4" name="">
            <a:extLst xmlns:a="http://schemas.openxmlformats.org/drawingml/2006/main">
              <a:ext uri="{FF2B5EF4-FFF2-40B4-BE49-F238E27FC236}">
                <a16:creationId xmlns:a16="http://schemas.microsoft.com/office/drawing/2014/main" id="{D2E09FC6-2C6E-4EC8-A6AD-49C6051BAA3F}"/>
              </a:ext>
            </a:extLst>
          </p:cNvPr>
          <p:cNvSpPr>
            <a:spLocks xmlns:a="http://schemas.openxmlformats.org/drawingml/2006/main" noGrp="1"/>
          </p:cNvSpPr>
          <p:nvPr/>
        </p:nvSpPr>
        <p:spPr>
          <a:xfrm xmlns:a="http://schemas.openxmlformats.org/drawingml/2006/main">
            <a:off x="723900" y="4095750"/>
            <a:ext cx="8382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950">
                <a:solidFill>
                  <a:srgbClr val="F8FAFC"/>
                </a:solidFill>
                <a:latin typeface="Helvetica Neue"/>
                <a:ea typeface="Helvetica Neue"/>
                <a:cs typeface="Helvetica Neue"/>
              </a:defRPr>
            </a:pPr>
            <a:r>
              <a:rPr sz="1950">
                <a:solidFill>
                  <a:srgbClr val="F8FAFC"/>
                </a:solidFill>
                <a:latin typeface="Helvetica Neue"/>
                <a:ea typeface="Helvetica Neue"/>
                <a:cs typeface="Helvetica Neue"/>
              </a:rPr>
              <a:t>Prepared, redacted proof is part of the system, not a presentation shortcut.</a:t>
            </a:r>
          </a:p>
        </p:txBody>
      </p:sp>
      <p:sp>
        <p:nvSpPr>
          <p:cNvPr id="5" name="">
            <a:extLst xmlns:a="http://schemas.openxmlformats.org/drawingml/2006/main">
              <a:ext uri="{FF2B5EF4-FFF2-40B4-BE49-F238E27FC236}">
                <a16:creationId xmlns:a16="http://schemas.microsoft.com/office/drawing/2014/main" id="{B5CD8525-FD7F-490B-9522-9A1EE72E3258}"/>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E2E8F0"/>
                </a:solidFill>
                <a:latin typeface="Helvetica Neue"/>
                <a:ea typeface="Helvetica Neue"/>
                <a:cs typeface="Helvetica Neue"/>
              </a:defRPr>
            </a:pPr>
            <a:r>
              <a:rPr sz="825">
                <a:solidFill>
                  <a:srgbClr val="E2E8F0"/>
                </a:solidFill>
                <a:latin typeface="Helvetica Neue"/>
                <a:ea typeface="Helvetica Neue"/>
                <a:cs typeface="Helvetica Neue"/>
              </a:rPr>
              <a:t>9</a:t>
            </a:r>
          </a:p>
        </p:txBody>
      </p:sp>
    </p:spTree>
    <p:extLst>
      <p:ext uri="{BB962C8B-B14F-4D97-AF65-F5344CB8AC3E}">
        <p14:creationId xmlns:p14="http://schemas.microsoft.com/office/powerpoint/2010/main" val="714136897"/>
      </p:ext>
    </p:extLst>
  </p:cSld>
</p:sld>
</file>

<file path=ppt/slides/slide10.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E0E13F63-A22D-4E7B-A90F-A07ED2A7B96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B69F00D2-DDCF-4C76-9130-56503CCDAF76}"/>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WEEK 14  /  CST4714</a:t>
            </a:r>
          </a:p>
        </p:txBody>
      </p:sp>
      <p:sp>
        <p:nvSpPr>
          <p:cNvPr id="3" name="slide-title">
            <a:extLst xmlns:a="http://schemas.openxmlformats.org/drawingml/2006/main">
              <a:ext uri="{FF2B5EF4-FFF2-40B4-BE49-F238E27FC236}">
                <a16:creationId xmlns:a16="http://schemas.microsoft.com/office/drawing/2014/main" id="{5B407A49-B49A-45A1-B029-F1486B639A2F}"/>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Audit the project through one complete operating story</a:t>
            </a:r>
          </a:p>
        </p:txBody>
      </p:sp>
      <p:sp>
        <p:nvSpPr>
          <p:cNvPr id="4" name="">
            <a:extLst xmlns:a="http://schemas.openxmlformats.org/drawingml/2006/main">
              <a:ext uri="{FF2B5EF4-FFF2-40B4-BE49-F238E27FC236}">
                <a16:creationId xmlns:a16="http://schemas.microsoft.com/office/drawing/2014/main" id="{C0BF9B4A-ECA3-49EB-8671-70773B09E81F}"/>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465BA00B-A8CD-45C6-9B2B-031FB24D31B7}"/>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10</a:t>
            </a:r>
          </a:p>
        </p:txBody>
      </p:sp>
      <p:sp>
        <p:nvSpPr>
          <p:cNvPr id="6" name="">
            <a:extLst xmlns:a="http://schemas.openxmlformats.org/drawingml/2006/main">
              <a:ext uri="{FF2B5EF4-FFF2-40B4-BE49-F238E27FC236}">
                <a16:creationId xmlns:a16="http://schemas.microsoft.com/office/drawing/2014/main" id="{C0835C26-3A82-4F12-AD32-12079A11CA4F}"/>
              </a:ext>
            </a:extLst>
          </p:cNvPr>
          <p:cNvSpPr>
            <a:spLocks xmlns:a="http://schemas.openxmlformats.org/drawingml/2006/main" noGrp="1"/>
          </p:cNvSpPr>
          <p:nvPr/>
        </p:nvSpPr>
        <p:spPr>
          <a:xfrm xmlns:a="http://schemas.openxmlformats.org/drawingml/2006/main">
            <a:off x="800100" y="1733550"/>
            <a:ext cx="361950" cy="361950"/>
          </a:xfrm>
          <a:prstGeom xmlns:a="http://schemas.openxmlformats.org/drawingml/2006/main" prst="ellipse">
            <a:avLst/>
          </a:prstGeom>
          <a:solidFill xmlns:a="http://schemas.openxmlformats.org/drawingml/2006/main">
            <a:srgbClr val="15803D"/>
          </a:solidFill>
          <a:ln xmlns:a="http://schemas.openxmlformats.org/drawingml/2006/main" w="19050">
            <a:solidFill>
              <a:srgbClr val="15803D"/>
            </a:solidFill>
            <a:prstDash val="solid"/>
          </a:ln>
        </p:spPr>
      </p:sp>
      <p:sp>
        <p:nvSpPr>
          <p:cNvPr id="7" name="">
            <a:extLst xmlns:a="http://schemas.openxmlformats.org/drawingml/2006/main">
              <a:ext uri="{FF2B5EF4-FFF2-40B4-BE49-F238E27FC236}">
                <a16:creationId xmlns:a16="http://schemas.microsoft.com/office/drawing/2014/main" id="{55CE928A-15A6-4C8D-BB62-20F27FAA282C}"/>
              </a:ext>
            </a:extLst>
          </p:cNvPr>
          <p:cNvSpPr>
            <a:spLocks xmlns:a="http://schemas.openxmlformats.org/drawingml/2006/main" noGrp="1"/>
          </p:cNvSpPr>
          <p:nvPr/>
        </p:nvSpPr>
        <p:spPr>
          <a:xfrm xmlns:a="http://schemas.openxmlformats.org/drawingml/2006/main">
            <a:off x="838200" y="1790700"/>
            <a:ext cx="28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1</a:t>
            </a:r>
          </a:p>
        </p:txBody>
      </p:sp>
      <p:sp>
        <p:nvSpPr>
          <p:cNvPr id="8" name="">
            <a:extLst xmlns:a="http://schemas.openxmlformats.org/drawingml/2006/main">
              <a:ext uri="{FF2B5EF4-FFF2-40B4-BE49-F238E27FC236}">
                <a16:creationId xmlns:a16="http://schemas.microsoft.com/office/drawing/2014/main" id="{E73F625A-9520-4DEF-A6A4-5517524054BC}"/>
              </a:ext>
            </a:extLst>
          </p:cNvPr>
          <p:cNvSpPr>
            <a:spLocks xmlns:a="http://schemas.openxmlformats.org/drawingml/2006/main" noGrp="1"/>
          </p:cNvSpPr>
          <p:nvPr/>
        </p:nvSpPr>
        <p:spPr>
          <a:xfrm xmlns:a="http://schemas.openxmlformats.org/drawingml/2006/main">
            <a:off x="1390650" y="1695450"/>
            <a:ext cx="9525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725">
                <a:solidFill>
                  <a:srgbClr val="111827"/>
                </a:solidFill>
                <a:latin typeface="Helvetica Neue"/>
                <a:ea typeface="Helvetica Neue"/>
                <a:cs typeface="Helvetica Neue"/>
              </a:defRPr>
            </a:pPr>
            <a:r>
              <a:rPr sz="1725">
                <a:solidFill>
                  <a:srgbClr val="111827"/>
                </a:solidFill>
                <a:latin typeface="Helvetica Neue"/>
                <a:ea typeface="Helvetica Neue"/>
                <a:cs typeface="Helvetica Neue"/>
              </a:rPr>
              <a:t>Model: one record's grain, identity, relationship, and integrity rule are visible.</a:t>
            </a:r>
          </a:p>
        </p:txBody>
      </p:sp>
      <p:sp>
        <p:nvSpPr>
          <p:cNvPr id="9" name="">
            <a:extLst xmlns:a="http://schemas.openxmlformats.org/drawingml/2006/main">
              <a:ext uri="{FF2B5EF4-FFF2-40B4-BE49-F238E27FC236}">
                <a16:creationId xmlns:a16="http://schemas.microsoft.com/office/drawing/2014/main" id="{F43709B8-6AC0-41B8-96CC-F966F4EE3ADD}"/>
              </a:ext>
            </a:extLst>
          </p:cNvPr>
          <p:cNvSpPr>
            <a:spLocks xmlns:a="http://schemas.openxmlformats.org/drawingml/2006/main" noGrp="1"/>
          </p:cNvSpPr>
          <p:nvPr/>
        </p:nvSpPr>
        <p:spPr>
          <a:xfrm xmlns:a="http://schemas.openxmlformats.org/drawingml/2006/main">
            <a:off x="1390650" y="2381250"/>
            <a:ext cx="95250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847A5F5F-573A-493A-903A-1D057F0F64E7}"/>
              </a:ext>
            </a:extLst>
          </p:cNvPr>
          <p:cNvSpPr>
            <a:spLocks xmlns:a="http://schemas.openxmlformats.org/drawingml/2006/main" noGrp="1"/>
          </p:cNvSpPr>
          <p:nvPr/>
        </p:nvSpPr>
        <p:spPr>
          <a:xfrm xmlns:a="http://schemas.openxmlformats.org/drawingml/2006/main">
            <a:off x="800100" y="2628900"/>
            <a:ext cx="361950" cy="361950"/>
          </a:xfrm>
          <a:prstGeom xmlns:a="http://schemas.openxmlformats.org/drawingml/2006/main" prst="ellipse">
            <a:avLst/>
          </a:prstGeom>
          <a:solidFill xmlns:a="http://schemas.openxmlformats.org/drawingml/2006/main">
            <a:srgbClr val="FFFFFF"/>
          </a:solidFill>
          <a:ln xmlns:a="http://schemas.openxmlformats.org/drawingml/2006/main" w="19050">
            <a:solidFill>
              <a:srgbClr val="15803D"/>
            </a:solidFill>
            <a:prstDash val="solid"/>
          </a:ln>
        </p:spPr>
      </p:sp>
      <p:sp>
        <p:nvSpPr>
          <p:cNvPr id="11" name="">
            <a:extLst xmlns:a="http://schemas.openxmlformats.org/drawingml/2006/main">
              <a:ext uri="{FF2B5EF4-FFF2-40B4-BE49-F238E27FC236}">
                <a16:creationId xmlns:a16="http://schemas.microsoft.com/office/drawing/2014/main" id="{00AD077A-5253-4AC8-9034-81EA449A09B7}"/>
              </a:ext>
            </a:extLst>
          </p:cNvPr>
          <p:cNvSpPr>
            <a:spLocks xmlns:a="http://schemas.openxmlformats.org/drawingml/2006/main" noGrp="1"/>
          </p:cNvSpPr>
          <p:nvPr/>
        </p:nvSpPr>
        <p:spPr>
          <a:xfrm xmlns:a="http://schemas.openxmlformats.org/drawingml/2006/main">
            <a:off x="838200" y="2686050"/>
            <a:ext cx="28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050" b="1">
                <a:solidFill>
                  <a:srgbClr val="15803D"/>
                </a:solidFill>
                <a:latin typeface="Helvetica Neue"/>
                <a:ea typeface="Helvetica Neue"/>
                <a:cs typeface="Helvetica Neue"/>
              </a:defRPr>
            </a:pPr>
            <a:r>
              <a:rPr sz="1050" b="1">
                <a:solidFill>
                  <a:srgbClr val="15803D"/>
                </a:solidFill>
                <a:latin typeface="Helvetica Neue"/>
                <a:ea typeface="Helvetica Neue"/>
                <a:cs typeface="Helvetica Neue"/>
              </a:rPr>
              <a:t>2</a:t>
            </a:r>
          </a:p>
        </p:txBody>
      </p:sp>
      <p:sp>
        <p:nvSpPr>
          <p:cNvPr id="12" name="">
            <a:extLst xmlns:a="http://schemas.openxmlformats.org/drawingml/2006/main">
              <a:ext uri="{FF2B5EF4-FFF2-40B4-BE49-F238E27FC236}">
                <a16:creationId xmlns:a16="http://schemas.microsoft.com/office/drawing/2014/main" id="{A9FE20AC-AE79-428B-90AF-5304D52696E5}"/>
              </a:ext>
            </a:extLst>
          </p:cNvPr>
          <p:cNvSpPr>
            <a:spLocks xmlns:a="http://schemas.openxmlformats.org/drawingml/2006/main" noGrp="1"/>
          </p:cNvSpPr>
          <p:nvPr/>
        </p:nvSpPr>
        <p:spPr>
          <a:xfrm xmlns:a="http://schemas.openxmlformats.org/drawingml/2006/main">
            <a:off x="1390650" y="2590800"/>
            <a:ext cx="9525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725">
                <a:solidFill>
                  <a:srgbClr val="111827"/>
                </a:solidFill>
                <a:latin typeface="Helvetica Neue"/>
                <a:ea typeface="Helvetica Neue"/>
                <a:cs typeface="Helvetica Neue"/>
              </a:defRPr>
            </a:pPr>
            <a:r>
              <a:rPr sz="1725">
                <a:solidFill>
                  <a:srgbClr val="111827"/>
                </a:solidFill>
                <a:latin typeface="Helvetica Neue"/>
                <a:ea typeface="Helvetica Neue"/>
                <a:cs typeface="Helvetica Neue"/>
              </a:rPr>
              <a:t>Workload: one meaningful read and write have expected and observed evidence.</a:t>
            </a:r>
          </a:p>
        </p:txBody>
      </p:sp>
      <p:sp>
        <p:nvSpPr>
          <p:cNvPr id="13" name="">
            <a:extLst xmlns:a="http://schemas.openxmlformats.org/drawingml/2006/main">
              <a:ext uri="{FF2B5EF4-FFF2-40B4-BE49-F238E27FC236}">
                <a16:creationId xmlns:a16="http://schemas.microsoft.com/office/drawing/2014/main" id="{87D17457-D5FA-4619-B2AB-0A9F8B3F87FE}"/>
              </a:ext>
            </a:extLst>
          </p:cNvPr>
          <p:cNvSpPr>
            <a:spLocks xmlns:a="http://schemas.openxmlformats.org/drawingml/2006/main" noGrp="1"/>
          </p:cNvSpPr>
          <p:nvPr/>
        </p:nvSpPr>
        <p:spPr>
          <a:xfrm xmlns:a="http://schemas.openxmlformats.org/drawingml/2006/main">
            <a:off x="1390650" y="3276600"/>
            <a:ext cx="95250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14" name="">
            <a:extLst xmlns:a="http://schemas.openxmlformats.org/drawingml/2006/main">
              <a:ext uri="{FF2B5EF4-FFF2-40B4-BE49-F238E27FC236}">
                <a16:creationId xmlns:a16="http://schemas.microsoft.com/office/drawing/2014/main" id="{AE55FDE5-0EDC-4E6F-B88A-F34C5109ADB9}"/>
              </a:ext>
            </a:extLst>
          </p:cNvPr>
          <p:cNvSpPr>
            <a:spLocks xmlns:a="http://schemas.openxmlformats.org/drawingml/2006/main" noGrp="1"/>
          </p:cNvSpPr>
          <p:nvPr/>
        </p:nvSpPr>
        <p:spPr>
          <a:xfrm xmlns:a="http://schemas.openxmlformats.org/drawingml/2006/main">
            <a:off x="800100" y="3524250"/>
            <a:ext cx="361950" cy="361950"/>
          </a:xfrm>
          <a:prstGeom xmlns:a="http://schemas.openxmlformats.org/drawingml/2006/main" prst="ellipse">
            <a:avLst/>
          </a:prstGeom>
          <a:solidFill xmlns:a="http://schemas.openxmlformats.org/drawingml/2006/main">
            <a:srgbClr val="FFFFFF"/>
          </a:solidFill>
          <a:ln xmlns:a="http://schemas.openxmlformats.org/drawingml/2006/main" w="19050">
            <a:solidFill>
              <a:srgbClr val="15803D"/>
            </a:solidFill>
            <a:prstDash val="solid"/>
          </a:ln>
        </p:spPr>
      </p:sp>
      <p:sp>
        <p:nvSpPr>
          <p:cNvPr id="15" name="">
            <a:extLst xmlns:a="http://schemas.openxmlformats.org/drawingml/2006/main">
              <a:ext uri="{FF2B5EF4-FFF2-40B4-BE49-F238E27FC236}">
                <a16:creationId xmlns:a16="http://schemas.microsoft.com/office/drawing/2014/main" id="{14058CA3-C0C0-4AC8-B078-146616C9AD54}"/>
              </a:ext>
            </a:extLst>
          </p:cNvPr>
          <p:cNvSpPr>
            <a:spLocks xmlns:a="http://schemas.openxmlformats.org/drawingml/2006/main" noGrp="1"/>
          </p:cNvSpPr>
          <p:nvPr/>
        </p:nvSpPr>
        <p:spPr>
          <a:xfrm xmlns:a="http://schemas.openxmlformats.org/drawingml/2006/main">
            <a:off x="838200" y="3581400"/>
            <a:ext cx="28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050" b="1">
                <a:solidFill>
                  <a:srgbClr val="15803D"/>
                </a:solidFill>
                <a:latin typeface="Helvetica Neue"/>
                <a:ea typeface="Helvetica Neue"/>
                <a:cs typeface="Helvetica Neue"/>
              </a:defRPr>
            </a:pPr>
            <a:r>
              <a:rPr sz="1050" b="1">
                <a:solidFill>
                  <a:srgbClr val="15803D"/>
                </a:solidFill>
                <a:latin typeface="Helvetica Neue"/>
                <a:ea typeface="Helvetica Neue"/>
                <a:cs typeface="Helvetica Neue"/>
              </a:rPr>
              <a:t>3</a:t>
            </a:r>
          </a:p>
        </p:txBody>
      </p:sp>
      <p:sp>
        <p:nvSpPr>
          <p:cNvPr id="16" name="">
            <a:extLst xmlns:a="http://schemas.openxmlformats.org/drawingml/2006/main">
              <a:ext uri="{FF2B5EF4-FFF2-40B4-BE49-F238E27FC236}">
                <a16:creationId xmlns:a16="http://schemas.microsoft.com/office/drawing/2014/main" id="{894918B3-55FD-42AA-9685-6F2655285F28}"/>
              </a:ext>
            </a:extLst>
          </p:cNvPr>
          <p:cNvSpPr>
            <a:spLocks xmlns:a="http://schemas.openxmlformats.org/drawingml/2006/main" noGrp="1"/>
          </p:cNvSpPr>
          <p:nvPr/>
        </p:nvSpPr>
        <p:spPr>
          <a:xfrm xmlns:a="http://schemas.openxmlformats.org/drawingml/2006/main">
            <a:off x="1390650" y="3486150"/>
            <a:ext cx="9525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725">
                <a:solidFill>
                  <a:srgbClr val="111827"/>
                </a:solidFill>
                <a:latin typeface="Helvetica Neue"/>
                <a:ea typeface="Helvetica Neue"/>
                <a:cs typeface="Helvetica Neue"/>
              </a:defRPr>
            </a:pPr>
            <a:r>
              <a:rPr sz="1725">
                <a:solidFill>
                  <a:srgbClr val="111827"/>
                </a:solidFill>
                <a:latin typeface="Helvetica Neue"/>
                <a:ea typeface="Helvetica Neue"/>
                <a:cs typeface="Helvetica Neue"/>
              </a:rPr>
              <a:t>Protection: one unauthorized or invalid action is refused under the intended identity or rule.</a:t>
            </a:r>
          </a:p>
        </p:txBody>
      </p:sp>
      <p:sp>
        <p:nvSpPr>
          <p:cNvPr id="17" name="">
            <a:extLst xmlns:a="http://schemas.openxmlformats.org/drawingml/2006/main">
              <a:ext uri="{FF2B5EF4-FFF2-40B4-BE49-F238E27FC236}">
                <a16:creationId xmlns:a16="http://schemas.microsoft.com/office/drawing/2014/main" id="{9DE260CC-BF4F-4363-988D-DA59F6F31839}"/>
              </a:ext>
            </a:extLst>
          </p:cNvPr>
          <p:cNvSpPr>
            <a:spLocks xmlns:a="http://schemas.openxmlformats.org/drawingml/2006/main" noGrp="1"/>
          </p:cNvSpPr>
          <p:nvPr/>
        </p:nvSpPr>
        <p:spPr>
          <a:xfrm xmlns:a="http://schemas.openxmlformats.org/drawingml/2006/main">
            <a:off x="1390650" y="4171950"/>
            <a:ext cx="95250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18" name="">
            <a:extLst xmlns:a="http://schemas.openxmlformats.org/drawingml/2006/main">
              <a:ext uri="{FF2B5EF4-FFF2-40B4-BE49-F238E27FC236}">
                <a16:creationId xmlns:a16="http://schemas.microsoft.com/office/drawing/2014/main" id="{5046B6DF-0BF5-4345-90DE-67638B4EEC5F}"/>
              </a:ext>
            </a:extLst>
          </p:cNvPr>
          <p:cNvSpPr>
            <a:spLocks xmlns:a="http://schemas.openxmlformats.org/drawingml/2006/main" noGrp="1"/>
          </p:cNvSpPr>
          <p:nvPr/>
        </p:nvSpPr>
        <p:spPr>
          <a:xfrm xmlns:a="http://schemas.openxmlformats.org/drawingml/2006/main">
            <a:off x="800100" y="4419600"/>
            <a:ext cx="361950" cy="361950"/>
          </a:xfrm>
          <a:prstGeom xmlns:a="http://schemas.openxmlformats.org/drawingml/2006/main" prst="ellipse">
            <a:avLst/>
          </a:prstGeom>
          <a:solidFill xmlns:a="http://schemas.openxmlformats.org/drawingml/2006/main">
            <a:srgbClr val="FFFFFF"/>
          </a:solidFill>
          <a:ln xmlns:a="http://schemas.openxmlformats.org/drawingml/2006/main" w="19050">
            <a:solidFill>
              <a:srgbClr val="15803D"/>
            </a:solidFill>
            <a:prstDash val="solid"/>
          </a:ln>
        </p:spPr>
      </p:sp>
      <p:sp>
        <p:nvSpPr>
          <p:cNvPr id="19" name="">
            <a:extLst xmlns:a="http://schemas.openxmlformats.org/drawingml/2006/main">
              <a:ext uri="{FF2B5EF4-FFF2-40B4-BE49-F238E27FC236}">
                <a16:creationId xmlns:a16="http://schemas.microsoft.com/office/drawing/2014/main" id="{CDCEA5E1-353E-459E-B091-A50091A38FD7}"/>
              </a:ext>
            </a:extLst>
          </p:cNvPr>
          <p:cNvSpPr>
            <a:spLocks xmlns:a="http://schemas.openxmlformats.org/drawingml/2006/main" noGrp="1"/>
          </p:cNvSpPr>
          <p:nvPr/>
        </p:nvSpPr>
        <p:spPr>
          <a:xfrm xmlns:a="http://schemas.openxmlformats.org/drawingml/2006/main">
            <a:off x="838200" y="4476750"/>
            <a:ext cx="28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050" b="1">
                <a:solidFill>
                  <a:srgbClr val="15803D"/>
                </a:solidFill>
                <a:latin typeface="Helvetica Neue"/>
                <a:ea typeface="Helvetica Neue"/>
                <a:cs typeface="Helvetica Neue"/>
              </a:defRPr>
            </a:pPr>
            <a:r>
              <a:rPr sz="1050" b="1">
                <a:solidFill>
                  <a:srgbClr val="15803D"/>
                </a:solidFill>
                <a:latin typeface="Helvetica Neue"/>
                <a:ea typeface="Helvetica Neue"/>
                <a:cs typeface="Helvetica Neue"/>
              </a:rPr>
              <a:t>4</a:t>
            </a:r>
          </a:p>
        </p:txBody>
      </p:sp>
      <p:sp>
        <p:nvSpPr>
          <p:cNvPr id="20" name="">
            <a:extLst xmlns:a="http://schemas.openxmlformats.org/drawingml/2006/main">
              <a:ext uri="{FF2B5EF4-FFF2-40B4-BE49-F238E27FC236}">
                <a16:creationId xmlns:a16="http://schemas.microsoft.com/office/drawing/2014/main" id="{8D3A373A-FD7F-4C0D-8878-157B5BA16835}"/>
              </a:ext>
            </a:extLst>
          </p:cNvPr>
          <p:cNvSpPr>
            <a:spLocks xmlns:a="http://schemas.openxmlformats.org/drawingml/2006/main" noGrp="1"/>
          </p:cNvSpPr>
          <p:nvPr/>
        </p:nvSpPr>
        <p:spPr>
          <a:xfrm xmlns:a="http://schemas.openxmlformats.org/drawingml/2006/main">
            <a:off x="1390650" y="4381500"/>
            <a:ext cx="9525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725">
                <a:solidFill>
                  <a:srgbClr val="111827"/>
                </a:solidFill>
                <a:latin typeface="Helvetica Neue"/>
                <a:ea typeface="Helvetica Neue"/>
                <a:cs typeface="Helvetica Neue"/>
              </a:defRPr>
            </a:pPr>
            <a:r>
              <a:rPr sz="1725">
                <a:solidFill>
                  <a:srgbClr val="111827"/>
                </a:solidFill>
                <a:latin typeface="Helvetica Neue"/>
                <a:ea typeface="Helvetica Neue"/>
                <a:cs typeface="Helvetica Neue"/>
              </a:rPr>
              <a:t>Operations: one performance or recovery claim includes mechanism, verification, and limitation.</a:t>
            </a:r>
          </a:p>
        </p:txBody>
      </p:sp>
      <p:sp>
        <p:nvSpPr>
          <p:cNvPr id="21" name="">
            <a:extLst xmlns:a="http://schemas.openxmlformats.org/drawingml/2006/main">
              <a:ext uri="{FF2B5EF4-FFF2-40B4-BE49-F238E27FC236}">
                <a16:creationId xmlns:a16="http://schemas.microsoft.com/office/drawing/2014/main" id="{9E51D94C-24EE-4AF6-8BAB-3B93144EA1A4}"/>
              </a:ext>
            </a:extLst>
          </p:cNvPr>
          <p:cNvSpPr>
            <a:spLocks xmlns:a="http://schemas.openxmlformats.org/drawingml/2006/main" noGrp="1"/>
          </p:cNvSpPr>
          <p:nvPr/>
        </p:nvSpPr>
        <p:spPr>
          <a:xfrm xmlns:a="http://schemas.openxmlformats.org/drawingml/2006/main">
            <a:off x="1390650" y="5067300"/>
            <a:ext cx="95250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Tree>
    <p:extLst>
      <p:ext uri="{BB962C8B-B14F-4D97-AF65-F5344CB8AC3E}">
        <p14:creationId xmlns:p14="http://schemas.microsoft.com/office/powerpoint/2010/main" val="1007563905"/>
      </p:ext>
    </p:extLst>
  </p:cSld>
</p:sld>
</file>

<file path=ppt/slides/slide1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2788B7FD-888E-4FB5-978C-92E03C36914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5DCBC061-D2E2-47CF-9384-806CE786B9F0}"/>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5803D"/>
                </a:solidFill>
                <a:latin typeface="Helvetica Neue"/>
                <a:ea typeface="Helvetica Neue"/>
                <a:cs typeface="Helvetica Neue"/>
              </a:defRPr>
            </a:pPr>
            <a:r>
              <a:rPr sz="975" b="1">
                <a:solidFill>
                  <a:srgbClr val="15803D"/>
                </a:solidFill>
                <a:latin typeface="Helvetica Neue"/>
                <a:ea typeface="Helvetica Neue"/>
                <a:cs typeface="Helvetica Neue"/>
              </a:rPr>
              <a:t>WEEK 14  /  CST4714</a:t>
            </a:r>
          </a:p>
        </p:txBody>
      </p:sp>
      <p:sp>
        <p:nvSpPr>
          <p:cNvPr id="3" name="slide-title">
            <a:extLst xmlns:a="http://schemas.openxmlformats.org/drawingml/2006/main">
              <a:ext uri="{FF2B5EF4-FFF2-40B4-BE49-F238E27FC236}">
                <a16:creationId xmlns:a16="http://schemas.microsoft.com/office/drawing/2014/main" id="{CE166579-3EEC-404E-B699-404A6DAD1751}"/>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Final project clinic: Finish the highest-risk evidence gap</a:t>
            </a:r>
          </a:p>
        </p:txBody>
      </p:sp>
      <p:sp>
        <p:nvSpPr>
          <p:cNvPr id="4" name="">
            <a:extLst xmlns:a="http://schemas.openxmlformats.org/drawingml/2006/main">
              <a:ext uri="{FF2B5EF4-FFF2-40B4-BE49-F238E27FC236}">
                <a16:creationId xmlns:a16="http://schemas.microsoft.com/office/drawing/2014/main" id="{C16A292C-63DF-4DE1-806F-15140379A0E1}"/>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E12E98CA-D882-422F-BF26-CBD887143DE2}"/>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11</a:t>
            </a:r>
          </a:p>
        </p:txBody>
      </p:sp>
      <p:sp>
        <p:nvSpPr>
          <p:cNvPr id="6" name="">
            <a:extLst xmlns:a="http://schemas.openxmlformats.org/drawingml/2006/main">
              <a:ext uri="{FF2B5EF4-FFF2-40B4-BE49-F238E27FC236}">
                <a16:creationId xmlns:a16="http://schemas.microsoft.com/office/drawing/2014/main" id="{19F97615-DD50-4C42-BC78-EABFD9B1BE88}"/>
              </a:ext>
            </a:extLst>
          </p:cNvPr>
          <p:cNvSpPr>
            <a:spLocks xmlns:a="http://schemas.openxmlformats.org/drawingml/2006/main" noGrp="1"/>
          </p:cNvSpPr>
          <p:nvPr/>
        </p:nvSpPr>
        <p:spPr>
          <a:xfrm xmlns:a="http://schemas.openxmlformats.org/drawingml/2006/main">
            <a:off x="723900" y="160020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875">
                <a:solidFill>
                  <a:srgbClr val="475569"/>
                </a:solidFill>
                <a:latin typeface="Helvetica Neue"/>
                <a:ea typeface="Helvetica Neue"/>
                <a:cs typeface="Helvetica Neue"/>
              </a:defRPr>
            </a:pPr>
            <a:r>
              <a:rPr sz="1875">
                <a:solidFill>
                  <a:srgbClr val="475569"/>
                </a:solidFill>
                <a:latin typeface="Helvetica Neue"/>
                <a:ea typeface="Helvetica Neue"/>
                <a:cs typeface="Helvetica Neue"/>
              </a:rPr>
              <a:t>Use the canonical final-project page and rubric; do not create a separate Week 14 project submission.</a:t>
            </a:r>
          </a:p>
        </p:txBody>
      </p:sp>
      <p:sp>
        <p:nvSpPr>
          <p:cNvPr id="7" name="">
            <a:extLst xmlns:a="http://schemas.openxmlformats.org/drawingml/2006/main">
              <a:ext uri="{FF2B5EF4-FFF2-40B4-BE49-F238E27FC236}">
                <a16:creationId xmlns:a16="http://schemas.microsoft.com/office/drawing/2014/main" id="{73AF326E-AC3A-4302-B095-929C46C2CDF4}"/>
              </a:ext>
            </a:extLst>
          </p:cNvPr>
          <p:cNvSpPr>
            <a:spLocks xmlns:a="http://schemas.openxmlformats.org/drawingml/2006/main" noGrp="1"/>
          </p:cNvSpPr>
          <p:nvPr/>
        </p:nvSpPr>
        <p:spPr>
          <a:xfrm xmlns:a="http://schemas.openxmlformats.org/drawingml/2006/main">
            <a:off x="876300" y="2571750"/>
            <a:ext cx="85725" cy="3048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8" name="">
            <a:extLst xmlns:a="http://schemas.openxmlformats.org/drawingml/2006/main">
              <a:ext uri="{FF2B5EF4-FFF2-40B4-BE49-F238E27FC236}">
                <a16:creationId xmlns:a16="http://schemas.microsoft.com/office/drawing/2014/main" id="{CB4696F8-5A4C-49CF-97BF-3F1C8B96E84B}"/>
              </a:ext>
            </a:extLst>
          </p:cNvPr>
          <p:cNvSpPr>
            <a:spLocks xmlns:a="http://schemas.openxmlformats.org/drawingml/2006/main" noGrp="1"/>
          </p:cNvSpPr>
          <p:nvPr/>
        </p:nvSpPr>
        <p:spPr>
          <a:xfrm xmlns:a="http://schemas.openxmlformats.org/drawingml/2006/main">
            <a:off x="1143000" y="2514600"/>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Audit model, workload, access, performance, recovery, and reproducibility evidence against the canonical rubric.</a:t>
            </a:r>
          </a:p>
        </p:txBody>
      </p:sp>
      <p:sp>
        <p:nvSpPr>
          <p:cNvPr id="9" name="">
            <a:extLst xmlns:a="http://schemas.openxmlformats.org/drawingml/2006/main">
              <a:ext uri="{FF2B5EF4-FFF2-40B4-BE49-F238E27FC236}">
                <a16:creationId xmlns:a16="http://schemas.microsoft.com/office/drawing/2014/main" id="{B0554180-BB7A-4C0F-87C7-68AD21B15EE8}"/>
              </a:ext>
            </a:extLst>
          </p:cNvPr>
          <p:cNvSpPr>
            <a:spLocks xmlns:a="http://schemas.openxmlformats.org/drawingml/2006/main" noGrp="1"/>
          </p:cNvSpPr>
          <p:nvPr/>
        </p:nvSpPr>
        <p:spPr>
          <a:xfrm xmlns:a="http://schemas.openxmlformats.org/drawingml/2006/main">
            <a:off x="876300" y="3286125"/>
            <a:ext cx="85725" cy="3048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10" name="">
            <a:extLst xmlns:a="http://schemas.openxmlformats.org/drawingml/2006/main">
              <a:ext uri="{FF2B5EF4-FFF2-40B4-BE49-F238E27FC236}">
                <a16:creationId xmlns:a16="http://schemas.microsoft.com/office/drawing/2014/main" id="{A76581E8-F736-4393-B1F8-59B661679E09}"/>
              </a:ext>
            </a:extLst>
          </p:cNvPr>
          <p:cNvSpPr>
            <a:spLocks xmlns:a="http://schemas.openxmlformats.org/drawingml/2006/main" noGrp="1"/>
          </p:cNvSpPr>
          <p:nvPr/>
        </p:nvSpPr>
        <p:spPr>
          <a:xfrm xmlns:a="http://schemas.openxmlformats.org/drawingml/2006/main">
            <a:off x="1143000" y="3228975"/>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Choose the one missing or weak claim that creates the greatest grading or demonstration risk.</a:t>
            </a:r>
          </a:p>
        </p:txBody>
      </p:sp>
      <p:sp>
        <p:nvSpPr>
          <p:cNvPr id="11" name="">
            <a:extLst xmlns:a="http://schemas.openxmlformats.org/drawingml/2006/main">
              <a:ext uri="{FF2B5EF4-FFF2-40B4-BE49-F238E27FC236}">
                <a16:creationId xmlns:a16="http://schemas.microsoft.com/office/drawing/2014/main" id="{1FE84012-0EE8-4AD1-8E71-43EEBC5153FE}"/>
              </a:ext>
            </a:extLst>
          </p:cNvPr>
          <p:cNvSpPr>
            <a:spLocks xmlns:a="http://schemas.openxmlformats.org/drawingml/2006/main" noGrp="1"/>
          </p:cNvSpPr>
          <p:nvPr/>
        </p:nvSpPr>
        <p:spPr>
          <a:xfrm xmlns:a="http://schemas.openxmlformats.org/drawingml/2006/main">
            <a:off x="876300" y="4000500"/>
            <a:ext cx="85725" cy="3048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12" name="">
            <a:extLst xmlns:a="http://schemas.openxmlformats.org/drawingml/2006/main">
              <a:ext uri="{FF2B5EF4-FFF2-40B4-BE49-F238E27FC236}">
                <a16:creationId xmlns:a16="http://schemas.microsoft.com/office/drawing/2014/main" id="{1C8BEFD2-37D2-4804-98C0-AD224183EAD8}"/>
              </a:ext>
            </a:extLst>
          </p:cNvPr>
          <p:cNvSpPr>
            <a:spLocks xmlns:a="http://schemas.openxmlformats.org/drawingml/2006/main" noGrp="1"/>
          </p:cNvSpPr>
          <p:nvPr/>
        </p:nvSpPr>
        <p:spPr>
          <a:xfrm xmlns:a="http://schemas.openxmlformats.org/drawingml/2006/main">
            <a:off x="1143000" y="3943350"/>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Complete and redact that evidence inside the existing project package, then prepare a non-live fallback.</a:t>
            </a:r>
          </a:p>
        </p:txBody>
      </p:sp>
      <p:sp>
        <p:nvSpPr>
          <p:cNvPr id="13" name="">
            <a:extLst xmlns:a="http://schemas.openxmlformats.org/drawingml/2006/main">
              <a:ext uri="{FF2B5EF4-FFF2-40B4-BE49-F238E27FC236}">
                <a16:creationId xmlns:a16="http://schemas.microsoft.com/office/drawing/2014/main" id="{22AE8637-4236-44FF-B68F-CF9A88E8FFA4}"/>
              </a:ext>
            </a:extLst>
          </p:cNvPr>
          <p:cNvSpPr>
            <a:spLocks xmlns:a="http://schemas.openxmlformats.org/drawingml/2006/main" noGrp="1"/>
          </p:cNvSpPr>
          <p:nvPr/>
        </p:nvSpPr>
        <p:spPr>
          <a:xfrm xmlns:a="http://schemas.openxmlformats.org/drawingml/2006/main">
            <a:off x="723900" y="5429250"/>
            <a:ext cx="10287000" cy="666750"/>
          </a:xfrm>
          <a:prstGeom xmlns:a="http://schemas.openxmlformats.org/drawingml/2006/main" prst="rect">
            <a:avLst/>
          </a:prstGeom>
          <a:solidFill xmlns:a="http://schemas.openxmlformats.org/drawingml/2006/main">
            <a:srgbClr val="15803D"/>
          </a:solidFill>
          <a:ln xmlns:a="http://schemas.openxmlformats.org/drawingml/2006/main" w="9525">
            <a:solidFill>
              <a:srgbClr val="15803D"/>
            </a:solidFill>
            <a:prstDash val="solid"/>
          </a:ln>
        </p:spPr>
      </p:sp>
      <p:sp>
        <p:nvSpPr>
          <p:cNvPr id="14" name="">
            <a:extLst xmlns:a="http://schemas.openxmlformats.org/drawingml/2006/main">
              <a:ext uri="{FF2B5EF4-FFF2-40B4-BE49-F238E27FC236}">
                <a16:creationId xmlns:a16="http://schemas.microsoft.com/office/drawing/2014/main" id="{D0920B93-A46A-4167-9B34-146BA62BE1C8}"/>
              </a:ext>
            </a:extLst>
          </p:cNvPr>
          <p:cNvSpPr>
            <a:spLocks xmlns:a="http://schemas.openxmlformats.org/drawingml/2006/main" noGrp="1"/>
          </p:cNvSpPr>
          <p:nvPr/>
        </p:nvSpPr>
        <p:spPr>
          <a:xfrm xmlns:a="http://schemas.openxmlformats.org/drawingml/2006/main">
            <a:off x="933450" y="5591175"/>
            <a:ext cx="985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SUBMIT ONE THING  /  no separate Week 14 artifact; update the existing final-project package</a:t>
            </a:r>
          </a:p>
        </p:txBody>
      </p:sp>
    </p:spTree>
    <p:extLst>
      <p:ext uri="{BB962C8B-B14F-4D97-AF65-F5344CB8AC3E}">
        <p14:creationId xmlns:p14="http://schemas.microsoft.com/office/powerpoint/2010/main" val="1819530741"/>
      </p:ext>
    </p:extLst>
  </p:cSld>
</p:sld>
</file>

<file path=ppt/slides/slide1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C59C241-A05C-46C4-B773-C97E08D5B70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
            <a:extLst xmlns:a="http://schemas.openxmlformats.org/drawingml/2006/main">
              <a:ext uri="{FF2B5EF4-FFF2-40B4-BE49-F238E27FC236}">
                <a16:creationId xmlns:a16="http://schemas.microsoft.com/office/drawing/2014/main" id="{FBECE6A8-47FD-44C9-A151-994A0708ED7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3" name="">
            <a:extLst xmlns:a="http://schemas.openxmlformats.org/drawingml/2006/main">
              <a:ext uri="{FF2B5EF4-FFF2-40B4-BE49-F238E27FC236}">
                <a16:creationId xmlns:a16="http://schemas.microsoft.com/office/drawing/2014/main" id="{516F2515-52FB-4C0A-A4A7-78E68E977001}"/>
              </a:ext>
            </a:extLst>
          </p:cNvPr>
          <p:cNvSpPr>
            <a:spLocks xmlns:a="http://schemas.openxmlformats.org/drawingml/2006/main" noGrp="1"/>
          </p:cNvSpPr>
          <p:nvPr/>
        </p:nvSpPr>
        <p:spPr>
          <a:xfrm xmlns:a="http://schemas.openxmlformats.org/drawingml/2006/main">
            <a:off x="685800" y="952500"/>
            <a:ext cx="9906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85317"/>
          </a:bodyPr>
          <a:lstStyle xmlns:a="http://schemas.openxmlformats.org/drawingml/2006/main"/>
          <a:p xmlns:a="http://schemas.openxmlformats.org/drawingml/2006/main">
            <a:pPr>
              <a:buNone/>
              <a:defRPr sz="3150" b="1">
                <a:solidFill>
                  <a:srgbClr val="111827"/>
                </a:solidFill>
                <a:latin typeface="Helvetica Neue"/>
                <a:ea typeface="Helvetica Neue"/>
                <a:cs typeface="Helvetica Neue"/>
              </a:defRPr>
            </a:pPr>
            <a:r>
              <a:rPr sz="3150" b="1">
                <a:solidFill>
                  <a:srgbClr val="111827"/>
                </a:solidFill>
                <a:latin typeface="Helvetica Neue"/>
                <a:ea typeface="Helvetica Neue"/>
                <a:cs typeface="Helvetica Neue"/>
              </a:rPr>
              <a:t>Cross-database reliability begins with ownership and traceable events</a:t>
            </a:r>
          </a:p>
        </p:txBody>
      </p:sp>
      <p:sp>
        <p:nvSpPr>
          <p:cNvPr id="4" name="">
            <a:extLst xmlns:a="http://schemas.openxmlformats.org/drawingml/2006/main">
              <a:ext uri="{FF2B5EF4-FFF2-40B4-BE49-F238E27FC236}">
                <a16:creationId xmlns:a16="http://schemas.microsoft.com/office/drawing/2014/main" id="{EA727AF1-A356-4E4F-8735-62023915F74C}"/>
              </a:ext>
            </a:extLst>
          </p:cNvPr>
          <p:cNvSpPr>
            <a:spLocks xmlns:a="http://schemas.openxmlformats.org/drawingml/2006/main" noGrp="1"/>
          </p:cNvSpPr>
          <p:nvPr/>
        </p:nvSpPr>
        <p:spPr>
          <a:xfrm xmlns:a="http://schemas.openxmlformats.org/drawingml/2006/main">
            <a:off x="723900" y="2286000"/>
            <a:ext cx="91440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550" b="1">
                <a:solidFill>
                  <a:srgbClr val="15803D"/>
                </a:solidFill>
                <a:latin typeface="Helvetica Neue"/>
                <a:ea typeface="Helvetica Neue"/>
                <a:cs typeface="Helvetica Neue"/>
              </a:defRPr>
            </a:pPr>
            <a:r>
              <a:rPr sz="2550" b="1">
                <a:solidFill>
                  <a:srgbClr val="15803D"/>
                </a:solidFill>
                <a:latin typeface="Helvetica Neue"/>
                <a:ea typeface="Helvetica Neue"/>
                <a:cs typeface="Helvetica Neue"/>
              </a:rPr>
              <a:t>One fact has one owner; every derived copy needs propagation, reconciliation, and recovery rules.</a:t>
            </a:r>
          </a:p>
        </p:txBody>
      </p:sp>
      <p:sp>
        <p:nvSpPr>
          <p:cNvPr id="5" name="">
            <a:extLst xmlns:a="http://schemas.openxmlformats.org/drawingml/2006/main">
              <a:ext uri="{FF2B5EF4-FFF2-40B4-BE49-F238E27FC236}">
                <a16:creationId xmlns:a16="http://schemas.microsoft.com/office/drawing/2014/main" id="{B72422EB-EC2F-4912-883D-929EB1C85A54}"/>
              </a:ext>
            </a:extLst>
          </p:cNvPr>
          <p:cNvSpPr>
            <a:spLocks xmlns:a="http://schemas.openxmlformats.org/drawingml/2006/main" noGrp="1"/>
          </p:cNvSpPr>
          <p:nvPr/>
        </p:nvSpPr>
        <p:spPr>
          <a:xfrm xmlns:a="http://schemas.openxmlformats.org/drawingml/2006/main">
            <a:off x="781050" y="4248150"/>
            <a:ext cx="85725" cy="3048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6" name="">
            <a:extLst xmlns:a="http://schemas.openxmlformats.org/drawingml/2006/main">
              <a:ext uri="{FF2B5EF4-FFF2-40B4-BE49-F238E27FC236}">
                <a16:creationId xmlns:a16="http://schemas.microsoft.com/office/drawing/2014/main" id="{9F480054-0572-47B7-AB08-550BACB4E99A}"/>
              </a:ext>
            </a:extLst>
          </p:cNvPr>
          <p:cNvSpPr>
            <a:spLocks xmlns:a="http://schemas.openxmlformats.org/drawingml/2006/main" noGrp="1"/>
          </p:cNvSpPr>
          <p:nvPr/>
        </p:nvSpPr>
        <p:spPr>
          <a:xfrm xmlns:a="http://schemas.openxmlformats.org/drawingml/2006/main">
            <a:off x="1047750" y="4191000"/>
            <a:ext cx="973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Which system owns the disputed fact?</a:t>
            </a:r>
          </a:p>
        </p:txBody>
      </p:sp>
      <p:sp>
        <p:nvSpPr>
          <p:cNvPr id="7" name="">
            <a:extLst xmlns:a="http://schemas.openxmlformats.org/drawingml/2006/main">
              <a:ext uri="{FF2B5EF4-FFF2-40B4-BE49-F238E27FC236}">
                <a16:creationId xmlns:a16="http://schemas.microsoft.com/office/drawing/2014/main" id="{DC9ACC17-C1EC-4621-A67C-C6A531791F93}"/>
              </a:ext>
            </a:extLst>
          </p:cNvPr>
          <p:cNvSpPr>
            <a:spLocks xmlns:a="http://schemas.openxmlformats.org/drawingml/2006/main" noGrp="1"/>
          </p:cNvSpPr>
          <p:nvPr/>
        </p:nvSpPr>
        <p:spPr>
          <a:xfrm xmlns:a="http://schemas.openxmlformats.org/drawingml/2006/main">
            <a:off x="781050" y="4895850"/>
            <a:ext cx="85725" cy="3048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8" name="">
            <a:extLst xmlns:a="http://schemas.openxmlformats.org/drawingml/2006/main">
              <a:ext uri="{FF2B5EF4-FFF2-40B4-BE49-F238E27FC236}">
                <a16:creationId xmlns:a16="http://schemas.microsoft.com/office/drawing/2014/main" id="{409C2C79-1E6E-461F-A4B6-A7374024D7DA}"/>
              </a:ext>
            </a:extLst>
          </p:cNvPr>
          <p:cNvSpPr>
            <a:spLocks xmlns:a="http://schemas.openxmlformats.org/drawingml/2006/main" noGrp="1"/>
          </p:cNvSpPr>
          <p:nvPr/>
        </p:nvSpPr>
        <p:spPr>
          <a:xfrm xmlns:a="http://schemas.openxmlformats.org/drawingml/2006/main">
            <a:off x="1047750" y="4838700"/>
            <a:ext cx="973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Where is the last confirmed transition in the timeline?</a:t>
            </a:r>
          </a:p>
        </p:txBody>
      </p:sp>
      <p:sp>
        <p:nvSpPr>
          <p:cNvPr id="9" name="">
            <a:extLst xmlns:a="http://schemas.openxmlformats.org/drawingml/2006/main">
              <a:ext uri="{FF2B5EF4-FFF2-40B4-BE49-F238E27FC236}">
                <a16:creationId xmlns:a16="http://schemas.microsoft.com/office/drawing/2014/main" id="{9D5658C2-B9F9-4B09-91A6-F4411226A4DD}"/>
              </a:ext>
            </a:extLst>
          </p:cNvPr>
          <p:cNvSpPr>
            <a:spLocks xmlns:a="http://schemas.openxmlformats.org/drawingml/2006/main" noGrp="1"/>
          </p:cNvSpPr>
          <p:nvPr/>
        </p:nvSpPr>
        <p:spPr>
          <a:xfrm xmlns:a="http://schemas.openxmlformats.org/drawingml/2006/main">
            <a:off x="781050" y="5543550"/>
            <a:ext cx="85725" cy="304800"/>
          </a:xfrm>
          <a:prstGeom xmlns:a="http://schemas.openxmlformats.org/drawingml/2006/main" prst="rect">
            <a:avLst/>
          </a:prstGeom>
          <a:solidFill xmlns:a="http://schemas.openxmlformats.org/drawingml/2006/main">
            <a:srgbClr val="15803D"/>
          </a:solidFill>
          <a:ln xmlns:a="http://schemas.openxmlformats.org/drawingml/2006/main" w="0">
            <a:solidFill>
              <a:srgbClr val="15803D"/>
            </a:solidFill>
            <a:prstDash val="solid"/>
          </a:ln>
        </p:spPr>
      </p:sp>
      <p:sp>
        <p:nvSpPr>
          <p:cNvPr id="10" name="">
            <a:extLst xmlns:a="http://schemas.openxmlformats.org/drawingml/2006/main">
              <a:ext uri="{FF2B5EF4-FFF2-40B4-BE49-F238E27FC236}">
                <a16:creationId xmlns:a16="http://schemas.microsoft.com/office/drawing/2014/main" id="{2C89E46D-D9E3-4E31-880A-132A0A48E9D6}"/>
              </a:ext>
            </a:extLst>
          </p:cNvPr>
          <p:cNvSpPr>
            <a:spLocks xmlns:a="http://schemas.openxmlformats.org/drawingml/2006/main" noGrp="1"/>
          </p:cNvSpPr>
          <p:nvPr/>
        </p:nvSpPr>
        <p:spPr>
          <a:xfrm xmlns:a="http://schemas.openxmlformats.org/drawingml/2006/main">
            <a:off x="1047750" y="5486400"/>
            <a:ext cx="973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Which verification proves the repair beyond one visible record?</a:t>
            </a:r>
          </a:p>
        </p:txBody>
      </p:sp>
      <p:sp>
        <p:nvSpPr>
          <p:cNvPr id="11" name="">
            <a:extLst xmlns:a="http://schemas.openxmlformats.org/drawingml/2006/main">
              <a:ext uri="{FF2B5EF4-FFF2-40B4-BE49-F238E27FC236}">
                <a16:creationId xmlns:a16="http://schemas.microsoft.com/office/drawing/2014/main" id="{DEFB2A0C-C175-4545-B487-D48E90A9B797}"/>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12</a:t>
            </a:r>
          </a:p>
        </p:txBody>
      </p:sp>
    </p:spTree>
    <p:extLst>
      <p:ext uri="{BB962C8B-B14F-4D97-AF65-F5344CB8AC3E}">
        <p14:creationId xmlns:p14="http://schemas.microsoft.com/office/powerpoint/2010/main" val="70263550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2026-08-09T04:11:16.9840000Z</dcterms:created>
  <dcterms:modified xsi:type="dcterms:W3CDTF">2026-08-09T04:11:16.9840000Z</dcterms:modified>
</coreProperties>
</file>