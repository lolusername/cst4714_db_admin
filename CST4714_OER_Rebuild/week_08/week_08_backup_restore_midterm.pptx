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3c6b9201e94161" /><Relationship Type="http://schemas.openxmlformats.org/officeDocument/2006/relationships/extended-properties" Target="/docProps/app.xml" Id="Rdb358c6ac4ae487e" /><Relationship Type="http://schemas.openxmlformats.org/officeDocument/2006/relationships/officeDocument" Target="/ppt/presentation.xml" Id="R0242a60f44994c86" /></Relationships>
</file>

<file path=ppt/presentation.xml><?xml version="1.0" encoding="utf-8"?>
<p:presentation xmlns:p="http://schemas.openxmlformats.org/presentationml/2006/main">
  <p:sldMasterIdLst>
    <p:sldMasterId xmlns:r="http://schemas.openxmlformats.org/officeDocument/2006/relationships" id="2147483648" r:id="Ra56047fc9d5a44ac"/>
  </p:sldMasterIdLst>
  <p:notesMasterIdLst>
    <p:notesMasterId xmlns:r="http://schemas.openxmlformats.org/officeDocument/2006/relationships" r:id="R11feb387af114a9d"/>
  </p:notesMasterIdLst>
  <p:sldIdLst>
    <p:sldId xmlns:r="http://schemas.openxmlformats.org/officeDocument/2006/relationships" id="256" r:id="R2dfa327812a0495b"/>
    <p:sldId xmlns:r="http://schemas.openxmlformats.org/officeDocument/2006/relationships" id="257" r:id="R9638a3fb75974d13"/>
    <p:sldId xmlns:r="http://schemas.openxmlformats.org/officeDocument/2006/relationships" id="258" r:id="R00da96f0dd544cd3"/>
    <p:sldId xmlns:r="http://schemas.openxmlformats.org/officeDocument/2006/relationships" id="259" r:id="Rb924a43c0d0344cf"/>
    <p:sldId xmlns:r="http://schemas.openxmlformats.org/officeDocument/2006/relationships" id="260" r:id="R2aa26d7953134764"/>
    <p:sldId xmlns:r="http://schemas.openxmlformats.org/officeDocument/2006/relationships" id="261" r:id="Rbfbbe8dd2ddc4528"/>
    <p:sldId xmlns:r="http://schemas.openxmlformats.org/officeDocument/2006/relationships" id="262" r:id="R8dbc67384a5947ff"/>
    <p:sldId xmlns:r="http://schemas.openxmlformats.org/officeDocument/2006/relationships" id="263" r:id="R2dd0ee9494164834"/>
    <p:sldId xmlns:r="http://schemas.openxmlformats.org/officeDocument/2006/relationships" id="264" r:id="R2c23e77be4ab443a"/>
    <p:sldId xmlns:r="http://schemas.openxmlformats.org/officeDocument/2006/relationships" id="265" r:id="Rb1ffd74ab3b6457b"/>
    <p:sldId xmlns:r="http://schemas.openxmlformats.org/officeDocument/2006/relationships" id="266" r:id="R727d42555cfa42de"/>
    <p:sldId xmlns:r="http://schemas.openxmlformats.org/officeDocument/2006/relationships" id="267" r:id="R7946eec5df0440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e07bc7fe5c4868" /><Relationship Type="http://schemas.openxmlformats.org/officeDocument/2006/relationships/slideMaster" Target="/ppt/slideMasters/slideMaster1.xml" Id="Ra56047fc9d5a44ac" /><Relationship Type="http://schemas.openxmlformats.org/officeDocument/2006/relationships/notesMaster" Target="/ppt/notesMasters/notesMaster1.xml" Id="R11feb387af114a9d" /><Relationship Type="http://schemas.openxmlformats.org/officeDocument/2006/relationships/presProps" Target="/ppt/presProps.xml" Id="R7d45a42427f34826" /><Relationship Type="http://schemas.openxmlformats.org/officeDocument/2006/relationships/tableStyles" Target="/ppt/tableStyles.xml" Id="R55d43a0a9a204f9e" /><Relationship Type="http://schemas.openxmlformats.org/officeDocument/2006/relationships/slide" Target="/ppt/slides/slide1.xml" Id="R2dfa327812a0495b" /><Relationship Type="http://schemas.openxmlformats.org/officeDocument/2006/relationships/slide" Target="/ppt/slides/slide2.xml" Id="R9638a3fb75974d13" /><Relationship Type="http://schemas.openxmlformats.org/officeDocument/2006/relationships/slide" Target="/ppt/slides/slide3.xml" Id="R00da96f0dd544cd3" /><Relationship Type="http://schemas.openxmlformats.org/officeDocument/2006/relationships/slide" Target="/ppt/slides/slide4.xml" Id="Rb924a43c0d0344cf" /><Relationship Type="http://schemas.openxmlformats.org/officeDocument/2006/relationships/slide" Target="/ppt/slides/slide5.xml" Id="R2aa26d7953134764" /><Relationship Type="http://schemas.openxmlformats.org/officeDocument/2006/relationships/slide" Target="/ppt/slides/slide6.xml" Id="Rbfbbe8dd2ddc4528" /><Relationship Type="http://schemas.openxmlformats.org/officeDocument/2006/relationships/slide" Target="/ppt/slides/slide7.xml" Id="R8dbc67384a5947ff" /><Relationship Type="http://schemas.openxmlformats.org/officeDocument/2006/relationships/slide" Target="/ppt/slides/slide8.xml" Id="R2dd0ee9494164834" /><Relationship Type="http://schemas.openxmlformats.org/officeDocument/2006/relationships/slide" Target="/ppt/slides/slide9.xml" Id="R2c23e77be4ab443a" /><Relationship Type="http://schemas.openxmlformats.org/officeDocument/2006/relationships/slide" Target="/ppt/slides/slide10.xml" Id="Rb1ffd74ab3b6457b" /><Relationship Type="http://schemas.openxmlformats.org/officeDocument/2006/relationships/slide" Target="/ppt/slides/slide11.xml" Id="R727d42555cfa42de" /><Relationship Type="http://schemas.openxmlformats.org/officeDocument/2006/relationships/slide" Target="/ppt/slides/slide12.xml" Id="R7946eec5df0440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d8c3d75ce4a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e798fc1a124882" /><Relationship Type="http://schemas.openxmlformats.org/officeDocument/2006/relationships/notesMaster" Target="/ppt/notesMasters/notesMaster1.xml" Id="Reedc7079ddc6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9d67d9e1f45eb" /><Relationship Type="http://schemas.openxmlformats.org/officeDocument/2006/relationships/notesMaster" Target="/ppt/notesMasters/notesMaster1.xml" Id="Ra9ba74c33f5e45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b02bc96ca54160" /><Relationship Type="http://schemas.openxmlformats.org/officeDocument/2006/relationships/notesMaster" Target="/ppt/notesMasters/notesMaster1.xml" Id="Rcac0943692f942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f061e6cf6948b7" /><Relationship Type="http://schemas.openxmlformats.org/officeDocument/2006/relationships/notesMaster" Target="/ppt/notesMasters/notesMaster1.xml" Id="R44a1d3fd5be9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098a8b3290473a" /><Relationship Type="http://schemas.openxmlformats.org/officeDocument/2006/relationships/notesMaster" Target="/ppt/notesMasters/notesMaster1.xml" Id="R689120b882f54e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726e9d420e43eb" /><Relationship Type="http://schemas.openxmlformats.org/officeDocument/2006/relationships/notesMaster" Target="/ppt/notesMasters/notesMaster1.xml" Id="Raa165865054147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e71a15bfb941f0" /><Relationship Type="http://schemas.openxmlformats.org/officeDocument/2006/relationships/notesMaster" Target="/ppt/notesMasters/notesMaster1.xml" Id="Rb6683309235d4b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d9142cc94d4276" /><Relationship Type="http://schemas.openxmlformats.org/officeDocument/2006/relationships/notesMaster" Target="/ppt/notesMasters/notesMaster1.xml" Id="Rd51a202c178f4a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b5d37d23b84eaa" /><Relationship Type="http://schemas.openxmlformats.org/officeDocument/2006/relationships/notesMaster" Target="/ppt/notesMasters/notesMaster1.xml" Id="Rba7ece1833334f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db96c23e244de1" /><Relationship Type="http://schemas.openxmlformats.org/officeDocument/2006/relationships/notesMaster" Target="/ppt/notesMasters/notesMaster1.xml" Id="R30250cbab44649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5b70b535714587" /><Relationship Type="http://schemas.openxmlformats.org/officeDocument/2006/relationships/notesMaster" Target="/ppt/notesMasters/notesMaster1.xml" Id="Rb7bd526408f341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fb81b1f4684fdb" /><Relationship Type="http://schemas.openxmlformats.org/officeDocument/2006/relationships/notesMaster" Target="/ppt/notesMasters/notesMaster1.xml" Id="R4158bdd22291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separates the existence of backup bytes from the ability to recover a usable database. We will create a logical PostgreSQL dump, record its size and checksum, restore it into a different database, and verify structure, data, relationships, constraints, and a meaningful query.</a:t>
            </a:r>
          </a:p>
          <a:p xmlns:a="http://schemas.openxmlformats.org/drawingml/2006/main">
            <a:r>
              <a:t/>
            </a:r>
          </a:p>
          <a:p xmlns:a="http://schemas.openxmlformats.org/drawingml/2006/main">
            <a:r>
              <a:t>The second class integrates the PostgreSQL half of the course through the canonical midterm operations case. The midterm is not a new list of unrelated tasks. It asks you to build a small system, diagnose one operational issue, improve one boundary or workload, and document a recovery plan using the same evidence patterns practiced in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file with a familiar extension is not recovery evidence. It may be empty, incomplete, corrupt, incompatible, encrypted without a key, missing required metadata, or impossible to locate when needed. A useful artifact record names the source, method, creation time, tool version, size, checksum, retention, and protection boundary.</a:t>
            </a:r>
          </a:p>
          <a:p xmlns:a="http://schemas.openxmlformats.org/drawingml/2006/main">
            <a:r>
              <a:t/>
            </a:r>
          </a:p>
          <a:p xmlns:a="http://schemas.openxmlformats.org/drawingml/2006/main">
            <a:r>
              <a:t>The restore target must be separate from the source so the test does not destroy the system it is supposed to protect. Verification then checks more than row count. We need object definitions, stable identifiers, relationships, constraints, types, and a meaningful application question. The result is still bounded by the tested failure and the artifact's omissions.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recovery point objective describes how much recent data loss the organization can tolerate, expressed as a time window. If the RPO is one hour, a daily logical export is not sufficient by itself. The mechanism and schedule must support the objective.</a:t>
            </a:r>
          </a:p>
          <a:p xmlns:a="http://schemas.openxmlformats.org/drawingml/2006/main">
            <a:r>
              <a:t/>
            </a:r>
          </a:p>
          <a:p xmlns:a="http://schemas.openxmlformats.org/drawingml/2006/main">
            <a:r>
              <a:t>The recovery time objective describes how quickly acceptable service should return. The clock includes detecting the incident, locating credentials and artifacts, provisioning a target, restoring, verifying, and reconnecting clients. A command's execution time is only one component. Classroom recovery uses a small dataset, so it demonstrates the sequence and checks, not an enterprise RTO. State the objective and the scope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by identifying the source database, included schemas or objects, server version, client tools, and credentials. Confirm what the selected free plan does and does not provide. Create the logical artifact with a recorded command and exit status. Then identify the exact bytes with size and a cryptographic checksum.</a:t>
            </a:r>
          </a:p>
          <a:p xmlns:a="http://schemas.openxmlformats.org/drawingml/2006/main">
            <a:r>
              <a:t/>
            </a:r>
          </a:p>
          <a:p xmlns:a="http://schemas.openxmlformats.org/drawingml/2006/main">
            <a:r>
              <a:t>Restore into a separate target. A successful `pg_restore` exit is necessary but not sufficient. Verify expected schemas and tables, counts and stable identifiers, key relationships, constraint behavior, and one meaningful query. Record omissions such as roles, provider network settings, secrets, scheduled jobs, or external object storage. Recovery is a system process, not only a database 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client tools have compatibility rules. An older `pg_dump` may refuse to dump a newer server. Record the server version and select a compatible current client rather than trying random binaries. The custom format supports selective restore and `pg_restore` behavior.</a:t>
            </a:r>
          </a:p>
          <a:p xmlns:a="http://schemas.openxmlformats.org/drawingml/2006/main">
            <a:r>
              <a:t/>
            </a:r>
          </a:p>
          <a:p xmlns:a="http://schemas.openxmlformats.org/drawingml/2006/main">
            <a:r>
              <a:t>The example uses environment placeholders to show command shape. A real database URL contains credentials and must not be committed, printed, or pasted into a public transcript. Record a redacted command, exit status, artifact size, and checksum. Restore to a different target URL. In the course notebook, a disposable local PostgreSQL service avoids cloud credentials and selects a client compatible with the running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Structure verification checks that the expected database objects exist. Data verification compares counts and stable identifiers and inspects types or values that serialization could change. Relationship checks join parent and child records or look for orphans. Constraint checks deliberately challenge an important rule in a transaction.</a:t>
            </a:r>
          </a:p>
          <a:p xmlns:a="http://schemas.openxmlformats.org/drawingml/2006/main">
            <a:r>
              <a:t/>
            </a:r>
          </a:p>
          <a:p xmlns:a="http://schemas.openxmlformats.org/drawingml/2006/main">
            <a:r>
              <a:t>Behavioral verification runs a query tied to the system's purpose, such as active tickets with requester names. Finally, list omissions. A logical database dump may not capture cloud project users, network access rules, application secrets, external files, or every extension setting. Several different checks are stronger than several screenshots of the same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recovery notebook individually. It creates a disposable local PostgreSQL source, loads Metro Support data, selects a compatible client tool, creates a custom-format dump, and restores into a different database. Run from the first cell so the evidence sequence is reproducible.</a:t>
            </a:r>
          </a:p>
          <a:p xmlns:a="http://schemas.openxmlformats.org/drawingml/2006/main">
            <a:r>
              <a:t/>
            </a:r>
          </a:p>
          <a:p xmlns:a="http://schemas.openxmlformats.org/drawingml/2006/main">
            <a:r>
              <a:t>Record artifact size and an abbreviated checksum, then complete the five verification categories. The notebook removes its disposable databases at the end. Submit the completed notebook after confirming that no URL, password, or token appears in cell source or output. The cloud transfer prompt asks how the procedure would change for Supabase without redefining the lab as a paid backup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midterm is defined only in the canonical midterm file. The weekly guide links to it but does not create another deliverable list. The case asks for a small reproducible PostgreSQL or Supabase environment, one transaction or lock diagnosis, one access or performance improvement, and a recovery plan with verification.</a:t>
            </a:r>
          </a:p>
          <a:p xmlns:a="http://schemas.openxmlformats.org/drawingml/2006/main">
            <a:r>
              <a:t/>
            </a:r>
          </a:p>
          <a:p xmlns:a="http://schemas.openxmlformats.org/drawingml/2006/main">
            <a:r>
              <a:t>The parts belong together. Schema and seed data create the system. The incident reveals operating state. The improvement uses evidence rather than a guess. The recovery section identifies what protects the work and what the selected free tier does not promise. The final technical note explains the decision and limitation in professional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build thread establishes the system's meaning: schema, constraints, small seed data, and a query whose result can be checked. The operations thread uses a transaction or blocking incident to show that the student can identify state and respond safely.</a:t>
            </a:r>
          </a:p>
          <a:p xmlns:a="http://schemas.openxmlformats.org/drawingml/2006/main">
            <a:r>
              <a:t/>
            </a:r>
          </a:p>
          <a:p xmlns:a="http://schemas.openxmlformats.org/drawingml/2006/main">
            <a:r>
              <a:t>The improvement thread selects either access control or performance and supplies evidence appropriate to that choice. The recovery thread names the artifact, separate target, checks, and free-tier limitation. These are not four unrelated mini-projects. Reuse the same Metro Support or approved small case so identifiers, queries, and operating claims connect across the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Managed backup features can provide important automation, retention, and point-in-time options. Their availability and guarantees depend on the current plan and configuration. Do not claim them from a marketing phrase or from an older semester's interface.</a:t>
            </a:r>
          </a:p>
          <a:p xmlns:a="http://schemas.openxmlformats.org/drawingml/2006/main">
            <a:r>
              <a:t/>
            </a:r>
          </a:p>
          <a:p xmlns:a="http://schemas.openxmlformats.org/drawingml/2006/main">
            <a:r>
              <a:t>The course logical artifact is portable and testable on a free path. It supports an independent recovery exercise, but it omits managed project configuration and may not meet a strict production RPO or RTO. The correct conclusion is not that one method is universally better. Define the failure, objective, scope, and operating constraints, then combine mechanisms as needed. The midterm should state the free-tier boundary accurately.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large file count does not make a strong midterm. Audit whether each required claim has an environment, identity, exact action, and observed result. Prefer stable identifiers, copied output, expected failures, and complete plan text over decorative screenshots.</a:t>
            </a:r>
          </a:p>
          <a:p xmlns:a="http://schemas.openxmlformats.org/drawingml/2006/main">
            <a:r>
              <a:t/>
            </a:r>
          </a:p>
          <a:p xmlns:a="http://schemas.openxmlformats.org/drawingml/2006/main">
            <a:r>
              <a:t>Check that the package follows the canonical assignment rather than an older weekly note. Remove database URLs, passwords, tokens, private project identifiers, IP addresses, and unredacted account images. Finally, state limitations. A bounded claim supported by reproducible evidence is more professional than a broad claim that ignores what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PostgreSQL half of the course now forms one operating cycle. Schemas protect meaning. Migrations control change. Transactions and locks reveal concurrent state. Roles and RLS restrict access. Plans and indexes measure work. Logical backup and separate restore provide recovery evidence.</a:t>
            </a:r>
          </a:p>
          <a:p xmlns:a="http://schemas.openxmlformats.org/drawingml/2006/main">
            <a:r>
              <a:t/>
            </a:r>
          </a:p>
          <a:p xmlns:a="http://schemas.openxmlformats.org/drawingml/2006/main">
            <a:r>
              <a:t>The midterm asks you to connect those skills through one small system rather than repeat every lab. After the midterm, we will revisit the same modeling and operating questions in a different family of systems. NoSQL and JSON will not erase relational thinking. They will make us ask which representation and database model best fits a workload, update pattern, and distribution need.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2bacfaf9ef4d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59e6c24093420e" /><Relationship Type="http://schemas.openxmlformats.org/officeDocument/2006/relationships/slideLayout" Target="/ppt/slideLayouts/slideLayout1.xml" Id="R1f77929024004e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77929024004e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0b3be156e94e06" /><Relationship Type="http://schemas.openxmlformats.org/officeDocument/2006/relationships/notesSlide" Target="/ppt/notesSlides/notesSlide1.xml" Id="R2685e91c939e4b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06aee6fc8c47f1" /><Relationship Type="http://schemas.openxmlformats.org/officeDocument/2006/relationships/notesSlide" Target="/ppt/notesSlides/notesSlide2.xml" Id="R1ba53694f39548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9a4a4dcad74eba" /><Relationship Type="http://schemas.openxmlformats.org/officeDocument/2006/relationships/notesSlide" Target="/ppt/notesSlides/notesSlide3.xml" Id="Radef9423ae7d49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3190cd2b4446d2" /><Relationship Type="http://schemas.openxmlformats.org/officeDocument/2006/relationships/notesSlide" Target="/ppt/notesSlides/notesSlide4.xml" Id="Rb102319be5bf46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d4f76ea820467d" /><Relationship Type="http://schemas.openxmlformats.org/officeDocument/2006/relationships/notesSlide" Target="/ppt/notesSlides/notesSlide5.xml" Id="R0e730ca664c44d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0aded806fd4659" /><Relationship Type="http://schemas.openxmlformats.org/officeDocument/2006/relationships/notesSlide" Target="/ppt/notesSlides/notesSlide6.xml" Id="Rc10a404096c649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6b5f3c3f9c4747" /><Relationship Type="http://schemas.openxmlformats.org/officeDocument/2006/relationships/notesSlide" Target="/ppt/notesSlides/notesSlide7.xml" Id="R6547dcecf8c54b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1626256d8a4528" /><Relationship Type="http://schemas.openxmlformats.org/officeDocument/2006/relationships/notesSlide" Target="/ppt/notesSlides/notesSlide8.xml" Id="Ra8c77909950b48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b9f4686e0d4ca9" /><Relationship Type="http://schemas.openxmlformats.org/officeDocument/2006/relationships/notesSlide" Target="/ppt/notesSlides/notesSlide9.xml" Id="R68652e20e10146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b6c73ce1f94fad" /><Relationship Type="http://schemas.openxmlformats.org/officeDocument/2006/relationships/notesSlide" Target="/ppt/notesSlides/notesSlide10.xml" Id="R869eee1ce0b74a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627823c1b34705" /><Relationship Type="http://schemas.openxmlformats.org/officeDocument/2006/relationships/notesSlide" Target="/ppt/notesSlides/notesSlide11.xml" Id="Rc8571a52706d42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d5bfe0bdda4d25" /><Relationship Type="http://schemas.openxmlformats.org/officeDocument/2006/relationships/notesSlide" Target="/ppt/notesSlides/notesSlide12.xml" Id="R56c93d0a2699465e"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66AE7B-FE5D-48C2-A567-8692D876F9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C471B6D3-2332-4127-A046-47C756580B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4C8868C9-5BEA-4237-A2C4-0C05B41EAC9B}"/>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C2410C"/>
                </a:solidFill>
                <a:latin typeface="Helvetica Neue"/>
                <a:ea typeface="Helvetica Neue"/>
                <a:cs typeface="Helvetica Neue"/>
              </a:defRPr>
            </a:pPr>
            <a:r>
              <a:rPr sz="1350" b="1">
                <a:solidFill>
                  <a:srgbClr val="C2410C"/>
                </a:solidFill>
                <a:latin typeface="Helvetica Neue"/>
                <a:ea typeface="Helvetica Neue"/>
                <a:cs typeface="Helvetica Neue"/>
              </a:rPr>
              <a:t>WEEK 08</a:t>
            </a:r>
          </a:p>
        </p:txBody>
      </p:sp>
      <p:sp>
        <p:nvSpPr>
          <p:cNvPr id="4" name="cover-title">
            <a:extLst xmlns:a="http://schemas.openxmlformats.org/drawingml/2006/main">
              <a:ext uri="{FF2B5EF4-FFF2-40B4-BE49-F238E27FC236}">
                <a16:creationId xmlns:a16="http://schemas.microsoft.com/office/drawing/2014/main" id="{89B67FA1-0CAD-4E28-BCC3-5BAD19700C44}"/>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Backup, Restore, and Midterm Synthesis</a:t>
            </a:r>
          </a:p>
        </p:txBody>
      </p:sp>
      <p:sp>
        <p:nvSpPr>
          <p:cNvPr id="5" name="cover-subtitle">
            <a:extLst xmlns:a="http://schemas.openxmlformats.org/drawingml/2006/main">
              <a:ext uri="{FF2B5EF4-FFF2-40B4-BE49-F238E27FC236}">
                <a16:creationId xmlns:a16="http://schemas.microsoft.com/office/drawing/2014/main" id="{E7A6DCD5-2663-4D57-BBA4-850B934547A2}"/>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Create an independent logical artifact, restore elsewhere, verify behavior, and integrate the PostgreSQL evidence cycle.</a:t>
            </a:r>
          </a:p>
        </p:txBody>
      </p:sp>
      <p:sp>
        <p:nvSpPr>
          <p:cNvPr id="6" name="">
            <a:extLst xmlns:a="http://schemas.openxmlformats.org/drawingml/2006/main">
              <a:ext uri="{FF2B5EF4-FFF2-40B4-BE49-F238E27FC236}">
                <a16:creationId xmlns:a16="http://schemas.microsoft.com/office/drawing/2014/main" id="{FD97F83F-A516-4B5C-8722-F2A4518E9000}"/>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D0B1E711-9E02-4388-8A54-786DE4E60D1A}"/>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C2410C"/>
                </a:solidFill>
                <a:latin typeface="Helvetica Neue"/>
                <a:ea typeface="Helvetica Neue"/>
                <a:cs typeface="Helvetica Neue"/>
              </a:defRPr>
            </a:pPr>
            <a:r>
              <a:rPr sz="8400" b="1">
                <a:solidFill>
                  <a:srgbClr val="C2410C"/>
                </a:solidFill>
                <a:latin typeface="Helvetica Neue"/>
                <a:ea typeface="Helvetica Neue"/>
                <a:cs typeface="Helvetica Neue"/>
              </a:rPr>
              <a:t>08</a:t>
            </a:r>
          </a:p>
        </p:txBody>
      </p:sp>
    </p:spTree>
    <p:extLst>
      <p:ext uri="{BB962C8B-B14F-4D97-AF65-F5344CB8AC3E}">
        <p14:creationId xmlns:p14="http://schemas.microsoft.com/office/powerpoint/2010/main" val="147637741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7E79E7-88FC-491E-8892-2EF6A2ECDF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C9A97A1-513E-4C70-BA27-3CA6C48728A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AD20EE9E-5FE6-4F6C-BB52-46F15FE205F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backup artifact is a claim about future recovery</a:t>
            </a:r>
          </a:p>
        </p:txBody>
      </p:sp>
      <p:sp>
        <p:nvSpPr>
          <p:cNvPr id="4" name="">
            <a:extLst xmlns:a="http://schemas.openxmlformats.org/drawingml/2006/main">
              <a:ext uri="{FF2B5EF4-FFF2-40B4-BE49-F238E27FC236}">
                <a16:creationId xmlns:a16="http://schemas.microsoft.com/office/drawing/2014/main" id="{A3B21B7F-45CC-47CE-B011-A017ED5FC0F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72B9BE9-B1C2-4219-88E1-96DA2A0C64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8F0974C6-F88F-4A20-8D1D-FD305F8A7D58}"/>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C2410C"/>
                </a:solidFill>
                <a:latin typeface="Helvetica Neue"/>
                <a:ea typeface="Helvetica Neue"/>
                <a:cs typeface="Helvetica Neue"/>
              </a:defRPr>
            </a:pPr>
            <a:r>
              <a:rPr sz="2925" b="1">
                <a:solidFill>
                  <a:srgbClr val="C2410C"/>
                </a:solidFill>
                <a:latin typeface="Helvetica Neue"/>
                <a:ea typeface="Helvetica Neue"/>
                <a:cs typeface="Helvetica Neue"/>
              </a:rPr>
              <a:t>The claim becomes evidence only after a separate restore works and the result is checked.</a:t>
            </a:r>
          </a:p>
        </p:txBody>
      </p:sp>
      <p:sp>
        <p:nvSpPr>
          <p:cNvPr id="7" name="">
            <a:extLst xmlns:a="http://schemas.openxmlformats.org/drawingml/2006/main">
              <a:ext uri="{FF2B5EF4-FFF2-40B4-BE49-F238E27FC236}">
                <a16:creationId xmlns:a16="http://schemas.microsoft.com/office/drawing/2014/main" id="{A7B873A6-B960-4A32-BE65-F21641F18496}"/>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C2410C"/>
            </a:solidFill>
            <a:prstDash val="solid"/>
          </a:ln>
        </p:spPr>
      </p:sp>
      <p:sp>
        <p:nvSpPr>
          <p:cNvPr id="8" name="">
            <a:extLst xmlns:a="http://schemas.openxmlformats.org/drawingml/2006/main">
              <a:ext uri="{FF2B5EF4-FFF2-40B4-BE49-F238E27FC236}">
                <a16:creationId xmlns:a16="http://schemas.microsoft.com/office/drawing/2014/main" id="{779B2F51-66DD-41FA-BFC1-21812FCC8F5B}"/>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ARTIFACT</a:t>
            </a:r>
          </a:p>
        </p:txBody>
      </p:sp>
      <p:sp>
        <p:nvSpPr>
          <p:cNvPr id="9" name="">
            <a:extLst xmlns:a="http://schemas.openxmlformats.org/drawingml/2006/main">
              <a:ext uri="{FF2B5EF4-FFF2-40B4-BE49-F238E27FC236}">
                <a16:creationId xmlns:a16="http://schemas.microsoft.com/office/drawing/2014/main" id="{6356D910-7F2A-4F49-9EC5-0677F0C0109E}"/>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Known source, method, time, tool version, size, and checksum.</a:t>
            </a:r>
          </a:p>
        </p:txBody>
      </p:sp>
      <p:sp>
        <p:nvSpPr>
          <p:cNvPr id="10" name="">
            <a:extLst xmlns:a="http://schemas.openxmlformats.org/drawingml/2006/main">
              <a:ext uri="{FF2B5EF4-FFF2-40B4-BE49-F238E27FC236}">
                <a16:creationId xmlns:a16="http://schemas.microsoft.com/office/drawing/2014/main" id="{302A5452-923F-41B0-B050-94834279083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1933075F-7E9A-4044-822D-04D2D96A2FA1}"/>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RESTORE</a:t>
            </a:r>
          </a:p>
        </p:txBody>
      </p:sp>
      <p:sp>
        <p:nvSpPr>
          <p:cNvPr id="12" name="">
            <a:extLst xmlns:a="http://schemas.openxmlformats.org/drawingml/2006/main">
              <a:ext uri="{FF2B5EF4-FFF2-40B4-BE49-F238E27FC236}">
                <a16:creationId xmlns:a16="http://schemas.microsoft.com/office/drawing/2014/main" id="{38D51860-BCE0-4021-A48E-222706FBE425}"/>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different target receives the artifact without overwriting the source.</a:t>
            </a:r>
          </a:p>
        </p:txBody>
      </p:sp>
      <p:sp>
        <p:nvSpPr>
          <p:cNvPr id="13" name="">
            <a:extLst xmlns:a="http://schemas.openxmlformats.org/drawingml/2006/main">
              <a:ext uri="{FF2B5EF4-FFF2-40B4-BE49-F238E27FC236}">
                <a16:creationId xmlns:a16="http://schemas.microsoft.com/office/drawing/2014/main" id="{A156A814-258E-47DF-98CC-A7097341D793}"/>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81855136-2D79-41A4-9F4B-BD9B42B6F3D3}"/>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C2410C"/>
                </a:solidFill>
                <a:latin typeface="Helvetica Neue"/>
                <a:ea typeface="Helvetica Neue"/>
                <a:cs typeface="Helvetica Neue"/>
              </a:defRPr>
            </a:pPr>
            <a:r>
              <a:rPr sz="1125" b="1">
                <a:solidFill>
                  <a:srgbClr val="C2410C"/>
                </a:solidFill>
                <a:latin typeface="Helvetica Neue"/>
                <a:ea typeface="Helvetica Neue"/>
                <a:cs typeface="Helvetica Neue"/>
              </a:rPr>
              <a:t>VERIFY</a:t>
            </a:r>
          </a:p>
        </p:txBody>
      </p:sp>
      <p:sp>
        <p:nvSpPr>
          <p:cNvPr id="15" name="">
            <a:extLst xmlns:a="http://schemas.openxmlformats.org/drawingml/2006/main">
              <a:ext uri="{FF2B5EF4-FFF2-40B4-BE49-F238E27FC236}">
                <a16:creationId xmlns:a16="http://schemas.microsoft.com/office/drawing/2014/main" id="{105D6E71-A3D5-4AB8-A375-4994DCD957F0}"/>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Structure, identity, rules, relationships, and behavior are tested.</a:t>
            </a:r>
          </a:p>
        </p:txBody>
      </p:sp>
    </p:spTree>
    <p:extLst>
      <p:ext uri="{BB962C8B-B14F-4D97-AF65-F5344CB8AC3E}">
        <p14:creationId xmlns:p14="http://schemas.microsoft.com/office/powerpoint/2010/main" val="1397705244"/>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B84C15A-1BAE-4120-90B7-1B81C70AB7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D0A81E7-9632-420A-B420-5FCD1AA8C5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03A4D639-ADA7-47B4-80DA-5634751F930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RPO and RTO turn recovery language into objectives</a:t>
            </a:r>
          </a:p>
        </p:txBody>
      </p:sp>
      <p:sp>
        <p:nvSpPr>
          <p:cNvPr id="4" name="">
            <a:extLst xmlns:a="http://schemas.openxmlformats.org/drawingml/2006/main">
              <a:ext uri="{FF2B5EF4-FFF2-40B4-BE49-F238E27FC236}">
                <a16:creationId xmlns:a16="http://schemas.microsoft.com/office/drawing/2014/main" id="{3ED567E7-C2FA-45DE-9645-BA005AC4FDE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C1CBB13-EB2F-4543-97F9-F4E4AC3B2DBC}"/>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7A22AE43-B194-4D5A-9DE2-387FFADB20B0}"/>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Recovery point objective</a:t>
            </a:r>
          </a:p>
        </p:txBody>
      </p:sp>
      <p:sp>
        <p:nvSpPr>
          <p:cNvPr id="7" name="">
            <a:extLst xmlns:a="http://schemas.openxmlformats.org/drawingml/2006/main">
              <a:ext uri="{FF2B5EF4-FFF2-40B4-BE49-F238E27FC236}">
                <a16:creationId xmlns:a16="http://schemas.microsoft.com/office/drawing/2014/main" id="{1E42B193-7EDC-4CD4-B7D2-1F8EEBC5FAD2}"/>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Recovery time objective</a:t>
            </a:r>
          </a:p>
        </p:txBody>
      </p:sp>
      <p:sp>
        <p:nvSpPr>
          <p:cNvPr id="8" name="">
            <a:extLst xmlns:a="http://schemas.openxmlformats.org/drawingml/2006/main">
              <a:ext uri="{FF2B5EF4-FFF2-40B4-BE49-F238E27FC236}">
                <a16:creationId xmlns:a16="http://schemas.microsoft.com/office/drawing/2014/main" id="{D7A0D376-FC80-4EC3-9C22-F18E95AA3AC7}"/>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C0969C25-5F9D-4834-9333-E05F8DE0487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A8D9EEF6-7114-4557-8C2E-67A5A639F3F8}"/>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Maximum tolerable data-loss window</a:t>
            </a:r>
          </a:p>
        </p:txBody>
      </p:sp>
      <p:sp>
        <p:nvSpPr>
          <p:cNvPr id="11" name="">
            <a:extLst xmlns:a="http://schemas.openxmlformats.org/drawingml/2006/main">
              <a:ext uri="{FF2B5EF4-FFF2-40B4-BE49-F238E27FC236}">
                <a16:creationId xmlns:a16="http://schemas.microsoft.com/office/drawing/2014/main" id="{12C207D1-9B8E-4B24-9A54-D5C6ED80F5F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F7095303-F9BF-4DCE-A38D-6A0DF477A4C0}"/>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Drives artifact or log frequency</a:t>
            </a:r>
          </a:p>
        </p:txBody>
      </p:sp>
      <p:sp>
        <p:nvSpPr>
          <p:cNvPr id="13" name="">
            <a:extLst xmlns:a="http://schemas.openxmlformats.org/drawingml/2006/main">
              <a:ext uri="{FF2B5EF4-FFF2-40B4-BE49-F238E27FC236}">
                <a16:creationId xmlns:a16="http://schemas.microsoft.com/office/drawing/2014/main" id="{78EC47A4-5427-4F57-A267-B6E3822C24AB}"/>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0B1CCD52-089A-4A74-829D-F452961C4142}"/>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Must match business and regulatory needs</a:t>
            </a:r>
          </a:p>
        </p:txBody>
      </p:sp>
      <p:sp>
        <p:nvSpPr>
          <p:cNvPr id="15" name="">
            <a:extLst xmlns:a="http://schemas.openxmlformats.org/drawingml/2006/main">
              <a:ext uri="{FF2B5EF4-FFF2-40B4-BE49-F238E27FC236}">
                <a16:creationId xmlns:a16="http://schemas.microsoft.com/office/drawing/2014/main" id="{B597050E-5EE8-452E-933F-7072110E0676}"/>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7D990A5-C5EF-4FFE-80E2-CDB778C5A107}"/>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Target duration to restore acceptable service</a:t>
            </a:r>
          </a:p>
        </p:txBody>
      </p:sp>
      <p:sp>
        <p:nvSpPr>
          <p:cNvPr id="17" name="">
            <a:extLst xmlns:a="http://schemas.openxmlformats.org/drawingml/2006/main">
              <a:ext uri="{FF2B5EF4-FFF2-40B4-BE49-F238E27FC236}">
                <a16:creationId xmlns:a16="http://schemas.microsoft.com/office/drawing/2014/main" id="{0686990C-E4CA-4EB0-86BA-9A5B644A3042}"/>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D377E511-D4AE-412A-B49F-AE0FE5FBF168}"/>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Includes detection, access, restore, verification, and cutover</a:t>
            </a:r>
          </a:p>
        </p:txBody>
      </p:sp>
      <p:sp>
        <p:nvSpPr>
          <p:cNvPr id="19" name="">
            <a:extLst xmlns:a="http://schemas.openxmlformats.org/drawingml/2006/main">
              <a:ext uri="{FF2B5EF4-FFF2-40B4-BE49-F238E27FC236}">
                <a16:creationId xmlns:a16="http://schemas.microsoft.com/office/drawing/2014/main" id="{DF62C705-A589-4108-82B0-118913540BC6}"/>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A712831D-6CF9-4AC4-8E19-7567469D28C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Must be tested with people and dependencies</a:t>
            </a:r>
          </a:p>
        </p:txBody>
      </p:sp>
    </p:spTree>
    <p:extLst>
      <p:ext uri="{BB962C8B-B14F-4D97-AF65-F5344CB8AC3E}">
        <p14:creationId xmlns:p14="http://schemas.microsoft.com/office/powerpoint/2010/main" val="41285304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DFEB165-8DA5-44DA-9D29-B185173BBC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1B8B691-B1DB-4B9C-97D8-28EB30C6BFF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361DEE67-1AA1-4E26-A50C-6605DF1DAA6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Logical recovery is an ordered, verifiable workflow</a:t>
            </a:r>
          </a:p>
        </p:txBody>
      </p:sp>
      <p:sp>
        <p:nvSpPr>
          <p:cNvPr id="4" name="">
            <a:extLst xmlns:a="http://schemas.openxmlformats.org/drawingml/2006/main">
              <a:ext uri="{FF2B5EF4-FFF2-40B4-BE49-F238E27FC236}">
                <a16:creationId xmlns:a16="http://schemas.microsoft.com/office/drawing/2014/main" id="{9A012893-E161-403F-8E8F-58D9E90BA28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C4590AD-73A5-40CD-A299-A519D13CD4D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0D52BDB9-E290-42CF-BAE0-C9CF3DB7CF32}"/>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5FDA4226-3150-44E3-AD27-45784FEECDF1}"/>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C2410C"/>
          </a:solidFill>
          <a:ln xmlns:a="http://schemas.openxmlformats.org/drawingml/2006/main" w="28575">
            <a:solidFill>
              <a:srgbClr val="C2410C"/>
            </a:solidFill>
            <a:prstDash val="solid"/>
          </a:ln>
        </p:spPr>
      </p:sp>
      <p:sp>
        <p:nvSpPr>
          <p:cNvPr id="8" name="">
            <a:extLst xmlns:a="http://schemas.openxmlformats.org/drawingml/2006/main">
              <a:ext uri="{FF2B5EF4-FFF2-40B4-BE49-F238E27FC236}">
                <a16:creationId xmlns:a16="http://schemas.microsoft.com/office/drawing/2014/main" id="{6841E8E6-E6B4-44D8-B3F1-A89FAD36CAC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445B2026-A63A-4FEE-83AE-40E5164664ED}"/>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Inspect</a:t>
            </a:r>
          </a:p>
        </p:txBody>
      </p:sp>
      <p:sp>
        <p:nvSpPr>
          <p:cNvPr id="10" name="">
            <a:extLst xmlns:a="http://schemas.openxmlformats.org/drawingml/2006/main">
              <a:ext uri="{FF2B5EF4-FFF2-40B4-BE49-F238E27FC236}">
                <a16:creationId xmlns:a16="http://schemas.microsoft.com/office/drawing/2014/main" id="{D9974BEC-3103-421C-84B6-8D7888E6400A}"/>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Source, scope, versions, credentials, and free-tier limits</a:t>
            </a:r>
          </a:p>
        </p:txBody>
      </p:sp>
      <p:sp>
        <p:nvSpPr>
          <p:cNvPr id="11" name="">
            <a:extLst xmlns:a="http://schemas.openxmlformats.org/drawingml/2006/main">
              <a:ext uri="{FF2B5EF4-FFF2-40B4-BE49-F238E27FC236}">
                <a16:creationId xmlns:a16="http://schemas.microsoft.com/office/drawing/2014/main" id="{99741244-2800-485B-99B7-AEBAC2E56AF9}"/>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2" name="">
            <a:extLst xmlns:a="http://schemas.openxmlformats.org/drawingml/2006/main">
              <a:ext uri="{FF2B5EF4-FFF2-40B4-BE49-F238E27FC236}">
                <a16:creationId xmlns:a16="http://schemas.microsoft.com/office/drawing/2014/main" id="{5D7E782B-E04A-4245-ABB1-4227BAD090C0}"/>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6B02EF6-C4D4-4ACD-A367-F304ED96521F}"/>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Dump</a:t>
            </a:r>
          </a:p>
        </p:txBody>
      </p:sp>
      <p:sp>
        <p:nvSpPr>
          <p:cNvPr id="14" name="">
            <a:extLst xmlns:a="http://schemas.openxmlformats.org/drawingml/2006/main">
              <a:ext uri="{FF2B5EF4-FFF2-40B4-BE49-F238E27FC236}">
                <a16:creationId xmlns:a16="http://schemas.microsoft.com/office/drawing/2014/main" id="{F39D0C5C-2113-4939-AF8B-8FC54B8D7BD0}"/>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Create a logical artifact with recorded command and status</a:t>
            </a:r>
          </a:p>
        </p:txBody>
      </p:sp>
      <p:sp>
        <p:nvSpPr>
          <p:cNvPr id="15" name="">
            <a:extLst xmlns:a="http://schemas.openxmlformats.org/drawingml/2006/main">
              <a:ext uri="{FF2B5EF4-FFF2-40B4-BE49-F238E27FC236}">
                <a16:creationId xmlns:a16="http://schemas.microsoft.com/office/drawing/2014/main" id="{5C08F3F0-C1BD-4F3B-BAF1-E5F925F44D6E}"/>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6" name="">
            <a:extLst xmlns:a="http://schemas.openxmlformats.org/drawingml/2006/main">
              <a:ext uri="{FF2B5EF4-FFF2-40B4-BE49-F238E27FC236}">
                <a16:creationId xmlns:a16="http://schemas.microsoft.com/office/drawing/2014/main" id="{15A29DFB-2FCF-454C-8DE2-1F679BD1B823}"/>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287CD8FB-162D-4315-A8B6-B7FE7260A9F9}"/>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Identify</a:t>
            </a:r>
          </a:p>
        </p:txBody>
      </p:sp>
      <p:sp>
        <p:nvSpPr>
          <p:cNvPr id="18" name="">
            <a:extLst xmlns:a="http://schemas.openxmlformats.org/drawingml/2006/main">
              <a:ext uri="{FF2B5EF4-FFF2-40B4-BE49-F238E27FC236}">
                <a16:creationId xmlns:a16="http://schemas.microsoft.com/office/drawing/2014/main" id="{E540BDB4-4F32-4F53-A418-DDE86F2CD059}"/>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Record bytes, checksum, location, and retention</a:t>
            </a:r>
          </a:p>
        </p:txBody>
      </p:sp>
      <p:sp>
        <p:nvSpPr>
          <p:cNvPr id="19" name="">
            <a:extLst xmlns:a="http://schemas.openxmlformats.org/drawingml/2006/main">
              <a:ext uri="{FF2B5EF4-FFF2-40B4-BE49-F238E27FC236}">
                <a16:creationId xmlns:a16="http://schemas.microsoft.com/office/drawing/2014/main" id="{8B078608-AF81-42BE-9607-E2286F54225E}"/>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0" name="">
            <a:extLst xmlns:a="http://schemas.openxmlformats.org/drawingml/2006/main">
              <a:ext uri="{FF2B5EF4-FFF2-40B4-BE49-F238E27FC236}">
                <a16:creationId xmlns:a16="http://schemas.microsoft.com/office/drawing/2014/main" id="{91040BCF-0E76-4EE7-922F-5AB309B29F9C}"/>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249B41F4-7A25-4E42-A7EA-808200E3B1C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Restore</a:t>
            </a:r>
          </a:p>
        </p:txBody>
      </p:sp>
      <p:sp>
        <p:nvSpPr>
          <p:cNvPr id="22" name="">
            <a:extLst xmlns:a="http://schemas.openxmlformats.org/drawingml/2006/main">
              <a:ext uri="{FF2B5EF4-FFF2-40B4-BE49-F238E27FC236}">
                <a16:creationId xmlns:a16="http://schemas.microsoft.com/office/drawing/2014/main" id="{B647E824-1CAF-4AB6-9036-446E66632F55}"/>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a different database or disposable target</a:t>
            </a:r>
          </a:p>
        </p:txBody>
      </p:sp>
      <p:sp>
        <p:nvSpPr>
          <p:cNvPr id="23" name="">
            <a:extLst xmlns:a="http://schemas.openxmlformats.org/drawingml/2006/main">
              <a:ext uri="{FF2B5EF4-FFF2-40B4-BE49-F238E27FC236}">
                <a16:creationId xmlns:a16="http://schemas.microsoft.com/office/drawing/2014/main" id="{5C01A1EC-DEF1-4E71-AD03-AB946E843517}"/>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4" name="">
            <a:extLst xmlns:a="http://schemas.openxmlformats.org/drawingml/2006/main">
              <a:ext uri="{FF2B5EF4-FFF2-40B4-BE49-F238E27FC236}">
                <a16:creationId xmlns:a16="http://schemas.microsoft.com/office/drawing/2014/main" id="{F9378FBE-2E25-4543-A238-8C6646E9BCEE}"/>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E9F11BF0-3D8D-4367-A4A0-FB8683877D50}"/>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6" name="">
            <a:extLst xmlns:a="http://schemas.openxmlformats.org/drawingml/2006/main">
              <a:ext uri="{FF2B5EF4-FFF2-40B4-BE49-F238E27FC236}">
                <a16:creationId xmlns:a16="http://schemas.microsoft.com/office/drawing/2014/main" id="{DEC80FAB-7D55-4198-B621-CCC4AEBDF230}"/>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Check objects, data, relationships, constraints, and query behavior</a:t>
            </a:r>
          </a:p>
        </p:txBody>
      </p:sp>
      <p:sp>
        <p:nvSpPr>
          <p:cNvPr id="27" name="">
            <a:extLst xmlns:a="http://schemas.openxmlformats.org/drawingml/2006/main">
              <a:ext uri="{FF2B5EF4-FFF2-40B4-BE49-F238E27FC236}">
                <a16:creationId xmlns:a16="http://schemas.microsoft.com/office/drawing/2014/main" id="{67F6442A-82D6-4BD2-8ED7-D6D1FC8322D1}"/>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Protect the source, identify the artifact, restore independently, and test behavior.</a:t>
            </a:r>
          </a:p>
        </p:txBody>
      </p:sp>
    </p:spTree>
    <p:extLst>
      <p:ext uri="{BB962C8B-B14F-4D97-AF65-F5344CB8AC3E}">
        <p14:creationId xmlns:p14="http://schemas.microsoft.com/office/powerpoint/2010/main" val="100003273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8A92104-D377-42D2-AA43-E1304EBFB9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84365DE-00F9-40AD-9264-9510F2E22CA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9F65EEDD-E140-4D22-979A-1D6E0976A92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Tool compatibility is part of reproducibility</a:t>
            </a:r>
          </a:p>
        </p:txBody>
      </p:sp>
      <p:sp>
        <p:nvSpPr>
          <p:cNvPr id="4" name="">
            <a:extLst xmlns:a="http://schemas.openxmlformats.org/drawingml/2006/main">
              <a:ext uri="{FF2B5EF4-FFF2-40B4-BE49-F238E27FC236}">
                <a16:creationId xmlns:a16="http://schemas.microsoft.com/office/drawing/2014/main" id="{EC665CEE-40CD-4943-BB2E-AACDB9B2DBE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D56E47C-A520-4836-B1E1-EA4FECA55B0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4456B081-CE09-48FC-89A1-ECE0D44A2758}"/>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4DDA80A-FFD0-44F9-81D7-06711D105441}"/>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Record server version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psql "$DATABASE_URL" -Atc "show server_version;"</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Create custom-format logical dump</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pg_dump --format=custom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--file=metro_support.dump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"$DATABASE_URL"</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Identify exact artifact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shasum -a 256 metro_support.dump</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Restore to a different database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pg_restore --dbname="$RESTORE_URL" metro_support.dump</a:t>
            </a:r>
          </a:p>
        </p:txBody>
      </p:sp>
      <p:sp>
        <p:nvSpPr>
          <p:cNvPr id="8" name="">
            <a:extLst xmlns:a="http://schemas.openxmlformats.org/drawingml/2006/main">
              <a:ext uri="{FF2B5EF4-FFF2-40B4-BE49-F238E27FC236}">
                <a16:creationId xmlns:a16="http://schemas.microsoft.com/office/drawing/2014/main" id="{377B10F9-9623-4356-9A51-DCC62D8BD50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Do not publish URLs</a:t>
            </a:r>
          </a:p>
        </p:txBody>
      </p:sp>
      <p:sp>
        <p:nvSpPr>
          <p:cNvPr id="9" name="">
            <a:extLst xmlns:a="http://schemas.openxmlformats.org/drawingml/2006/main">
              <a:ext uri="{FF2B5EF4-FFF2-40B4-BE49-F238E27FC236}">
                <a16:creationId xmlns:a16="http://schemas.microsoft.com/office/drawing/2014/main" id="{B5C66BA4-6017-4502-BE4C-CFD4EBDC8F53}"/>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C98764EC-3B35-4CAE-BC4A-84948A38DD14}"/>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Use compatible client tools.</a:t>
            </a:r>
          </a:p>
        </p:txBody>
      </p:sp>
      <p:sp>
        <p:nvSpPr>
          <p:cNvPr id="11" name="">
            <a:extLst xmlns:a="http://schemas.openxmlformats.org/drawingml/2006/main">
              <a:ext uri="{FF2B5EF4-FFF2-40B4-BE49-F238E27FC236}">
                <a16:creationId xmlns:a16="http://schemas.microsoft.com/office/drawing/2014/main" id="{1ED02253-A7B4-4855-BE30-6165874BBADA}"/>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833C9274-C6D1-420E-849B-304E0CBDC84C}"/>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Enter secrets through the environment or a secure prompt.</a:t>
            </a:r>
          </a:p>
        </p:txBody>
      </p:sp>
      <p:sp>
        <p:nvSpPr>
          <p:cNvPr id="13" name="">
            <a:extLst xmlns:a="http://schemas.openxmlformats.org/drawingml/2006/main">
              <a:ext uri="{FF2B5EF4-FFF2-40B4-BE49-F238E27FC236}">
                <a16:creationId xmlns:a16="http://schemas.microsoft.com/office/drawing/2014/main" id="{86799090-813D-4D2C-A71E-9BBD778468D2}"/>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4C3FC545-6A60-4B40-B3CF-BA59407DA819}"/>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Preserve redacted commands, status, size, and checksum.</a:t>
            </a:r>
          </a:p>
        </p:txBody>
      </p:sp>
    </p:spTree>
    <p:extLst>
      <p:ext uri="{BB962C8B-B14F-4D97-AF65-F5344CB8AC3E}">
        <p14:creationId xmlns:p14="http://schemas.microsoft.com/office/powerpoint/2010/main" val="1483985654"/>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C7160C3-E6D2-4DE8-B11C-69F09B5365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3EEC806-7660-4788-BE97-BD1EFF78D3A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9E934C95-92E7-4E1B-ACA8-A15F9A23CCE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Recovery verification needs independent kinds of evidence</a:t>
            </a:r>
          </a:p>
        </p:txBody>
      </p:sp>
      <p:sp>
        <p:nvSpPr>
          <p:cNvPr id="4" name="">
            <a:extLst xmlns:a="http://schemas.openxmlformats.org/drawingml/2006/main">
              <a:ext uri="{FF2B5EF4-FFF2-40B4-BE49-F238E27FC236}">
                <a16:creationId xmlns:a16="http://schemas.microsoft.com/office/drawing/2014/main" id="{B846E533-EFA5-485E-9B2F-DA81DFFCDBA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8B4E0B-DBC2-4F9A-82E6-CD1A959C17F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9BFB6F24-C243-4833-8AF9-B650BB6A25EF}"/>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C2410C"/>
          </a:solidFill>
          <a:ln xmlns:a="http://schemas.openxmlformats.org/drawingml/2006/main" w="19050">
            <a:solidFill>
              <a:srgbClr val="C2410C"/>
            </a:solidFill>
            <a:prstDash val="solid"/>
          </a:ln>
        </p:spPr>
      </p:sp>
      <p:sp>
        <p:nvSpPr>
          <p:cNvPr id="7" name="">
            <a:extLst xmlns:a="http://schemas.openxmlformats.org/drawingml/2006/main">
              <a:ext uri="{FF2B5EF4-FFF2-40B4-BE49-F238E27FC236}">
                <a16:creationId xmlns:a16="http://schemas.microsoft.com/office/drawing/2014/main" id="{A3277F7C-0ED8-4306-B898-CD0ACF7CFA7B}"/>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E5023668-3E03-4BEE-B893-B52CA578E989}"/>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Structure: expected schemas, tables, columns, views, constraints, and indexes exist.</a:t>
            </a:r>
          </a:p>
        </p:txBody>
      </p:sp>
      <p:sp>
        <p:nvSpPr>
          <p:cNvPr id="9" name="">
            <a:extLst xmlns:a="http://schemas.openxmlformats.org/drawingml/2006/main">
              <a:ext uri="{FF2B5EF4-FFF2-40B4-BE49-F238E27FC236}">
                <a16:creationId xmlns:a16="http://schemas.microsoft.com/office/drawing/2014/main" id="{7154FDE2-D374-4BF0-881A-9C2A723F6E7C}"/>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65021E4-07EE-46F8-920C-9DE100E0A97E}"/>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1" name="">
            <a:extLst xmlns:a="http://schemas.openxmlformats.org/drawingml/2006/main">
              <a:ext uri="{FF2B5EF4-FFF2-40B4-BE49-F238E27FC236}">
                <a16:creationId xmlns:a16="http://schemas.microsoft.com/office/drawing/2014/main" id="{297BB5FD-74BD-46F7-B87D-17FB0FB088DE}"/>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90C1A6D4-4602-4FD7-9A59-6969BC70C509}"/>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Data: counts, stable identifiers, types, and selected values match expectations.</a:t>
            </a:r>
          </a:p>
        </p:txBody>
      </p:sp>
      <p:sp>
        <p:nvSpPr>
          <p:cNvPr id="13" name="">
            <a:extLst xmlns:a="http://schemas.openxmlformats.org/drawingml/2006/main">
              <a:ext uri="{FF2B5EF4-FFF2-40B4-BE49-F238E27FC236}">
                <a16:creationId xmlns:a16="http://schemas.microsoft.com/office/drawing/2014/main" id="{4D863942-43D4-47C9-A83C-A0ABE1403C80}"/>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0EF21982-CAE9-41F5-AD07-544318CE80CB}"/>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5" name="">
            <a:extLst xmlns:a="http://schemas.openxmlformats.org/drawingml/2006/main">
              <a:ext uri="{FF2B5EF4-FFF2-40B4-BE49-F238E27FC236}">
                <a16:creationId xmlns:a16="http://schemas.microsoft.com/office/drawing/2014/main" id="{BED3630C-F06A-46B8-98DF-2F3953AB9AAF}"/>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D8DDC04C-3DAC-41FA-B5B8-8105DB711F13}"/>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Relationships and rules: joins work and an invalid write still fails as intended.</a:t>
            </a:r>
          </a:p>
        </p:txBody>
      </p:sp>
      <p:sp>
        <p:nvSpPr>
          <p:cNvPr id="17" name="">
            <a:extLst xmlns:a="http://schemas.openxmlformats.org/drawingml/2006/main">
              <a:ext uri="{FF2B5EF4-FFF2-40B4-BE49-F238E27FC236}">
                <a16:creationId xmlns:a16="http://schemas.microsoft.com/office/drawing/2014/main" id="{9535CE55-CD03-4758-B941-082030FEAE37}"/>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D0C8B8D8-858A-419E-BA32-BCD6D212E54D}"/>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9" name="">
            <a:extLst xmlns:a="http://schemas.openxmlformats.org/drawingml/2006/main">
              <a:ext uri="{FF2B5EF4-FFF2-40B4-BE49-F238E27FC236}">
                <a16:creationId xmlns:a16="http://schemas.microsoft.com/office/drawing/2014/main" id="{1269155E-6B93-4E8F-B63F-D441B1EDFE89}"/>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4FB7CC32-753A-4C8D-9430-34F0B7490042}"/>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Behavior and limits: a meaningful query succeeds; omissions and untested failures are named.</a:t>
            </a:r>
          </a:p>
        </p:txBody>
      </p:sp>
      <p:sp>
        <p:nvSpPr>
          <p:cNvPr id="21" name="">
            <a:extLst xmlns:a="http://schemas.openxmlformats.org/drawingml/2006/main">
              <a:ext uri="{FF2B5EF4-FFF2-40B4-BE49-F238E27FC236}">
                <a16:creationId xmlns:a16="http://schemas.microsoft.com/office/drawing/2014/main" id="{9A68708F-0233-4F26-9524-F18AA4620A94}"/>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95230135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57B967-7C58-42F0-BE55-BA5D27DF85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6B5CDE-5522-4505-B7B3-4B524A5C1A5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7B58A272-4968-4F04-BFEA-BB296B35D99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Create, restore, and verify a logical artifact</a:t>
            </a:r>
          </a:p>
        </p:txBody>
      </p:sp>
      <p:sp>
        <p:nvSpPr>
          <p:cNvPr id="4" name="">
            <a:extLst xmlns:a="http://schemas.openxmlformats.org/drawingml/2006/main">
              <a:ext uri="{FF2B5EF4-FFF2-40B4-BE49-F238E27FC236}">
                <a16:creationId xmlns:a16="http://schemas.microsoft.com/office/drawing/2014/main" id="{2DE7E7E5-11B4-4A65-A04F-DFEBF387954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324DF58-644D-4B07-A8A3-3ACDA467F81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85A6A781-757D-415C-9968-86A160B377CA}"/>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recovery notebook to perform a real separate-target PostgreSQL restore without a cloud credential.</a:t>
            </a:r>
          </a:p>
        </p:txBody>
      </p:sp>
      <p:sp>
        <p:nvSpPr>
          <p:cNvPr id="7" name="">
            <a:extLst xmlns:a="http://schemas.openxmlformats.org/drawingml/2006/main">
              <a:ext uri="{FF2B5EF4-FFF2-40B4-BE49-F238E27FC236}">
                <a16:creationId xmlns:a16="http://schemas.microsoft.com/office/drawing/2014/main" id="{331BF592-5B2C-4FF3-B9AA-04CBF8D2C67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2E4BE548-45F5-47A2-B6CB-D55D6063C04F}"/>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notebook from the first cell and record source, server/client versions, and dump command.</a:t>
            </a:r>
          </a:p>
        </p:txBody>
      </p:sp>
      <p:sp>
        <p:nvSpPr>
          <p:cNvPr id="9" name="">
            <a:extLst xmlns:a="http://schemas.openxmlformats.org/drawingml/2006/main">
              <a:ext uri="{FF2B5EF4-FFF2-40B4-BE49-F238E27FC236}">
                <a16:creationId xmlns:a16="http://schemas.microsoft.com/office/drawing/2014/main" id="{3F62FA1A-10E2-403D-9047-77E2AA7A8250}"/>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E2159A52-C78A-4CFF-A65F-3C0BBE0D324B}"/>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artifact size and abbreviated checksum, then restore to the distinct target database.</a:t>
            </a:r>
          </a:p>
        </p:txBody>
      </p:sp>
      <p:sp>
        <p:nvSpPr>
          <p:cNvPr id="11" name="">
            <a:extLst xmlns:a="http://schemas.openxmlformats.org/drawingml/2006/main">
              <a:ext uri="{FF2B5EF4-FFF2-40B4-BE49-F238E27FC236}">
                <a16:creationId xmlns:a16="http://schemas.microsoft.com/office/drawing/2014/main" id="{5CDC8125-06C0-4D47-91AE-D0E63FFC1B1A}"/>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A98E8AE0-9641-4411-BEE9-0E41298DFF97}"/>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structure, data, relationship, constraint, and meaningful-query checks.</a:t>
            </a:r>
          </a:p>
        </p:txBody>
      </p:sp>
      <p:sp>
        <p:nvSpPr>
          <p:cNvPr id="13" name="">
            <a:extLst xmlns:a="http://schemas.openxmlformats.org/drawingml/2006/main">
              <a:ext uri="{FF2B5EF4-FFF2-40B4-BE49-F238E27FC236}">
                <a16:creationId xmlns:a16="http://schemas.microsoft.com/office/drawing/2014/main" id="{E333E1CF-56EF-43F8-B334-3A636106297C}"/>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FC744DDA-68C5-4877-A83D-6EF8D996D0A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recovery notebook</a:t>
            </a:r>
          </a:p>
        </p:txBody>
      </p:sp>
    </p:spTree>
    <p:extLst>
      <p:ext uri="{BB962C8B-B14F-4D97-AF65-F5344CB8AC3E}">
        <p14:creationId xmlns:p14="http://schemas.microsoft.com/office/powerpoint/2010/main" val="432065387"/>
      </p:ext>
    </p:extLst>
  </p:cSld>
</p:sld>
</file>

<file path=ppt/slides/slide8.xml><?xml version="1.0" encoding="utf-8"?>
<p:sld xmlns:p="http://schemas.openxmlformats.org/presentationml/2006/main">
  <p:cSld>
    <p:bg>
      <p:bgPr>
        <a:solidFill xmlns:a="http://schemas.openxmlformats.org/drawingml/2006/main">
          <a:srgbClr val="C2410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694C96-FD90-4B50-B724-622D765CB1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2" name="">
            <a:extLst xmlns:a="http://schemas.openxmlformats.org/drawingml/2006/main">
              <a:ext uri="{FF2B5EF4-FFF2-40B4-BE49-F238E27FC236}">
                <a16:creationId xmlns:a16="http://schemas.microsoft.com/office/drawing/2014/main" id="{6F2B4993-8B74-4045-8C5A-234ACFFA4092}"/>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60FAD660-BFA7-49F2-AFD0-27B010978588}"/>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The midterm integrates one PostgreSQL operating story</a:t>
            </a:r>
          </a:p>
        </p:txBody>
      </p:sp>
      <p:sp>
        <p:nvSpPr>
          <p:cNvPr id="4" name="">
            <a:extLst xmlns:a="http://schemas.openxmlformats.org/drawingml/2006/main">
              <a:ext uri="{FF2B5EF4-FFF2-40B4-BE49-F238E27FC236}">
                <a16:creationId xmlns:a16="http://schemas.microsoft.com/office/drawing/2014/main" id="{ABB98228-0965-4EA4-A32F-1AD1F95711DE}"/>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Build, observe, improve, recover, and communicate through one canonical case.</a:t>
            </a:r>
          </a:p>
        </p:txBody>
      </p:sp>
      <p:sp>
        <p:nvSpPr>
          <p:cNvPr id="5" name="">
            <a:extLst xmlns:a="http://schemas.openxmlformats.org/drawingml/2006/main">
              <a:ext uri="{FF2B5EF4-FFF2-40B4-BE49-F238E27FC236}">
                <a16:creationId xmlns:a16="http://schemas.microsoft.com/office/drawing/2014/main" id="{EE94F3BB-5ED1-4A09-B232-322E73DB5BC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8</a:t>
            </a:r>
          </a:p>
        </p:txBody>
      </p:sp>
    </p:spTree>
    <p:extLst>
      <p:ext uri="{BB962C8B-B14F-4D97-AF65-F5344CB8AC3E}">
        <p14:creationId xmlns:p14="http://schemas.microsoft.com/office/powerpoint/2010/main" val="665117588"/>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F149FD9-B6BB-4506-8512-2F77CF412C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13CE98B-8665-4062-B9A1-3C059A96B92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9D5DAD82-EA84-4CC7-8B78-2BD3431C48B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Four evidence threads make the midterm coherent</a:t>
            </a:r>
          </a:p>
        </p:txBody>
      </p:sp>
      <p:sp>
        <p:nvSpPr>
          <p:cNvPr id="4" name="">
            <a:extLst xmlns:a="http://schemas.openxmlformats.org/drawingml/2006/main">
              <a:ext uri="{FF2B5EF4-FFF2-40B4-BE49-F238E27FC236}">
                <a16:creationId xmlns:a16="http://schemas.microsoft.com/office/drawing/2014/main" id="{5F232596-866F-4AB0-8EA9-6C7F89287FF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054FD3D-DEC4-486B-A0EB-0426CD2CD70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38B98F46-4317-4F7B-B572-CE2893D4CB34}"/>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C2410C"/>
                </a:solidFill>
                <a:latin typeface="Helvetica Neue"/>
                <a:ea typeface="Helvetica Neue"/>
                <a:cs typeface="Helvetica Neue"/>
              </a:defRPr>
            </a:pPr>
            <a:r>
              <a:rPr sz="1875" b="1">
                <a:solidFill>
                  <a:srgbClr val="C2410C"/>
                </a:solidFill>
                <a:latin typeface="Helvetica Neue"/>
                <a:ea typeface="Helvetica Neue"/>
                <a:cs typeface="Helvetica Neue"/>
              </a:rPr>
              <a:t>Build + query</a:t>
            </a:r>
          </a:p>
        </p:txBody>
      </p:sp>
      <p:sp>
        <p:nvSpPr>
          <p:cNvPr id="7" name="">
            <a:extLst xmlns:a="http://schemas.openxmlformats.org/drawingml/2006/main">
              <a:ext uri="{FF2B5EF4-FFF2-40B4-BE49-F238E27FC236}">
                <a16:creationId xmlns:a16="http://schemas.microsoft.com/office/drawing/2014/main" id="{B4A312A1-DF90-4B56-8A66-43A0EBB1E531}"/>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C2410C"/>
            </a:solidFill>
            <a:prstDash val="solid"/>
          </a:ln>
        </p:spPr>
      </p:sp>
      <p:sp>
        <p:nvSpPr>
          <p:cNvPr id="8" name="">
            <a:extLst xmlns:a="http://schemas.openxmlformats.org/drawingml/2006/main">
              <a:ext uri="{FF2B5EF4-FFF2-40B4-BE49-F238E27FC236}">
                <a16:creationId xmlns:a16="http://schemas.microsoft.com/office/drawing/2014/main" id="{F7C3BF64-39EF-4262-8374-4484F678E5F7}"/>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Reproducible schema, constraints, seed data, and verified SQL question.</a:t>
            </a:r>
          </a:p>
        </p:txBody>
      </p:sp>
      <p:sp>
        <p:nvSpPr>
          <p:cNvPr id="9" name="">
            <a:extLst xmlns:a="http://schemas.openxmlformats.org/drawingml/2006/main">
              <a:ext uri="{FF2B5EF4-FFF2-40B4-BE49-F238E27FC236}">
                <a16:creationId xmlns:a16="http://schemas.microsoft.com/office/drawing/2014/main" id="{4B1EFD8D-1CFA-4F78-803D-015A260176F1}"/>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Meaning is explicit.</a:t>
            </a:r>
          </a:p>
        </p:txBody>
      </p:sp>
      <p:sp>
        <p:nvSpPr>
          <p:cNvPr id="10" name="">
            <a:extLst xmlns:a="http://schemas.openxmlformats.org/drawingml/2006/main">
              <a:ext uri="{FF2B5EF4-FFF2-40B4-BE49-F238E27FC236}">
                <a16:creationId xmlns:a16="http://schemas.microsoft.com/office/drawing/2014/main" id="{9C3DEED7-EAC9-45AD-9AF6-CAC0DBE7C5C2}"/>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Operate</a:t>
            </a:r>
          </a:p>
        </p:txBody>
      </p:sp>
      <p:sp>
        <p:nvSpPr>
          <p:cNvPr id="11" name="">
            <a:extLst xmlns:a="http://schemas.openxmlformats.org/drawingml/2006/main">
              <a:ext uri="{FF2B5EF4-FFF2-40B4-BE49-F238E27FC236}">
                <a16:creationId xmlns:a16="http://schemas.microsoft.com/office/drawing/2014/main" id="{48E9E3DD-9FB2-4F83-927E-AEDB5AAD4383}"/>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D97FE509-19D0-4B23-9302-3216B9EF220E}"/>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Transaction or blocking evidence identifies state, impact, mitigation, and verification.</a:t>
            </a:r>
          </a:p>
        </p:txBody>
      </p:sp>
      <p:sp>
        <p:nvSpPr>
          <p:cNvPr id="13" name="">
            <a:extLst xmlns:a="http://schemas.openxmlformats.org/drawingml/2006/main">
              <a:ext uri="{FF2B5EF4-FFF2-40B4-BE49-F238E27FC236}">
                <a16:creationId xmlns:a16="http://schemas.microsoft.com/office/drawing/2014/main" id="{322E9F3C-0D30-4FA8-BC12-A799132C9CC0}"/>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Symptoms become diagnosis.</a:t>
            </a:r>
          </a:p>
        </p:txBody>
      </p:sp>
      <p:sp>
        <p:nvSpPr>
          <p:cNvPr id="14" name="">
            <a:extLst xmlns:a="http://schemas.openxmlformats.org/drawingml/2006/main">
              <a:ext uri="{FF2B5EF4-FFF2-40B4-BE49-F238E27FC236}">
                <a16:creationId xmlns:a16="http://schemas.microsoft.com/office/drawing/2014/main" id="{36B3198C-C17F-4FB4-8453-7124014E299F}"/>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Improve + recover</a:t>
            </a:r>
          </a:p>
        </p:txBody>
      </p:sp>
      <p:sp>
        <p:nvSpPr>
          <p:cNvPr id="15" name="">
            <a:extLst xmlns:a="http://schemas.openxmlformats.org/drawingml/2006/main">
              <a:ext uri="{FF2B5EF4-FFF2-40B4-BE49-F238E27FC236}">
                <a16:creationId xmlns:a16="http://schemas.microsoft.com/office/drawing/2014/main" id="{BDE241F7-1EB8-4000-A380-6B41BD0B3689}"/>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BDA627C9-5709-4DD9-9162-C6A00C712DAF}"/>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One access/performance decision plus a logical recovery plan and checks.</a:t>
            </a:r>
          </a:p>
        </p:txBody>
      </p:sp>
      <p:sp>
        <p:nvSpPr>
          <p:cNvPr id="17" name="">
            <a:extLst xmlns:a="http://schemas.openxmlformats.org/drawingml/2006/main">
              <a:ext uri="{FF2B5EF4-FFF2-40B4-BE49-F238E27FC236}">
                <a16:creationId xmlns:a16="http://schemas.microsoft.com/office/drawing/2014/main" id="{2A496BC0-87D4-4161-A801-F0916B8C3921}"/>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Tradeoffs remain visible.</a:t>
            </a:r>
          </a:p>
        </p:txBody>
      </p:sp>
    </p:spTree>
    <p:extLst>
      <p:ext uri="{BB962C8B-B14F-4D97-AF65-F5344CB8AC3E}">
        <p14:creationId xmlns:p14="http://schemas.microsoft.com/office/powerpoint/2010/main" val="1051020033"/>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23F0D5-4A40-44ED-B0D8-994B7E6FED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FFE5314-D3C9-4415-BC15-A7B5BB50B0B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C4C1D29F-EBA8-4969-9EE9-C05E439243E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Cloud features and logical recovery cover different boundaries</a:t>
            </a:r>
          </a:p>
        </p:txBody>
      </p:sp>
      <p:sp>
        <p:nvSpPr>
          <p:cNvPr id="4" name="">
            <a:extLst xmlns:a="http://schemas.openxmlformats.org/drawingml/2006/main">
              <a:ext uri="{FF2B5EF4-FFF2-40B4-BE49-F238E27FC236}">
                <a16:creationId xmlns:a16="http://schemas.microsoft.com/office/drawing/2014/main" id="{564C1530-8EE6-42C5-8E45-0124399AF23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87588F8-2C5F-4113-B965-156F7BE63ED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BD59C7B5-C396-452E-8458-B9845A3BB24A}"/>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Managed platform feature</a:t>
            </a:r>
          </a:p>
        </p:txBody>
      </p:sp>
      <p:sp>
        <p:nvSpPr>
          <p:cNvPr id="7" name="">
            <a:extLst xmlns:a="http://schemas.openxmlformats.org/drawingml/2006/main">
              <a:ext uri="{FF2B5EF4-FFF2-40B4-BE49-F238E27FC236}">
                <a16:creationId xmlns:a16="http://schemas.microsoft.com/office/drawing/2014/main" id="{55C06076-911B-492D-A6E0-5A9239D74563}"/>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Course logical artifact</a:t>
            </a:r>
          </a:p>
        </p:txBody>
      </p:sp>
      <p:sp>
        <p:nvSpPr>
          <p:cNvPr id="8" name="">
            <a:extLst xmlns:a="http://schemas.openxmlformats.org/drawingml/2006/main">
              <a:ext uri="{FF2B5EF4-FFF2-40B4-BE49-F238E27FC236}">
                <a16:creationId xmlns:a16="http://schemas.microsoft.com/office/drawing/2014/main" id="{F36A6A77-B442-44A9-98AF-0BE4F429E1FE}"/>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BE9C6494-8A88-4126-AE10-640925AFC7F7}"/>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666550C-73D3-4C20-8AE1-7193A78CE02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automate snapshots, retention, or point-in-time mechanisms by plan</a:t>
            </a:r>
          </a:p>
        </p:txBody>
      </p:sp>
      <p:sp>
        <p:nvSpPr>
          <p:cNvPr id="11" name="">
            <a:extLst xmlns:a="http://schemas.openxmlformats.org/drawingml/2006/main">
              <a:ext uri="{FF2B5EF4-FFF2-40B4-BE49-F238E27FC236}">
                <a16:creationId xmlns:a16="http://schemas.microsoft.com/office/drawing/2014/main" id="{A20DC78D-F5C5-4B84-B2AD-D0001218642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CA942ACA-554C-4DC4-802D-6060B130DFCE}"/>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Depends on current provider terms and configuration</a:t>
            </a:r>
          </a:p>
        </p:txBody>
      </p:sp>
      <p:sp>
        <p:nvSpPr>
          <p:cNvPr id="13" name="">
            <a:extLst xmlns:a="http://schemas.openxmlformats.org/drawingml/2006/main">
              <a:ext uri="{FF2B5EF4-FFF2-40B4-BE49-F238E27FC236}">
                <a16:creationId xmlns:a16="http://schemas.microsoft.com/office/drawing/2014/main" id="{352A86D0-2C23-41E9-9476-3AF44C55DF8A}"/>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7E169C9F-AAEB-4245-8143-7A52F846BFD0}"/>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requires restore access, testing, and application recovery</a:t>
            </a:r>
          </a:p>
        </p:txBody>
      </p:sp>
      <p:sp>
        <p:nvSpPr>
          <p:cNvPr id="15" name="">
            <a:extLst xmlns:a="http://schemas.openxmlformats.org/drawingml/2006/main">
              <a:ext uri="{FF2B5EF4-FFF2-40B4-BE49-F238E27FC236}">
                <a16:creationId xmlns:a16="http://schemas.microsoft.com/office/drawing/2014/main" id="{4873441C-CB73-45B6-81EB-B69495A9380B}"/>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FC807BB4-0B99-400F-BFFF-6BB70E21B7B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Portable schema and data representation under selected scope</a:t>
            </a:r>
          </a:p>
        </p:txBody>
      </p:sp>
      <p:sp>
        <p:nvSpPr>
          <p:cNvPr id="17" name="">
            <a:extLst xmlns:a="http://schemas.openxmlformats.org/drawingml/2006/main">
              <a:ext uri="{FF2B5EF4-FFF2-40B4-BE49-F238E27FC236}">
                <a16:creationId xmlns:a16="http://schemas.microsoft.com/office/drawing/2014/main" id="{78E62095-7EE6-4A02-A8F4-164ABDFABF83}"/>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EF0EDB85-1727-4900-959F-82AD7A60039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be created and tested without a paid backup feature</a:t>
            </a:r>
          </a:p>
        </p:txBody>
      </p:sp>
      <p:sp>
        <p:nvSpPr>
          <p:cNvPr id="19" name="">
            <a:extLst xmlns:a="http://schemas.openxmlformats.org/drawingml/2006/main">
              <a:ext uri="{FF2B5EF4-FFF2-40B4-BE49-F238E27FC236}">
                <a16:creationId xmlns:a16="http://schemas.microsoft.com/office/drawing/2014/main" id="{1C642170-9F49-482C-84E3-146813907167}"/>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AA074514-72F3-4D23-B158-47D9CFC30A2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capture every provider or application setting</a:t>
            </a:r>
          </a:p>
        </p:txBody>
      </p:sp>
    </p:spTree>
    <p:extLst>
      <p:ext uri="{BB962C8B-B14F-4D97-AF65-F5344CB8AC3E}">
        <p14:creationId xmlns:p14="http://schemas.microsoft.com/office/powerpoint/2010/main" val="46804378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CCB6B85-0303-4A05-81C3-20768F1B8A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FD6FA51-3C55-4E95-8F5A-DB37AB8785E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08  /  CST4714</a:t>
            </a:r>
          </a:p>
        </p:txBody>
      </p:sp>
      <p:sp>
        <p:nvSpPr>
          <p:cNvPr id="3" name="slide-title">
            <a:extLst xmlns:a="http://schemas.openxmlformats.org/drawingml/2006/main">
              <a:ext uri="{FF2B5EF4-FFF2-40B4-BE49-F238E27FC236}">
                <a16:creationId xmlns:a16="http://schemas.microsoft.com/office/drawing/2014/main" id="{75F76656-9739-46E7-8C1A-E73A4C6D963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Audit the evidence before submitting</a:t>
            </a:r>
          </a:p>
        </p:txBody>
      </p:sp>
      <p:sp>
        <p:nvSpPr>
          <p:cNvPr id="4" name="">
            <a:extLst xmlns:a="http://schemas.openxmlformats.org/drawingml/2006/main">
              <a:ext uri="{FF2B5EF4-FFF2-40B4-BE49-F238E27FC236}">
                <a16:creationId xmlns:a16="http://schemas.microsoft.com/office/drawing/2014/main" id="{6DF6AB9A-31EF-4FBA-8E03-E1B2E4D18A4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9E2A0CD-DABC-4DFE-9B5C-97C53494345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256FC08E-AF85-4A68-9701-0CC52916D574}"/>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C2410C"/>
          </a:solidFill>
          <a:ln xmlns:a="http://schemas.openxmlformats.org/drawingml/2006/main" w="19050">
            <a:solidFill>
              <a:srgbClr val="C2410C"/>
            </a:solidFill>
            <a:prstDash val="solid"/>
          </a:ln>
        </p:spPr>
      </p:sp>
      <p:sp>
        <p:nvSpPr>
          <p:cNvPr id="7" name="">
            <a:extLst xmlns:a="http://schemas.openxmlformats.org/drawingml/2006/main">
              <a:ext uri="{FF2B5EF4-FFF2-40B4-BE49-F238E27FC236}">
                <a16:creationId xmlns:a16="http://schemas.microsoft.com/office/drawing/2014/main" id="{F5BB767B-6ECC-4521-8FC1-391B4F2CE11E}"/>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2D6731E-FEF2-4AB7-AC25-B48A8240BD7A}"/>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Every claim names its environment, identity, exact action, and observed result.</a:t>
            </a:r>
          </a:p>
        </p:txBody>
      </p:sp>
      <p:sp>
        <p:nvSpPr>
          <p:cNvPr id="9" name="">
            <a:extLst xmlns:a="http://schemas.openxmlformats.org/drawingml/2006/main">
              <a:ext uri="{FF2B5EF4-FFF2-40B4-BE49-F238E27FC236}">
                <a16:creationId xmlns:a16="http://schemas.microsoft.com/office/drawing/2014/main" id="{C0829716-BBB3-4CBB-85FE-E139739C455A}"/>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105159D2-04DF-410B-B900-9FB09707AFB5}"/>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1" name="">
            <a:extLst xmlns:a="http://schemas.openxmlformats.org/drawingml/2006/main">
              <a:ext uri="{FF2B5EF4-FFF2-40B4-BE49-F238E27FC236}">
                <a16:creationId xmlns:a16="http://schemas.microsoft.com/office/drawing/2014/main" id="{EBB7C833-C197-4C3F-9F07-1CD7F63028E1}"/>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83A3517F-9328-461C-84C7-AEC9F022BA0E}"/>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Stable identifiers, counts, expected failures, or plans make verification reproducible.</a:t>
            </a:r>
          </a:p>
        </p:txBody>
      </p:sp>
      <p:sp>
        <p:nvSpPr>
          <p:cNvPr id="13" name="">
            <a:extLst xmlns:a="http://schemas.openxmlformats.org/drawingml/2006/main">
              <a:ext uri="{FF2B5EF4-FFF2-40B4-BE49-F238E27FC236}">
                <a16:creationId xmlns:a16="http://schemas.microsoft.com/office/drawing/2014/main" id="{38F9A77F-42BB-43DE-96AF-4F86F91D9C11}"/>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2534956-D671-4768-B55B-3A42CD17C2CB}"/>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5" name="">
            <a:extLst xmlns:a="http://schemas.openxmlformats.org/drawingml/2006/main">
              <a:ext uri="{FF2B5EF4-FFF2-40B4-BE49-F238E27FC236}">
                <a16:creationId xmlns:a16="http://schemas.microsoft.com/office/drawing/2014/main" id="{46DD12ED-024A-456A-9517-4DCBFF2CD881}"/>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2B71C1EB-076A-4720-B408-89959A4305DF}"/>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Only the canonical midterm requirements are used; no duplicate deliverable list is invented.</a:t>
            </a:r>
          </a:p>
        </p:txBody>
      </p:sp>
      <p:sp>
        <p:nvSpPr>
          <p:cNvPr id="17" name="">
            <a:extLst xmlns:a="http://schemas.openxmlformats.org/drawingml/2006/main">
              <a:ext uri="{FF2B5EF4-FFF2-40B4-BE49-F238E27FC236}">
                <a16:creationId xmlns:a16="http://schemas.microsoft.com/office/drawing/2014/main" id="{4CA965BF-EBE0-4A1F-A8CA-C639FBABAF78}"/>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B3119FDE-923E-4825-93CF-B9BA03EA2AF7}"/>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2410C"/>
            </a:solidFill>
            <a:prstDash val="solid"/>
          </a:ln>
        </p:spPr>
      </p:sp>
      <p:sp>
        <p:nvSpPr>
          <p:cNvPr id="19" name="">
            <a:extLst xmlns:a="http://schemas.openxmlformats.org/drawingml/2006/main">
              <a:ext uri="{FF2B5EF4-FFF2-40B4-BE49-F238E27FC236}">
                <a16:creationId xmlns:a16="http://schemas.microsoft.com/office/drawing/2014/main" id="{9FB60A51-6555-4649-B3F1-EFFEAB4B86D0}"/>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C2410C"/>
                </a:solidFill>
                <a:latin typeface="Helvetica Neue"/>
                <a:ea typeface="Helvetica Neue"/>
                <a:cs typeface="Helvetica Neue"/>
              </a:defRPr>
            </a:pPr>
            <a:r>
              <a:rPr sz="1050" b="1">
                <a:solidFill>
                  <a:srgbClr val="C2410C"/>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3487FD02-5253-4E95-8D18-89D4DD660402}"/>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Credentials and private account details are absent; limitations and next checks are explicit.</a:t>
            </a:r>
          </a:p>
        </p:txBody>
      </p:sp>
      <p:sp>
        <p:nvSpPr>
          <p:cNvPr id="21" name="">
            <a:extLst xmlns:a="http://schemas.openxmlformats.org/drawingml/2006/main">
              <a:ext uri="{FF2B5EF4-FFF2-40B4-BE49-F238E27FC236}">
                <a16:creationId xmlns:a16="http://schemas.microsoft.com/office/drawing/2014/main" id="{C76E4503-23E3-4E40-B3A3-FEE4B2E13435}"/>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180692677"/>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AFA719-6E48-4E92-902C-AAD5887F08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E6307CB2-F01A-4759-8C57-30FC239D8E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FB00543B-CDC3-4066-8ECF-2959F3E75A8A}"/>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Recovery completes the first half's evidence cycle</a:t>
            </a:r>
          </a:p>
        </p:txBody>
      </p:sp>
      <p:sp>
        <p:nvSpPr>
          <p:cNvPr id="4" name="">
            <a:extLst xmlns:a="http://schemas.openxmlformats.org/drawingml/2006/main">
              <a:ext uri="{FF2B5EF4-FFF2-40B4-BE49-F238E27FC236}">
                <a16:creationId xmlns:a16="http://schemas.microsoft.com/office/drawing/2014/main" id="{493F171D-D8C7-4BE5-83CD-5D4ED061B47C}"/>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C2410C"/>
                </a:solidFill>
                <a:latin typeface="Helvetica Neue"/>
                <a:ea typeface="Helvetica Neue"/>
                <a:cs typeface="Helvetica Neue"/>
              </a:defRPr>
            </a:pPr>
            <a:r>
              <a:rPr sz="2550" b="1">
                <a:solidFill>
                  <a:srgbClr val="C2410C"/>
                </a:solidFill>
                <a:latin typeface="Helvetica Neue"/>
                <a:ea typeface="Helvetica Neue"/>
                <a:cs typeface="Helvetica Neue"/>
              </a:rPr>
              <a:t>A dependable system protects meaning, controls change, reveals state, restricts access, measures work, and restores elsewhere.</a:t>
            </a:r>
          </a:p>
        </p:txBody>
      </p:sp>
      <p:sp>
        <p:nvSpPr>
          <p:cNvPr id="5" name="">
            <a:extLst xmlns:a="http://schemas.openxmlformats.org/drawingml/2006/main">
              <a:ext uri="{FF2B5EF4-FFF2-40B4-BE49-F238E27FC236}">
                <a16:creationId xmlns:a16="http://schemas.microsoft.com/office/drawing/2014/main" id="{05272078-9BA4-4FFE-A32F-7257B09B9D60}"/>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6" name="">
            <a:extLst xmlns:a="http://schemas.openxmlformats.org/drawingml/2006/main">
              <a:ext uri="{FF2B5EF4-FFF2-40B4-BE49-F238E27FC236}">
                <a16:creationId xmlns:a16="http://schemas.microsoft.com/office/drawing/2014/main" id="{2AFFE4C3-E71F-46AB-BC46-CAD6FCAD1913}"/>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exact artifact protects the data?</a:t>
            </a:r>
          </a:p>
        </p:txBody>
      </p:sp>
      <p:sp>
        <p:nvSpPr>
          <p:cNvPr id="7" name="">
            <a:extLst xmlns:a="http://schemas.openxmlformats.org/drawingml/2006/main">
              <a:ext uri="{FF2B5EF4-FFF2-40B4-BE49-F238E27FC236}">
                <a16:creationId xmlns:a16="http://schemas.microsoft.com/office/drawing/2014/main" id="{35C9ADFD-BDDF-433E-B3C4-10AADDD2AF31}"/>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F241612C-851A-41E5-B798-6B176A577DFE}"/>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separate restore proves usability?</a:t>
            </a:r>
          </a:p>
        </p:txBody>
      </p:sp>
      <p:sp>
        <p:nvSpPr>
          <p:cNvPr id="9" name="">
            <a:extLst xmlns:a="http://schemas.openxmlformats.org/drawingml/2006/main">
              <a:ext uri="{FF2B5EF4-FFF2-40B4-BE49-F238E27FC236}">
                <a16:creationId xmlns:a16="http://schemas.microsoft.com/office/drawing/2014/main" id="{97448095-65E3-42AB-8F06-32049051F7D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F8F28C0-F590-43A9-B736-1FB6F97C954E}"/>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operating claim in the midterm has the strongest verification?</a:t>
            </a:r>
          </a:p>
        </p:txBody>
      </p:sp>
      <p:sp>
        <p:nvSpPr>
          <p:cNvPr id="11" name="">
            <a:extLst xmlns:a="http://schemas.openxmlformats.org/drawingml/2006/main">
              <a:ext uri="{FF2B5EF4-FFF2-40B4-BE49-F238E27FC236}">
                <a16:creationId xmlns:a16="http://schemas.microsoft.com/office/drawing/2014/main" id="{EA63E44C-C865-4C7C-8F2D-052AD86C02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Tree>
    <p:extLst>
      <p:ext uri="{BB962C8B-B14F-4D97-AF65-F5344CB8AC3E}">
        <p14:creationId xmlns:p14="http://schemas.microsoft.com/office/powerpoint/2010/main" val="116614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8: Backup, Restore, and Midterm Synthesis</dc:title>
  <dcterms:created xsi:type="dcterms:W3CDTF">2026-08-09T04:11:14.1980000Z</dcterms:created>
  <dcterms:modified xsi:type="dcterms:W3CDTF">2026-08-09T00:00:00Z</dcterms:modified>
  <dc:subject>CST 4714 Database Administration</dc:subject>
  <dc:description>Week 8 presentation for Operating Cloud Databases.</dc:description>
  <dc:language>en-US</dc:language>
  <keywords>database administration; PostgreSQL; MongoDB; cloud databases; OER</keywords>
  <category>Open Educational Resource</category>
  <contentStatus>Release Candidate</contentStatus>
</coreProperties>
</file>