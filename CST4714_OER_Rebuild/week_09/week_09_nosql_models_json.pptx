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be4069535d4dac" /><Relationship Type="http://schemas.openxmlformats.org/officeDocument/2006/relationships/extended-properties" Target="/docProps/app.xml" Id="R71e595fe258447ae" /><Relationship Type="http://schemas.openxmlformats.org/officeDocument/2006/relationships/officeDocument" Target="/ppt/presentation.xml" Id="R67dba789efc0499f" /></Relationships>
</file>

<file path=ppt/presentation.xml><?xml version="1.0" encoding="utf-8"?>
<p:presentation xmlns:p="http://schemas.openxmlformats.org/presentationml/2006/main">
  <p:sldMasterIdLst>
    <p:sldMasterId xmlns:r="http://schemas.openxmlformats.org/officeDocument/2006/relationships" id="2147483648" r:id="Rabf46ab657f14101"/>
  </p:sldMasterIdLst>
  <p:notesMasterIdLst>
    <p:notesMasterId xmlns:r="http://schemas.openxmlformats.org/officeDocument/2006/relationships" r:id="Rbb090d012ec24e32"/>
  </p:notesMasterIdLst>
  <p:sldIdLst>
    <p:sldId xmlns:r="http://schemas.openxmlformats.org/officeDocument/2006/relationships" id="256" r:id="R31bbd1e66f7e485d"/>
    <p:sldId xmlns:r="http://schemas.openxmlformats.org/officeDocument/2006/relationships" id="257" r:id="R826c6f4ea6284238"/>
    <p:sldId xmlns:r="http://schemas.openxmlformats.org/officeDocument/2006/relationships" id="258" r:id="Rdd5c637b6b664445"/>
    <p:sldId xmlns:r="http://schemas.openxmlformats.org/officeDocument/2006/relationships" id="259" r:id="R047ed38d4b3f40f9"/>
    <p:sldId xmlns:r="http://schemas.openxmlformats.org/officeDocument/2006/relationships" id="260" r:id="Rafb702b80f144405"/>
    <p:sldId xmlns:r="http://schemas.openxmlformats.org/officeDocument/2006/relationships" id="261" r:id="R5c7b7305786b4d63"/>
    <p:sldId xmlns:r="http://schemas.openxmlformats.org/officeDocument/2006/relationships" id="262" r:id="Re04d09ae53ae4467"/>
    <p:sldId xmlns:r="http://schemas.openxmlformats.org/officeDocument/2006/relationships" id="263" r:id="Rd6b74c81a5b74c0b"/>
    <p:sldId xmlns:r="http://schemas.openxmlformats.org/officeDocument/2006/relationships" id="264" r:id="R053dbcb993c04595"/>
    <p:sldId xmlns:r="http://schemas.openxmlformats.org/officeDocument/2006/relationships" id="265" r:id="Rc9c2fcd7afc141ee"/>
    <p:sldId xmlns:r="http://schemas.openxmlformats.org/officeDocument/2006/relationships" id="266" r:id="Rd55258aeaeba4107"/>
    <p:sldId xmlns:r="http://schemas.openxmlformats.org/officeDocument/2006/relationships" id="267" r:id="Rd4e156ad3fdc4e09"/>
    <p:sldId xmlns:r="http://schemas.openxmlformats.org/officeDocument/2006/relationships" id="268" r:id="R3b1190d7f0a544d4"/>
    <p:sldId xmlns:r="http://schemas.openxmlformats.org/officeDocument/2006/relationships" id="269" r:id="Rf70efbcd8b0448ea"/>
    <p:sldId xmlns:r="http://schemas.openxmlformats.org/officeDocument/2006/relationships" id="270" r:id="R36a0a609c23148e8"/>
    <p:sldId xmlns:r="http://schemas.openxmlformats.org/officeDocument/2006/relationships" id="271" r:id="Ra0102e66cb814e84"/>
    <p:sldId xmlns:r="http://schemas.openxmlformats.org/officeDocument/2006/relationships" id="272" r:id="R106bd449cc064c22"/>
    <p:sldId xmlns:r="http://schemas.openxmlformats.org/officeDocument/2006/relationships" id="273" r:id="R5aedd4e419744d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ae0c98833404715" /><Relationship Type="http://schemas.openxmlformats.org/officeDocument/2006/relationships/slideMaster" Target="/ppt/slideMasters/slideMaster1.xml" Id="Rabf46ab657f14101" /><Relationship Type="http://schemas.openxmlformats.org/officeDocument/2006/relationships/notesMaster" Target="/ppt/notesMasters/notesMaster1.xml" Id="Rbb090d012ec24e32" /><Relationship Type="http://schemas.openxmlformats.org/officeDocument/2006/relationships/presProps" Target="/ppt/presProps.xml" Id="Rb749622fd1384adf" /><Relationship Type="http://schemas.openxmlformats.org/officeDocument/2006/relationships/tableStyles" Target="/ppt/tableStyles.xml" Id="R586975fddd1646ae" /><Relationship Type="http://schemas.openxmlformats.org/officeDocument/2006/relationships/slide" Target="/ppt/slides/slide1.xml" Id="R31bbd1e66f7e485d" /><Relationship Type="http://schemas.openxmlformats.org/officeDocument/2006/relationships/slide" Target="/ppt/slides/slide2.xml" Id="R826c6f4ea6284238" /><Relationship Type="http://schemas.openxmlformats.org/officeDocument/2006/relationships/slide" Target="/ppt/slides/slide3.xml" Id="Rdd5c637b6b664445" /><Relationship Type="http://schemas.openxmlformats.org/officeDocument/2006/relationships/slide" Target="/ppt/slides/slide4.xml" Id="R047ed38d4b3f40f9" /><Relationship Type="http://schemas.openxmlformats.org/officeDocument/2006/relationships/slide" Target="/ppt/slides/slide5.xml" Id="Rafb702b80f144405" /><Relationship Type="http://schemas.openxmlformats.org/officeDocument/2006/relationships/slide" Target="/ppt/slides/slide6.xml" Id="R5c7b7305786b4d63" /><Relationship Type="http://schemas.openxmlformats.org/officeDocument/2006/relationships/slide" Target="/ppt/slides/slide7.xml" Id="Re04d09ae53ae4467" /><Relationship Type="http://schemas.openxmlformats.org/officeDocument/2006/relationships/slide" Target="/ppt/slides/slide8.xml" Id="Rd6b74c81a5b74c0b" /><Relationship Type="http://schemas.openxmlformats.org/officeDocument/2006/relationships/slide" Target="/ppt/slides/slide9.xml" Id="R053dbcb993c04595" /><Relationship Type="http://schemas.openxmlformats.org/officeDocument/2006/relationships/slide" Target="/ppt/slides/slide10.xml" Id="Rc9c2fcd7afc141ee" /><Relationship Type="http://schemas.openxmlformats.org/officeDocument/2006/relationships/slide" Target="/ppt/slides/slide11.xml" Id="Rd55258aeaeba4107" /><Relationship Type="http://schemas.openxmlformats.org/officeDocument/2006/relationships/slide" Target="/ppt/slides/slide12.xml" Id="Rd4e156ad3fdc4e09" /><Relationship Type="http://schemas.openxmlformats.org/officeDocument/2006/relationships/slide" Target="/ppt/slides/slide13.xml" Id="R3b1190d7f0a544d4" /><Relationship Type="http://schemas.openxmlformats.org/officeDocument/2006/relationships/slide" Target="/ppt/slides/slide14.xml" Id="Rf70efbcd8b0448ea" /><Relationship Type="http://schemas.openxmlformats.org/officeDocument/2006/relationships/slide" Target="/ppt/slides/slide15.xml" Id="R36a0a609c23148e8" /><Relationship Type="http://schemas.openxmlformats.org/officeDocument/2006/relationships/slide" Target="/ppt/slides/slide16.xml" Id="Ra0102e66cb814e84" /><Relationship Type="http://schemas.openxmlformats.org/officeDocument/2006/relationships/slide" Target="/ppt/slides/slide17.xml" Id="R106bd449cc064c22" /><Relationship Type="http://schemas.openxmlformats.org/officeDocument/2006/relationships/slide" Target="/ppt/slides/slide18.xml" Id="R5aedd4e419744d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8d9bbd6ea18458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dbab2646fa84b4d" /><Relationship Type="http://schemas.openxmlformats.org/officeDocument/2006/relationships/notesMaster" Target="/ppt/notesMasters/notesMaster1.xml" Id="R1bb81cb9dc5146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965ae9b6eb4951" /><Relationship Type="http://schemas.openxmlformats.org/officeDocument/2006/relationships/notesMaster" Target="/ppt/notesMasters/notesMaster1.xml" Id="R40fbfc0dfa1245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1311cf6b9b84c0f" /><Relationship Type="http://schemas.openxmlformats.org/officeDocument/2006/relationships/notesMaster" Target="/ppt/notesMasters/notesMaster1.xml" Id="R3dbf35610aca44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9a20c059414a83" /><Relationship Type="http://schemas.openxmlformats.org/officeDocument/2006/relationships/notesMaster" Target="/ppt/notesMasters/notesMaster1.xml" Id="Rb270938a275445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25a9a9a9f3ff4535" /><Relationship Type="http://schemas.openxmlformats.org/officeDocument/2006/relationships/notesMaster" Target="/ppt/notesMasters/notesMaster1.xml" Id="R1ac9fd7499844c9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b054046a0942e7" /><Relationship Type="http://schemas.openxmlformats.org/officeDocument/2006/relationships/notesMaster" Target="/ppt/notesMasters/notesMaster1.xml" Id="R955ce40594e642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72046ae24c4dad" /><Relationship Type="http://schemas.openxmlformats.org/officeDocument/2006/relationships/notesMaster" Target="/ppt/notesMasters/notesMaster1.xml" Id="Ra0077e65c27640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a3f9875807bb49fe" /><Relationship Type="http://schemas.openxmlformats.org/officeDocument/2006/relationships/notesMaster" Target="/ppt/notesMasters/notesMaster1.xml" Id="R2327b676194e4b85" /></Relationships>
</file>

<file path=ppt/notesSlides/_rels/notesSlide9.xml.rels>&#65279;<?xml version="1.0" encoding="utf-8"?><Relationships xmlns="http://schemas.openxmlformats.org/package/2006/relationships"><Relationship Type="http://schemas.openxmlformats.org/officeDocument/2006/relationships/slide" Target="/ppt/slides/slide9.xml" Id="Ra9645f1203a24a8b" /><Relationship Type="http://schemas.openxmlformats.org/officeDocument/2006/relationships/notesMaster" Target="/ppt/notesMasters/notesMaster1.xml" Id="Rf822df082d13469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2a2ad735d247e7" /><Relationship Type="http://schemas.openxmlformats.org/officeDocument/2006/relationships/notesMaster" Target="/ppt/notesMasters/notesMaster1.xml" Id="R92dffc6d96c94fe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36d6e42f4784072" /><Relationship Type="http://schemas.openxmlformats.org/officeDocument/2006/relationships/notesMaster" Target="/ppt/notesMasters/notesMaster1.xml" Id="Rbac1a92f48cf42a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3d2a09268f1467b" /><Relationship Type="http://schemas.openxmlformats.org/officeDocument/2006/relationships/notesMaster" Target="/ppt/notesMasters/notesMaster1.xml" Id="R53e85ea3c64646f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7bacc9016244f1b" /><Relationship Type="http://schemas.openxmlformats.org/officeDocument/2006/relationships/notesMaster" Target="/ppt/notesMasters/notesMaster1.xml" Id="Rcf8429aa4ae7415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535cf8a76b143d6" /><Relationship Type="http://schemas.openxmlformats.org/officeDocument/2006/relationships/notesMaster" Target="/ppt/notesMasters/notesMaster1.xml" Id="Rcde1f028fd5f461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066d85dfacf4048" /><Relationship Type="http://schemas.openxmlformats.org/officeDocument/2006/relationships/notesMaster" Target="/ppt/notesMasters/notesMaster1.xml" Id="R4f2ca9436a9b493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0eac7d704f64ccb" /><Relationship Type="http://schemas.openxmlformats.org/officeDocument/2006/relationships/notesMaster" Target="/ppt/notesMasters/notesMaster1.xml" Id="Rffd574d28f0e42f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6a3846b1b42481e" /><Relationship Type="http://schemas.openxmlformats.org/officeDocument/2006/relationships/notesMaster" Target="/ppt/notesMasters/notesMaster1.xml" Id="Rbb519e520c4b437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4fee305519a4ed6" /><Relationship Type="http://schemas.openxmlformats.org/officeDocument/2006/relationships/notesMaster" Target="/ppt/notesMasters/notesMaster1.xml" Id="Rb5b003778f1a40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does not announce that relational databases are obsolete. It asks why several nonrelational models became useful alongside them. Different workloads place different pressure on representation, distribution, consistency, query shape, and schema evolution.</a:t>
            </a:r>
          </a:p>
          <a:p xmlns:a="http://schemas.openxmlformats.org/drawingml/2006/main">
            <a:r>
              <a:t/>
            </a:r>
          </a:p>
          <a:p xmlns:a="http://schemas.openxmlformats.org/drawingml/2006/main">
            <a:r>
              <a:t>We will study the history and central ideas of key-value, wide-column, document, graph, and vector systems. Then we will examine JSON as a data-interchange syntax and a flexible document representation. The in-class assignment will not use SQL or MQL. You will take two small CSV tables and write multiple possible JSON designs in a text editor, then explain which read, update, and growth assumptions make each design reasonable.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data model is a set of concepts for representing facts and operations. Relational systems represent facts in relations and derive results through relational operations. A key-value system makes direct lookup by key central. A document system makes nested records and arrays first-class. A graph system makes vertices, edges, and traversals explicit. A vector system indexes points in a high-dimensional space for similarity search.</a:t>
            </a:r>
          </a:p>
          <a:p xmlns:a="http://schemas.openxmlformats.org/drawingml/2006/main">
            <a:r>
              <a:t/>
            </a:r>
          </a:p>
          <a:p xmlns:a="http://schemas.openxmlformats.org/drawingml/2006/main">
            <a:r>
              <a:t>No model removes tradeoffs. Embedding related data can make one document read easy but duplicate shared facts. Normalizing facts into relations can protect a source of truth but require joins. Graph traversal can express paths naturally but adds another operating model. Choose by the workload and lifecycle, not by which product is newest.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Relational theory in the 1970s offered a powerful logical model and declarative querying. The word NoSQL appeared in 1998 in Carlo Strozzi's name for a relational system that did not use SQL, which differs from today's broad meaning. In the mid-2000s, systems such as Google Bigtable and Amazon Dynamo published designs for large distributed workloads with particular availability, partitioning, and access-pattern goals.</a:t>
            </a:r>
          </a:p>
          <a:p xmlns:a="http://schemas.openxmlformats.org/drawingml/2006/main">
            <a:r>
              <a:t/>
            </a:r>
          </a:p>
          <a:p xmlns:a="http://schemas.openxmlformats.org/drawingml/2006/main">
            <a:r>
              <a:t>Around 2009, NoSQL became a community label for several nonrelational database families. The label has never meant one architecture. Modern relational databases support JSON, search, and extensions; document databases add transactions and analytics; cloud services combine models. History is better understood as expanding design choices than as one generation replacing another.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Relational databases remain strong when identities, relationships, and constraints must be explicit and many query shapes combine data. Declarative SQL and mature transaction, indexing, recovery, and administration systems make them a durable general-purpose choice.</a:t>
            </a:r>
          </a:p>
          <a:p xmlns:a="http://schemas.openxmlformats.org/drawingml/2006/main">
            <a:r>
              <a:t/>
            </a:r>
          </a:p>
          <a:p xmlns:a="http://schemas.openxmlformats.org/drawingml/2006/main">
            <a:r>
              <a:t>A specialized model may reduce impedance for a dominant workload. A document can retrieve a bounded aggregate in one read. A graph can traverse variable-length relationships. A vector index can retrieve approximate semantic neighbors. These advantages do not automatically justify another database. The team must also operate security, observability, backup, consistency, and synchronization. The best tool is the one whose benefits exceed its total design and operating costs for the actual workload.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key-value model treats a unique key as the primary access path to a value. Session state, cache entries, feature flags, counters, and idempotency records are common examples. The design can scale direct lookup and partition keys effectively because the access pattern is explicit.</a:t>
            </a:r>
          </a:p>
          <a:p xmlns:a="http://schemas.openxmlformats.org/drawingml/2006/main">
            <a:r>
              <a:t/>
            </a:r>
          </a:p>
          <a:p xmlns:a="http://schemas.openxmlformats.org/drawingml/2006/main">
            <a:r>
              <a:t>The tradeoff appears when a new question does not know the key. ‘Find every session belonging to users in one neighborhood’ may require another index, a maintained secondary structure, or a different system. Atomic operations may be limited to one key or a documented scope depending on the product. Key design, value size, expiration, hot keys, replication, and recovery remain operational concerns.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Wide-column systems descend from ideas popularized by Bigtable and related designs. The exact terminology varies, but a row is addressed by a key and may contain sparse, grouped columns. In Cassandra-style modeling, a partition key determines distribution, while clustering columns order rows within a partition.</a:t>
            </a:r>
          </a:p>
          <a:p xmlns:a="http://schemas.openxmlformats.org/drawingml/2006/main">
            <a:r>
              <a:t/>
            </a:r>
          </a:p>
          <a:p xmlns:a="http://schemas.openxmlformats.org/drawingml/2006/main">
            <a:r>
              <a:t>The flexibility does not mean no schema. Partition size, query patterns, data duplication, timestamp/version behavior, consistency, and compaction must be designed. A time-series workload might partition by device and time bucket, then cluster by event time. That serves device-time queries efficiently but may require a second denormalized table for a query by alert type. Write-oriented distribution can trade flexible ad hoc querying for predictable designed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document database stores records with nested objects and arrays, commonly represented with BSON or JSON-like syntax. A ticket document can embed a requester snapshot and a bounded list of recent events, allowing one read to return the aggregate in the shape the application uses.</a:t>
            </a:r>
          </a:p>
          <a:p xmlns:a="http://schemas.openxmlformats.org/drawingml/2006/main">
            <a:r>
              <a:t/>
            </a:r>
          </a:p>
          <a:p xmlns:a="http://schemas.openxmlformats.org/drawingml/2006/main">
            <a:r>
              <a:t>Embedding has costs. If the requester name is authoritative in many ticket documents, changing it requires several updates and can leave contradictory copies. An unbounded event history can make a document grow without a safe limit. Referencing preserves separate identity and independent lifecycle but requires additional reads, aggregation lookup, or application composition. Document modeling therefore begins with read, update, ownership, cardinality, boundedness, and growth patterns.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graph theory, vertices represent entities and edges represent relationships. Edges may be directed or undirected, labeled, and weighted. A vertex's degree counts incident edges, while a path follows a sequence of adjacent edges. Path length may count hops or sum weights.</a:t>
            </a:r>
          </a:p>
          <a:p xmlns:a="http://schemas.openxmlformats.org/drawingml/2006/main">
            <a:r>
              <a:t/>
            </a:r>
          </a:p>
          <a:p xmlns:a="http://schemas.openxmlformats.org/drawingml/2006/main">
            <a:r>
              <a:t>Graph databases are useful when variable-length relationship traversal is the central question: fraud rings, identity links, network topology, recommendations, dependency impact, or knowledge graphs. A question such as ‘which alerts connect to this user within three relationship hops?’ maps naturally to graph traversal. The tradeoff includes operating another system, modeling edge meaning, controlling traversal explosion, indexing entry points, and deciding which facts remain authoritative elsewhere.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vector is an ordered list of numbers. An embedding model can represent text, images, audio, products, users, or other objects in a space where some semantic relationships correspond to geometric proximity. The database stores the vector together with an identifier and metadata.</a:t>
            </a:r>
          </a:p>
          <a:p xmlns:a="http://schemas.openxmlformats.org/drawingml/2006/main">
            <a:r>
              <a:t/>
            </a:r>
          </a:p>
          <a:p xmlns:a="http://schemas.openxmlformats.org/drawingml/2006/main">
            <a:r>
              <a:t>Cosine similarity divides the dot product by the product of vector magnitudes. The result measures orientation: vectors pointing in similar directions have similarity near one, orthogonal vectors near zero, and opposite directions near negative one. Many vector systems use cosine distance, inner product, or Euclidean distance with exact or approximate nearest-neighbor indexes. The embedding model, normalization, metric, filter behavior, recall, latency, and update lifecycle must be evaluated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Cosine similarity ignores overall magnitude after normalization and asks whether two vectors point in a similar direction. Euclidean distance measures the ordinary straight-line distance between their endpoints and is sensitive to magnitude as well as direction.</a:t>
            </a:r>
          </a:p>
          <a:p xmlns:a="http://schemas.openxmlformats.org/drawingml/2006/main">
            <a:r>
              <a:t/>
            </a:r>
          </a:p>
          <a:p xmlns:a="http://schemas.openxmlformats.org/drawingml/2006/main">
            <a:r>
              <a:t>Neither metric is universally better. The embedding model is trained or intended with particular similarity behavior. If vectors are normalized to unit length, squared Euclidean distance is `2 minus 2 times cosine similarity`, so ranking by one is directly related to ranking by the other. Without normalization, the rankings can differ substantially. Evaluate the model's guidance and a labeled retrieval set rather than choosing a metric because its name sounds familiar.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begins with the natural question rather than the product. Relational systems support constrained facts and changing declarative queries. Key-value systems excel at known-key access. Wide-column systems serve partition-oriented access at distributed scale. Documents make bounded nested aggregates direct. Graphs and vectors specialize in paths and similarity.</a:t>
            </a:r>
          </a:p>
          <a:p xmlns:a="http://schemas.openxmlformats.org/drawingml/2006/main">
            <a:r>
              <a:t/>
            </a:r>
          </a:p>
          <a:p xmlns:a="http://schemas.openxmlformats.org/drawingml/2006/main">
            <a:r>
              <a:t>The common cost column is not a condemnation. Every useful strength shifts work somewhere else. A document may duplicate a shared label. A wide-column design may duplicate data across query-specific tables. A graph or vector store adds specialized monitoring and recovery. A polyglot design is justified only when the workload benefit exceeds the synchronization and operating burden.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day focuses on JSON. JSON grew from JavaScript object-literal syntax into a language-independent interchange format because it is compact, text-based, easy for people to inspect, and easy for many programming languages to parse. Its modern syntax is standardized by ECMA-404 and RFC 8259.</a:t>
            </a:r>
          </a:p>
          <a:p xmlns:a="http://schemas.openxmlformats.org/drawingml/2006/main">
            <a:r>
              <a:t/>
            </a:r>
          </a:p>
          <a:p xmlns:a="http://schemas.openxmlformats.org/drawingml/2006/main">
            <a:r>
              <a:t>JSON is strict. Property names and strings use double quotes. Values are objects, arrays, strings, numbers, true, false, or null. Standard JSON has no comments and no trailing commas. Its flexibility comes from composing objects and arrays, not from ignoring syntax or abandoning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JSON uses notation familiar from JavaScript, but the data format is language independent. It became attractive for browser and API exchange because the grammar is small, text is inspectable, and many languages can map objects and arrays into native structures. It was often lighter for web developers than XML toolchains, though XML retains strengths such as mixed content, schemas, namespaces, and document standards.</a:t>
            </a:r>
          </a:p>
          <a:p xmlns:a="http://schemas.openxmlformats.org/drawingml/2006/main">
            <a:r>
              <a:t/>
            </a:r>
          </a:p>
          <a:p xmlns:a="http://schemas.openxmlformats.org/drawingml/2006/main">
            <a:r>
              <a:t>Standardization matters because a permissive parser can accept text that another system rejects. ECMA-404 describes the syntax, while RFC 8259 defines the Internet media type and interoperability guidance. Modern use includes APIs, configuration, event messages, logs, and document databases. Popularity does not make JSON the best format for every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outer braces contain an object: an unordered collection of name-value members. Names are strings in double quotes. Values here include a number, string, Boolean, null, nested object, and array. The array contains two strings and preserves their order.</a:t>
            </a:r>
          </a:p>
          <a:p xmlns:a="http://schemas.openxmlformats.org/drawingml/2006/main">
            <a:r>
              <a:t/>
            </a:r>
          </a:p>
          <a:p xmlns:a="http://schemas.openxmlformats.org/drawingml/2006/main">
            <a:r>
              <a:t>Standard JSON does not include a native date type, decimal type, binary value, comment, or undefined value. Systems represent those ideas through strings, numbers, conventions, or an extended format. MongoDB BSON adds types such as dates, ObjectIds, decimals, and binary data, while Extended JSON represents BSON values in JSON-compatible text. Do not assume that ordinary JSON round-trips every database type without a conversion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CSV files can describe items and inventory events through an item identifier. One JSON design embeds each item's events inside the item object. That makes a whole-item read direct and preserves event order in one array. It is reasonable when the event subset is bounded and normally read with the item.</a:t>
            </a:r>
          </a:p>
          <a:p xmlns:a="http://schemas.openxmlformats.org/drawingml/2006/main">
            <a:r>
              <a:t/>
            </a:r>
          </a:p>
          <a:p xmlns:a="http://schemas.openxmlformats.org/drawingml/2006/main">
            <a:r>
              <a:t>Another design keeps item objects and event objects separate, with each event storing `item_id`. That preserves independent event growth and one event representation but requires a lookup or application join to assemble history. Both can be valid JSON and valid models. The decision depends on access, update ownership, cardinality, boundedness, and growth, not on formatting preference.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GitHub browser editor can create and commit a `.json` or `.md` file without a local installation. Preview Markdown, but validate JSON with a parser because a code block can look correct while containing invalid syntax.</a:t>
            </a:r>
          </a:p>
          <a:p xmlns:a="http://schemas.openxmlformats.org/drawingml/2006/main">
            <a:r>
              <a:t/>
            </a:r>
          </a:p>
          <a:p xmlns:a="http://schemas.openxmlformats.org/drawingml/2006/main">
            <a:r>
              <a:t>Atlas setup requires an account project, a database deployment, a separate database user, and network access. Those controls are distinct. Use only a free option and temporary necessary access. Do not commit the connection URI or publish private account information. Setup is not a separate graded deliverable. The required learning evidence is the JSON model and explanation, which remains possible in a text editor during an account or platform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this lab individually and entirely in a text editor. Read the two small CSV files and identify the item key, event reference, relationship cardinality, and any missing values. Decide what one item and one event mean before writing JSON.</a:t>
            </a:r>
          </a:p>
          <a:p xmlns:a="http://schemas.openxmlformats.org/drawingml/2006/main">
            <a:r>
              <a:t/>
            </a:r>
          </a:p>
          <a:p xmlns:a="http://schemas.openxmlformats.org/drawingml/2006/main">
            <a:r>
              <a:t>Create two different valid representations. One may embed events inside items; another may keep separate item and event arrays or use an identifier-keyed object. Validate each JSON block. Then defend one design for a named access pattern and explain an update or growth tradeoff. There are many correct answers, but every answer must preserve identity and relationship meaning. Submit one text response. No SQL or MQL is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placed NoSQL in history and separated several database families. Key-value systems center known-key access. Wide-column systems center partition-oriented distributed access. Documents center nested aggregates. Graphs center paths. Vector systems center similarity. Relational systems remain powerful for constrained facts and flexible declarative queries.</a:t>
            </a:r>
          </a:p>
          <a:p xmlns:a="http://schemas.openxmlformats.org/drawingml/2006/main">
            <a:r>
              <a:t/>
            </a:r>
          </a:p>
          <a:p xmlns:a="http://schemas.openxmlformats.org/drawingml/2006/main">
            <a:r>
              <a:t>JSON provides strict, portable syntax for composing objects and arrays. It permits many representations, but flexibility shifts responsibility to design, validation, and documentation. Next week we will move from writing JSON examples to querying MongoDB documents with MQL and choosing embedding or referencing from explicit access and update patterns.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84af630ad74ae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df987c356a46cf" /><Relationship Type="http://schemas.openxmlformats.org/officeDocument/2006/relationships/slideLayout" Target="/ppt/slideLayouts/slideLayout1.xml" Id="R3a348062cf7642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a348062cf7642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f8f28d07da3480a" /><Relationship Type="http://schemas.openxmlformats.org/officeDocument/2006/relationships/notesSlide" Target="/ppt/notesSlides/notesSlide1.xml" Id="Rf13940f4103944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e674eb35d164940" /><Relationship Type="http://schemas.openxmlformats.org/officeDocument/2006/relationships/notesSlide" Target="/ppt/notesSlides/notesSlide2.xml" Id="R3488c19e93124d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1fd775a2ad24eef" /><Relationship Type="http://schemas.openxmlformats.org/officeDocument/2006/relationships/notesSlide" Target="/ppt/notesSlides/notesSlide3.xml" Id="Rf85db1f9c55b473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9fe2da57bca4de0" /><Relationship Type="http://schemas.openxmlformats.org/officeDocument/2006/relationships/notesSlide" Target="/ppt/notesSlides/notesSlide4.xml" Id="R7546971217c6447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8bfc3727da4424f" /><Relationship Type="http://schemas.openxmlformats.org/officeDocument/2006/relationships/notesSlide" Target="/ppt/notesSlides/notesSlide5.xml" Id="R831aa8a3205d45f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d63d72165c2429b" /><Relationship Type="http://schemas.openxmlformats.org/officeDocument/2006/relationships/notesSlide" Target="/ppt/notesSlides/notesSlide6.xml" Id="R5d4ae7cb5d83488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b5bd6843e9b416c" /><Relationship Type="http://schemas.openxmlformats.org/officeDocument/2006/relationships/notesSlide" Target="/ppt/notesSlides/notesSlide7.xml" Id="R2dbe050cc331454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90a7b8e0bed4604" /><Relationship Type="http://schemas.openxmlformats.org/officeDocument/2006/relationships/notesSlide" Target="/ppt/notesSlides/notesSlide8.xml" Id="R7c50e28f9ac547a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588fbb480704d8e" /><Relationship Type="http://schemas.openxmlformats.org/officeDocument/2006/relationships/notesSlide" Target="/ppt/notesSlides/notesSlide9.xml" Id="Rb105497759b1438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973c726a33244a1" /><Relationship Type="http://schemas.openxmlformats.org/officeDocument/2006/relationships/notesSlide" Target="/ppt/notesSlides/notesSlide10.xml" Id="R1f7de9cf3221493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e30c80df6ff42c7" /><Relationship Type="http://schemas.openxmlformats.org/officeDocument/2006/relationships/notesSlide" Target="/ppt/notesSlides/notesSlide11.xml" Id="Re583073e97ab446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ad809b38af147da" /><Relationship Type="http://schemas.openxmlformats.org/officeDocument/2006/relationships/notesSlide" Target="/ppt/notesSlides/notesSlide12.xml" Id="Reb9dd3bada7f4aa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8b5b9c5ead04abe" /><Relationship Type="http://schemas.openxmlformats.org/officeDocument/2006/relationships/notesSlide" Target="/ppt/notesSlides/notesSlide13.xml" Id="Rcb6c31d5345b47c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dc47a3ae0374324" /><Relationship Type="http://schemas.openxmlformats.org/officeDocument/2006/relationships/notesSlide" Target="/ppt/notesSlides/notesSlide14.xml" Id="R96130da46e8a400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ec0539aa3b94369" /><Relationship Type="http://schemas.openxmlformats.org/officeDocument/2006/relationships/notesSlide" Target="/ppt/notesSlides/notesSlide15.xml" Id="Ra9997204c75d4e9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7e304e7286040dd" /><Relationship Type="http://schemas.openxmlformats.org/officeDocument/2006/relationships/notesSlide" Target="/ppt/notesSlides/notesSlide16.xml" Id="R5362d6f3867c45c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8fb888ac86743f8" /><Relationship Type="http://schemas.openxmlformats.org/officeDocument/2006/relationships/notesSlide" Target="/ppt/notesSlides/notesSlide17.xml" Id="R03011257d4cc4ef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e2258179a9c405e" /><Relationship Type="http://schemas.openxmlformats.org/officeDocument/2006/relationships/notesSlide" Target="/ppt/notesSlides/notesSlide18.xml" Id="Rebb1815a696f4710"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14A3134-1D64-40C5-8030-4B57CB4F17B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5E7CEA74-38A4-4615-BE6F-22A3C832C60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3" name="">
            <a:extLst xmlns:a="http://schemas.openxmlformats.org/drawingml/2006/main">
              <a:ext uri="{FF2B5EF4-FFF2-40B4-BE49-F238E27FC236}">
                <a16:creationId xmlns:a16="http://schemas.microsoft.com/office/drawing/2014/main" id="{97994E9F-6B38-463C-9697-6945EA499F2A}"/>
              </a:ext>
            </a:extLst>
          </p:cNvPr>
          <p:cNvSpPr>
            <a:spLocks xmlns:a="http://schemas.openxmlformats.org/drawingml/2006/main" noGrp="1"/>
          </p:cNvSpPr>
          <p:nvPr/>
        </p:nvSpPr>
        <p:spPr>
          <a:xfrm xmlns:a="http://schemas.openxmlformats.org/drawingml/2006/main">
            <a:off x="685800" y="523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b="1">
                <a:solidFill>
                  <a:srgbClr val="1D4ED8"/>
                </a:solidFill>
                <a:latin typeface="Helvetica Neue"/>
                <a:ea typeface="Helvetica Neue"/>
                <a:cs typeface="Helvetica Neue"/>
              </a:defRPr>
            </a:pPr>
            <a:r>
              <a:rPr sz="1350" b="1">
                <a:solidFill>
                  <a:srgbClr val="1D4ED8"/>
                </a:solidFill>
                <a:latin typeface="Helvetica Neue"/>
                <a:ea typeface="Helvetica Neue"/>
                <a:cs typeface="Helvetica Neue"/>
              </a:rPr>
              <a:t>WEEK 09</a:t>
            </a:r>
          </a:p>
        </p:txBody>
      </p:sp>
      <p:sp>
        <p:nvSpPr>
          <p:cNvPr id="4" name="cover-title">
            <a:extLst xmlns:a="http://schemas.openxmlformats.org/drawingml/2006/main">
              <a:ext uri="{FF2B5EF4-FFF2-40B4-BE49-F238E27FC236}">
                <a16:creationId xmlns:a16="http://schemas.microsoft.com/office/drawing/2014/main" id="{3A894928-85C8-41F4-BB4A-7D27273090B8}"/>
              </a:ext>
            </a:extLst>
          </p:cNvPr>
          <p:cNvSpPr>
            <a:spLocks xmlns:a="http://schemas.openxmlformats.org/drawingml/2006/main" noGrp="1"/>
          </p:cNvSpPr>
          <p:nvPr/>
        </p:nvSpPr>
        <p:spPr>
          <a:xfrm xmlns:a="http://schemas.openxmlformats.org/drawingml/2006/main">
            <a:off x="685800" y="1524000"/>
            <a:ext cx="857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111827"/>
                </a:solidFill>
                <a:latin typeface="Helvetica Neue"/>
                <a:ea typeface="Helvetica Neue"/>
                <a:cs typeface="Helvetica Neue"/>
              </a:defRPr>
            </a:pPr>
            <a:r>
              <a:rPr sz="4350" b="1">
                <a:solidFill>
                  <a:srgbClr val="111827"/>
                </a:solidFill>
                <a:latin typeface="Helvetica Neue"/>
                <a:ea typeface="Helvetica Neue"/>
                <a:cs typeface="Helvetica Neue"/>
              </a:rPr>
              <a:t>Why NoSQL Models Exist and What JSON Enables</a:t>
            </a:r>
          </a:p>
        </p:txBody>
      </p:sp>
      <p:sp>
        <p:nvSpPr>
          <p:cNvPr id="5" name="cover-subtitle">
            <a:extLst xmlns:a="http://schemas.openxmlformats.org/drawingml/2006/main">
              <a:ext uri="{FF2B5EF4-FFF2-40B4-BE49-F238E27FC236}">
                <a16:creationId xmlns:a16="http://schemas.microsoft.com/office/drawing/2014/main" id="{91A47326-D63B-44CC-9FD6-30010FB9CA17}"/>
              </a:ext>
            </a:extLst>
          </p:cNvPr>
          <p:cNvSpPr>
            <a:spLocks xmlns:a="http://schemas.openxmlformats.org/drawingml/2006/main" noGrp="1"/>
          </p:cNvSpPr>
          <p:nvPr/>
        </p:nvSpPr>
        <p:spPr>
          <a:xfrm xmlns:a="http://schemas.openxmlformats.org/drawingml/2006/main">
            <a:off x="723900" y="3905250"/>
            <a:ext cx="809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Compare data models by workload, then express related CSV data as more than one valid JSON design.</a:t>
            </a:r>
          </a:p>
        </p:txBody>
      </p:sp>
      <p:sp>
        <p:nvSpPr>
          <p:cNvPr id="6" name="">
            <a:extLst xmlns:a="http://schemas.openxmlformats.org/drawingml/2006/main">
              <a:ext uri="{FF2B5EF4-FFF2-40B4-BE49-F238E27FC236}">
                <a16:creationId xmlns:a16="http://schemas.microsoft.com/office/drawing/2014/main" id="{EE348B77-CDCD-4722-8BA8-69FE5D71FB42}"/>
              </a:ext>
            </a:extLst>
          </p:cNvPr>
          <p:cNvSpPr>
            <a:spLocks xmlns:a="http://schemas.openxmlformats.org/drawingml/2006/main" noGrp="1"/>
          </p:cNvSpPr>
          <p:nvPr/>
        </p:nvSpPr>
        <p:spPr>
          <a:xfrm xmlns:a="http://schemas.openxmlformats.org/drawingml/2006/main">
            <a:off x="685800" y="6172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94A3B8"/>
                </a:solidFill>
                <a:latin typeface="Helvetica Neue"/>
                <a:ea typeface="Helvetica Neue"/>
                <a:cs typeface="Helvetica Neue"/>
              </a:defRPr>
            </a:pPr>
            <a:r>
              <a:rPr sz="975" b="1">
                <a:solidFill>
                  <a:srgbClr val="94A3B8"/>
                </a:solidFill>
                <a:latin typeface="Helvetica Neue"/>
                <a:ea typeface="Helvetica Neue"/>
                <a:cs typeface="Helvetica Neue"/>
              </a:rPr>
              <a:t>OPERATING CLOUD DATABASES</a:t>
            </a:r>
          </a:p>
        </p:txBody>
      </p:sp>
      <p:sp>
        <p:nvSpPr>
          <p:cNvPr id="7" name="">
            <a:extLst xmlns:a="http://schemas.openxmlformats.org/drawingml/2006/main">
              <a:ext uri="{FF2B5EF4-FFF2-40B4-BE49-F238E27FC236}">
                <a16:creationId xmlns:a16="http://schemas.microsoft.com/office/drawing/2014/main" id="{335F87EC-1AB6-4B46-80C8-79874C30131A}"/>
              </a:ext>
            </a:extLst>
          </p:cNvPr>
          <p:cNvSpPr>
            <a:spLocks xmlns:a="http://schemas.openxmlformats.org/drawingml/2006/main" noGrp="1"/>
          </p:cNvSpPr>
          <p:nvPr/>
        </p:nvSpPr>
        <p:spPr>
          <a:xfrm xmlns:a="http://schemas.openxmlformats.org/drawingml/2006/main">
            <a:off x="9525000" y="466725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400" b="1">
                <a:solidFill>
                  <a:srgbClr val="1D4ED8"/>
                </a:solidFill>
                <a:latin typeface="Helvetica Neue"/>
                <a:ea typeface="Helvetica Neue"/>
                <a:cs typeface="Helvetica Neue"/>
              </a:defRPr>
            </a:pPr>
            <a:r>
              <a:rPr sz="8400" b="1">
                <a:solidFill>
                  <a:srgbClr val="1D4ED8"/>
                </a:solidFill>
                <a:latin typeface="Helvetica Neue"/>
                <a:ea typeface="Helvetica Neue"/>
                <a:cs typeface="Helvetica Neue"/>
              </a:rPr>
              <a:t>09</a:t>
            </a:r>
          </a:p>
        </p:txBody>
      </p:sp>
    </p:spTree>
    <p:extLst>
      <p:ext uri="{BB962C8B-B14F-4D97-AF65-F5344CB8AC3E}">
        <p14:creationId xmlns:p14="http://schemas.microsoft.com/office/powerpoint/2010/main" val="1988818367"/>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F66BBB8-149C-4B7A-8EE1-C666802728C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A1E56637-A869-4E62-A686-D2A4972264F5}"/>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09  /  CST4714</a:t>
            </a:r>
          </a:p>
        </p:txBody>
      </p:sp>
      <p:sp>
        <p:nvSpPr>
          <p:cNvPr id="3" name="slide-title">
            <a:extLst xmlns:a="http://schemas.openxmlformats.org/drawingml/2006/main">
              <a:ext uri="{FF2B5EF4-FFF2-40B4-BE49-F238E27FC236}">
                <a16:creationId xmlns:a16="http://schemas.microsoft.com/office/drawing/2014/main" id="{0289B1CF-C52C-41E5-9015-52532B244D29}"/>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Multiple database models exist because workloads disagree</a:t>
            </a:r>
          </a:p>
        </p:txBody>
      </p:sp>
      <p:sp>
        <p:nvSpPr>
          <p:cNvPr id="4" name="">
            <a:extLst xmlns:a="http://schemas.openxmlformats.org/drawingml/2006/main">
              <a:ext uri="{FF2B5EF4-FFF2-40B4-BE49-F238E27FC236}">
                <a16:creationId xmlns:a16="http://schemas.microsoft.com/office/drawing/2014/main" id="{8536F05F-B67D-4639-8557-20384900D6C8}"/>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EF506EC2-3E04-4F4A-AFC0-FC2A5D5D628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2</a:t>
            </a:r>
          </a:p>
        </p:txBody>
      </p:sp>
      <p:sp>
        <p:nvSpPr>
          <p:cNvPr id="6" name="primary-claim">
            <a:extLst xmlns:a="http://schemas.openxmlformats.org/drawingml/2006/main">
              <a:ext uri="{FF2B5EF4-FFF2-40B4-BE49-F238E27FC236}">
                <a16:creationId xmlns:a16="http://schemas.microsoft.com/office/drawing/2014/main" id="{90B7CCE4-37BD-4D70-9138-650546CAB8A2}"/>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925" b="1">
                <a:solidFill>
                  <a:srgbClr val="1D4ED8"/>
                </a:solidFill>
                <a:latin typeface="Helvetica Neue"/>
                <a:ea typeface="Helvetica Neue"/>
                <a:cs typeface="Helvetica Neue"/>
              </a:defRPr>
            </a:pPr>
            <a:r>
              <a:rPr sz="2925" b="1">
                <a:solidFill>
                  <a:srgbClr val="1D4ED8"/>
                </a:solidFill>
                <a:latin typeface="Helvetica Neue"/>
                <a:ea typeface="Helvetica Neue"/>
                <a:cs typeface="Helvetica Neue"/>
              </a:rPr>
              <a:t>The easiest representation for one question can make another question expensive or risky.</a:t>
            </a:r>
          </a:p>
        </p:txBody>
      </p:sp>
      <p:sp>
        <p:nvSpPr>
          <p:cNvPr id="7" name="">
            <a:extLst xmlns:a="http://schemas.openxmlformats.org/drawingml/2006/main">
              <a:ext uri="{FF2B5EF4-FFF2-40B4-BE49-F238E27FC236}">
                <a16:creationId xmlns:a16="http://schemas.microsoft.com/office/drawing/2014/main" id="{749361B6-BDE2-48BE-8ED7-6D078902BC7E}"/>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1D4ED8"/>
            </a:solidFill>
            <a:prstDash val="solid"/>
          </a:ln>
        </p:spPr>
      </p:sp>
      <p:sp>
        <p:nvSpPr>
          <p:cNvPr id="8" name="">
            <a:extLst xmlns:a="http://schemas.openxmlformats.org/drawingml/2006/main">
              <a:ext uri="{FF2B5EF4-FFF2-40B4-BE49-F238E27FC236}">
                <a16:creationId xmlns:a16="http://schemas.microsoft.com/office/drawing/2014/main" id="{EE33CE06-85CB-4979-AA61-8B92A4BA8124}"/>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SHAPE</a:t>
            </a:r>
          </a:p>
        </p:txBody>
      </p:sp>
      <p:sp>
        <p:nvSpPr>
          <p:cNvPr id="9" name="">
            <a:extLst xmlns:a="http://schemas.openxmlformats.org/drawingml/2006/main">
              <a:ext uri="{FF2B5EF4-FFF2-40B4-BE49-F238E27FC236}">
                <a16:creationId xmlns:a16="http://schemas.microsoft.com/office/drawing/2014/main" id="{447641FE-D0B5-475E-86E6-B4D1E080D6AC}"/>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Rows, documents, key-value entries, graphs, and vectors expose different structure.</a:t>
            </a:r>
          </a:p>
        </p:txBody>
      </p:sp>
      <p:sp>
        <p:nvSpPr>
          <p:cNvPr id="10" name="">
            <a:extLst xmlns:a="http://schemas.openxmlformats.org/drawingml/2006/main">
              <a:ext uri="{FF2B5EF4-FFF2-40B4-BE49-F238E27FC236}">
                <a16:creationId xmlns:a16="http://schemas.microsoft.com/office/drawing/2014/main" id="{C2BDDDF0-888C-47E5-90F6-BB65C8E1A216}"/>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5D6D5B1D-CDAA-4B85-8547-AC57B4F66D02}"/>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ACCESS</a:t>
            </a:r>
          </a:p>
        </p:txBody>
      </p:sp>
      <p:sp>
        <p:nvSpPr>
          <p:cNvPr id="12" name="">
            <a:extLst xmlns:a="http://schemas.openxmlformats.org/drawingml/2006/main">
              <a:ext uri="{FF2B5EF4-FFF2-40B4-BE49-F238E27FC236}">
                <a16:creationId xmlns:a16="http://schemas.microsoft.com/office/drawing/2014/main" id="{6E3600B4-92B4-4AFE-A4DD-8264D743CA53}"/>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Exact lookup, relationship traversal, aggregation, and similarity need different paths.</a:t>
            </a:r>
          </a:p>
        </p:txBody>
      </p:sp>
      <p:sp>
        <p:nvSpPr>
          <p:cNvPr id="13" name="">
            <a:extLst xmlns:a="http://schemas.openxmlformats.org/drawingml/2006/main">
              <a:ext uri="{FF2B5EF4-FFF2-40B4-BE49-F238E27FC236}">
                <a16:creationId xmlns:a16="http://schemas.microsoft.com/office/drawing/2014/main" id="{BA9FB569-8C78-4054-BAF0-F217D7BCF60D}"/>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4284C6C0-359B-4853-8488-278CFB2F76F8}"/>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OPERATIONS</a:t>
            </a:r>
          </a:p>
        </p:txBody>
      </p:sp>
      <p:sp>
        <p:nvSpPr>
          <p:cNvPr id="15" name="">
            <a:extLst xmlns:a="http://schemas.openxmlformats.org/drawingml/2006/main">
              <a:ext uri="{FF2B5EF4-FFF2-40B4-BE49-F238E27FC236}">
                <a16:creationId xmlns:a16="http://schemas.microsoft.com/office/drawing/2014/main" id="{E2656CD9-FE23-46BB-AA7D-E7473DAF0FAE}"/>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Updates, distribution, consistency, indexing, and recovery create different costs.</a:t>
            </a:r>
          </a:p>
        </p:txBody>
      </p:sp>
    </p:spTree>
    <p:extLst>
      <p:ext uri="{BB962C8B-B14F-4D97-AF65-F5344CB8AC3E}">
        <p14:creationId xmlns:p14="http://schemas.microsoft.com/office/powerpoint/2010/main" val="1672395561"/>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A65CF46-D681-4B65-ACC7-0A7C95B47B2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259FE863-1133-459C-8E51-D6935216858A}"/>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09  /  CST4714</a:t>
            </a:r>
          </a:p>
        </p:txBody>
      </p:sp>
      <p:sp>
        <p:nvSpPr>
          <p:cNvPr id="3" name="slide-title">
            <a:extLst xmlns:a="http://schemas.openxmlformats.org/drawingml/2006/main">
              <a:ext uri="{FF2B5EF4-FFF2-40B4-BE49-F238E27FC236}">
                <a16:creationId xmlns:a16="http://schemas.microsoft.com/office/drawing/2014/main" id="{BF2A20B2-7357-4624-B24B-94A52913F267}"/>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NoSQL evolved through several overlapping pressures</a:t>
            </a:r>
          </a:p>
        </p:txBody>
      </p:sp>
      <p:sp>
        <p:nvSpPr>
          <p:cNvPr id="4" name="">
            <a:extLst xmlns:a="http://schemas.openxmlformats.org/drawingml/2006/main">
              <a:ext uri="{FF2B5EF4-FFF2-40B4-BE49-F238E27FC236}">
                <a16:creationId xmlns:a16="http://schemas.microsoft.com/office/drawing/2014/main" id="{D91D4710-7B4D-426C-A308-537458CCE2D6}"/>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54F85BDF-26CA-4600-A1BF-F15E4AEB0DB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3</a:t>
            </a:r>
          </a:p>
        </p:txBody>
      </p:sp>
      <p:sp>
        <p:nvSpPr>
          <p:cNvPr id="6" name="source-note">
            <a:extLst xmlns:a="http://schemas.openxmlformats.org/drawingml/2006/main">
              <a:ext uri="{FF2B5EF4-FFF2-40B4-BE49-F238E27FC236}">
                <a16:creationId xmlns:a16="http://schemas.microsoft.com/office/drawing/2014/main" id="{CD175E31-63E4-4DED-9CBF-51EF8396E155}"/>
              </a:ext>
            </a:extLst>
          </p:cNvPr>
          <p:cNvSpPr>
            <a:spLocks xmlns:a="http://schemas.openxmlformats.org/drawingml/2006/main" noGrp="1"/>
          </p:cNvSpPr>
          <p:nvPr/>
        </p:nvSpPr>
        <p:spPr>
          <a:xfrm xmlns:a="http://schemas.openxmlformats.org/drawingml/2006/main">
            <a:off x="609600" y="6448425"/>
            <a:ext cx="914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750">
                <a:solidFill>
                  <a:srgbClr val="94A3B8"/>
                </a:solidFill>
                <a:latin typeface="Helvetica Neue"/>
                <a:ea typeface="Helvetica Neue"/>
                <a:cs typeface="Helvetica Neue"/>
              </a:defRPr>
            </a:pPr>
            <a:r>
              <a:rPr sz="750">
                <a:solidFill>
                  <a:srgbClr val="94A3B8"/>
                </a:solidFill>
                <a:latin typeface="Helvetica Neue"/>
                <a:ea typeface="Helvetica Neue"/>
                <a:cs typeface="Helvetica Neue"/>
              </a:rPr>
              <a:t>Historical anchors: Codd; Strozzi NoSQL; Google Bigtable; Amazon Dynamo; see Module 9 sources.</a:t>
            </a:r>
          </a:p>
        </p:txBody>
      </p:sp>
      <p:sp>
        <p:nvSpPr>
          <p:cNvPr id="7" name="">
            <a:extLst xmlns:a="http://schemas.openxmlformats.org/drawingml/2006/main">
              <a:ext uri="{FF2B5EF4-FFF2-40B4-BE49-F238E27FC236}">
                <a16:creationId xmlns:a16="http://schemas.microsoft.com/office/drawing/2014/main" id="{00C89889-D591-4FFA-AC1F-1F2A25D200E1}"/>
              </a:ext>
            </a:extLst>
          </p:cNvPr>
          <p:cNvSpPr>
            <a:spLocks xmlns:a="http://schemas.openxmlformats.org/drawingml/2006/main" noGrp="1"/>
          </p:cNvSpPr>
          <p:nvPr/>
        </p:nvSpPr>
        <p:spPr>
          <a:xfrm xmlns:a="http://schemas.openxmlformats.org/drawingml/2006/main">
            <a:off x="1524000" y="2952750"/>
            <a:ext cx="9144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 name="">
            <a:extLst xmlns:a="http://schemas.openxmlformats.org/drawingml/2006/main">
              <a:ext uri="{FF2B5EF4-FFF2-40B4-BE49-F238E27FC236}">
                <a16:creationId xmlns:a16="http://schemas.microsoft.com/office/drawing/2014/main" id="{2846EA52-1381-4721-A5C0-F18636F82F1E}"/>
              </a:ext>
            </a:extLst>
          </p:cNvPr>
          <p:cNvSpPr>
            <a:spLocks xmlns:a="http://schemas.openxmlformats.org/drawingml/2006/main" noGrp="1"/>
          </p:cNvSpPr>
          <p:nvPr/>
        </p:nvSpPr>
        <p:spPr>
          <a:xfrm xmlns:a="http://schemas.openxmlformats.org/drawingml/2006/main">
            <a:off x="1381125" y="2809875"/>
            <a:ext cx="285750" cy="285750"/>
          </a:xfrm>
          <a:prstGeom xmlns:a="http://schemas.openxmlformats.org/drawingml/2006/main" prst="ellipse">
            <a:avLst/>
          </a:prstGeom>
          <a:solidFill xmlns:a="http://schemas.openxmlformats.org/drawingml/2006/main">
            <a:srgbClr val="1D4ED8"/>
          </a:solidFill>
          <a:ln xmlns:a="http://schemas.openxmlformats.org/drawingml/2006/main" w="28575">
            <a:solidFill>
              <a:srgbClr val="1D4ED8"/>
            </a:solidFill>
            <a:prstDash val="solid"/>
          </a:ln>
        </p:spPr>
      </p:sp>
      <p:sp>
        <p:nvSpPr>
          <p:cNvPr id="9" name="">
            <a:extLst xmlns:a="http://schemas.openxmlformats.org/drawingml/2006/main">
              <a:ext uri="{FF2B5EF4-FFF2-40B4-BE49-F238E27FC236}">
                <a16:creationId xmlns:a16="http://schemas.microsoft.com/office/drawing/2014/main" id="{0DCA7350-C904-4B51-B9DE-B9E9E04492F2}"/>
              </a:ext>
            </a:extLst>
          </p:cNvPr>
          <p:cNvSpPr>
            <a:spLocks xmlns:a="http://schemas.openxmlformats.org/drawingml/2006/main" noGrp="1"/>
          </p:cNvSpPr>
          <p:nvPr/>
        </p:nvSpPr>
        <p:spPr>
          <a:xfrm xmlns:a="http://schemas.openxmlformats.org/drawingml/2006/main">
            <a:off x="1409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10" name="">
            <a:extLst xmlns:a="http://schemas.openxmlformats.org/drawingml/2006/main">
              <a:ext uri="{FF2B5EF4-FFF2-40B4-BE49-F238E27FC236}">
                <a16:creationId xmlns:a16="http://schemas.microsoft.com/office/drawing/2014/main" id="{3B9E4899-635E-4FB9-96EA-F6B40927EED3}"/>
              </a:ext>
            </a:extLst>
          </p:cNvPr>
          <p:cNvSpPr>
            <a:spLocks xmlns:a="http://schemas.openxmlformats.org/drawingml/2006/main" noGrp="1"/>
          </p:cNvSpPr>
          <p:nvPr/>
        </p:nvSpPr>
        <p:spPr>
          <a:xfrm xmlns:a="http://schemas.openxmlformats.org/drawingml/2006/main">
            <a:off x="685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1970s</a:t>
            </a:r>
          </a:p>
        </p:txBody>
      </p:sp>
      <p:sp>
        <p:nvSpPr>
          <p:cNvPr id="11" name="">
            <a:extLst xmlns:a="http://schemas.openxmlformats.org/drawingml/2006/main">
              <a:ext uri="{FF2B5EF4-FFF2-40B4-BE49-F238E27FC236}">
                <a16:creationId xmlns:a16="http://schemas.microsoft.com/office/drawing/2014/main" id="{09834E7A-C318-401E-8BFB-D9ACD3E0D8F3}"/>
              </a:ext>
            </a:extLst>
          </p:cNvPr>
          <p:cNvSpPr>
            <a:spLocks xmlns:a="http://schemas.openxmlformats.org/drawingml/2006/main" noGrp="1"/>
          </p:cNvSpPr>
          <p:nvPr/>
        </p:nvSpPr>
        <p:spPr>
          <a:xfrm xmlns:a="http://schemas.openxmlformats.org/drawingml/2006/main">
            <a:off x="647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Relational theory separates logical questions from physical storage</a:t>
            </a:r>
          </a:p>
        </p:txBody>
      </p:sp>
      <p:sp>
        <p:nvSpPr>
          <p:cNvPr id="12" name="">
            <a:extLst xmlns:a="http://schemas.openxmlformats.org/drawingml/2006/main">
              <a:ext uri="{FF2B5EF4-FFF2-40B4-BE49-F238E27FC236}">
                <a16:creationId xmlns:a16="http://schemas.microsoft.com/office/drawing/2014/main" id="{A1BFAE66-6D92-4077-9F60-567DF58B4E07}"/>
              </a:ext>
            </a:extLst>
          </p:cNvPr>
          <p:cNvSpPr>
            <a:spLocks xmlns:a="http://schemas.openxmlformats.org/drawingml/2006/main" noGrp="1"/>
          </p:cNvSpPr>
          <p:nvPr/>
        </p:nvSpPr>
        <p:spPr>
          <a:xfrm xmlns:a="http://schemas.openxmlformats.org/drawingml/2006/main">
            <a:off x="3667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13" name="">
            <a:extLst xmlns:a="http://schemas.openxmlformats.org/drawingml/2006/main">
              <a:ext uri="{FF2B5EF4-FFF2-40B4-BE49-F238E27FC236}">
                <a16:creationId xmlns:a16="http://schemas.microsoft.com/office/drawing/2014/main" id="{9C5A6F7E-09CF-4A89-AA43-1665A6B53C51}"/>
              </a:ext>
            </a:extLst>
          </p:cNvPr>
          <p:cNvSpPr>
            <a:spLocks xmlns:a="http://schemas.openxmlformats.org/drawingml/2006/main" noGrp="1"/>
          </p:cNvSpPr>
          <p:nvPr/>
        </p:nvSpPr>
        <p:spPr>
          <a:xfrm xmlns:a="http://schemas.openxmlformats.org/drawingml/2006/main">
            <a:off x="3695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2</a:t>
            </a:r>
          </a:p>
        </p:txBody>
      </p:sp>
      <p:sp>
        <p:nvSpPr>
          <p:cNvPr id="14" name="">
            <a:extLst xmlns:a="http://schemas.openxmlformats.org/drawingml/2006/main">
              <a:ext uri="{FF2B5EF4-FFF2-40B4-BE49-F238E27FC236}">
                <a16:creationId xmlns:a16="http://schemas.microsoft.com/office/drawing/2014/main" id="{88545BB4-212B-45B9-BC26-58CBAF6162B1}"/>
              </a:ext>
            </a:extLst>
          </p:cNvPr>
          <p:cNvSpPr>
            <a:spLocks xmlns:a="http://schemas.openxmlformats.org/drawingml/2006/main" noGrp="1"/>
          </p:cNvSpPr>
          <p:nvPr/>
        </p:nvSpPr>
        <p:spPr>
          <a:xfrm xmlns:a="http://schemas.openxmlformats.org/drawingml/2006/main">
            <a:off x="2971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1998</a:t>
            </a:r>
          </a:p>
        </p:txBody>
      </p:sp>
      <p:sp>
        <p:nvSpPr>
          <p:cNvPr id="15" name="">
            <a:extLst xmlns:a="http://schemas.openxmlformats.org/drawingml/2006/main">
              <a:ext uri="{FF2B5EF4-FFF2-40B4-BE49-F238E27FC236}">
                <a16:creationId xmlns:a16="http://schemas.microsoft.com/office/drawing/2014/main" id="{69C9FD92-79DF-4C1A-9F46-9D3E5C578DB2}"/>
              </a:ext>
            </a:extLst>
          </p:cNvPr>
          <p:cNvSpPr>
            <a:spLocks xmlns:a="http://schemas.openxmlformats.org/drawingml/2006/main" noGrp="1"/>
          </p:cNvSpPr>
          <p:nvPr/>
        </p:nvSpPr>
        <p:spPr>
          <a:xfrm xmlns:a="http://schemas.openxmlformats.org/drawingml/2006/main">
            <a:off x="2933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Carlo Strozzi uses NoSQL for a non-SQL relational system</a:t>
            </a:r>
          </a:p>
        </p:txBody>
      </p:sp>
      <p:sp>
        <p:nvSpPr>
          <p:cNvPr id="16" name="">
            <a:extLst xmlns:a="http://schemas.openxmlformats.org/drawingml/2006/main">
              <a:ext uri="{FF2B5EF4-FFF2-40B4-BE49-F238E27FC236}">
                <a16:creationId xmlns:a16="http://schemas.microsoft.com/office/drawing/2014/main" id="{58B4AC91-C09D-42DF-B4AF-48554AF8BBC3}"/>
              </a:ext>
            </a:extLst>
          </p:cNvPr>
          <p:cNvSpPr>
            <a:spLocks xmlns:a="http://schemas.openxmlformats.org/drawingml/2006/main" noGrp="1"/>
          </p:cNvSpPr>
          <p:nvPr/>
        </p:nvSpPr>
        <p:spPr>
          <a:xfrm xmlns:a="http://schemas.openxmlformats.org/drawingml/2006/main">
            <a:off x="5953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17" name="">
            <a:extLst xmlns:a="http://schemas.openxmlformats.org/drawingml/2006/main">
              <a:ext uri="{FF2B5EF4-FFF2-40B4-BE49-F238E27FC236}">
                <a16:creationId xmlns:a16="http://schemas.microsoft.com/office/drawing/2014/main" id="{DDB3A3F8-EBA2-4328-91F2-89903232C594}"/>
              </a:ext>
            </a:extLst>
          </p:cNvPr>
          <p:cNvSpPr>
            <a:spLocks xmlns:a="http://schemas.openxmlformats.org/drawingml/2006/main" noGrp="1"/>
          </p:cNvSpPr>
          <p:nvPr/>
        </p:nvSpPr>
        <p:spPr>
          <a:xfrm xmlns:a="http://schemas.openxmlformats.org/drawingml/2006/main">
            <a:off x="5981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7252A632-E0B3-41E5-A7AA-2A5AD9BF521B}"/>
              </a:ext>
            </a:extLst>
          </p:cNvPr>
          <p:cNvSpPr>
            <a:spLocks xmlns:a="http://schemas.openxmlformats.org/drawingml/2006/main" noGrp="1"/>
          </p:cNvSpPr>
          <p:nvPr/>
        </p:nvSpPr>
        <p:spPr>
          <a:xfrm xmlns:a="http://schemas.openxmlformats.org/drawingml/2006/main">
            <a:off x="5257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2000s</a:t>
            </a:r>
          </a:p>
        </p:txBody>
      </p:sp>
      <p:sp>
        <p:nvSpPr>
          <p:cNvPr id="19" name="">
            <a:extLst xmlns:a="http://schemas.openxmlformats.org/drawingml/2006/main">
              <a:ext uri="{FF2B5EF4-FFF2-40B4-BE49-F238E27FC236}">
                <a16:creationId xmlns:a16="http://schemas.microsoft.com/office/drawing/2014/main" id="{18353E1A-F655-4088-B950-266F1CAF5E6B}"/>
              </a:ext>
            </a:extLst>
          </p:cNvPr>
          <p:cNvSpPr>
            <a:spLocks xmlns:a="http://schemas.openxmlformats.org/drawingml/2006/main" noGrp="1"/>
          </p:cNvSpPr>
          <p:nvPr/>
        </p:nvSpPr>
        <p:spPr>
          <a:xfrm xmlns:a="http://schemas.openxmlformats.org/drawingml/2006/main">
            <a:off x="5219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Web-scale workloads drive Bigtable, Dynamo, and distributed design</a:t>
            </a:r>
          </a:p>
        </p:txBody>
      </p:sp>
      <p:sp>
        <p:nvSpPr>
          <p:cNvPr id="20" name="">
            <a:extLst xmlns:a="http://schemas.openxmlformats.org/drawingml/2006/main">
              <a:ext uri="{FF2B5EF4-FFF2-40B4-BE49-F238E27FC236}">
                <a16:creationId xmlns:a16="http://schemas.microsoft.com/office/drawing/2014/main" id="{D7842544-FC52-41FD-89D1-38061822FD6D}"/>
              </a:ext>
            </a:extLst>
          </p:cNvPr>
          <p:cNvSpPr>
            <a:spLocks xmlns:a="http://schemas.openxmlformats.org/drawingml/2006/main" noGrp="1"/>
          </p:cNvSpPr>
          <p:nvPr/>
        </p:nvSpPr>
        <p:spPr>
          <a:xfrm xmlns:a="http://schemas.openxmlformats.org/drawingml/2006/main">
            <a:off x="8239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21" name="">
            <a:extLst xmlns:a="http://schemas.openxmlformats.org/drawingml/2006/main">
              <a:ext uri="{FF2B5EF4-FFF2-40B4-BE49-F238E27FC236}">
                <a16:creationId xmlns:a16="http://schemas.microsoft.com/office/drawing/2014/main" id="{05BD2E09-5760-4F17-A98B-4BEED6709CA7}"/>
              </a:ext>
            </a:extLst>
          </p:cNvPr>
          <p:cNvSpPr>
            <a:spLocks xmlns:a="http://schemas.openxmlformats.org/drawingml/2006/main" noGrp="1"/>
          </p:cNvSpPr>
          <p:nvPr/>
        </p:nvSpPr>
        <p:spPr>
          <a:xfrm xmlns:a="http://schemas.openxmlformats.org/drawingml/2006/main">
            <a:off x="8267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4</a:t>
            </a:r>
          </a:p>
        </p:txBody>
      </p:sp>
      <p:sp>
        <p:nvSpPr>
          <p:cNvPr id="22" name="">
            <a:extLst xmlns:a="http://schemas.openxmlformats.org/drawingml/2006/main">
              <a:ext uri="{FF2B5EF4-FFF2-40B4-BE49-F238E27FC236}">
                <a16:creationId xmlns:a16="http://schemas.microsoft.com/office/drawing/2014/main" id="{FD440B6E-1AE9-47C5-867D-B3235A2202BE}"/>
              </a:ext>
            </a:extLst>
          </p:cNvPr>
          <p:cNvSpPr>
            <a:spLocks xmlns:a="http://schemas.openxmlformats.org/drawingml/2006/main" noGrp="1"/>
          </p:cNvSpPr>
          <p:nvPr/>
        </p:nvSpPr>
        <p:spPr>
          <a:xfrm xmlns:a="http://schemas.openxmlformats.org/drawingml/2006/main">
            <a:off x="7543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2009</a:t>
            </a:r>
          </a:p>
        </p:txBody>
      </p:sp>
      <p:sp>
        <p:nvSpPr>
          <p:cNvPr id="23" name="">
            <a:extLst xmlns:a="http://schemas.openxmlformats.org/drawingml/2006/main">
              <a:ext uri="{FF2B5EF4-FFF2-40B4-BE49-F238E27FC236}">
                <a16:creationId xmlns:a16="http://schemas.microsoft.com/office/drawing/2014/main" id="{69102F3C-F33B-49F7-BBE4-18686EB1ABCE}"/>
              </a:ext>
            </a:extLst>
          </p:cNvPr>
          <p:cNvSpPr>
            <a:spLocks xmlns:a="http://schemas.openxmlformats.org/drawingml/2006/main" noGrp="1"/>
          </p:cNvSpPr>
          <p:nvPr/>
        </p:nvSpPr>
        <p:spPr>
          <a:xfrm xmlns:a="http://schemas.openxmlformats.org/drawingml/2006/main">
            <a:off x="7505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NoSQL becomes a broad community label for nonrelational stores</a:t>
            </a:r>
          </a:p>
        </p:txBody>
      </p:sp>
      <p:sp>
        <p:nvSpPr>
          <p:cNvPr id="24" name="">
            <a:extLst xmlns:a="http://schemas.openxmlformats.org/drawingml/2006/main">
              <a:ext uri="{FF2B5EF4-FFF2-40B4-BE49-F238E27FC236}">
                <a16:creationId xmlns:a16="http://schemas.microsoft.com/office/drawing/2014/main" id="{04C20BCD-706A-47AA-8563-7BDAC839414D}"/>
              </a:ext>
            </a:extLst>
          </p:cNvPr>
          <p:cNvSpPr>
            <a:spLocks xmlns:a="http://schemas.openxmlformats.org/drawingml/2006/main" noGrp="1"/>
          </p:cNvSpPr>
          <p:nvPr/>
        </p:nvSpPr>
        <p:spPr>
          <a:xfrm xmlns:a="http://schemas.openxmlformats.org/drawingml/2006/main">
            <a:off x="10525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25" name="">
            <a:extLst xmlns:a="http://schemas.openxmlformats.org/drawingml/2006/main">
              <a:ext uri="{FF2B5EF4-FFF2-40B4-BE49-F238E27FC236}">
                <a16:creationId xmlns:a16="http://schemas.microsoft.com/office/drawing/2014/main" id="{ABFB9388-C7E7-448D-8769-29BC6C5ED7D5}"/>
              </a:ext>
            </a:extLst>
          </p:cNvPr>
          <p:cNvSpPr>
            <a:spLocks xmlns:a="http://schemas.openxmlformats.org/drawingml/2006/main" noGrp="1"/>
          </p:cNvSpPr>
          <p:nvPr/>
        </p:nvSpPr>
        <p:spPr>
          <a:xfrm xmlns:a="http://schemas.openxmlformats.org/drawingml/2006/main">
            <a:off x="10553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5</a:t>
            </a:r>
          </a:p>
        </p:txBody>
      </p:sp>
      <p:sp>
        <p:nvSpPr>
          <p:cNvPr id="26" name="">
            <a:extLst xmlns:a="http://schemas.openxmlformats.org/drawingml/2006/main">
              <a:ext uri="{FF2B5EF4-FFF2-40B4-BE49-F238E27FC236}">
                <a16:creationId xmlns:a16="http://schemas.microsoft.com/office/drawing/2014/main" id="{A6B6C5BF-AA96-42CC-8CBB-D2439A7E324F}"/>
              </a:ext>
            </a:extLst>
          </p:cNvPr>
          <p:cNvSpPr>
            <a:spLocks xmlns:a="http://schemas.openxmlformats.org/drawingml/2006/main" noGrp="1"/>
          </p:cNvSpPr>
          <p:nvPr/>
        </p:nvSpPr>
        <p:spPr>
          <a:xfrm xmlns:a="http://schemas.openxmlformats.org/drawingml/2006/main">
            <a:off x="9829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Today</a:t>
            </a:r>
          </a:p>
        </p:txBody>
      </p:sp>
      <p:sp>
        <p:nvSpPr>
          <p:cNvPr id="27" name="">
            <a:extLst xmlns:a="http://schemas.openxmlformats.org/drawingml/2006/main">
              <a:ext uri="{FF2B5EF4-FFF2-40B4-BE49-F238E27FC236}">
                <a16:creationId xmlns:a16="http://schemas.microsoft.com/office/drawing/2014/main" id="{4BD1A639-C710-497C-A075-69D8F2EE16B0}"/>
              </a:ext>
            </a:extLst>
          </p:cNvPr>
          <p:cNvSpPr>
            <a:spLocks xmlns:a="http://schemas.openxmlformats.org/drawingml/2006/main" noGrp="1"/>
          </p:cNvSpPr>
          <p:nvPr/>
        </p:nvSpPr>
        <p:spPr>
          <a:xfrm xmlns:a="http://schemas.openxmlformats.org/drawingml/2006/main">
            <a:off x="9791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Cloud, multi-model, streaming, search, and vector systems overlap</a:t>
            </a:r>
          </a:p>
        </p:txBody>
      </p:sp>
      <p:sp>
        <p:nvSpPr>
          <p:cNvPr id="28" name="">
            <a:extLst xmlns:a="http://schemas.openxmlformats.org/drawingml/2006/main">
              <a:ext uri="{FF2B5EF4-FFF2-40B4-BE49-F238E27FC236}">
                <a16:creationId xmlns:a16="http://schemas.microsoft.com/office/drawing/2014/main" id="{CC355FCA-EAE0-411B-9EA2-E44A6A0C0B95}"/>
              </a:ext>
            </a:extLst>
          </p:cNvPr>
          <p:cNvSpPr>
            <a:spLocks xmlns:a="http://schemas.openxmlformats.org/drawingml/2006/main" noGrp="1"/>
          </p:cNvSpPr>
          <p:nvPr/>
        </p:nvSpPr>
        <p:spPr>
          <a:xfrm xmlns:a="http://schemas.openxmlformats.org/drawingml/2006/main">
            <a:off x="914400" y="161925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The label collected different systems; it did not define one shared data model.</a:t>
            </a:r>
          </a:p>
        </p:txBody>
      </p:sp>
    </p:spTree>
    <p:extLst>
      <p:ext uri="{BB962C8B-B14F-4D97-AF65-F5344CB8AC3E}">
        <p14:creationId xmlns:p14="http://schemas.microsoft.com/office/powerpoint/2010/main" val="1038665252"/>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03FFA5C-1374-4E1E-9F36-6B997B4AA09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40F4CD5B-43E3-41DF-88E5-9D89BD31EEF3}"/>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09  /  CST4714</a:t>
            </a:r>
          </a:p>
        </p:txBody>
      </p:sp>
      <p:sp>
        <p:nvSpPr>
          <p:cNvPr id="3" name="slide-title">
            <a:extLst xmlns:a="http://schemas.openxmlformats.org/drawingml/2006/main">
              <a:ext uri="{FF2B5EF4-FFF2-40B4-BE49-F238E27FC236}">
                <a16:creationId xmlns:a16="http://schemas.microsoft.com/office/drawing/2014/main" id="{BED8C43E-481E-448F-8FE8-9DAAFA007900}"/>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Relational strengths remain valuable in a multi-model world</a:t>
            </a:r>
          </a:p>
        </p:txBody>
      </p:sp>
      <p:sp>
        <p:nvSpPr>
          <p:cNvPr id="4" name="">
            <a:extLst xmlns:a="http://schemas.openxmlformats.org/drawingml/2006/main">
              <a:ext uri="{FF2B5EF4-FFF2-40B4-BE49-F238E27FC236}">
                <a16:creationId xmlns:a16="http://schemas.microsoft.com/office/drawing/2014/main" id="{AF9D6AE2-CCFD-4E7F-962C-8491C12463E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0082C85D-81F5-4C1E-A86D-3CA382F7DFE3}"/>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4</a:t>
            </a:r>
          </a:p>
        </p:txBody>
      </p:sp>
      <p:sp>
        <p:nvSpPr>
          <p:cNvPr id="6" name="">
            <a:extLst xmlns:a="http://schemas.openxmlformats.org/drawingml/2006/main">
              <a:ext uri="{FF2B5EF4-FFF2-40B4-BE49-F238E27FC236}">
                <a16:creationId xmlns:a16="http://schemas.microsoft.com/office/drawing/2014/main" id="{664C9F49-C30F-493C-B601-4AED40B0E25E}"/>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D4ED8"/>
                </a:solidFill>
                <a:latin typeface="Helvetica Neue"/>
                <a:ea typeface="Helvetica Neue"/>
                <a:cs typeface="Helvetica Neue"/>
              </a:defRPr>
            </a:pPr>
            <a:r>
              <a:rPr sz="1950" b="1">
                <a:solidFill>
                  <a:srgbClr val="1D4ED8"/>
                </a:solidFill>
                <a:latin typeface="Helvetica Neue"/>
                <a:ea typeface="Helvetica Neue"/>
                <a:cs typeface="Helvetica Neue"/>
              </a:rPr>
              <a:t>Relational model excels when</a:t>
            </a:r>
          </a:p>
        </p:txBody>
      </p:sp>
      <p:sp>
        <p:nvSpPr>
          <p:cNvPr id="7" name="">
            <a:extLst xmlns:a="http://schemas.openxmlformats.org/drawingml/2006/main">
              <a:ext uri="{FF2B5EF4-FFF2-40B4-BE49-F238E27FC236}">
                <a16:creationId xmlns:a16="http://schemas.microsoft.com/office/drawing/2014/main" id="{BAF8ABE1-C4CD-4393-80A1-7DF50D478DC6}"/>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Another model may help when</a:t>
            </a:r>
          </a:p>
        </p:txBody>
      </p:sp>
      <p:sp>
        <p:nvSpPr>
          <p:cNvPr id="8" name="">
            <a:extLst xmlns:a="http://schemas.openxmlformats.org/drawingml/2006/main">
              <a:ext uri="{FF2B5EF4-FFF2-40B4-BE49-F238E27FC236}">
                <a16:creationId xmlns:a16="http://schemas.microsoft.com/office/drawing/2014/main" id="{E6F16D1A-C52F-4FC1-A74D-369DA0A83B96}"/>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79CD8FFC-D5B5-4CC5-8A1F-3CCD2D666548}"/>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526F3E75-5231-44CF-8475-4EB4820AFF9B}"/>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Facts and relationships benefit from explicit constraints</a:t>
            </a:r>
          </a:p>
        </p:txBody>
      </p:sp>
      <p:sp>
        <p:nvSpPr>
          <p:cNvPr id="11" name="">
            <a:extLst xmlns:a="http://schemas.openxmlformats.org/drawingml/2006/main">
              <a:ext uri="{FF2B5EF4-FFF2-40B4-BE49-F238E27FC236}">
                <a16:creationId xmlns:a16="http://schemas.microsoft.com/office/drawing/2014/main" id="{DF36F3EC-2AA1-4BF6-A65A-21FB30885FDD}"/>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2" name="">
            <a:extLst xmlns:a="http://schemas.openxmlformats.org/drawingml/2006/main">
              <a:ext uri="{FF2B5EF4-FFF2-40B4-BE49-F238E27FC236}">
                <a16:creationId xmlns:a16="http://schemas.microsoft.com/office/drawing/2014/main" id="{52169B6C-DC5F-41C4-AD60-B743C4285718}"/>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Many queries combine data in changing ways</a:t>
            </a:r>
          </a:p>
        </p:txBody>
      </p:sp>
      <p:sp>
        <p:nvSpPr>
          <p:cNvPr id="13" name="">
            <a:extLst xmlns:a="http://schemas.openxmlformats.org/drawingml/2006/main">
              <a:ext uri="{FF2B5EF4-FFF2-40B4-BE49-F238E27FC236}">
                <a16:creationId xmlns:a16="http://schemas.microsoft.com/office/drawing/2014/main" id="{01745D37-02BA-46C7-B992-A41A569AFA6A}"/>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4" name="">
            <a:extLst xmlns:a="http://schemas.openxmlformats.org/drawingml/2006/main">
              <a:ext uri="{FF2B5EF4-FFF2-40B4-BE49-F238E27FC236}">
                <a16:creationId xmlns:a16="http://schemas.microsoft.com/office/drawing/2014/main" id="{623086B0-B61A-4A73-BC53-30244439B7F2}"/>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Transactions protect coordinated updates across relations</a:t>
            </a:r>
          </a:p>
        </p:txBody>
      </p:sp>
      <p:sp>
        <p:nvSpPr>
          <p:cNvPr id="15" name="">
            <a:extLst xmlns:a="http://schemas.openxmlformats.org/drawingml/2006/main">
              <a:ext uri="{FF2B5EF4-FFF2-40B4-BE49-F238E27FC236}">
                <a16:creationId xmlns:a16="http://schemas.microsoft.com/office/drawing/2014/main" id="{DC912E6C-ADF8-45F1-A29B-05A34009E5D1}"/>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10B29BF1-31B6-40A6-843C-2A2E32322D14}"/>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The dominant access path is a direct key or nested aggregate</a:t>
            </a:r>
          </a:p>
        </p:txBody>
      </p:sp>
      <p:sp>
        <p:nvSpPr>
          <p:cNvPr id="17" name="">
            <a:extLst xmlns:a="http://schemas.openxmlformats.org/drawingml/2006/main">
              <a:ext uri="{FF2B5EF4-FFF2-40B4-BE49-F238E27FC236}">
                <a16:creationId xmlns:a16="http://schemas.microsoft.com/office/drawing/2014/main" id="{A15859EC-096D-4C0E-AA4A-C4429F044783}"/>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49CA3D09-F39B-4041-B1C3-FFA5D0799CF0}"/>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Relationship traversal or similarity is the primary question</a:t>
            </a:r>
          </a:p>
        </p:txBody>
      </p:sp>
      <p:sp>
        <p:nvSpPr>
          <p:cNvPr id="19" name="">
            <a:extLst xmlns:a="http://schemas.openxmlformats.org/drawingml/2006/main">
              <a:ext uri="{FF2B5EF4-FFF2-40B4-BE49-F238E27FC236}">
                <a16:creationId xmlns:a16="http://schemas.microsoft.com/office/drawing/2014/main" id="{60724384-038F-429A-BCFA-A0B41CB7DD9D}"/>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998AA654-0D15-42D5-A918-24056787D521}"/>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Distribution and evolution requirements favor a specialized representation</a:t>
            </a:r>
          </a:p>
        </p:txBody>
      </p:sp>
    </p:spTree>
    <p:extLst>
      <p:ext uri="{BB962C8B-B14F-4D97-AF65-F5344CB8AC3E}">
        <p14:creationId xmlns:p14="http://schemas.microsoft.com/office/powerpoint/2010/main" val="386440850"/>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5378541-7F63-4142-B3ED-90F95AC663F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B0B11DCF-28D8-44D9-B14A-9FEED35CB9C6}"/>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09  /  CST4714</a:t>
            </a:r>
          </a:p>
        </p:txBody>
      </p:sp>
      <p:sp>
        <p:nvSpPr>
          <p:cNvPr id="3" name="slide-title">
            <a:extLst xmlns:a="http://schemas.openxmlformats.org/drawingml/2006/main">
              <a:ext uri="{FF2B5EF4-FFF2-40B4-BE49-F238E27FC236}">
                <a16:creationId xmlns:a16="http://schemas.microsoft.com/office/drawing/2014/main" id="{CC33B17E-16EE-4CFE-BE13-1B606817B928}"/>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Key-value stores optimize access through a known key</a:t>
            </a:r>
          </a:p>
        </p:txBody>
      </p:sp>
      <p:sp>
        <p:nvSpPr>
          <p:cNvPr id="4" name="">
            <a:extLst xmlns:a="http://schemas.openxmlformats.org/drawingml/2006/main">
              <a:ext uri="{FF2B5EF4-FFF2-40B4-BE49-F238E27FC236}">
                <a16:creationId xmlns:a16="http://schemas.microsoft.com/office/drawing/2014/main" id="{0071FB2A-1731-4316-88CA-E6B17D38E717}"/>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E582F3DE-DD7E-4D59-A678-1D420A1D0D5E}"/>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5</a:t>
            </a:r>
          </a:p>
        </p:txBody>
      </p:sp>
      <p:sp>
        <p:nvSpPr>
          <p:cNvPr id="6" name="">
            <a:extLst xmlns:a="http://schemas.openxmlformats.org/drawingml/2006/main">
              <a:ext uri="{FF2B5EF4-FFF2-40B4-BE49-F238E27FC236}">
                <a16:creationId xmlns:a16="http://schemas.microsoft.com/office/drawing/2014/main" id="{4CD9CD28-8062-4ADD-8B06-267BA545F5A8}"/>
              </a:ext>
            </a:extLst>
          </p:cNvPr>
          <p:cNvSpPr>
            <a:spLocks xmlns:a="http://schemas.openxmlformats.org/drawingml/2006/main" noGrp="1"/>
          </p:cNvSpPr>
          <p:nvPr/>
        </p:nvSpPr>
        <p:spPr>
          <a:xfrm xmlns:a="http://schemas.openxmlformats.org/drawingml/2006/main">
            <a:off x="2000250" y="2667000"/>
            <a:ext cx="4000500" cy="0"/>
          </a:xfrm>
          <a:prstGeom xmlns:a="http://schemas.openxmlformats.org/drawingml/2006/main" prst="line">
            <a:avLst/>
          </a:prstGeom>
          <a:noFill xmlns:a="http://schemas.openxmlformats.org/drawingml/2006/main"/>
          <a:ln xmlns:a="http://schemas.openxmlformats.org/drawingml/2006/main" w="28575">
            <a:solidFill>
              <a:srgbClr val="1D4ED8"/>
            </a:solidFill>
            <a:prstDash val="solid"/>
          </a:ln>
        </p:spPr>
      </p:sp>
      <p:sp>
        <p:nvSpPr>
          <p:cNvPr id="7" name="">
            <a:extLst xmlns:a="http://schemas.openxmlformats.org/drawingml/2006/main">
              <a:ext uri="{FF2B5EF4-FFF2-40B4-BE49-F238E27FC236}">
                <a16:creationId xmlns:a16="http://schemas.microsoft.com/office/drawing/2014/main" id="{B554C888-ADD9-47C7-8A0B-320212664FB0}"/>
              </a:ext>
            </a:extLst>
          </p:cNvPr>
          <p:cNvSpPr>
            <a:spLocks xmlns:a="http://schemas.openxmlformats.org/drawingml/2006/main" noGrp="1"/>
          </p:cNvSpPr>
          <p:nvPr/>
        </p:nvSpPr>
        <p:spPr>
          <a:xfrm xmlns:a="http://schemas.openxmlformats.org/drawingml/2006/main">
            <a:off x="6000750" y="2667000"/>
            <a:ext cx="4095750" cy="0"/>
          </a:xfrm>
          <a:prstGeom xmlns:a="http://schemas.openxmlformats.org/drawingml/2006/main" prst="line">
            <a:avLst/>
          </a:prstGeom>
          <a:noFill xmlns:a="http://schemas.openxmlformats.org/drawingml/2006/main"/>
          <a:ln xmlns:a="http://schemas.openxmlformats.org/drawingml/2006/main" w="28575">
            <a:solidFill>
              <a:srgbClr val="1D4ED8"/>
            </a:solidFill>
            <a:prstDash val="solid"/>
          </a:ln>
        </p:spPr>
      </p:sp>
      <p:sp>
        <p:nvSpPr>
          <p:cNvPr id="8" name="">
            <a:extLst xmlns:a="http://schemas.openxmlformats.org/drawingml/2006/main">
              <a:ext uri="{FF2B5EF4-FFF2-40B4-BE49-F238E27FC236}">
                <a16:creationId xmlns:a16="http://schemas.microsoft.com/office/drawing/2014/main" id="{A3394EE6-E195-49D4-8565-6485258703C9}"/>
              </a:ext>
            </a:extLst>
          </p:cNvPr>
          <p:cNvSpPr>
            <a:spLocks xmlns:a="http://schemas.openxmlformats.org/drawingml/2006/main" noGrp="1"/>
          </p:cNvSpPr>
          <p:nvPr/>
        </p:nvSpPr>
        <p:spPr>
          <a:xfrm xmlns:a="http://schemas.openxmlformats.org/drawingml/2006/main">
            <a:off x="762000" y="2190750"/>
            <a:ext cx="2476500" cy="952500"/>
          </a:xfrm>
          <a:prstGeom xmlns:a="http://schemas.openxmlformats.org/drawingml/2006/main" prst="rect">
            <a:avLst/>
          </a:prstGeom>
          <a:solidFill xmlns:a="http://schemas.openxmlformats.org/drawingml/2006/main">
            <a:srgbClr val="1D4ED8"/>
          </a:solidFill>
          <a:ln xmlns:a="http://schemas.openxmlformats.org/drawingml/2006/main" w="9525">
            <a:solidFill>
              <a:srgbClr val="1D4ED8"/>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Key</a:t>
            </a:r>
          </a:p>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session:8f21</a:t>
            </a:r>
          </a:p>
        </p:txBody>
      </p:sp>
      <p:sp>
        <p:nvSpPr>
          <p:cNvPr id="9" name="">
            <a:extLst xmlns:a="http://schemas.openxmlformats.org/drawingml/2006/main">
              <a:ext uri="{FF2B5EF4-FFF2-40B4-BE49-F238E27FC236}">
                <a16:creationId xmlns:a16="http://schemas.microsoft.com/office/drawing/2014/main" id="{EE3CFFBE-9AA1-4B5B-844B-9CF930B219D2}"/>
              </a:ext>
            </a:extLst>
          </p:cNvPr>
          <p:cNvSpPr>
            <a:spLocks xmlns:a="http://schemas.openxmlformats.org/drawingml/2006/main" noGrp="1"/>
          </p:cNvSpPr>
          <p:nvPr/>
        </p:nvSpPr>
        <p:spPr>
          <a:xfrm xmlns:a="http://schemas.openxmlformats.org/drawingml/2006/main">
            <a:off x="4762500" y="2190750"/>
            <a:ext cx="24765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Lookup / write</a:t>
            </a:r>
          </a:p>
        </p:txBody>
      </p:sp>
      <p:sp>
        <p:nvSpPr>
          <p:cNvPr id="10" name="">
            <a:extLst xmlns:a="http://schemas.openxmlformats.org/drawingml/2006/main">
              <a:ext uri="{FF2B5EF4-FFF2-40B4-BE49-F238E27FC236}">
                <a16:creationId xmlns:a16="http://schemas.microsoft.com/office/drawing/2014/main" id="{BE215EA1-CD4B-4232-8D78-081544A2FACB}"/>
              </a:ext>
            </a:extLst>
          </p:cNvPr>
          <p:cNvSpPr>
            <a:spLocks xmlns:a="http://schemas.openxmlformats.org/drawingml/2006/main" noGrp="1"/>
          </p:cNvSpPr>
          <p:nvPr/>
        </p:nvSpPr>
        <p:spPr>
          <a:xfrm xmlns:a="http://schemas.openxmlformats.org/drawingml/2006/main">
            <a:off x="8763000" y="1857375"/>
            <a:ext cx="266700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Value</a:t>
            </a:r>
          </a:p>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 user, cart, expiry }</a:t>
            </a:r>
          </a:p>
        </p:txBody>
      </p:sp>
      <p:sp>
        <p:nvSpPr>
          <p:cNvPr id="11" name="">
            <a:extLst xmlns:a="http://schemas.openxmlformats.org/drawingml/2006/main">
              <a:ext uri="{FF2B5EF4-FFF2-40B4-BE49-F238E27FC236}">
                <a16:creationId xmlns:a16="http://schemas.microsoft.com/office/drawing/2014/main" id="{38A95A27-C951-4E3C-B5D8-EC8CCA562F30}"/>
              </a:ext>
            </a:extLst>
          </p:cNvPr>
          <p:cNvSpPr>
            <a:spLocks xmlns:a="http://schemas.openxmlformats.org/drawingml/2006/main" noGrp="1"/>
          </p:cNvSpPr>
          <p:nvPr/>
        </p:nvSpPr>
        <p:spPr>
          <a:xfrm xmlns:a="http://schemas.openxmlformats.org/drawingml/2006/main">
            <a:off x="895350" y="56673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350">
                <a:solidFill>
                  <a:srgbClr val="475569"/>
                </a:solidFill>
                <a:latin typeface="Helvetica Neue"/>
                <a:ea typeface="Helvetica Neue"/>
                <a:cs typeface="Helvetica Neue"/>
              </a:defRPr>
            </a:pPr>
            <a:r>
              <a:rPr sz="1350">
                <a:solidFill>
                  <a:srgbClr val="475569"/>
                </a:solidFill>
                <a:latin typeface="Helvetica Neue"/>
                <a:ea typeface="Helvetica Neue"/>
                <a:cs typeface="Helvetica Neue"/>
              </a:rPr>
              <a:t>The application knows the key; the value may be opaque or only partly queryable to the store.</a:t>
            </a:r>
          </a:p>
        </p:txBody>
      </p:sp>
    </p:spTree>
    <p:extLst>
      <p:ext uri="{BB962C8B-B14F-4D97-AF65-F5344CB8AC3E}">
        <p14:creationId xmlns:p14="http://schemas.microsoft.com/office/powerpoint/2010/main" val="181662272"/>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A0130BD-C754-491C-9363-2093F662E9B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9D20336D-07D4-44D6-A4B7-6667D5FC1E31}"/>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09  /  CST4714</a:t>
            </a:r>
          </a:p>
        </p:txBody>
      </p:sp>
      <p:sp>
        <p:nvSpPr>
          <p:cNvPr id="3" name="slide-title">
            <a:extLst xmlns:a="http://schemas.openxmlformats.org/drawingml/2006/main">
              <a:ext uri="{FF2B5EF4-FFF2-40B4-BE49-F238E27FC236}">
                <a16:creationId xmlns:a16="http://schemas.microsoft.com/office/drawing/2014/main" id="{56F45DF0-DF70-4EF1-9ED1-405A84695BE3}"/>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Wide-column systems organize sparse rows by access pattern</a:t>
            </a:r>
          </a:p>
        </p:txBody>
      </p:sp>
      <p:sp>
        <p:nvSpPr>
          <p:cNvPr id="4" name="">
            <a:extLst xmlns:a="http://schemas.openxmlformats.org/drawingml/2006/main">
              <a:ext uri="{FF2B5EF4-FFF2-40B4-BE49-F238E27FC236}">
                <a16:creationId xmlns:a16="http://schemas.microsoft.com/office/drawing/2014/main" id="{CEA81F7A-2AE5-4E46-ADFA-DD0692FC672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06E17957-59D9-4BA0-956E-5903835FB2DB}"/>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6</a:t>
            </a:r>
          </a:p>
        </p:txBody>
      </p:sp>
      <p:sp>
        <p:nvSpPr>
          <p:cNvPr id="6" name="primary-claim">
            <a:extLst xmlns:a="http://schemas.openxmlformats.org/drawingml/2006/main">
              <a:ext uri="{FF2B5EF4-FFF2-40B4-BE49-F238E27FC236}">
                <a16:creationId xmlns:a16="http://schemas.microsoft.com/office/drawing/2014/main" id="{06FAA224-524E-4B64-8CB2-43A59EFF88B3}"/>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925" b="1">
                <a:solidFill>
                  <a:srgbClr val="1D4ED8"/>
                </a:solidFill>
                <a:latin typeface="Helvetica Neue"/>
                <a:ea typeface="Helvetica Neue"/>
                <a:cs typeface="Helvetica Neue"/>
              </a:defRPr>
            </a:pPr>
            <a:r>
              <a:rPr sz="2925" b="1">
                <a:solidFill>
                  <a:srgbClr val="1D4ED8"/>
                </a:solidFill>
                <a:latin typeface="Helvetica Neue"/>
                <a:ea typeface="Helvetica Neue"/>
                <a:cs typeface="Helvetica Neue"/>
              </a:rPr>
              <a:t>Rows can hold different columns, but partition and clustering choices still create a schema.</a:t>
            </a:r>
          </a:p>
        </p:txBody>
      </p:sp>
      <p:sp>
        <p:nvSpPr>
          <p:cNvPr id="7" name="">
            <a:extLst xmlns:a="http://schemas.openxmlformats.org/drawingml/2006/main">
              <a:ext uri="{FF2B5EF4-FFF2-40B4-BE49-F238E27FC236}">
                <a16:creationId xmlns:a16="http://schemas.microsoft.com/office/drawing/2014/main" id="{D280A6C3-22B7-4ADC-A8E5-66ADFEC91E7A}"/>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1D4ED8"/>
            </a:solidFill>
            <a:prstDash val="solid"/>
          </a:ln>
        </p:spPr>
      </p:sp>
      <p:sp>
        <p:nvSpPr>
          <p:cNvPr id="8" name="">
            <a:extLst xmlns:a="http://schemas.openxmlformats.org/drawingml/2006/main">
              <a:ext uri="{FF2B5EF4-FFF2-40B4-BE49-F238E27FC236}">
                <a16:creationId xmlns:a16="http://schemas.microsoft.com/office/drawing/2014/main" id="{687793EF-9F89-498E-9C6A-C5AC3A8C5CA9}"/>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PARTITION KEY</a:t>
            </a:r>
          </a:p>
        </p:txBody>
      </p:sp>
      <p:sp>
        <p:nvSpPr>
          <p:cNvPr id="9" name="">
            <a:extLst xmlns:a="http://schemas.openxmlformats.org/drawingml/2006/main">
              <a:ext uri="{FF2B5EF4-FFF2-40B4-BE49-F238E27FC236}">
                <a16:creationId xmlns:a16="http://schemas.microsoft.com/office/drawing/2014/main" id="{F9F6EA4E-DFB5-4AD2-9589-11CCA11E6636}"/>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Determines placement and the unit of distributed access.</a:t>
            </a:r>
          </a:p>
        </p:txBody>
      </p:sp>
      <p:sp>
        <p:nvSpPr>
          <p:cNvPr id="10" name="">
            <a:extLst xmlns:a="http://schemas.openxmlformats.org/drawingml/2006/main">
              <a:ext uri="{FF2B5EF4-FFF2-40B4-BE49-F238E27FC236}">
                <a16:creationId xmlns:a16="http://schemas.microsoft.com/office/drawing/2014/main" id="{8AA337D3-B4F5-4A55-91B7-2A5D6B30A3E6}"/>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9756B422-0261-4E41-BCC8-4A349AA85469}"/>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CLUSTERING</a:t>
            </a:r>
          </a:p>
        </p:txBody>
      </p:sp>
      <p:sp>
        <p:nvSpPr>
          <p:cNvPr id="12" name="">
            <a:extLst xmlns:a="http://schemas.openxmlformats.org/drawingml/2006/main">
              <a:ext uri="{FF2B5EF4-FFF2-40B4-BE49-F238E27FC236}">
                <a16:creationId xmlns:a16="http://schemas.microsoft.com/office/drawing/2014/main" id="{89C4025E-DDF7-42D0-82E0-F7643BC24704}"/>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Orders related rows within a partition for range access.</a:t>
            </a:r>
          </a:p>
        </p:txBody>
      </p:sp>
      <p:sp>
        <p:nvSpPr>
          <p:cNvPr id="13" name="">
            <a:extLst xmlns:a="http://schemas.openxmlformats.org/drawingml/2006/main">
              <a:ext uri="{FF2B5EF4-FFF2-40B4-BE49-F238E27FC236}">
                <a16:creationId xmlns:a16="http://schemas.microsoft.com/office/drawing/2014/main" id="{B7FDB3D4-ED57-486F-A86F-F5B568DB9094}"/>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D5E8F53B-61B0-4FBB-9AB8-17D11E3E17B4}"/>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TRADEOFF</a:t>
            </a:r>
          </a:p>
        </p:txBody>
      </p:sp>
      <p:sp>
        <p:nvSpPr>
          <p:cNvPr id="15" name="">
            <a:extLst xmlns:a="http://schemas.openxmlformats.org/drawingml/2006/main">
              <a:ext uri="{FF2B5EF4-FFF2-40B4-BE49-F238E27FC236}">
                <a16:creationId xmlns:a16="http://schemas.microsoft.com/office/drawing/2014/main" id="{B2543E71-3FAE-4A82-AD2C-4E5C99DAFDF9}"/>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Queries outside the designed access pattern may require another table or scan.</a:t>
            </a:r>
          </a:p>
        </p:txBody>
      </p:sp>
    </p:spTree>
    <p:extLst>
      <p:ext uri="{BB962C8B-B14F-4D97-AF65-F5344CB8AC3E}">
        <p14:creationId xmlns:p14="http://schemas.microsoft.com/office/powerpoint/2010/main" val="21585977"/>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FBEA17E-C318-4431-AD88-F108349347B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7BC07E47-3C60-4331-B521-B1607F744B95}"/>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09  /  CST4714</a:t>
            </a:r>
          </a:p>
        </p:txBody>
      </p:sp>
      <p:sp>
        <p:nvSpPr>
          <p:cNvPr id="3" name="slide-title">
            <a:extLst xmlns:a="http://schemas.openxmlformats.org/drawingml/2006/main">
              <a:ext uri="{FF2B5EF4-FFF2-40B4-BE49-F238E27FC236}">
                <a16:creationId xmlns:a16="http://schemas.microsoft.com/office/drawing/2014/main" id="{620C7D8E-60EE-4EAA-8203-19B5BCFADD59}"/>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Document databases make nested aggregates first-class</a:t>
            </a:r>
          </a:p>
        </p:txBody>
      </p:sp>
      <p:sp>
        <p:nvSpPr>
          <p:cNvPr id="4" name="">
            <a:extLst xmlns:a="http://schemas.openxmlformats.org/drawingml/2006/main">
              <a:ext uri="{FF2B5EF4-FFF2-40B4-BE49-F238E27FC236}">
                <a16:creationId xmlns:a16="http://schemas.microsoft.com/office/drawing/2014/main" id="{62E71E3D-3B3E-420A-95FF-D8F9B04BB47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E6B6278B-8E05-47E1-A239-2176A44B30EF}"/>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7</a:t>
            </a:r>
          </a:p>
        </p:txBody>
      </p:sp>
      <p:sp>
        <p:nvSpPr>
          <p:cNvPr id="6" name="">
            <a:extLst xmlns:a="http://schemas.openxmlformats.org/drawingml/2006/main">
              <a:ext uri="{FF2B5EF4-FFF2-40B4-BE49-F238E27FC236}">
                <a16:creationId xmlns:a16="http://schemas.microsoft.com/office/drawing/2014/main" id="{098D413B-9071-4116-BA9B-D45BE887F273}"/>
              </a:ext>
            </a:extLst>
          </p:cNvPr>
          <p:cNvSpPr>
            <a:spLocks xmlns:a="http://schemas.openxmlformats.org/drawingml/2006/main" noGrp="1"/>
          </p:cNvSpPr>
          <p:nvPr/>
        </p:nvSpPr>
        <p:spPr>
          <a:xfrm xmlns:a="http://schemas.openxmlformats.org/drawingml/2006/main">
            <a:off x="2857500" y="3238500"/>
            <a:ext cx="6191250" cy="0"/>
          </a:xfrm>
          <a:prstGeom xmlns:a="http://schemas.openxmlformats.org/drawingml/2006/main" prst="line">
            <a:avLst/>
          </a:prstGeom>
          <a:noFill xmlns:a="http://schemas.openxmlformats.org/drawingml/2006/main"/>
          <a:ln xmlns:a="http://schemas.openxmlformats.org/drawingml/2006/main" w="38100">
            <a:solidFill>
              <a:srgbClr val="1D4ED8"/>
            </a:solidFill>
            <a:prstDash val="solid"/>
          </a:ln>
        </p:spPr>
      </p:sp>
      <p:sp>
        <p:nvSpPr>
          <p:cNvPr id="7" name="">
            <a:extLst xmlns:a="http://schemas.openxmlformats.org/drawingml/2006/main">
              <a:ext uri="{FF2B5EF4-FFF2-40B4-BE49-F238E27FC236}">
                <a16:creationId xmlns:a16="http://schemas.microsoft.com/office/drawing/2014/main" id="{2D5E0C3F-85B0-4ECE-ABF6-5387B0224CDE}"/>
              </a:ext>
            </a:extLst>
          </p:cNvPr>
          <p:cNvSpPr>
            <a:spLocks xmlns:a="http://schemas.openxmlformats.org/drawingml/2006/main" noGrp="1"/>
          </p:cNvSpPr>
          <p:nvPr/>
        </p:nvSpPr>
        <p:spPr>
          <a:xfrm xmlns:a="http://schemas.openxmlformats.org/drawingml/2006/main">
            <a:off x="857250" y="1809750"/>
            <a:ext cx="4000500" cy="2857500"/>
          </a:xfrm>
          <a:prstGeom xmlns:a="http://schemas.openxmlformats.org/drawingml/2006/main" prst="rect">
            <a:avLst/>
          </a:prstGeom>
          <a:solidFill xmlns:a="http://schemas.openxmlformats.org/drawingml/2006/main">
            <a:srgbClr val="1D4ED8"/>
          </a:solidFill>
          <a:ln xmlns:a="http://schemas.openxmlformats.org/drawingml/2006/main" w="9525">
            <a:solidFill>
              <a:srgbClr val="1D4ED8"/>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ticket document</a:t>
            </a:r>
          </a:p>
          <a:p xmlns:a="http://schemas.openxmlformats.org/drawingml/2006/main">
            <a:r>
              <a:t/>
            </a:r>
          </a:p>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_id: 1001</a:t>
            </a:r>
          </a:p>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status: open</a:t>
            </a:r>
          </a:p>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requester: { id, name }</a:t>
            </a:r>
          </a:p>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events: [ ... ]</a:t>
            </a:r>
          </a:p>
        </p:txBody>
      </p:sp>
      <p:sp>
        <p:nvSpPr>
          <p:cNvPr id="8" name="">
            <a:extLst xmlns:a="http://schemas.openxmlformats.org/drawingml/2006/main">
              <a:ext uri="{FF2B5EF4-FFF2-40B4-BE49-F238E27FC236}">
                <a16:creationId xmlns:a16="http://schemas.microsoft.com/office/drawing/2014/main" id="{44B63D2B-F25B-493B-A7F2-8269A818CF3C}"/>
              </a:ext>
            </a:extLst>
          </p:cNvPr>
          <p:cNvSpPr>
            <a:spLocks xmlns:a="http://schemas.openxmlformats.org/drawingml/2006/main" noGrp="1"/>
          </p:cNvSpPr>
          <p:nvPr/>
        </p:nvSpPr>
        <p:spPr>
          <a:xfrm xmlns:a="http://schemas.openxmlformats.org/drawingml/2006/main">
            <a:off x="7239000" y="2238375"/>
            <a:ext cx="36195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One read can return</a:t>
            </a:r>
          </a:p>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the ticket and bounded</a:t>
            </a:r>
          </a:p>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related details</a:t>
            </a:r>
          </a:p>
        </p:txBody>
      </p:sp>
      <p:sp>
        <p:nvSpPr>
          <p:cNvPr id="9" name="">
            <a:extLst xmlns:a="http://schemas.openxmlformats.org/drawingml/2006/main">
              <a:ext uri="{FF2B5EF4-FFF2-40B4-BE49-F238E27FC236}">
                <a16:creationId xmlns:a16="http://schemas.microsoft.com/office/drawing/2014/main" id="{054CF478-3456-4920-8B69-CA6EB30876BB}"/>
              </a:ext>
            </a:extLst>
          </p:cNvPr>
          <p:cNvSpPr>
            <a:spLocks xmlns:a="http://schemas.openxmlformats.org/drawingml/2006/main" noGrp="1"/>
          </p:cNvSpPr>
          <p:nvPr/>
        </p:nvSpPr>
        <p:spPr>
          <a:xfrm xmlns:a="http://schemas.openxmlformats.org/drawingml/2006/main">
            <a:off x="895350" y="56673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350">
                <a:solidFill>
                  <a:srgbClr val="475569"/>
                </a:solidFill>
                <a:latin typeface="Helvetica Neue"/>
                <a:ea typeface="Helvetica Neue"/>
                <a:cs typeface="Helvetica Neue"/>
              </a:defRPr>
            </a:pPr>
            <a:r>
              <a:rPr sz="1350">
                <a:solidFill>
                  <a:srgbClr val="475569"/>
                </a:solidFill>
                <a:latin typeface="Helvetica Neue"/>
                <a:ea typeface="Helvetica Neue"/>
                <a:cs typeface="Helvetica Neue"/>
              </a:rPr>
              <a:t>Embedding improves read locality when related data is bounded and commonly read together.</a:t>
            </a:r>
          </a:p>
        </p:txBody>
      </p:sp>
    </p:spTree>
    <p:extLst>
      <p:ext uri="{BB962C8B-B14F-4D97-AF65-F5344CB8AC3E}">
        <p14:creationId xmlns:p14="http://schemas.microsoft.com/office/powerpoint/2010/main" val="452143906"/>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AD2FD40-D55E-41C1-94F2-8E996F95D8F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FACE31A8-D3BE-4867-A053-1A8C4ADE5132}"/>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09  /  CST4714</a:t>
            </a:r>
          </a:p>
        </p:txBody>
      </p:sp>
      <p:sp>
        <p:nvSpPr>
          <p:cNvPr id="3" name="slide-title">
            <a:extLst xmlns:a="http://schemas.openxmlformats.org/drawingml/2006/main">
              <a:ext uri="{FF2B5EF4-FFF2-40B4-BE49-F238E27FC236}">
                <a16:creationId xmlns:a16="http://schemas.microsoft.com/office/drawing/2014/main" id="{140FE791-4D58-44C4-8B1E-600EBDF7BDC7}"/>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Graph databases make paths and neighborhoods explicit</a:t>
            </a:r>
          </a:p>
        </p:txBody>
      </p:sp>
      <p:sp>
        <p:nvSpPr>
          <p:cNvPr id="4" name="">
            <a:extLst xmlns:a="http://schemas.openxmlformats.org/drawingml/2006/main">
              <a:ext uri="{FF2B5EF4-FFF2-40B4-BE49-F238E27FC236}">
                <a16:creationId xmlns:a16="http://schemas.microsoft.com/office/drawing/2014/main" id="{171790DC-BA83-4E63-89FF-A7A699583A7A}"/>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2A0B2F39-16E3-45CA-A448-9375646BD6B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8</a:t>
            </a:r>
          </a:p>
        </p:txBody>
      </p:sp>
      <p:sp>
        <p:nvSpPr>
          <p:cNvPr id="6" name="">
            <a:extLst xmlns:a="http://schemas.openxmlformats.org/drawingml/2006/main">
              <a:ext uri="{FF2B5EF4-FFF2-40B4-BE49-F238E27FC236}">
                <a16:creationId xmlns:a16="http://schemas.microsoft.com/office/drawing/2014/main" id="{8E86DD4D-A7C1-4D82-A2C8-067FABCD3348}"/>
              </a:ext>
            </a:extLst>
          </p:cNvPr>
          <p:cNvSpPr>
            <a:spLocks xmlns:a="http://schemas.openxmlformats.org/drawingml/2006/main" noGrp="1"/>
          </p:cNvSpPr>
          <p:nvPr/>
        </p:nvSpPr>
        <p:spPr>
          <a:xfrm xmlns:a="http://schemas.openxmlformats.org/drawingml/2006/main" flipV="1">
            <a:off x="1619250" y="2171700"/>
            <a:ext cx="2714625" cy="104775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E158E5C2-ED73-486B-B11C-E62950C5FC9C}"/>
              </a:ext>
            </a:extLst>
          </p:cNvPr>
          <p:cNvSpPr>
            <a:spLocks xmlns:a="http://schemas.openxmlformats.org/drawingml/2006/main" noGrp="1"/>
          </p:cNvSpPr>
          <p:nvPr/>
        </p:nvSpPr>
        <p:spPr>
          <a:xfrm xmlns:a="http://schemas.openxmlformats.org/drawingml/2006/main">
            <a:off x="2309813" y="2486025"/>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used</a:t>
            </a:r>
          </a:p>
        </p:txBody>
      </p:sp>
      <p:sp>
        <p:nvSpPr>
          <p:cNvPr id="8" name="">
            <a:extLst xmlns:a="http://schemas.openxmlformats.org/drawingml/2006/main">
              <a:ext uri="{FF2B5EF4-FFF2-40B4-BE49-F238E27FC236}">
                <a16:creationId xmlns:a16="http://schemas.microsoft.com/office/drawing/2014/main" id="{BE076FC7-C788-4531-A390-92F728F5B231}"/>
              </a:ext>
            </a:extLst>
          </p:cNvPr>
          <p:cNvSpPr>
            <a:spLocks xmlns:a="http://schemas.openxmlformats.org/drawingml/2006/main" noGrp="1"/>
          </p:cNvSpPr>
          <p:nvPr/>
        </p:nvSpPr>
        <p:spPr>
          <a:xfrm xmlns:a="http://schemas.openxmlformats.org/drawingml/2006/main">
            <a:off x="1619250" y="3219450"/>
            <a:ext cx="2714625" cy="123825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 name="">
            <a:extLst xmlns:a="http://schemas.openxmlformats.org/drawingml/2006/main">
              <a:ext uri="{FF2B5EF4-FFF2-40B4-BE49-F238E27FC236}">
                <a16:creationId xmlns:a16="http://schemas.microsoft.com/office/drawing/2014/main" id="{1901DD9F-22AF-41A2-9689-11B0F765090A}"/>
              </a:ext>
            </a:extLst>
          </p:cNvPr>
          <p:cNvSpPr>
            <a:spLocks xmlns:a="http://schemas.openxmlformats.org/drawingml/2006/main" noGrp="1"/>
          </p:cNvSpPr>
          <p:nvPr/>
        </p:nvSpPr>
        <p:spPr>
          <a:xfrm xmlns:a="http://schemas.openxmlformats.org/drawingml/2006/main">
            <a:off x="2309813" y="3629025"/>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paid</a:t>
            </a:r>
          </a:p>
        </p:txBody>
      </p:sp>
      <p:sp>
        <p:nvSpPr>
          <p:cNvPr id="10" name="">
            <a:extLst xmlns:a="http://schemas.openxmlformats.org/drawingml/2006/main">
              <a:ext uri="{FF2B5EF4-FFF2-40B4-BE49-F238E27FC236}">
                <a16:creationId xmlns:a16="http://schemas.microsoft.com/office/drawing/2014/main" id="{725C0FD6-7D3C-4C7F-83F5-AAC03322E8DE}"/>
              </a:ext>
            </a:extLst>
          </p:cNvPr>
          <p:cNvSpPr>
            <a:spLocks xmlns:a="http://schemas.openxmlformats.org/drawingml/2006/main" noGrp="1"/>
          </p:cNvSpPr>
          <p:nvPr/>
        </p:nvSpPr>
        <p:spPr>
          <a:xfrm xmlns:a="http://schemas.openxmlformats.org/drawingml/2006/main">
            <a:off x="4333875" y="2171700"/>
            <a:ext cx="314325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 name="">
            <a:extLst xmlns:a="http://schemas.openxmlformats.org/drawingml/2006/main">
              <a:ext uri="{FF2B5EF4-FFF2-40B4-BE49-F238E27FC236}">
                <a16:creationId xmlns:a16="http://schemas.microsoft.com/office/drawing/2014/main" id="{CA5A7619-9D34-4691-9BE3-F454C146BE98}"/>
              </a:ext>
            </a:extLst>
          </p:cNvPr>
          <p:cNvSpPr>
            <a:spLocks xmlns:a="http://schemas.openxmlformats.org/drawingml/2006/main" noGrp="1"/>
          </p:cNvSpPr>
          <p:nvPr/>
        </p:nvSpPr>
        <p:spPr>
          <a:xfrm xmlns:a="http://schemas.openxmlformats.org/drawingml/2006/main">
            <a:off x="5238750" y="19621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accessed</a:t>
            </a:r>
          </a:p>
        </p:txBody>
      </p:sp>
      <p:sp>
        <p:nvSpPr>
          <p:cNvPr id="12" name="">
            <a:extLst xmlns:a="http://schemas.openxmlformats.org/drawingml/2006/main">
              <a:ext uri="{FF2B5EF4-FFF2-40B4-BE49-F238E27FC236}">
                <a16:creationId xmlns:a16="http://schemas.microsoft.com/office/drawing/2014/main" id="{F71D5F3C-762C-4DEF-930C-751DDB3B390E}"/>
              </a:ext>
            </a:extLst>
          </p:cNvPr>
          <p:cNvSpPr>
            <a:spLocks xmlns:a="http://schemas.openxmlformats.org/drawingml/2006/main" noGrp="1"/>
          </p:cNvSpPr>
          <p:nvPr/>
        </p:nvSpPr>
        <p:spPr>
          <a:xfrm xmlns:a="http://schemas.openxmlformats.org/drawingml/2006/main">
            <a:off x="4333875" y="4457700"/>
            <a:ext cx="314325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 name="">
            <a:extLst xmlns:a="http://schemas.openxmlformats.org/drawingml/2006/main">
              <a:ext uri="{FF2B5EF4-FFF2-40B4-BE49-F238E27FC236}">
                <a16:creationId xmlns:a16="http://schemas.microsoft.com/office/drawing/2014/main" id="{8ACB590A-2908-446F-88AE-7C7ED12E4830}"/>
              </a:ext>
            </a:extLst>
          </p:cNvPr>
          <p:cNvSpPr>
            <a:spLocks xmlns:a="http://schemas.openxmlformats.org/drawingml/2006/main" noGrp="1"/>
          </p:cNvSpPr>
          <p:nvPr/>
        </p:nvSpPr>
        <p:spPr>
          <a:xfrm xmlns:a="http://schemas.openxmlformats.org/drawingml/2006/main">
            <a:off x="5238750" y="42481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from</a:t>
            </a:r>
          </a:p>
        </p:txBody>
      </p:sp>
      <p:sp>
        <p:nvSpPr>
          <p:cNvPr id="14" name="">
            <a:extLst xmlns:a="http://schemas.openxmlformats.org/drawingml/2006/main">
              <a:ext uri="{FF2B5EF4-FFF2-40B4-BE49-F238E27FC236}">
                <a16:creationId xmlns:a16="http://schemas.microsoft.com/office/drawing/2014/main" id="{7A90A40D-36C9-48F7-BE83-7FA2439B6605}"/>
              </a:ext>
            </a:extLst>
          </p:cNvPr>
          <p:cNvSpPr>
            <a:spLocks xmlns:a="http://schemas.openxmlformats.org/drawingml/2006/main" noGrp="1"/>
          </p:cNvSpPr>
          <p:nvPr/>
        </p:nvSpPr>
        <p:spPr>
          <a:xfrm xmlns:a="http://schemas.openxmlformats.org/drawingml/2006/main">
            <a:off x="7477125" y="2171700"/>
            <a:ext cx="2952750" cy="104775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5" name="">
            <a:extLst xmlns:a="http://schemas.openxmlformats.org/drawingml/2006/main">
              <a:ext uri="{FF2B5EF4-FFF2-40B4-BE49-F238E27FC236}">
                <a16:creationId xmlns:a16="http://schemas.microsoft.com/office/drawing/2014/main" id="{51AFBC62-63D5-4E9F-8690-3680BDFAFC88}"/>
              </a:ext>
            </a:extLst>
          </p:cNvPr>
          <p:cNvSpPr>
            <a:spLocks xmlns:a="http://schemas.openxmlformats.org/drawingml/2006/main" noGrp="1"/>
          </p:cNvSpPr>
          <p:nvPr/>
        </p:nvSpPr>
        <p:spPr>
          <a:xfrm xmlns:a="http://schemas.openxmlformats.org/drawingml/2006/main">
            <a:off x="8286750" y="2486025"/>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linked</a:t>
            </a:r>
          </a:p>
        </p:txBody>
      </p:sp>
      <p:sp>
        <p:nvSpPr>
          <p:cNvPr id="16" name="">
            <a:extLst xmlns:a="http://schemas.openxmlformats.org/drawingml/2006/main">
              <a:ext uri="{FF2B5EF4-FFF2-40B4-BE49-F238E27FC236}">
                <a16:creationId xmlns:a16="http://schemas.microsoft.com/office/drawing/2014/main" id="{B5789B33-E0FF-4DAA-A6B5-92D0A222ED84}"/>
              </a:ext>
            </a:extLst>
          </p:cNvPr>
          <p:cNvSpPr>
            <a:spLocks xmlns:a="http://schemas.openxmlformats.org/drawingml/2006/main" noGrp="1"/>
          </p:cNvSpPr>
          <p:nvPr/>
        </p:nvSpPr>
        <p:spPr>
          <a:xfrm xmlns:a="http://schemas.openxmlformats.org/drawingml/2006/main" flipV="1">
            <a:off x="7477125" y="3219450"/>
            <a:ext cx="2952750" cy="123825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7" name="">
            <a:extLst xmlns:a="http://schemas.openxmlformats.org/drawingml/2006/main">
              <a:ext uri="{FF2B5EF4-FFF2-40B4-BE49-F238E27FC236}">
                <a16:creationId xmlns:a16="http://schemas.microsoft.com/office/drawing/2014/main" id="{77BCD08B-B5F3-4206-8D49-F316B39C4B81}"/>
              </a:ext>
            </a:extLst>
          </p:cNvPr>
          <p:cNvSpPr>
            <a:spLocks xmlns:a="http://schemas.openxmlformats.org/drawingml/2006/main" noGrp="1"/>
          </p:cNvSpPr>
          <p:nvPr/>
        </p:nvSpPr>
        <p:spPr>
          <a:xfrm xmlns:a="http://schemas.openxmlformats.org/drawingml/2006/main">
            <a:off x="8286750" y="3629025"/>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linked</a:t>
            </a:r>
          </a:p>
        </p:txBody>
      </p:sp>
      <p:sp>
        <p:nvSpPr>
          <p:cNvPr id="18" name="">
            <a:extLst xmlns:a="http://schemas.openxmlformats.org/drawingml/2006/main">
              <a:ext uri="{FF2B5EF4-FFF2-40B4-BE49-F238E27FC236}">
                <a16:creationId xmlns:a16="http://schemas.microsoft.com/office/drawing/2014/main" id="{D7700A04-AAEB-49AD-A908-224F20CC37F7}"/>
              </a:ext>
            </a:extLst>
          </p:cNvPr>
          <p:cNvSpPr>
            <a:spLocks xmlns:a="http://schemas.openxmlformats.org/drawingml/2006/main" noGrp="1"/>
          </p:cNvSpPr>
          <p:nvPr/>
        </p:nvSpPr>
        <p:spPr>
          <a:xfrm xmlns:a="http://schemas.openxmlformats.org/drawingml/2006/main">
            <a:off x="904875" y="2857500"/>
            <a:ext cx="1428750" cy="723900"/>
          </a:xfrm>
          <a:prstGeom xmlns:a="http://schemas.openxmlformats.org/drawingml/2006/main" prst="rect">
            <a:avLst/>
          </a:prstGeom>
          <a:solidFill xmlns:a="http://schemas.openxmlformats.org/drawingml/2006/main">
            <a:srgbClr val="1D4ED8"/>
          </a:solidFill>
          <a:ln xmlns:a="http://schemas.openxmlformats.org/drawingml/2006/main" w="9525">
            <a:solidFill>
              <a:srgbClr val="1D4ED8"/>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User A</a:t>
            </a:r>
          </a:p>
        </p:txBody>
      </p:sp>
      <p:sp>
        <p:nvSpPr>
          <p:cNvPr id="19" name="">
            <a:extLst xmlns:a="http://schemas.openxmlformats.org/drawingml/2006/main">
              <a:ext uri="{FF2B5EF4-FFF2-40B4-BE49-F238E27FC236}">
                <a16:creationId xmlns:a16="http://schemas.microsoft.com/office/drawing/2014/main" id="{6C47AF32-0E47-48F6-8792-A790D2D2562A}"/>
              </a:ext>
            </a:extLst>
          </p:cNvPr>
          <p:cNvSpPr>
            <a:spLocks xmlns:a="http://schemas.openxmlformats.org/drawingml/2006/main" noGrp="1"/>
          </p:cNvSpPr>
          <p:nvPr/>
        </p:nvSpPr>
        <p:spPr>
          <a:xfrm xmlns:a="http://schemas.openxmlformats.org/drawingml/2006/main">
            <a:off x="3619500" y="1809750"/>
            <a:ext cx="14287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Device X</a:t>
            </a:r>
          </a:p>
        </p:txBody>
      </p:sp>
      <p:sp>
        <p:nvSpPr>
          <p:cNvPr id="20" name="">
            <a:extLst xmlns:a="http://schemas.openxmlformats.org/drawingml/2006/main">
              <a:ext uri="{FF2B5EF4-FFF2-40B4-BE49-F238E27FC236}">
                <a16:creationId xmlns:a16="http://schemas.microsoft.com/office/drawing/2014/main" id="{10858868-A108-48D4-BA6D-212AAA66D130}"/>
              </a:ext>
            </a:extLst>
          </p:cNvPr>
          <p:cNvSpPr>
            <a:spLocks xmlns:a="http://schemas.openxmlformats.org/drawingml/2006/main" noGrp="1"/>
          </p:cNvSpPr>
          <p:nvPr/>
        </p:nvSpPr>
        <p:spPr>
          <a:xfrm xmlns:a="http://schemas.openxmlformats.org/drawingml/2006/main">
            <a:off x="3619500" y="4095750"/>
            <a:ext cx="14287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User B</a:t>
            </a:r>
          </a:p>
        </p:txBody>
      </p:sp>
      <p:sp>
        <p:nvSpPr>
          <p:cNvPr id="21" name="">
            <a:extLst xmlns:a="http://schemas.openxmlformats.org/drawingml/2006/main">
              <a:ext uri="{FF2B5EF4-FFF2-40B4-BE49-F238E27FC236}">
                <a16:creationId xmlns:a16="http://schemas.microsoft.com/office/drawing/2014/main" id="{C36F107A-8988-4BDA-A868-FE62BD92B25C}"/>
              </a:ext>
            </a:extLst>
          </p:cNvPr>
          <p:cNvSpPr>
            <a:spLocks xmlns:a="http://schemas.openxmlformats.org/drawingml/2006/main" noGrp="1"/>
          </p:cNvSpPr>
          <p:nvPr/>
        </p:nvSpPr>
        <p:spPr>
          <a:xfrm xmlns:a="http://schemas.openxmlformats.org/drawingml/2006/main">
            <a:off x="6667500" y="1809750"/>
            <a:ext cx="16192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Account 7</a:t>
            </a:r>
          </a:p>
        </p:txBody>
      </p:sp>
      <p:sp>
        <p:nvSpPr>
          <p:cNvPr id="22" name="">
            <a:extLst xmlns:a="http://schemas.openxmlformats.org/drawingml/2006/main">
              <a:ext uri="{FF2B5EF4-FFF2-40B4-BE49-F238E27FC236}">
                <a16:creationId xmlns:a16="http://schemas.microsoft.com/office/drawing/2014/main" id="{B70360EA-FBD1-4F71-A3B5-465F48183F38}"/>
              </a:ext>
            </a:extLst>
          </p:cNvPr>
          <p:cNvSpPr>
            <a:spLocks xmlns:a="http://schemas.openxmlformats.org/drawingml/2006/main" noGrp="1"/>
          </p:cNvSpPr>
          <p:nvPr/>
        </p:nvSpPr>
        <p:spPr>
          <a:xfrm xmlns:a="http://schemas.openxmlformats.org/drawingml/2006/main">
            <a:off x="6667500" y="4095750"/>
            <a:ext cx="16192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IP range</a:t>
            </a:r>
          </a:p>
        </p:txBody>
      </p:sp>
      <p:sp>
        <p:nvSpPr>
          <p:cNvPr id="23" name="">
            <a:extLst xmlns:a="http://schemas.openxmlformats.org/drawingml/2006/main">
              <a:ext uri="{FF2B5EF4-FFF2-40B4-BE49-F238E27FC236}">
                <a16:creationId xmlns:a16="http://schemas.microsoft.com/office/drawing/2014/main" id="{6B77F9FE-7D1C-4643-B70C-4245202E1A4B}"/>
              </a:ext>
            </a:extLst>
          </p:cNvPr>
          <p:cNvSpPr>
            <a:spLocks xmlns:a="http://schemas.openxmlformats.org/drawingml/2006/main" noGrp="1"/>
          </p:cNvSpPr>
          <p:nvPr/>
        </p:nvSpPr>
        <p:spPr>
          <a:xfrm xmlns:a="http://schemas.openxmlformats.org/drawingml/2006/main">
            <a:off x="9620250" y="2857500"/>
            <a:ext cx="16192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Alert</a:t>
            </a:r>
          </a:p>
        </p:txBody>
      </p:sp>
      <p:sp>
        <p:nvSpPr>
          <p:cNvPr id="24" name="">
            <a:extLst xmlns:a="http://schemas.openxmlformats.org/drawingml/2006/main">
              <a:ext uri="{FF2B5EF4-FFF2-40B4-BE49-F238E27FC236}">
                <a16:creationId xmlns:a16="http://schemas.microsoft.com/office/drawing/2014/main" id="{88232A50-AC2A-44AF-B254-9088B5485B3B}"/>
              </a:ext>
            </a:extLst>
          </p:cNvPr>
          <p:cNvSpPr>
            <a:spLocks xmlns:a="http://schemas.openxmlformats.org/drawingml/2006/main" noGrp="1"/>
          </p:cNvSpPr>
          <p:nvPr/>
        </p:nvSpPr>
        <p:spPr>
          <a:xfrm xmlns:a="http://schemas.openxmlformats.org/drawingml/2006/main">
            <a:off x="895350" y="56673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350">
                <a:solidFill>
                  <a:srgbClr val="475569"/>
                </a:solidFill>
                <a:latin typeface="Helvetica Neue"/>
                <a:ea typeface="Helvetica Neue"/>
                <a:cs typeface="Helvetica Neue"/>
              </a:defRPr>
            </a:pPr>
            <a:r>
              <a:rPr sz="1350">
                <a:solidFill>
                  <a:srgbClr val="475569"/>
                </a:solidFill>
                <a:latin typeface="Helvetica Neue"/>
                <a:ea typeface="Helvetica Neue"/>
                <a:cs typeface="Helvetica Neue"/>
              </a:rPr>
              <a:t>Vertices are entities; edges are relationships; a path is a sequence of adjacent edges.</a:t>
            </a:r>
          </a:p>
        </p:txBody>
      </p:sp>
    </p:spTree>
    <p:extLst>
      <p:ext uri="{BB962C8B-B14F-4D97-AF65-F5344CB8AC3E}">
        <p14:creationId xmlns:p14="http://schemas.microsoft.com/office/powerpoint/2010/main" val="227585324"/>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25A1863-F90D-4DB6-BFC7-8CC580DD3BE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7961E0BA-512F-4928-89FF-E2F971F21FF7}"/>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09  /  CST4714</a:t>
            </a:r>
          </a:p>
        </p:txBody>
      </p:sp>
      <p:sp>
        <p:nvSpPr>
          <p:cNvPr id="3" name="slide-title">
            <a:extLst xmlns:a="http://schemas.openxmlformats.org/drawingml/2006/main">
              <a:ext uri="{FF2B5EF4-FFF2-40B4-BE49-F238E27FC236}">
                <a16:creationId xmlns:a16="http://schemas.microsoft.com/office/drawing/2014/main" id="{E0123BDE-CBC1-46CA-A767-036451A58102}"/>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Vector databases retrieve nearby representations</a:t>
            </a:r>
          </a:p>
        </p:txBody>
      </p:sp>
      <p:sp>
        <p:nvSpPr>
          <p:cNvPr id="4" name="">
            <a:extLst xmlns:a="http://schemas.openxmlformats.org/drawingml/2006/main">
              <a:ext uri="{FF2B5EF4-FFF2-40B4-BE49-F238E27FC236}">
                <a16:creationId xmlns:a16="http://schemas.microsoft.com/office/drawing/2014/main" id="{2FBCEF10-5D5C-48A7-9B3B-BEACDD844A10}"/>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E802F5D3-C44B-45B1-9C16-CC3C3E34531C}"/>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9</a:t>
            </a:r>
          </a:p>
        </p:txBody>
      </p:sp>
      <p:sp>
        <p:nvSpPr>
          <p:cNvPr id="6" name="primary-claim">
            <a:extLst xmlns:a="http://schemas.openxmlformats.org/drawingml/2006/main">
              <a:ext uri="{FF2B5EF4-FFF2-40B4-BE49-F238E27FC236}">
                <a16:creationId xmlns:a16="http://schemas.microsoft.com/office/drawing/2014/main" id="{D183DDC2-8CC7-4C05-B48C-473997598D59}"/>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925" b="1">
                <a:solidFill>
                  <a:srgbClr val="1D4ED8"/>
                </a:solidFill>
                <a:latin typeface="Helvetica Neue"/>
                <a:ea typeface="Helvetica Neue"/>
                <a:cs typeface="Helvetica Neue"/>
              </a:defRPr>
            </a:pPr>
            <a:r>
              <a:rPr sz="2925" b="1">
                <a:solidFill>
                  <a:srgbClr val="1D4ED8"/>
                </a:solidFill>
                <a:latin typeface="Helvetica Neue"/>
                <a:ea typeface="Helvetica Neue"/>
                <a:cs typeface="Helvetica Neue"/>
              </a:rPr>
              <a:t>cosine(a, b) = (a · b) / (||a|| ||b||)</a:t>
            </a:r>
          </a:p>
        </p:txBody>
      </p:sp>
      <p:sp>
        <p:nvSpPr>
          <p:cNvPr id="7" name="">
            <a:extLst xmlns:a="http://schemas.openxmlformats.org/drawingml/2006/main">
              <a:ext uri="{FF2B5EF4-FFF2-40B4-BE49-F238E27FC236}">
                <a16:creationId xmlns:a16="http://schemas.microsoft.com/office/drawing/2014/main" id="{2518CD4F-DB7F-4633-BF81-23C7509DCEA3}"/>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1D4ED8"/>
            </a:solidFill>
            <a:prstDash val="solid"/>
          </a:ln>
        </p:spPr>
      </p:sp>
      <p:sp>
        <p:nvSpPr>
          <p:cNvPr id="8" name="">
            <a:extLst xmlns:a="http://schemas.openxmlformats.org/drawingml/2006/main">
              <a:ext uri="{FF2B5EF4-FFF2-40B4-BE49-F238E27FC236}">
                <a16:creationId xmlns:a16="http://schemas.microsoft.com/office/drawing/2014/main" id="{06166FE8-424B-4F89-B137-25BB287EC491}"/>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VECTOR</a:t>
            </a:r>
          </a:p>
        </p:txBody>
      </p:sp>
      <p:sp>
        <p:nvSpPr>
          <p:cNvPr id="9" name="">
            <a:extLst xmlns:a="http://schemas.openxmlformats.org/drawingml/2006/main">
              <a:ext uri="{FF2B5EF4-FFF2-40B4-BE49-F238E27FC236}">
                <a16:creationId xmlns:a16="http://schemas.microsoft.com/office/drawing/2014/main" id="{389611DC-4C57-4728-8E20-261D9220CE12}"/>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An ordered numeric representation, often produced by an embedding model.</a:t>
            </a:r>
          </a:p>
        </p:txBody>
      </p:sp>
      <p:sp>
        <p:nvSpPr>
          <p:cNvPr id="10" name="">
            <a:extLst xmlns:a="http://schemas.openxmlformats.org/drawingml/2006/main">
              <a:ext uri="{FF2B5EF4-FFF2-40B4-BE49-F238E27FC236}">
                <a16:creationId xmlns:a16="http://schemas.microsoft.com/office/drawing/2014/main" id="{1C872CE6-6217-4A60-AD7E-0AB07A65B123}"/>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FC6A5821-D61E-408E-ABF4-CF0324764D16}"/>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SIMILARITY</a:t>
            </a:r>
          </a:p>
        </p:txBody>
      </p:sp>
      <p:sp>
        <p:nvSpPr>
          <p:cNvPr id="12" name="">
            <a:extLst xmlns:a="http://schemas.openxmlformats.org/drawingml/2006/main">
              <a:ext uri="{FF2B5EF4-FFF2-40B4-BE49-F238E27FC236}">
                <a16:creationId xmlns:a16="http://schemas.microsoft.com/office/drawing/2014/main" id="{0DA554B9-6D73-4CA0-9AC4-45FD50731242}"/>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Cosine compares direction; larger cosine means smaller angle.</a:t>
            </a:r>
          </a:p>
        </p:txBody>
      </p:sp>
      <p:sp>
        <p:nvSpPr>
          <p:cNvPr id="13" name="">
            <a:extLst xmlns:a="http://schemas.openxmlformats.org/drawingml/2006/main">
              <a:ext uri="{FF2B5EF4-FFF2-40B4-BE49-F238E27FC236}">
                <a16:creationId xmlns:a16="http://schemas.microsoft.com/office/drawing/2014/main" id="{94F5A216-8244-4B1C-BB82-C23E8C75C113}"/>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EF759120-F577-42DE-B2BB-39EA4F093108}"/>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INDEX</a:t>
            </a:r>
          </a:p>
        </p:txBody>
      </p:sp>
      <p:sp>
        <p:nvSpPr>
          <p:cNvPr id="15" name="">
            <a:extLst xmlns:a="http://schemas.openxmlformats.org/drawingml/2006/main">
              <a:ext uri="{FF2B5EF4-FFF2-40B4-BE49-F238E27FC236}">
                <a16:creationId xmlns:a16="http://schemas.microsoft.com/office/drawing/2014/main" id="{534AED99-2127-450F-8219-836717E8B835}"/>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Approximate nearest-neighbor methods trade exactness for speed and scale.</a:t>
            </a:r>
          </a:p>
        </p:txBody>
      </p:sp>
    </p:spTree>
    <p:extLst>
      <p:ext uri="{BB962C8B-B14F-4D97-AF65-F5344CB8AC3E}">
        <p14:creationId xmlns:p14="http://schemas.microsoft.com/office/powerpoint/2010/main" val="577093737"/>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D50734D-206B-4F5F-8ABA-BCB5C0F8AC4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FBCA31F5-F4EF-4F0C-8AD2-820B5E131E6C}"/>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09  /  CST4714</a:t>
            </a:r>
          </a:p>
        </p:txBody>
      </p:sp>
      <p:sp>
        <p:nvSpPr>
          <p:cNvPr id="3" name="slide-title">
            <a:extLst xmlns:a="http://schemas.openxmlformats.org/drawingml/2006/main">
              <a:ext uri="{FF2B5EF4-FFF2-40B4-BE49-F238E27FC236}">
                <a16:creationId xmlns:a16="http://schemas.microsoft.com/office/drawing/2014/main" id="{B650FA08-6459-40DC-9A61-63C3F6CFE12C}"/>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Cosine and Euclidean measures answer different questions</a:t>
            </a:r>
          </a:p>
        </p:txBody>
      </p:sp>
      <p:sp>
        <p:nvSpPr>
          <p:cNvPr id="4" name="">
            <a:extLst xmlns:a="http://schemas.openxmlformats.org/drawingml/2006/main">
              <a:ext uri="{FF2B5EF4-FFF2-40B4-BE49-F238E27FC236}">
                <a16:creationId xmlns:a16="http://schemas.microsoft.com/office/drawing/2014/main" id="{A23322B3-F774-4556-8AA3-E854354E82CC}"/>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486C712-626D-4301-919D-5B3FB6A0AAE6}"/>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10</a:t>
            </a:r>
          </a:p>
        </p:txBody>
      </p:sp>
      <p:sp>
        <p:nvSpPr>
          <p:cNvPr id="6" name="">
            <a:extLst xmlns:a="http://schemas.openxmlformats.org/drawingml/2006/main">
              <a:ext uri="{FF2B5EF4-FFF2-40B4-BE49-F238E27FC236}">
                <a16:creationId xmlns:a16="http://schemas.microsoft.com/office/drawing/2014/main" id="{EEF45B70-1B23-4378-BB9A-8BEED07B4E1E}"/>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D4ED8"/>
                </a:solidFill>
                <a:latin typeface="Helvetica Neue"/>
                <a:ea typeface="Helvetica Neue"/>
                <a:cs typeface="Helvetica Neue"/>
              </a:defRPr>
            </a:pPr>
            <a:r>
              <a:rPr sz="1950" b="1">
                <a:solidFill>
                  <a:srgbClr val="1D4ED8"/>
                </a:solidFill>
                <a:latin typeface="Helvetica Neue"/>
                <a:ea typeface="Helvetica Neue"/>
                <a:cs typeface="Helvetica Neue"/>
              </a:rPr>
              <a:t>Cosine similarity</a:t>
            </a:r>
          </a:p>
        </p:txBody>
      </p:sp>
      <p:sp>
        <p:nvSpPr>
          <p:cNvPr id="7" name="">
            <a:extLst xmlns:a="http://schemas.openxmlformats.org/drawingml/2006/main">
              <a:ext uri="{FF2B5EF4-FFF2-40B4-BE49-F238E27FC236}">
                <a16:creationId xmlns:a16="http://schemas.microsoft.com/office/drawing/2014/main" id="{37EE273D-D9B9-4654-8C24-A3C100B03498}"/>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Euclidean distance</a:t>
            </a:r>
          </a:p>
        </p:txBody>
      </p:sp>
      <p:sp>
        <p:nvSpPr>
          <p:cNvPr id="8" name="">
            <a:extLst xmlns:a="http://schemas.openxmlformats.org/drawingml/2006/main">
              <a:ext uri="{FF2B5EF4-FFF2-40B4-BE49-F238E27FC236}">
                <a16:creationId xmlns:a16="http://schemas.microsoft.com/office/drawing/2014/main" id="{D44917CE-0778-4415-9F39-1C7D596F2886}"/>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8222C232-5491-4380-B6F8-C78B116F2DC6}"/>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B4F8D118-15F1-4FE9-A7CB-486DEA807708}"/>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Compares direction after accounting for magnitude</a:t>
            </a:r>
          </a:p>
        </p:txBody>
      </p:sp>
      <p:sp>
        <p:nvSpPr>
          <p:cNvPr id="11" name="">
            <a:extLst xmlns:a="http://schemas.openxmlformats.org/drawingml/2006/main">
              <a:ext uri="{FF2B5EF4-FFF2-40B4-BE49-F238E27FC236}">
                <a16:creationId xmlns:a16="http://schemas.microsoft.com/office/drawing/2014/main" id="{8594E80F-EECA-431A-86C2-3B3AAAF2B7F5}"/>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2" name="">
            <a:extLst xmlns:a="http://schemas.openxmlformats.org/drawingml/2006/main">
              <a:ext uri="{FF2B5EF4-FFF2-40B4-BE49-F238E27FC236}">
                <a16:creationId xmlns:a16="http://schemas.microsoft.com/office/drawing/2014/main" id="{DDF701CE-055B-4732-BECF-17593D2D2DD3}"/>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Useful when orientation carries semantic meaning</a:t>
            </a:r>
          </a:p>
        </p:txBody>
      </p:sp>
      <p:sp>
        <p:nvSpPr>
          <p:cNvPr id="13" name="">
            <a:extLst xmlns:a="http://schemas.openxmlformats.org/drawingml/2006/main">
              <a:ext uri="{FF2B5EF4-FFF2-40B4-BE49-F238E27FC236}">
                <a16:creationId xmlns:a16="http://schemas.microsoft.com/office/drawing/2014/main" id="{3F65C770-B32F-4D3D-AA74-A24BC8ACFC0D}"/>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4" name="">
            <a:extLst xmlns:a="http://schemas.openxmlformats.org/drawingml/2006/main">
              <a:ext uri="{FF2B5EF4-FFF2-40B4-BE49-F238E27FC236}">
                <a16:creationId xmlns:a16="http://schemas.microsoft.com/office/drawing/2014/main" id="{169B8D2A-524B-4241-B84A-9BCFD1AB4426}"/>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Requires consistent handling of zero and normalization</a:t>
            </a:r>
          </a:p>
        </p:txBody>
      </p:sp>
      <p:sp>
        <p:nvSpPr>
          <p:cNvPr id="15" name="">
            <a:extLst xmlns:a="http://schemas.openxmlformats.org/drawingml/2006/main">
              <a:ext uri="{FF2B5EF4-FFF2-40B4-BE49-F238E27FC236}">
                <a16:creationId xmlns:a16="http://schemas.microsoft.com/office/drawing/2014/main" id="{70D77D16-4EFD-4922-8221-440418BB83D9}"/>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22657623-1254-4B85-BD4E-70423AE3AA8A}"/>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Measures straight-line distance between points</a:t>
            </a:r>
          </a:p>
        </p:txBody>
      </p:sp>
      <p:sp>
        <p:nvSpPr>
          <p:cNvPr id="17" name="">
            <a:extLst xmlns:a="http://schemas.openxmlformats.org/drawingml/2006/main">
              <a:ext uri="{FF2B5EF4-FFF2-40B4-BE49-F238E27FC236}">
                <a16:creationId xmlns:a16="http://schemas.microsoft.com/office/drawing/2014/main" id="{19A6C5DF-DD18-423E-B7FD-DFA0D154743C}"/>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53CEA304-1B26-42D8-99A3-5CB6C385DBBC}"/>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Changes with both direction and magnitude</a:t>
            </a:r>
          </a:p>
        </p:txBody>
      </p:sp>
      <p:sp>
        <p:nvSpPr>
          <p:cNvPr id="19" name="">
            <a:extLst xmlns:a="http://schemas.openxmlformats.org/drawingml/2006/main">
              <a:ext uri="{FF2B5EF4-FFF2-40B4-BE49-F238E27FC236}">
                <a16:creationId xmlns:a16="http://schemas.microsoft.com/office/drawing/2014/main" id="{2353AAAD-7E76-44AD-8EDF-B51116C65D03}"/>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A8C0E6EC-3226-4F4F-975E-2F7A4CB12011}"/>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On unit vectors, squared distance equals 2 − 2 × cosine</a:t>
            </a:r>
          </a:p>
        </p:txBody>
      </p:sp>
    </p:spTree>
    <p:extLst>
      <p:ext uri="{BB962C8B-B14F-4D97-AF65-F5344CB8AC3E}">
        <p14:creationId xmlns:p14="http://schemas.microsoft.com/office/powerpoint/2010/main" val="1640835483"/>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94D1C525-450C-4B07-B06B-B1E39325518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E8DBB999-7C96-47E4-BE8F-2853111C5324}"/>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09  /  CST4714</a:t>
            </a:r>
          </a:p>
        </p:txBody>
      </p:sp>
      <p:sp>
        <p:nvSpPr>
          <p:cNvPr id="3" name="slide-title">
            <a:extLst xmlns:a="http://schemas.openxmlformats.org/drawingml/2006/main">
              <a:ext uri="{FF2B5EF4-FFF2-40B4-BE49-F238E27FC236}">
                <a16:creationId xmlns:a16="http://schemas.microsoft.com/office/drawing/2014/main" id="{E21FB3B3-542A-40C4-A1FF-202396E842F4}"/>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Choose a model from the dominant workload question</a:t>
            </a:r>
          </a:p>
        </p:txBody>
      </p:sp>
      <p:sp>
        <p:nvSpPr>
          <p:cNvPr id="4" name="">
            <a:extLst xmlns:a="http://schemas.openxmlformats.org/drawingml/2006/main">
              <a:ext uri="{FF2B5EF4-FFF2-40B4-BE49-F238E27FC236}">
                <a16:creationId xmlns:a16="http://schemas.microsoft.com/office/drawing/2014/main" id="{6917581F-344A-4929-BB08-79ABA7216C71}"/>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C8B425F0-B0FB-47A0-ABEA-528AA9B51CDC}"/>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11</a:t>
            </a:r>
          </a:p>
        </p:txBody>
      </p:sp>
      <p:sp>
        <p:nvSpPr>
          <p:cNvPr id="6" name="">
            <a:extLst xmlns:a="http://schemas.openxmlformats.org/drawingml/2006/main">
              <a:ext uri="{FF2B5EF4-FFF2-40B4-BE49-F238E27FC236}">
                <a16:creationId xmlns:a16="http://schemas.microsoft.com/office/drawing/2014/main" id="{52F34BE5-50CE-483F-BA7E-FF56D56DDE45}"/>
              </a:ext>
            </a:extLst>
          </p:cNvPr>
          <p:cNvSpPr>
            <a:spLocks xmlns:a="http://schemas.openxmlformats.org/drawingml/2006/main" noGrp="1"/>
          </p:cNvSpPr>
          <p:nvPr/>
        </p:nvSpPr>
        <p:spPr>
          <a:xfrm xmlns:a="http://schemas.openxmlformats.org/drawingml/2006/main">
            <a:off x="685800" y="1714500"/>
            <a:ext cx="1809750" cy="514350"/>
          </a:xfrm>
          <a:prstGeom xmlns:a="http://schemas.openxmlformats.org/drawingml/2006/main" prst="rect">
            <a:avLst/>
          </a:prstGeom>
          <a:solidFill xmlns:a="http://schemas.openxmlformats.org/drawingml/2006/main">
            <a:srgbClr val="1D4ED8"/>
          </a:solidFill>
          <a:ln xmlns:a="http://schemas.openxmlformats.org/drawingml/2006/main" w="9525">
            <a:solidFill>
              <a:srgbClr val="1D4ED8"/>
            </a:solidFill>
            <a:prstDash val="solid"/>
          </a:ln>
        </p:spPr>
      </p:sp>
      <p:sp>
        <p:nvSpPr>
          <p:cNvPr id="7" name="">
            <a:extLst xmlns:a="http://schemas.openxmlformats.org/drawingml/2006/main">
              <a:ext uri="{FF2B5EF4-FFF2-40B4-BE49-F238E27FC236}">
                <a16:creationId xmlns:a16="http://schemas.microsoft.com/office/drawing/2014/main" id="{83EA68E1-9090-42AA-A142-914E630231FC}"/>
              </a:ext>
            </a:extLst>
          </p:cNvPr>
          <p:cNvSpPr>
            <a:spLocks xmlns:a="http://schemas.openxmlformats.org/drawingml/2006/main" noGrp="1"/>
          </p:cNvSpPr>
          <p:nvPr/>
        </p:nvSpPr>
        <p:spPr>
          <a:xfrm xmlns:a="http://schemas.openxmlformats.org/drawingml/2006/main">
            <a:off x="762000" y="180975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Model</a:t>
            </a:r>
          </a:p>
        </p:txBody>
      </p:sp>
      <p:sp>
        <p:nvSpPr>
          <p:cNvPr id="8" name="">
            <a:extLst xmlns:a="http://schemas.openxmlformats.org/drawingml/2006/main">
              <a:ext uri="{FF2B5EF4-FFF2-40B4-BE49-F238E27FC236}">
                <a16:creationId xmlns:a16="http://schemas.microsoft.com/office/drawing/2014/main" id="{3FD164D9-EE90-4B99-9FA8-92007C1658D2}"/>
              </a:ext>
            </a:extLst>
          </p:cNvPr>
          <p:cNvSpPr>
            <a:spLocks xmlns:a="http://schemas.openxmlformats.org/drawingml/2006/main" noGrp="1"/>
          </p:cNvSpPr>
          <p:nvPr/>
        </p:nvSpPr>
        <p:spPr>
          <a:xfrm xmlns:a="http://schemas.openxmlformats.org/drawingml/2006/main">
            <a:off x="2495550" y="1714500"/>
            <a:ext cx="333375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AC1FDDB5-0A3E-4733-976D-673A2AAD72BF}"/>
              </a:ext>
            </a:extLst>
          </p:cNvPr>
          <p:cNvSpPr>
            <a:spLocks xmlns:a="http://schemas.openxmlformats.org/drawingml/2006/main" noGrp="1"/>
          </p:cNvSpPr>
          <p:nvPr/>
        </p:nvSpPr>
        <p:spPr>
          <a:xfrm xmlns:a="http://schemas.openxmlformats.org/drawingml/2006/main">
            <a:off x="2571750" y="1809750"/>
            <a:ext cx="3181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Natural question</a:t>
            </a:r>
          </a:p>
        </p:txBody>
      </p:sp>
      <p:sp>
        <p:nvSpPr>
          <p:cNvPr id="10" name="">
            <a:extLst xmlns:a="http://schemas.openxmlformats.org/drawingml/2006/main">
              <a:ext uri="{FF2B5EF4-FFF2-40B4-BE49-F238E27FC236}">
                <a16:creationId xmlns:a16="http://schemas.microsoft.com/office/drawing/2014/main" id="{9EDA1A65-D1C2-4D11-9B1F-87E14B0FCDC5}"/>
              </a:ext>
            </a:extLst>
          </p:cNvPr>
          <p:cNvSpPr>
            <a:spLocks xmlns:a="http://schemas.openxmlformats.org/drawingml/2006/main" noGrp="1"/>
          </p:cNvSpPr>
          <p:nvPr/>
        </p:nvSpPr>
        <p:spPr>
          <a:xfrm xmlns:a="http://schemas.openxmlformats.org/drawingml/2006/main">
            <a:off x="5829300" y="1714500"/>
            <a:ext cx="28575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3B2605B5-030C-4BB5-AF0D-101023C4554A}"/>
              </a:ext>
            </a:extLst>
          </p:cNvPr>
          <p:cNvSpPr>
            <a:spLocks xmlns:a="http://schemas.openxmlformats.org/drawingml/2006/main" noGrp="1"/>
          </p:cNvSpPr>
          <p:nvPr/>
        </p:nvSpPr>
        <p:spPr>
          <a:xfrm xmlns:a="http://schemas.openxmlformats.org/drawingml/2006/main">
            <a:off x="5905500" y="1809750"/>
            <a:ext cx="2705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Primary strength</a:t>
            </a:r>
          </a:p>
        </p:txBody>
      </p:sp>
      <p:sp>
        <p:nvSpPr>
          <p:cNvPr id="12" name="">
            <a:extLst xmlns:a="http://schemas.openxmlformats.org/drawingml/2006/main">
              <a:ext uri="{FF2B5EF4-FFF2-40B4-BE49-F238E27FC236}">
                <a16:creationId xmlns:a16="http://schemas.microsoft.com/office/drawing/2014/main" id="{8408AA37-D82D-42C3-A22B-E1ABBA49AF63}"/>
              </a:ext>
            </a:extLst>
          </p:cNvPr>
          <p:cNvSpPr>
            <a:spLocks xmlns:a="http://schemas.openxmlformats.org/drawingml/2006/main" noGrp="1"/>
          </p:cNvSpPr>
          <p:nvPr/>
        </p:nvSpPr>
        <p:spPr>
          <a:xfrm xmlns:a="http://schemas.openxmlformats.org/drawingml/2006/main">
            <a:off x="8686800" y="1714500"/>
            <a:ext cx="28194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8A10A0D2-C6EF-4A46-914F-D4B14AE7A68D}"/>
              </a:ext>
            </a:extLst>
          </p:cNvPr>
          <p:cNvSpPr>
            <a:spLocks xmlns:a="http://schemas.openxmlformats.org/drawingml/2006/main" noGrp="1"/>
          </p:cNvSpPr>
          <p:nvPr/>
        </p:nvSpPr>
        <p:spPr>
          <a:xfrm xmlns:a="http://schemas.openxmlformats.org/drawingml/2006/main">
            <a:off x="8763000" y="18097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Common cost</a:t>
            </a:r>
          </a:p>
        </p:txBody>
      </p:sp>
      <p:sp>
        <p:nvSpPr>
          <p:cNvPr id="14" name="">
            <a:extLst xmlns:a="http://schemas.openxmlformats.org/drawingml/2006/main">
              <a:ext uri="{FF2B5EF4-FFF2-40B4-BE49-F238E27FC236}">
                <a16:creationId xmlns:a16="http://schemas.microsoft.com/office/drawing/2014/main" id="{AF6F976D-9464-453E-A49A-EF868F77AC23}"/>
              </a:ext>
            </a:extLst>
          </p:cNvPr>
          <p:cNvSpPr>
            <a:spLocks xmlns:a="http://schemas.openxmlformats.org/drawingml/2006/main" noGrp="1"/>
          </p:cNvSpPr>
          <p:nvPr/>
        </p:nvSpPr>
        <p:spPr>
          <a:xfrm xmlns:a="http://schemas.openxmlformats.org/drawingml/2006/main">
            <a:off x="685800" y="2228850"/>
            <a:ext cx="18097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A60866BC-DCA7-472D-A653-963F29D490A1}"/>
              </a:ext>
            </a:extLst>
          </p:cNvPr>
          <p:cNvSpPr>
            <a:spLocks xmlns:a="http://schemas.openxmlformats.org/drawingml/2006/main" noGrp="1"/>
          </p:cNvSpPr>
          <p:nvPr/>
        </p:nvSpPr>
        <p:spPr>
          <a:xfrm xmlns:a="http://schemas.openxmlformats.org/drawingml/2006/main">
            <a:off x="762000" y="2305050"/>
            <a:ext cx="1657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Relational</a:t>
            </a:r>
          </a:p>
        </p:txBody>
      </p:sp>
      <p:sp>
        <p:nvSpPr>
          <p:cNvPr id="16" name="">
            <a:extLst xmlns:a="http://schemas.openxmlformats.org/drawingml/2006/main">
              <a:ext uri="{FF2B5EF4-FFF2-40B4-BE49-F238E27FC236}">
                <a16:creationId xmlns:a16="http://schemas.microsoft.com/office/drawing/2014/main" id="{4897AF07-BCAC-48FB-BF49-F2EE6D31F775}"/>
              </a:ext>
            </a:extLst>
          </p:cNvPr>
          <p:cNvSpPr>
            <a:spLocks xmlns:a="http://schemas.openxmlformats.org/drawingml/2006/main" noGrp="1"/>
          </p:cNvSpPr>
          <p:nvPr/>
        </p:nvSpPr>
        <p:spPr>
          <a:xfrm xmlns:a="http://schemas.openxmlformats.org/drawingml/2006/main">
            <a:off x="2495550" y="2228850"/>
            <a:ext cx="33337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29AE9540-919D-4DBD-8D03-1342B40B55FD}"/>
              </a:ext>
            </a:extLst>
          </p:cNvPr>
          <p:cNvSpPr>
            <a:spLocks xmlns:a="http://schemas.openxmlformats.org/drawingml/2006/main" noGrp="1"/>
          </p:cNvSpPr>
          <p:nvPr/>
        </p:nvSpPr>
        <p:spPr>
          <a:xfrm xmlns:a="http://schemas.openxmlformats.org/drawingml/2006/main">
            <a:off x="2571750" y="2305050"/>
            <a:ext cx="3181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Which facts match across constrained relations?</a:t>
            </a:r>
          </a:p>
        </p:txBody>
      </p:sp>
      <p:sp>
        <p:nvSpPr>
          <p:cNvPr id="18" name="">
            <a:extLst xmlns:a="http://schemas.openxmlformats.org/drawingml/2006/main">
              <a:ext uri="{FF2B5EF4-FFF2-40B4-BE49-F238E27FC236}">
                <a16:creationId xmlns:a16="http://schemas.microsoft.com/office/drawing/2014/main" id="{0DEE3CD4-947E-4EA7-8676-DBAB162D7A4D}"/>
              </a:ext>
            </a:extLst>
          </p:cNvPr>
          <p:cNvSpPr>
            <a:spLocks xmlns:a="http://schemas.openxmlformats.org/drawingml/2006/main" noGrp="1"/>
          </p:cNvSpPr>
          <p:nvPr/>
        </p:nvSpPr>
        <p:spPr>
          <a:xfrm xmlns:a="http://schemas.openxmlformats.org/drawingml/2006/main">
            <a:off x="5829300" y="2228850"/>
            <a:ext cx="28575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9795EE20-D2C1-4E55-9C55-F956EFFF6239}"/>
              </a:ext>
            </a:extLst>
          </p:cNvPr>
          <p:cNvSpPr>
            <a:spLocks xmlns:a="http://schemas.openxmlformats.org/drawingml/2006/main" noGrp="1"/>
          </p:cNvSpPr>
          <p:nvPr/>
        </p:nvSpPr>
        <p:spPr>
          <a:xfrm xmlns:a="http://schemas.openxmlformats.org/drawingml/2006/main">
            <a:off x="5905500" y="2305050"/>
            <a:ext cx="2705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integrity + flexible declarative queries</a:t>
            </a:r>
          </a:p>
        </p:txBody>
      </p:sp>
      <p:sp>
        <p:nvSpPr>
          <p:cNvPr id="20" name="">
            <a:extLst xmlns:a="http://schemas.openxmlformats.org/drawingml/2006/main">
              <a:ext uri="{FF2B5EF4-FFF2-40B4-BE49-F238E27FC236}">
                <a16:creationId xmlns:a16="http://schemas.microsoft.com/office/drawing/2014/main" id="{ED46161C-DCC0-49F1-A5E7-A715A62043CE}"/>
              </a:ext>
            </a:extLst>
          </p:cNvPr>
          <p:cNvSpPr>
            <a:spLocks xmlns:a="http://schemas.openxmlformats.org/drawingml/2006/main" noGrp="1"/>
          </p:cNvSpPr>
          <p:nvPr/>
        </p:nvSpPr>
        <p:spPr>
          <a:xfrm xmlns:a="http://schemas.openxmlformats.org/drawingml/2006/main">
            <a:off x="8686800" y="2228850"/>
            <a:ext cx="28194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1" name="">
            <a:extLst xmlns:a="http://schemas.openxmlformats.org/drawingml/2006/main">
              <a:ext uri="{FF2B5EF4-FFF2-40B4-BE49-F238E27FC236}">
                <a16:creationId xmlns:a16="http://schemas.microsoft.com/office/drawing/2014/main" id="{742A2B7D-76AB-4F4A-87E4-DC8D7CCE1C55}"/>
              </a:ext>
            </a:extLst>
          </p:cNvPr>
          <p:cNvSpPr>
            <a:spLocks xmlns:a="http://schemas.openxmlformats.org/drawingml/2006/main" noGrp="1"/>
          </p:cNvSpPr>
          <p:nvPr/>
        </p:nvSpPr>
        <p:spPr>
          <a:xfrm xmlns:a="http://schemas.openxmlformats.org/drawingml/2006/main">
            <a:off x="8763000" y="230505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joins and object-relational mapping</a:t>
            </a:r>
          </a:p>
        </p:txBody>
      </p:sp>
      <p:sp>
        <p:nvSpPr>
          <p:cNvPr id="22" name="">
            <a:extLst xmlns:a="http://schemas.openxmlformats.org/drawingml/2006/main">
              <a:ext uri="{FF2B5EF4-FFF2-40B4-BE49-F238E27FC236}">
                <a16:creationId xmlns:a16="http://schemas.microsoft.com/office/drawing/2014/main" id="{272E6034-3B51-4772-8029-69CD10275FA7}"/>
              </a:ext>
            </a:extLst>
          </p:cNvPr>
          <p:cNvSpPr>
            <a:spLocks xmlns:a="http://schemas.openxmlformats.org/drawingml/2006/main" noGrp="1"/>
          </p:cNvSpPr>
          <p:nvPr/>
        </p:nvSpPr>
        <p:spPr>
          <a:xfrm xmlns:a="http://schemas.openxmlformats.org/drawingml/2006/main">
            <a:off x="685800" y="2876550"/>
            <a:ext cx="1809750" cy="6477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D5299D3E-0BD6-4EFA-BC04-296216DC30DC}"/>
              </a:ext>
            </a:extLst>
          </p:cNvPr>
          <p:cNvSpPr>
            <a:spLocks xmlns:a="http://schemas.openxmlformats.org/drawingml/2006/main" noGrp="1"/>
          </p:cNvSpPr>
          <p:nvPr/>
        </p:nvSpPr>
        <p:spPr>
          <a:xfrm xmlns:a="http://schemas.openxmlformats.org/drawingml/2006/main">
            <a:off x="762000" y="2952750"/>
            <a:ext cx="1657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Key-value</a:t>
            </a:r>
          </a:p>
        </p:txBody>
      </p:sp>
      <p:sp>
        <p:nvSpPr>
          <p:cNvPr id="24" name="">
            <a:extLst xmlns:a="http://schemas.openxmlformats.org/drawingml/2006/main">
              <a:ext uri="{FF2B5EF4-FFF2-40B4-BE49-F238E27FC236}">
                <a16:creationId xmlns:a16="http://schemas.microsoft.com/office/drawing/2014/main" id="{015B176C-8323-4710-9396-B48AF9D715A6}"/>
              </a:ext>
            </a:extLst>
          </p:cNvPr>
          <p:cNvSpPr>
            <a:spLocks xmlns:a="http://schemas.openxmlformats.org/drawingml/2006/main" noGrp="1"/>
          </p:cNvSpPr>
          <p:nvPr/>
        </p:nvSpPr>
        <p:spPr>
          <a:xfrm xmlns:a="http://schemas.openxmlformats.org/drawingml/2006/main">
            <a:off x="2495550" y="2876550"/>
            <a:ext cx="3333750" cy="6477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5" name="">
            <a:extLst xmlns:a="http://schemas.openxmlformats.org/drawingml/2006/main">
              <a:ext uri="{FF2B5EF4-FFF2-40B4-BE49-F238E27FC236}">
                <a16:creationId xmlns:a16="http://schemas.microsoft.com/office/drawing/2014/main" id="{A8ADF665-093F-4CD6-ABB7-3ED0E0EDFC84}"/>
              </a:ext>
            </a:extLst>
          </p:cNvPr>
          <p:cNvSpPr>
            <a:spLocks xmlns:a="http://schemas.openxmlformats.org/drawingml/2006/main" noGrp="1"/>
          </p:cNvSpPr>
          <p:nvPr/>
        </p:nvSpPr>
        <p:spPr>
          <a:xfrm xmlns:a="http://schemas.openxmlformats.org/drawingml/2006/main">
            <a:off x="2571750" y="2952750"/>
            <a:ext cx="3181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What value belongs to this exact key?</a:t>
            </a:r>
          </a:p>
        </p:txBody>
      </p:sp>
      <p:sp>
        <p:nvSpPr>
          <p:cNvPr id="26" name="">
            <a:extLst xmlns:a="http://schemas.openxmlformats.org/drawingml/2006/main">
              <a:ext uri="{FF2B5EF4-FFF2-40B4-BE49-F238E27FC236}">
                <a16:creationId xmlns:a16="http://schemas.microsoft.com/office/drawing/2014/main" id="{FF71D950-C7A9-4656-A710-EE71FBF9D3FC}"/>
              </a:ext>
            </a:extLst>
          </p:cNvPr>
          <p:cNvSpPr>
            <a:spLocks xmlns:a="http://schemas.openxmlformats.org/drawingml/2006/main" noGrp="1"/>
          </p:cNvSpPr>
          <p:nvPr/>
        </p:nvSpPr>
        <p:spPr>
          <a:xfrm xmlns:a="http://schemas.openxmlformats.org/drawingml/2006/main">
            <a:off x="5829300" y="2876550"/>
            <a:ext cx="2857500" cy="6477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7" name="">
            <a:extLst xmlns:a="http://schemas.openxmlformats.org/drawingml/2006/main">
              <a:ext uri="{FF2B5EF4-FFF2-40B4-BE49-F238E27FC236}">
                <a16:creationId xmlns:a16="http://schemas.microsoft.com/office/drawing/2014/main" id="{61E0B5CA-34C7-4773-B32C-986C02E34284}"/>
              </a:ext>
            </a:extLst>
          </p:cNvPr>
          <p:cNvSpPr>
            <a:spLocks xmlns:a="http://schemas.openxmlformats.org/drawingml/2006/main" noGrp="1"/>
          </p:cNvSpPr>
          <p:nvPr/>
        </p:nvSpPr>
        <p:spPr>
          <a:xfrm xmlns:a="http://schemas.openxmlformats.org/drawingml/2006/main">
            <a:off x="5905500" y="2952750"/>
            <a:ext cx="2705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simple direct lookup and partitioning</a:t>
            </a:r>
          </a:p>
        </p:txBody>
      </p:sp>
      <p:sp>
        <p:nvSpPr>
          <p:cNvPr id="28" name="">
            <a:extLst xmlns:a="http://schemas.openxmlformats.org/drawingml/2006/main">
              <a:ext uri="{FF2B5EF4-FFF2-40B4-BE49-F238E27FC236}">
                <a16:creationId xmlns:a16="http://schemas.microsoft.com/office/drawing/2014/main" id="{929E384F-774A-45A9-9AD8-D8E798039CC5}"/>
              </a:ext>
            </a:extLst>
          </p:cNvPr>
          <p:cNvSpPr>
            <a:spLocks xmlns:a="http://schemas.openxmlformats.org/drawingml/2006/main" noGrp="1"/>
          </p:cNvSpPr>
          <p:nvPr/>
        </p:nvSpPr>
        <p:spPr>
          <a:xfrm xmlns:a="http://schemas.openxmlformats.org/drawingml/2006/main">
            <a:off x="8686800" y="2876550"/>
            <a:ext cx="2819400" cy="6477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9" name="">
            <a:extLst xmlns:a="http://schemas.openxmlformats.org/drawingml/2006/main">
              <a:ext uri="{FF2B5EF4-FFF2-40B4-BE49-F238E27FC236}">
                <a16:creationId xmlns:a16="http://schemas.microsoft.com/office/drawing/2014/main" id="{C8CCFA55-0492-4EB5-947C-57D58FD2A9D1}"/>
              </a:ext>
            </a:extLst>
          </p:cNvPr>
          <p:cNvSpPr>
            <a:spLocks xmlns:a="http://schemas.openxmlformats.org/drawingml/2006/main" noGrp="1"/>
          </p:cNvSpPr>
          <p:nvPr/>
        </p:nvSpPr>
        <p:spPr>
          <a:xfrm xmlns:a="http://schemas.openxmlformats.org/drawingml/2006/main">
            <a:off x="8763000" y="295275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weak unknown-key queries</a:t>
            </a:r>
          </a:p>
        </p:txBody>
      </p:sp>
      <p:sp>
        <p:nvSpPr>
          <p:cNvPr id="30" name="">
            <a:extLst xmlns:a="http://schemas.openxmlformats.org/drawingml/2006/main">
              <a:ext uri="{FF2B5EF4-FFF2-40B4-BE49-F238E27FC236}">
                <a16:creationId xmlns:a16="http://schemas.microsoft.com/office/drawing/2014/main" id="{6A200A09-AD5A-4AE9-BBFC-FA71C1DD1B46}"/>
              </a:ext>
            </a:extLst>
          </p:cNvPr>
          <p:cNvSpPr>
            <a:spLocks xmlns:a="http://schemas.openxmlformats.org/drawingml/2006/main" noGrp="1"/>
          </p:cNvSpPr>
          <p:nvPr/>
        </p:nvSpPr>
        <p:spPr>
          <a:xfrm xmlns:a="http://schemas.openxmlformats.org/drawingml/2006/main">
            <a:off x="685800" y="3524250"/>
            <a:ext cx="18097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1" name="">
            <a:extLst xmlns:a="http://schemas.openxmlformats.org/drawingml/2006/main">
              <a:ext uri="{FF2B5EF4-FFF2-40B4-BE49-F238E27FC236}">
                <a16:creationId xmlns:a16="http://schemas.microsoft.com/office/drawing/2014/main" id="{7FE9712A-2B3F-4495-BE4E-E860F5D66839}"/>
              </a:ext>
            </a:extLst>
          </p:cNvPr>
          <p:cNvSpPr>
            <a:spLocks xmlns:a="http://schemas.openxmlformats.org/drawingml/2006/main" noGrp="1"/>
          </p:cNvSpPr>
          <p:nvPr/>
        </p:nvSpPr>
        <p:spPr>
          <a:xfrm xmlns:a="http://schemas.openxmlformats.org/drawingml/2006/main">
            <a:off x="762000" y="3600450"/>
            <a:ext cx="1657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Wide-column</a:t>
            </a:r>
          </a:p>
        </p:txBody>
      </p:sp>
      <p:sp>
        <p:nvSpPr>
          <p:cNvPr id="32" name="">
            <a:extLst xmlns:a="http://schemas.openxmlformats.org/drawingml/2006/main">
              <a:ext uri="{FF2B5EF4-FFF2-40B4-BE49-F238E27FC236}">
                <a16:creationId xmlns:a16="http://schemas.microsoft.com/office/drawing/2014/main" id="{478E3E16-8B9E-41D5-B08A-2F847F5E987C}"/>
              </a:ext>
            </a:extLst>
          </p:cNvPr>
          <p:cNvSpPr>
            <a:spLocks xmlns:a="http://schemas.openxmlformats.org/drawingml/2006/main" noGrp="1"/>
          </p:cNvSpPr>
          <p:nvPr/>
        </p:nvSpPr>
        <p:spPr>
          <a:xfrm xmlns:a="http://schemas.openxmlformats.org/drawingml/2006/main">
            <a:off x="2495550" y="3524250"/>
            <a:ext cx="33337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3" name="">
            <a:extLst xmlns:a="http://schemas.openxmlformats.org/drawingml/2006/main">
              <a:ext uri="{FF2B5EF4-FFF2-40B4-BE49-F238E27FC236}">
                <a16:creationId xmlns:a16="http://schemas.microsoft.com/office/drawing/2014/main" id="{568DD238-D392-436D-A28E-24A3202945EE}"/>
              </a:ext>
            </a:extLst>
          </p:cNvPr>
          <p:cNvSpPr>
            <a:spLocks xmlns:a="http://schemas.openxmlformats.org/drawingml/2006/main" noGrp="1"/>
          </p:cNvSpPr>
          <p:nvPr/>
        </p:nvSpPr>
        <p:spPr>
          <a:xfrm xmlns:a="http://schemas.openxmlformats.org/drawingml/2006/main">
            <a:off x="2571750" y="3600450"/>
            <a:ext cx="3181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Which ordered rows belong to this partition?</a:t>
            </a:r>
          </a:p>
        </p:txBody>
      </p:sp>
      <p:sp>
        <p:nvSpPr>
          <p:cNvPr id="34" name="">
            <a:extLst xmlns:a="http://schemas.openxmlformats.org/drawingml/2006/main">
              <a:ext uri="{FF2B5EF4-FFF2-40B4-BE49-F238E27FC236}">
                <a16:creationId xmlns:a16="http://schemas.microsoft.com/office/drawing/2014/main" id="{32159BC1-1CF3-4D5F-9903-3EFB8D29D990}"/>
              </a:ext>
            </a:extLst>
          </p:cNvPr>
          <p:cNvSpPr>
            <a:spLocks xmlns:a="http://schemas.openxmlformats.org/drawingml/2006/main" noGrp="1"/>
          </p:cNvSpPr>
          <p:nvPr/>
        </p:nvSpPr>
        <p:spPr>
          <a:xfrm xmlns:a="http://schemas.openxmlformats.org/drawingml/2006/main">
            <a:off x="5829300" y="3524250"/>
            <a:ext cx="28575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5" name="">
            <a:extLst xmlns:a="http://schemas.openxmlformats.org/drawingml/2006/main">
              <a:ext uri="{FF2B5EF4-FFF2-40B4-BE49-F238E27FC236}">
                <a16:creationId xmlns:a16="http://schemas.microsoft.com/office/drawing/2014/main" id="{7D087E06-01AA-4EB9-8902-2E48A157A21A}"/>
              </a:ext>
            </a:extLst>
          </p:cNvPr>
          <p:cNvSpPr>
            <a:spLocks xmlns:a="http://schemas.openxmlformats.org/drawingml/2006/main" noGrp="1"/>
          </p:cNvSpPr>
          <p:nvPr/>
        </p:nvSpPr>
        <p:spPr>
          <a:xfrm xmlns:a="http://schemas.openxmlformats.org/drawingml/2006/main">
            <a:off x="5905500" y="3600450"/>
            <a:ext cx="2705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distributed write/read pattern</a:t>
            </a:r>
          </a:p>
        </p:txBody>
      </p:sp>
      <p:sp>
        <p:nvSpPr>
          <p:cNvPr id="36" name="">
            <a:extLst xmlns:a="http://schemas.openxmlformats.org/drawingml/2006/main">
              <a:ext uri="{FF2B5EF4-FFF2-40B4-BE49-F238E27FC236}">
                <a16:creationId xmlns:a16="http://schemas.microsoft.com/office/drawing/2014/main" id="{5F96620A-4EF4-4193-9099-5D069FBEA1B3}"/>
              </a:ext>
            </a:extLst>
          </p:cNvPr>
          <p:cNvSpPr>
            <a:spLocks xmlns:a="http://schemas.openxmlformats.org/drawingml/2006/main" noGrp="1"/>
          </p:cNvSpPr>
          <p:nvPr/>
        </p:nvSpPr>
        <p:spPr>
          <a:xfrm xmlns:a="http://schemas.openxmlformats.org/drawingml/2006/main">
            <a:off x="8686800" y="3524250"/>
            <a:ext cx="28194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7" name="">
            <a:extLst xmlns:a="http://schemas.openxmlformats.org/drawingml/2006/main">
              <a:ext uri="{FF2B5EF4-FFF2-40B4-BE49-F238E27FC236}">
                <a16:creationId xmlns:a16="http://schemas.microsoft.com/office/drawing/2014/main" id="{4291F82B-C570-47B3-BCDF-673E4C1667ED}"/>
              </a:ext>
            </a:extLst>
          </p:cNvPr>
          <p:cNvSpPr>
            <a:spLocks xmlns:a="http://schemas.openxmlformats.org/drawingml/2006/main" noGrp="1"/>
          </p:cNvSpPr>
          <p:nvPr/>
        </p:nvSpPr>
        <p:spPr>
          <a:xfrm xmlns:a="http://schemas.openxmlformats.org/drawingml/2006/main">
            <a:off x="8763000" y="360045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query-driven duplication</a:t>
            </a:r>
          </a:p>
        </p:txBody>
      </p:sp>
      <p:sp>
        <p:nvSpPr>
          <p:cNvPr id="38" name="">
            <a:extLst xmlns:a="http://schemas.openxmlformats.org/drawingml/2006/main">
              <a:ext uri="{FF2B5EF4-FFF2-40B4-BE49-F238E27FC236}">
                <a16:creationId xmlns:a16="http://schemas.microsoft.com/office/drawing/2014/main" id="{275ECD7D-5545-4FF6-BB37-89CB984AFD55}"/>
              </a:ext>
            </a:extLst>
          </p:cNvPr>
          <p:cNvSpPr>
            <a:spLocks xmlns:a="http://schemas.openxmlformats.org/drawingml/2006/main" noGrp="1"/>
          </p:cNvSpPr>
          <p:nvPr/>
        </p:nvSpPr>
        <p:spPr>
          <a:xfrm xmlns:a="http://schemas.openxmlformats.org/drawingml/2006/main">
            <a:off x="685800" y="4171950"/>
            <a:ext cx="1809750" cy="6477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9" name="">
            <a:extLst xmlns:a="http://schemas.openxmlformats.org/drawingml/2006/main">
              <a:ext uri="{FF2B5EF4-FFF2-40B4-BE49-F238E27FC236}">
                <a16:creationId xmlns:a16="http://schemas.microsoft.com/office/drawing/2014/main" id="{2E4233C5-7B13-46AB-8EFB-53647FF8C7F9}"/>
              </a:ext>
            </a:extLst>
          </p:cNvPr>
          <p:cNvSpPr>
            <a:spLocks xmlns:a="http://schemas.openxmlformats.org/drawingml/2006/main" noGrp="1"/>
          </p:cNvSpPr>
          <p:nvPr/>
        </p:nvSpPr>
        <p:spPr>
          <a:xfrm xmlns:a="http://schemas.openxmlformats.org/drawingml/2006/main">
            <a:off x="762000" y="4248150"/>
            <a:ext cx="1657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Document</a:t>
            </a:r>
          </a:p>
        </p:txBody>
      </p:sp>
      <p:sp>
        <p:nvSpPr>
          <p:cNvPr id="40" name="">
            <a:extLst xmlns:a="http://schemas.openxmlformats.org/drawingml/2006/main">
              <a:ext uri="{FF2B5EF4-FFF2-40B4-BE49-F238E27FC236}">
                <a16:creationId xmlns:a16="http://schemas.microsoft.com/office/drawing/2014/main" id="{6B955B48-8194-41F0-945D-4365006EEDDD}"/>
              </a:ext>
            </a:extLst>
          </p:cNvPr>
          <p:cNvSpPr>
            <a:spLocks xmlns:a="http://schemas.openxmlformats.org/drawingml/2006/main" noGrp="1"/>
          </p:cNvSpPr>
          <p:nvPr/>
        </p:nvSpPr>
        <p:spPr>
          <a:xfrm xmlns:a="http://schemas.openxmlformats.org/drawingml/2006/main">
            <a:off x="2495550" y="4171950"/>
            <a:ext cx="3333750" cy="6477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1" name="">
            <a:extLst xmlns:a="http://schemas.openxmlformats.org/drawingml/2006/main">
              <a:ext uri="{FF2B5EF4-FFF2-40B4-BE49-F238E27FC236}">
                <a16:creationId xmlns:a16="http://schemas.microsoft.com/office/drawing/2014/main" id="{FB80EED3-FF56-4558-97AC-2511D39EB502}"/>
              </a:ext>
            </a:extLst>
          </p:cNvPr>
          <p:cNvSpPr>
            <a:spLocks xmlns:a="http://schemas.openxmlformats.org/drawingml/2006/main" noGrp="1"/>
          </p:cNvSpPr>
          <p:nvPr/>
        </p:nvSpPr>
        <p:spPr>
          <a:xfrm xmlns:a="http://schemas.openxmlformats.org/drawingml/2006/main">
            <a:off x="2571750" y="4248150"/>
            <a:ext cx="3181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What bounded aggregate is read together?</a:t>
            </a:r>
          </a:p>
        </p:txBody>
      </p:sp>
      <p:sp>
        <p:nvSpPr>
          <p:cNvPr id="42" name="">
            <a:extLst xmlns:a="http://schemas.openxmlformats.org/drawingml/2006/main">
              <a:ext uri="{FF2B5EF4-FFF2-40B4-BE49-F238E27FC236}">
                <a16:creationId xmlns:a16="http://schemas.microsoft.com/office/drawing/2014/main" id="{85F645A0-D102-4754-931A-8A19F34584B1}"/>
              </a:ext>
            </a:extLst>
          </p:cNvPr>
          <p:cNvSpPr>
            <a:spLocks xmlns:a="http://schemas.openxmlformats.org/drawingml/2006/main" noGrp="1"/>
          </p:cNvSpPr>
          <p:nvPr/>
        </p:nvSpPr>
        <p:spPr>
          <a:xfrm xmlns:a="http://schemas.openxmlformats.org/drawingml/2006/main">
            <a:off x="5829300" y="4171950"/>
            <a:ext cx="2857500" cy="6477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3" name="">
            <a:extLst xmlns:a="http://schemas.openxmlformats.org/drawingml/2006/main">
              <a:ext uri="{FF2B5EF4-FFF2-40B4-BE49-F238E27FC236}">
                <a16:creationId xmlns:a16="http://schemas.microsoft.com/office/drawing/2014/main" id="{14B18664-C30D-45F4-A7BD-58261B8B6E0E}"/>
              </a:ext>
            </a:extLst>
          </p:cNvPr>
          <p:cNvSpPr>
            <a:spLocks xmlns:a="http://schemas.openxmlformats.org/drawingml/2006/main" noGrp="1"/>
          </p:cNvSpPr>
          <p:nvPr/>
        </p:nvSpPr>
        <p:spPr>
          <a:xfrm xmlns:a="http://schemas.openxmlformats.org/drawingml/2006/main">
            <a:off x="5905500" y="4248150"/>
            <a:ext cx="2705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nested application-shaped record</a:t>
            </a:r>
          </a:p>
        </p:txBody>
      </p:sp>
      <p:sp>
        <p:nvSpPr>
          <p:cNvPr id="44" name="">
            <a:extLst xmlns:a="http://schemas.openxmlformats.org/drawingml/2006/main">
              <a:ext uri="{FF2B5EF4-FFF2-40B4-BE49-F238E27FC236}">
                <a16:creationId xmlns:a16="http://schemas.microsoft.com/office/drawing/2014/main" id="{3578C608-CD35-4274-BDC0-80BD4D609BE1}"/>
              </a:ext>
            </a:extLst>
          </p:cNvPr>
          <p:cNvSpPr>
            <a:spLocks xmlns:a="http://schemas.openxmlformats.org/drawingml/2006/main" noGrp="1"/>
          </p:cNvSpPr>
          <p:nvPr/>
        </p:nvSpPr>
        <p:spPr>
          <a:xfrm xmlns:a="http://schemas.openxmlformats.org/drawingml/2006/main">
            <a:off x="8686800" y="4171950"/>
            <a:ext cx="2819400" cy="6477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5" name="">
            <a:extLst xmlns:a="http://schemas.openxmlformats.org/drawingml/2006/main">
              <a:ext uri="{FF2B5EF4-FFF2-40B4-BE49-F238E27FC236}">
                <a16:creationId xmlns:a16="http://schemas.microsoft.com/office/drawing/2014/main" id="{55615A93-4611-41C7-920B-3E60B972A7E3}"/>
              </a:ext>
            </a:extLst>
          </p:cNvPr>
          <p:cNvSpPr>
            <a:spLocks xmlns:a="http://schemas.openxmlformats.org/drawingml/2006/main" noGrp="1"/>
          </p:cNvSpPr>
          <p:nvPr/>
        </p:nvSpPr>
        <p:spPr>
          <a:xfrm xmlns:a="http://schemas.openxmlformats.org/drawingml/2006/main">
            <a:off x="8763000" y="424815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duplication and growth decisions</a:t>
            </a:r>
          </a:p>
        </p:txBody>
      </p:sp>
      <p:sp>
        <p:nvSpPr>
          <p:cNvPr id="46" name="">
            <a:extLst xmlns:a="http://schemas.openxmlformats.org/drawingml/2006/main">
              <a:ext uri="{FF2B5EF4-FFF2-40B4-BE49-F238E27FC236}">
                <a16:creationId xmlns:a16="http://schemas.microsoft.com/office/drawing/2014/main" id="{0A2FA252-A417-47DB-B156-87B12A37BC04}"/>
              </a:ext>
            </a:extLst>
          </p:cNvPr>
          <p:cNvSpPr>
            <a:spLocks xmlns:a="http://schemas.openxmlformats.org/drawingml/2006/main" noGrp="1"/>
          </p:cNvSpPr>
          <p:nvPr/>
        </p:nvSpPr>
        <p:spPr>
          <a:xfrm xmlns:a="http://schemas.openxmlformats.org/drawingml/2006/main">
            <a:off x="685800" y="4819650"/>
            <a:ext cx="18097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47" name="">
            <a:extLst xmlns:a="http://schemas.openxmlformats.org/drawingml/2006/main">
              <a:ext uri="{FF2B5EF4-FFF2-40B4-BE49-F238E27FC236}">
                <a16:creationId xmlns:a16="http://schemas.microsoft.com/office/drawing/2014/main" id="{12649B93-78F0-484D-9DAC-A05519FB59BA}"/>
              </a:ext>
            </a:extLst>
          </p:cNvPr>
          <p:cNvSpPr>
            <a:spLocks xmlns:a="http://schemas.openxmlformats.org/drawingml/2006/main" noGrp="1"/>
          </p:cNvSpPr>
          <p:nvPr/>
        </p:nvSpPr>
        <p:spPr>
          <a:xfrm xmlns:a="http://schemas.openxmlformats.org/drawingml/2006/main">
            <a:off x="762000" y="4895850"/>
            <a:ext cx="1657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Graph / vector</a:t>
            </a:r>
          </a:p>
        </p:txBody>
      </p:sp>
      <p:sp>
        <p:nvSpPr>
          <p:cNvPr id="48" name="">
            <a:extLst xmlns:a="http://schemas.openxmlformats.org/drawingml/2006/main">
              <a:ext uri="{FF2B5EF4-FFF2-40B4-BE49-F238E27FC236}">
                <a16:creationId xmlns:a16="http://schemas.microsoft.com/office/drawing/2014/main" id="{348CD4CD-6A6F-4B97-9C62-6D2D9D003F88}"/>
              </a:ext>
            </a:extLst>
          </p:cNvPr>
          <p:cNvSpPr>
            <a:spLocks xmlns:a="http://schemas.openxmlformats.org/drawingml/2006/main" noGrp="1"/>
          </p:cNvSpPr>
          <p:nvPr/>
        </p:nvSpPr>
        <p:spPr>
          <a:xfrm xmlns:a="http://schemas.openxmlformats.org/drawingml/2006/main">
            <a:off x="2495550" y="4819650"/>
            <a:ext cx="33337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49" name="">
            <a:extLst xmlns:a="http://schemas.openxmlformats.org/drawingml/2006/main">
              <a:ext uri="{FF2B5EF4-FFF2-40B4-BE49-F238E27FC236}">
                <a16:creationId xmlns:a16="http://schemas.microsoft.com/office/drawing/2014/main" id="{74448473-F343-4F24-813C-C70FA52C0126}"/>
              </a:ext>
            </a:extLst>
          </p:cNvPr>
          <p:cNvSpPr>
            <a:spLocks xmlns:a="http://schemas.openxmlformats.org/drawingml/2006/main" noGrp="1"/>
          </p:cNvSpPr>
          <p:nvPr/>
        </p:nvSpPr>
        <p:spPr>
          <a:xfrm xmlns:a="http://schemas.openxmlformats.org/drawingml/2006/main">
            <a:off x="2571750" y="4895850"/>
            <a:ext cx="3181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Which path or nearest neighbors matter?</a:t>
            </a:r>
          </a:p>
        </p:txBody>
      </p:sp>
      <p:sp>
        <p:nvSpPr>
          <p:cNvPr id="50" name="">
            <a:extLst xmlns:a="http://schemas.openxmlformats.org/drawingml/2006/main">
              <a:ext uri="{FF2B5EF4-FFF2-40B4-BE49-F238E27FC236}">
                <a16:creationId xmlns:a16="http://schemas.microsoft.com/office/drawing/2014/main" id="{2038BCBA-0D1D-4BE0-A74B-7CCBE9BD03E9}"/>
              </a:ext>
            </a:extLst>
          </p:cNvPr>
          <p:cNvSpPr>
            <a:spLocks xmlns:a="http://schemas.openxmlformats.org/drawingml/2006/main" noGrp="1"/>
          </p:cNvSpPr>
          <p:nvPr/>
        </p:nvSpPr>
        <p:spPr>
          <a:xfrm xmlns:a="http://schemas.openxmlformats.org/drawingml/2006/main">
            <a:off x="5829300" y="4819650"/>
            <a:ext cx="28575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51" name="">
            <a:extLst xmlns:a="http://schemas.openxmlformats.org/drawingml/2006/main">
              <a:ext uri="{FF2B5EF4-FFF2-40B4-BE49-F238E27FC236}">
                <a16:creationId xmlns:a16="http://schemas.microsoft.com/office/drawing/2014/main" id="{B213337E-228E-4FD2-B72F-5818E9B2DD74}"/>
              </a:ext>
            </a:extLst>
          </p:cNvPr>
          <p:cNvSpPr>
            <a:spLocks xmlns:a="http://schemas.openxmlformats.org/drawingml/2006/main" noGrp="1"/>
          </p:cNvSpPr>
          <p:nvPr/>
        </p:nvSpPr>
        <p:spPr>
          <a:xfrm xmlns:a="http://schemas.openxmlformats.org/drawingml/2006/main">
            <a:off x="5905500" y="4895850"/>
            <a:ext cx="2705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specialized traversal or similarity</a:t>
            </a:r>
          </a:p>
        </p:txBody>
      </p:sp>
      <p:sp>
        <p:nvSpPr>
          <p:cNvPr id="52" name="">
            <a:extLst xmlns:a="http://schemas.openxmlformats.org/drawingml/2006/main">
              <a:ext uri="{FF2B5EF4-FFF2-40B4-BE49-F238E27FC236}">
                <a16:creationId xmlns:a16="http://schemas.microsoft.com/office/drawing/2014/main" id="{5C08E833-4CB8-4272-B7A0-69695C216CF5}"/>
              </a:ext>
            </a:extLst>
          </p:cNvPr>
          <p:cNvSpPr>
            <a:spLocks xmlns:a="http://schemas.openxmlformats.org/drawingml/2006/main" noGrp="1"/>
          </p:cNvSpPr>
          <p:nvPr/>
        </p:nvSpPr>
        <p:spPr>
          <a:xfrm xmlns:a="http://schemas.openxmlformats.org/drawingml/2006/main">
            <a:off x="8686800" y="4819650"/>
            <a:ext cx="28194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53" name="">
            <a:extLst xmlns:a="http://schemas.openxmlformats.org/drawingml/2006/main">
              <a:ext uri="{FF2B5EF4-FFF2-40B4-BE49-F238E27FC236}">
                <a16:creationId xmlns:a16="http://schemas.microsoft.com/office/drawing/2014/main" id="{50242AEF-0A2D-4130-80A3-9A0DDAF78C39}"/>
              </a:ext>
            </a:extLst>
          </p:cNvPr>
          <p:cNvSpPr>
            <a:spLocks xmlns:a="http://schemas.openxmlformats.org/drawingml/2006/main" noGrp="1"/>
          </p:cNvSpPr>
          <p:nvPr/>
        </p:nvSpPr>
        <p:spPr>
          <a:xfrm xmlns:a="http://schemas.openxmlformats.org/drawingml/2006/main">
            <a:off x="8763000" y="489585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specialized operation and evaluation</a:t>
            </a:r>
          </a:p>
        </p:txBody>
      </p:sp>
    </p:spTree>
    <p:extLst>
      <p:ext uri="{BB962C8B-B14F-4D97-AF65-F5344CB8AC3E}">
        <p14:creationId xmlns:p14="http://schemas.microsoft.com/office/powerpoint/2010/main" val="1965407596"/>
      </p:ext>
    </p:extLst>
  </p:cSld>
</p:sld>
</file>

<file path=ppt/slides/slide12.xml><?xml version="1.0" encoding="utf-8"?>
<p:sld xmlns:p="http://schemas.openxmlformats.org/presentationml/2006/main">
  <p:cSld>
    <p:bg>
      <p:bgPr>
        <a:solidFill xmlns:a="http://schemas.openxmlformats.org/drawingml/2006/main">
          <a:srgbClr val="1D4ED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0F4BB3F-196E-4ED9-BBD8-CC3A1E61044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2" name="">
            <a:extLst xmlns:a="http://schemas.openxmlformats.org/drawingml/2006/main">
              <a:ext uri="{FF2B5EF4-FFF2-40B4-BE49-F238E27FC236}">
                <a16:creationId xmlns:a16="http://schemas.microsoft.com/office/drawing/2014/main" id="{A2EF8EDE-5F21-4A14-94E8-6A63DF4DFC1A}"/>
              </a:ext>
            </a:extLst>
          </p:cNvPr>
          <p:cNvSpPr>
            <a:spLocks xmlns:a="http://schemas.openxmlformats.org/drawingml/2006/main" noGrp="1"/>
          </p:cNvSpPr>
          <p:nvPr/>
        </p:nvSpPr>
        <p:spPr>
          <a:xfrm xmlns:a="http://schemas.openxmlformats.org/drawingml/2006/main">
            <a:off x="685800" y="5905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DAY 2</a:t>
            </a:r>
          </a:p>
        </p:txBody>
      </p:sp>
      <p:sp>
        <p:nvSpPr>
          <p:cNvPr id="3" name="">
            <a:extLst xmlns:a="http://schemas.openxmlformats.org/drawingml/2006/main">
              <a:ext uri="{FF2B5EF4-FFF2-40B4-BE49-F238E27FC236}">
                <a16:creationId xmlns:a16="http://schemas.microsoft.com/office/drawing/2014/main" id="{3D3F6BC8-46FF-427D-A32F-98C6EA823FF2}"/>
              </a:ext>
            </a:extLst>
          </p:cNvPr>
          <p:cNvSpPr>
            <a:spLocks xmlns:a="http://schemas.openxmlformats.org/drawingml/2006/main" noGrp="1"/>
          </p:cNvSpPr>
          <p:nvPr/>
        </p:nvSpPr>
        <p:spPr>
          <a:xfrm xmlns:a="http://schemas.openxmlformats.org/drawingml/2006/main">
            <a:off x="685800" y="18097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JSON is strict syntax with flexible composition</a:t>
            </a:r>
          </a:p>
        </p:txBody>
      </p:sp>
      <p:sp>
        <p:nvSpPr>
          <p:cNvPr id="4" name="">
            <a:extLst xmlns:a="http://schemas.openxmlformats.org/drawingml/2006/main">
              <a:ext uri="{FF2B5EF4-FFF2-40B4-BE49-F238E27FC236}">
                <a16:creationId xmlns:a16="http://schemas.microsoft.com/office/drawing/2014/main" id="{06D5F290-ABD7-4599-88E3-0EE8EA83117A}"/>
              </a:ext>
            </a:extLst>
          </p:cNvPr>
          <p:cNvSpPr>
            <a:spLocks xmlns:a="http://schemas.openxmlformats.org/drawingml/2006/main" noGrp="1"/>
          </p:cNvSpPr>
          <p:nvPr/>
        </p:nvSpPr>
        <p:spPr>
          <a:xfrm xmlns:a="http://schemas.openxmlformats.org/drawingml/2006/main">
            <a:off x="723900" y="4095750"/>
            <a:ext cx="8382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a:solidFill>
                  <a:srgbClr val="F8FAFC"/>
                </a:solidFill>
                <a:latin typeface="Helvetica Neue"/>
                <a:ea typeface="Helvetica Neue"/>
                <a:cs typeface="Helvetica Neue"/>
              </a:defRPr>
            </a:pPr>
            <a:r>
              <a:rPr sz="1950">
                <a:solidFill>
                  <a:srgbClr val="F8FAFC"/>
                </a:solidFill>
                <a:latin typeface="Helvetica Neue"/>
                <a:ea typeface="Helvetica Neue"/>
                <a:cs typeface="Helvetica Neue"/>
              </a:rPr>
              <a:t>Objects and arrays can express many shapes, but a valid shape still needs identity, meaning, and rules.</a:t>
            </a:r>
          </a:p>
        </p:txBody>
      </p:sp>
      <p:sp>
        <p:nvSpPr>
          <p:cNvPr id="5" name="">
            <a:extLst xmlns:a="http://schemas.openxmlformats.org/drawingml/2006/main">
              <a:ext uri="{FF2B5EF4-FFF2-40B4-BE49-F238E27FC236}">
                <a16:creationId xmlns:a16="http://schemas.microsoft.com/office/drawing/2014/main" id="{165E26D4-1894-4F74-AFA4-30F111897B4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E2E8F0"/>
                </a:solidFill>
                <a:latin typeface="Helvetica Neue"/>
                <a:ea typeface="Helvetica Neue"/>
                <a:cs typeface="Helvetica Neue"/>
              </a:defRPr>
            </a:pPr>
            <a:r>
              <a:rPr sz="825">
                <a:solidFill>
                  <a:srgbClr val="E2E8F0"/>
                </a:solidFill>
                <a:latin typeface="Helvetica Neue"/>
                <a:ea typeface="Helvetica Neue"/>
                <a:cs typeface="Helvetica Neue"/>
              </a:rPr>
              <a:t>12</a:t>
            </a:r>
          </a:p>
        </p:txBody>
      </p:sp>
    </p:spTree>
    <p:extLst>
      <p:ext uri="{BB962C8B-B14F-4D97-AF65-F5344CB8AC3E}">
        <p14:creationId xmlns:p14="http://schemas.microsoft.com/office/powerpoint/2010/main" val="1010616657"/>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9A9AF37B-C99F-45A2-90C0-727DE68DF69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8FD2E529-E73A-4458-AA3E-91CB1E13B5F2}"/>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09  /  CST4714</a:t>
            </a:r>
          </a:p>
        </p:txBody>
      </p:sp>
      <p:sp>
        <p:nvSpPr>
          <p:cNvPr id="3" name="slide-title">
            <a:extLst xmlns:a="http://schemas.openxmlformats.org/drawingml/2006/main">
              <a:ext uri="{FF2B5EF4-FFF2-40B4-BE49-F238E27FC236}">
                <a16:creationId xmlns:a16="http://schemas.microsoft.com/office/drawing/2014/main" id="{83A9BDBB-A4D0-4FF9-A673-FF1C815B9627}"/>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JSON became popular at the boundary between systems</a:t>
            </a:r>
          </a:p>
        </p:txBody>
      </p:sp>
      <p:sp>
        <p:nvSpPr>
          <p:cNvPr id="4" name="">
            <a:extLst xmlns:a="http://schemas.openxmlformats.org/drawingml/2006/main">
              <a:ext uri="{FF2B5EF4-FFF2-40B4-BE49-F238E27FC236}">
                <a16:creationId xmlns:a16="http://schemas.microsoft.com/office/drawing/2014/main" id="{F823C755-B733-4DF0-A687-B451A95C83E0}"/>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4ABD9FA-86AB-4D4E-BD7B-2D6BF33D8D5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13</a:t>
            </a:r>
          </a:p>
        </p:txBody>
      </p:sp>
      <p:sp>
        <p:nvSpPr>
          <p:cNvPr id="6" name="source-note">
            <a:extLst xmlns:a="http://schemas.openxmlformats.org/drawingml/2006/main">
              <a:ext uri="{FF2B5EF4-FFF2-40B4-BE49-F238E27FC236}">
                <a16:creationId xmlns:a16="http://schemas.microsoft.com/office/drawing/2014/main" id="{2D922C91-0F83-4037-B889-AECF0DF63CC9}"/>
              </a:ext>
            </a:extLst>
          </p:cNvPr>
          <p:cNvSpPr>
            <a:spLocks xmlns:a="http://schemas.openxmlformats.org/drawingml/2006/main" noGrp="1"/>
          </p:cNvSpPr>
          <p:nvPr/>
        </p:nvSpPr>
        <p:spPr>
          <a:xfrm xmlns:a="http://schemas.openxmlformats.org/drawingml/2006/main">
            <a:off x="609600" y="6448425"/>
            <a:ext cx="914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750">
                <a:solidFill>
                  <a:srgbClr val="94A3B8"/>
                </a:solidFill>
                <a:latin typeface="Helvetica Neue"/>
                <a:ea typeface="Helvetica Neue"/>
                <a:cs typeface="Helvetica Neue"/>
              </a:defRPr>
            </a:pPr>
            <a:r>
              <a:rPr sz="750">
                <a:solidFill>
                  <a:srgbClr val="94A3B8"/>
                </a:solidFill>
                <a:latin typeface="Helvetica Neue"/>
                <a:ea typeface="Helvetica Neue"/>
                <a:cs typeface="Helvetica Neue"/>
              </a:rPr>
              <a:t>JSON grammar: ECMA-404 and RFC 8259; historical context: JSON.org and Module 9 sources.</a:t>
            </a:r>
          </a:p>
        </p:txBody>
      </p:sp>
      <p:sp>
        <p:nvSpPr>
          <p:cNvPr id="7" name="">
            <a:extLst xmlns:a="http://schemas.openxmlformats.org/drawingml/2006/main">
              <a:ext uri="{FF2B5EF4-FFF2-40B4-BE49-F238E27FC236}">
                <a16:creationId xmlns:a16="http://schemas.microsoft.com/office/drawing/2014/main" id="{F1E4660D-CDA1-44AD-8D01-3B23030CF856}"/>
              </a:ext>
            </a:extLst>
          </p:cNvPr>
          <p:cNvSpPr>
            <a:spLocks xmlns:a="http://schemas.openxmlformats.org/drawingml/2006/main" noGrp="1"/>
          </p:cNvSpPr>
          <p:nvPr/>
        </p:nvSpPr>
        <p:spPr>
          <a:xfrm xmlns:a="http://schemas.openxmlformats.org/drawingml/2006/main">
            <a:off x="1524000" y="2952750"/>
            <a:ext cx="9144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 name="">
            <a:extLst xmlns:a="http://schemas.openxmlformats.org/drawingml/2006/main">
              <a:ext uri="{FF2B5EF4-FFF2-40B4-BE49-F238E27FC236}">
                <a16:creationId xmlns:a16="http://schemas.microsoft.com/office/drawing/2014/main" id="{FCF07141-DBCA-44E2-8A7F-665696CC66EC}"/>
              </a:ext>
            </a:extLst>
          </p:cNvPr>
          <p:cNvSpPr>
            <a:spLocks xmlns:a="http://schemas.openxmlformats.org/drawingml/2006/main" noGrp="1"/>
          </p:cNvSpPr>
          <p:nvPr/>
        </p:nvSpPr>
        <p:spPr>
          <a:xfrm xmlns:a="http://schemas.openxmlformats.org/drawingml/2006/main">
            <a:off x="1381125" y="2809875"/>
            <a:ext cx="285750" cy="285750"/>
          </a:xfrm>
          <a:prstGeom xmlns:a="http://schemas.openxmlformats.org/drawingml/2006/main" prst="ellipse">
            <a:avLst/>
          </a:prstGeom>
          <a:solidFill xmlns:a="http://schemas.openxmlformats.org/drawingml/2006/main">
            <a:srgbClr val="1D4ED8"/>
          </a:solidFill>
          <a:ln xmlns:a="http://schemas.openxmlformats.org/drawingml/2006/main" w="28575">
            <a:solidFill>
              <a:srgbClr val="1D4ED8"/>
            </a:solidFill>
            <a:prstDash val="solid"/>
          </a:ln>
        </p:spPr>
      </p:sp>
      <p:sp>
        <p:nvSpPr>
          <p:cNvPr id="9" name="">
            <a:extLst xmlns:a="http://schemas.openxmlformats.org/drawingml/2006/main">
              <a:ext uri="{FF2B5EF4-FFF2-40B4-BE49-F238E27FC236}">
                <a16:creationId xmlns:a16="http://schemas.microsoft.com/office/drawing/2014/main" id="{D03ECB6F-47A6-4757-B816-00BD8B9FB7C1}"/>
              </a:ext>
            </a:extLst>
          </p:cNvPr>
          <p:cNvSpPr>
            <a:spLocks xmlns:a="http://schemas.openxmlformats.org/drawingml/2006/main" noGrp="1"/>
          </p:cNvSpPr>
          <p:nvPr/>
        </p:nvSpPr>
        <p:spPr>
          <a:xfrm xmlns:a="http://schemas.openxmlformats.org/drawingml/2006/main">
            <a:off x="1409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10" name="">
            <a:extLst xmlns:a="http://schemas.openxmlformats.org/drawingml/2006/main">
              <a:ext uri="{FF2B5EF4-FFF2-40B4-BE49-F238E27FC236}">
                <a16:creationId xmlns:a16="http://schemas.microsoft.com/office/drawing/2014/main" id="{9D058DB0-5705-4461-B2B1-D2D1E76FDEB8}"/>
              </a:ext>
            </a:extLst>
          </p:cNvPr>
          <p:cNvSpPr>
            <a:spLocks xmlns:a="http://schemas.openxmlformats.org/drawingml/2006/main" noGrp="1"/>
          </p:cNvSpPr>
          <p:nvPr/>
        </p:nvSpPr>
        <p:spPr>
          <a:xfrm xmlns:a="http://schemas.openxmlformats.org/drawingml/2006/main">
            <a:off x="685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JavaScript roots</a:t>
            </a:r>
          </a:p>
        </p:txBody>
      </p:sp>
      <p:sp>
        <p:nvSpPr>
          <p:cNvPr id="11" name="">
            <a:extLst xmlns:a="http://schemas.openxmlformats.org/drawingml/2006/main">
              <a:ext uri="{FF2B5EF4-FFF2-40B4-BE49-F238E27FC236}">
                <a16:creationId xmlns:a16="http://schemas.microsoft.com/office/drawing/2014/main" id="{818D25C8-210E-42F0-8DB5-376A45E74C7F}"/>
              </a:ext>
            </a:extLst>
          </p:cNvPr>
          <p:cNvSpPr>
            <a:spLocks xmlns:a="http://schemas.openxmlformats.org/drawingml/2006/main" noGrp="1"/>
          </p:cNvSpPr>
          <p:nvPr/>
        </p:nvSpPr>
        <p:spPr>
          <a:xfrm xmlns:a="http://schemas.openxmlformats.org/drawingml/2006/main">
            <a:off x="647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Familiar object and array notation</a:t>
            </a:r>
          </a:p>
        </p:txBody>
      </p:sp>
      <p:sp>
        <p:nvSpPr>
          <p:cNvPr id="12" name="">
            <a:extLst xmlns:a="http://schemas.openxmlformats.org/drawingml/2006/main">
              <a:ext uri="{FF2B5EF4-FFF2-40B4-BE49-F238E27FC236}">
                <a16:creationId xmlns:a16="http://schemas.microsoft.com/office/drawing/2014/main" id="{CBB155F1-4922-4B21-A33E-B079C647CE3A}"/>
              </a:ext>
            </a:extLst>
          </p:cNvPr>
          <p:cNvSpPr>
            <a:spLocks xmlns:a="http://schemas.openxmlformats.org/drawingml/2006/main" noGrp="1"/>
          </p:cNvSpPr>
          <p:nvPr/>
        </p:nvSpPr>
        <p:spPr>
          <a:xfrm xmlns:a="http://schemas.openxmlformats.org/drawingml/2006/main">
            <a:off x="3667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13" name="">
            <a:extLst xmlns:a="http://schemas.openxmlformats.org/drawingml/2006/main">
              <a:ext uri="{FF2B5EF4-FFF2-40B4-BE49-F238E27FC236}">
                <a16:creationId xmlns:a16="http://schemas.microsoft.com/office/drawing/2014/main" id="{E58557E8-49BC-4E55-80B6-69E20F3EC590}"/>
              </a:ext>
            </a:extLst>
          </p:cNvPr>
          <p:cNvSpPr>
            <a:spLocks xmlns:a="http://schemas.openxmlformats.org/drawingml/2006/main" noGrp="1"/>
          </p:cNvSpPr>
          <p:nvPr/>
        </p:nvSpPr>
        <p:spPr>
          <a:xfrm xmlns:a="http://schemas.openxmlformats.org/drawingml/2006/main">
            <a:off x="3695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2</a:t>
            </a:r>
          </a:p>
        </p:txBody>
      </p:sp>
      <p:sp>
        <p:nvSpPr>
          <p:cNvPr id="14" name="">
            <a:extLst xmlns:a="http://schemas.openxmlformats.org/drawingml/2006/main">
              <a:ext uri="{FF2B5EF4-FFF2-40B4-BE49-F238E27FC236}">
                <a16:creationId xmlns:a16="http://schemas.microsoft.com/office/drawing/2014/main" id="{25823031-9835-40F7-9BEC-A72A1A58FA7A}"/>
              </a:ext>
            </a:extLst>
          </p:cNvPr>
          <p:cNvSpPr>
            <a:spLocks xmlns:a="http://schemas.openxmlformats.org/drawingml/2006/main" noGrp="1"/>
          </p:cNvSpPr>
          <p:nvPr/>
        </p:nvSpPr>
        <p:spPr>
          <a:xfrm xmlns:a="http://schemas.openxmlformats.org/drawingml/2006/main">
            <a:off x="2971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Early web APIs</a:t>
            </a:r>
          </a:p>
        </p:txBody>
      </p:sp>
      <p:sp>
        <p:nvSpPr>
          <p:cNvPr id="15" name="">
            <a:extLst xmlns:a="http://schemas.openxmlformats.org/drawingml/2006/main">
              <a:ext uri="{FF2B5EF4-FFF2-40B4-BE49-F238E27FC236}">
                <a16:creationId xmlns:a16="http://schemas.microsoft.com/office/drawing/2014/main" id="{576FDEDD-4032-4C42-AFCE-02B497EC9D62}"/>
              </a:ext>
            </a:extLst>
          </p:cNvPr>
          <p:cNvSpPr>
            <a:spLocks xmlns:a="http://schemas.openxmlformats.org/drawingml/2006/main" noGrp="1"/>
          </p:cNvSpPr>
          <p:nvPr/>
        </p:nvSpPr>
        <p:spPr>
          <a:xfrm xmlns:a="http://schemas.openxmlformats.org/drawingml/2006/main">
            <a:off x="2933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Lighter interchange than many XML workflows</a:t>
            </a:r>
          </a:p>
        </p:txBody>
      </p:sp>
      <p:sp>
        <p:nvSpPr>
          <p:cNvPr id="16" name="">
            <a:extLst xmlns:a="http://schemas.openxmlformats.org/drawingml/2006/main">
              <a:ext uri="{FF2B5EF4-FFF2-40B4-BE49-F238E27FC236}">
                <a16:creationId xmlns:a16="http://schemas.microsoft.com/office/drawing/2014/main" id="{8C6E9882-33E6-4DA9-809E-264D9B9A781D}"/>
              </a:ext>
            </a:extLst>
          </p:cNvPr>
          <p:cNvSpPr>
            <a:spLocks xmlns:a="http://schemas.openxmlformats.org/drawingml/2006/main" noGrp="1"/>
          </p:cNvSpPr>
          <p:nvPr/>
        </p:nvSpPr>
        <p:spPr>
          <a:xfrm xmlns:a="http://schemas.openxmlformats.org/drawingml/2006/main">
            <a:off x="5953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17" name="">
            <a:extLst xmlns:a="http://schemas.openxmlformats.org/drawingml/2006/main">
              <a:ext uri="{FF2B5EF4-FFF2-40B4-BE49-F238E27FC236}">
                <a16:creationId xmlns:a16="http://schemas.microsoft.com/office/drawing/2014/main" id="{3388009C-C5E9-44DD-80BB-7CF2E7997796}"/>
              </a:ext>
            </a:extLst>
          </p:cNvPr>
          <p:cNvSpPr>
            <a:spLocks xmlns:a="http://schemas.openxmlformats.org/drawingml/2006/main" noGrp="1"/>
          </p:cNvSpPr>
          <p:nvPr/>
        </p:nvSpPr>
        <p:spPr>
          <a:xfrm xmlns:a="http://schemas.openxmlformats.org/drawingml/2006/main">
            <a:off x="5981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7F4BDED4-23AF-4E65-9519-D51B1074EE2C}"/>
              </a:ext>
            </a:extLst>
          </p:cNvPr>
          <p:cNvSpPr>
            <a:spLocks xmlns:a="http://schemas.openxmlformats.org/drawingml/2006/main" noGrp="1"/>
          </p:cNvSpPr>
          <p:nvPr/>
        </p:nvSpPr>
        <p:spPr>
          <a:xfrm xmlns:a="http://schemas.openxmlformats.org/drawingml/2006/main">
            <a:off x="5257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Language support</a:t>
            </a:r>
          </a:p>
        </p:txBody>
      </p:sp>
      <p:sp>
        <p:nvSpPr>
          <p:cNvPr id="19" name="">
            <a:extLst xmlns:a="http://schemas.openxmlformats.org/drawingml/2006/main">
              <a:ext uri="{FF2B5EF4-FFF2-40B4-BE49-F238E27FC236}">
                <a16:creationId xmlns:a16="http://schemas.microsoft.com/office/drawing/2014/main" id="{999DD5BA-63E7-4312-9CEA-09B049AB6590}"/>
              </a:ext>
            </a:extLst>
          </p:cNvPr>
          <p:cNvSpPr>
            <a:spLocks xmlns:a="http://schemas.openxmlformats.org/drawingml/2006/main" noGrp="1"/>
          </p:cNvSpPr>
          <p:nvPr/>
        </p:nvSpPr>
        <p:spPr>
          <a:xfrm xmlns:a="http://schemas.openxmlformats.org/drawingml/2006/main">
            <a:off x="5219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Parsers and serializers spread across ecosystems</a:t>
            </a:r>
          </a:p>
        </p:txBody>
      </p:sp>
      <p:sp>
        <p:nvSpPr>
          <p:cNvPr id="20" name="">
            <a:extLst xmlns:a="http://schemas.openxmlformats.org/drawingml/2006/main">
              <a:ext uri="{FF2B5EF4-FFF2-40B4-BE49-F238E27FC236}">
                <a16:creationId xmlns:a16="http://schemas.microsoft.com/office/drawing/2014/main" id="{7FC070F8-0E3A-495F-AEF1-DAC144CCCCC7}"/>
              </a:ext>
            </a:extLst>
          </p:cNvPr>
          <p:cNvSpPr>
            <a:spLocks xmlns:a="http://schemas.openxmlformats.org/drawingml/2006/main" noGrp="1"/>
          </p:cNvSpPr>
          <p:nvPr/>
        </p:nvSpPr>
        <p:spPr>
          <a:xfrm xmlns:a="http://schemas.openxmlformats.org/drawingml/2006/main">
            <a:off x="8239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21" name="">
            <a:extLst xmlns:a="http://schemas.openxmlformats.org/drawingml/2006/main">
              <a:ext uri="{FF2B5EF4-FFF2-40B4-BE49-F238E27FC236}">
                <a16:creationId xmlns:a16="http://schemas.microsoft.com/office/drawing/2014/main" id="{8BDD52A9-9081-4520-875D-7BACEF3234C8}"/>
              </a:ext>
            </a:extLst>
          </p:cNvPr>
          <p:cNvSpPr>
            <a:spLocks xmlns:a="http://schemas.openxmlformats.org/drawingml/2006/main" noGrp="1"/>
          </p:cNvSpPr>
          <p:nvPr/>
        </p:nvSpPr>
        <p:spPr>
          <a:xfrm xmlns:a="http://schemas.openxmlformats.org/drawingml/2006/main">
            <a:off x="8267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4</a:t>
            </a:r>
          </a:p>
        </p:txBody>
      </p:sp>
      <p:sp>
        <p:nvSpPr>
          <p:cNvPr id="22" name="">
            <a:extLst xmlns:a="http://schemas.openxmlformats.org/drawingml/2006/main">
              <a:ext uri="{FF2B5EF4-FFF2-40B4-BE49-F238E27FC236}">
                <a16:creationId xmlns:a16="http://schemas.microsoft.com/office/drawing/2014/main" id="{03A26132-8325-4BCA-940B-97FC3B4CBECE}"/>
              </a:ext>
            </a:extLst>
          </p:cNvPr>
          <p:cNvSpPr>
            <a:spLocks xmlns:a="http://schemas.openxmlformats.org/drawingml/2006/main" noGrp="1"/>
          </p:cNvSpPr>
          <p:nvPr/>
        </p:nvSpPr>
        <p:spPr>
          <a:xfrm xmlns:a="http://schemas.openxmlformats.org/drawingml/2006/main">
            <a:off x="7543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Standards</a:t>
            </a:r>
          </a:p>
        </p:txBody>
      </p:sp>
      <p:sp>
        <p:nvSpPr>
          <p:cNvPr id="23" name="">
            <a:extLst xmlns:a="http://schemas.openxmlformats.org/drawingml/2006/main">
              <a:ext uri="{FF2B5EF4-FFF2-40B4-BE49-F238E27FC236}">
                <a16:creationId xmlns:a16="http://schemas.microsoft.com/office/drawing/2014/main" id="{14C7E352-5577-4BEF-A869-D216223F624F}"/>
              </a:ext>
            </a:extLst>
          </p:cNvPr>
          <p:cNvSpPr>
            <a:spLocks xmlns:a="http://schemas.openxmlformats.org/drawingml/2006/main" noGrp="1"/>
          </p:cNvSpPr>
          <p:nvPr/>
        </p:nvSpPr>
        <p:spPr>
          <a:xfrm xmlns:a="http://schemas.openxmlformats.org/drawingml/2006/main">
            <a:off x="7505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ECMA-404 and RFC 8259 define the grammar</a:t>
            </a:r>
          </a:p>
        </p:txBody>
      </p:sp>
      <p:sp>
        <p:nvSpPr>
          <p:cNvPr id="24" name="">
            <a:extLst xmlns:a="http://schemas.openxmlformats.org/drawingml/2006/main">
              <a:ext uri="{FF2B5EF4-FFF2-40B4-BE49-F238E27FC236}">
                <a16:creationId xmlns:a16="http://schemas.microsoft.com/office/drawing/2014/main" id="{E5CABCE0-61AD-4F28-8EDA-9FE84180DCEA}"/>
              </a:ext>
            </a:extLst>
          </p:cNvPr>
          <p:cNvSpPr>
            <a:spLocks xmlns:a="http://schemas.openxmlformats.org/drawingml/2006/main" noGrp="1"/>
          </p:cNvSpPr>
          <p:nvPr/>
        </p:nvSpPr>
        <p:spPr>
          <a:xfrm xmlns:a="http://schemas.openxmlformats.org/drawingml/2006/main">
            <a:off x="10525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25" name="">
            <a:extLst xmlns:a="http://schemas.openxmlformats.org/drawingml/2006/main">
              <a:ext uri="{FF2B5EF4-FFF2-40B4-BE49-F238E27FC236}">
                <a16:creationId xmlns:a16="http://schemas.microsoft.com/office/drawing/2014/main" id="{D175612D-5B04-47F8-A86C-1D0479308F0D}"/>
              </a:ext>
            </a:extLst>
          </p:cNvPr>
          <p:cNvSpPr>
            <a:spLocks xmlns:a="http://schemas.openxmlformats.org/drawingml/2006/main" noGrp="1"/>
          </p:cNvSpPr>
          <p:nvPr/>
        </p:nvSpPr>
        <p:spPr>
          <a:xfrm xmlns:a="http://schemas.openxmlformats.org/drawingml/2006/main">
            <a:off x="10553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5</a:t>
            </a:r>
          </a:p>
        </p:txBody>
      </p:sp>
      <p:sp>
        <p:nvSpPr>
          <p:cNvPr id="26" name="">
            <a:extLst xmlns:a="http://schemas.openxmlformats.org/drawingml/2006/main">
              <a:ext uri="{FF2B5EF4-FFF2-40B4-BE49-F238E27FC236}">
                <a16:creationId xmlns:a16="http://schemas.microsoft.com/office/drawing/2014/main" id="{AD06ECA4-DB9F-4AE6-A13C-59CA7BED6FE9}"/>
              </a:ext>
            </a:extLst>
          </p:cNvPr>
          <p:cNvSpPr>
            <a:spLocks xmlns:a="http://schemas.openxmlformats.org/drawingml/2006/main" noGrp="1"/>
          </p:cNvSpPr>
          <p:nvPr/>
        </p:nvSpPr>
        <p:spPr>
          <a:xfrm xmlns:a="http://schemas.openxmlformats.org/drawingml/2006/main">
            <a:off x="9829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Modern use</a:t>
            </a:r>
          </a:p>
        </p:txBody>
      </p:sp>
      <p:sp>
        <p:nvSpPr>
          <p:cNvPr id="27" name="">
            <a:extLst xmlns:a="http://schemas.openxmlformats.org/drawingml/2006/main">
              <a:ext uri="{FF2B5EF4-FFF2-40B4-BE49-F238E27FC236}">
                <a16:creationId xmlns:a16="http://schemas.microsoft.com/office/drawing/2014/main" id="{232D67A0-0A40-4E59-91AD-B2F3684B4BEB}"/>
              </a:ext>
            </a:extLst>
          </p:cNvPr>
          <p:cNvSpPr>
            <a:spLocks xmlns:a="http://schemas.openxmlformats.org/drawingml/2006/main" noGrp="1"/>
          </p:cNvSpPr>
          <p:nvPr/>
        </p:nvSpPr>
        <p:spPr>
          <a:xfrm xmlns:a="http://schemas.openxmlformats.org/drawingml/2006/main">
            <a:off x="9791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APIs, configuration, logs, documents, and events</a:t>
            </a:r>
          </a:p>
        </p:txBody>
      </p:sp>
      <p:sp>
        <p:nvSpPr>
          <p:cNvPr id="28" name="">
            <a:extLst xmlns:a="http://schemas.openxmlformats.org/drawingml/2006/main">
              <a:ext uri="{FF2B5EF4-FFF2-40B4-BE49-F238E27FC236}">
                <a16:creationId xmlns:a16="http://schemas.microsoft.com/office/drawing/2014/main" id="{6F6D527A-E4F2-417F-91C6-E99420D74C10}"/>
              </a:ext>
            </a:extLst>
          </p:cNvPr>
          <p:cNvSpPr>
            <a:spLocks xmlns:a="http://schemas.openxmlformats.org/drawingml/2006/main" noGrp="1"/>
          </p:cNvSpPr>
          <p:nvPr/>
        </p:nvSpPr>
        <p:spPr>
          <a:xfrm xmlns:a="http://schemas.openxmlformats.org/drawingml/2006/main">
            <a:off x="914400" y="161925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A small text grammar traveled well across browsers, APIs, languages, documents, and cloud services.</a:t>
            </a:r>
          </a:p>
        </p:txBody>
      </p:sp>
    </p:spTree>
    <p:extLst>
      <p:ext uri="{BB962C8B-B14F-4D97-AF65-F5344CB8AC3E}">
        <p14:creationId xmlns:p14="http://schemas.microsoft.com/office/powerpoint/2010/main" val="779543758"/>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4D8C74B-4009-4818-80D4-D43749D5573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A86AE743-0C37-4BA5-9484-71B7F2F7A67F}"/>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09  /  CST4714</a:t>
            </a:r>
          </a:p>
        </p:txBody>
      </p:sp>
      <p:sp>
        <p:nvSpPr>
          <p:cNvPr id="3" name="slide-title">
            <a:extLst xmlns:a="http://schemas.openxmlformats.org/drawingml/2006/main">
              <a:ext uri="{FF2B5EF4-FFF2-40B4-BE49-F238E27FC236}">
                <a16:creationId xmlns:a16="http://schemas.microsoft.com/office/drawing/2014/main" id="{C622BD2B-0FD6-44CB-8160-DEEE1CB18364}"/>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Valid JSON has seven value forms and exact punctuation</a:t>
            </a:r>
          </a:p>
        </p:txBody>
      </p:sp>
      <p:sp>
        <p:nvSpPr>
          <p:cNvPr id="4" name="">
            <a:extLst xmlns:a="http://schemas.openxmlformats.org/drawingml/2006/main">
              <a:ext uri="{FF2B5EF4-FFF2-40B4-BE49-F238E27FC236}">
                <a16:creationId xmlns:a16="http://schemas.microsoft.com/office/drawing/2014/main" id="{BDB796E8-162A-4B01-A5D8-72CA90F429B4}"/>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E08821C3-139C-4EFC-83D2-7C3C2FE12B3F}"/>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14</a:t>
            </a:r>
          </a:p>
        </p:txBody>
      </p:sp>
      <p:sp>
        <p:nvSpPr>
          <p:cNvPr id="6" name="code-frame">
            <a:extLst xmlns:a="http://schemas.openxmlformats.org/drawingml/2006/main">
              <a:ext uri="{FF2B5EF4-FFF2-40B4-BE49-F238E27FC236}">
                <a16:creationId xmlns:a16="http://schemas.microsoft.com/office/drawing/2014/main" id="{0D9CE0D2-A418-42B5-AD34-8A2E71156D2C}"/>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46EB8EB1-D82D-4AAB-BE9E-B6B62674A01E}"/>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"ticket_id": 1001,</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"subject": "Streetlight dark",</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"urgent": false,</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"assignee": null,</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"requester":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"user_id": 101,</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"name": "Maya Chen"</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"tags": ["streetlight", "safety"]</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a:t>
            </a:r>
          </a:p>
        </p:txBody>
      </p:sp>
      <p:sp>
        <p:nvSpPr>
          <p:cNvPr id="8" name="">
            <a:extLst xmlns:a="http://schemas.openxmlformats.org/drawingml/2006/main">
              <a:ext uri="{FF2B5EF4-FFF2-40B4-BE49-F238E27FC236}">
                <a16:creationId xmlns:a16="http://schemas.microsoft.com/office/drawing/2014/main" id="{740517C7-F4AD-49A1-897C-B9B797695712}"/>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b="1">
                <a:solidFill>
                  <a:srgbClr val="1D4ED8"/>
                </a:solidFill>
                <a:latin typeface="Helvetica Neue"/>
                <a:ea typeface="Helvetica Neue"/>
                <a:cs typeface="Helvetica Neue"/>
              </a:defRPr>
            </a:pPr>
            <a:r>
              <a:rPr sz="1725" b="1">
                <a:solidFill>
                  <a:srgbClr val="1D4ED8"/>
                </a:solidFill>
                <a:latin typeface="Helvetica Neue"/>
                <a:ea typeface="Helvetica Neue"/>
                <a:cs typeface="Helvetica Neue"/>
              </a:rPr>
              <a:t>Seven forms</a:t>
            </a:r>
          </a:p>
        </p:txBody>
      </p:sp>
      <p:sp>
        <p:nvSpPr>
          <p:cNvPr id="9" name="">
            <a:extLst xmlns:a="http://schemas.openxmlformats.org/drawingml/2006/main">
              <a:ext uri="{FF2B5EF4-FFF2-40B4-BE49-F238E27FC236}">
                <a16:creationId xmlns:a16="http://schemas.microsoft.com/office/drawing/2014/main" id="{D73FE7F5-2412-4B13-BB43-2D883191FD54}"/>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B9578302-1589-456F-83A7-AC12C13A71B2}"/>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object, array, string, number</a:t>
            </a:r>
          </a:p>
        </p:txBody>
      </p:sp>
      <p:sp>
        <p:nvSpPr>
          <p:cNvPr id="11" name="">
            <a:extLst xmlns:a="http://schemas.openxmlformats.org/drawingml/2006/main">
              <a:ext uri="{FF2B5EF4-FFF2-40B4-BE49-F238E27FC236}">
                <a16:creationId xmlns:a16="http://schemas.microsoft.com/office/drawing/2014/main" id="{B9D2FDAB-3972-4760-971A-0DA15D1FA22C}"/>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2" name="">
            <a:extLst xmlns:a="http://schemas.openxmlformats.org/drawingml/2006/main">
              <a:ext uri="{FF2B5EF4-FFF2-40B4-BE49-F238E27FC236}">
                <a16:creationId xmlns:a16="http://schemas.microsoft.com/office/drawing/2014/main" id="{266529BC-034A-483D-86DD-18D79F498E9D}"/>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true, false, null</a:t>
            </a:r>
          </a:p>
        </p:txBody>
      </p:sp>
      <p:sp>
        <p:nvSpPr>
          <p:cNvPr id="13" name="">
            <a:extLst xmlns:a="http://schemas.openxmlformats.org/drawingml/2006/main">
              <a:ext uri="{FF2B5EF4-FFF2-40B4-BE49-F238E27FC236}">
                <a16:creationId xmlns:a16="http://schemas.microsoft.com/office/drawing/2014/main" id="{AB56BBE6-FFD4-42AD-B4BC-004984306101}"/>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4" name="">
            <a:extLst xmlns:a="http://schemas.openxmlformats.org/drawingml/2006/main">
              <a:ext uri="{FF2B5EF4-FFF2-40B4-BE49-F238E27FC236}">
                <a16:creationId xmlns:a16="http://schemas.microsoft.com/office/drawing/2014/main" id="{6A0C5216-1DB6-451A-ACB5-F901E76A9524}"/>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Double quotes; no comments or trailing comma</a:t>
            </a:r>
          </a:p>
        </p:txBody>
      </p:sp>
    </p:spTree>
    <p:extLst>
      <p:ext uri="{BB962C8B-B14F-4D97-AF65-F5344CB8AC3E}">
        <p14:creationId xmlns:p14="http://schemas.microsoft.com/office/powerpoint/2010/main" val="1700288493"/>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B748281-596C-44CE-BCBA-E3F56845A3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8B354755-42E1-40A9-B77E-2AFAC04AA3A3}"/>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09  /  CST4714</a:t>
            </a:r>
          </a:p>
        </p:txBody>
      </p:sp>
      <p:sp>
        <p:nvSpPr>
          <p:cNvPr id="3" name="slide-title">
            <a:extLst xmlns:a="http://schemas.openxmlformats.org/drawingml/2006/main">
              <a:ext uri="{FF2B5EF4-FFF2-40B4-BE49-F238E27FC236}">
                <a16:creationId xmlns:a16="http://schemas.microsoft.com/office/drawing/2014/main" id="{8A6C52DB-D5A6-4F1F-B446-A85ED8BB656B}"/>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One CSV relationship can have multiple valid JSON designs</a:t>
            </a:r>
          </a:p>
        </p:txBody>
      </p:sp>
      <p:sp>
        <p:nvSpPr>
          <p:cNvPr id="4" name="">
            <a:extLst xmlns:a="http://schemas.openxmlformats.org/drawingml/2006/main">
              <a:ext uri="{FF2B5EF4-FFF2-40B4-BE49-F238E27FC236}">
                <a16:creationId xmlns:a16="http://schemas.microsoft.com/office/drawing/2014/main" id="{A447C388-7907-4221-BA87-A81B6E6E7866}"/>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20721757-A349-436D-B19A-9628780600A5}"/>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15</a:t>
            </a:r>
          </a:p>
        </p:txBody>
      </p:sp>
      <p:sp>
        <p:nvSpPr>
          <p:cNvPr id="6" name="">
            <a:extLst xmlns:a="http://schemas.openxmlformats.org/drawingml/2006/main">
              <a:ext uri="{FF2B5EF4-FFF2-40B4-BE49-F238E27FC236}">
                <a16:creationId xmlns:a16="http://schemas.microsoft.com/office/drawing/2014/main" id="{200CC93A-A36E-4AFE-BE43-E2C9D1E55A95}"/>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D4ED8"/>
                </a:solidFill>
                <a:latin typeface="Helvetica Neue"/>
                <a:ea typeface="Helvetica Neue"/>
                <a:cs typeface="Helvetica Neue"/>
              </a:defRPr>
            </a:pPr>
            <a:r>
              <a:rPr sz="1950" b="1">
                <a:solidFill>
                  <a:srgbClr val="1D4ED8"/>
                </a:solidFill>
                <a:latin typeface="Helvetica Neue"/>
                <a:ea typeface="Helvetica Neue"/>
                <a:cs typeface="Helvetica Neue"/>
              </a:rPr>
              <a:t>Embedded item events</a:t>
            </a:r>
          </a:p>
        </p:txBody>
      </p:sp>
      <p:sp>
        <p:nvSpPr>
          <p:cNvPr id="7" name="">
            <a:extLst xmlns:a="http://schemas.openxmlformats.org/drawingml/2006/main">
              <a:ext uri="{FF2B5EF4-FFF2-40B4-BE49-F238E27FC236}">
                <a16:creationId xmlns:a16="http://schemas.microsoft.com/office/drawing/2014/main" id="{7ECF518F-4A5A-4724-8A39-DDE8CCBD3188}"/>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Referenced item and events</a:t>
            </a:r>
          </a:p>
        </p:txBody>
      </p:sp>
      <p:sp>
        <p:nvSpPr>
          <p:cNvPr id="8" name="">
            <a:extLst xmlns:a="http://schemas.openxmlformats.org/drawingml/2006/main">
              <a:ext uri="{FF2B5EF4-FFF2-40B4-BE49-F238E27FC236}">
                <a16:creationId xmlns:a16="http://schemas.microsoft.com/office/drawing/2014/main" id="{5ED589ED-4EDB-4B1B-9E30-AA9471CFCA46}"/>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8670FF55-B329-4AC0-B078-7BD2A2DD19EA}"/>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C57D79A9-3ED6-41C4-9024-7A7583EC547D}"/>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One item object contains an events array</a:t>
            </a:r>
          </a:p>
        </p:txBody>
      </p:sp>
      <p:sp>
        <p:nvSpPr>
          <p:cNvPr id="11" name="">
            <a:extLst xmlns:a="http://schemas.openxmlformats.org/drawingml/2006/main">
              <a:ext uri="{FF2B5EF4-FFF2-40B4-BE49-F238E27FC236}">
                <a16:creationId xmlns:a16="http://schemas.microsoft.com/office/drawing/2014/main" id="{647EF03A-270B-407F-979D-4F13A9759375}"/>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2" name="">
            <a:extLst xmlns:a="http://schemas.openxmlformats.org/drawingml/2006/main">
              <a:ext uri="{FF2B5EF4-FFF2-40B4-BE49-F238E27FC236}">
                <a16:creationId xmlns:a16="http://schemas.microsoft.com/office/drawing/2014/main" id="{1B69FD19-9540-48A9-82BE-BD372B68A484}"/>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Easy to read an item with bounded recent history</a:t>
            </a:r>
          </a:p>
        </p:txBody>
      </p:sp>
      <p:sp>
        <p:nvSpPr>
          <p:cNvPr id="13" name="">
            <a:extLst xmlns:a="http://schemas.openxmlformats.org/drawingml/2006/main">
              <a:ext uri="{FF2B5EF4-FFF2-40B4-BE49-F238E27FC236}">
                <a16:creationId xmlns:a16="http://schemas.microsoft.com/office/drawing/2014/main" id="{84937579-0B6D-445E-A9D8-FC32D0E43DF2}"/>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4" name="">
            <a:extLst xmlns:a="http://schemas.openxmlformats.org/drawingml/2006/main">
              <a:ext uri="{FF2B5EF4-FFF2-40B4-BE49-F238E27FC236}">
                <a16:creationId xmlns:a16="http://schemas.microsoft.com/office/drawing/2014/main" id="{14E10EAB-AB53-461F-AE82-041E0F15DF3A}"/>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Shared or unbounded events can make updates and growth harder</a:t>
            </a:r>
          </a:p>
        </p:txBody>
      </p:sp>
      <p:sp>
        <p:nvSpPr>
          <p:cNvPr id="15" name="">
            <a:extLst xmlns:a="http://schemas.openxmlformats.org/drawingml/2006/main">
              <a:ext uri="{FF2B5EF4-FFF2-40B4-BE49-F238E27FC236}">
                <a16:creationId xmlns:a16="http://schemas.microsoft.com/office/drawing/2014/main" id="{F5590B12-74E2-4665-A9BF-842E8BD403C0}"/>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AB05E542-BF3A-4509-8E00-2773DC140638}"/>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Items and events remain separate arrays or documents</a:t>
            </a:r>
          </a:p>
        </p:txBody>
      </p:sp>
      <p:sp>
        <p:nvSpPr>
          <p:cNvPr id="17" name="">
            <a:extLst xmlns:a="http://schemas.openxmlformats.org/drawingml/2006/main">
              <a:ext uri="{FF2B5EF4-FFF2-40B4-BE49-F238E27FC236}">
                <a16:creationId xmlns:a16="http://schemas.microsoft.com/office/drawing/2014/main" id="{D2D94330-4B57-4BF2-854B-B11D6DD3CDDB}"/>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18BF4215-84C2-44A3-BBF3-43EEB498F4CA}"/>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One event has one source of truth and independent growth</a:t>
            </a:r>
          </a:p>
        </p:txBody>
      </p:sp>
      <p:sp>
        <p:nvSpPr>
          <p:cNvPr id="19" name="">
            <a:extLst xmlns:a="http://schemas.openxmlformats.org/drawingml/2006/main">
              <a:ext uri="{FF2B5EF4-FFF2-40B4-BE49-F238E27FC236}">
                <a16:creationId xmlns:a16="http://schemas.microsoft.com/office/drawing/2014/main" id="{BEEE3472-4B1D-47D5-976E-4DDCE9312F84}"/>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B09C30F7-3D82-4664-8833-FC160E9C6750}"/>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Reading an item history requires matching the reference</a:t>
            </a:r>
          </a:p>
        </p:txBody>
      </p:sp>
    </p:spTree>
    <p:extLst>
      <p:ext uri="{BB962C8B-B14F-4D97-AF65-F5344CB8AC3E}">
        <p14:creationId xmlns:p14="http://schemas.microsoft.com/office/powerpoint/2010/main" val="695038148"/>
      </p:ext>
    </p:extLst>
  </p:cSld>
</p:sld>
</file>

<file path=ppt/slides/slide1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511CBDE-82CB-4145-A971-0C847203FEB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A2B155C9-0FEF-4489-9DBC-99ADADAB5C79}"/>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09  /  CST4714</a:t>
            </a:r>
          </a:p>
        </p:txBody>
      </p:sp>
      <p:sp>
        <p:nvSpPr>
          <p:cNvPr id="3" name="slide-title">
            <a:extLst xmlns:a="http://schemas.openxmlformats.org/drawingml/2006/main">
              <a:ext uri="{FF2B5EF4-FFF2-40B4-BE49-F238E27FC236}">
                <a16:creationId xmlns:a16="http://schemas.microsoft.com/office/drawing/2014/main" id="{BD4B7CA5-BA6D-4A43-966B-2E15D9C0D5A3}"/>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Atlas and GitHub setup are support, not extra deliverables</a:t>
            </a:r>
          </a:p>
        </p:txBody>
      </p:sp>
      <p:sp>
        <p:nvSpPr>
          <p:cNvPr id="4" name="">
            <a:extLst xmlns:a="http://schemas.openxmlformats.org/drawingml/2006/main">
              <a:ext uri="{FF2B5EF4-FFF2-40B4-BE49-F238E27FC236}">
                <a16:creationId xmlns:a16="http://schemas.microsoft.com/office/drawing/2014/main" id="{1571A5CC-5C42-40BC-AA89-4CDC7EDE1648}"/>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A7FC445B-8AA9-4A64-AAF5-00B89DD84DA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16</a:t>
            </a:r>
          </a:p>
        </p:txBody>
      </p:sp>
      <p:sp>
        <p:nvSpPr>
          <p:cNvPr id="6" name="">
            <a:extLst xmlns:a="http://schemas.openxmlformats.org/drawingml/2006/main">
              <a:ext uri="{FF2B5EF4-FFF2-40B4-BE49-F238E27FC236}">
                <a16:creationId xmlns:a16="http://schemas.microsoft.com/office/drawing/2014/main" id="{F1899D07-E1F5-43EA-8336-2D917E1C7059}"/>
              </a:ext>
            </a:extLst>
          </p:cNvPr>
          <p:cNvSpPr>
            <a:spLocks xmlns:a="http://schemas.openxmlformats.org/drawingml/2006/main" noGrp="1"/>
          </p:cNvSpPr>
          <p:nvPr/>
        </p:nvSpPr>
        <p:spPr>
          <a:xfrm xmlns:a="http://schemas.openxmlformats.org/drawingml/2006/main">
            <a:off x="800100" y="1733550"/>
            <a:ext cx="361950" cy="361950"/>
          </a:xfrm>
          <a:prstGeom xmlns:a="http://schemas.openxmlformats.org/drawingml/2006/main" prst="ellipse">
            <a:avLst/>
          </a:prstGeom>
          <a:solidFill xmlns:a="http://schemas.openxmlformats.org/drawingml/2006/main">
            <a:srgbClr val="1D4ED8"/>
          </a:solidFill>
          <a:ln xmlns:a="http://schemas.openxmlformats.org/drawingml/2006/main" w="19050">
            <a:solidFill>
              <a:srgbClr val="1D4ED8"/>
            </a:solidFill>
            <a:prstDash val="solid"/>
          </a:ln>
        </p:spPr>
      </p:sp>
      <p:sp>
        <p:nvSpPr>
          <p:cNvPr id="7" name="">
            <a:extLst xmlns:a="http://schemas.openxmlformats.org/drawingml/2006/main">
              <a:ext uri="{FF2B5EF4-FFF2-40B4-BE49-F238E27FC236}">
                <a16:creationId xmlns:a16="http://schemas.microsoft.com/office/drawing/2014/main" id="{10E05BCD-9D62-43FC-9DA7-76B395609E9E}"/>
              </a:ext>
            </a:extLst>
          </p:cNvPr>
          <p:cNvSpPr>
            <a:spLocks xmlns:a="http://schemas.openxmlformats.org/drawingml/2006/main" noGrp="1"/>
          </p:cNvSpPr>
          <p:nvPr/>
        </p:nvSpPr>
        <p:spPr>
          <a:xfrm xmlns:a="http://schemas.openxmlformats.org/drawingml/2006/main">
            <a:off x="838200" y="17907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57E63F3A-5A26-4AA2-8056-27E59F5A1A9F}"/>
              </a:ext>
            </a:extLst>
          </p:cNvPr>
          <p:cNvSpPr>
            <a:spLocks xmlns:a="http://schemas.openxmlformats.org/drawingml/2006/main" noGrp="1"/>
          </p:cNvSpPr>
          <p:nvPr/>
        </p:nvSpPr>
        <p:spPr>
          <a:xfrm xmlns:a="http://schemas.openxmlformats.org/drawingml/2006/main">
            <a:off x="1390650" y="16954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Use GitHub's browser editor for JSON or Markdown when local Git is unavailable.</a:t>
            </a:r>
          </a:p>
        </p:txBody>
      </p:sp>
      <p:sp>
        <p:nvSpPr>
          <p:cNvPr id="9" name="">
            <a:extLst xmlns:a="http://schemas.openxmlformats.org/drawingml/2006/main">
              <a:ext uri="{FF2B5EF4-FFF2-40B4-BE49-F238E27FC236}">
                <a16:creationId xmlns:a16="http://schemas.microsoft.com/office/drawing/2014/main" id="{1A1A691A-4BA8-487A-B2FD-609966A228F6}"/>
              </a:ext>
            </a:extLst>
          </p:cNvPr>
          <p:cNvSpPr>
            <a:spLocks xmlns:a="http://schemas.openxmlformats.org/drawingml/2006/main" noGrp="1"/>
          </p:cNvSpPr>
          <p:nvPr/>
        </p:nvSpPr>
        <p:spPr>
          <a:xfrm xmlns:a="http://schemas.openxmlformats.org/drawingml/2006/main">
            <a:off x="1390650" y="23812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4ED71540-3979-4AD7-9EBD-92004A20E094}"/>
              </a:ext>
            </a:extLst>
          </p:cNvPr>
          <p:cNvSpPr>
            <a:spLocks xmlns:a="http://schemas.openxmlformats.org/drawingml/2006/main" noGrp="1"/>
          </p:cNvSpPr>
          <p:nvPr/>
        </p:nvSpPr>
        <p:spPr>
          <a:xfrm xmlns:a="http://schemas.openxmlformats.org/drawingml/2006/main">
            <a:off x="800100" y="26289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D4ED8"/>
            </a:solidFill>
            <a:prstDash val="solid"/>
          </a:ln>
        </p:spPr>
      </p:sp>
      <p:sp>
        <p:nvSpPr>
          <p:cNvPr id="11" name="">
            <a:extLst xmlns:a="http://schemas.openxmlformats.org/drawingml/2006/main">
              <a:ext uri="{FF2B5EF4-FFF2-40B4-BE49-F238E27FC236}">
                <a16:creationId xmlns:a16="http://schemas.microsoft.com/office/drawing/2014/main" id="{C8F68135-FB52-41E1-B306-D26416AF88AA}"/>
              </a:ext>
            </a:extLst>
          </p:cNvPr>
          <p:cNvSpPr>
            <a:spLocks xmlns:a="http://schemas.openxmlformats.org/drawingml/2006/main" noGrp="1"/>
          </p:cNvSpPr>
          <p:nvPr/>
        </p:nvSpPr>
        <p:spPr>
          <a:xfrm xmlns:a="http://schemas.openxmlformats.org/drawingml/2006/main">
            <a:off x="838200" y="26860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1D4ED8"/>
                </a:solidFill>
                <a:latin typeface="Helvetica Neue"/>
                <a:ea typeface="Helvetica Neue"/>
                <a:cs typeface="Helvetica Neue"/>
              </a:defRPr>
            </a:pPr>
            <a:r>
              <a:rPr sz="1050" b="1">
                <a:solidFill>
                  <a:srgbClr val="1D4ED8"/>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5ED3D0D7-068B-4B0C-8388-647D69B6D2B9}"/>
              </a:ext>
            </a:extLst>
          </p:cNvPr>
          <p:cNvSpPr>
            <a:spLocks xmlns:a="http://schemas.openxmlformats.org/drawingml/2006/main" noGrp="1"/>
          </p:cNvSpPr>
          <p:nvPr/>
        </p:nvSpPr>
        <p:spPr>
          <a:xfrm xmlns:a="http://schemas.openxmlformats.org/drawingml/2006/main">
            <a:off x="1390650" y="25908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Create only a free Atlas deployment, a database user, and temporary necessary network access.</a:t>
            </a:r>
          </a:p>
        </p:txBody>
      </p:sp>
      <p:sp>
        <p:nvSpPr>
          <p:cNvPr id="13" name="">
            <a:extLst xmlns:a="http://schemas.openxmlformats.org/drawingml/2006/main">
              <a:ext uri="{FF2B5EF4-FFF2-40B4-BE49-F238E27FC236}">
                <a16:creationId xmlns:a16="http://schemas.microsoft.com/office/drawing/2014/main" id="{C24AE5D2-2F12-4F8E-85D0-A675877ADEB3}"/>
              </a:ext>
            </a:extLst>
          </p:cNvPr>
          <p:cNvSpPr>
            <a:spLocks xmlns:a="http://schemas.openxmlformats.org/drawingml/2006/main" noGrp="1"/>
          </p:cNvSpPr>
          <p:nvPr/>
        </p:nvSpPr>
        <p:spPr>
          <a:xfrm xmlns:a="http://schemas.openxmlformats.org/drawingml/2006/main">
            <a:off x="1390650" y="32766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E949C7D6-8A90-47DD-B8FA-B39318AA6950}"/>
              </a:ext>
            </a:extLst>
          </p:cNvPr>
          <p:cNvSpPr>
            <a:spLocks xmlns:a="http://schemas.openxmlformats.org/drawingml/2006/main" noGrp="1"/>
          </p:cNvSpPr>
          <p:nvPr/>
        </p:nvSpPr>
        <p:spPr>
          <a:xfrm xmlns:a="http://schemas.openxmlformats.org/drawingml/2006/main">
            <a:off x="800100" y="352425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D4ED8"/>
            </a:solidFill>
            <a:prstDash val="solid"/>
          </a:ln>
        </p:spPr>
      </p:sp>
      <p:sp>
        <p:nvSpPr>
          <p:cNvPr id="15" name="">
            <a:extLst xmlns:a="http://schemas.openxmlformats.org/drawingml/2006/main">
              <a:ext uri="{FF2B5EF4-FFF2-40B4-BE49-F238E27FC236}">
                <a16:creationId xmlns:a16="http://schemas.microsoft.com/office/drawing/2014/main" id="{E4052AE4-6DE3-4B25-B0DA-81F837128AD4}"/>
              </a:ext>
            </a:extLst>
          </p:cNvPr>
          <p:cNvSpPr>
            <a:spLocks xmlns:a="http://schemas.openxmlformats.org/drawingml/2006/main" noGrp="1"/>
          </p:cNvSpPr>
          <p:nvPr/>
        </p:nvSpPr>
        <p:spPr>
          <a:xfrm xmlns:a="http://schemas.openxmlformats.org/drawingml/2006/main">
            <a:off x="838200" y="35814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1D4ED8"/>
                </a:solidFill>
                <a:latin typeface="Helvetica Neue"/>
                <a:ea typeface="Helvetica Neue"/>
                <a:cs typeface="Helvetica Neue"/>
              </a:defRPr>
            </a:pPr>
            <a:r>
              <a:rPr sz="1050" b="1">
                <a:solidFill>
                  <a:srgbClr val="1D4ED8"/>
                </a:solidFill>
                <a:latin typeface="Helvetica Neue"/>
                <a:ea typeface="Helvetica Neue"/>
                <a:cs typeface="Helvetica Neue"/>
              </a:rPr>
              <a:t>3</a:t>
            </a:r>
          </a:p>
        </p:txBody>
      </p:sp>
      <p:sp>
        <p:nvSpPr>
          <p:cNvPr id="16" name="">
            <a:extLst xmlns:a="http://schemas.openxmlformats.org/drawingml/2006/main">
              <a:ext uri="{FF2B5EF4-FFF2-40B4-BE49-F238E27FC236}">
                <a16:creationId xmlns:a16="http://schemas.microsoft.com/office/drawing/2014/main" id="{A0E237B8-8F04-4E78-AB31-B5C1A439DE0E}"/>
              </a:ext>
            </a:extLst>
          </p:cNvPr>
          <p:cNvSpPr>
            <a:spLocks xmlns:a="http://schemas.openxmlformats.org/drawingml/2006/main" noGrp="1"/>
          </p:cNvSpPr>
          <p:nvPr/>
        </p:nvSpPr>
        <p:spPr>
          <a:xfrm xmlns:a="http://schemas.openxmlformats.org/drawingml/2006/main">
            <a:off x="1390650" y="34861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Keep the Atlas URI, password, project details, and IP information out of files and screenshots.</a:t>
            </a:r>
          </a:p>
        </p:txBody>
      </p:sp>
      <p:sp>
        <p:nvSpPr>
          <p:cNvPr id="17" name="">
            <a:extLst xmlns:a="http://schemas.openxmlformats.org/drawingml/2006/main">
              <a:ext uri="{FF2B5EF4-FFF2-40B4-BE49-F238E27FC236}">
                <a16:creationId xmlns:a16="http://schemas.microsoft.com/office/drawing/2014/main" id="{FB22235B-FFD1-4A54-BAC0-0224C01A716E}"/>
              </a:ext>
            </a:extLst>
          </p:cNvPr>
          <p:cNvSpPr>
            <a:spLocks xmlns:a="http://schemas.openxmlformats.org/drawingml/2006/main" noGrp="1"/>
          </p:cNvSpPr>
          <p:nvPr/>
        </p:nvSpPr>
        <p:spPr>
          <a:xfrm xmlns:a="http://schemas.openxmlformats.org/drawingml/2006/main">
            <a:off x="1390650" y="41719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1DDA8D63-E8F1-46DB-B523-8690A9F07B65}"/>
              </a:ext>
            </a:extLst>
          </p:cNvPr>
          <p:cNvSpPr>
            <a:spLocks xmlns:a="http://schemas.openxmlformats.org/drawingml/2006/main" noGrp="1"/>
          </p:cNvSpPr>
          <p:nvPr/>
        </p:nvSpPr>
        <p:spPr>
          <a:xfrm xmlns:a="http://schemas.openxmlformats.org/drawingml/2006/main">
            <a:off x="800100" y="44196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D4ED8"/>
            </a:solidFill>
            <a:prstDash val="solid"/>
          </a:ln>
        </p:spPr>
      </p:sp>
      <p:sp>
        <p:nvSpPr>
          <p:cNvPr id="19" name="">
            <a:extLst xmlns:a="http://schemas.openxmlformats.org/drawingml/2006/main">
              <a:ext uri="{FF2B5EF4-FFF2-40B4-BE49-F238E27FC236}">
                <a16:creationId xmlns:a16="http://schemas.microsoft.com/office/drawing/2014/main" id="{FE503BCB-3145-4A03-A80C-FDEEA9E3391C}"/>
              </a:ext>
            </a:extLst>
          </p:cNvPr>
          <p:cNvSpPr>
            <a:spLocks xmlns:a="http://schemas.openxmlformats.org/drawingml/2006/main" noGrp="1"/>
          </p:cNvSpPr>
          <p:nvPr/>
        </p:nvSpPr>
        <p:spPr>
          <a:xfrm xmlns:a="http://schemas.openxmlformats.org/drawingml/2006/main">
            <a:off x="838200" y="44767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1D4ED8"/>
                </a:solidFill>
                <a:latin typeface="Helvetica Neue"/>
                <a:ea typeface="Helvetica Neue"/>
                <a:cs typeface="Helvetica Neue"/>
              </a:defRPr>
            </a:pPr>
            <a:r>
              <a:rPr sz="1050" b="1">
                <a:solidFill>
                  <a:srgbClr val="1D4ED8"/>
                </a:solidFill>
                <a:latin typeface="Helvetica Neue"/>
                <a:ea typeface="Helvetica Neue"/>
                <a:cs typeface="Helvetica Neue"/>
              </a:rPr>
              <a:t>4</a:t>
            </a:r>
          </a:p>
        </p:txBody>
      </p:sp>
      <p:sp>
        <p:nvSpPr>
          <p:cNvPr id="20" name="">
            <a:extLst xmlns:a="http://schemas.openxmlformats.org/drawingml/2006/main">
              <a:ext uri="{FF2B5EF4-FFF2-40B4-BE49-F238E27FC236}">
                <a16:creationId xmlns:a16="http://schemas.microsoft.com/office/drawing/2014/main" id="{CF2EE8A5-5BD1-455A-8E05-0D1326C8F6D4}"/>
              </a:ext>
            </a:extLst>
          </p:cNvPr>
          <p:cNvSpPr>
            <a:spLocks xmlns:a="http://schemas.openxmlformats.org/drawingml/2006/main" noGrp="1"/>
          </p:cNvSpPr>
          <p:nvPr/>
        </p:nvSpPr>
        <p:spPr>
          <a:xfrm xmlns:a="http://schemas.openxmlformats.org/drawingml/2006/main">
            <a:off x="1390650" y="43815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Use the text-only JSON lab and validator even if an account or platform is unavailable.</a:t>
            </a:r>
          </a:p>
        </p:txBody>
      </p:sp>
      <p:sp>
        <p:nvSpPr>
          <p:cNvPr id="21" name="">
            <a:extLst xmlns:a="http://schemas.openxmlformats.org/drawingml/2006/main">
              <a:ext uri="{FF2B5EF4-FFF2-40B4-BE49-F238E27FC236}">
                <a16:creationId xmlns:a16="http://schemas.microsoft.com/office/drawing/2014/main" id="{723FA5B0-7ABD-4955-B993-711CD3D38C3A}"/>
              </a:ext>
            </a:extLst>
          </p:cNvPr>
          <p:cNvSpPr>
            <a:spLocks xmlns:a="http://schemas.openxmlformats.org/drawingml/2006/main" noGrp="1"/>
          </p:cNvSpPr>
          <p:nvPr/>
        </p:nvSpPr>
        <p:spPr>
          <a:xfrm xmlns:a="http://schemas.openxmlformats.org/drawingml/2006/main">
            <a:off x="1390650" y="50673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Tree>
    <p:extLst>
      <p:ext uri="{BB962C8B-B14F-4D97-AF65-F5344CB8AC3E}">
        <p14:creationId xmlns:p14="http://schemas.microsoft.com/office/powerpoint/2010/main" val="142775433"/>
      </p:ext>
    </p:extLst>
  </p:cSld>
</p:sld>
</file>

<file path=ppt/slides/slide1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3B69921-F242-4C42-91C1-3950A2659B6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12BEBDA3-DA82-4ECC-8712-9EA9643123C8}"/>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09  /  CST4714</a:t>
            </a:r>
          </a:p>
        </p:txBody>
      </p:sp>
      <p:sp>
        <p:nvSpPr>
          <p:cNvPr id="3" name="slide-title">
            <a:extLst xmlns:a="http://schemas.openxmlformats.org/drawingml/2006/main">
              <a:ext uri="{FF2B5EF4-FFF2-40B4-BE49-F238E27FC236}">
                <a16:creationId xmlns:a16="http://schemas.microsoft.com/office/drawing/2014/main" id="{F2BCB91A-4500-4318-8DC0-68AC74EF7682}"/>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Turn two CSV tables into multiple JSON designs</a:t>
            </a:r>
          </a:p>
        </p:txBody>
      </p:sp>
      <p:sp>
        <p:nvSpPr>
          <p:cNvPr id="4" name="">
            <a:extLst xmlns:a="http://schemas.openxmlformats.org/drawingml/2006/main">
              <a:ext uri="{FF2B5EF4-FFF2-40B4-BE49-F238E27FC236}">
                <a16:creationId xmlns:a16="http://schemas.microsoft.com/office/drawing/2014/main" id="{3015C12D-B4AF-49A1-A89B-9B0A387454A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A0A006D4-ACCC-4A92-AF38-0BF992B9D38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17</a:t>
            </a:r>
          </a:p>
        </p:txBody>
      </p:sp>
      <p:sp>
        <p:nvSpPr>
          <p:cNvPr id="6" name="">
            <a:extLst xmlns:a="http://schemas.openxmlformats.org/drawingml/2006/main">
              <a:ext uri="{FF2B5EF4-FFF2-40B4-BE49-F238E27FC236}">
                <a16:creationId xmlns:a16="http://schemas.microsoft.com/office/drawing/2014/main" id="{FDB00A1B-D7DE-42D0-964E-73DA47DA3182}"/>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Represent Mini Inventory items and events as JSON without running SQL or MQL, then defend one design.</a:t>
            </a:r>
          </a:p>
        </p:txBody>
      </p:sp>
      <p:sp>
        <p:nvSpPr>
          <p:cNvPr id="7" name="">
            <a:extLst xmlns:a="http://schemas.openxmlformats.org/drawingml/2006/main">
              <a:ext uri="{FF2B5EF4-FFF2-40B4-BE49-F238E27FC236}">
                <a16:creationId xmlns:a16="http://schemas.microsoft.com/office/drawing/2014/main" id="{2BCC3C37-4725-4DDD-871B-96C6B75A69B4}"/>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8" name="">
            <a:extLst xmlns:a="http://schemas.openxmlformats.org/drawingml/2006/main">
              <a:ext uri="{FF2B5EF4-FFF2-40B4-BE49-F238E27FC236}">
                <a16:creationId xmlns:a16="http://schemas.microsoft.com/office/drawing/2014/main" id="{63E2D90B-391B-4B58-B9BE-D543F66612A7}"/>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Inspect identifiers, relationships, cardinality, nulls, and the question the data should answer.</a:t>
            </a:r>
          </a:p>
        </p:txBody>
      </p:sp>
      <p:sp>
        <p:nvSpPr>
          <p:cNvPr id="9" name="">
            <a:extLst xmlns:a="http://schemas.openxmlformats.org/drawingml/2006/main">
              <a:ext uri="{FF2B5EF4-FFF2-40B4-BE49-F238E27FC236}">
                <a16:creationId xmlns:a16="http://schemas.microsoft.com/office/drawing/2014/main" id="{1C1E8FD0-2536-4B2E-8004-E05520007A58}"/>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D338868E-FF3F-4919-85F0-7B52AA81B2E2}"/>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Write two valid JSON representations, such as embedded and referenced designs.</a:t>
            </a:r>
          </a:p>
        </p:txBody>
      </p:sp>
      <p:sp>
        <p:nvSpPr>
          <p:cNvPr id="11" name="">
            <a:extLst xmlns:a="http://schemas.openxmlformats.org/drawingml/2006/main">
              <a:ext uri="{FF2B5EF4-FFF2-40B4-BE49-F238E27FC236}">
                <a16:creationId xmlns:a16="http://schemas.microsoft.com/office/drawing/2014/main" id="{F6798967-0804-4BB5-9E68-A199C4BCA9CD}"/>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2" name="">
            <a:extLst xmlns:a="http://schemas.openxmlformats.org/drawingml/2006/main">
              <a:ext uri="{FF2B5EF4-FFF2-40B4-BE49-F238E27FC236}">
                <a16:creationId xmlns:a16="http://schemas.microsoft.com/office/drawing/2014/main" id="{26880A5A-95A6-4DA1-B14B-620437E511BE}"/>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Validate both and explain one easier read, one harder update, and one growth assumption.</a:t>
            </a:r>
          </a:p>
        </p:txBody>
      </p:sp>
      <p:sp>
        <p:nvSpPr>
          <p:cNvPr id="13" name="">
            <a:extLst xmlns:a="http://schemas.openxmlformats.org/drawingml/2006/main">
              <a:ext uri="{FF2B5EF4-FFF2-40B4-BE49-F238E27FC236}">
                <a16:creationId xmlns:a16="http://schemas.microsoft.com/office/drawing/2014/main" id="{E404CC78-D079-4197-BE7E-75F205804F7D}"/>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1D4ED8"/>
          </a:solidFill>
          <a:ln xmlns:a="http://schemas.openxmlformats.org/drawingml/2006/main" w="9525">
            <a:solidFill>
              <a:srgbClr val="1D4ED8"/>
            </a:solidFill>
            <a:prstDash val="solid"/>
          </a:ln>
        </p:spPr>
      </p:sp>
      <p:sp>
        <p:nvSpPr>
          <p:cNvPr id="14" name="">
            <a:extLst xmlns:a="http://schemas.openxmlformats.org/drawingml/2006/main">
              <a:ext uri="{FF2B5EF4-FFF2-40B4-BE49-F238E27FC236}">
                <a16:creationId xmlns:a16="http://schemas.microsoft.com/office/drawing/2014/main" id="{64DF2AD2-8B16-456F-AD56-9F54567887E3}"/>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text response containing two JSON examples and a comparison</a:t>
            </a:r>
          </a:p>
        </p:txBody>
      </p:sp>
    </p:spTree>
    <p:extLst>
      <p:ext uri="{BB962C8B-B14F-4D97-AF65-F5344CB8AC3E}">
        <p14:creationId xmlns:p14="http://schemas.microsoft.com/office/powerpoint/2010/main" val="1603845116"/>
      </p:ext>
    </p:extLst>
  </p:cSld>
</p:sld>
</file>

<file path=ppt/slides/slide1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303ED60-6390-4DED-8C37-54A61CB48B8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A3F9EA05-DC11-4AF2-9AEA-F52B3F55A77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3" name="">
            <a:extLst xmlns:a="http://schemas.openxmlformats.org/drawingml/2006/main">
              <a:ext uri="{FF2B5EF4-FFF2-40B4-BE49-F238E27FC236}">
                <a16:creationId xmlns:a16="http://schemas.microsoft.com/office/drawing/2014/main" id="{22F85F47-18DD-4C61-96E7-942079026314}"/>
              </a:ext>
            </a:extLst>
          </p:cNvPr>
          <p:cNvSpPr>
            <a:spLocks xmlns:a="http://schemas.openxmlformats.org/drawingml/2006/main" noGrp="1"/>
          </p:cNvSpPr>
          <p:nvPr/>
        </p:nvSpPr>
        <p:spPr>
          <a:xfrm xmlns:a="http://schemas.openxmlformats.org/drawingml/2006/main">
            <a:off x="685800" y="952500"/>
            <a:ext cx="990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85317"/>
          </a:bodyPr>
          <a:lstStyle xmlns:a="http://schemas.openxmlformats.org/drawingml/2006/main"/>
          <a:p xmlns:a="http://schemas.openxmlformats.org/drawingml/2006/main">
            <a:pPr>
              <a:buNone/>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Model choice begins with the question and ends with operating tradeoffs</a:t>
            </a:r>
          </a:p>
        </p:txBody>
      </p:sp>
      <p:sp>
        <p:nvSpPr>
          <p:cNvPr id="4" name="">
            <a:extLst xmlns:a="http://schemas.openxmlformats.org/drawingml/2006/main">
              <a:ext uri="{FF2B5EF4-FFF2-40B4-BE49-F238E27FC236}">
                <a16:creationId xmlns:a16="http://schemas.microsoft.com/office/drawing/2014/main" id="{41C5F819-2978-492E-8554-48D3EC826E55}"/>
              </a:ext>
            </a:extLst>
          </p:cNvPr>
          <p:cNvSpPr>
            <a:spLocks xmlns:a="http://schemas.openxmlformats.org/drawingml/2006/main" noGrp="1"/>
          </p:cNvSpPr>
          <p:nvPr/>
        </p:nvSpPr>
        <p:spPr>
          <a:xfrm xmlns:a="http://schemas.openxmlformats.org/drawingml/2006/main">
            <a:off x="723900" y="2286000"/>
            <a:ext cx="9144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550" b="1">
                <a:solidFill>
                  <a:srgbClr val="1D4ED8"/>
                </a:solidFill>
                <a:latin typeface="Helvetica Neue"/>
                <a:ea typeface="Helvetica Neue"/>
                <a:cs typeface="Helvetica Neue"/>
              </a:defRPr>
            </a:pPr>
            <a:r>
              <a:rPr sz="2550" b="1">
                <a:solidFill>
                  <a:srgbClr val="1D4ED8"/>
                </a:solidFill>
                <a:latin typeface="Helvetica Neue"/>
                <a:ea typeface="Helvetica Neue"/>
                <a:cs typeface="Helvetica Neue"/>
              </a:rPr>
              <a:t>NoSQL is a family of choices. JSON is a syntax. Neither removes the need to design and verify.</a:t>
            </a:r>
          </a:p>
        </p:txBody>
      </p:sp>
      <p:sp>
        <p:nvSpPr>
          <p:cNvPr id="5" name="">
            <a:extLst xmlns:a="http://schemas.openxmlformats.org/drawingml/2006/main">
              <a:ext uri="{FF2B5EF4-FFF2-40B4-BE49-F238E27FC236}">
                <a16:creationId xmlns:a16="http://schemas.microsoft.com/office/drawing/2014/main" id="{20CA22E5-6DF0-4BE2-8C64-A7F8457EDCA7}"/>
              </a:ext>
            </a:extLst>
          </p:cNvPr>
          <p:cNvSpPr>
            <a:spLocks xmlns:a="http://schemas.openxmlformats.org/drawingml/2006/main" noGrp="1"/>
          </p:cNvSpPr>
          <p:nvPr/>
        </p:nvSpPr>
        <p:spPr>
          <a:xfrm xmlns:a="http://schemas.openxmlformats.org/drawingml/2006/main">
            <a:off x="781050" y="42481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6" name="">
            <a:extLst xmlns:a="http://schemas.openxmlformats.org/drawingml/2006/main">
              <a:ext uri="{FF2B5EF4-FFF2-40B4-BE49-F238E27FC236}">
                <a16:creationId xmlns:a16="http://schemas.microsoft.com/office/drawing/2014/main" id="{24759A7C-8830-4E76-84A8-BC84B39C2286}"/>
              </a:ext>
            </a:extLst>
          </p:cNvPr>
          <p:cNvSpPr>
            <a:spLocks xmlns:a="http://schemas.openxmlformats.org/drawingml/2006/main" noGrp="1"/>
          </p:cNvSpPr>
          <p:nvPr/>
        </p:nvSpPr>
        <p:spPr>
          <a:xfrm xmlns:a="http://schemas.openxmlformats.org/drawingml/2006/main">
            <a:off x="1047750" y="41910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question is natural in this model?</a:t>
            </a:r>
          </a:p>
        </p:txBody>
      </p:sp>
      <p:sp>
        <p:nvSpPr>
          <p:cNvPr id="7" name="">
            <a:extLst xmlns:a="http://schemas.openxmlformats.org/drawingml/2006/main">
              <a:ext uri="{FF2B5EF4-FFF2-40B4-BE49-F238E27FC236}">
                <a16:creationId xmlns:a16="http://schemas.microsoft.com/office/drawing/2014/main" id="{E92B65B7-ACD8-4BB1-B7D7-DED6D0928C6C}"/>
              </a:ext>
            </a:extLst>
          </p:cNvPr>
          <p:cNvSpPr>
            <a:spLocks xmlns:a="http://schemas.openxmlformats.org/drawingml/2006/main" noGrp="1"/>
          </p:cNvSpPr>
          <p:nvPr/>
        </p:nvSpPr>
        <p:spPr>
          <a:xfrm xmlns:a="http://schemas.openxmlformats.org/drawingml/2006/main">
            <a:off x="781050" y="48958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8" name="">
            <a:extLst xmlns:a="http://schemas.openxmlformats.org/drawingml/2006/main">
              <a:ext uri="{FF2B5EF4-FFF2-40B4-BE49-F238E27FC236}">
                <a16:creationId xmlns:a16="http://schemas.microsoft.com/office/drawing/2014/main" id="{1F1C124D-4A2A-4F85-9FA5-CBAB79F41288}"/>
              </a:ext>
            </a:extLst>
          </p:cNvPr>
          <p:cNvSpPr>
            <a:spLocks xmlns:a="http://schemas.openxmlformats.org/drawingml/2006/main" noGrp="1"/>
          </p:cNvSpPr>
          <p:nvPr/>
        </p:nvSpPr>
        <p:spPr>
          <a:xfrm xmlns:a="http://schemas.openxmlformats.org/drawingml/2006/main">
            <a:off x="1047750" y="48387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update or growth pattern becomes harder?</a:t>
            </a:r>
          </a:p>
        </p:txBody>
      </p:sp>
      <p:sp>
        <p:nvSpPr>
          <p:cNvPr id="9" name="">
            <a:extLst xmlns:a="http://schemas.openxmlformats.org/drawingml/2006/main">
              <a:ext uri="{FF2B5EF4-FFF2-40B4-BE49-F238E27FC236}">
                <a16:creationId xmlns:a16="http://schemas.microsoft.com/office/drawing/2014/main" id="{841834BD-01E5-4A27-B084-A1D7C3541E83}"/>
              </a:ext>
            </a:extLst>
          </p:cNvPr>
          <p:cNvSpPr>
            <a:spLocks xmlns:a="http://schemas.openxmlformats.org/drawingml/2006/main" noGrp="1"/>
          </p:cNvSpPr>
          <p:nvPr/>
        </p:nvSpPr>
        <p:spPr>
          <a:xfrm xmlns:a="http://schemas.openxmlformats.org/drawingml/2006/main">
            <a:off x="781050" y="55435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9CE615A2-D6EB-4088-8A60-FD9A5B4E7C4D}"/>
              </a:ext>
            </a:extLst>
          </p:cNvPr>
          <p:cNvSpPr>
            <a:spLocks xmlns:a="http://schemas.openxmlformats.org/drawingml/2006/main" noGrp="1"/>
          </p:cNvSpPr>
          <p:nvPr/>
        </p:nvSpPr>
        <p:spPr>
          <a:xfrm xmlns:a="http://schemas.openxmlformats.org/drawingml/2006/main">
            <a:off x="1047750" y="54864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identity and relationship must the representation preserve?</a:t>
            </a:r>
          </a:p>
        </p:txBody>
      </p:sp>
      <p:sp>
        <p:nvSpPr>
          <p:cNvPr id="11" name="">
            <a:extLst xmlns:a="http://schemas.openxmlformats.org/drawingml/2006/main">
              <a:ext uri="{FF2B5EF4-FFF2-40B4-BE49-F238E27FC236}">
                <a16:creationId xmlns:a16="http://schemas.microsoft.com/office/drawing/2014/main" id="{51636477-EAAD-4C87-B989-92437C4FB678}"/>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18</a:t>
            </a:r>
          </a:p>
        </p:txBody>
      </p:sp>
    </p:spTree>
    <p:extLst>
      <p:ext uri="{BB962C8B-B14F-4D97-AF65-F5344CB8AC3E}">
        <p14:creationId xmlns:p14="http://schemas.microsoft.com/office/powerpoint/2010/main" val="1382939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http://schemas.openxmlformats.org/package/2006/metadata/core-properties" xmlns:dc="http://purl.org/dc/elements/1.1/" xmlns:dcterms="http://purl.org/dc/terms/" xmlns:xsi="http://www.w3.org/2001/XMLSchema-instance">
  <dc:creator>Atilio Barreda</dc:creator>
  <lastModifiedBy>Atilio Barreda</lastModifiedBy>
  <dc:title>Week 9: Why NoSQL Models Exist and What JSON Enables</dc:title>
  <dcterms:created xsi:type="dcterms:W3CDTF">2026-08-09T04:11:14.8260000Z</dcterms:created>
  <dcterms:modified xsi:type="dcterms:W3CDTF">2026-08-09T00:00:00Z</dcterms:modified>
  <dc:subject>CST 4714 Database Administration</dc:subject>
  <dc:description>Week 9 presentation for Operating Cloud Databases.</dc:description>
  <dc:language>en-US</dc:language>
  <keywords>database administration; PostgreSQL; MongoDB; cloud databases; OER</keywords>
  <category>Open Educational Resource</category>
  <contentStatus>Release Candidate</contentStatus>
</coreProperties>
</file>