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lecture no longer needs to carry the full NoSQL history by itself because the broad bridge now happens at the end of Week 7. That means Week 8 can spend more time on MongoDB-specific modeling and operations.</a:t>
            </a:r>
          </a:p>
          <a:p/>
          <a:p>
            <a:r>
              <a:t>Begin with a fast recap so students reconnect the NoSQL idea to MongoDB without retaking the whole bridge. Then push into the design questions they actually need: what does a document look like, when should data be embedded, how do CRUD and aggregation feel, and what responsibilities stay with the DBA?</a:t>
            </a:r>
          </a:p>
          <a:p/>
          <a:p>
            <a:r>
              <a:t>The tone should still be comparative and practical. MongoDB is the example, but the larger lesson is about workload fit and trade-offs.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exists to reconnect the class, not to reteach everything from the bridge deck.</a:t>
            </a:r>
          </a:p>
          <a:p/>
          <a:p>
            <a:r>
              <a:t>The key reminders are simple: NoSQL re-emerged because some workloads made different trade-offs attractive, MongoDB is the document-database case for this unit, and relational thinking is still relevant because comparison is what makes the model choices understandable.</a:t>
            </a:r>
          </a:p>
          <a:p/>
          <a:p>
            <a:r>
              <a:t>When students hear 'schema-less,' correct it again here. MongoDB gives you flexibility, but it still requires structure, review, and operational discipline.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on vocabulary here because students new to MongoDB often lose confidence when the terms pile up. Keep the stack simple: server, database, collection, document, field.</a:t>
            </a:r>
          </a:p>
          <a:p/>
          <a:p>
            <a:r>
              <a:t>The sample document is important because it shows why document databases feel intuitive to many developers. The order screen in an application often needs the customer snapshot, status, shipping information, and line items at the same time. A document can package that read pattern neatly.</a:t>
            </a:r>
          </a:p>
          <a:p/>
          <a:p>
            <a:r>
              <a:t>At the same time, warn students not to treat a document as a junk drawer. The fact that MongoDB permits nested structure does not mean every related fact should be embedded forever. Modeling discipline still matters.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one of the most important teaching slides in the deck. Students already know normalization, so show them that document modeling is not random. It has a logic. The logic is to design around aggregates and access patterns rather than decomposing everything into reusable tables by default.</a:t>
            </a:r>
          </a:p>
          <a:p/>
          <a:p>
            <a:r>
              <a:t>Use the order example because it makes duplication acceptable in a way students can reason about. Shipping addresses and product names often need to be preserved as historical snapshots anyway. That makes the document model easier to justify.</a:t>
            </a:r>
          </a:p>
          <a:p/>
          <a:p>
            <a:r>
              <a:t>Also show the limit of that logic. If the same customer record must be updated centrally across many workflows, or if the workload involves many cross-order analytical joins, a relational structure may still be better.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Students usually overcorrect in one of two directions: they either try to normalize MongoDB until it looks like tables, or they embed everything and create giant documents.</a:t>
            </a:r>
          </a:p>
          <a:p/>
          <a:p>
            <a:r>
              <a:t>Teach the embed/reference choice as a boundedness and ownership question. If the child data belongs to the parent and stays within a predictable size, embedding usually keeps reads simple and fast. If the child data is shared, reused, or grows unpredictably, referencing is safer.</a:t>
            </a:r>
          </a:p>
          <a:p/>
          <a:p>
            <a:r>
              <a:t>This is also a good place to mention that flexible schema can create schema drift if teams do not agree on structure. That is why review practices and validation rules matter.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let this become a syntax dump. The educational goal is to show the shape of MongoDB operations, not to memorize every operator.</a:t>
            </a:r>
          </a:p>
          <a:p/>
          <a:p>
            <a:r>
              <a:t>A reliable reading strategy helps: first identify the target collection, then the filter, then what fields are returned or modified. That mirrors the SQL habit students already have.</a:t>
            </a:r>
          </a:p>
          <a:p/>
          <a:p>
            <a:r>
              <a:t>Also stress that document boundaries influence correctness. Since single-document writes are atomic, the document structure itself becomes part of the transaction design decision.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Students coming from SQL often find the pipeline unusual at first. Help them by narrating each stage in plain language. Match shipped orders. Unwind line items. Group by customer. Sum revenue. Sort. Limit.</a:t>
            </a:r>
          </a:p>
          <a:p/>
          <a:p>
            <a:r>
              <a:t>That narration matters because it keeps the pipeline tied to intent rather than syntax. It also creates a bridge to SQL's mental model of filter, group, aggregate, and order.</a:t>
            </a:r>
          </a:p>
          <a:p/>
          <a:p>
            <a:r>
              <a:t>Use this slide to remind them that performance is still a DBA concern. Flexibility does not excuse poor query planning or weak indexing.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where you protect students from oversimplified narratives. MongoDB is useful, but it is not the answer to every data problem. The best engineers learn to say why a tool fits and why another tool does not.</a:t>
            </a:r>
          </a:p>
          <a:p/>
          <a:p>
            <a:r>
              <a:t>Use concrete examples. A catalog with variable product attributes often fits MongoDB well. A financial system with heavy cross-table reporting and strict relational constraints often still fits PostgreSQL better.</a:t>
            </a:r>
          </a:p>
          <a:p/>
          <a:p>
            <a:r>
              <a:t>If time allows, ask students to name one project idea that is more relational and one that is more document-shaped. That simple exercise reveals whether they are internalizing the trade-offs.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course is Database Administration, so keep returning to the operator perspective. Students should not leave with the impression that MongoDB is only about developer convenience.</a:t>
            </a:r>
          </a:p>
          <a:p/>
          <a:p>
            <a:r>
              <a:t>The right teaching contrast is this: in PostgreSQL, many structural rules are expressed through tables, constraints, and relational design. In MongoDB, some of that enforcement shifts into JSON Schema validators, application review, and query-driven index discipline. The need for governance is still there.</a:t>
            </a:r>
          </a:p>
          <a:p/>
          <a:p>
            <a:r>
              <a:t>This is also a good place to connect back to earlier weeks. Recovery, least privilege, and observability were not 'Postgres-only' ideas. They are database administration habits that transfer across systems.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helps students develop skepticism in the healthy sense. Every database choice creates failure modes.</a:t>
            </a:r>
          </a:p>
          <a:p/>
          <a:p>
            <a:r>
              <a:t>Explain that MongoDB can encourage fast iteration, but that same flexibility can produce inconsistent field names, mixed document shapes, giant arrays, and painful migrations if teams are careless. Those are design failures, not product bugs.</a:t>
            </a:r>
          </a:p>
          <a:p/>
          <a:p>
            <a:r>
              <a:t>If students can name these anti-patterns now, they will make better project choices later.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as a think-pair-share or short cold-call exercise. It converts the lecture from passive recognition into applied reasoning.</a:t>
            </a:r>
          </a:p>
          <a:p/>
          <a:p>
            <a:r>
              <a:t>The important thing is not the exact product name students choose. What matters is whether they justify the choice using access pattern, relationship shape, growth pattern, and operational concerns.</a:t>
            </a:r>
          </a:p>
          <a:p/>
          <a:p>
            <a:r>
              <a:t>Ask for one admin concern with every answer. That keeps the class anchored in DBA thinking instead of drifting into pure application design.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exit ticket turns the lecture into learning evidence. Students should have to produce concise reasoning, not just nod along during class.</a:t>
            </a:r>
          </a:p>
          <a:p/>
          <a:p>
            <a:r>
              <a:t>The review packet extends that work after class. Its purpose is to make students retrieve the historical story, the NoSQL families, the MongoDB modeling rules, and the administrator responsibilities without relying only on slide review.</a:t>
            </a:r>
          </a:p>
          <a:p/>
          <a:p>
            <a:r>
              <a:t>If time is tight, at least collect a short written answer to the project-fit prompt. That answer tells you whether students are actually ready to choose between relational and document models.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91527"/>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F7B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366760" y="384048"/>
            <a:ext cx="3154680" cy="420624"/>
          </a:xfrm>
          <a:prstGeom prst="roundRect">
            <a:avLst/>
          </a:prstGeom>
          <a:solidFill>
            <a:srgbClr val="112D4E"/>
          </a:solidFill>
          <a:ln w="12700">
            <a:solidFill>
              <a:srgbClr val="7BE0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85800" y="566928"/>
            <a:ext cx="1737360" cy="402336"/>
          </a:xfrm>
          <a:prstGeom prst="roundRect">
            <a:avLst/>
          </a:prstGeom>
          <a:solidFill>
            <a:srgbClr val="112D4E"/>
          </a:solidFill>
          <a:ln w="15240">
            <a:solidFill>
              <a:srgbClr val="7BE0D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7BE0D6"/>
                </a:solidFill>
                <a:latin typeface="Aptos"/>
              </a:defRPr>
            </a:pPr>
            <a:r>
              <a:t>Week 8</a:t>
            </a:r>
          </a:p>
        </p:txBody>
      </p:sp>
      <p:sp>
        <p:nvSpPr>
          <p:cNvPr id="5" name="TextBox 4"/>
          <p:cNvSpPr txBox="1"/>
          <p:nvPr/>
        </p:nvSpPr>
        <p:spPr>
          <a:xfrm>
            <a:off x="685800" y="1170432"/>
            <a:ext cx="9875520" cy="1325880"/>
          </a:xfrm>
          <a:prstGeom prst="rect">
            <a:avLst/>
          </a:prstGeom>
          <a:noFill/>
        </p:spPr>
        <p:txBody>
          <a:bodyPr wrap="square">
            <a:spAutoFit/>
          </a:bodyPr>
          <a:lstStyle/>
          <a:p>
            <a:pPr>
              <a:defRPr sz="3000" b="1">
                <a:solidFill>
                  <a:srgbClr val="F5F7FA"/>
                </a:solidFill>
                <a:latin typeface="Aptos Display"/>
              </a:defRPr>
            </a:pPr>
            <a:r>
              <a:t>MongoDB Foundations</a:t>
            </a:r>
          </a:p>
        </p:txBody>
      </p:sp>
      <p:sp>
        <p:nvSpPr>
          <p:cNvPr id="6" name="TextBox 5"/>
          <p:cNvSpPr txBox="1"/>
          <p:nvPr/>
        </p:nvSpPr>
        <p:spPr>
          <a:xfrm>
            <a:off x="731520" y="2395728"/>
            <a:ext cx="8961120" cy="1298448"/>
          </a:xfrm>
          <a:prstGeom prst="rect">
            <a:avLst/>
          </a:prstGeom>
          <a:noFill/>
        </p:spPr>
        <p:txBody>
          <a:bodyPr wrap="square">
            <a:spAutoFit/>
          </a:bodyPr>
          <a:lstStyle/>
          <a:p>
            <a:pPr>
              <a:defRPr sz="2000">
                <a:solidFill>
                  <a:srgbClr val="C7D2E5"/>
                </a:solidFill>
                <a:latin typeface="Aptos"/>
              </a:defRPr>
            </a:pPr>
            <a:r>
              <a:t>Week 8 picks up after the Week 7 NoSQL bridge and focuses on MongoDB-specific modeling, querying, trade-offs, and administration.</a:t>
            </a:r>
          </a:p>
        </p:txBody>
      </p:sp>
      <p:sp>
        <p:nvSpPr>
          <p:cNvPr id="7" name="Rounded Rectangle 6"/>
          <p:cNvSpPr/>
          <p:nvPr/>
        </p:nvSpPr>
        <p:spPr>
          <a:xfrm>
            <a:off x="8183879" y="3493008"/>
            <a:ext cx="3063240" cy="1792224"/>
          </a:xfrm>
          <a:prstGeom prst="roundRect">
            <a:avLst/>
          </a:prstGeom>
          <a:solidFill>
            <a:srgbClr val="15375F"/>
          </a:solidFill>
          <a:ln w="17780">
            <a:solidFill>
              <a:srgbClr val="F7BF5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7BF56"/>
                </a:solidFill>
                <a:latin typeface="Aptos"/>
              </a:defRPr>
            </a:pPr>
            <a:r>
              <a:t>Teaching focus</a:t>
            </a:r>
          </a:p>
          <a:p>
            <a:pPr>
              <a:spcAft>
                <a:spcPts val="400"/>
              </a:spcAft>
              <a:defRPr sz="1500">
                <a:solidFill>
                  <a:srgbClr val="F5F7FA"/>
                </a:solidFill>
                <a:latin typeface="Aptos"/>
              </a:defRPr>
            </a:pPr>
            <a:r>
              <a:t>Quick recap from Week 7</a:t>
            </a:r>
          </a:p>
          <a:p>
            <a:pPr>
              <a:spcAft>
                <a:spcPts val="400"/>
              </a:spcAft>
              <a:defRPr sz="1500">
                <a:solidFill>
                  <a:srgbClr val="F5F7FA"/>
                </a:solidFill>
                <a:latin typeface="Aptos"/>
              </a:defRPr>
            </a:pPr>
            <a:r>
              <a:t>MongoDB modeling decisions</a:t>
            </a:r>
          </a:p>
          <a:p>
            <a:pPr>
              <a:spcAft>
                <a:spcPts val="400"/>
              </a:spcAft>
              <a:defRPr sz="1500">
                <a:solidFill>
                  <a:srgbClr val="F5F7FA"/>
                </a:solidFill>
                <a:latin typeface="Aptos"/>
              </a:defRPr>
            </a:pPr>
            <a:r>
              <a:t>CRUD, aggregation, and admin trade-offs</a:t>
            </a:r>
          </a:p>
        </p:txBody>
      </p:sp>
      <p:sp>
        <p:nvSpPr>
          <p:cNvPr id="8" name="TextBox 7"/>
          <p:cNvSpPr txBox="1"/>
          <p:nvPr/>
        </p:nvSpPr>
        <p:spPr>
          <a:xfrm>
            <a:off x="685800" y="6400800"/>
            <a:ext cx="10835640" cy="237744"/>
          </a:xfrm>
          <a:prstGeom prst="rect">
            <a:avLst/>
          </a:prstGeom>
          <a:noFill/>
        </p:spPr>
        <p:txBody>
          <a:bodyPr wrap="square">
            <a:spAutoFit/>
          </a:bodyPr>
          <a:lstStyle/>
          <a:p>
            <a:pPr>
              <a:defRPr sz="1000">
                <a:solidFill>
                  <a:srgbClr val="C7D2E5"/>
                </a:solidFill>
                <a:latin typeface="Aptos"/>
              </a:defRPr>
            </a:pPr>
            <a:r>
              <a:t>Week 7 now carries the broad NoSQL bridge; Week 8 narrows to MongoDB itself.</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91527"/>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F7B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366760" y="384048"/>
            <a:ext cx="3154680" cy="420624"/>
          </a:xfrm>
          <a:prstGeom prst="roundRect">
            <a:avLst/>
          </a:prstGeom>
          <a:solidFill>
            <a:srgbClr val="112D4E"/>
          </a:solidFill>
          <a:ln w="12700">
            <a:solidFill>
              <a:srgbClr val="7BE0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85800" y="411480"/>
            <a:ext cx="1600200" cy="347472"/>
          </a:xfrm>
          <a:prstGeom prst="roundRect">
            <a:avLst/>
          </a:prstGeom>
          <a:solidFill>
            <a:srgbClr val="112D4E"/>
          </a:solidFill>
          <a:ln w="12700">
            <a:solidFill>
              <a:srgbClr val="7BE0D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7BE0D6"/>
                </a:solidFill>
                <a:latin typeface="Aptos"/>
              </a:defRPr>
            </a:pPr>
            <a:r>
              <a:t>Recap</a:t>
            </a:r>
          </a:p>
        </p:txBody>
      </p:sp>
      <p:sp>
        <p:nvSpPr>
          <p:cNvPr id="5" name="TextBox 4"/>
          <p:cNvSpPr txBox="1"/>
          <p:nvPr/>
        </p:nvSpPr>
        <p:spPr>
          <a:xfrm>
            <a:off x="685800" y="841248"/>
            <a:ext cx="9144000" cy="685800"/>
          </a:xfrm>
          <a:prstGeom prst="rect">
            <a:avLst/>
          </a:prstGeom>
          <a:noFill/>
        </p:spPr>
        <p:txBody>
          <a:bodyPr wrap="square">
            <a:spAutoFit/>
          </a:bodyPr>
          <a:lstStyle/>
          <a:p>
            <a:pPr>
              <a:defRPr sz="2600" b="1">
                <a:solidFill>
                  <a:srgbClr val="F5F7FA"/>
                </a:solidFill>
                <a:latin typeface="Aptos Display"/>
              </a:defRPr>
            </a:pPr>
            <a:r>
              <a:t>What Carries Over From the Week 7 Bridge</a:t>
            </a:r>
          </a:p>
        </p:txBody>
      </p:sp>
      <p:sp>
        <p:nvSpPr>
          <p:cNvPr id="6" name="TextBox 5"/>
          <p:cNvSpPr txBox="1"/>
          <p:nvPr/>
        </p:nvSpPr>
        <p:spPr>
          <a:xfrm>
            <a:off x="777240" y="1645920"/>
            <a:ext cx="6720840" cy="4206240"/>
          </a:xfrm>
          <a:prstGeom prst="rect">
            <a:avLst/>
          </a:prstGeom>
          <a:noFill/>
        </p:spPr>
        <p:txBody>
          <a:bodyPr wrap="square">
            <a:spAutoFit/>
          </a:bodyPr>
          <a:lstStyle/>
          <a:p>
            <a:pPr>
              <a:spcAft>
                <a:spcPts val="800"/>
              </a:spcAft>
              <a:defRPr sz="1800">
                <a:solidFill>
                  <a:srgbClr val="F5F7FA"/>
                </a:solidFill>
                <a:latin typeface="Aptos"/>
              </a:defRPr>
            </a:pPr>
            <a:r>
              <a:t>- NoSQL re-emerged because some web-scale and cloud workloads stressed relational defaults</a:t>
            </a:r>
          </a:p>
          <a:p>
            <a:pPr>
              <a:spcAft>
                <a:spcPts val="800"/>
              </a:spcAft>
              <a:defRPr sz="1800">
                <a:solidFill>
                  <a:srgbClr val="F5F7FA"/>
                </a:solidFill>
                <a:latin typeface="Aptos"/>
              </a:defRPr>
            </a:pPr>
            <a:r>
              <a:t>- The four major families are key-value, document, column-family, and graph</a:t>
            </a:r>
          </a:p>
          <a:p>
            <a:pPr>
              <a:spcAft>
                <a:spcPts val="800"/>
              </a:spcAft>
              <a:defRPr sz="1800">
                <a:solidFill>
                  <a:srgbClr val="F5F7FA"/>
                </a:solidFill>
                <a:latin typeface="Aptos"/>
              </a:defRPr>
            </a:pPr>
            <a:r>
              <a:t>- MongoDB is the document-database example for this unit</a:t>
            </a:r>
          </a:p>
          <a:p>
            <a:pPr>
              <a:spcAft>
                <a:spcPts val="800"/>
              </a:spcAft>
              <a:defRPr sz="1800">
                <a:solidFill>
                  <a:srgbClr val="F5F7FA"/>
                </a:solidFill>
                <a:latin typeface="Aptos"/>
              </a:defRPr>
            </a:pPr>
            <a:r>
              <a:t>- We still choose databases by workload fit, not by fashion</a:t>
            </a:r>
          </a:p>
          <a:p>
            <a:pPr>
              <a:spcAft>
                <a:spcPts val="800"/>
              </a:spcAft>
              <a:defRPr sz="1800">
                <a:solidFill>
                  <a:srgbClr val="F5F7FA"/>
                </a:solidFill>
                <a:latin typeface="Aptos"/>
              </a:defRPr>
            </a:pPr>
            <a:r>
              <a:t>- The DBA mindset carries forward even when the data model changes</a:t>
            </a:r>
          </a:p>
        </p:txBody>
      </p:sp>
      <p:sp>
        <p:nvSpPr>
          <p:cNvPr id="7" name="Rounded Rectangle 6"/>
          <p:cNvSpPr/>
          <p:nvPr/>
        </p:nvSpPr>
        <p:spPr>
          <a:xfrm>
            <a:off x="8028431" y="1444752"/>
            <a:ext cx="3310128" cy="4480560"/>
          </a:xfrm>
          <a:prstGeom prst="roundRect">
            <a:avLst/>
          </a:prstGeom>
          <a:solidFill>
            <a:srgbClr val="15375F"/>
          </a:solidFill>
          <a:ln w="16510">
            <a:solidFill>
              <a:srgbClr val="F7BF5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7BF56"/>
                </a:solidFill>
                <a:latin typeface="Aptos"/>
              </a:defRPr>
            </a:pPr>
            <a:r>
              <a:t>Key terms</a:t>
            </a:r>
          </a:p>
          <a:p>
            <a:pPr>
              <a:spcAft>
                <a:spcPts val="500"/>
              </a:spcAft>
              <a:defRPr sz="1800">
                <a:solidFill>
                  <a:srgbClr val="F5F7FA"/>
                </a:solidFill>
                <a:latin typeface="Aptos"/>
              </a:defRPr>
            </a:pPr>
            <a:r>
              <a:t>NoSQL</a:t>
            </a:r>
          </a:p>
          <a:p>
            <a:pPr>
              <a:spcAft>
                <a:spcPts val="500"/>
              </a:spcAft>
              <a:defRPr sz="1800">
                <a:solidFill>
                  <a:srgbClr val="F5F7FA"/>
                </a:solidFill>
                <a:latin typeface="Aptos"/>
              </a:defRPr>
            </a:pPr>
            <a:r>
              <a:t>document</a:t>
            </a:r>
          </a:p>
          <a:p>
            <a:pPr>
              <a:spcAft>
                <a:spcPts val="500"/>
              </a:spcAft>
              <a:defRPr sz="1800">
                <a:solidFill>
                  <a:srgbClr val="F5F7FA"/>
                </a:solidFill>
                <a:latin typeface="Aptos"/>
              </a:defRPr>
            </a:pPr>
            <a:r>
              <a:t>polyglot persistence</a:t>
            </a:r>
          </a:p>
          <a:p>
            <a:pPr>
              <a:spcAft>
                <a:spcPts val="500"/>
              </a:spcAft>
              <a:defRPr sz="1800">
                <a:solidFill>
                  <a:srgbClr val="F5F7FA"/>
                </a:solidFill>
                <a:latin typeface="Aptos"/>
              </a:defRPr>
            </a:pPr>
            <a:r>
              <a:t>workload fit</a:t>
            </a:r>
          </a:p>
          <a:p>
            <a:pPr>
              <a:spcAft>
                <a:spcPts val="500"/>
              </a:spcAft>
              <a:defRPr sz="1800">
                <a:solidFill>
                  <a:srgbClr val="F5F7FA"/>
                </a:solidFill>
                <a:latin typeface="Aptos"/>
              </a:defRPr>
            </a:pPr>
            <a:r>
              <a:t>DBA</a:t>
            </a:r>
          </a:p>
        </p:txBody>
      </p:sp>
      <p:sp>
        <p:nvSpPr>
          <p:cNvPr id="8" name="Rounded Rectangle 7"/>
          <p:cNvSpPr/>
          <p:nvPr/>
        </p:nvSpPr>
        <p:spPr>
          <a:xfrm>
            <a:off x="804672" y="5742432"/>
            <a:ext cx="10533888" cy="420624"/>
          </a:xfrm>
          <a:prstGeom prst="roundRect">
            <a:avLst/>
          </a:prstGeom>
          <a:solidFill>
            <a:srgbClr val="112D4E"/>
          </a:solidFill>
          <a:ln w="15240">
            <a:solidFill>
              <a:srgbClr val="FFCC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5F7FA"/>
                </a:solidFill>
                <a:latin typeface="Aptos"/>
              </a:defRPr>
            </a:pPr>
            <a:r>
              <a:t>Use this as a 3-5 minute reconnect, not as a second full history lecture.</a:t>
            </a:r>
          </a:p>
        </p:txBody>
      </p:sp>
      <p:sp>
        <p:nvSpPr>
          <p:cNvPr id="9" name="TextBox 8"/>
          <p:cNvSpPr txBox="1"/>
          <p:nvPr/>
        </p:nvSpPr>
        <p:spPr>
          <a:xfrm>
            <a:off x="685800" y="6400800"/>
            <a:ext cx="10835640" cy="237744"/>
          </a:xfrm>
          <a:prstGeom prst="rect">
            <a:avLst/>
          </a:prstGeom>
          <a:noFill/>
        </p:spPr>
        <p:txBody>
          <a:bodyPr wrap="square">
            <a:spAutoFit/>
          </a:bodyPr>
          <a:lstStyle/>
          <a:p>
            <a:pPr>
              <a:defRPr sz="1000">
                <a:solidFill>
                  <a:srgbClr val="C7D2E5"/>
                </a:solidFill>
                <a:latin typeface="Aptos"/>
              </a:defRPr>
            </a:pPr>
            <a:r>
              <a:t>The broad NoSQL bridge now happens in Week 7 so Week 8 can move faster.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91527"/>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F7B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366760" y="384048"/>
            <a:ext cx="3154680" cy="420624"/>
          </a:xfrm>
          <a:prstGeom prst="roundRect">
            <a:avLst/>
          </a:prstGeom>
          <a:solidFill>
            <a:srgbClr val="112D4E"/>
          </a:solidFill>
          <a:ln w="12700">
            <a:solidFill>
              <a:srgbClr val="7BE0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85800" y="411480"/>
            <a:ext cx="1463040" cy="347472"/>
          </a:xfrm>
          <a:prstGeom prst="roundRect">
            <a:avLst/>
          </a:prstGeom>
          <a:solidFill>
            <a:srgbClr val="112D4E"/>
          </a:solidFill>
          <a:ln w="12700">
            <a:solidFill>
              <a:srgbClr val="7BE0D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7BE0D6"/>
                </a:solidFill>
                <a:latin typeface="Aptos"/>
              </a:defRPr>
            </a:pPr>
            <a:r>
              <a:t>MongoDB</a:t>
            </a:r>
          </a:p>
        </p:txBody>
      </p:sp>
      <p:sp>
        <p:nvSpPr>
          <p:cNvPr id="5" name="TextBox 4"/>
          <p:cNvSpPr txBox="1"/>
          <p:nvPr/>
        </p:nvSpPr>
        <p:spPr>
          <a:xfrm>
            <a:off x="685800" y="841248"/>
            <a:ext cx="9784080" cy="685800"/>
          </a:xfrm>
          <a:prstGeom prst="rect">
            <a:avLst/>
          </a:prstGeom>
          <a:noFill/>
        </p:spPr>
        <p:txBody>
          <a:bodyPr wrap="square">
            <a:spAutoFit/>
          </a:bodyPr>
          <a:lstStyle/>
          <a:p>
            <a:pPr>
              <a:defRPr sz="2600" b="1">
                <a:solidFill>
                  <a:srgbClr val="F5F7FA"/>
                </a:solidFill>
                <a:latin typeface="Aptos Display"/>
              </a:defRPr>
            </a:pPr>
            <a:r>
              <a:t>Where MongoDB Fits</a:t>
            </a:r>
          </a:p>
        </p:txBody>
      </p:sp>
      <p:sp>
        <p:nvSpPr>
          <p:cNvPr id="6" name="TextBox 5"/>
          <p:cNvSpPr txBox="1"/>
          <p:nvPr/>
        </p:nvSpPr>
        <p:spPr>
          <a:xfrm>
            <a:off x="777240" y="1645920"/>
            <a:ext cx="4160520" cy="4315968"/>
          </a:xfrm>
          <a:prstGeom prst="rect">
            <a:avLst/>
          </a:prstGeom>
          <a:noFill/>
        </p:spPr>
        <p:txBody>
          <a:bodyPr wrap="square">
            <a:spAutoFit/>
          </a:bodyPr>
          <a:lstStyle/>
          <a:p>
            <a:pPr>
              <a:spcAft>
                <a:spcPts val="800"/>
              </a:spcAft>
              <a:defRPr sz="1700">
                <a:solidFill>
                  <a:srgbClr val="F5F7FA"/>
                </a:solidFill>
                <a:latin typeface="Aptos"/>
              </a:defRPr>
            </a:pPr>
            <a:r>
              <a:t>- A MongoDB server holds databases, databases hold collections, and collections hold documents</a:t>
            </a:r>
          </a:p>
          <a:p>
            <a:pPr>
              <a:spcAft>
                <a:spcPts val="800"/>
              </a:spcAft>
              <a:defRPr sz="1700">
                <a:solidFill>
                  <a:srgbClr val="F5F7FA"/>
                </a:solidFill>
                <a:latin typeface="Aptos"/>
              </a:defRPr>
            </a:pPr>
            <a:r>
              <a:t>- Documents are BSON records: JSON-like, but with richer native types such as ObjectId and Date</a:t>
            </a:r>
          </a:p>
          <a:p>
            <a:pPr>
              <a:spcAft>
                <a:spcPts val="800"/>
              </a:spcAft>
              <a:defRPr sz="1700">
                <a:solidFill>
                  <a:srgbClr val="F5F7FA"/>
                </a:solidFill>
                <a:latin typeface="Aptos"/>
              </a:defRPr>
            </a:pPr>
            <a:r>
              <a:t>- MongoDB is strongest when the application naturally reads and writes related data together</a:t>
            </a:r>
          </a:p>
          <a:p>
            <a:pPr>
              <a:spcAft>
                <a:spcPts val="800"/>
              </a:spcAft>
              <a:defRPr sz="1700">
                <a:solidFill>
                  <a:srgbClr val="F5F7FA"/>
                </a:solidFill>
                <a:latin typeface="Aptos"/>
              </a:defRPr>
            </a:pPr>
            <a:r>
              <a:t>- Flexible structure does not remove governance; validation, indexes, and backups still matter</a:t>
            </a:r>
          </a:p>
        </p:txBody>
      </p:sp>
      <p:sp>
        <p:nvSpPr>
          <p:cNvPr id="7" name="Rounded Rectangle 6"/>
          <p:cNvSpPr/>
          <p:nvPr/>
        </p:nvSpPr>
        <p:spPr>
          <a:xfrm>
            <a:off x="5138928" y="1572768"/>
            <a:ext cx="6126480" cy="4480560"/>
          </a:xfrm>
          <a:prstGeom prst="roundRect">
            <a:avLst/>
          </a:prstGeom>
          <a:solidFill>
            <a:srgbClr val="15375F"/>
          </a:solidFill>
          <a:ln w="15240">
            <a:solidFill>
              <a:srgbClr val="7BE0D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600" b="1">
                <a:solidFill>
                  <a:srgbClr val="7BE0D6"/>
                </a:solidFill>
                <a:latin typeface="Aptos"/>
              </a:defRPr>
            </a:pPr>
            <a:r>
              <a:t>Sample order document</a:t>
            </a:r>
          </a:p>
          <a:p>
            <a:pPr>
              <a:defRPr sz="1300">
                <a:solidFill>
                  <a:srgbClr val="F5F7FA"/>
                </a:solidFill>
                <a:latin typeface="Courier New"/>
              </a:defRPr>
            </a:pPr>
            <a:r>
              <a:t>{</a:t>
            </a:r>
            <a:br/>
            <a:r>
              <a:t>  _id: ObjectId("65fb..."),</a:t>
            </a:r>
            <a:br/>
            <a:r>
              <a:t>  customerId: 42,</a:t>
            </a:r>
            <a:br/>
            <a:r>
              <a:t>  customerName: "A. Rivera",</a:t>
            </a:r>
            <a:br/>
            <a:r>
              <a:t>  status: "shipped",</a:t>
            </a:r>
            <a:br/>
            <a:r>
              <a:t>  shippingCity: "Tampa",</a:t>
            </a:r>
            <a:br/>
            <a:r>
              <a:t>  lineItems: [</a:t>
            </a:r>
            <a:br/>
            <a:r>
              <a:t>    { sku: "SSD-1TB", qty: 1, price: 89.99 },</a:t>
            </a:r>
            <a:br/>
            <a:r>
              <a:t>    { sku: "USB-C-HUB", qty: 2, price: 24.50 }</a:t>
            </a:r>
            <a:br/>
            <a:r>
              <a:t>  ],</a:t>
            </a:r>
            <a:br/>
            <a:r>
              <a:t>  orderedAt: ISODate("2026-03-10T14:22:00Z")</a:t>
            </a:r>
            <a:br/>
            <a:r>
              <a:t>}</a:t>
            </a:r>
          </a:p>
        </p:txBody>
      </p:sp>
      <p:sp>
        <p:nvSpPr>
          <p:cNvPr id="8" name="TextBox 7"/>
          <p:cNvSpPr txBox="1"/>
          <p:nvPr/>
        </p:nvSpPr>
        <p:spPr>
          <a:xfrm>
            <a:off x="685800" y="6400800"/>
            <a:ext cx="10835640" cy="237744"/>
          </a:xfrm>
          <a:prstGeom prst="rect">
            <a:avLst/>
          </a:prstGeom>
          <a:noFill/>
        </p:spPr>
        <p:txBody>
          <a:bodyPr wrap="square">
            <a:spAutoFit/>
          </a:bodyPr>
          <a:lstStyle/>
          <a:p>
            <a:pPr>
              <a:defRPr sz="1000">
                <a:solidFill>
                  <a:srgbClr val="C7D2E5"/>
                </a:solidFill>
                <a:latin typeface="Aptos"/>
              </a:defRPr>
            </a:pPr>
            <a:r>
              <a:t>MongoDB's document model mirrors application objects more directly than a fully normalized schema.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91527"/>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F7B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366760" y="384048"/>
            <a:ext cx="3154680" cy="420624"/>
          </a:xfrm>
          <a:prstGeom prst="roundRect">
            <a:avLst/>
          </a:prstGeom>
          <a:solidFill>
            <a:srgbClr val="112D4E"/>
          </a:solidFill>
          <a:ln w="12700">
            <a:solidFill>
              <a:srgbClr val="7BE0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85800" y="411480"/>
            <a:ext cx="1508760" cy="347472"/>
          </a:xfrm>
          <a:prstGeom prst="roundRect">
            <a:avLst/>
          </a:prstGeom>
          <a:solidFill>
            <a:srgbClr val="112D4E"/>
          </a:solidFill>
          <a:ln w="12700">
            <a:solidFill>
              <a:srgbClr val="7BE0D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7BE0D6"/>
                </a:solidFill>
                <a:latin typeface="Aptos"/>
              </a:defRPr>
            </a:pPr>
            <a:r>
              <a:t>Modeling</a:t>
            </a:r>
          </a:p>
        </p:txBody>
      </p:sp>
      <p:sp>
        <p:nvSpPr>
          <p:cNvPr id="5" name="TextBox 4"/>
          <p:cNvSpPr txBox="1"/>
          <p:nvPr/>
        </p:nvSpPr>
        <p:spPr>
          <a:xfrm>
            <a:off x="685800" y="841248"/>
            <a:ext cx="10058400" cy="685800"/>
          </a:xfrm>
          <a:prstGeom prst="rect">
            <a:avLst/>
          </a:prstGeom>
          <a:noFill/>
        </p:spPr>
        <p:txBody>
          <a:bodyPr wrap="square">
            <a:spAutoFit/>
          </a:bodyPr>
          <a:lstStyle/>
          <a:p>
            <a:pPr>
              <a:defRPr sz="2600" b="1">
                <a:solidFill>
                  <a:srgbClr val="F5F7FA"/>
                </a:solidFill>
                <a:latin typeface="Aptos Display"/>
              </a:defRPr>
            </a:pPr>
            <a:r>
              <a:t>Relational Thinking vs Document Thinking</a:t>
            </a:r>
          </a:p>
        </p:txBody>
      </p:sp>
      <p:sp>
        <p:nvSpPr>
          <p:cNvPr id="6" name="Rounded Rectangle 5"/>
          <p:cNvSpPr/>
          <p:nvPr/>
        </p:nvSpPr>
        <p:spPr>
          <a:xfrm>
            <a:off x="777240" y="1664208"/>
            <a:ext cx="5212080" cy="4160520"/>
          </a:xfrm>
          <a:prstGeom prst="roundRect">
            <a:avLst/>
          </a:prstGeom>
          <a:solidFill>
            <a:srgbClr val="15375F"/>
          </a:solidFill>
          <a:ln w="15240">
            <a:solidFill>
              <a:srgbClr val="F7BF5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800" b="1">
                <a:solidFill>
                  <a:srgbClr val="F7BF56"/>
                </a:solidFill>
                <a:latin typeface="Aptos"/>
              </a:defRPr>
            </a:pPr>
            <a:r>
              <a:t>Relational approach</a:t>
            </a:r>
          </a:p>
          <a:p>
            <a:pPr>
              <a:spcAft>
                <a:spcPts val="700"/>
              </a:spcAft>
              <a:defRPr sz="1600">
                <a:solidFill>
                  <a:srgbClr val="F5F7FA"/>
                </a:solidFill>
                <a:latin typeface="Aptos"/>
              </a:defRPr>
            </a:pPr>
            <a:r>
              <a:t>- Separate `customers`, `orders`, and `order_items` tables</a:t>
            </a:r>
          </a:p>
          <a:p>
            <a:pPr>
              <a:spcAft>
                <a:spcPts val="700"/>
              </a:spcAft>
              <a:defRPr sz="1600">
                <a:solidFill>
                  <a:srgbClr val="F5F7FA"/>
                </a:solidFill>
                <a:latin typeface="Aptos"/>
              </a:defRPr>
            </a:pPr>
            <a:r>
              <a:t>- Rebuild the order view with joins when the app needs a complete screen</a:t>
            </a:r>
          </a:p>
          <a:p>
            <a:pPr>
              <a:spcAft>
                <a:spcPts val="700"/>
              </a:spcAft>
              <a:defRPr sz="1600">
                <a:solidFill>
                  <a:srgbClr val="F5F7FA"/>
                </a:solidFill>
                <a:latin typeface="Aptos"/>
              </a:defRPr>
            </a:pPr>
            <a:r>
              <a:t>- Minimize duplication and enforce shared facts centrally</a:t>
            </a:r>
          </a:p>
          <a:p>
            <a:pPr>
              <a:spcAft>
                <a:spcPts val="700"/>
              </a:spcAft>
              <a:defRPr sz="1600">
                <a:solidFill>
                  <a:srgbClr val="F5F7FA"/>
                </a:solidFill>
                <a:latin typeface="Aptos"/>
              </a:defRPr>
            </a:pPr>
            <a:r>
              <a:t>- Best when related facts change independently or support many cross-entity queries</a:t>
            </a:r>
          </a:p>
        </p:txBody>
      </p:sp>
      <p:sp>
        <p:nvSpPr>
          <p:cNvPr id="7" name="Rounded Rectangle 6"/>
          <p:cNvSpPr/>
          <p:nvPr/>
        </p:nvSpPr>
        <p:spPr>
          <a:xfrm>
            <a:off x="6217920" y="1664208"/>
            <a:ext cx="5120640" cy="4160520"/>
          </a:xfrm>
          <a:prstGeom prst="roundRect">
            <a:avLst/>
          </a:prstGeom>
          <a:solidFill>
            <a:srgbClr val="15375F"/>
          </a:solidFill>
          <a:ln w="15240">
            <a:solidFill>
              <a:srgbClr val="F7BF5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800" b="1">
                <a:solidFill>
                  <a:srgbClr val="F7BF56"/>
                </a:solidFill>
                <a:latin typeface="Aptos"/>
              </a:defRPr>
            </a:pPr>
            <a:r>
              <a:t>Document approach</a:t>
            </a:r>
          </a:p>
          <a:p>
            <a:pPr>
              <a:spcAft>
                <a:spcPts val="700"/>
              </a:spcAft>
              <a:defRPr sz="1600">
                <a:solidFill>
                  <a:srgbClr val="F5F7FA"/>
                </a:solidFill>
                <a:latin typeface="Aptos"/>
              </a:defRPr>
            </a:pPr>
            <a:r>
              <a:t>- Store an `orders` document with embedded line items and shipping snapshot</a:t>
            </a:r>
          </a:p>
          <a:p>
            <a:pPr>
              <a:spcAft>
                <a:spcPts val="700"/>
              </a:spcAft>
              <a:defRPr sz="1600">
                <a:solidFill>
                  <a:srgbClr val="F5F7FA"/>
                </a:solidFill>
                <a:latin typeface="Aptos"/>
              </a:defRPr>
            </a:pPr>
            <a:r>
              <a:t>- Read the whole order screen with fewer joins and fewer round trips</a:t>
            </a:r>
          </a:p>
          <a:p>
            <a:pPr>
              <a:spcAft>
                <a:spcPts val="700"/>
              </a:spcAft>
              <a:defRPr sz="1600">
                <a:solidFill>
                  <a:srgbClr val="F5F7FA"/>
                </a:solidFill>
                <a:latin typeface="Aptos"/>
              </a:defRPr>
            </a:pPr>
            <a:r>
              <a:t>- Accept intentional duplication if it improves the dominant read path</a:t>
            </a:r>
          </a:p>
          <a:p>
            <a:pPr>
              <a:spcAft>
                <a:spcPts val="700"/>
              </a:spcAft>
              <a:defRPr sz="1600">
                <a:solidFill>
                  <a:srgbClr val="F5F7FA"/>
                </a:solidFill>
                <a:latin typeface="Aptos"/>
              </a:defRPr>
            </a:pPr>
            <a:r>
              <a:t>- Best when the aggregate is usually created, read, and updated together</a:t>
            </a:r>
          </a:p>
        </p:txBody>
      </p:sp>
      <p:sp>
        <p:nvSpPr>
          <p:cNvPr id="8" name="Rounded Rectangle 7"/>
          <p:cNvSpPr/>
          <p:nvPr/>
        </p:nvSpPr>
        <p:spPr>
          <a:xfrm>
            <a:off x="804672" y="5742432"/>
            <a:ext cx="10533888" cy="420624"/>
          </a:xfrm>
          <a:prstGeom prst="roundRect">
            <a:avLst/>
          </a:prstGeom>
          <a:solidFill>
            <a:srgbClr val="112D4E"/>
          </a:solidFill>
          <a:ln w="15240">
            <a:solidFill>
              <a:srgbClr val="FFCC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5F7FA"/>
                </a:solidFill>
                <a:latin typeface="Aptos"/>
              </a:defRPr>
            </a:pPr>
            <a:r>
              <a:t>The design question is not 'Which is modern?' It is 'Which shape matches the workload?'</a:t>
            </a:r>
          </a:p>
        </p:txBody>
      </p:sp>
      <p:sp>
        <p:nvSpPr>
          <p:cNvPr id="9" name="TextBox 8"/>
          <p:cNvSpPr txBox="1"/>
          <p:nvPr/>
        </p:nvSpPr>
        <p:spPr>
          <a:xfrm>
            <a:off x="685800" y="6400800"/>
            <a:ext cx="10835640" cy="237744"/>
          </a:xfrm>
          <a:prstGeom prst="rect">
            <a:avLst/>
          </a:prstGeom>
          <a:noFill/>
        </p:spPr>
        <p:txBody>
          <a:bodyPr wrap="square">
            <a:spAutoFit/>
          </a:bodyPr>
          <a:lstStyle/>
          <a:p>
            <a:pPr>
              <a:defRPr sz="1000">
                <a:solidFill>
                  <a:srgbClr val="C7D2E5"/>
                </a:solidFill>
                <a:latin typeface="Aptos"/>
              </a:defRPr>
            </a:pPr>
            <a:r>
              <a:t>Same business domain, different storage shape because the dominant queries differ.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91527"/>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F7B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366760" y="384048"/>
            <a:ext cx="3154680" cy="420624"/>
          </a:xfrm>
          <a:prstGeom prst="roundRect">
            <a:avLst/>
          </a:prstGeom>
          <a:solidFill>
            <a:srgbClr val="112D4E"/>
          </a:solidFill>
          <a:ln w="12700">
            <a:solidFill>
              <a:srgbClr val="7BE0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85800" y="411480"/>
            <a:ext cx="1508760" cy="347472"/>
          </a:xfrm>
          <a:prstGeom prst="roundRect">
            <a:avLst/>
          </a:prstGeom>
          <a:solidFill>
            <a:srgbClr val="112D4E"/>
          </a:solidFill>
          <a:ln w="12700">
            <a:solidFill>
              <a:srgbClr val="7BE0D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7BE0D6"/>
                </a:solidFill>
                <a:latin typeface="Aptos"/>
              </a:defRPr>
            </a:pPr>
            <a:r>
              <a:t>Design</a:t>
            </a:r>
          </a:p>
        </p:txBody>
      </p:sp>
      <p:sp>
        <p:nvSpPr>
          <p:cNvPr id="5" name="TextBox 4"/>
          <p:cNvSpPr txBox="1"/>
          <p:nvPr/>
        </p:nvSpPr>
        <p:spPr>
          <a:xfrm>
            <a:off x="685800" y="841248"/>
            <a:ext cx="10058400" cy="685800"/>
          </a:xfrm>
          <a:prstGeom prst="rect">
            <a:avLst/>
          </a:prstGeom>
          <a:noFill/>
        </p:spPr>
        <p:txBody>
          <a:bodyPr wrap="square">
            <a:spAutoFit/>
          </a:bodyPr>
          <a:lstStyle/>
          <a:p>
            <a:pPr>
              <a:defRPr sz="2600" b="1">
                <a:solidFill>
                  <a:srgbClr val="F5F7FA"/>
                </a:solidFill>
                <a:latin typeface="Aptos Display"/>
              </a:defRPr>
            </a:pPr>
            <a:r>
              <a:t>Embed or Reference?</a:t>
            </a:r>
          </a:p>
        </p:txBody>
      </p:sp>
      <p:sp>
        <p:nvSpPr>
          <p:cNvPr id="6" name="Rounded Rectangle 5"/>
          <p:cNvSpPr/>
          <p:nvPr/>
        </p:nvSpPr>
        <p:spPr>
          <a:xfrm>
            <a:off x="777240" y="1664208"/>
            <a:ext cx="5212080" cy="4160520"/>
          </a:xfrm>
          <a:prstGeom prst="roundRect">
            <a:avLst/>
          </a:prstGeom>
          <a:solidFill>
            <a:srgbClr val="15375F"/>
          </a:solidFill>
          <a:ln w="15240">
            <a:solidFill>
              <a:srgbClr val="F7BF5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800" b="1">
                <a:solidFill>
                  <a:srgbClr val="F7BF56"/>
                </a:solidFill>
                <a:latin typeface="Aptos"/>
              </a:defRPr>
            </a:pPr>
            <a:r>
              <a:t>Embed when...</a:t>
            </a:r>
          </a:p>
          <a:p>
            <a:pPr>
              <a:spcAft>
                <a:spcPts val="700"/>
              </a:spcAft>
              <a:defRPr sz="1600">
                <a:solidFill>
                  <a:srgbClr val="F5F7FA"/>
                </a:solidFill>
                <a:latin typeface="Aptos"/>
              </a:defRPr>
            </a:pPr>
            <a:r>
              <a:t>- The child data is read with the parent almost every time</a:t>
            </a:r>
          </a:p>
          <a:p>
            <a:pPr>
              <a:spcAft>
                <a:spcPts val="700"/>
              </a:spcAft>
              <a:defRPr sz="1600">
                <a:solidFill>
                  <a:srgbClr val="F5F7FA"/>
                </a:solidFill>
                <a:latin typeface="Aptos"/>
              </a:defRPr>
            </a:pPr>
            <a:r>
              <a:t>- The relationship is one-to-few and size stays bounded</a:t>
            </a:r>
          </a:p>
          <a:p>
            <a:pPr>
              <a:spcAft>
                <a:spcPts val="700"/>
              </a:spcAft>
              <a:defRPr sz="1600">
                <a:solidFill>
                  <a:srgbClr val="F5F7FA"/>
                </a:solidFill>
                <a:latin typeface="Aptos"/>
              </a:defRPr>
            </a:pPr>
            <a:r>
              <a:t>- Updates happen as one business unit</a:t>
            </a:r>
          </a:p>
          <a:p>
            <a:pPr>
              <a:spcAft>
                <a:spcPts val="700"/>
              </a:spcAft>
              <a:defRPr sz="1600">
                <a:solidFill>
                  <a:srgbClr val="F5F7FA"/>
                </a:solidFill>
                <a:latin typeface="Aptos"/>
              </a:defRPr>
            </a:pPr>
            <a:r>
              <a:t>- Duplication is acceptable or even desirable for historical snapshots</a:t>
            </a:r>
          </a:p>
        </p:txBody>
      </p:sp>
      <p:sp>
        <p:nvSpPr>
          <p:cNvPr id="7" name="Rounded Rectangle 6"/>
          <p:cNvSpPr/>
          <p:nvPr/>
        </p:nvSpPr>
        <p:spPr>
          <a:xfrm>
            <a:off x="6217920" y="1664208"/>
            <a:ext cx="5120640" cy="4160520"/>
          </a:xfrm>
          <a:prstGeom prst="roundRect">
            <a:avLst/>
          </a:prstGeom>
          <a:solidFill>
            <a:srgbClr val="15375F"/>
          </a:solidFill>
          <a:ln w="15240">
            <a:solidFill>
              <a:srgbClr val="F7BF5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800" b="1">
                <a:solidFill>
                  <a:srgbClr val="F7BF56"/>
                </a:solidFill>
                <a:latin typeface="Aptos"/>
              </a:defRPr>
            </a:pPr>
            <a:r>
              <a:t>Reference when...</a:t>
            </a:r>
          </a:p>
          <a:p>
            <a:pPr>
              <a:spcAft>
                <a:spcPts val="700"/>
              </a:spcAft>
              <a:defRPr sz="1600">
                <a:solidFill>
                  <a:srgbClr val="F5F7FA"/>
                </a:solidFill>
                <a:latin typeface="Aptos"/>
              </a:defRPr>
            </a:pPr>
            <a:r>
              <a:t>- The child data has an independent lifecycle or many parents</a:t>
            </a:r>
          </a:p>
          <a:p>
            <a:pPr>
              <a:spcAft>
                <a:spcPts val="700"/>
              </a:spcAft>
              <a:defRPr sz="1600">
                <a:solidFill>
                  <a:srgbClr val="F5F7FA"/>
                </a:solidFill>
                <a:latin typeface="Aptos"/>
              </a:defRPr>
            </a:pPr>
            <a:r>
              <a:t>- Arrays can grow without a safe bound</a:t>
            </a:r>
          </a:p>
          <a:p>
            <a:pPr>
              <a:spcAft>
                <a:spcPts val="700"/>
              </a:spcAft>
              <a:defRPr sz="1600">
                <a:solidFill>
                  <a:srgbClr val="F5F7FA"/>
                </a:solidFill>
                <a:latin typeface="Aptos"/>
              </a:defRPr>
            </a:pPr>
            <a:r>
              <a:t>- The workload needs separate updates, ownership, or sharing</a:t>
            </a:r>
          </a:p>
          <a:p>
            <a:pPr>
              <a:spcAft>
                <a:spcPts val="700"/>
              </a:spcAft>
              <a:defRPr sz="1600">
                <a:solidFill>
                  <a:srgbClr val="F5F7FA"/>
                </a:solidFill>
                <a:latin typeface="Aptos"/>
              </a:defRPr>
            </a:pPr>
            <a:r>
              <a:t>- Many-to-many relationships would create large duplicated structures</a:t>
            </a:r>
          </a:p>
        </p:txBody>
      </p:sp>
      <p:sp>
        <p:nvSpPr>
          <p:cNvPr id="8" name="Rounded Rectangle 7"/>
          <p:cNvSpPr/>
          <p:nvPr/>
        </p:nvSpPr>
        <p:spPr>
          <a:xfrm>
            <a:off x="804672" y="5742432"/>
            <a:ext cx="10533888" cy="420624"/>
          </a:xfrm>
          <a:prstGeom prst="roundRect">
            <a:avLst/>
          </a:prstGeom>
          <a:solidFill>
            <a:srgbClr val="112D4E"/>
          </a:solidFill>
          <a:ln w="15240">
            <a:solidFill>
              <a:srgbClr val="FFCC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5F7FA"/>
                </a:solidFill>
                <a:latin typeface="Aptos"/>
              </a:defRPr>
            </a:pPr>
            <a:r>
              <a:t>Quick rule: bounded and read-together leans embed; shared or unbounded leans reference.</a:t>
            </a:r>
          </a:p>
        </p:txBody>
      </p:sp>
      <p:sp>
        <p:nvSpPr>
          <p:cNvPr id="9" name="TextBox 8"/>
          <p:cNvSpPr txBox="1"/>
          <p:nvPr/>
        </p:nvSpPr>
        <p:spPr>
          <a:xfrm>
            <a:off x="685800" y="6400800"/>
            <a:ext cx="10835640" cy="237744"/>
          </a:xfrm>
          <a:prstGeom prst="rect">
            <a:avLst/>
          </a:prstGeom>
          <a:noFill/>
        </p:spPr>
        <p:txBody>
          <a:bodyPr wrap="square">
            <a:spAutoFit/>
          </a:bodyPr>
          <a:lstStyle/>
          <a:p>
            <a:pPr>
              <a:defRPr sz="1000">
                <a:solidFill>
                  <a:srgbClr val="C7D2E5"/>
                </a:solidFill>
                <a:latin typeface="Aptos"/>
              </a:defRPr>
            </a:pPr>
            <a:r>
              <a:t>Good MongoDB design starts with honest read/write patterns, not with maximum nesting.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91527"/>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F7B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366760" y="384048"/>
            <a:ext cx="3154680" cy="420624"/>
          </a:xfrm>
          <a:prstGeom prst="roundRect">
            <a:avLst/>
          </a:prstGeom>
          <a:solidFill>
            <a:srgbClr val="112D4E"/>
          </a:solidFill>
          <a:ln w="12700">
            <a:solidFill>
              <a:srgbClr val="7BE0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85800" y="411480"/>
            <a:ext cx="1463040" cy="347472"/>
          </a:xfrm>
          <a:prstGeom prst="roundRect">
            <a:avLst/>
          </a:prstGeom>
          <a:solidFill>
            <a:srgbClr val="112D4E"/>
          </a:solidFill>
          <a:ln w="12700">
            <a:solidFill>
              <a:srgbClr val="7BE0D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7BE0D6"/>
                </a:solidFill>
                <a:latin typeface="Aptos"/>
              </a:defRPr>
            </a:pPr>
            <a:r>
              <a:t>CRUD</a:t>
            </a:r>
          </a:p>
        </p:txBody>
      </p:sp>
      <p:sp>
        <p:nvSpPr>
          <p:cNvPr id="5" name="TextBox 4"/>
          <p:cNvSpPr txBox="1"/>
          <p:nvPr/>
        </p:nvSpPr>
        <p:spPr>
          <a:xfrm>
            <a:off x="685800" y="841248"/>
            <a:ext cx="9784080" cy="685800"/>
          </a:xfrm>
          <a:prstGeom prst="rect">
            <a:avLst/>
          </a:prstGeom>
          <a:noFill/>
        </p:spPr>
        <p:txBody>
          <a:bodyPr wrap="square">
            <a:spAutoFit/>
          </a:bodyPr>
          <a:lstStyle/>
          <a:p>
            <a:pPr>
              <a:defRPr sz="2600" b="1">
                <a:solidFill>
                  <a:srgbClr val="F5F7FA"/>
                </a:solidFill>
                <a:latin typeface="Aptos Display"/>
              </a:defRPr>
            </a:pPr>
            <a:r>
              <a:t>MongoDB CRUD Basics</a:t>
            </a:r>
          </a:p>
        </p:txBody>
      </p:sp>
      <p:sp>
        <p:nvSpPr>
          <p:cNvPr id="6" name="TextBox 5"/>
          <p:cNvSpPr txBox="1"/>
          <p:nvPr/>
        </p:nvSpPr>
        <p:spPr>
          <a:xfrm>
            <a:off x="777240" y="1645920"/>
            <a:ext cx="4160520" cy="4315968"/>
          </a:xfrm>
          <a:prstGeom prst="rect">
            <a:avLst/>
          </a:prstGeom>
          <a:noFill/>
        </p:spPr>
        <p:txBody>
          <a:bodyPr wrap="square">
            <a:spAutoFit/>
          </a:bodyPr>
          <a:lstStyle/>
          <a:p>
            <a:pPr>
              <a:spcAft>
                <a:spcPts val="800"/>
              </a:spcAft>
              <a:defRPr sz="1700">
                <a:solidFill>
                  <a:srgbClr val="F5F7FA"/>
                </a:solidFill>
                <a:latin typeface="Aptos"/>
              </a:defRPr>
            </a:pPr>
            <a:r>
              <a:t>- `insertOne` and `insertMany` create documents</a:t>
            </a:r>
          </a:p>
          <a:p>
            <a:pPr>
              <a:spcAft>
                <a:spcPts val="800"/>
              </a:spcAft>
              <a:defRPr sz="1700">
                <a:solidFill>
                  <a:srgbClr val="F5F7FA"/>
                </a:solidFill>
                <a:latin typeface="Aptos"/>
              </a:defRPr>
            </a:pPr>
            <a:r>
              <a:t>- `find` uses filters and projections to return just the fields you need</a:t>
            </a:r>
          </a:p>
          <a:p>
            <a:pPr>
              <a:spcAft>
                <a:spcPts val="800"/>
              </a:spcAft>
              <a:defRPr sz="1700">
                <a:solidFill>
                  <a:srgbClr val="F5F7FA"/>
                </a:solidFill>
                <a:latin typeface="Aptos"/>
              </a:defRPr>
            </a:pPr>
            <a:r>
              <a:t>- `updateOne` and `updateMany` use operators like `$set`, `$inc`, and `$addToSet`</a:t>
            </a:r>
          </a:p>
          <a:p>
            <a:pPr>
              <a:spcAft>
                <a:spcPts val="800"/>
              </a:spcAft>
              <a:defRPr sz="1700">
                <a:solidFill>
                  <a:srgbClr val="F5F7FA"/>
                </a:solidFill>
                <a:latin typeface="Aptos"/>
              </a:defRPr>
            </a:pPr>
            <a:r>
              <a:t>- Single-document writes are atomic by default, so document boundaries matter</a:t>
            </a:r>
          </a:p>
          <a:p>
            <a:pPr>
              <a:spcAft>
                <a:spcPts val="800"/>
              </a:spcAft>
              <a:defRPr sz="1700">
                <a:solidFill>
                  <a:srgbClr val="F5F7FA"/>
                </a:solidFill>
                <a:latin typeface="Aptos"/>
              </a:defRPr>
            </a:pPr>
            <a:r>
              <a:t>- Always write filters carefully so updates and deletes stay targeted</a:t>
            </a:r>
          </a:p>
        </p:txBody>
      </p:sp>
      <p:sp>
        <p:nvSpPr>
          <p:cNvPr id="7" name="Rounded Rectangle 6"/>
          <p:cNvSpPr/>
          <p:nvPr/>
        </p:nvSpPr>
        <p:spPr>
          <a:xfrm>
            <a:off x="5138928" y="1572768"/>
            <a:ext cx="6126480" cy="4480560"/>
          </a:xfrm>
          <a:prstGeom prst="roundRect">
            <a:avLst/>
          </a:prstGeom>
          <a:solidFill>
            <a:srgbClr val="15375F"/>
          </a:solidFill>
          <a:ln w="15240">
            <a:solidFill>
              <a:srgbClr val="7BE0D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600" b="1">
                <a:solidFill>
                  <a:srgbClr val="7BE0D6"/>
                </a:solidFill>
                <a:latin typeface="Aptos"/>
              </a:defRPr>
            </a:pPr>
            <a:r>
              <a:t>mongosh examples</a:t>
            </a:r>
          </a:p>
          <a:p>
            <a:pPr>
              <a:defRPr sz="1300">
                <a:solidFill>
                  <a:srgbClr val="F5F7FA"/>
                </a:solidFill>
                <a:latin typeface="Courier New"/>
              </a:defRPr>
            </a:pPr>
            <a:r>
              <a:t>db.orders.insertOne({</a:t>
            </a:r>
            <a:br/>
            <a:r>
              <a:t>  customerId: 42,</a:t>
            </a:r>
            <a:br/>
            <a:r>
              <a:t>  status: "pending",</a:t>
            </a:r>
            <a:br/>
            <a:r>
              <a:t>  total: 138.99</a:t>
            </a:r>
            <a:br/>
            <a:r>
              <a:t>});</a:t>
            </a:r>
            <a:br/>
            <a:br/>
            <a:r>
              <a:t>db.orders.find(</a:t>
            </a:r>
            <a:br/>
            <a:r>
              <a:t>  { status: "pending", total: { $gte: 100 } },</a:t>
            </a:r>
            <a:br/>
            <a:r>
              <a:t>  { customerId: 1, total: 1, _id: 0 }</a:t>
            </a:r>
            <a:br/>
            <a:r>
              <a:t>);</a:t>
            </a:r>
            <a:br/>
            <a:br/>
            <a:r>
              <a:t>db.orders.updateOne(</a:t>
            </a:r>
            <a:br/>
            <a:r>
              <a:t>  { customerId: 42, status: "pending" },</a:t>
            </a:r>
            <a:br/>
            <a:r>
              <a:t>  { $set: { status: "paid" }, $inc: { retryCount: 1 } }</a:t>
            </a:r>
            <a:br/>
            <a:r>
              <a:t>);</a:t>
            </a:r>
          </a:p>
        </p:txBody>
      </p:sp>
      <p:sp>
        <p:nvSpPr>
          <p:cNvPr id="8" name="TextBox 7"/>
          <p:cNvSpPr txBox="1"/>
          <p:nvPr/>
        </p:nvSpPr>
        <p:spPr>
          <a:xfrm>
            <a:off x="685800" y="6400800"/>
            <a:ext cx="10835640" cy="237744"/>
          </a:xfrm>
          <a:prstGeom prst="rect">
            <a:avLst/>
          </a:prstGeom>
          <a:noFill/>
        </p:spPr>
        <p:txBody>
          <a:bodyPr wrap="square">
            <a:spAutoFit/>
          </a:bodyPr>
          <a:lstStyle/>
          <a:p>
            <a:pPr>
              <a:defRPr sz="1000">
                <a:solidFill>
                  <a:srgbClr val="C7D2E5"/>
                </a:solidFill>
                <a:latin typeface="Aptos"/>
              </a:defRPr>
            </a:pPr>
            <a:r>
              <a:t>Teach students to read the filter first, then the projection or update operator.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91527"/>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F7B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366760" y="384048"/>
            <a:ext cx="3154680" cy="420624"/>
          </a:xfrm>
          <a:prstGeom prst="roundRect">
            <a:avLst/>
          </a:prstGeom>
          <a:solidFill>
            <a:srgbClr val="112D4E"/>
          </a:solidFill>
          <a:ln w="12700">
            <a:solidFill>
              <a:srgbClr val="7BE0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85800" y="411480"/>
            <a:ext cx="1463040" cy="347472"/>
          </a:xfrm>
          <a:prstGeom prst="roundRect">
            <a:avLst/>
          </a:prstGeom>
          <a:solidFill>
            <a:srgbClr val="112D4E"/>
          </a:solidFill>
          <a:ln w="12700">
            <a:solidFill>
              <a:srgbClr val="7BE0D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7BE0D6"/>
                </a:solidFill>
                <a:latin typeface="Aptos"/>
              </a:defRPr>
            </a:pPr>
            <a:r>
              <a:t>Aggregation</a:t>
            </a:r>
          </a:p>
        </p:txBody>
      </p:sp>
      <p:sp>
        <p:nvSpPr>
          <p:cNvPr id="5" name="TextBox 4"/>
          <p:cNvSpPr txBox="1"/>
          <p:nvPr/>
        </p:nvSpPr>
        <p:spPr>
          <a:xfrm>
            <a:off x="685800" y="841248"/>
            <a:ext cx="9784080" cy="685800"/>
          </a:xfrm>
          <a:prstGeom prst="rect">
            <a:avLst/>
          </a:prstGeom>
          <a:noFill/>
        </p:spPr>
        <p:txBody>
          <a:bodyPr wrap="square">
            <a:spAutoFit/>
          </a:bodyPr>
          <a:lstStyle/>
          <a:p>
            <a:pPr>
              <a:defRPr sz="2600" b="1">
                <a:solidFill>
                  <a:srgbClr val="F5F7FA"/>
                </a:solidFill>
                <a:latin typeface="Aptos Display"/>
              </a:defRPr>
            </a:pPr>
            <a:r>
              <a:t>How To Think About the Aggregation Pipeline</a:t>
            </a:r>
          </a:p>
        </p:txBody>
      </p:sp>
      <p:sp>
        <p:nvSpPr>
          <p:cNvPr id="6" name="TextBox 5"/>
          <p:cNvSpPr txBox="1"/>
          <p:nvPr/>
        </p:nvSpPr>
        <p:spPr>
          <a:xfrm>
            <a:off x="777240" y="1645920"/>
            <a:ext cx="4160520" cy="4315968"/>
          </a:xfrm>
          <a:prstGeom prst="rect">
            <a:avLst/>
          </a:prstGeom>
          <a:noFill/>
        </p:spPr>
        <p:txBody>
          <a:bodyPr wrap="square">
            <a:spAutoFit/>
          </a:bodyPr>
          <a:lstStyle/>
          <a:p>
            <a:pPr>
              <a:spcAft>
                <a:spcPts val="800"/>
              </a:spcAft>
              <a:defRPr sz="1700">
                <a:solidFill>
                  <a:srgbClr val="F5F7FA"/>
                </a:solidFill>
                <a:latin typeface="Aptos"/>
              </a:defRPr>
            </a:pPr>
            <a:r>
              <a:t>- Aggregation transforms documents stage by stage instead of returning raw rows only</a:t>
            </a:r>
          </a:p>
          <a:p>
            <a:pPr>
              <a:spcAft>
                <a:spcPts val="800"/>
              </a:spcAft>
              <a:defRPr sz="1700">
                <a:solidFill>
                  <a:srgbClr val="F5F7FA"/>
                </a:solidFill>
                <a:latin typeface="Aptos"/>
              </a:defRPr>
            </a:pPr>
            <a:r>
              <a:t>- A common mental model is: filter, reshape, group, sort, project</a:t>
            </a:r>
          </a:p>
          <a:p>
            <a:pPr>
              <a:spcAft>
                <a:spcPts val="800"/>
              </a:spcAft>
              <a:defRPr sz="1700">
                <a:solidFill>
                  <a:srgbClr val="F5F7FA"/>
                </a:solidFill>
                <a:latin typeface="Aptos"/>
              </a:defRPr>
            </a:pPr>
            <a:r>
              <a:t>- Ask for the business question first, then pick the stages needed to answer it</a:t>
            </a:r>
          </a:p>
          <a:p>
            <a:pPr>
              <a:spcAft>
                <a:spcPts val="800"/>
              </a:spcAft>
              <a:defRPr sz="1700">
                <a:solidFill>
                  <a:srgbClr val="F5F7FA"/>
                </a:solidFill>
                <a:latin typeface="Aptos"/>
              </a:defRPr>
            </a:pPr>
            <a:r>
              <a:t>- Stages like `$unwind` can multiply work, so be cautious with large arrays</a:t>
            </a:r>
          </a:p>
          <a:p>
            <a:pPr>
              <a:spcAft>
                <a:spcPts val="800"/>
              </a:spcAft>
              <a:defRPr sz="1700">
                <a:solidFill>
                  <a:srgbClr val="F5F7FA"/>
                </a:solidFill>
                <a:latin typeface="Aptos"/>
              </a:defRPr>
            </a:pPr>
            <a:r>
              <a:t>- Index the early match and sort fields that narrow the pipeline fastest</a:t>
            </a:r>
          </a:p>
        </p:txBody>
      </p:sp>
      <p:sp>
        <p:nvSpPr>
          <p:cNvPr id="7" name="Rounded Rectangle 6"/>
          <p:cNvSpPr/>
          <p:nvPr/>
        </p:nvSpPr>
        <p:spPr>
          <a:xfrm>
            <a:off x="5138928" y="1572768"/>
            <a:ext cx="6126480" cy="4480560"/>
          </a:xfrm>
          <a:prstGeom prst="roundRect">
            <a:avLst/>
          </a:prstGeom>
          <a:solidFill>
            <a:srgbClr val="15375F"/>
          </a:solidFill>
          <a:ln w="15240">
            <a:solidFill>
              <a:srgbClr val="7BE0D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600" b="1">
                <a:solidFill>
                  <a:srgbClr val="7BE0D6"/>
                </a:solidFill>
                <a:latin typeface="Aptos"/>
              </a:defRPr>
            </a:pPr>
            <a:r>
              <a:t>Revenue by customer</a:t>
            </a:r>
          </a:p>
          <a:p>
            <a:pPr>
              <a:defRPr sz="1300">
                <a:solidFill>
                  <a:srgbClr val="F5F7FA"/>
                </a:solidFill>
                <a:latin typeface="Courier New"/>
              </a:defRPr>
            </a:pPr>
            <a:r>
              <a:t>db.orders.aggregate([</a:t>
            </a:r>
            <a:br/>
            <a:r>
              <a:t>  { $match: { status: "shipped" } },</a:t>
            </a:r>
            <a:br/>
            <a:r>
              <a:t>  { $unwind: "$lineItems" },</a:t>
            </a:r>
            <a:br/>
            <a:r>
              <a:t>  {</a:t>
            </a:r>
            <a:br/>
            <a:r>
              <a:t>    $group: {</a:t>
            </a:r>
            <a:br/>
            <a:r>
              <a:t>      _id: "$customerId",</a:t>
            </a:r>
            <a:br/>
            <a:r>
              <a:t>      totalRevenue: {</a:t>
            </a:r>
            <a:br/>
            <a:r>
              <a:t>        $sum: { $multiply: ["$lineItems.qty", "$lineItems.price"] }</a:t>
            </a:r>
            <a:br/>
            <a:r>
              <a:t>      }</a:t>
            </a:r>
            <a:br/>
            <a:r>
              <a:t>    }</a:t>
            </a:r>
            <a:br/>
            <a:r>
              <a:t>  },</a:t>
            </a:r>
            <a:br/>
            <a:r>
              <a:t>  { $sort: { totalRevenue: -1 } },</a:t>
            </a:r>
            <a:br/>
            <a:r>
              <a:t>  { $limit: 5 }</a:t>
            </a:r>
            <a:br/>
            <a:r>
              <a:t>]);</a:t>
            </a:r>
          </a:p>
        </p:txBody>
      </p:sp>
      <p:sp>
        <p:nvSpPr>
          <p:cNvPr id="8" name="TextBox 7"/>
          <p:cNvSpPr txBox="1"/>
          <p:nvPr/>
        </p:nvSpPr>
        <p:spPr>
          <a:xfrm>
            <a:off x="685800" y="6400800"/>
            <a:ext cx="10835640" cy="237744"/>
          </a:xfrm>
          <a:prstGeom prst="rect">
            <a:avLst/>
          </a:prstGeom>
          <a:noFill/>
        </p:spPr>
        <p:txBody>
          <a:bodyPr wrap="square">
            <a:spAutoFit/>
          </a:bodyPr>
          <a:lstStyle/>
          <a:p>
            <a:pPr>
              <a:defRPr sz="1000">
                <a:solidFill>
                  <a:srgbClr val="C7D2E5"/>
                </a:solidFill>
                <a:latin typeface="Aptos"/>
              </a:defRPr>
            </a:pPr>
            <a:r>
              <a:t>Aggregation is easier to teach when every stage answers a visible business question.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91527"/>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F7B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366760" y="384048"/>
            <a:ext cx="3154680" cy="420624"/>
          </a:xfrm>
          <a:prstGeom prst="roundRect">
            <a:avLst/>
          </a:prstGeom>
          <a:solidFill>
            <a:srgbClr val="112D4E"/>
          </a:solidFill>
          <a:ln w="12700">
            <a:solidFill>
              <a:srgbClr val="7BE0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85800" y="411480"/>
            <a:ext cx="1600200" cy="347472"/>
          </a:xfrm>
          <a:prstGeom prst="roundRect">
            <a:avLst/>
          </a:prstGeom>
          <a:solidFill>
            <a:srgbClr val="112D4E"/>
          </a:solidFill>
          <a:ln w="12700">
            <a:solidFill>
              <a:srgbClr val="7BE0D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7BE0D6"/>
                </a:solidFill>
                <a:latin typeface="Aptos"/>
              </a:defRPr>
            </a:pPr>
            <a:r>
              <a:t>Trade-offs</a:t>
            </a:r>
          </a:p>
        </p:txBody>
      </p:sp>
      <p:sp>
        <p:nvSpPr>
          <p:cNvPr id="5" name="TextBox 4"/>
          <p:cNvSpPr txBox="1"/>
          <p:nvPr/>
        </p:nvSpPr>
        <p:spPr>
          <a:xfrm>
            <a:off x="685800" y="841248"/>
            <a:ext cx="9144000" cy="685800"/>
          </a:xfrm>
          <a:prstGeom prst="rect">
            <a:avLst/>
          </a:prstGeom>
          <a:noFill/>
        </p:spPr>
        <p:txBody>
          <a:bodyPr wrap="square">
            <a:spAutoFit/>
          </a:bodyPr>
          <a:lstStyle/>
          <a:p>
            <a:pPr>
              <a:defRPr sz="2600" b="1">
                <a:solidFill>
                  <a:srgbClr val="F5F7FA"/>
                </a:solidFill>
                <a:latin typeface="Aptos Display"/>
              </a:defRPr>
            </a:pPr>
            <a:r>
              <a:t>When MongoDB Helps and When Relational Still Wins</a:t>
            </a:r>
          </a:p>
        </p:txBody>
      </p:sp>
      <p:sp>
        <p:nvSpPr>
          <p:cNvPr id="6" name="TextBox 5"/>
          <p:cNvSpPr txBox="1"/>
          <p:nvPr/>
        </p:nvSpPr>
        <p:spPr>
          <a:xfrm>
            <a:off x="777240" y="1645920"/>
            <a:ext cx="6720840" cy="4206240"/>
          </a:xfrm>
          <a:prstGeom prst="rect">
            <a:avLst/>
          </a:prstGeom>
          <a:noFill/>
        </p:spPr>
        <p:txBody>
          <a:bodyPr wrap="square">
            <a:spAutoFit/>
          </a:bodyPr>
          <a:lstStyle/>
          <a:p>
            <a:pPr>
              <a:spcAft>
                <a:spcPts val="800"/>
              </a:spcAft>
              <a:defRPr sz="1800">
                <a:solidFill>
                  <a:srgbClr val="F5F7FA"/>
                </a:solidFill>
                <a:latin typeface="Aptos"/>
              </a:defRPr>
            </a:pPr>
            <a:r>
              <a:t>- MongoDB shines for evolving, nested, product-like, profile-like, or content-heavy data</a:t>
            </a:r>
          </a:p>
          <a:p>
            <a:pPr>
              <a:spcAft>
                <a:spcPts val="800"/>
              </a:spcAft>
              <a:defRPr sz="1800">
                <a:solidFill>
                  <a:srgbClr val="F5F7FA"/>
                </a:solidFill>
                <a:latin typeface="Aptos"/>
              </a:defRPr>
            </a:pPr>
            <a:r>
              <a:t>- PostgreSQL still wins for complex ad hoc joins, rigid integrity, and mature relational analytics</a:t>
            </a:r>
          </a:p>
          <a:p>
            <a:pPr>
              <a:spcAft>
                <a:spcPts val="800"/>
              </a:spcAft>
              <a:defRPr sz="1800">
                <a:solidFill>
                  <a:srgbClr val="F5F7FA"/>
                </a:solidFill>
                <a:latin typeface="Aptos"/>
              </a:defRPr>
            </a:pPr>
            <a:r>
              <a:t>- Denormalization can speed reads, but it creates synchronization risk when shared facts change</a:t>
            </a:r>
          </a:p>
          <a:p>
            <a:pPr>
              <a:spcAft>
                <a:spcPts val="800"/>
              </a:spcAft>
              <a:defRPr sz="1800">
                <a:solidFill>
                  <a:srgbClr val="F5F7FA"/>
                </a:solidFill>
                <a:latin typeface="Aptos"/>
              </a:defRPr>
            </a:pPr>
            <a:r>
              <a:t>- MongoDB supports multi-document transactions, but needing them everywhere can signal a poor fit</a:t>
            </a:r>
          </a:p>
          <a:p>
            <a:pPr>
              <a:spcAft>
                <a:spcPts val="800"/>
              </a:spcAft>
              <a:defRPr sz="1800">
                <a:solidFill>
                  <a:srgbClr val="F5F7FA"/>
                </a:solidFill>
                <a:latin typeface="Aptos"/>
              </a:defRPr>
            </a:pPr>
            <a:r>
              <a:t>- Choose the database by workload fit, not by the fashion of the moment</a:t>
            </a:r>
          </a:p>
        </p:txBody>
      </p:sp>
      <p:sp>
        <p:nvSpPr>
          <p:cNvPr id="7" name="Rounded Rectangle 6"/>
          <p:cNvSpPr/>
          <p:nvPr/>
        </p:nvSpPr>
        <p:spPr>
          <a:xfrm>
            <a:off x="8028431" y="1444752"/>
            <a:ext cx="3310128" cy="4480560"/>
          </a:xfrm>
          <a:prstGeom prst="roundRect">
            <a:avLst/>
          </a:prstGeom>
          <a:solidFill>
            <a:srgbClr val="15375F"/>
          </a:solidFill>
          <a:ln w="16510">
            <a:solidFill>
              <a:srgbClr val="F7BF5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7BF56"/>
                </a:solidFill>
                <a:latin typeface="Aptos"/>
              </a:defRPr>
            </a:pPr>
            <a:r>
              <a:t>Key terms</a:t>
            </a:r>
          </a:p>
          <a:p>
            <a:pPr>
              <a:spcAft>
                <a:spcPts val="500"/>
              </a:spcAft>
              <a:defRPr sz="1800">
                <a:solidFill>
                  <a:srgbClr val="F5F7FA"/>
                </a:solidFill>
                <a:latin typeface="Aptos"/>
              </a:defRPr>
            </a:pPr>
            <a:r>
              <a:t>denormalization</a:t>
            </a:r>
          </a:p>
          <a:p>
            <a:pPr>
              <a:spcAft>
                <a:spcPts val="500"/>
              </a:spcAft>
              <a:defRPr sz="1800">
                <a:solidFill>
                  <a:srgbClr val="F5F7FA"/>
                </a:solidFill>
                <a:latin typeface="Aptos"/>
              </a:defRPr>
            </a:pPr>
            <a:r>
              <a:t>transaction boundary</a:t>
            </a:r>
          </a:p>
          <a:p>
            <a:pPr>
              <a:spcAft>
                <a:spcPts val="500"/>
              </a:spcAft>
              <a:defRPr sz="1800">
                <a:solidFill>
                  <a:srgbClr val="F5F7FA"/>
                </a:solidFill>
                <a:latin typeface="Aptos"/>
              </a:defRPr>
            </a:pPr>
            <a:r>
              <a:t>join-heavy</a:t>
            </a:r>
          </a:p>
          <a:p>
            <a:pPr>
              <a:spcAft>
                <a:spcPts val="500"/>
              </a:spcAft>
              <a:defRPr sz="1800">
                <a:solidFill>
                  <a:srgbClr val="F5F7FA"/>
                </a:solidFill>
                <a:latin typeface="Aptos"/>
              </a:defRPr>
            </a:pPr>
            <a:r>
              <a:t>consistency</a:t>
            </a:r>
          </a:p>
          <a:p>
            <a:pPr>
              <a:spcAft>
                <a:spcPts val="500"/>
              </a:spcAft>
              <a:defRPr sz="1800">
                <a:solidFill>
                  <a:srgbClr val="F5F7FA"/>
                </a:solidFill>
                <a:latin typeface="Aptos"/>
              </a:defRPr>
            </a:pPr>
            <a:r>
              <a:t>workload fit</a:t>
            </a:r>
          </a:p>
        </p:txBody>
      </p:sp>
      <p:sp>
        <p:nvSpPr>
          <p:cNvPr id="8" name="Rounded Rectangle 7"/>
          <p:cNvSpPr/>
          <p:nvPr/>
        </p:nvSpPr>
        <p:spPr>
          <a:xfrm>
            <a:off x="804672" y="5742432"/>
            <a:ext cx="10533888" cy="420624"/>
          </a:xfrm>
          <a:prstGeom prst="roundRect">
            <a:avLst/>
          </a:prstGeom>
          <a:solidFill>
            <a:srgbClr val="112D4E"/>
          </a:solidFill>
          <a:ln w="15240">
            <a:solidFill>
              <a:srgbClr val="FFCC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5F7FA"/>
                </a:solidFill>
                <a:latin typeface="Aptos"/>
              </a:defRPr>
            </a:pPr>
            <a:r>
              <a:t>Best tool for the job: the right answer is often PostgreSQL plus MongoDB, not PostgreSQL or MongoDB.</a:t>
            </a:r>
          </a:p>
        </p:txBody>
      </p:sp>
      <p:sp>
        <p:nvSpPr>
          <p:cNvPr id="9" name="TextBox 8"/>
          <p:cNvSpPr txBox="1"/>
          <p:nvPr/>
        </p:nvSpPr>
        <p:spPr>
          <a:xfrm>
            <a:off x="685800" y="6400800"/>
            <a:ext cx="10835640" cy="237744"/>
          </a:xfrm>
          <a:prstGeom prst="rect">
            <a:avLst/>
          </a:prstGeom>
          <a:noFill/>
        </p:spPr>
        <p:txBody>
          <a:bodyPr wrap="square">
            <a:spAutoFit/>
          </a:bodyPr>
          <a:lstStyle/>
          <a:p>
            <a:pPr>
              <a:defRPr sz="1000">
                <a:solidFill>
                  <a:srgbClr val="C7D2E5"/>
                </a:solidFill>
                <a:latin typeface="Aptos"/>
              </a:defRPr>
            </a:pPr>
            <a:r>
              <a:t>Trade-off literacy matters more than memorizing a vendor feature list.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91527"/>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F7B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366760" y="384048"/>
            <a:ext cx="3154680" cy="420624"/>
          </a:xfrm>
          <a:prstGeom prst="roundRect">
            <a:avLst/>
          </a:prstGeom>
          <a:solidFill>
            <a:srgbClr val="112D4E"/>
          </a:solidFill>
          <a:ln w="12700">
            <a:solidFill>
              <a:srgbClr val="7BE0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85800" y="411480"/>
            <a:ext cx="1600200" cy="347472"/>
          </a:xfrm>
          <a:prstGeom prst="roundRect">
            <a:avLst/>
          </a:prstGeom>
          <a:solidFill>
            <a:srgbClr val="112D4E"/>
          </a:solidFill>
          <a:ln w="12700">
            <a:solidFill>
              <a:srgbClr val="7BE0D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7BE0D6"/>
                </a:solidFill>
                <a:latin typeface="Aptos"/>
              </a:defRPr>
            </a:pPr>
            <a:r>
              <a:t>Admin</a:t>
            </a:r>
          </a:p>
        </p:txBody>
      </p:sp>
      <p:sp>
        <p:nvSpPr>
          <p:cNvPr id="5" name="TextBox 4"/>
          <p:cNvSpPr txBox="1"/>
          <p:nvPr/>
        </p:nvSpPr>
        <p:spPr>
          <a:xfrm>
            <a:off x="685800" y="841248"/>
            <a:ext cx="9144000" cy="685800"/>
          </a:xfrm>
          <a:prstGeom prst="rect">
            <a:avLst/>
          </a:prstGeom>
          <a:noFill/>
        </p:spPr>
        <p:txBody>
          <a:bodyPr wrap="square">
            <a:spAutoFit/>
          </a:bodyPr>
          <a:lstStyle/>
          <a:p>
            <a:pPr>
              <a:defRPr sz="2600" b="1">
                <a:solidFill>
                  <a:srgbClr val="F5F7FA"/>
                </a:solidFill>
                <a:latin typeface="Aptos Display"/>
              </a:defRPr>
            </a:pPr>
            <a:r>
              <a:t>DBA Responsibilities Do Not Disappear in MongoDB</a:t>
            </a:r>
          </a:p>
        </p:txBody>
      </p:sp>
      <p:sp>
        <p:nvSpPr>
          <p:cNvPr id="6" name="TextBox 5"/>
          <p:cNvSpPr txBox="1"/>
          <p:nvPr/>
        </p:nvSpPr>
        <p:spPr>
          <a:xfrm>
            <a:off x="777240" y="1645920"/>
            <a:ext cx="6720840" cy="4206240"/>
          </a:xfrm>
          <a:prstGeom prst="rect">
            <a:avLst/>
          </a:prstGeom>
          <a:noFill/>
        </p:spPr>
        <p:txBody>
          <a:bodyPr wrap="square">
            <a:spAutoFit/>
          </a:bodyPr>
          <a:lstStyle/>
          <a:p>
            <a:pPr>
              <a:spcAft>
                <a:spcPts val="800"/>
              </a:spcAft>
              <a:defRPr sz="1800">
                <a:solidFill>
                  <a:srgbClr val="F5F7FA"/>
                </a:solidFill>
                <a:latin typeface="Aptos"/>
              </a:defRPr>
            </a:pPr>
            <a:r>
              <a:t>- Turn rules into validators, unique indexes, role boundaries, and disciplined review processes</a:t>
            </a:r>
          </a:p>
          <a:p>
            <a:pPr>
              <a:spcAft>
                <a:spcPts val="800"/>
              </a:spcAft>
              <a:defRPr sz="1800">
                <a:solidFill>
                  <a:srgbClr val="F5F7FA"/>
                </a:solidFill>
                <a:latin typeface="Aptos"/>
              </a:defRPr>
            </a:pPr>
            <a:r>
              <a:t>- Design indexes from actual query patterns instead of indexing every field 'just in case'</a:t>
            </a:r>
          </a:p>
          <a:p>
            <a:pPr>
              <a:spcAft>
                <a:spcPts val="800"/>
              </a:spcAft>
              <a:defRPr sz="1800">
                <a:solidFill>
                  <a:srgbClr val="F5F7FA"/>
                </a:solidFill>
                <a:latin typeface="Aptos"/>
              </a:defRPr>
            </a:pPr>
            <a:r>
              <a:t>- Monitor memory, page faults, replication lag, disk growth, slow queries, and connection pressure</a:t>
            </a:r>
          </a:p>
          <a:p>
            <a:pPr>
              <a:spcAft>
                <a:spcPts val="800"/>
              </a:spcAft>
              <a:defRPr sz="1800">
                <a:solidFill>
                  <a:srgbClr val="F5F7FA"/>
                </a:solidFill>
                <a:latin typeface="Aptos"/>
              </a:defRPr>
            </a:pPr>
            <a:r>
              <a:t>- Test backup, restore, and failover paths instead of only trusting that backups exist</a:t>
            </a:r>
          </a:p>
          <a:p>
            <a:pPr>
              <a:spcAft>
                <a:spcPts val="800"/>
              </a:spcAft>
              <a:defRPr sz="1800">
                <a:solidFill>
                  <a:srgbClr val="F5F7FA"/>
                </a:solidFill>
                <a:latin typeface="Aptos"/>
              </a:defRPr>
            </a:pPr>
            <a:r>
              <a:t>- Secure the cluster with authentication, network controls, TLS, and least privilege</a:t>
            </a:r>
          </a:p>
        </p:txBody>
      </p:sp>
      <p:sp>
        <p:nvSpPr>
          <p:cNvPr id="7" name="Rounded Rectangle 6"/>
          <p:cNvSpPr/>
          <p:nvPr/>
        </p:nvSpPr>
        <p:spPr>
          <a:xfrm>
            <a:off x="8028431" y="1444752"/>
            <a:ext cx="3310128" cy="4480560"/>
          </a:xfrm>
          <a:prstGeom prst="roundRect">
            <a:avLst/>
          </a:prstGeom>
          <a:solidFill>
            <a:srgbClr val="15375F"/>
          </a:solidFill>
          <a:ln w="16510">
            <a:solidFill>
              <a:srgbClr val="F7BF5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7BF56"/>
                </a:solidFill>
                <a:latin typeface="Aptos"/>
              </a:defRPr>
            </a:pPr>
            <a:r>
              <a:t>Key terms</a:t>
            </a:r>
          </a:p>
          <a:p>
            <a:pPr>
              <a:spcAft>
                <a:spcPts val="500"/>
              </a:spcAft>
              <a:defRPr sz="1800">
                <a:solidFill>
                  <a:srgbClr val="F5F7FA"/>
                </a:solidFill>
                <a:latin typeface="Aptos"/>
              </a:defRPr>
            </a:pPr>
            <a:r>
              <a:t>validator</a:t>
            </a:r>
          </a:p>
          <a:p>
            <a:pPr>
              <a:spcAft>
                <a:spcPts val="500"/>
              </a:spcAft>
              <a:defRPr sz="1800">
                <a:solidFill>
                  <a:srgbClr val="F5F7FA"/>
                </a:solidFill>
                <a:latin typeface="Aptos"/>
              </a:defRPr>
            </a:pPr>
            <a:r>
              <a:t>replication lag</a:t>
            </a:r>
          </a:p>
          <a:p>
            <a:pPr>
              <a:spcAft>
                <a:spcPts val="500"/>
              </a:spcAft>
              <a:defRPr sz="1800">
                <a:solidFill>
                  <a:srgbClr val="F5F7FA"/>
                </a:solidFill>
                <a:latin typeface="Aptos"/>
              </a:defRPr>
            </a:pPr>
            <a:r>
              <a:t>restore test</a:t>
            </a:r>
          </a:p>
          <a:p>
            <a:pPr>
              <a:spcAft>
                <a:spcPts val="500"/>
              </a:spcAft>
              <a:defRPr sz="1800">
                <a:solidFill>
                  <a:srgbClr val="F5F7FA"/>
                </a:solidFill>
                <a:latin typeface="Aptos"/>
              </a:defRPr>
            </a:pPr>
            <a:r>
              <a:t>RBAC</a:t>
            </a:r>
          </a:p>
          <a:p>
            <a:pPr>
              <a:spcAft>
                <a:spcPts val="500"/>
              </a:spcAft>
              <a:defRPr sz="1800">
                <a:solidFill>
                  <a:srgbClr val="F5F7FA"/>
                </a:solidFill>
                <a:latin typeface="Aptos"/>
              </a:defRPr>
            </a:pPr>
            <a:r>
              <a:t>slow query</a:t>
            </a:r>
          </a:p>
        </p:txBody>
      </p:sp>
      <p:sp>
        <p:nvSpPr>
          <p:cNvPr id="8" name="Rounded Rectangle 7"/>
          <p:cNvSpPr/>
          <p:nvPr/>
        </p:nvSpPr>
        <p:spPr>
          <a:xfrm>
            <a:off x="804672" y="5742432"/>
            <a:ext cx="10533888" cy="420624"/>
          </a:xfrm>
          <a:prstGeom prst="roundRect">
            <a:avLst/>
          </a:prstGeom>
          <a:solidFill>
            <a:srgbClr val="112D4E"/>
          </a:solidFill>
          <a:ln w="15240">
            <a:solidFill>
              <a:srgbClr val="FFCC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5F7FA"/>
                </a:solidFill>
                <a:latin typeface="Aptos"/>
              </a:defRPr>
            </a:pPr>
            <a:r>
              <a:t>Flexible schema moves enforcement work; it does not eliminate enforcement work.</a:t>
            </a:r>
          </a:p>
        </p:txBody>
      </p:sp>
      <p:sp>
        <p:nvSpPr>
          <p:cNvPr id="9" name="TextBox 8"/>
          <p:cNvSpPr txBox="1"/>
          <p:nvPr/>
        </p:nvSpPr>
        <p:spPr>
          <a:xfrm>
            <a:off x="685800" y="6400800"/>
            <a:ext cx="10835640" cy="237744"/>
          </a:xfrm>
          <a:prstGeom prst="rect">
            <a:avLst/>
          </a:prstGeom>
          <a:noFill/>
        </p:spPr>
        <p:txBody>
          <a:bodyPr wrap="square">
            <a:spAutoFit/>
          </a:bodyPr>
          <a:lstStyle/>
          <a:p>
            <a:pPr>
              <a:defRPr sz="1000">
                <a:solidFill>
                  <a:srgbClr val="C7D2E5"/>
                </a:solidFill>
                <a:latin typeface="Aptos"/>
              </a:defRPr>
            </a:pPr>
            <a:r>
              <a:t>Administration shifts shape, but the DBA mindset of correctness and recovery stays the same.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91527"/>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F7B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366760" y="384048"/>
            <a:ext cx="3154680" cy="420624"/>
          </a:xfrm>
          <a:prstGeom prst="roundRect">
            <a:avLst/>
          </a:prstGeom>
          <a:solidFill>
            <a:srgbClr val="112D4E"/>
          </a:solidFill>
          <a:ln w="12700">
            <a:solidFill>
              <a:srgbClr val="7BE0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85800" y="411480"/>
            <a:ext cx="1600200" cy="347472"/>
          </a:xfrm>
          <a:prstGeom prst="roundRect">
            <a:avLst/>
          </a:prstGeom>
          <a:solidFill>
            <a:srgbClr val="112D4E"/>
          </a:solidFill>
          <a:ln w="12700">
            <a:solidFill>
              <a:srgbClr val="7BE0D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7BE0D6"/>
                </a:solidFill>
                <a:latin typeface="Aptos"/>
              </a:defRPr>
            </a:pPr>
            <a:r>
              <a:t>Pitfalls</a:t>
            </a:r>
          </a:p>
        </p:txBody>
      </p:sp>
      <p:sp>
        <p:nvSpPr>
          <p:cNvPr id="5" name="TextBox 4"/>
          <p:cNvSpPr txBox="1"/>
          <p:nvPr/>
        </p:nvSpPr>
        <p:spPr>
          <a:xfrm>
            <a:off x="685800" y="841248"/>
            <a:ext cx="9144000" cy="685800"/>
          </a:xfrm>
          <a:prstGeom prst="rect">
            <a:avLst/>
          </a:prstGeom>
          <a:noFill/>
        </p:spPr>
        <p:txBody>
          <a:bodyPr wrap="square">
            <a:spAutoFit/>
          </a:bodyPr>
          <a:lstStyle/>
          <a:p>
            <a:pPr>
              <a:defRPr sz="2600" b="1">
                <a:solidFill>
                  <a:srgbClr val="F5F7FA"/>
                </a:solidFill>
                <a:latin typeface="Aptos Display"/>
              </a:defRPr>
            </a:pPr>
            <a:r>
              <a:t>Common Misconceptions and Anti-Patterns</a:t>
            </a:r>
          </a:p>
        </p:txBody>
      </p:sp>
      <p:sp>
        <p:nvSpPr>
          <p:cNvPr id="6" name="TextBox 5"/>
          <p:cNvSpPr txBox="1"/>
          <p:nvPr/>
        </p:nvSpPr>
        <p:spPr>
          <a:xfrm>
            <a:off x="777240" y="1645920"/>
            <a:ext cx="6720840" cy="4206240"/>
          </a:xfrm>
          <a:prstGeom prst="rect">
            <a:avLst/>
          </a:prstGeom>
          <a:noFill/>
        </p:spPr>
        <p:txBody>
          <a:bodyPr wrap="square">
            <a:spAutoFit/>
          </a:bodyPr>
          <a:lstStyle/>
          <a:p>
            <a:pPr>
              <a:spcAft>
                <a:spcPts val="800"/>
              </a:spcAft>
              <a:defRPr sz="1800">
                <a:solidFill>
                  <a:srgbClr val="F5F7FA"/>
                </a:solidFill>
                <a:latin typeface="Aptos"/>
              </a:defRPr>
            </a:pPr>
            <a:r>
              <a:t>- NoSQL does not mean no schema; uncontrolled schema drift is still a real problem</a:t>
            </a:r>
          </a:p>
          <a:p>
            <a:pPr>
              <a:spcAft>
                <a:spcPts val="800"/>
              </a:spcAft>
              <a:defRPr sz="1800">
                <a:solidFill>
                  <a:srgbClr val="F5F7FA"/>
                </a:solidFill>
                <a:latin typeface="Aptos"/>
              </a:defRPr>
            </a:pPr>
            <a:r>
              <a:t>- Giant documents and unbounded arrays can become performance and maintenance hazards</a:t>
            </a:r>
          </a:p>
          <a:p>
            <a:pPr>
              <a:spcAft>
                <a:spcPts val="800"/>
              </a:spcAft>
              <a:defRPr sz="1800">
                <a:solidFill>
                  <a:srgbClr val="F5F7FA"/>
                </a:solidFill>
                <a:latin typeface="Aptos"/>
              </a:defRPr>
            </a:pPr>
            <a:r>
              <a:t>- Horizontal scale is architecture work, not a magic setting you flip on later</a:t>
            </a:r>
          </a:p>
          <a:p>
            <a:pPr>
              <a:spcAft>
                <a:spcPts val="800"/>
              </a:spcAft>
              <a:defRPr sz="1800">
                <a:solidFill>
                  <a:srgbClr val="F5F7FA"/>
                </a:solidFill>
                <a:latin typeface="Aptos"/>
              </a:defRPr>
            </a:pPr>
            <a:r>
              <a:t>- Using MongoDB for every relationship-heavy workflow can recreate join pain in new forms</a:t>
            </a:r>
          </a:p>
          <a:p>
            <a:pPr>
              <a:spcAft>
                <a:spcPts val="800"/>
              </a:spcAft>
              <a:defRPr sz="1800">
                <a:solidFill>
                  <a:srgbClr val="F5F7FA"/>
                </a:solidFill>
                <a:latin typeface="Aptos"/>
              </a:defRPr>
            </a:pPr>
            <a:r>
              <a:t>- If every feature needs broad cross-document transactions, revisit the data model choice</a:t>
            </a:r>
          </a:p>
        </p:txBody>
      </p:sp>
      <p:sp>
        <p:nvSpPr>
          <p:cNvPr id="7" name="Rounded Rectangle 6"/>
          <p:cNvSpPr/>
          <p:nvPr/>
        </p:nvSpPr>
        <p:spPr>
          <a:xfrm>
            <a:off x="8028431" y="1444752"/>
            <a:ext cx="3310128" cy="4480560"/>
          </a:xfrm>
          <a:prstGeom prst="roundRect">
            <a:avLst/>
          </a:prstGeom>
          <a:solidFill>
            <a:srgbClr val="15375F"/>
          </a:solidFill>
          <a:ln w="16510">
            <a:solidFill>
              <a:srgbClr val="F7BF5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7BF56"/>
                </a:solidFill>
                <a:latin typeface="Aptos"/>
              </a:defRPr>
            </a:pPr>
            <a:r>
              <a:t>Key terms</a:t>
            </a:r>
          </a:p>
          <a:p>
            <a:pPr>
              <a:spcAft>
                <a:spcPts val="500"/>
              </a:spcAft>
              <a:defRPr sz="1800">
                <a:solidFill>
                  <a:srgbClr val="F5F7FA"/>
                </a:solidFill>
                <a:latin typeface="Aptos"/>
              </a:defRPr>
            </a:pPr>
            <a:r>
              <a:t>schema drift</a:t>
            </a:r>
          </a:p>
          <a:p>
            <a:pPr>
              <a:spcAft>
                <a:spcPts val="500"/>
              </a:spcAft>
              <a:defRPr sz="1800">
                <a:solidFill>
                  <a:srgbClr val="F5F7FA"/>
                </a:solidFill>
                <a:latin typeface="Aptos"/>
              </a:defRPr>
            </a:pPr>
            <a:r>
              <a:t>unbounded array</a:t>
            </a:r>
          </a:p>
          <a:p>
            <a:pPr>
              <a:spcAft>
                <a:spcPts val="500"/>
              </a:spcAft>
              <a:defRPr sz="1800">
                <a:solidFill>
                  <a:srgbClr val="F5F7FA"/>
                </a:solidFill>
                <a:latin typeface="Aptos"/>
              </a:defRPr>
            </a:pPr>
            <a:r>
              <a:t>hotspot</a:t>
            </a:r>
          </a:p>
          <a:p>
            <a:pPr>
              <a:spcAft>
                <a:spcPts val="500"/>
              </a:spcAft>
              <a:defRPr sz="1800">
                <a:solidFill>
                  <a:srgbClr val="F5F7FA"/>
                </a:solidFill>
                <a:latin typeface="Aptos"/>
              </a:defRPr>
            </a:pPr>
            <a:r>
              <a:t>anti-pattern</a:t>
            </a:r>
          </a:p>
          <a:p>
            <a:pPr>
              <a:spcAft>
                <a:spcPts val="500"/>
              </a:spcAft>
              <a:defRPr sz="1800">
                <a:solidFill>
                  <a:srgbClr val="F5F7FA"/>
                </a:solidFill>
                <a:latin typeface="Aptos"/>
              </a:defRPr>
            </a:pPr>
            <a:r>
              <a:t>governance</a:t>
            </a:r>
          </a:p>
        </p:txBody>
      </p:sp>
      <p:sp>
        <p:nvSpPr>
          <p:cNvPr id="8" name="Rounded Rectangle 7"/>
          <p:cNvSpPr/>
          <p:nvPr/>
        </p:nvSpPr>
        <p:spPr>
          <a:xfrm>
            <a:off x="804672" y="5742432"/>
            <a:ext cx="10533888" cy="420624"/>
          </a:xfrm>
          <a:prstGeom prst="roundRect">
            <a:avLst/>
          </a:prstGeom>
          <a:solidFill>
            <a:srgbClr val="112D4E"/>
          </a:solidFill>
          <a:ln w="15240">
            <a:solidFill>
              <a:srgbClr val="FFCC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5F7FA"/>
                </a:solidFill>
                <a:latin typeface="Aptos"/>
              </a:defRPr>
            </a:pPr>
            <a:r>
              <a:t>Bad modeling in MongoDB does not disappear. It just fails differently than bad SQL modeling.</a:t>
            </a:r>
          </a:p>
        </p:txBody>
      </p:sp>
      <p:sp>
        <p:nvSpPr>
          <p:cNvPr id="9" name="TextBox 8"/>
          <p:cNvSpPr txBox="1"/>
          <p:nvPr/>
        </p:nvSpPr>
        <p:spPr>
          <a:xfrm>
            <a:off x="685800" y="6400800"/>
            <a:ext cx="10835640" cy="237744"/>
          </a:xfrm>
          <a:prstGeom prst="rect">
            <a:avLst/>
          </a:prstGeom>
          <a:noFill/>
        </p:spPr>
        <p:txBody>
          <a:bodyPr wrap="square">
            <a:spAutoFit/>
          </a:bodyPr>
          <a:lstStyle/>
          <a:p>
            <a:pPr>
              <a:defRPr sz="1000">
                <a:solidFill>
                  <a:srgbClr val="C7D2E5"/>
                </a:solidFill>
                <a:latin typeface="Aptos"/>
              </a:defRPr>
            </a:pPr>
            <a:r>
              <a:t>Teach students to avoid hype-driven design and to notice where document models can go wrong.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91527"/>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F7B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366760" y="384048"/>
            <a:ext cx="3154680" cy="420624"/>
          </a:xfrm>
          <a:prstGeom prst="roundRect">
            <a:avLst/>
          </a:prstGeom>
          <a:solidFill>
            <a:srgbClr val="112D4E"/>
          </a:solidFill>
          <a:ln w="12700">
            <a:solidFill>
              <a:srgbClr val="7BE0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85800" y="411480"/>
            <a:ext cx="1600200" cy="347472"/>
          </a:xfrm>
          <a:prstGeom prst="roundRect">
            <a:avLst/>
          </a:prstGeom>
          <a:solidFill>
            <a:srgbClr val="112D4E"/>
          </a:solidFill>
          <a:ln w="12700">
            <a:solidFill>
              <a:srgbClr val="7BE0D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7BE0D6"/>
                </a:solidFill>
                <a:latin typeface="Aptos"/>
              </a:defRPr>
            </a:pPr>
            <a:r>
              <a:t>Workshop</a:t>
            </a:r>
          </a:p>
        </p:txBody>
      </p:sp>
      <p:sp>
        <p:nvSpPr>
          <p:cNvPr id="5" name="TextBox 4"/>
          <p:cNvSpPr txBox="1"/>
          <p:nvPr/>
        </p:nvSpPr>
        <p:spPr>
          <a:xfrm>
            <a:off x="685800" y="841248"/>
            <a:ext cx="9144000" cy="685800"/>
          </a:xfrm>
          <a:prstGeom prst="rect">
            <a:avLst/>
          </a:prstGeom>
          <a:noFill/>
        </p:spPr>
        <p:txBody>
          <a:bodyPr wrap="square">
            <a:spAutoFit/>
          </a:bodyPr>
          <a:lstStyle/>
          <a:p>
            <a:pPr>
              <a:defRPr sz="2600" b="1">
                <a:solidFill>
                  <a:srgbClr val="F5F7FA"/>
                </a:solidFill>
                <a:latin typeface="Aptos Display"/>
              </a:defRPr>
            </a:pPr>
            <a:r>
              <a:t>Classify the Workload Before Naming a Product</a:t>
            </a:r>
          </a:p>
        </p:txBody>
      </p:sp>
      <p:sp>
        <p:nvSpPr>
          <p:cNvPr id="6" name="TextBox 5"/>
          <p:cNvSpPr txBox="1"/>
          <p:nvPr/>
        </p:nvSpPr>
        <p:spPr>
          <a:xfrm>
            <a:off x="777240" y="1645920"/>
            <a:ext cx="6720840" cy="4206240"/>
          </a:xfrm>
          <a:prstGeom prst="rect">
            <a:avLst/>
          </a:prstGeom>
          <a:noFill/>
        </p:spPr>
        <p:txBody>
          <a:bodyPr wrap="square">
            <a:spAutoFit/>
          </a:bodyPr>
          <a:lstStyle/>
          <a:p>
            <a:pPr>
              <a:spcAft>
                <a:spcPts val="800"/>
              </a:spcAft>
              <a:defRPr sz="1800">
                <a:solidFill>
                  <a:srgbClr val="F5F7FA"/>
                </a:solidFill>
                <a:latin typeface="Aptos"/>
              </a:defRPr>
            </a:pPr>
            <a:r>
              <a:t>- Shopping catalog with variable product attributes and rich product pages</a:t>
            </a:r>
          </a:p>
          <a:p>
            <a:pPr>
              <a:spcAft>
                <a:spcPts val="800"/>
              </a:spcAft>
              <a:defRPr sz="1800">
                <a:solidFill>
                  <a:srgbClr val="F5F7FA"/>
                </a:solidFill>
                <a:latin typeface="Aptos"/>
              </a:defRPr>
            </a:pPr>
            <a:r>
              <a:t>- Session store that needs extremely fast key-based lookups</a:t>
            </a:r>
          </a:p>
          <a:p>
            <a:pPr>
              <a:spcAft>
                <a:spcPts val="800"/>
              </a:spcAft>
              <a:defRPr sz="1800">
                <a:solidFill>
                  <a:srgbClr val="F5F7FA"/>
                </a:solidFill>
                <a:latin typeface="Aptos"/>
              </a:defRPr>
            </a:pPr>
            <a:r>
              <a:t>- Fraud detection across accounts, devices, emails, and shared addresses</a:t>
            </a:r>
          </a:p>
          <a:p>
            <a:pPr>
              <a:spcAft>
                <a:spcPts val="800"/>
              </a:spcAft>
              <a:defRPr sz="1800">
                <a:solidFill>
                  <a:srgbClr val="F5F7FA"/>
                </a:solidFill>
                <a:latin typeface="Aptos"/>
              </a:defRPr>
            </a:pPr>
            <a:r>
              <a:t>- Sensor telemetry written continuously and queried by recent time windows</a:t>
            </a:r>
          </a:p>
          <a:p>
            <a:pPr>
              <a:spcAft>
                <a:spcPts val="800"/>
              </a:spcAft>
              <a:defRPr sz="1800">
                <a:solidFill>
                  <a:srgbClr val="F5F7FA"/>
                </a:solidFill>
                <a:latin typeface="Aptos"/>
              </a:defRPr>
            </a:pPr>
            <a:r>
              <a:t>- For each scenario, choose a model family and name one admin concern</a:t>
            </a:r>
          </a:p>
        </p:txBody>
      </p:sp>
      <p:sp>
        <p:nvSpPr>
          <p:cNvPr id="7" name="Rounded Rectangle 6"/>
          <p:cNvSpPr/>
          <p:nvPr/>
        </p:nvSpPr>
        <p:spPr>
          <a:xfrm>
            <a:off x="8028431" y="1444752"/>
            <a:ext cx="3310128" cy="4480560"/>
          </a:xfrm>
          <a:prstGeom prst="roundRect">
            <a:avLst/>
          </a:prstGeom>
          <a:solidFill>
            <a:srgbClr val="15375F"/>
          </a:solidFill>
          <a:ln w="16510">
            <a:solidFill>
              <a:srgbClr val="F7BF5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7BF56"/>
                </a:solidFill>
                <a:latin typeface="Aptos"/>
              </a:defRPr>
            </a:pPr>
            <a:r>
              <a:t>Key terms</a:t>
            </a:r>
          </a:p>
          <a:p>
            <a:pPr>
              <a:spcAft>
                <a:spcPts val="500"/>
              </a:spcAft>
              <a:defRPr sz="1800">
                <a:solidFill>
                  <a:srgbClr val="F5F7FA"/>
                </a:solidFill>
                <a:latin typeface="Aptos"/>
              </a:defRPr>
            </a:pPr>
            <a:r>
              <a:t>document</a:t>
            </a:r>
          </a:p>
          <a:p>
            <a:pPr>
              <a:spcAft>
                <a:spcPts val="500"/>
              </a:spcAft>
              <a:defRPr sz="1800">
                <a:solidFill>
                  <a:srgbClr val="F5F7FA"/>
                </a:solidFill>
                <a:latin typeface="Aptos"/>
              </a:defRPr>
            </a:pPr>
            <a:r>
              <a:t>key-value</a:t>
            </a:r>
          </a:p>
          <a:p>
            <a:pPr>
              <a:spcAft>
                <a:spcPts val="500"/>
              </a:spcAft>
              <a:defRPr sz="1800">
                <a:solidFill>
                  <a:srgbClr val="F5F7FA"/>
                </a:solidFill>
                <a:latin typeface="Aptos"/>
              </a:defRPr>
            </a:pPr>
            <a:r>
              <a:t>graph</a:t>
            </a:r>
          </a:p>
          <a:p>
            <a:pPr>
              <a:spcAft>
                <a:spcPts val="500"/>
              </a:spcAft>
              <a:defRPr sz="1800">
                <a:solidFill>
                  <a:srgbClr val="F5F7FA"/>
                </a:solidFill>
                <a:latin typeface="Aptos"/>
              </a:defRPr>
            </a:pPr>
            <a:r>
              <a:t>column-family</a:t>
            </a:r>
          </a:p>
          <a:p>
            <a:pPr>
              <a:spcAft>
                <a:spcPts val="500"/>
              </a:spcAft>
              <a:defRPr sz="1800">
                <a:solidFill>
                  <a:srgbClr val="F5F7FA"/>
                </a:solidFill>
                <a:latin typeface="Aptos"/>
              </a:defRPr>
            </a:pPr>
            <a:r>
              <a:t>SLA</a:t>
            </a:r>
          </a:p>
        </p:txBody>
      </p:sp>
      <p:sp>
        <p:nvSpPr>
          <p:cNvPr id="8" name="Rounded Rectangle 7"/>
          <p:cNvSpPr/>
          <p:nvPr/>
        </p:nvSpPr>
        <p:spPr>
          <a:xfrm>
            <a:off x="804672" y="5742432"/>
            <a:ext cx="10533888" cy="420624"/>
          </a:xfrm>
          <a:prstGeom prst="roundRect">
            <a:avLst/>
          </a:prstGeom>
          <a:solidFill>
            <a:srgbClr val="112D4E"/>
          </a:solidFill>
          <a:ln w="15240">
            <a:solidFill>
              <a:srgbClr val="FFCC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5F7FA"/>
                </a:solidFill>
                <a:latin typeface="Aptos"/>
              </a:defRPr>
            </a:pPr>
            <a:r>
              <a:t>Require answers in this form: workload, query shape, consistency need, then database family.</a:t>
            </a:r>
          </a:p>
        </p:txBody>
      </p:sp>
      <p:sp>
        <p:nvSpPr>
          <p:cNvPr id="9" name="TextBox 8"/>
          <p:cNvSpPr txBox="1"/>
          <p:nvPr/>
        </p:nvSpPr>
        <p:spPr>
          <a:xfrm>
            <a:off x="685800" y="6400800"/>
            <a:ext cx="10835640" cy="237744"/>
          </a:xfrm>
          <a:prstGeom prst="rect">
            <a:avLst/>
          </a:prstGeom>
          <a:noFill/>
        </p:spPr>
        <p:txBody>
          <a:bodyPr wrap="square">
            <a:spAutoFit/>
          </a:bodyPr>
          <a:lstStyle/>
          <a:p>
            <a:pPr>
              <a:defRPr sz="1000">
                <a:solidFill>
                  <a:srgbClr val="C7D2E5"/>
                </a:solidFill>
                <a:latin typeface="Aptos"/>
              </a:defRPr>
            </a:pPr>
            <a:r>
              <a:t>This is where students prove they can reason about database fit instead of reciting definitions.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91527"/>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F7B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366760" y="384048"/>
            <a:ext cx="3154680" cy="420624"/>
          </a:xfrm>
          <a:prstGeom prst="roundRect">
            <a:avLst/>
          </a:prstGeom>
          <a:solidFill>
            <a:srgbClr val="112D4E"/>
          </a:solidFill>
          <a:ln w="12700">
            <a:solidFill>
              <a:srgbClr val="7BE0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85800" y="411480"/>
            <a:ext cx="1600200" cy="347472"/>
          </a:xfrm>
          <a:prstGeom prst="roundRect">
            <a:avLst/>
          </a:prstGeom>
          <a:solidFill>
            <a:srgbClr val="112D4E"/>
          </a:solidFill>
          <a:ln w="12700">
            <a:solidFill>
              <a:srgbClr val="7BE0D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7BE0D6"/>
                </a:solidFill>
                <a:latin typeface="Aptos"/>
              </a:defRPr>
            </a:pPr>
            <a:r>
              <a:t>Review</a:t>
            </a:r>
          </a:p>
        </p:txBody>
      </p:sp>
      <p:sp>
        <p:nvSpPr>
          <p:cNvPr id="5" name="TextBox 4"/>
          <p:cNvSpPr txBox="1"/>
          <p:nvPr/>
        </p:nvSpPr>
        <p:spPr>
          <a:xfrm>
            <a:off x="685800" y="841248"/>
            <a:ext cx="9144000" cy="685800"/>
          </a:xfrm>
          <a:prstGeom prst="rect">
            <a:avLst/>
          </a:prstGeom>
          <a:noFill/>
        </p:spPr>
        <p:txBody>
          <a:bodyPr wrap="square">
            <a:spAutoFit/>
          </a:bodyPr>
          <a:lstStyle/>
          <a:p>
            <a:pPr>
              <a:defRPr sz="2600" b="1">
                <a:solidFill>
                  <a:srgbClr val="F5F7FA"/>
                </a:solidFill>
                <a:latin typeface="Aptos Display"/>
              </a:defRPr>
            </a:pPr>
            <a:r>
              <a:t>Exit Ticket and Next Step</a:t>
            </a:r>
          </a:p>
        </p:txBody>
      </p:sp>
      <p:sp>
        <p:nvSpPr>
          <p:cNvPr id="6" name="TextBox 5"/>
          <p:cNvSpPr txBox="1"/>
          <p:nvPr/>
        </p:nvSpPr>
        <p:spPr>
          <a:xfrm>
            <a:off x="777240" y="1645920"/>
            <a:ext cx="6720840" cy="4206240"/>
          </a:xfrm>
          <a:prstGeom prst="rect">
            <a:avLst/>
          </a:prstGeom>
          <a:noFill/>
        </p:spPr>
        <p:txBody>
          <a:bodyPr wrap="square">
            <a:spAutoFit/>
          </a:bodyPr>
          <a:lstStyle/>
          <a:p>
            <a:pPr>
              <a:spcAft>
                <a:spcPts val="800"/>
              </a:spcAft>
              <a:defRPr sz="1800">
                <a:solidFill>
                  <a:srgbClr val="F5F7FA"/>
                </a:solidFill>
                <a:latin typeface="Aptos"/>
              </a:defRPr>
            </a:pPr>
            <a:r>
              <a:t>- In one sentence, explain why NoSQL became prominent again in the 2000s</a:t>
            </a:r>
          </a:p>
          <a:p>
            <a:pPr>
              <a:spcAft>
                <a:spcPts val="800"/>
              </a:spcAft>
              <a:defRPr sz="1800">
                <a:solidFill>
                  <a:srgbClr val="F5F7FA"/>
                </a:solidFill>
                <a:latin typeface="Aptos"/>
              </a:defRPr>
            </a:pPr>
            <a:r>
              <a:t>- Name the four major NoSQL families and one fitting workload for each</a:t>
            </a:r>
          </a:p>
          <a:p>
            <a:pPr>
              <a:spcAft>
                <a:spcPts val="800"/>
              </a:spcAft>
              <a:defRPr sz="1800">
                <a:solidFill>
                  <a:srgbClr val="F5F7FA"/>
                </a:solidFill>
                <a:latin typeface="Aptos"/>
              </a:defRPr>
            </a:pPr>
            <a:r>
              <a:t>- Choose whether your current project idea is more relational or document-shaped and defend it</a:t>
            </a:r>
          </a:p>
          <a:p>
            <a:pPr>
              <a:spcAft>
                <a:spcPts val="800"/>
              </a:spcAft>
              <a:defRPr sz="1800">
                <a:solidFill>
                  <a:srgbClr val="F5F7FA"/>
                </a:solidFill>
                <a:latin typeface="Aptos"/>
              </a:defRPr>
            </a:pPr>
            <a:r>
              <a:t>- Write one embed-versus-reference decision you would make in MongoDB</a:t>
            </a:r>
          </a:p>
          <a:p>
            <a:pPr>
              <a:spcAft>
                <a:spcPts val="800"/>
              </a:spcAft>
              <a:defRPr sz="1800">
                <a:solidFill>
                  <a:srgbClr val="F5F7FA"/>
                </a:solidFill>
                <a:latin typeface="Aptos"/>
              </a:defRPr>
            </a:pPr>
            <a:r>
              <a:t>- Use `mongodb_nosql_review_packet.md` for retrieval practice after class</a:t>
            </a:r>
          </a:p>
        </p:txBody>
      </p:sp>
      <p:sp>
        <p:nvSpPr>
          <p:cNvPr id="7" name="Rounded Rectangle 6"/>
          <p:cNvSpPr/>
          <p:nvPr/>
        </p:nvSpPr>
        <p:spPr>
          <a:xfrm>
            <a:off x="8028431" y="1444752"/>
            <a:ext cx="3310128" cy="4480560"/>
          </a:xfrm>
          <a:prstGeom prst="roundRect">
            <a:avLst/>
          </a:prstGeom>
          <a:solidFill>
            <a:srgbClr val="15375F"/>
          </a:solidFill>
          <a:ln w="16510">
            <a:solidFill>
              <a:srgbClr val="F7BF5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7BF56"/>
                </a:solidFill>
                <a:latin typeface="Aptos"/>
              </a:defRPr>
            </a:pPr>
            <a:r>
              <a:t>Key terms</a:t>
            </a:r>
          </a:p>
          <a:p>
            <a:pPr>
              <a:spcAft>
                <a:spcPts val="500"/>
              </a:spcAft>
              <a:defRPr sz="1800">
                <a:solidFill>
                  <a:srgbClr val="F5F7FA"/>
                </a:solidFill>
                <a:latin typeface="Aptos"/>
              </a:defRPr>
            </a:pPr>
            <a:r>
              <a:t>retrieval practice</a:t>
            </a:r>
          </a:p>
          <a:p>
            <a:pPr>
              <a:spcAft>
                <a:spcPts val="500"/>
              </a:spcAft>
              <a:defRPr sz="1800">
                <a:solidFill>
                  <a:srgbClr val="F5F7FA"/>
                </a:solidFill>
                <a:latin typeface="Aptos"/>
              </a:defRPr>
            </a:pPr>
            <a:r>
              <a:t>project fit</a:t>
            </a:r>
          </a:p>
          <a:p>
            <a:pPr>
              <a:spcAft>
                <a:spcPts val="500"/>
              </a:spcAft>
              <a:defRPr sz="1800">
                <a:solidFill>
                  <a:srgbClr val="F5F7FA"/>
                </a:solidFill>
                <a:latin typeface="Aptos"/>
              </a:defRPr>
            </a:pPr>
            <a:r>
              <a:t>embed</a:t>
            </a:r>
          </a:p>
          <a:p>
            <a:pPr>
              <a:spcAft>
                <a:spcPts val="500"/>
              </a:spcAft>
              <a:defRPr sz="1800">
                <a:solidFill>
                  <a:srgbClr val="F5F7FA"/>
                </a:solidFill>
                <a:latin typeface="Aptos"/>
              </a:defRPr>
            </a:pPr>
            <a:r>
              <a:t>reference</a:t>
            </a:r>
          </a:p>
          <a:p>
            <a:pPr>
              <a:spcAft>
                <a:spcPts val="500"/>
              </a:spcAft>
              <a:defRPr sz="1800">
                <a:solidFill>
                  <a:srgbClr val="F5F7FA"/>
                </a:solidFill>
                <a:latin typeface="Aptos"/>
              </a:defRPr>
            </a:pPr>
            <a:r>
              <a:t>trade-off</a:t>
            </a:r>
          </a:p>
        </p:txBody>
      </p:sp>
      <p:sp>
        <p:nvSpPr>
          <p:cNvPr id="8" name="Rounded Rectangle 7"/>
          <p:cNvSpPr/>
          <p:nvPr/>
        </p:nvSpPr>
        <p:spPr>
          <a:xfrm>
            <a:off x="804672" y="5742432"/>
            <a:ext cx="10533888" cy="420624"/>
          </a:xfrm>
          <a:prstGeom prst="roundRect">
            <a:avLst/>
          </a:prstGeom>
          <a:solidFill>
            <a:srgbClr val="112D4E"/>
          </a:solidFill>
          <a:ln w="15240">
            <a:solidFill>
              <a:srgbClr val="FFCC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5F7FA"/>
                </a:solidFill>
                <a:latin typeface="Aptos"/>
              </a:defRPr>
            </a:pPr>
            <a:r>
              <a:t>The fastest way to forget a lecture is to only reread it. Retrieval practice forces understanding.</a:t>
            </a:r>
          </a:p>
        </p:txBody>
      </p:sp>
      <p:sp>
        <p:nvSpPr>
          <p:cNvPr id="9" name="TextBox 8"/>
          <p:cNvSpPr txBox="1"/>
          <p:nvPr/>
        </p:nvSpPr>
        <p:spPr>
          <a:xfrm>
            <a:off x="685800" y="6400800"/>
            <a:ext cx="10835640" cy="237744"/>
          </a:xfrm>
          <a:prstGeom prst="rect">
            <a:avLst/>
          </a:prstGeom>
          <a:noFill/>
        </p:spPr>
        <p:txBody>
          <a:bodyPr wrap="square">
            <a:spAutoFit/>
          </a:bodyPr>
          <a:lstStyle/>
          <a:p>
            <a:pPr>
              <a:defRPr sz="1000">
                <a:solidFill>
                  <a:srgbClr val="C7D2E5"/>
                </a:solidFill>
                <a:latin typeface="Aptos"/>
              </a:defRPr>
            </a:pPr>
            <a:r>
              <a:t>Close the session by forcing recall, comparison, and a concrete modeling decision.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