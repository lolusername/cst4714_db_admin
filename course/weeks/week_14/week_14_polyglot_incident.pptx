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b9356265314b08" /><Relationship Type="http://schemas.openxmlformats.org/officeDocument/2006/relationships/extended-properties" Target="/docProps/app.xml" Id="R10571152afd9400b" /><Relationship Type="http://schemas.openxmlformats.org/officeDocument/2006/relationships/officeDocument" Target="/ppt/presentation.xml" Id="Ra4eea580774c404c" /></Relationships>
</file>

<file path=ppt/presentation.xml><?xml version="1.0" encoding="utf-8"?>
<p:presentation xmlns:p="http://schemas.openxmlformats.org/presentationml/2006/main">
  <p:sldMasterIdLst>
    <p:sldMasterId xmlns:r="http://schemas.openxmlformats.org/officeDocument/2006/relationships" id="2147483648" r:id="Re6fe7a897b3241b5"/>
  </p:sldMasterIdLst>
  <p:notesMasterIdLst>
    <p:notesMasterId xmlns:r="http://schemas.openxmlformats.org/officeDocument/2006/relationships" r:id="R665710d23c334043"/>
  </p:notesMasterIdLst>
  <p:sldIdLst>
    <p:sldId xmlns:r="http://schemas.openxmlformats.org/officeDocument/2006/relationships" id="256" r:id="Rf61f8c5822d14599"/>
    <p:sldId xmlns:r="http://schemas.openxmlformats.org/officeDocument/2006/relationships" id="257" r:id="R0db8b428404b4d3b"/>
    <p:sldId xmlns:r="http://schemas.openxmlformats.org/officeDocument/2006/relationships" id="258" r:id="Rf99407b9bceb4f0e"/>
    <p:sldId xmlns:r="http://schemas.openxmlformats.org/officeDocument/2006/relationships" id="259" r:id="R2278f50492c94a66"/>
    <p:sldId xmlns:r="http://schemas.openxmlformats.org/officeDocument/2006/relationships" id="260" r:id="R0f4c2114fdfd4f38"/>
    <p:sldId xmlns:r="http://schemas.openxmlformats.org/officeDocument/2006/relationships" id="261" r:id="Recf4b0ed7c5f44ac"/>
    <p:sldId xmlns:r="http://schemas.openxmlformats.org/officeDocument/2006/relationships" id="262" r:id="Rc491a3eeeca548bb"/>
    <p:sldId xmlns:r="http://schemas.openxmlformats.org/officeDocument/2006/relationships" id="263" r:id="Rd575dffedbf34273"/>
    <p:sldId xmlns:r="http://schemas.openxmlformats.org/officeDocument/2006/relationships" id="264" r:id="R803d5305dbf74ecb"/>
    <p:sldId xmlns:r="http://schemas.openxmlformats.org/officeDocument/2006/relationships" id="265" r:id="R92fc564229bc4266"/>
    <p:sldId xmlns:r="http://schemas.openxmlformats.org/officeDocument/2006/relationships" id="266" r:id="Rda583032c3884660"/>
    <p:sldId xmlns:r="http://schemas.openxmlformats.org/officeDocument/2006/relationships" id="267" r:id="Rcf32e05de8ce41dd"/>
    <p:sldId xmlns:r="http://schemas.openxmlformats.org/officeDocument/2006/relationships" id="268" r:id="Re932f6f1afcf46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b473478d3e453e" /><Relationship Type="http://schemas.openxmlformats.org/officeDocument/2006/relationships/slideMaster" Target="/ppt/slideMasters/slideMaster1.xml" Id="Re6fe7a897b3241b5" /><Relationship Type="http://schemas.openxmlformats.org/officeDocument/2006/relationships/notesMaster" Target="/ppt/notesMasters/notesMaster1.xml" Id="R665710d23c334043" /><Relationship Type="http://schemas.openxmlformats.org/officeDocument/2006/relationships/presProps" Target="/ppt/presProps.xml" Id="R235ca0d40eb94ee0" /><Relationship Type="http://schemas.openxmlformats.org/officeDocument/2006/relationships/tableStyles" Target="/ppt/tableStyles.xml" Id="Ra613ef12fd004bd2" /><Relationship Type="http://schemas.openxmlformats.org/officeDocument/2006/relationships/slide" Target="/ppt/slides/slide1.xml" Id="Rf61f8c5822d14599" /><Relationship Type="http://schemas.openxmlformats.org/officeDocument/2006/relationships/slide" Target="/ppt/slides/slide2.xml" Id="R0db8b428404b4d3b" /><Relationship Type="http://schemas.openxmlformats.org/officeDocument/2006/relationships/slide" Target="/ppt/slides/slide3.xml" Id="Rf99407b9bceb4f0e" /><Relationship Type="http://schemas.openxmlformats.org/officeDocument/2006/relationships/slide" Target="/ppt/slides/slide4.xml" Id="R2278f50492c94a66" /><Relationship Type="http://schemas.openxmlformats.org/officeDocument/2006/relationships/slide" Target="/ppt/slides/slide5.xml" Id="R0f4c2114fdfd4f38" /><Relationship Type="http://schemas.openxmlformats.org/officeDocument/2006/relationships/slide" Target="/ppt/slides/slide6.xml" Id="Recf4b0ed7c5f44ac" /><Relationship Type="http://schemas.openxmlformats.org/officeDocument/2006/relationships/slide" Target="/ppt/slides/slide7.xml" Id="Rc491a3eeeca548bb" /><Relationship Type="http://schemas.openxmlformats.org/officeDocument/2006/relationships/slide" Target="/ppt/slides/slide8.xml" Id="Rd575dffedbf34273" /><Relationship Type="http://schemas.openxmlformats.org/officeDocument/2006/relationships/slide" Target="/ppt/slides/slide9.xml" Id="R803d5305dbf74ecb" /><Relationship Type="http://schemas.openxmlformats.org/officeDocument/2006/relationships/slide" Target="/ppt/slides/slide10.xml" Id="R92fc564229bc4266" /><Relationship Type="http://schemas.openxmlformats.org/officeDocument/2006/relationships/slide" Target="/ppt/slides/slide11.xml" Id="Rda583032c3884660" /><Relationship Type="http://schemas.openxmlformats.org/officeDocument/2006/relationships/slide" Target="/ppt/slides/slide12.xml" Id="Rcf32e05de8ce41dd" /><Relationship Type="http://schemas.openxmlformats.org/officeDocument/2006/relationships/slide" Target="/ppt/slides/slide13.xml" Id="Re932f6f1afcf46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cbd93483c841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fce460b18c458a" /><Relationship Type="http://schemas.openxmlformats.org/officeDocument/2006/relationships/notesMaster" Target="/ppt/notesMasters/notesMaster1.xml" Id="Rd2ef3eb200cf49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2f2d21fb6b44cf" /><Relationship Type="http://schemas.openxmlformats.org/officeDocument/2006/relationships/notesMaster" Target="/ppt/notesMasters/notesMaster1.xml" Id="R93f7254478394a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ccb14e9ce544f4" /><Relationship Type="http://schemas.openxmlformats.org/officeDocument/2006/relationships/notesMaster" Target="/ppt/notesMasters/notesMaster1.xml" Id="R2b9feb1e124141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0f7ab4b91149b3" /><Relationship Type="http://schemas.openxmlformats.org/officeDocument/2006/relationships/notesMaster" Target="/ppt/notesMasters/notesMaster1.xml" Id="R9c5ad6b3ce1949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db4540ab674463" /><Relationship Type="http://schemas.openxmlformats.org/officeDocument/2006/relationships/notesMaster" Target="/ppt/notesMasters/notesMaster1.xml" Id="R72fd64568fe049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01743061bb4867" /><Relationship Type="http://schemas.openxmlformats.org/officeDocument/2006/relationships/notesMaster" Target="/ppt/notesMasters/notesMaster1.xml" Id="R98f0dd173fea41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d79c6a16b2429b" /><Relationship Type="http://schemas.openxmlformats.org/officeDocument/2006/relationships/notesMaster" Target="/ppt/notesMasters/notesMaster1.xml" Id="R4abafb084c114b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99623e1a974beb" /><Relationship Type="http://schemas.openxmlformats.org/officeDocument/2006/relationships/notesMaster" Target="/ppt/notesMasters/notesMaster1.xml" Id="Rbdc5841a930448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161727afcb41b8" /><Relationship Type="http://schemas.openxmlformats.org/officeDocument/2006/relationships/notesMaster" Target="/ppt/notesMasters/notesMaster1.xml" Id="Rfed7da8752b844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c0127ed2ad4290" /><Relationship Type="http://schemas.openxmlformats.org/officeDocument/2006/relationships/notesMaster" Target="/ppt/notesMasters/notesMaster1.xml" Id="Rd5285db765b14b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5b1a9ccf124037" /><Relationship Type="http://schemas.openxmlformats.org/officeDocument/2006/relationships/notesMaster" Target="/ppt/notesMasters/notesMaster1.xml" Id="Rf5ce175c18974f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08ced1d9b74045" /><Relationship Type="http://schemas.openxmlformats.org/officeDocument/2006/relationships/notesMaster" Target="/ppt/notesMasters/notesMaster1.xml" Id="R499416f982a04f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80bf5c2aed9456d" /><Relationship Type="http://schemas.openxmlformats.org/officeDocument/2006/relationships/notesMaster" Target="/ppt/notesMasters/notesMaster1.xml" Id="R632ac72f283d43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introduces polyglot persistence through an incident rather than a product tour. A system may use PostgreSQL for authoritative transactional facts and MongoDB for a read-optimized projection or flexible event detail. That can fit different workloads, but it creates synchronization, identity, observability, and recovery obligations.</a:t>
            </a:r>
          </a:p>
          <a:p xmlns:a="http://schemas.openxmlformats.org/drawingml/2006/main">
            <a:r>
              <a:t/>
            </a:r>
          </a:p>
          <a:p xmlns:a="http://schemas.openxmlformats.org/drawingml/2006/main">
            <a:r>
              <a:t>Our resident portal and staff dashboard disagree about one ticket. You will investigate where the update stopped, choose a repair that respects ownership and idempotency, verify beyond one record, and write a concise workplace update. The second class applies the same diagnostic discipline to the highest-risk gap in your final project.</a:t>
            </a:r>
          </a:p>
          <a:p xmlns:a="http://schemas.openxmlformats.org/drawingml/2006/main">
            <a:r>
              <a:t/>
            </a:r>
          </a:p>
          <a:p xmlns:a="http://schemas.openxmlformats.org/drawingml/2006/main">
            <a:r>
              <a:t>[Sources]</a:t>
            </a:r>
          </a:p>
          <a:p xmlns:a="http://schemas.openxmlformats.org/drawingml/2006/main">
            <a:r>
              <a:t>- CST4714 course textbook, Chapter 14.</a:t>
            </a:r>
          </a:p>
          <a:p xmlns:a="http://schemas.openxmlformats.org/drawingml/2006/main">
            <a:r>
              <a:t>- https://www.mongodb.com/docs/manual/core/read-isolation-consistency-recency/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polyglot system uses different data technologies for distinct responsibilities. PostgreSQL might own users, permissions, and authoritative ticket state, while MongoDB stores a read-optimized ticket projection. The design is justified only when the workload benefit is concrete.</a:t>
            </a:r>
          </a:p>
          <a:p xmlns:a="http://schemas.openxmlformats.org/drawingml/2006/main">
            <a:r>
              <a:t/>
            </a:r>
          </a:p>
          <a:p xmlns:a="http://schemas.openxmlformats.org/drawingml/2006/main">
            <a:r>
              <a:t>A second database also creates another credential, network path, schema or validator, query plan, monitoring surface, backup scope, and failure combination. A small system should prefer one suitable database when it can meet the workload. Choosing one platform is not less advanced. It can be the stronger engineering decision when cross-store consistency would add risk without measurable value.</a:t>
            </a:r>
          </a:p>
          <a:p xmlns:a="http://schemas.openxmlformats.org/drawingml/2006/main">
            <a:r>
              <a:t/>
            </a:r>
          </a:p>
          <a:p xmlns:a="http://schemas.openxmlformats.org/drawingml/2006/main">
            <a:r>
              <a:t>[Sources]</a:t>
            </a:r>
          </a:p>
          <a:p xmlns:a="http://schemas.openxmlformats.org/drawingml/2006/main">
            <a:r>
              <a:t>- CST4714 course textbook, Chapter 14.</a:t>
            </a:r>
          </a:p>
          <a:p xmlns:a="http://schemas.openxmlformats.org/drawingml/2006/main">
            <a:r>
              <a:t>- https://www.mongodb.com/docs/manual/core/read-isolation-consistency-recency/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naive synchronous dual write asks an application to update PostgreSQL and MongoDB as two separate remote actions. If the first succeeds and the second fails, the system disagrees. Reversing the order only reverses the partial-failure direction.</a:t>
            </a:r>
          </a:p>
          <a:p xmlns:a="http://schemas.openxmlformats.org/drawingml/2006/main">
            <a:r>
              <a:t/>
            </a:r>
          </a:p>
          <a:p xmlns:a="http://schemas.openxmlformats.org/drawingml/2006/main">
            <a:r>
              <a:t>A transactional outbox writes the authoritative ticket change and an event row in the same PostgreSQL transaction. A relay later publishes that event, and a consumer updates the MongoDB projection. This removes the gap between committing the source fact and recording an event to publish. It does not guarantee exactly-once end-to-end behavior. The relay or consumer can retry, messages can arrive more than once or out of order, and the projection can lag.</a:t>
            </a:r>
          </a:p>
          <a:p xmlns:a="http://schemas.openxmlformats.org/drawingml/2006/main">
            <a:r>
              <a:t/>
            </a:r>
          </a:p>
          <a:p xmlns:a="http://schemas.openxmlformats.org/drawingml/2006/main">
            <a:r>
              <a:t>[Sources]</a:t>
            </a:r>
          </a:p>
          <a:p xmlns:a="http://schemas.openxmlformats.org/drawingml/2006/main">
            <a:r>
              <a:t>- CST4714 course textbook, Chapter 14.</a:t>
            </a:r>
          </a:p>
          <a:p xmlns:a="http://schemas.openxmlformats.org/drawingml/2006/main">
            <a:r>
              <a:t>- https://www.mongodb.com/docs/manual/core/read-isolation-consistency-recency/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At-least-once delivery means an event may be delivered more than once. If the consumer increments a value or appends a duplicate on every delivery, retries can corrupt the projection. A stable event identifier can detect duplicate processing, and a stable aggregate identifier can target the correct derived document.</a:t>
            </a:r>
          </a:p>
          <a:p xmlns:a="http://schemas.openxmlformats.org/drawingml/2006/main">
            <a:r>
              <a:t/>
            </a:r>
          </a:p>
          <a:p xmlns:a="http://schemas.openxmlformats.org/drawingml/2006/main">
            <a:r>
              <a:t>Source versioning protects ordering. The consumer can apply an event only when its source version is newer than the version already stored. That turns duplicate and old deliveries into no-ops. Even then, progress records and reconciliation are required because a paused consumer or missing partition can leave derived state stale without producing a visible application error.</a:t>
            </a:r>
          </a:p>
          <a:p xmlns:a="http://schemas.openxmlformats.org/drawingml/2006/main">
            <a:r>
              <a:t/>
            </a:r>
          </a:p>
          <a:p xmlns:a="http://schemas.openxmlformats.org/drawingml/2006/main">
            <a:r>
              <a:t>[Sources]</a:t>
            </a:r>
          </a:p>
          <a:p xmlns:a="http://schemas.openxmlformats.org/drawingml/2006/main">
            <a:r>
              <a:t>- CST4714 course textbook, Chapter 14.</a:t>
            </a:r>
          </a:p>
          <a:p xmlns:a="http://schemas.openxmlformats.org/drawingml/2006/main">
            <a:r>
              <a:t>- https://www.mongodb.com/docs/manual/core/read-isolation-consistency-recency/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authoritative source. Query the ticket by stable identifier and record status, source version, and update time. Then inspect the outbox for the event generated by that same transaction. A published timestamp supports that the relay sent it, but it does not confirm downstream application.</a:t>
            </a:r>
          </a:p>
          <a:p xmlns:a="http://schemas.openxmlformats.org/drawingml/2006/main">
            <a:r>
              <a:t/>
            </a:r>
          </a:p>
          <a:p xmlns:a="http://schemas.openxmlformats.org/drawingml/2006/main">
            <a:r>
              <a:t>Next inspect consumer logs or checkpoints for the stable event identifier. Finally, query the derived MongoDB document for source version and last event identifier. The first mismatch locates the propagation boundary. Do not stop after one record. Determine which queue, time window, tenant, or partition shares the same consumer state so verification covers the probable incident scope.</a:t>
            </a:r>
          </a:p>
          <a:p xmlns:a="http://schemas.openxmlformats.org/drawingml/2006/main">
            <a:r>
              <a:t/>
            </a:r>
          </a:p>
          <a:p xmlns:a="http://schemas.openxmlformats.org/drawingml/2006/main">
            <a:r>
              <a:t>[Sources]</a:t>
            </a:r>
          </a:p>
          <a:p xmlns:a="http://schemas.openxmlformats.org/drawingml/2006/main">
            <a:r>
              <a:t>- CST4714 course textbook, Chapter 14.</a:t>
            </a:r>
          </a:p>
          <a:p xmlns:a="http://schemas.openxmlformats.org/drawingml/2006/main">
            <a:r>
              <a:t>- https://www.mongodb.com/docs/manual/core/read-isolation-consistency-recency/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PostgreSQL shows ticket 1008 resolved at source version 17. That is the authoritative state. The outbox contains event `evt-1008-17` and a published time, which rules out a missing source event. It does not confirm the consumer changed MongoDB.</a:t>
            </a:r>
          </a:p>
          <a:p xmlns:a="http://schemas.openxmlformats.org/drawingml/2006/main">
            <a:r>
              <a:t/>
            </a:r>
          </a:p>
          <a:p xmlns:a="http://schemas.openxmlformats.org/drawingml/2006/main">
            <a:r>
              <a:t>The consumer received the event, timed out while writing the projection, queued a retry, and then paused because its database credential expired. MongoDB still contains version 16 and the previous event identifier. Together, these observations support a propagation failure after receipt. They do not support manually changing both databases or assuming only ticket 1008 is affected.</a:t>
            </a:r>
          </a:p>
          <a:p xmlns:a="http://schemas.openxmlformats.org/drawingml/2006/main">
            <a:r>
              <a:t/>
            </a:r>
          </a:p>
          <a:p xmlns:a="http://schemas.openxmlformats.org/drawingml/2006/main">
            <a:r>
              <a:t>[Sources]</a:t>
            </a:r>
          </a:p>
          <a:p xmlns:a="http://schemas.openxmlformats.org/drawingml/2006/main">
            <a:r>
              <a:t>- CST4714 course textbook, Chapter 14.</a:t>
            </a:r>
          </a:p>
          <a:p xmlns:a="http://schemas.openxmlformats.org/drawingml/2006/main">
            <a:r>
              <a:t>- https://www.mongodb.com/docs/manual/core/read-isolation-consistency-recency/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incident lab individually from the supplied incident record. First build the timeline and distinguish observed facts from inference. Name PostgreSQL as the authoritative owner of ticket status, identify the committed version, confirm event creation and publication, locate the consumer failure, and compare the stored MongoDB version.</a:t>
            </a:r>
          </a:p>
          <a:p xmlns:a="http://schemas.openxmlformats.org/drawingml/2006/main">
            <a:r>
              <a:t/>
            </a:r>
          </a:p>
          <a:p xmlns:a="http://schemas.openxmlformats.org/drawingml/2006/main">
            <a:r>
              <a:t>Recommend restoring the consumer credential and replaying or resuming the idempotent event path under the version rule. Include five verification checks and one containment or rollback action. Finish with a short incident update written for teammates and stakeholders. Avoid blame, unsupported certainty, and product marketing language. Submit one report containing every section.</a:t>
            </a:r>
          </a:p>
          <a:p xmlns:a="http://schemas.openxmlformats.org/drawingml/2006/main">
            <a:r>
              <a:t/>
            </a:r>
          </a:p>
          <a:p xmlns:a="http://schemas.openxmlformats.org/drawingml/2006/main">
            <a:r>
              <a:t>[Sources]</a:t>
            </a:r>
          </a:p>
          <a:p xmlns:a="http://schemas.openxmlformats.org/drawingml/2006/main">
            <a:r>
              <a:t>- CST4714 course textbook, Chapter 14.</a:t>
            </a:r>
          </a:p>
          <a:p xmlns:a="http://schemas.openxmlformats.org/drawingml/2006/main">
            <a:r>
              <a:t>- https://www.mongodb.com/docs/manual/core/read-isolation-consistency-recency/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repair should preserve the architecture's ownership rule. Restore the consumer's appropriately scoped database access, then replay the recorded event or resume the retry worker through the normal handler. The handler's version condition should apply version 17 once and ignore duplicate or older deliveries.</a:t>
            </a:r>
          </a:p>
          <a:p xmlns:a="http://schemas.openxmlformats.org/drawingml/2006/main">
            <a:r>
              <a:t/>
            </a:r>
          </a:p>
          <a:p xmlns:a="http://schemas.openxmlformats.org/drawingml/2006/main">
            <a:r>
              <a:t>Manually changing both databases creates an untracked third path and can overwrite newer state. Replaying every event from the beginning creates unnecessary load and risk before the incident scope is known. Verification must cover the repaired record, retry queue, duplicate behavior, consumer lag, and a broader affected partition. If results are unexpected, pause the consumer and preserve the current state before making additional changes.</a:t>
            </a:r>
          </a:p>
          <a:p xmlns:a="http://schemas.openxmlformats.org/drawingml/2006/main">
            <a:r>
              <a:t/>
            </a:r>
          </a:p>
          <a:p xmlns:a="http://schemas.openxmlformats.org/drawingml/2006/main">
            <a:r>
              <a:t>[Sources]</a:t>
            </a:r>
          </a:p>
          <a:p xmlns:a="http://schemas.openxmlformats.org/drawingml/2006/main">
            <a:r>
              <a:t>- CST4714 course textbook, Chapter 14.</a:t>
            </a:r>
          </a:p>
          <a:p xmlns:a="http://schemas.openxmlformats.org/drawingml/2006/main">
            <a:r>
              <a:t>- https://www.mongodb.com/docs/manual/core/read-isolation-consistency-recency/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class turns incident discipline toward the final project. A cloud connection can fail during a demonstration because of network access, DNS, TLS, a paused service, an expired credential, or a local environment. If live success is the only demonstration, the presentation is fragile and the technical claim is underspecified.</a:t>
            </a:r>
          </a:p>
          <a:p xmlns:a="http://schemas.openxmlformats.org/drawingml/2006/main">
            <a:r>
              <a:t/>
            </a:r>
          </a:p>
          <a:p xmlns:a="http://schemas.openxmlformats.org/drawingml/2006/main">
            <a:r>
              <a:t>A strong project includes prepared, redacted project material another person can inspect: schema or document shape, meaningful query output, an expected denial or invalid write, before-and-after plan output, backup artifact metadata, separate restore checks, and explicit limitations. Today you will find the highest-risk missing part of that technical sequence and complete it.</a:t>
            </a:r>
          </a:p>
          <a:p xmlns:a="http://schemas.openxmlformats.org/drawingml/2006/main">
            <a:r>
              <a:t/>
            </a:r>
          </a:p>
          <a:p xmlns:a="http://schemas.openxmlformats.org/drawingml/2006/main">
            <a:r>
              <a:t>[Sources]</a:t>
            </a:r>
          </a:p>
          <a:p xmlns:a="http://schemas.openxmlformats.org/drawingml/2006/main">
            <a:r>
              <a:t>- CST4714 course textbook, Chapter 14.</a:t>
            </a:r>
          </a:p>
          <a:p xmlns:a="http://schemas.openxmlformats.org/drawingml/2006/main">
            <a:r>
              <a:t>- https://www.mongodb.com/docs/manual/core/read-isolation-consistency-recency/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model. Another person should be able to state what one row or document represents, how identity works, how one relationship is represented, and which invalid state the database refuses. Then show one meaningful read and one write tied to the workload, including expected and observed results.</a:t>
            </a:r>
          </a:p>
          <a:p xmlns:a="http://schemas.openxmlformats.org/drawingml/2006/main">
            <a:r>
              <a:t/>
            </a:r>
          </a:p>
          <a:p xmlns:a="http://schemas.openxmlformats.org/drawingml/2006/main">
            <a:r>
              <a:t>Protection testing should use the intended identity or rule and include an expected denial or invalid write, not just an administrator success. Operations work should cover a performance decision or recovery procedure with visible mechanism, verification, and limitation. The strongest next action is usually completing one missing technical sequence rather than adding another feature.</a:t>
            </a:r>
          </a:p>
          <a:p xmlns:a="http://schemas.openxmlformats.org/drawingml/2006/main">
            <a:r>
              <a:t/>
            </a:r>
          </a:p>
          <a:p xmlns:a="http://schemas.openxmlformats.org/drawingml/2006/main">
            <a:r>
              <a:t>[Sources]</a:t>
            </a:r>
          </a:p>
          <a:p xmlns:a="http://schemas.openxmlformats.org/drawingml/2006/main">
            <a:r>
              <a:t>- CST4714 course textbook, Chapter 14.</a:t>
            </a:r>
          </a:p>
          <a:p xmlns:a="http://schemas.openxmlformats.org/drawingml/2006/main">
            <a:r>
              <a:t>- https://www.mongodb.com/docs/manual/core/read-isolation-consistency-recency/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individually from the canonical final-project page and rubric. Do not copy requirements from this slide into a new assignment and do not create a separate Week 14 submission. Audit the project material you already have, then identify the one gap most likely to make your project claim hard to trust or demonstrate.</a:t>
            </a:r>
          </a:p>
          <a:p xmlns:a="http://schemas.openxmlformats.org/drawingml/2006/main">
            <a:r>
              <a:t/>
            </a:r>
          </a:p>
          <a:p xmlns:a="http://schemas.openxmlformats.org/drawingml/2006/main">
            <a:r>
              <a:t>Complete that item in the existing project package. It may be a model explanation, expected-denial test, before-and-after plan, separate restore verification, or safe run order. Redact secrets and private account details. Prepare a static or recorded fallback for any cloud-dependent demonstration. The purpose is depth and reliability, not adding last-minute scope.</a:t>
            </a:r>
          </a:p>
          <a:p xmlns:a="http://schemas.openxmlformats.org/drawingml/2006/main">
            <a:r>
              <a:t/>
            </a:r>
          </a:p>
          <a:p xmlns:a="http://schemas.openxmlformats.org/drawingml/2006/main">
            <a:r>
              <a:t>[Sources]</a:t>
            </a:r>
          </a:p>
          <a:p xmlns:a="http://schemas.openxmlformats.org/drawingml/2006/main">
            <a:r>
              <a:t>- CST4714 course textbook, Chapter 14.</a:t>
            </a:r>
          </a:p>
          <a:p xmlns:a="http://schemas.openxmlformats.org/drawingml/2006/main">
            <a:r>
              <a:t>- https://www.mongodb.com/docs/manual/core/read-isolation-consistency-recency/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transactional outbox prevents a business row and its integration event from being committed through two unrelated operations. The application writes both records in one PostgreSQL transaction. A separate relay reads unpublished events and retries delivery. Because delivery may occur more than once, the MongoDB projection uses a stable event identifier or source version to make processing idempotent. Delivery state records whether an event is pending, attempted, or completed. During an incident, trace one stable identifier through authoritative commit, outbox row, relay attempt, consumer result, and projection version. Repair the normal path rather than manually inventing a second source of truth.</a:t>
            </a:r>
          </a:p>
          <a:p xmlns:a="http://schemas.openxmlformats.org/drawingml/2006/main">
            <a:r>
              <a:t/>
            </a:r>
          </a:p>
          <a:p xmlns:a="http://schemas.openxmlformats.org/drawingml/2006/main">
            <a:r>
              <a:t>[Sources]</a:t>
            </a:r>
          </a:p>
          <a:p xmlns:a="http://schemas.openxmlformats.org/drawingml/2006/main">
            <a:r>
              <a:t>- CST4714 course textbook, Chapter 14.</a:t>
            </a:r>
          </a:p>
          <a:p xmlns:a="http://schemas.openxmlformats.org/drawingml/2006/main">
            <a:r>
              <a:t>- https://www.mongodb.com/docs/manual/core/read-isolation-consistency-recency/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showed why multiple databases multiply obligations. Every duplicated fact needs one authoritative owner, a propagation direction, acceptable lag, stable identity, idempotent handling, reconciliation, and recovery order. A transactional outbox closes one source-update gap, but delivery, retries, consumer credentials, lag, and verification still matter.</a:t>
            </a:r>
          </a:p>
          <a:p xmlns:a="http://schemas.openxmlformats.org/drawingml/2006/main">
            <a:r>
              <a:t/>
            </a:r>
          </a:p>
          <a:p xmlns:a="http://schemas.openxmlformats.org/drawingml/2006/main">
            <a:r>
              <a:t>Incident response follows stable identifiers from authoritative commit through outbox, relay, consumer, and projection. A safe repair restores the normal path and verifies a broader scope. The final-project clinic applies the same principle: do not add features when one weak technical sequence threatens the whole claim. Next week we will synthesize the course and translate that work into portfolio and interview language.</a:t>
            </a:r>
          </a:p>
          <a:p xmlns:a="http://schemas.openxmlformats.org/drawingml/2006/main">
            <a:r>
              <a:t/>
            </a:r>
          </a:p>
          <a:p xmlns:a="http://schemas.openxmlformats.org/drawingml/2006/main">
            <a:r>
              <a:t>[Sources]</a:t>
            </a:r>
          </a:p>
          <a:p xmlns:a="http://schemas.openxmlformats.org/drawingml/2006/main">
            <a:r>
              <a:t>- CST4714 course textbook, Chapter 14.</a:t>
            </a:r>
          </a:p>
          <a:p xmlns:a="http://schemas.openxmlformats.org/drawingml/2006/main">
            <a:r>
              <a:t>- https://www.mongodb.com/docs/manual/core/read-isolation-consistency-recency/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223beedc5b4f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0fc751aa9344d0" /><Relationship Type="http://schemas.openxmlformats.org/officeDocument/2006/relationships/slideLayout" Target="/ppt/slideLayouts/slideLayout1.xml" Id="Rb15893f2d4bc41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5893f2d4bc41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e6865a7461448e" /><Relationship Type="http://schemas.openxmlformats.org/officeDocument/2006/relationships/notesSlide" Target="/ppt/notesSlides/notesSlide1.xml" Id="Red51c377213c40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b9e610d6cf4052" /><Relationship Type="http://schemas.openxmlformats.org/officeDocument/2006/relationships/notesSlide" Target="/ppt/notesSlides/notesSlide2.xml" Id="R95b5355d398442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ff6971da204a4c" /><Relationship Type="http://schemas.openxmlformats.org/officeDocument/2006/relationships/notesSlide" Target="/ppt/notesSlides/notesSlide3.xml" Id="R2904a40a547348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77f86d3aa46497a" /><Relationship Type="http://schemas.openxmlformats.org/officeDocument/2006/relationships/notesSlide" Target="/ppt/notesSlides/notesSlide4.xml" Id="R0b11b527dbfe4a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823897e0e04dcd" /><Relationship Type="http://schemas.openxmlformats.org/officeDocument/2006/relationships/notesSlide" Target="/ppt/notesSlides/notesSlide5.xml" Id="R7c8f5172b2984b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44b4fa923974916" /><Relationship Type="http://schemas.openxmlformats.org/officeDocument/2006/relationships/notesSlide" Target="/ppt/notesSlides/notesSlide6.xml" Id="R5f27c09478e747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145613949a473d" /><Relationship Type="http://schemas.openxmlformats.org/officeDocument/2006/relationships/notesSlide" Target="/ppt/notesSlides/notesSlide7.xml" Id="R1d6a2375df9e41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98975f7970449c4" /><Relationship Type="http://schemas.openxmlformats.org/officeDocument/2006/relationships/notesSlide" Target="/ppt/notesSlides/notesSlide8.xml" Id="R5185c167522240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8705b2c4b8d4546" /><Relationship Type="http://schemas.openxmlformats.org/officeDocument/2006/relationships/notesSlide" Target="/ppt/notesSlides/notesSlide9.xml" Id="Reb883b74f0fc4c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512eb5aa5a481c" /><Relationship Type="http://schemas.openxmlformats.org/officeDocument/2006/relationships/notesSlide" Target="/ppt/notesSlides/notesSlide10.xml" Id="R0592fca68be646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ffecb25709e4582" /><Relationship Type="http://schemas.openxmlformats.org/officeDocument/2006/relationships/notesSlide" Target="/ppt/notesSlides/notesSlide11.xml" Id="Rabf1f139e2ba4f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b33660e34474536" /><Relationship Type="http://schemas.openxmlformats.org/officeDocument/2006/relationships/notesSlide" Target="/ppt/notesSlides/notesSlide12.xml" Id="R8f3c09f7ff314f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d6da93207474f28" /><Relationship Type="http://schemas.openxmlformats.org/officeDocument/2006/relationships/notesSlide" Target="/ppt/notesSlides/notesSlide13.xml" Id="R71dfb9f508714cd6"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8D0E5C-863C-49C1-B395-A28FFC7B51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0D9BBCD5-D7D6-4D65-9953-DAC7916A98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 name="">
            <a:extLst xmlns:a="http://schemas.openxmlformats.org/drawingml/2006/main">
              <a:ext uri="{FF2B5EF4-FFF2-40B4-BE49-F238E27FC236}">
                <a16:creationId xmlns:a16="http://schemas.microsoft.com/office/drawing/2014/main" id="{88363E99-C67E-4E3C-AC45-D785CE35F575}"/>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15803D"/>
                </a:solidFill>
                <a:latin typeface="Helvetica Neue"/>
                <a:ea typeface="Helvetica Neue"/>
                <a:cs typeface="Helvetica Neue"/>
              </a:defRPr>
            </a:pPr>
            <a:r>
              <a:rPr sz="1350" b="1">
                <a:solidFill>
                  <a:srgbClr val="15803D"/>
                </a:solidFill>
                <a:latin typeface="Helvetica Neue"/>
                <a:ea typeface="Helvetica Neue"/>
                <a:cs typeface="Helvetica Neue"/>
              </a:rPr>
              <a:t>WEEK 14</a:t>
            </a:r>
          </a:p>
        </p:txBody>
      </p:sp>
      <p:sp>
        <p:nvSpPr>
          <p:cNvPr id="4" name="cover-title">
            <a:extLst xmlns:a="http://schemas.openxmlformats.org/drawingml/2006/main">
              <a:ext uri="{FF2B5EF4-FFF2-40B4-BE49-F238E27FC236}">
                <a16:creationId xmlns:a16="http://schemas.microsoft.com/office/drawing/2014/main" id="{E6D56963-0A05-4C72-9769-AA561CC99B3C}"/>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Polyglot Incident Response and Final Project Clinic</a:t>
            </a:r>
          </a:p>
        </p:txBody>
      </p:sp>
      <p:sp>
        <p:nvSpPr>
          <p:cNvPr id="5" name="cover-subtitle">
            <a:extLst xmlns:a="http://schemas.openxmlformats.org/drawingml/2006/main">
              <a:ext uri="{FF2B5EF4-FFF2-40B4-BE49-F238E27FC236}">
                <a16:creationId xmlns:a16="http://schemas.microsoft.com/office/drawing/2014/main" id="{22D78456-823D-45F0-A55F-D8A1C37B8E17}"/>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Find the authoritative fact, trace propagation, repair safely, and communicate what the </a:t>
            </a:r>
            <a:r>
              <a:rPr sz="1875">
                <a:solidFill>
                  <a:srgbClr val="475569"/>
                </a:solidFill>
                <a:latin typeface="Helvetica Neue"/>
                <a:ea typeface="Helvetica Neue"/>
                <a:cs typeface="Helvetica Neue"/>
              </a:rPr>
              <a:t>results</a:t>
            </a:r>
            <a:r>
              <a:rPr sz="1875">
                <a:solidFill>
                  <a:srgbClr val="475569"/>
                </a:solidFill>
                <a:latin typeface="Helvetica Neue"/>
                <a:ea typeface="Helvetica Neue"/>
                <a:cs typeface="Helvetica Neue"/>
              </a:rPr>
              <a:t> supports.</a:t>
            </a:r>
          </a:p>
        </p:txBody>
      </p:sp>
      <p:sp>
        <p:nvSpPr>
          <p:cNvPr id="6" name="">
            <a:extLst xmlns:a="http://schemas.openxmlformats.org/drawingml/2006/main">
              <a:ext uri="{FF2B5EF4-FFF2-40B4-BE49-F238E27FC236}">
                <a16:creationId xmlns:a16="http://schemas.microsoft.com/office/drawing/2014/main" id="{74C501BE-8E98-436B-8D51-669EB1F56723}"/>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B791B7E4-B016-48EE-8E7C-1A699ABB3580}"/>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15803D"/>
                </a:solidFill>
                <a:latin typeface="Helvetica Neue"/>
                <a:ea typeface="Helvetica Neue"/>
                <a:cs typeface="Helvetica Neue"/>
              </a:defRPr>
            </a:pPr>
            <a:r>
              <a:rPr sz="8400" b="1">
                <a:solidFill>
                  <a:srgbClr val="15803D"/>
                </a:solidFill>
                <a:latin typeface="Helvetica Neue"/>
                <a:ea typeface="Helvetica Neue"/>
                <a:cs typeface="Helvetica Neue"/>
              </a:rPr>
              <a:t>14</a:t>
            </a:r>
          </a:p>
        </p:txBody>
      </p:sp>
    </p:spTree>
    <p:extLst>
      <p:ext uri="{BB962C8B-B14F-4D97-AF65-F5344CB8AC3E}">
        <p14:creationId xmlns:p14="http://schemas.microsoft.com/office/powerpoint/2010/main" val="351759203"/>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DF80283-2DA5-49A1-93F9-365BEF0E62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47F02DD-B58D-4141-B31A-BC1213C7C6B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D0900F0A-F06F-4B3C-9961-7D92BF06A55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second database must earn its operating cost</a:t>
            </a:r>
          </a:p>
        </p:txBody>
      </p:sp>
      <p:sp>
        <p:nvSpPr>
          <p:cNvPr id="4" name="">
            <a:extLst xmlns:a="http://schemas.openxmlformats.org/drawingml/2006/main">
              <a:ext uri="{FF2B5EF4-FFF2-40B4-BE49-F238E27FC236}">
                <a16:creationId xmlns:a16="http://schemas.microsoft.com/office/drawing/2014/main" id="{3B619D24-7B95-4E56-90E6-68E6D56A655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B19C65B-CFF8-46FF-9A36-E44BD0062B0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79E054CD-12E6-4D8F-9204-0F86AE51AE47}"/>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5803D"/>
                </a:solidFill>
                <a:latin typeface="Helvetica Neue"/>
                <a:ea typeface="Helvetica Neue"/>
                <a:cs typeface="Helvetica Neue"/>
              </a:defRPr>
            </a:pPr>
            <a:r>
              <a:rPr sz="2925" b="1">
                <a:solidFill>
                  <a:srgbClr val="15803D"/>
                </a:solidFill>
                <a:latin typeface="Helvetica Neue"/>
                <a:ea typeface="Helvetica Neue"/>
                <a:cs typeface="Helvetica Neue"/>
              </a:rPr>
              <a:t>Polyglot persistence is workload specialization, not a tool collection.</a:t>
            </a:r>
          </a:p>
        </p:txBody>
      </p:sp>
      <p:sp>
        <p:nvSpPr>
          <p:cNvPr id="7" name="">
            <a:extLst xmlns:a="http://schemas.openxmlformats.org/drawingml/2006/main">
              <a:ext uri="{FF2B5EF4-FFF2-40B4-BE49-F238E27FC236}">
                <a16:creationId xmlns:a16="http://schemas.microsoft.com/office/drawing/2014/main" id="{38B058DA-C821-4EB9-A0E0-A34BEC7B26B4}"/>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8" name="">
            <a:extLst xmlns:a="http://schemas.openxmlformats.org/drawingml/2006/main">
              <a:ext uri="{FF2B5EF4-FFF2-40B4-BE49-F238E27FC236}">
                <a16:creationId xmlns:a16="http://schemas.microsoft.com/office/drawing/2014/main" id="{1766B47E-47C0-4442-B6B6-50B6DD64B9E8}"/>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BENEFIT</a:t>
            </a:r>
          </a:p>
        </p:txBody>
      </p:sp>
      <p:sp>
        <p:nvSpPr>
          <p:cNvPr id="9" name="">
            <a:extLst xmlns:a="http://schemas.openxmlformats.org/drawingml/2006/main">
              <a:ext uri="{FF2B5EF4-FFF2-40B4-BE49-F238E27FC236}">
                <a16:creationId xmlns:a16="http://schemas.microsoft.com/office/drawing/2014/main" id="{77BD9100-199E-4ED9-921F-B74D26CFD30D}"/>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One store serves a distinct model, access, scale, or lifecycle need.</a:t>
            </a:r>
          </a:p>
        </p:txBody>
      </p:sp>
      <p:sp>
        <p:nvSpPr>
          <p:cNvPr id="10" name="">
            <a:extLst xmlns:a="http://schemas.openxmlformats.org/drawingml/2006/main">
              <a:ext uri="{FF2B5EF4-FFF2-40B4-BE49-F238E27FC236}">
                <a16:creationId xmlns:a16="http://schemas.microsoft.com/office/drawing/2014/main" id="{A333ED30-C50D-4AAE-A897-685DA49508C2}"/>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948DE90D-EE5F-431B-A510-C89BCF63D675}"/>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BOUNDARY</a:t>
            </a:r>
          </a:p>
        </p:txBody>
      </p:sp>
      <p:sp>
        <p:nvSpPr>
          <p:cNvPr id="12" name="">
            <a:extLst xmlns:a="http://schemas.openxmlformats.org/drawingml/2006/main">
              <a:ext uri="{FF2B5EF4-FFF2-40B4-BE49-F238E27FC236}">
                <a16:creationId xmlns:a16="http://schemas.microsoft.com/office/drawing/2014/main" id="{67D9DA75-F61C-4E38-AD94-76BD1F9DF5AE}"/>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Every fact has one authoritative owner and a defined derived copy.</a:t>
            </a:r>
          </a:p>
        </p:txBody>
      </p:sp>
      <p:sp>
        <p:nvSpPr>
          <p:cNvPr id="13" name="">
            <a:extLst xmlns:a="http://schemas.openxmlformats.org/drawingml/2006/main">
              <a:ext uri="{FF2B5EF4-FFF2-40B4-BE49-F238E27FC236}">
                <a16:creationId xmlns:a16="http://schemas.microsoft.com/office/drawing/2014/main" id="{B02AA460-284A-4A67-8306-D2EAC685E847}"/>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8385F8C6-C7B0-4A60-ADC6-ECB48D8B80A8}"/>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OBLIGATION</a:t>
            </a:r>
          </a:p>
        </p:txBody>
      </p:sp>
      <p:sp>
        <p:nvSpPr>
          <p:cNvPr id="15" name="">
            <a:extLst xmlns:a="http://schemas.openxmlformats.org/drawingml/2006/main">
              <a:ext uri="{FF2B5EF4-FFF2-40B4-BE49-F238E27FC236}">
                <a16:creationId xmlns:a16="http://schemas.microsoft.com/office/drawing/2014/main" id="{FCC5F418-C1C9-477F-9F2E-6ED25172BA05}"/>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Propagation, access, monitoring, backup, recovery, and cost now cross systems.</a:t>
            </a:r>
          </a:p>
        </p:txBody>
      </p:sp>
    </p:spTree>
    <p:extLst>
      <p:ext uri="{BB962C8B-B14F-4D97-AF65-F5344CB8AC3E}">
        <p14:creationId xmlns:p14="http://schemas.microsoft.com/office/powerpoint/2010/main" val="2046441818"/>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B85856F-7A78-4316-A280-32A1267FC0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ABF67A6-C22B-45A4-98BF-DF1EF16404A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B8604628-EA45-4F2E-9504-3B5115F7906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transactional outbox gives the change one commit boundary</a:t>
            </a:r>
          </a:p>
        </p:txBody>
      </p:sp>
      <p:sp>
        <p:nvSpPr>
          <p:cNvPr id="4" name="">
            <a:extLst xmlns:a="http://schemas.openxmlformats.org/drawingml/2006/main">
              <a:ext uri="{FF2B5EF4-FFF2-40B4-BE49-F238E27FC236}">
                <a16:creationId xmlns:a16="http://schemas.microsoft.com/office/drawing/2014/main" id="{08854225-90D6-4B05-9EEF-45C684C68A0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5CFDB0B-F7B6-4F29-9E69-C2B120C3663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4589ACB7-8B93-4D64-8407-206C583D9BCD}"/>
              </a:ext>
            </a:extLst>
          </p:cNvPr>
          <p:cNvSpPr>
            <a:spLocks xmlns:a="http://schemas.openxmlformats.org/drawingml/2006/main" noGrp="1"/>
          </p:cNvSpPr>
          <p:nvPr/>
        </p:nvSpPr>
        <p:spPr>
          <a:xfrm xmlns:a="http://schemas.openxmlformats.org/drawingml/2006/main">
            <a:off x="1905000" y="3119438"/>
            <a:ext cx="2857500"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7" name="">
            <a:extLst xmlns:a="http://schemas.openxmlformats.org/drawingml/2006/main">
              <a:ext uri="{FF2B5EF4-FFF2-40B4-BE49-F238E27FC236}">
                <a16:creationId xmlns:a16="http://schemas.microsoft.com/office/drawing/2014/main" id="{82EC7C43-0B6D-42F6-8807-13A8C9ACE7F1}"/>
              </a:ext>
            </a:extLst>
          </p:cNvPr>
          <p:cNvSpPr>
            <a:spLocks xmlns:a="http://schemas.openxmlformats.org/drawingml/2006/main" noGrp="1"/>
          </p:cNvSpPr>
          <p:nvPr/>
        </p:nvSpPr>
        <p:spPr>
          <a:xfrm xmlns:a="http://schemas.openxmlformats.org/drawingml/2006/main">
            <a:off x="4762500" y="3119438"/>
            <a:ext cx="2667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FD0106E6-CEB6-4C79-8918-254B70FD0835}"/>
              </a:ext>
            </a:extLst>
          </p:cNvPr>
          <p:cNvSpPr>
            <a:spLocks xmlns:a="http://schemas.openxmlformats.org/drawingml/2006/main" noGrp="1"/>
          </p:cNvSpPr>
          <p:nvPr/>
        </p:nvSpPr>
        <p:spPr>
          <a:xfrm xmlns:a="http://schemas.openxmlformats.org/drawingml/2006/main">
            <a:off x="7429500" y="3119438"/>
            <a:ext cx="2976563"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 name="">
            <a:extLst xmlns:a="http://schemas.openxmlformats.org/drawingml/2006/main">
              <a:ext uri="{FF2B5EF4-FFF2-40B4-BE49-F238E27FC236}">
                <a16:creationId xmlns:a16="http://schemas.microsoft.com/office/drawing/2014/main" id="{C9AFF9CE-478A-47C6-91BE-E1030020C07B}"/>
              </a:ext>
            </a:extLst>
          </p:cNvPr>
          <p:cNvSpPr>
            <a:spLocks xmlns:a="http://schemas.openxmlformats.org/drawingml/2006/main" noGrp="1"/>
          </p:cNvSpPr>
          <p:nvPr/>
        </p:nvSpPr>
        <p:spPr>
          <a:xfrm xmlns:a="http://schemas.openxmlformats.org/drawingml/2006/main">
            <a:off x="619125" y="2428875"/>
            <a:ext cx="2571750" cy="1381125"/>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PostgreSQL</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ticket + outbox</a:t>
            </a:r>
          </a:p>
        </p:txBody>
      </p:sp>
      <p:sp>
        <p:nvSpPr>
          <p:cNvPr id="10" name="">
            <a:extLst xmlns:a="http://schemas.openxmlformats.org/drawingml/2006/main">
              <a:ext uri="{FF2B5EF4-FFF2-40B4-BE49-F238E27FC236}">
                <a16:creationId xmlns:a16="http://schemas.microsoft.com/office/drawing/2014/main" id="{676A30AF-A603-43B4-8460-33AC4A23E7FF}"/>
              </a:ext>
            </a:extLst>
          </p:cNvPr>
          <p:cNvSpPr>
            <a:spLocks xmlns:a="http://schemas.openxmlformats.org/drawingml/2006/main" noGrp="1"/>
          </p:cNvSpPr>
          <p:nvPr/>
        </p:nvSpPr>
        <p:spPr>
          <a:xfrm xmlns:a="http://schemas.openxmlformats.org/drawingml/2006/main">
            <a:off x="619125" y="3905250"/>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one authoritative transaction</a:t>
            </a:r>
          </a:p>
        </p:txBody>
      </p:sp>
      <p:sp>
        <p:nvSpPr>
          <p:cNvPr id="11" name="">
            <a:extLst xmlns:a="http://schemas.openxmlformats.org/drawingml/2006/main">
              <a:ext uri="{FF2B5EF4-FFF2-40B4-BE49-F238E27FC236}">
                <a16:creationId xmlns:a16="http://schemas.microsoft.com/office/drawing/2014/main" id="{48C4B3F1-D9A3-4A00-85C2-F2C2A5496EE0}"/>
              </a:ext>
            </a:extLst>
          </p:cNvPr>
          <p:cNvSpPr>
            <a:spLocks xmlns:a="http://schemas.openxmlformats.org/drawingml/2006/main" noGrp="1"/>
          </p:cNvSpPr>
          <p:nvPr/>
        </p:nvSpPr>
        <p:spPr>
          <a:xfrm xmlns:a="http://schemas.openxmlformats.org/drawingml/2006/main">
            <a:off x="3857625" y="2571750"/>
            <a:ext cx="180975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Relay</a:t>
            </a:r>
          </a:p>
        </p:txBody>
      </p:sp>
      <p:sp>
        <p:nvSpPr>
          <p:cNvPr id="12" name="">
            <a:extLst xmlns:a="http://schemas.openxmlformats.org/drawingml/2006/main">
              <a:ext uri="{FF2B5EF4-FFF2-40B4-BE49-F238E27FC236}">
                <a16:creationId xmlns:a16="http://schemas.microsoft.com/office/drawing/2014/main" id="{3EEFD3B5-0489-4893-8092-D9B5302025AB}"/>
              </a:ext>
            </a:extLst>
          </p:cNvPr>
          <p:cNvSpPr>
            <a:spLocks xmlns:a="http://schemas.openxmlformats.org/drawingml/2006/main" noGrp="1"/>
          </p:cNvSpPr>
          <p:nvPr/>
        </p:nvSpPr>
        <p:spPr>
          <a:xfrm xmlns:a="http://schemas.openxmlformats.org/drawingml/2006/main">
            <a:off x="3857625" y="37623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publishes pending event</a:t>
            </a:r>
          </a:p>
        </p:txBody>
      </p:sp>
      <p:sp>
        <p:nvSpPr>
          <p:cNvPr id="13" name="">
            <a:extLst xmlns:a="http://schemas.openxmlformats.org/drawingml/2006/main">
              <a:ext uri="{FF2B5EF4-FFF2-40B4-BE49-F238E27FC236}">
                <a16:creationId xmlns:a16="http://schemas.microsoft.com/office/drawing/2014/main" id="{FB620639-E2DE-4B7C-83FA-D6BAE2D969FE}"/>
              </a:ext>
            </a:extLst>
          </p:cNvPr>
          <p:cNvSpPr>
            <a:spLocks xmlns:a="http://schemas.openxmlformats.org/drawingml/2006/main" noGrp="1"/>
          </p:cNvSpPr>
          <p:nvPr/>
        </p:nvSpPr>
        <p:spPr>
          <a:xfrm xmlns:a="http://schemas.openxmlformats.org/drawingml/2006/main">
            <a:off x="6477000" y="2571750"/>
            <a:ext cx="190500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Consumer</a:t>
            </a:r>
          </a:p>
        </p:txBody>
      </p:sp>
      <p:sp>
        <p:nvSpPr>
          <p:cNvPr id="14" name="">
            <a:extLst xmlns:a="http://schemas.openxmlformats.org/drawingml/2006/main">
              <a:ext uri="{FF2B5EF4-FFF2-40B4-BE49-F238E27FC236}">
                <a16:creationId xmlns:a16="http://schemas.microsoft.com/office/drawing/2014/main" id="{2BF95413-F074-4636-B6B6-42C0F8EF4245}"/>
              </a:ext>
            </a:extLst>
          </p:cNvPr>
          <p:cNvSpPr>
            <a:spLocks xmlns:a="http://schemas.openxmlformats.org/drawingml/2006/main" noGrp="1"/>
          </p:cNvSpPr>
          <p:nvPr/>
        </p:nvSpPr>
        <p:spPr>
          <a:xfrm xmlns:a="http://schemas.openxmlformats.org/drawingml/2006/main">
            <a:off x="6477000" y="3762375"/>
            <a:ext cx="190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idempotent apply</a:t>
            </a:r>
          </a:p>
        </p:txBody>
      </p:sp>
      <p:sp>
        <p:nvSpPr>
          <p:cNvPr id="15" name="">
            <a:extLst xmlns:a="http://schemas.openxmlformats.org/drawingml/2006/main">
              <a:ext uri="{FF2B5EF4-FFF2-40B4-BE49-F238E27FC236}">
                <a16:creationId xmlns:a16="http://schemas.microsoft.com/office/drawing/2014/main" id="{DC88FA7C-09D4-4D7C-A3A8-5E0E2CF9C630}"/>
              </a:ext>
            </a:extLst>
          </p:cNvPr>
          <p:cNvSpPr>
            <a:spLocks xmlns:a="http://schemas.openxmlformats.org/drawingml/2006/main" noGrp="1"/>
          </p:cNvSpPr>
          <p:nvPr/>
        </p:nvSpPr>
        <p:spPr>
          <a:xfrm xmlns:a="http://schemas.openxmlformats.org/drawingml/2006/main">
            <a:off x="9191625" y="2428875"/>
            <a:ext cx="2428875"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MongoDB</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read projection</a:t>
            </a:r>
          </a:p>
        </p:txBody>
      </p:sp>
      <p:sp>
        <p:nvSpPr>
          <p:cNvPr id="16" name="">
            <a:extLst xmlns:a="http://schemas.openxmlformats.org/drawingml/2006/main">
              <a:ext uri="{FF2B5EF4-FFF2-40B4-BE49-F238E27FC236}">
                <a16:creationId xmlns:a16="http://schemas.microsoft.com/office/drawing/2014/main" id="{F46F4B94-7723-41A1-9933-D5D85716D374}"/>
              </a:ext>
            </a:extLst>
          </p:cNvPr>
          <p:cNvSpPr>
            <a:spLocks xmlns:a="http://schemas.openxmlformats.org/drawingml/2006/main" noGrp="1"/>
          </p:cNvSpPr>
          <p:nvPr/>
        </p:nvSpPr>
        <p:spPr>
          <a:xfrm xmlns:a="http://schemas.openxmlformats.org/drawingml/2006/main">
            <a:off x="9191625" y="3905250"/>
            <a:ext cx="2428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derived state</a:t>
            </a:r>
          </a:p>
        </p:txBody>
      </p:sp>
      <p:sp>
        <p:nvSpPr>
          <p:cNvPr id="17" name="">
            <a:extLst xmlns:a="http://schemas.openxmlformats.org/drawingml/2006/main">
              <a:ext uri="{FF2B5EF4-FFF2-40B4-BE49-F238E27FC236}">
                <a16:creationId xmlns:a16="http://schemas.microsoft.com/office/drawing/2014/main" id="{8CC43E41-31F8-4E15-88D1-135E4672DAA8}"/>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The outbox closes the source update/event gap; delivery, retries, lag, and reconciliation still remain.</a:t>
            </a:r>
          </a:p>
        </p:txBody>
      </p:sp>
    </p:spTree>
    <p:extLst>
      <p:ext uri="{BB962C8B-B14F-4D97-AF65-F5344CB8AC3E}">
        <p14:creationId xmlns:p14="http://schemas.microsoft.com/office/powerpoint/2010/main" val="568468709"/>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6BFE55D-C474-46CE-9E7E-9FF07A3D3A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5E0A319-83EF-4E5B-9071-9B18E7D4A6D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6EC5C4CB-D0D1-4F06-8AA8-35B1989BB424}"/>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Delivery guarantees need stable identity and state transitions</a:t>
            </a:r>
          </a:p>
        </p:txBody>
      </p:sp>
      <p:sp>
        <p:nvSpPr>
          <p:cNvPr id="4" name="">
            <a:extLst xmlns:a="http://schemas.openxmlformats.org/drawingml/2006/main">
              <a:ext uri="{FF2B5EF4-FFF2-40B4-BE49-F238E27FC236}">
                <a16:creationId xmlns:a16="http://schemas.microsoft.com/office/drawing/2014/main" id="{8A2C3586-6855-4E51-96BA-8F95B440486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71B8228-2884-4693-A8E8-D2ADAED026B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4A8088D7-26AC-49A0-95FD-071D55D25422}"/>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5803D"/>
                </a:solidFill>
                <a:latin typeface="Helvetica Neue"/>
                <a:ea typeface="Helvetica Neue"/>
                <a:cs typeface="Helvetica Neue"/>
              </a:defRPr>
            </a:pPr>
            <a:r>
              <a:rPr sz="1950" b="1">
                <a:solidFill>
                  <a:srgbClr val="15803D"/>
                </a:solidFill>
                <a:latin typeface="Helvetica Neue"/>
                <a:ea typeface="Helvetica Neue"/>
                <a:cs typeface="Helvetica Neue"/>
              </a:rPr>
              <a:t>Unsafe consumer behavior</a:t>
            </a:r>
          </a:p>
        </p:txBody>
      </p:sp>
      <p:sp>
        <p:nvSpPr>
          <p:cNvPr id="7" name="">
            <a:extLst xmlns:a="http://schemas.openxmlformats.org/drawingml/2006/main">
              <a:ext uri="{FF2B5EF4-FFF2-40B4-BE49-F238E27FC236}">
                <a16:creationId xmlns:a16="http://schemas.microsoft.com/office/drawing/2014/main" id="{E3BAF257-52EA-4F9D-B9EF-8F05D0E2D688}"/>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Safer idempotent behavior</a:t>
            </a:r>
          </a:p>
        </p:txBody>
      </p:sp>
      <p:sp>
        <p:nvSpPr>
          <p:cNvPr id="8" name="">
            <a:extLst xmlns:a="http://schemas.openxmlformats.org/drawingml/2006/main">
              <a:ext uri="{FF2B5EF4-FFF2-40B4-BE49-F238E27FC236}">
                <a16:creationId xmlns:a16="http://schemas.microsoft.com/office/drawing/2014/main" id="{1907E6F0-F8C3-4C11-BCF2-BE036550629D}"/>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89D09574-123A-4C01-89D8-3AB90D43A3EF}"/>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2615F943-FE72-4C5F-88D8-D2085BA7F5E5}"/>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Applies every delivery as a new side effect</a:t>
            </a:r>
          </a:p>
        </p:txBody>
      </p:sp>
      <p:sp>
        <p:nvSpPr>
          <p:cNvPr id="11" name="">
            <a:extLst xmlns:a="http://schemas.openxmlformats.org/drawingml/2006/main">
              <a:ext uri="{FF2B5EF4-FFF2-40B4-BE49-F238E27FC236}">
                <a16:creationId xmlns:a16="http://schemas.microsoft.com/office/drawing/2014/main" id="{E1FFD1F5-6AF3-4F5E-8F25-FC3FF1AA4785}"/>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C5F5552A-759B-45F1-BBFC-4FB29E157281}"/>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Trusts arrival order without a source version</a:t>
            </a:r>
          </a:p>
        </p:txBody>
      </p:sp>
      <p:sp>
        <p:nvSpPr>
          <p:cNvPr id="13" name="">
            <a:extLst xmlns:a="http://schemas.openxmlformats.org/drawingml/2006/main">
              <a:ext uri="{FF2B5EF4-FFF2-40B4-BE49-F238E27FC236}">
                <a16:creationId xmlns:a16="http://schemas.microsoft.com/office/drawing/2014/main" id="{4525F181-D226-49D2-A0F4-6CCDF01A7D94}"/>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4" name="">
            <a:extLst xmlns:a="http://schemas.openxmlformats.org/drawingml/2006/main">
              <a:ext uri="{FF2B5EF4-FFF2-40B4-BE49-F238E27FC236}">
                <a16:creationId xmlns:a16="http://schemas.microsoft.com/office/drawing/2014/main" id="{CEB654C3-7276-481F-8C3B-FE868AAE7051}"/>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Treats one success log as sufficient</a:t>
            </a:r>
          </a:p>
        </p:txBody>
      </p:sp>
      <p:sp>
        <p:nvSpPr>
          <p:cNvPr id="15" name="">
            <a:extLst xmlns:a="http://schemas.openxmlformats.org/drawingml/2006/main">
              <a:ext uri="{FF2B5EF4-FFF2-40B4-BE49-F238E27FC236}">
                <a16:creationId xmlns:a16="http://schemas.microsoft.com/office/drawing/2014/main" id="{3DF4DACC-BFBB-4ED3-91F1-8AB276838413}"/>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0D0E3FAC-EA2F-4558-8C54-1980151C5BC4}"/>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Uses stable event and aggregate identifiers</a:t>
            </a:r>
          </a:p>
        </p:txBody>
      </p:sp>
      <p:sp>
        <p:nvSpPr>
          <p:cNvPr id="17" name="">
            <a:extLst xmlns:a="http://schemas.openxmlformats.org/drawingml/2006/main">
              <a:ext uri="{FF2B5EF4-FFF2-40B4-BE49-F238E27FC236}">
                <a16:creationId xmlns:a16="http://schemas.microsoft.com/office/drawing/2014/main" id="{A89F300C-939D-433F-ACCC-08EA546D9E49}"/>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A1DD0A53-0489-472A-9EAB-F7237BDDF6C3}"/>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Applies only a newer source version</a:t>
            </a:r>
          </a:p>
        </p:txBody>
      </p:sp>
      <p:sp>
        <p:nvSpPr>
          <p:cNvPr id="19" name="">
            <a:extLst xmlns:a="http://schemas.openxmlformats.org/drawingml/2006/main">
              <a:ext uri="{FF2B5EF4-FFF2-40B4-BE49-F238E27FC236}">
                <a16:creationId xmlns:a16="http://schemas.microsoft.com/office/drawing/2014/main" id="{E8FBAE0E-54F3-492E-9B8F-5D06ADF05815}"/>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822900D4-336E-4BDB-AADC-571E7CA62ABD}"/>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Records progress and reconciles authoritative against derived state</a:t>
            </a:r>
          </a:p>
        </p:txBody>
      </p:sp>
    </p:spTree>
    <p:extLst>
      <p:ext uri="{BB962C8B-B14F-4D97-AF65-F5344CB8AC3E}">
        <p14:creationId xmlns:p14="http://schemas.microsoft.com/office/powerpoint/2010/main" val="1175215313"/>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5BA6402-CA88-4B5C-A0D2-6CE72C6579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BD092D5-B7A0-402E-8CBF-73614566A66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635F93C1-C957-4771-954D-88194557AA9D}"/>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Incident triage follows the fact across every boundary</a:t>
            </a:r>
          </a:p>
        </p:txBody>
      </p:sp>
      <p:sp>
        <p:nvSpPr>
          <p:cNvPr id="4" name="">
            <a:extLst xmlns:a="http://schemas.openxmlformats.org/drawingml/2006/main">
              <a:ext uri="{FF2B5EF4-FFF2-40B4-BE49-F238E27FC236}">
                <a16:creationId xmlns:a16="http://schemas.microsoft.com/office/drawing/2014/main" id="{32394776-F9DC-4DAE-9CDB-96BE6797095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B8D80EBF-6FA8-47BA-9344-51D5ED5EFDD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646CC392-533F-4F34-B401-82B03CA3AC6A}"/>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2B3B517C-57FC-4643-93E6-7B49CFB51E59}"/>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5803D"/>
          </a:solidFill>
          <a:ln xmlns:a="http://schemas.openxmlformats.org/drawingml/2006/main" w="28575">
            <a:solidFill>
              <a:srgbClr val="15803D"/>
            </a:solidFill>
            <a:prstDash val="solid"/>
          </a:ln>
        </p:spPr>
      </p:sp>
      <p:sp>
        <p:nvSpPr>
          <p:cNvPr id="8" name="">
            <a:extLst xmlns:a="http://schemas.openxmlformats.org/drawingml/2006/main">
              <a:ext uri="{FF2B5EF4-FFF2-40B4-BE49-F238E27FC236}">
                <a16:creationId xmlns:a16="http://schemas.microsoft.com/office/drawing/2014/main" id="{14AF4524-548E-455D-AAEE-0AF3A8A1F1FF}"/>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00BCBBCA-F1D0-4A9E-B449-4499334FD9D5}"/>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Source</a:t>
            </a:r>
          </a:p>
        </p:txBody>
      </p:sp>
      <p:sp>
        <p:nvSpPr>
          <p:cNvPr id="10" name="">
            <a:extLst xmlns:a="http://schemas.openxmlformats.org/drawingml/2006/main">
              <a:ext uri="{FF2B5EF4-FFF2-40B4-BE49-F238E27FC236}">
                <a16:creationId xmlns:a16="http://schemas.microsoft.com/office/drawing/2014/main" id="{B5EDF90A-A93F-468B-B0F3-05B427CCB0F4}"/>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Did the authoritative transaction commit, with which version?</a:t>
            </a:r>
          </a:p>
        </p:txBody>
      </p:sp>
      <p:sp>
        <p:nvSpPr>
          <p:cNvPr id="11" name="">
            <a:extLst xmlns:a="http://schemas.openxmlformats.org/drawingml/2006/main">
              <a:ext uri="{FF2B5EF4-FFF2-40B4-BE49-F238E27FC236}">
                <a16:creationId xmlns:a16="http://schemas.microsoft.com/office/drawing/2014/main" id="{764106A8-A7A4-43E0-BC91-824D1364B9AE}"/>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2" name="">
            <a:extLst xmlns:a="http://schemas.openxmlformats.org/drawingml/2006/main">
              <a:ext uri="{FF2B5EF4-FFF2-40B4-BE49-F238E27FC236}">
                <a16:creationId xmlns:a16="http://schemas.microsoft.com/office/drawing/2014/main" id="{47A1DCD9-5839-4ACB-88AF-B30121DDB462}"/>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0DCBF3F0-3BEF-410F-A8DF-1F97511F973C}"/>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Outbox</a:t>
            </a:r>
          </a:p>
        </p:txBody>
      </p:sp>
      <p:sp>
        <p:nvSpPr>
          <p:cNvPr id="14" name="">
            <a:extLst xmlns:a="http://schemas.openxmlformats.org/drawingml/2006/main">
              <a:ext uri="{FF2B5EF4-FFF2-40B4-BE49-F238E27FC236}">
                <a16:creationId xmlns:a16="http://schemas.microsoft.com/office/drawing/2014/main" id="{911F2AD2-9E1B-4175-82AF-66F48601353E}"/>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Was the stable event created and marked published?</a:t>
            </a:r>
          </a:p>
        </p:txBody>
      </p:sp>
      <p:sp>
        <p:nvSpPr>
          <p:cNvPr id="15" name="">
            <a:extLst xmlns:a="http://schemas.openxmlformats.org/drawingml/2006/main">
              <a:ext uri="{FF2B5EF4-FFF2-40B4-BE49-F238E27FC236}">
                <a16:creationId xmlns:a16="http://schemas.microsoft.com/office/drawing/2014/main" id="{8523FE47-8EC1-4B18-86B9-547A18F11CAD}"/>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6" name="">
            <a:extLst xmlns:a="http://schemas.openxmlformats.org/drawingml/2006/main">
              <a:ext uri="{FF2B5EF4-FFF2-40B4-BE49-F238E27FC236}">
                <a16:creationId xmlns:a16="http://schemas.microsoft.com/office/drawing/2014/main" id="{9EF11A67-28E3-4B5A-BFC7-B7E97E1B0A6F}"/>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31655098-7AC1-4B04-96CB-5F7E1F5CA81E}"/>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Consumer</a:t>
            </a:r>
          </a:p>
        </p:txBody>
      </p:sp>
      <p:sp>
        <p:nvSpPr>
          <p:cNvPr id="18" name="">
            <a:extLst xmlns:a="http://schemas.openxmlformats.org/drawingml/2006/main">
              <a:ext uri="{FF2B5EF4-FFF2-40B4-BE49-F238E27FC236}">
                <a16:creationId xmlns:a16="http://schemas.microsoft.com/office/drawing/2014/main" id="{F1FB3488-5CE3-41FD-9747-835973ABB394}"/>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Was it received, retried, rejected, or paused?</a:t>
            </a:r>
          </a:p>
        </p:txBody>
      </p:sp>
      <p:sp>
        <p:nvSpPr>
          <p:cNvPr id="19" name="">
            <a:extLst xmlns:a="http://schemas.openxmlformats.org/drawingml/2006/main">
              <a:ext uri="{FF2B5EF4-FFF2-40B4-BE49-F238E27FC236}">
                <a16:creationId xmlns:a16="http://schemas.microsoft.com/office/drawing/2014/main" id="{11F50185-CD4E-4805-A6DD-73BDAB6F300E}"/>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0" name="">
            <a:extLst xmlns:a="http://schemas.openxmlformats.org/drawingml/2006/main">
              <a:ext uri="{FF2B5EF4-FFF2-40B4-BE49-F238E27FC236}">
                <a16:creationId xmlns:a16="http://schemas.microsoft.com/office/drawing/2014/main" id="{7A139EBC-9B0E-43A9-85AA-3FC551A44ECF}"/>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140D236E-CA7F-4D69-931D-84D7F412C866}"/>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Projection</a:t>
            </a:r>
          </a:p>
        </p:txBody>
      </p:sp>
      <p:sp>
        <p:nvSpPr>
          <p:cNvPr id="22" name="">
            <a:extLst xmlns:a="http://schemas.openxmlformats.org/drawingml/2006/main">
              <a:ext uri="{FF2B5EF4-FFF2-40B4-BE49-F238E27FC236}">
                <a16:creationId xmlns:a16="http://schemas.microsoft.com/office/drawing/2014/main" id="{611F7D5B-39CD-4C4F-9D0B-F9BCE637813B}"/>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source version and event ID are stored?</a:t>
            </a:r>
          </a:p>
        </p:txBody>
      </p:sp>
      <p:sp>
        <p:nvSpPr>
          <p:cNvPr id="23" name="">
            <a:extLst xmlns:a="http://schemas.openxmlformats.org/drawingml/2006/main">
              <a:ext uri="{FF2B5EF4-FFF2-40B4-BE49-F238E27FC236}">
                <a16:creationId xmlns:a16="http://schemas.microsoft.com/office/drawing/2014/main" id="{07D98A41-FC87-44A7-A46D-FDF2FEEA75B9}"/>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4" name="">
            <a:extLst xmlns:a="http://schemas.openxmlformats.org/drawingml/2006/main">
              <a:ext uri="{FF2B5EF4-FFF2-40B4-BE49-F238E27FC236}">
                <a16:creationId xmlns:a16="http://schemas.microsoft.com/office/drawing/2014/main" id="{4A269E78-E977-45F5-BF82-20A1681DCF58}"/>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CDF98BCF-1C5B-40FC-9973-48876E246529}"/>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Scope</a:t>
            </a:r>
          </a:p>
        </p:txBody>
      </p:sp>
      <p:sp>
        <p:nvSpPr>
          <p:cNvPr id="26" name="">
            <a:extLst xmlns:a="http://schemas.openxmlformats.org/drawingml/2006/main">
              <a:ext uri="{FF2B5EF4-FFF2-40B4-BE49-F238E27FC236}">
                <a16:creationId xmlns:a16="http://schemas.microsoft.com/office/drawing/2014/main" id="{5A6C98A3-58BD-482B-BA92-AC4ADDD4EEBF}"/>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other records or partition may share the failure?</a:t>
            </a:r>
          </a:p>
        </p:txBody>
      </p:sp>
      <p:sp>
        <p:nvSpPr>
          <p:cNvPr id="27" name="">
            <a:extLst xmlns:a="http://schemas.openxmlformats.org/drawingml/2006/main">
              <a:ext uri="{FF2B5EF4-FFF2-40B4-BE49-F238E27FC236}">
                <a16:creationId xmlns:a16="http://schemas.microsoft.com/office/drawing/2014/main" id="{272AB293-D1E3-4B62-871A-59D59315E24C}"/>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Start with the user-visible disagreement, then locate the last confirmed state transition.</a:t>
            </a:r>
          </a:p>
        </p:txBody>
      </p:sp>
    </p:spTree>
    <p:extLst>
      <p:ext uri="{BB962C8B-B14F-4D97-AF65-F5344CB8AC3E}">
        <p14:creationId xmlns:p14="http://schemas.microsoft.com/office/powerpoint/2010/main" val="336127207"/>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F4D4CEB7-87E9-4DB5-B4F9-434FCBDD64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FDAB9DE-C242-4242-BAEB-A70622992CE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2C2210DB-76DA-4AF9-AEA9-C0354FAFC83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incident record locates one failed transition</a:t>
            </a:r>
          </a:p>
        </p:txBody>
      </p:sp>
      <p:sp>
        <p:nvSpPr>
          <p:cNvPr id="4" name="">
            <a:extLst xmlns:a="http://schemas.openxmlformats.org/drawingml/2006/main">
              <a:ext uri="{FF2B5EF4-FFF2-40B4-BE49-F238E27FC236}">
                <a16:creationId xmlns:a16="http://schemas.microsoft.com/office/drawing/2014/main" id="{901D7246-5642-4616-8E57-DFC497175FE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172889E-8586-48C2-8C9D-2596CAB039B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3D069619-66F0-4737-90F6-5D2C2F483167}"/>
              </a:ext>
            </a:extLst>
          </p:cNvPr>
          <p:cNvSpPr>
            <a:spLocks xmlns:a="http://schemas.openxmlformats.org/drawingml/2006/main" noGrp="1"/>
          </p:cNvSpPr>
          <p:nvPr/>
        </p:nvSpPr>
        <p:spPr>
          <a:xfrm xmlns:a="http://schemas.openxmlformats.org/drawingml/2006/main">
            <a:off x="685800" y="1714500"/>
            <a:ext cx="2000250" cy="5143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7" name="">
            <a:extLst xmlns:a="http://schemas.openxmlformats.org/drawingml/2006/main">
              <a:ext uri="{FF2B5EF4-FFF2-40B4-BE49-F238E27FC236}">
                <a16:creationId xmlns:a16="http://schemas.microsoft.com/office/drawing/2014/main" id="{F0CDB75B-C3C9-4EA8-8565-F94517CFC793}"/>
              </a:ext>
            </a:extLst>
          </p:cNvPr>
          <p:cNvSpPr>
            <a:spLocks xmlns:a="http://schemas.openxmlformats.org/drawingml/2006/main" noGrp="1"/>
          </p:cNvSpPr>
          <p:nvPr/>
        </p:nvSpPr>
        <p:spPr>
          <a:xfrm xmlns:a="http://schemas.openxmlformats.org/drawingml/2006/main">
            <a:off x="762000" y="18097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Boundary</a:t>
            </a:r>
          </a:p>
        </p:txBody>
      </p:sp>
      <p:sp>
        <p:nvSpPr>
          <p:cNvPr id="8" name="">
            <a:extLst xmlns:a="http://schemas.openxmlformats.org/drawingml/2006/main">
              <a:ext uri="{FF2B5EF4-FFF2-40B4-BE49-F238E27FC236}">
                <a16:creationId xmlns:a16="http://schemas.microsoft.com/office/drawing/2014/main" id="{B77FC426-9746-46A4-A264-A29CFB544D2E}"/>
              </a:ext>
            </a:extLst>
          </p:cNvPr>
          <p:cNvSpPr>
            <a:spLocks xmlns:a="http://schemas.openxmlformats.org/drawingml/2006/main" noGrp="1"/>
          </p:cNvSpPr>
          <p:nvPr/>
        </p:nvSpPr>
        <p:spPr>
          <a:xfrm xmlns:a="http://schemas.openxmlformats.org/drawingml/2006/main">
            <a:off x="2686050" y="1714500"/>
            <a:ext cx="33337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FE9C5D2A-BAEF-47D2-A928-DA01645F7AD4}"/>
              </a:ext>
            </a:extLst>
          </p:cNvPr>
          <p:cNvSpPr>
            <a:spLocks xmlns:a="http://schemas.openxmlformats.org/drawingml/2006/main" noGrp="1"/>
          </p:cNvSpPr>
          <p:nvPr/>
        </p:nvSpPr>
        <p:spPr>
          <a:xfrm xmlns:a="http://schemas.openxmlformats.org/drawingml/2006/main">
            <a:off x="2762250" y="18097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Observed state</a:t>
            </a:r>
          </a:p>
        </p:txBody>
      </p:sp>
      <p:sp>
        <p:nvSpPr>
          <p:cNvPr id="10" name="">
            <a:extLst xmlns:a="http://schemas.openxmlformats.org/drawingml/2006/main">
              <a:ext uri="{FF2B5EF4-FFF2-40B4-BE49-F238E27FC236}">
                <a16:creationId xmlns:a16="http://schemas.microsoft.com/office/drawing/2014/main" id="{2DB656F8-D249-4921-B554-BE6807CE6DBC}"/>
              </a:ext>
            </a:extLst>
          </p:cNvPr>
          <p:cNvSpPr>
            <a:spLocks xmlns:a="http://schemas.openxmlformats.org/drawingml/2006/main" noGrp="1"/>
          </p:cNvSpPr>
          <p:nvPr/>
        </p:nvSpPr>
        <p:spPr>
          <a:xfrm xmlns:a="http://schemas.openxmlformats.org/drawingml/2006/main">
            <a:off x="6019800" y="1714500"/>
            <a:ext cx="28575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61FFDA60-0CA0-489B-B666-A12C0471E705}"/>
              </a:ext>
            </a:extLst>
          </p:cNvPr>
          <p:cNvSpPr>
            <a:spLocks xmlns:a="http://schemas.openxmlformats.org/drawingml/2006/main" noGrp="1"/>
          </p:cNvSpPr>
          <p:nvPr/>
        </p:nvSpPr>
        <p:spPr>
          <a:xfrm xmlns:a="http://schemas.openxmlformats.org/drawingml/2006/main">
            <a:off x="6096000" y="18097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What it supports</a:t>
            </a:r>
          </a:p>
        </p:txBody>
      </p:sp>
      <p:sp>
        <p:nvSpPr>
          <p:cNvPr id="12" name="">
            <a:extLst xmlns:a="http://schemas.openxmlformats.org/drawingml/2006/main">
              <a:ext uri="{FF2B5EF4-FFF2-40B4-BE49-F238E27FC236}">
                <a16:creationId xmlns:a16="http://schemas.microsoft.com/office/drawing/2014/main" id="{17FA6662-4472-459A-9DD9-597F6DFA157D}"/>
              </a:ext>
            </a:extLst>
          </p:cNvPr>
          <p:cNvSpPr>
            <a:spLocks xmlns:a="http://schemas.openxmlformats.org/drawingml/2006/main" noGrp="1"/>
          </p:cNvSpPr>
          <p:nvPr/>
        </p:nvSpPr>
        <p:spPr>
          <a:xfrm xmlns:a="http://schemas.openxmlformats.org/drawingml/2006/main">
            <a:off x="8877300" y="1714500"/>
            <a:ext cx="26289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782547B1-8D81-4C00-AEF5-37FA74683009}"/>
              </a:ext>
            </a:extLst>
          </p:cNvPr>
          <p:cNvSpPr>
            <a:spLocks xmlns:a="http://schemas.openxmlformats.org/drawingml/2006/main" noGrp="1"/>
          </p:cNvSpPr>
          <p:nvPr/>
        </p:nvSpPr>
        <p:spPr>
          <a:xfrm xmlns:a="http://schemas.openxmlformats.org/drawingml/2006/main">
            <a:off x="8953500" y="1809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What remains unknown</a:t>
            </a:r>
          </a:p>
        </p:txBody>
      </p:sp>
      <p:sp>
        <p:nvSpPr>
          <p:cNvPr id="14" name="">
            <a:extLst xmlns:a="http://schemas.openxmlformats.org/drawingml/2006/main">
              <a:ext uri="{FF2B5EF4-FFF2-40B4-BE49-F238E27FC236}">
                <a16:creationId xmlns:a16="http://schemas.microsoft.com/office/drawing/2014/main" id="{D398C766-92B8-428D-816F-34DFA50FD65F}"/>
              </a:ext>
            </a:extLst>
          </p:cNvPr>
          <p:cNvSpPr>
            <a:spLocks xmlns:a="http://schemas.openxmlformats.org/drawingml/2006/main" noGrp="1"/>
          </p:cNvSpPr>
          <p:nvPr/>
        </p:nvSpPr>
        <p:spPr>
          <a:xfrm xmlns:a="http://schemas.openxmlformats.org/drawingml/2006/main">
            <a:off x="685800" y="2228850"/>
            <a:ext cx="2000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4C619CC5-20D6-4841-B48A-8705770D7B94}"/>
              </a:ext>
            </a:extLst>
          </p:cNvPr>
          <p:cNvSpPr>
            <a:spLocks xmlns:a="http://schemas.openxmlformats.org/drawingml/2006/main" noGrp="1"/>
          </p:cNvSpPr>
          <p:nvPr/>
        </p:nvSpPr>
        <p:spPr>
          <a:xfrm xmlns:a="http://schemas.openxmlformats.org/drawingml/2006/main">
            <a:off x="762000" y="230505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PostgreSQL</a:t>
            </a:r>
          </a:p>
        </p:txBody>
      </p:sp>
      <p:sp>
        <p:nvSpPr>
          <p:cNvPr id="16" name="">
            <a:extLst xmlns:a="http://schemas.openxmlformats.org/drawingml/2006/main">
              <a:ext uri="{FF2B5EF4-FFF2-40B4-BE49-F238E27FC236}">
                <a16:creationId xmlns:a16="http://schemas.microsoft.com/office/drawing/2014/main" id="{66A402F2-924B-443E-A628-19D9FC7DD6A7}"/>
              </a:ext>
            </a:extLst>
          </p:cNvPr>
          <p:cNvSpPr>
            <a:spLocks xmlns:a="http://schemas.openxmlformats.org/drawingml/2006/main" noGrp="1"/>
          </p:cNvSpPr>
          <p:nvPr/>
        </p:nvSpPr>
        <p:spPr>
          <a:xfrm xmlns:a="http://schemas.openxmlformats.org/drawingml/2006/main">
            <a:off x="2686050" y="2228850"/>
            <a:ext cx="3333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CD9C97D1-65FA-47D7-902C-FDED69AAC46E}"/>
              </a:ext>
            </a:extLst>
          </p:cNvPr>
          <p:cNvSpPr>
            <a:spLocks xmlns:a="http://schemas.openxmlformats.org/drawingml/2006/main" noGrp="1"/>
          </p:cNvSpPr>
          <p:nvPr/>
        </p:nvSpPr>
        <p:spPr>
          <a:xfrm xmlns:a="http://schemas.openxmlformats.org/drawingml/2006/main">
            <a:off x="2762250" y="2305050"/>
            <a:ext cx="3181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status resolved, version 17</a:t>
            </a:r>
          </a:p>
        </p:txBody>
      </p:sp>
      <p:sp>
        <p:nvSpPr>
          <p:cNvPr id="18" name="">
            <a:extLst xmlns:a="http://schemas.openxmlformats.org/drawingml/2006/main">
              <a:ext uri="{FF2B5EF4-FFF2-40B4-BE49-F238E27FC236}">
                <a16:creationId xmlns:a16="http://schemas.microsoft.com/office/drawing/2014/main" id="{9512AD16-3B1F-407D-9B75-DC9D89891B2B}"/>
              </a:ext>
            </a:extLst>
          </p:cNvPr>
          <p:cNvSpPr>
            <a:spLocks xmlns:a="http://schemas.openxmlformats.org/drawingml/2006/main" noGrp="1"/>
          </p:cNvSpPr>
          <p:nvPr/>
        </p:nvSpPr>
        <p:spPr>
          <a:xfrm xmlns:a="http://schemas.openxmlformats.org/drawingml/2006/main">
            <a:off x="6019800" y="2228850"/>
            <a:ext cx="2857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65E6BFF2-4154-408F-8234-B1BAA791A6D5}"/>
              </a:ext>
            </a:extLst>
          </p:cNvPr>
          <p:cNvSpPr>
            <a:spLocks xmlns:a="http://schemas.openxmlformats.org/drawingml/2006/main" noGrp="1"/>
          </p:cNvSpPr>
          <p:nvPr/>
        </p:nvSpPr>
        <p:spPr>
          <a:xfrm xmlns:a="http://schemas.openxmlformats.org/drawingml/2006/main">
            <a:off x="6096000" y="2305050"/>
            <a:ext cx="2705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authoritative update committed</a:t>
            </a:r>
          </a:p>
        </p:txBody>
      </p:sp>
      <p:sp>
        <p:nvSpPr>
          <p:cNvPr id="20" name="">
            <a:extLst xmlns:a="http://schemas.openxmlformats.org/drawingml/2006/main">
              <a:ext uri="{FF2B5EF4-FFF2-40B4-BE49-F238E27FC236}">
                <a16:creationId xmlns:a16="http://schemas.microsoft.com/office/drawing/2014/main" id="{531719B2-0E72-4694-BE6C-22D27F6E84C7}"/>
              </a:ext>
            </a:extLst>
          </p:cNvPr>
          <p:cNvSpPr>
            <a:spLocks xmlns:a="http://schemas.openxmlformats.org/drawingml/2006/main" noGrp="1"/>
          </p:cNvSpPr>
          <p:nvPr/>
        </p:nvSpPr>
        <p:spPr>
          <a:xfrm xmlns:a="http://schemas.openxmlformats.org/drawingml/2006/main">
            <a:off x="8877300" y="2228850"/>
            <a:ext cx="26289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089FFCBD-6F39-4C6F-BB38-5BEA849781FB}"/>
              </a:ext>
            </a:extLst>
          </p:cNvPr>
          <p:cNvSpPr>
            <a:spLocks xmlns:a="http://schemas.openxmlformats.org/drawingml/2006/main" noGrp="1"/>
          </p:cNvSpPr>
          <p:nvPr/>
        </p:nvSpPr>
        <p:spPr>
          <a:xfrm xmlns:a="http://schemas.openxmlformats.org/drawingml/2006/main">
            <a:off x="8953500" y="23050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projection received it</a:t>
            </a:r>
          </a:p>
        </p:txBody>
      </p:sp>
      <p:sp>
        <p:nvSpPr>
          <p:cNvPr id="22" name="">
            <a:extLst xmlns:a="http://schemas.openxmlformats.org/drawingml/2006/main">
              <a:ext uri="{FF2B5EF4-FFF2-40B4-BE49-F238E27FC236}">
                <a16:creationId xmlns:a16="http://schemas.microsoft.com/office/drawing/2014/main" id="{30CC352D-C47D-4510-A65B-46D12F410FC3}"/>
              </a:ext>
            </a:extLst>
          </p:cNvPr>
          <p:cNvSpPr>
            <a:spLocks xmlns:a="http://schemas.openxmlformats.org/drawingml/2006/main" noGrp="1"/>
          </p:cNvSpPr>
          <p:nvPr/>
        </p:nvSpPr>
        <p:spPr>
          <a:xfrm xmlns:a="http://schemas.openxmlformats.org/drawingml/2006/main">
            <a:off x="685800" y="3009900"/>
            <a:ext cx="20002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E95E70ED-2AEF-4A48-AD64-FE49A3081E94}"/>
              </a:ext>
            </a:extLst>
          </p:cNvPr>
          <p:cNvSpPr>
            <a:spLocks xmlns:a="http://schemas.openxmlformats.org/drawingml/2006/main" noGrp="1"/>
          </p:cNvSpPr>
          <p:nvPr/>
        </p:nvSpPr>
        <p:spPr>
          <a:xfrm xmlns:a="http://schemas.openxmlformats.org/drawingml/2006/main">
            <a:off x="762000" y="308610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Outbox</a:t>
            </a:r>
          </a:p>
        </p:txBody>
      </p:sp>
      <p:sp>
        <p:nvSpPr>
          <p:cNvPr id="24" name="">
            <a:extLst xmlns:a="http://schemas.openxmlformats.org/drawingml/2006/main">
              <a:ext uri="{FF2B5EF4-FFF2-40B4-BE49-F238E27FC236}">
                <a16:creationId xmlns:a16="http://schemas.microsoft.com/office/drawing/2014/main" id="{3CE7E48A-002F-4B68-80D3-C244F0B3027E}"/>
              </a:ext>
            </a:extLst>
          </p:cNvPr>
          <p:cNvSpPr>
            <a:spLocks xmlns:a="http://schemas.openxmlformats.org/drawingml/2006/main" noGrp="1"/>
          </p:cNvSpPr>
          <p:nvPr/>
        </p:nvSpPr>
        <p:spPr>
          <a:xfrm xmlns:a="http://schemas.openxmlformats.org/drawingml/2006/main">
            <a:off x="2686050" y="3009900"/>
            <a:ext cx="33337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E776A705-B080-4DC9-A34B-01386F32E085}"/>
              </a:ext>
            </a:extLst>
          </p:cNvPr>
          <p:cNvSpPr>
            <a:spLocks xmlns:a="http://schemas.openxmlformats.org/drawingml/2006/main" noGrp="1"/>
          </p:cNvSpPr>
          <p:nvPr/>
        </p:nvSpPr>
        <p:spPr>
          <a:xfrm xmlns:a="http://schemas.openxmlformats.org/drawingml/2006/main">
            <a:off x="2762250" y="3086100"/>
            <a:ext cx="3181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event 1008-17 published</a:t>
            </a:r>
          </a:p>
        </p:txBody>
      </p:sp>
      <p:sp>
        <p:nvSpPr>
          <p:cNvPr id="26" name="">
            <a:extLst xmlns:a="http://schemas.openxmlformats.org/drawingml/2006/main">
              <a:ext uri="{FF2B5EF4-FFF2-40B4-BE49-F238E27FC236}">
                <a16:creationId xmlns:a16="http://schemas.microsoft.com/office/drawing/2014/main" id="{F1258A05-D05B-4F9C-8042-45FBECA340CD}"/>
              </a:ext>
            </a:extLst>
          </p:cNvPr>
          <p:cNvSpPr>
            <a:spLocks xmlns:a="http://schemas.openxmlformats.org/drawingml/2006/main" noGrp="1"/>
          </p:cNvSpPr>
          <p:nvPr/>
        </p:nvSpPr>
        <p:spPr>
          <a:xfrm xmlns:a="http://schemas.openxmlformats.org/drawingml/2006/main">
            <a:off x="6019800" y="3009900"/>
            <a:ext cx="2857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DC126453-44C9-41FE-ACDE-6D51B6C02510}"/>
              </a:ext>
            </a:extLst>
          </p:cNvPr>
          <p:cNvSpPr>
            <a:spLocks xmlns:a="http://schemas.openxmlformats.org/drawingml/2006/main" noGrp="1"/>
          </p:cNvSpPr>
          <p:nvPr/>
        </p:nvSpPr>
        <p:spPr>
          <a:xfrm xmlns:a="http://schemas.openxmlformats.org/drawingml/2006/main">
            <a:off x="6096000" y="3086100"/>
            <a:ext cx="2705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event existed and relay marked publish</a:t>
            </a:r>
          </a:p>
        </p:txBody>
      </p:sp>
      <p:sp>
        <p:nvSpPr>
          <p:cNvPr id="28" name="">
            <a:extLst xmlns:a="http://schemas.openxmlformats.org/drawingml/2006/main">
              <a:ext uri="{FF2B5EF4-FFF2-40B4-BE49-F238E27FC236}">
                <a16:creationId xmlns:a16="http://schemas.microsoft.com/office/drawing/2014/main" id="{7999B07D-B624-4886-B676-A54894D2691D}"/>
              </a:ext>
            </a:extLst>
          </p:cNvPr>
          <p:cNvSpPr>
            <a:spLocks xmlns:a="http://schemas.openxmlformats.org/drawingml/2006/main" noGrp="1"/>
          </p:cNvSpPr>
          <p:nvPr/>
        </p:nvSpPr>
        <p:spPr>
          <a:xfrm xmlns:a="http://schemas.openxmlformats.org/drawingml/2006/main">
            <a:off x="8877300" y="3009900"/>
            <a:ext cx="26289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D02833A5-0E7B-4601-B0F0-4EFA127A19A4}"/>
              </a:ext>
            </a:extLst>
          </p:cNvPr>
          <p:cNvSpPr>
            <a:spLocks xmlns:a="http://schemas.openxmlformats.org/drawingml/2006/main" noGrp="1"/>
          </p:cNvSpPr>
          <p:nvPr/>
        </p:nvSpPr>
        <p:spPr>
          <a:xfrm xmlns:a="http://schemas.openxmlformats.org/drawingml/2006/main">
            <a:off x="8953500" y="30861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consumer applied it</a:t>
            </a:r>
          </a:p>
        </p:txBody>
      </p:sp>
      <p:sp>
        <p:nvSpPr>
          <p:cNvPr id="30" name="">
            <a:extLst xmlns:a="http://schemas.openxmlformats.org/drawingml/2006/main">
              <a:ext uri="{FF2B5EF4-FFF2-40B4-BE49-F238E27FC236}">
                <a16:creationId xmlns:a16="http://schemas.microsoft.com/office/drawing/2014/main" id="{FE160E02-B351-4322-B9CA-7E961F79281B}"/>
              </a:ext>
            </a:extLst>
          </p:cNvPr>
          <p:cNvSpPr>
            <a:spLocks xmlns:a="http://schemas.openxmlformats.org/drawingml/2006/main" noGrp="1"/>
          </p:cNvSpPr>
          <p:nvPr/>
        </p:nvSpPr>
        <p:spPr>
          <a:xfrm xmlns:a="http://schemas.openxmlformats.org/drawingml/2006/main">
            <a:off x="685800" y="3790950"/>
            <a:ext cx="2000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94F4E77D-3C24-4818-ACE4-AEFD84EBF94A}"/>
              </a:ext>
            </a:extLst>
          </p:cNvPr>
          <p:cNvSpPr>
            <a:spLocks xmlns:a="http://schemas.openxmlformats.org/drawingml/2006/main" noGrp="1"/>
          </p:cNvSpPr>
          <p:nvPr/>
        </p:nvSpPr>
        <p:spPr>
          <a:xfrm xmlns:a="http://schemas.openxmlformats.org/drawingml/2006/main">
            <a:off x="762000" y="386715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Consumer</a:t>
            </a:r>
          </a:p>
        </p:txBody>
      </p:sp>
      <p:sp>
        <p:nvSpPr>
          <p:cNvPr id="32" name="">
            <a:extLst xmlns:a="http://schemas.openxmlformats.org/drawingml/2006/main">
              <a:ext uri="{FF2B5EF4-FFF2-40B4-BE49-F238E27FC236}">
                <a16:creationId xmlns:a16="http://schemas.microsoft.com/office/drawing/2014/main" id="{43008FA9-0E4A-4B34-872A-E7C81979C122}"/>
              </a:ext>
            </a:extLst>
          </p:cNvPr>
          <p:cNvSpPr>
            <a:spLocks xmlns:a="http://schemas.openxmlformats.org/drawingml/2006/main" noGrp="1"/>
          </p:cNvSpPr>
          <p:nvPr/>
        </p:nvSpPr>
        <p:spPr>
          <a:xfrm xmlns:a="http://schemas.openxmlformats.org/drawingml/2006/main">
            <a:off x="2686050" y="3790950"/>
            <a:ext cx="3333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5FB7C628-2CB9-4B72-BFCB-BDE477D3D48A}"/>
              </a:ext>
            </a:extLst>
          </p:cNvPr>
          <p:cNvSpPr>
            <a:spLocks xmlns:a="http://schemas.openxmlformats.org/drawingml/2006/main" noGrp="1"/>
          </p:cNvSpPr>
          <p:nvPr/>
        </p:nvSpPr>
        <p:spPr>
          <a:xfrm xmlns:a="http://schemas.openxmlformats.org/drawingml/2006/main">
            <a:off x="2762250" y="3867150"/>
            <a:ext cx="3181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write timeout; retry worker paused</a:t>
            </a:r>
          </a:p>
        </p:txBody>
      </p:sp>
      <p:sp>
        <p:nvSpPr>
          <p:cNvPr id="34" name="">
            <a:extLst xmlns:a="http://schemas.openxmlformats.org/drawingml/2006/main">
              <a:ext uri="{FF2B5EF4-FFF2-40B4-BE49-F238E27FC236}">
                <a16:creationId xmlns:a16="http://schemas.microsoft.com/office/drawing/2014/main" id="{C2C31A4A-7487-4660-977A-A4CB2612800A}"/>
              </a:ext>
            </a:extLst>
          </p:cNvPr>
          <p:cNvSpPr>
            <a:spLocks xmlns:a="http://schemas.openxmlformats.org/drawingml/2006/main" noGrp="1"/>
          </p:cNvSpPr>
          <p:nvPr/>
        </p:nvSpPr>
        <p:spPr>
          <a:xfrm xmlns:a="http://schemas.openxmlformats.org/drawingml/2006/main">
            <a:off x="6019800" y="3790950"/>
            <a:ext cx="2857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84B5D9DA-E961-47B5-A04B-0B4A9D1D8376}"/>
              </a:ext>
            </a:extLst>
          </p:cNvPr>
          <p:cNvSpPr>
            <a:spLocks xmlns:a="http://schemas.openxmlformats.org/drawingml/2006/main" noGrp="1"/>
          </p:cNvSpPr>
          <p:nvPr/>
        </p:nvSpPr>
        <p:spPr>
          <a:xfrm xmlns:a="http://schemas.openxmlformats.org/drawingml/2006/main">
            <a:off x="6096000" y="3867150"/>
            <a:ext cx="2705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propagation stopped after receipt</a:t>
            </a:r>
          </a:p>
        </p:txBody>
      </p:sp>
      <p:sp>
        <p:nvSpPr>
          <p:cNvPr id="36" name="">
            <a:extLst xmlns:a="http://schemas.openxmlformats.org/drawingml/2006/main">
              <a:ext uri="{FF2B5EF4-FFF2-40B4-BE49-F238E27FC236}">
                <a16:creationId xmlns:a16="http://schemas.microsoft.com/office/drawing/2014/main" id="{D14B4E4D-5A42-4862-97CB-24B49447EB79}"/>
              </a:ext>
            </a:extLst>
          </p:cNvPr>
          <p:cNvSpPr>
            <a:spLocks xmlns:a="http://schemas.openxmlformats.org/drawingml/2006/main" noGrp="1"/>
          </p:cNvSpPr>
          <p:nvPr/>
        </p:nvSpPr>
        <p:spPr>
          <a:xfrm xmlns:a="http://schemas.openxmlformats.org/drawingml/2006/main">
            <a:off x="8877300" y="3790950"/>
            <a:ext cx="26289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BFDBC2B4-0837-4A05-9BA6-2A461426CB82}"/>
              </a:ext>
            </a:extLst>
          </p:cNvPr>
          <p:cNvSpPr>
            <a:spLocks xmlns:a="http://schemas.openxmlformats.org/drawingml/2006/main" noGrp="1"/>
          </p:cNvSpPr>
          <p:nvPr/>
        </p:nvSpPr>
        <p:spPr>
          <a:xfrm xmlns:a="http://schemas.openxmlformats.org/drawingml/2006/main">
            <a:off x="8953500" y="38671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only one event is affected</a:t>
            </a:r>
          </a:p>
        </p:txBody>
      </p:sp>
      <p:sp>
        <p:nvSpPr>
          <p:cNvPr id="38" name="">
            <a:extLst xmlns:a="http://schemas.openxmlformats.org/drawingml/2006/main">
              <a:ext uri="{FF2B5EF4-FFF2-40B4-BE49-F238E27FC236}">
                <a16:creationId xmlns:a16="http://schemas.microsoft.com/office/drawing/2014/main" id="{0E1CE786-49D8-46B0-89ED-4B0EE525DE99}"/>
              </a:ext>
            </a:extLst>
          </p:cNvPr>
          <p:cNvSpPr>
            <a:spLocks xmlns:a="http://schemas.openxmlformats.org/drawingml/2006/main" noGrp="1"/>
          </p:cNvSpPr>
          <p:nvPr/>
        </p:nvSpPr>
        <p:spPr>
          <a:xfrm xmlns:a="http://schemas.openxmlformats.org/drawingml/2006/main">
            <a:off x="685800" y="4572000"/>
            <a:ext cx="20002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F11FDD64-3882-4F6F-AB37-65136B3D2BEE}"/>
              </a:ext>
            </a:extLst>
          </p:cNvPr>
          <p:cNvSpPr>
            <a:spLocks xmlns:a="http://schemas.openxmlformats.org/drawingml/2006/main" noGrp="1"/>
          </p:cNvSpPr>
          <p:nvPr/>
        </p:nvSpPr>
        <p:spPr>
          <a:xfrm xmlns:a="http://schemas.openxmlformats.org/drawingml/2006/main">
            <a:off x="762000" y="464820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MongoDB</a:t>
            </a:r>
          </a:p>
        </p:txBody>
      </p:sp>
      <p:sp>
        <p:nvSpPr>
          <p:cNvPr id="40" name="">
            <a:extLst xmlns:a="http://schemas.openxmlformats.org/drawingml/2006/main">
              <a:ext uri="{FF2B5EF4-FFF2-40B4-BE49-F238E27FC236}">
                <a16:creationId xmlns:a16="http://schemas.microsoft.com/office/drawing/2014/main" id="{B4CE2EEC-984D-4AE7-8B6E-E59310C3AB71}"/>
              </a:ext>
            </a:extLst>
          </p:cNvPr>
          <p:cNvSpPr>
            <a:spLocks xmlns:a="http://schemas.openxmlformats.org/drawingml/2006/main" noGrp="1"/>
          </p:cNvSpPr>
          <p:nvPr/>
        </p:nvSpPr>
        <p:spPr>
          <a:xfrm xmlns:a="http://schemas.openxmlformats.org/drawingml/2006/main">
            <a:off x="2686050" y="4572000"/>
            <a:ext cx="33337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1C6AAE00-F463-44DB-834C-55C7E01BCFA0}"/>
              </a:ext>
            </a:extLst>
          </p:cNvPr>
          <p:cNvSpPr>
            <a:spLocks xmlns:a="http://schemas.openxmlformats.org/drawingml/2006/main" noGrp="1"/>
          </p:cNvSpPr>
          <p:nvPr/>
        </p:nvSpPr>
        <p:spPr>
          <a:xfrm xmlns:a="http://schemas.openxmlformats.org/drawingml/2006/main">
            <a:off x="2762250" y="4648200"/>
            <a:ext cx="3181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status open, version 16</a:t>
            </a:r>
          </a:p>
        </p:txBody>
      </p:sp>
      <p:sp>
        <p:nvSpPr>
          <p:cNvPr id="42" name="">
            <a:extLst xmlns:a="http://schemas.openxmlformats.org/drawingml/2006/main">
              <a:ext uri="{FF2B5EF4-FFF2-40B4-BE49-F238E27FC236}">
                <a16:creationId xmlns:a16="http://schemas.microsoft.com/office/drawing/2014/main" id="{24BE2BF9-79AB-4BE3-B68B-993FBF0BC75D}"/>
              </a:ext>
            </a:extLst>
          </p:cNvPr>
          <p:cNvSpPr>
            <a:spLocks xmlns:a="http://schemas.openxmlformats.org/drawingml/2006/main" noGrp="1"/>
          </p:cNvSpPr>
          <p:nvPr/>
        </p:nvSpPr>
        <p:spPr>
          <a:xfrm xmlns:a="http://schemas.openxmlformats.org/drawingml/2006/main">
            <a:off x="6019800" y="4572000"/>
            <a:ext cx="2857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158FEC64-3375-49EF-A43D-935C91DB0238}"/>
              </a:ext>
            </a:extLst>
          </p:cNvPr>
          <p:cNvSpPr>
            <a:spLocks xmlns:a="http://schemas.openxmlformats.org/drawingml/2006/main" noGrp="1"/>
          </p:cNvSpPr>
          <p:nvPr/>
        </p:nvSpPr>
        <p:spPr>
          <a:xfrm xmlns:a="http://schemas.openxmlformats.org/drawingml/2006/main">
            <a:off x="6096000" y="4648200"/>
            <a:ext cx="2705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projection is stale</a:t>
            </a:r>
          </a:p>
        </p:txBody>
      </p:sp>
      <p:sp>
        <p:nvSpPr>
          <p:cNvPr id="44" name="">
            <a:extLst xmlns:a="http://schemas.openxmlformats.org/drawingml/2006/main">
              <a:ext uri="{FF2B5EF4-FFF2-40B4-BE49-F238E27FC236}">
                <a16:creationId xmlns:a16="http://schemas.microsoft.com/office/drawing/2014/main" id="{2757F909-E050-4AD4-9DC1-4C0A2BA10C35}"/>
              </a:ext>
            </a:extLst>
          </p:cNvPr>
          <p:cNvSpPr>
            <a:spLocks xmlns:a="http://schemas.openxmlformats.org/drawingml/2006/main" noGrp="1"/>
          </p:cNvSpPr>
          <p:nvPr/>
        </p:nvSpPr>
        <p:spPr>
          <a:xfrm xmlns:a="http://schemas.openxmlformats.org/drawingml/2006/main">
            <a:off x="8877300" y="4572000"/>
            <a:ext cx="26289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19402971-FBE3-4AB8-93EC-897665B5848C}"/>
              </a:ext>
            </a:extLst>
          </p:cNvPr>
          <p:cNvSpPr>
            <a:spLocks xmlns:a="http://schemas.openxmlformats.org/drawingml/2006/main" noGrp="1"/>
          </p:cNvSpPr>
          <p:nvPr/>
        </p:nvSpPr>
        <p:spPr>
          <a:xfrm xmlns:a="http://schemas.openxmlformats.org/drawingml/2006/main">
            <a:off x="8953500" y="46482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manual edit is safest repair</a:t>
            </a:r>
          </a:p>
        </p:txBody>
      </p:sp>
    </p:spTree>
    <p:extLst>
      <p:ext uri="{BB962C8B-B14F-4D97-AF65-F5344CB8AC3E}">
        <p14:creationId xmlns:p14="http://schemas.microsoft.com/office/powerpoint/2010/main" val="1569148958"/>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D8575F1-62FD-406C-BAF5-52573B7194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7E2BE86-35DC-4D13-A414-209A75B98D4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9F43C3E3-5C23-4CAB-B690-5B0F549215C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Repair a stale MongoDB projection</a:t>
            </a:r>
          </a:p>
        </p:txBody>
      </p:sp>
      <p:sp>
        <p:nvSpPr>
          <p:cNvPr id="4" name="">
            <a:extLst xmlns:a="http://schemas.openxmlformats.org/drawingml/2006/main">
              <a:ext uri="{FF2B5EF4-FFF2-40B4-BE49-F238E27FC236}">
                <a16:creationId xmlns:a16="http://schemas.microsoft.com/office/drawing/2014/main" id="{5AC6DE09-D70C-466D-8386-C5A14083DA5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B0D344E-3027-43EB-B462-1C1DAD5778E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291AD330-0F55-433E-90BD-F65BD217CBB3}"/>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Triage the </a:t>
            </a:r>
            <a:r>
              <a:rPr sz="1875">
                <a:solidFill>
                  <a:srgbClr val="475569"/>
                </a:solidFill>
                <a:latin typeface="Helvetica Neue"/>
                <a:ea typeface="Helvetica Neue"/>
                <a:cs typeface="Helvetica Neue"/>
              </a:rPr>
              <a:t>incident record</a:t>
            </a:r>
            <a:r>
              <a:rPr sz="1875">
                <a:solidFill>
                  <a:srgbClr val="475569"/>
                </a:solidFill>
                <a:latin typeface="Helvetica Neue"/>
                <a:ea typeface="Helvetica Neue"/>
                <a:cs typeface="Helvetica Neue"/>
              </a:rPr>
              <a:t>, preserve authoritative ownership, and write one workplace-readable incident report.</a:t>
            </a:r>
          </a:p>
        </p:txBody>
      </p:sp>
      <p:sp>
        <p:nvSpPr>
          <p:cNvPr id="7" name="">
            <a:extLst xmlns:a="http://schemas.openxmlformats.org/drawingml/2006/main">
              <a:ext uri="{FF2B5EF4-FFF2-40B4-BE49-F238E27FC236}">
                <a16:creationId xmlns:a16="http://schemas.microsoft.com/office/drawing/2014/main" id="{79AC3E83-01EE-443C-8AA0-A1431B3CA31C}"/>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38EE6979-B48D-40E3-A5E7-F88D5F8B99B6}"/>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Build the timeline, identify the owner, and state exactly where propagation stopped.</a:t>
            </a:r>
          </a:p>
        </p:txBody>
      </p:sp>
      <p:sp>
        <p:nvSpPr>
          <p:cNvPr id="9" name="">
            <a:extLst xmlns:a="http://schemas.openxmlformats.org/drawingml/2006/main">
              <a:ext uri="{FF2B5EF4-FFF2-40B4-BE49-F238E27FC236}">
                <a16:creationId xmlns:a16="http://schemas.microsoft.com/office/drawing/2014/main" id="{D2566652-06F3-4200-8771-A00D67D73D36}"/>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3280327E-8E0E-469C-915D-FEB5A754DBE3}"/>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Recommend an idempotent replay or resume action and five checks covering record, queue, duplicate effect, lag, and broader scope.</a:t>
            </a:r>
          </a:p>
        </p:txBody>
      </p:sp>
      <p:sp>
        <p:nvSpPr>
          <p:cNvPr id="11" name="">
            <a:extLst xmlns:a="http://schemas.openxmlformats.org/drawingml/2006/main">
              <a:ext uri="{FF2B5EF4-FFF2-40B4-BE49-F238E27FC236}">
                <a16:creationId xmlns:a16="http://schemas.microsoft.com/office/drawing/2014/main" id="{29484EA7-A2A7-4ED7-9609-4300E45DECA7}"/>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EDD783CF-32A9-465A-9397-962A6B3D2445}"/>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Write a concise incident update with impact, </a:t>
            </a:r>
            <a:r>
              <a:rPr sz="1650">
                <a:solidFill>
                  <a:srgbClr val="111827"/>
                </a:solidFill>
                <a:latin typeface="Helvetica Neue"/>
                <a:ea typeface="Helvetica Neue"/>
                <a:cs typeface="Helvetica Neue"/>
              </a:rPr>
              <a:t>measurement-based</a:t>
            </a:r>
            <a:r>
              <a:rPr sz="1650">
                <a:solidFill>
                  <a:srgbClr val="111827"/>
                </a:solidFill>
                <a:latin typeface="Helvetica Neue"/>
                <a:ea typeface="Helvetica Neue"/>
                <a:cs typeface="Helvetica Neue"/>
              </a:rPr>
              <a:t> cause, mitigation, verification, limitation, and prevention.</a:t>
            </a:r>
          </a:p>
        </p:txBody>
      </p:sp>
      <p:sp>
        <p:nvSpPr>
          <p:cNvPr id="13" name="">
            <a:extLst xmlns:a="http://schemas.openxmlformats.org/drawingml/2006/main">
              <a:ext uri="{FF2B5EF4-FFF2-40B4-BE49-F238E27FC236}">
                <a16:creationId xmlns:a16="http://schemas.microsoft.com/office/drawing/2014/main" id="{AC7164A1-CB8F-4410-AD18-7ED0EB842B7D}"/>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14" name="">
            <a:extLst xmlns:a="http://schemas.openxmlformats.org/drawingml/2006/main">
              <a:ext uri="{FF2B5EF4-FFF2-40B4-BE49-F238E27FC236}">
                <a16:creationId xmlns:a16="http://schemas.microsoft.com/office/drawing/2014/main" id="{BA72B5D0-BC75-445E-82C2-4EEBB71A04C0}"/>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week_14_incident_report.md file</a:t>
            </a:r>
          </a:p>
        </p:txBody>
      </p:sp>
    </p:spTree>
    <p:extLst>
      <p:ext uri="{BB962C8B-B14F-4D97-AF65-F5344CB8AC3E}">
        <p14:creationId xmlns:p14="http://schemas.microsoft.com/office/powerpoint/2010/main" val="1568972327"/>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E75964E-4011-40D8-AF00-6B3C283DD2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59EE8F8-0935-443C-B712-8DCD14FAF46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B4DAE901-B395-4C0C-93E4-2CC530ACA75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safe repair restores the path instead of inventing truth</a:t>
            </a:r>
          </a:p>
        </p:txBody>
      </p:sp>
      <p:sp>
        <p:nvSpPr>
          <p:cNvPr id="4" name="">
            <a:extLst xmlns:a="http://schemas.openxmlformats.org/drawingml/2006/main">
              <a:ext uri="{FF2B5EF4-FFF2-40B4-BE49-F238E27FC236}">
                <a16:creationId xmlns:a16="http://schemas.microsoft.com/office/drawing/2014/main" id="{5C93E883-1417-42AD-B357-76F7F01113B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85FE560-F100-4872-84F9-8F3205D9BD7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primary-claim">
            <a:extLst xmlns:a="http://schemas.openxmlformats.org/drawingml/2006/main">
              <a:ext uri="{FF2B5EF4-FFF2-40B4-BE49-F238E27FC236}">
                <a16:creationId xmlns:a16="http://schemas.microsoft.com/office/drawing/2014/main" id="{0F08F5EB-494E-49B3-B6B8-1217E0982179}"/>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5803D"/>
                </a:solidFill>
                <a:latin typeface="Helvetica Neue"/>
                <a:ea typeface="Helvetica Neue"/>
                <a:cs typeface="Helvetica Neue"/>
              </a:defRPr>
            </a:pPr>
            <a:r>
              <a:rPr sz="2925" b="1">
                <a:solidFill>
                  <a:srgbClr val="15803D"/>
                </a:solidFill>
                <a:latin typeface="Helvetica Neue"/>
                <a:ea typeface="Helvetica Neue"/>
                <a:cs typeface="Helvetica Neue"/>
              </a:rPr>
              <a:t>Repair the consumer, replay the stable event, and let the version rule reject duplicates.</a:t>
            </a:r>
          </a:p>
        </p:txBody>
      </p:sp>
      <p:sp>
        <p:nvSpPr>
          <p:cNvPr id="7" name="">
            <a:extLst xmlns:a="http://schemas.openxmlformats.org/drawingml/2006/main">
              <a:ext uri="{FF2B5EF4-FFF2-40B4-BE49-F238E27FC236}">
                <a16:creationId xmlns:a16="http://schemas.microsoft.com/office/drawing/2014/main" id="{154B2BF9-6A8E-4146-85E0-5C43767A26EC}"/>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8" name="">
            <a:extLst xmlns:a="http://schemas.openxmlformats.org/drawingml/2006/main">
              <a:ext uri="{FF2B5EF4-FFF2-40B4-BE49-F238E27FC236}">
                <a16:creationId xmlns:a16="http://schemas.microsoft.com/office/drawing/2014/main" id="{4E376C60-631C-42EF-A0F5-8BA06511D78B}"/>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MITIGATE</a:t>
            </a:r>
          </a:p>
        </p:txBody>
      </p:sp>
      <p:sp>
        <p:nvSpPr>
          <p:cNvPr id="9" name="">
            <a:extLst xmlns:a="http://schemas.openxmlformats.org/drawingml/2006/main">
              <a:ext uri="{FF2B5EF4-FFF2-40B4-BE49-F238E27FC236}">
                <a16:creationId xmlns:a16="http://schemas.microsoft.com/office/drawing/2014/main" id="{3C974529-CFDC-4361-8BC9-61E699EFC0D8}"/>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Restore scoped consumer access and contain further stale reads if impact requires it.</a:t>
            </a:r>
          </a:p>
        </p:txBody>
      </p:sp>
      <p:sp>
        <p:nvSpPr>
          <p:cNvPr id="10" name="">
            <a:extLst xmlns:a="http://schemas.openxmlformats.org/drawingml/2006/main">
              <a:ext uri="{FF2B5EF4-FFF2-40B4-BE49-F238E27FC236}">
                <a16:creationId xmlns:a16="http://schemas.microsoft.com/office/drawing/2014/main" id="{E3C476D9-2231-4DA4-BCED-926BEA16C1EA}"/>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716AD621-8138-4A58-9FA4-253C099561E9}"/>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REPLAY</a:t>
            </a:r>
          </a:p>
        </p:txBody>
      </p:sp>
      <p:sp>
        <p:nvSpPr>
          <p:cNvPr id="12" name="">
            <a:extLst xmlns:a="http://schemas.openxmlformats.org/drawingml/2006/main">
              <a:ext uri="{FF2B5EF4-FFF2-40B4-BE49-F238E27FC236}">
                <a16:creationId xmlns:a16="http://schemas.microsoft.com/office/drawing/2014/main" id="{B0582EDE-0C25-485A-9A60-0E9FEE2FF56F}"/>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Resume from the recorded event or checkpoint through the normal idempotent handler.</a:t>
            </a:r>
          </a:p>
        </p:txBody>
      </p:sp>
      <p:sp>
        <p:nvSpPr>
          <p:cNvPr id="13" name="">
            <a:extLst xmlns:a="http://schemas.openxmlformats.org/drawingml/2006/main">
              <a:ext uri="{FF2B5EF4-FFF2-40B4-BE49-F238E27FC236}">
                <a16:creationId xmlns:a16="http://schemas.microsoft.com/office/drawing/2014/main" id="{76D8FB10-E8F7-4AD0-92EF-8D2DC0D08A0F}"/>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06210C33-A5EE-4BA3-B39D-BD3534F5CD85}"/>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VERIFY</a:t>
            </a:r>
          </a:p>
        </p:txBody>
      </p:sp>
      <p:sp>
        <p:nvSpPr>
          <p:cNvPr id="15" name="">
            <a:extLst xmlns:a="http://schemas.openxmlformats.org/drawingml/2006/main">
              <a:ext uri="{FF2B5EF4-FFF2-40B4-BE49-F238E27FC236}">
                <a16:creationId xmlns:a16="http://schemas.microsoft.com/office/drawing/2014/main" id="{71998880-98ED-4F0E-8600-52A08ADDA57F}"/>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Confirm version 17, queue health, no duplicate effect, normal lag, and affected partition.</a:t>
            </a:r>
          </a:p>
        </p:txBody>
      </p:sp>
    </p:spTree>
    <p:extLst>
      <p:ext uri="{BB962C8B-B14F-4D97-AF65-F5344CB8AC3E}">
        <p14:creationId xmlns:p14="http://schemas.microsoft.com/office/powerpoint/2010/main" val="1470708398"/>
      </p:ext>
    </p:extLst>
  </p:cSld>
</p:sld>
</file>

<file path=ppt/slides/slide9.xml><?xml version="1.0" encoding="utf-8"?>
<p:sld xmlns:p="http://schemas.openxmlformats.org/presentationml/2006/main">
  <p:cSld>
    <p:bg>
      <p:bgPr>
        <a:solidFill xmlns:a="http://schemas.openxmlformats.org/drawingml/2006/main">
          <a:srgbClr val="15803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60BBB2-F7E1-4D41-8014-A7756561DF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2" name="">
            <a:extLst xmlns:a="http://schemas.openxmlformats.org/drawingml/2006/main">
              <a:ext uri="{FF2B5EF4-FFF2-40B4-BE49-F238E27FC236}">
                <a16:creationId xmlns:a16="http://schemas.microsoft.com/office/drawing/2014/main" id="{38CE128E-AEF5-4DAF-B2DA-C24766FCBFBF}"/>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0FA7CDFA-45B0-44A1-B0DD-C4151EFCF78E}"/>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The final project should remain understandable if a live demo fails</a:t>
            </a:r>
          </a:p>
        </p:txBody>
      </p:sp>
      <p:sp>
        <p:nvSpPr>
          <p:cNvPr id="4" name="">
            <a:extLst xmlns:a="http://schemas.openxmlformats.org/drawingml/2006/main">
              <a:ext uri="{FF2B5EF4-FFF2-40B4-BE49-F238E27FC236}">
                <a16:creationId xmlns:a16="http://schemas.microsoft.com/office/drawing/2014/main" id="{D2E09FC6-2C6E-4EC8-A6AD-49C6051BAA3F}"/>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A prepared, redacted fallback keeps the system understandable when live access fails.</a:t>
            </a:r>
          </a:p>
        </p:txBody>
      </p:sp>
      <p:sp>
        <p:nvSpPr>
          <p:cNvPr id="5" name="">
            <a:extLst xmlns:a="http://schemas.openxmlformats.org/drawingml/2006/main">
              <a:ext uri="{FF2B5EF4-FFF2-40B4-BE49-F238E27FC236}">
                <a16:creationId xmlns:a16="http://schemas.microsoft.com/office/drawing/2014/main" id="{B5CD8525-FD7F-490B-9522-9A1EE72E325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9</a:t>
            </a:r>
          </a:p>
        </p:txBody>
      </p:sp>
    </p:spTree>
    <p:extLst>
      <p:ext uri="{BB962C8B-B14F-4D97-AF65-F5344CB8AC3E}">
        <p14:creationId xmlns:p14="http://schemas.microsoft.com/office/powerpoint/2010/main" val="714136897"/>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0E13F63-A22D-4E7B-A90F-A07ED2A7B9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B69F00D2-DDCF-4C76-9130-56503CCDAF7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5B407A49-B49A-45A1-B029-F1486B639A2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Audit the project through one complete operating story</a:t>
            </a:r>
          </a:p>
        </p:txBody>
      </p:sp>
      <p:sp>
        <p:nvSpPr>
          <p:cNvPr id="4" name="">
            <a:extLst xmlns:a="http://schemas.openxmlformats.org/drawingml/2006/main">
              <a:ext uri="{FF2B5EF4-FFF2-40B4-BE49-F238E27FC236}">
                <a16:creationId xmlns:a16="http://schemas.microsoft.com/office/drawing/2014/main" id="{C0BF9B4A-ECA3-49EB-8671-70773B09E81F}"/>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65BA00B-A8CD-45C6-9B2B-031FB24D31B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C0835C26-3A82-4F12-AD32-12079A11CA4F}"/>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15803D"/>
          </a:solidFill>
          <a:ln xmlns:a="http://schemas.openxmlformats.org/drawingml/2006/main" w="19050">
            <a:solidFill>
              <a:srgbClr val="15803D"/>
            </a:solidFill>
            <a:prstDash val="solid"/>
          </a:ln>
        </p:spPr>
      </p:sp>
      <p:sp>
        <p:nvSpPr>
          <p:cNvPr id="7" name="">
            <a:extLst xmlns:a="http://schemas.openxmlformats.org/drawingml/2006/main">
              <a:ext uri="{FF2B5EF4-FFF2-40B4-BE49-F238E27FC236}">
                <a16:creationId xmlns:a16="http://schemas.microsoft.com/office/drawing/2014/main" id="{55CE928A-15A6-4C8D-BB62-20F27FAA282C}"/>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E73F625A-9520-4DEF-A6A4-5517524054BC}"/>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Model: one record's grain, identity, relationship, and integrity rule are visible.</a:t>
            </a:r>
          </a:p>
        </p:txBody>
      </p:sp>
      <p:sp>
        <p:nvSpPr>
          <p:cNvPr id="9" name="">
            <a:extLst xmlns:a="http://schemas.openxmlformats.org/drawingml/2006/main">
              <a:ext uri="{FF2B5EF4-FFF2-40B4-BE49-F238E27FC236}">
                <a16:creationId xmlns:a16="http://schemas.microsoft.com/office/drawing/2014/main" id="{F43709B8-6AC0-41B8-96CC-F966F4EE3ADD}"/>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847A5F5F-573A-493A-903A-1D057F0F64E7}"/>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1" name="">
            <a:extLst xmlns:a="http://schemas.openxmlformats.org/drawingml/2006/main">
              <a:ext uri="{FF2B5EF4-FFF2-40B4-BE49-F238E27FC236}">
                <a16:creationId xmlns:a16="http://schemas.microsoft.com/office/drawing/2014/main" id="{00AD077A-5253-4AC8-9034-81EA449A09B7}"/>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A9FE20AC-AE79-428B-90AF-5304D52696E5}"/>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Workload: one meaningful read and write have expected and observed </a:t>
            </a:r>
            <a:r>
              <a:rPr sz="1725">
                <a:solidFill>
                  <a:srgbClr val="111827"/>
                </a:solidFill>
                <a:latin typeface="Helvetica Neue"/>
                <a:ea typeface="Helvetica Neue"/>
                <a:cs typeface="Helvetica Neue"/>
              </a:rPr>
              <a:t>results</a:t>
            </a:r>
            <a:r>
              <a:rPr sz="1725">
                <a:solidFill>
                  <a:srgbClr val="111827"/>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87D17457-D5FA-4619-B2AB-0A9F8B3F87FE}"/>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AE55FDE5-0EDC-4E6F-B88A-F34C5109ADB9}"/>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5" name="">
            <a:extLst xmlns:a="http://schemas.openxmlformats.org/drawingml/2006/main">
              <a:ext uri="{FF2B5EF4-FFF2-40B4-BE49-F238E27FC236}">
                <a16:creationId xmlns:a16="http://schemas.microsoft.com/office/drawing/2014/main" id="{14058CA3-C0C0-4AC8-B078-146616C9AD54}"/>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894918B3-55FD-42AA-9685-6F2655285F28}"/>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Protection: one unauthorized or invalid action is refused under the intended identity or rule.</a:t>
            </a:r>
          </a:p>
        </p:txBody>
      </p:sp>
      <p:sp>
        <p:nvSpPr>
          <p:cNvPr id="17" name="">
            <a:extLst xmlns:a="http://schemas.openxmlformats.org/drawingml/2006/main">
              <a:ext uri="{FF2B5EF4-FFF2-40B4-BE49-F238E27FC236}">
                <a16:creationId xmlns:a16="http://schemas.microsoft.com/office/drawing/2014/main" id="{9DE260CC-BF4F-4363-988D-DA59F6F31839}"/>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5046B6DF-0BF5-4345-90DE-67638B4EEC5F}"/>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9" name="">
            <a:extLst xmlns:a="http://schemas.openxmlformats.org/drawingml/2006/main">
              <a:ext uri="{FF2B5EF4-FFF2-40B4-BE49-F238E27FC236}">
                <a16:creationId xmlns:a16="http://schemas.microsoft.com/office/drawing/2014/main" id="{CDCEA5E1-353E-459E-B091-A50091A38FD7}"/>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8D3A373A-FD7F-4C0D-8878-157B5BA16835}"/>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Operations: one performance or recovery claim includes mechanism, verification, and limitation.</a:t>
            </a:r>
          </a:p>
        </p:txBody>
      </p:sp>
      <p:sp>
        <p:nvSpPr>
          <p:cNvPr id="21" name="">
            <a:extLst xmlns:a="http://schemas.openxmlformats.org/drawingml/2006/main">
              <a:ext uri="{FF2B5EF4-FFF2-40B4-BE49-F238E27FC236}">
                <a16:creationId xmlns:a16="http://schemas.microsoft.com/office/drawing/2014/main" id="{9E51D94C-24EE-4AF6-8BAB-3B93144EA1A4}"/>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1007563905"/>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788B7FD-888E-4FB5-978C-92E03C3691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DCBC061-D2E2-47CF-9384-806CE786B9F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CE166579-3EEC-404E-B699-404A6DAD175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Final project clinic: Finish the </a:t>
            </a:r>
            <a:r>
              <a:rPr sz="2850" b="1">
                <a:solidFill>
                  <a:srgbClr val="111827"/>
                </a:solidFill>
                <a:latin typeface="Helvetica Neue"/>
                <a:ea typeface="Helvetica Neue"/>
                <a:cs typeface="Helvetica Neue"/>
              </a:rPr>
              <a:t>highest-risk project gap</a:t>
            </a:r>
          </a:p>
        </p:txBody>
      </p:sp>
      <p:sp>
        <p:nvSpPr>
          <p:cNvPr id="4" name="">
            <a:extLst xmlns:a="http://schemas.openxmlformats.org/drawingml/2006/main">
              <a:ext uri="{FF2B5EF4-FFF2-40B4-BE49-F238E27FC236}">
                <a16:creationId xmlns:a16="http://schemas.microsoft.com/office/drawing/2014/main" id="{C16A292C-63DF-4DE1-806F-15140379A0E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12E98CA-D882-422F-BF26-CBD887143DE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19F97615-DD50-4C42-BC78-EABFD9B1BE88}"/>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Use the canonical final-project page and rubric; do not create a separate Week 14 project submission.</a:t>
            </a:r>
          </a:p>
        </p:txBody>
      </p:sp>
      <p:sp>
        <p:nvSpPr>
          <p:cNvPr id="7" name="">
            <a:extLst xmlns:a="http://schemas.openxmlformats.org/drawingml/2006/main">
              <a:ext uri="{FF2B5EF4-FFF2-40B4-BE49-F238E27FC236}">
                <a16:creationId xmlns:a16="http://schemas.microsoft.com/office/drawing/2014/main" id="{73AF326E-AC3A-4302-B095-929C46C2CDF4}"/>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CB4696F8-5A4C-49CF-97BF-3F1C8B96E84B}"/>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Audit model, workload, access, performance, recovery, and reproducibility </a:t>
            </a:r>
            <a:r>
              <a:rPr sz="1650">
                <a:solidFill>
                  <a:srgbClr val="111827"/>
                </a:solidFill>
                <a:latin typeface="Helvetica Neue"/>
                <a:ea typeface="Helvetica Neue"/>
                <a:cs typeface="Helvetica Neue"/>
              </a:rPr>
              <a:t>results</a:t>
            </a:r>
            <a:r>
              <a:rPr sz="1650">
                <a:solidFill>
                  <a:srgbClr val="111827"/>
                </a:solidFill>
                <a:latin typeface="Helvetica Neue"/>
                <a:ea typeface="Helvetica Neue"/>
                <a:cs typeface="Helvetica Neue"/>
              </a:rPr>
              <a:t> against the canonical rubric.</a:t>
            </a:r>
          </a:p>
        </p:txBody>
      </p:sp>
      <p:sp>
        <p:nvSpPr>
          <p:cNvPr id="9" name="">
            <a:extLst xmlns:a="http://schemas.openxmlformats.org/drawingml/2006/main">
              <a:ext uri="{FF2B5EF4-FFF2-40B4-BE49-F238E27FC236}">
                <a16:creationId xmlns:a16="http://schemas.microsoft.com/office/drawing/2014/main" id="{B0554180-BB7A-4C0F-87C7-68AD21B15EE8}"/>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A76581E8-F736-4393-B1F8-59B661679E09}"/>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Choose the one missing or weak claim that creates the greatest grading or demonstration risk.</a:t>
            </a:r>
          </a:p>
        </p:txBody>
      </p:sp>
      <p:sp>
        <p:nvSpPr>
          <p:cNvPr id="11" name="">
            <a:extLst xmlns:a="http://schemas.openxmlformats.org/drawingml/2006/main">
              <a:ext uri="{FF2B5EF4-FFF2-40B4-BE49-F238E27FC236}">
                <a16:creationId xmlns:a16="http://schemas.microsoft.com/office/drawing/2014/main" id="{1FE84012-0EE8-4AD1-8E71-43EEBC5153FE}"/>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1C8BEFD2-37D2-4804-98C0-AD224183EAD8}"/>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Complete and redact that </a:t>
            </a:r>
            <a:r>
              <a:rPr sz="1650">
                <a:solidFill>
                  <a:srgbClr val="111827"/>
                </a:solidFill>
                <a:latin typeface="Helvetica Neue"/>
                <a:ea typeface="Helvetica Neue"/>
                <a:cs typeface="Helvetica Neue"/>
              </a:rPr>
              <a:t>results</a:t>
            </a:r>
            <a:r>
              <a:rPr sz="1650">
                <a:solidFill>
                  <a:srgbClr val="111827"/>
                </a:solidFill>
                <a:latin typeface="Helvetica Neue"/>
                <a:ea typeface="Helvetica Neue"/>
                <a:cs typeface="Helvetica Neue"/>
              </a:rPr>
              <a:t> inside the existing project package, then prepare a non-live fallback.</a:t>
            </a:r>
          </a:p>
        </p:txBody>
      </p:sp>
      <p:sp>
        <p:nvSpPr>
          <p:cNvPr id="13" name="">
            <a:extLst xmlns:a="http://schemas.openxmlformats.org/drawingml/2006/main">
              <a:ext uri="{FF2B5EF4-FFF2-40B4-BE49-F238E27FC236}">
                <a16:creationId xmlns:a16="http://schemas.microsoft.com/office/drawing/2014/main" id="{22AE8637-4236-44FF-B68F-CF9A88E8FFA4}"/>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14" name="">
            <a:extLst xmlns:a="http://schemas.openxmlformats.org/drawingml/2006/main">
              <a:ext uri="{FF2B5EF4-FFF2-40B4-BE49-F238E27FC236}">
                <a16:creationId xmlns:a16="http://schemas.microsoft.com/office/drawing/2014/main" id="{D0920B93-A46A-4167-9B34-146BA62BE1C8}"/>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no separate Week 14 artifact; update the existing final-project package</a:t>
            </a:r>
          </a:p>
        </p:txBody>
      </p:sp>
    </p:spTree>
    <p:extLst>
      <p:ext uri="{BB962C8B-B14F-4D97-AF65-F5344CB8AC3E}">
        <p14:creationId xmlns:p14="http://schemas.microsoft.com/office/powerpoint/2010/main" val="1819530741"/>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1330E26-0D2E-47E1-842F-12F561B94823}"/>
              </a:ext>
            </a:extLst>
          </p:cNvPr>
          <p:cNvSpPr>
            <a:spLocks xmlns:a="http://schemas.openxmlformats.org/drawingml/2006/main" noGrp="1"/>
          </p:cNvSpPr>
          <p:nvPr/>
        </p:nvSpPr>
        <p:spPr>
          <a:xfrm xmlns:a="http://schemas.openxmlformats.org/drawingml/2006/main">
            <a:off x="552450" y="400050"/>
            <a:ext cx="13144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POLYGLOT PATH</a:t>
            </a:r>
          </a:p>
        </p:txBody>
      </p:sp>
      <p:sp>
        <p:nvSpPr>
          <p:cNvPr id="2" name="">
            <a:extLst xmlns:a="http://schemas.openxmlformats.org/drawingml/2006/main">
              <a:ext uri="{FF2B5EF4-FFF2-40B4-BE49-F238E27FC236}">
                <a16:creationId xmlns:a16="http://schemas.microsoft.com/office/drawing/2014/main" id="{14C1718B-B89C-46DF-A112-55953025A440}"/>
              </a:ext>
            </a:extLst>
          </p:cNvPr>
          <p:cNvSpPr>
            <a:spLocks xmlns:a="http://schemas.openxmlformats.org/drawingml/2006/main" noGrp="1"/>
          </p:cNvSpPr>
          <p:nvPr/>
        </p:nvSpPr>
        <p:spPr>
          <a:xfrm xmlns:a="http://schemas.openxmlformats.org/drawingml/2006/main">
            <a:off x="552450" y="91440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652"/>
          </a:bodyPr>
          <a:lstStyle xmlns:a="http://schemas.openxmlformats.org/drawingml/2006/main"/>
          <a:p xmlns:a="http://schemas.openxmlformats.org/drawingml/2006/main">
            <a:pPr>
              <a:lnSpc>
                <a:spcPct val="95000"/>
              </a:lnSpc>
              <a:buNone/>
              <a:defRPr sz="3075" b="1">
                <a:solidFill>
                  <a:srgbClr val="14213D"/>
                </a:solidFill>
                <a:latin typeface="Georgia"/>
                <a:ea typeface="Georgia"/>
                <a:cs typeface="Georgia"/>
              </a:defRPr>
            </a:pPr>
            <a:r>
              <a:rPr sz="3075" b="1">
                <a:solidFill>
                  <a:srgbClr val="14213D"/>
                </a:solidFill>
                <a:latin typeface="Georgia"/>
                <a:ea typeface="Georgia"/>
                <a:cs typeface="Georgia"/>
              </a:rPr>
              <a:t>The outbox separates atomic commit from retryable delivery</a:t>
            </a:r>
          </a:p>
        </p:txBody>
      </p:sp>
      <p:sp>
        <p:nvSpPr>
          <p:cNvPr id="3" name="">
            <a:extLst xmlns:a="http://schemas.openxmlformats.org/drawingml/2006/main">
              <a:ext uri="{FF2B5EF4-FFF2-40B4-BE49-F238E27FC236}">
                <a16:creationId xmlns:a16="http://schemas.microsoft.com/office/drawing/2014/main" id="{2E7A9D67-3F23-49B1-A325-6168727B14C3}"/>
              </a:ext>
            </a:extLst>
          </p:cNvPr>
          <p:cNvSpPr>
            <a:spLocks xmlns:a="http://schemas.openxmlformats.org/drawingml/2006/main" noGrp="1"/>
          </p:cNvSpPr>
          <p:nvPr/>
        </p:nvSpPr>
        <p:spPr>
          <a:xfrm xmlns:a="http://schemas.openxmlformats.org/drawingml/2006/main">
            <a:off x="10477500" y="63341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WEEK 14</a:t>
            </a:r>
          </a:p>
        </p:txBody>
      </p:sp>
      <p:sp>
        <p:nvSpPr>
          <p:cNvPr id="4" name="">
            <a:extLst xmlns:a="http://schemas.openxmlformats.org/drawingml/2006/main">
              <a:ext uri="{FF2B5EF4-FFF2-40B4-BE49-F238E27FC236}">
                <a16:creationId xmlns:a16="http://schemas.microsoft.com/office/drawing/2014/main" id="{45A6992D-DDEC-476D-9189-32842CAE7BC2}"/>
              </a:ext>
            </a:extLst>
          </p:cNvPr>
          <p:cNvSpPr>
            <a:spLocks xmlns:a="http://schemas.openxmlformats.org/drawingml/2006/main" noGrp="1"/>
          </p:cNvSpPr>
          <p:nvPr/>
        </p:nvSpPr>
        <p:spPr>
          <a:xfrm xmlns:a="http://schemas.openxmlformats.org/drawingml/2006/main">
            <a:off x="428625" y="2714625"/>
            <a:ext cx="1905000" cy="952500"/>
          </a:xfrm>
          <a:prstGeom xmlns:a="http://schemas.openxmlformats.org/drawingml/2006/main" prst="roundRect">
            <a:avLst>
              <a:gd name="adj" fmla="val 16000"/>
            </a:avLst>
          </a:prstGeom>
          <a:solidFill xmlns:a="http://schemas.openxmlformats.org/drawingml/2006/main">
            <a:srgbClr val="DCEBFF"/>
          </a:solidFill>
          <a:ln xmlns:a="http://schemas.openxmlformats.org/drawingml/2006/main" w="19050">
            <a:solidFill>
              <a:srgbClr val="0B5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application</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command</a:t>
            </a:r>
          </a:p>
        </p:txBody>
      </p:sp>
      <p:sp>
        <p:nvSpPr>
          <p:cNvPr id="5" name="">
            <a:extLst xmlns:a="http://schemas.openxmlformats.org/drawingml/2006/main">
              <a:ext uri="{FF2B5EF4-FFF2-40B4-BE49-F238E27FC236}">
                <a16:creationId xmlns:a16="http://schemas.microsoft.com/office/drawing/2014/main" id="{D422FAAC-0909-4050-AAC8-C57B6CC4104C}"/>
              </a:ext>
            </a:extLst>
          </p:cNvPr>
          <p:cNvSpPr>
            <a:spLocks xmlns:a="http://schemas.openxmlformats.org/drawingml/2006/main" noGrp="1"/>
          </p:cNvSpPr>
          <p:nvPr/>
        </p:nvSpPr>
        <p:spPr>
          <a:xfrm xmlns:a="http://schemas.openxmlformats.org/drawingml/2006/main">
            <a:off x="3238500" y="2428875"/>
            <a:ext cx="3143250" cy="1524000"/>
          </a:xfrm>
          <a:prstGeom xmlns:a="http://schemas.openxmlformats.org/drawingml/2006/main" prst="roundRect">
            <a:avLst>
              <a:gd name="adj" fmla="val 10000"/>
            </a:avLst>
          </a:prstGeom>
          <a:solidFill xmlns:a="http://schemas.openxmlformats.org/drawingml/2006/main">
            <a:srgbClr val="DDF3EE"/>
          </a:solidFill>
          <a:ln xmlns:a="http://schemas.openxmlformats.org/drawingml/2006/main" w="19050">
            <a:solidFill>
              <a:srgbClr val="007C77"/>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one PostgreSQL transaction</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1. business row</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2. outbox event</a:t>
            </a:r>
          </a:p>
        </p:txBody>
      </p:sp>
      <p:sp>
        <p:nvSpPr>
          <p:cNvPr id="6" name="">
            <a:extLst xmlns:a="http://schemas.openxmlformats.org/drawingml/2006/main">
              <a:ext uri="{FF2B5EF4-FFF2-40B4-BE49-F238E27FC236}">
                <a16:creationId xmlns:a16="http://schemas.microsoft.com/office/drawing/2014/main" id="{58B13E1A-4DBF-45A8-865A-CC7593334FC5}"/>
              </a:ext>
            </a:extLst>
          </p:cNvPr>
          <p:cNvSpPr>
            <a:spLocks xmlns:a="http://schemas.openxmlformats.org/drawingml/2006/main" noGrp="1"/>
          </p:cNvSpPr>
          <p:nvPr/>
        </p:nvSpPr>
        <p:spPr>
          <a:xfrm xmlns:a="http://schemas.openxmlformats.org/drawingml/2006/main">
            <a:off x="7239000" y="2714625"/>
            <a:ext cx="2190750" cy="952500"/>
          </a:xfrm>
          <a:prstGeom xmlns:a="http://schemas.openxmlformats.org/drawingml/2006/main" prst="roundRect">
            <a:avLst>
              <a:gd name="adj" fmla="val 16000"/>
            </a:avLst>
          </a:prstGeom>
          <a:solidFill xmlns:a="http://schemas.openxmlformats.org/drawingml/2006/main">
            <a:srgbClr val="FCE7D2"/>
          </a:solidFill>
          <a:ln xmlns:a="http://schemas.openxmlformats.org/drawingml/2006/main" w="19050">
            <a:solidFill>
              <a:srgbClr val="D95D39"/>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relay / worker</a:t>
            </a:r>
          </a:p>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retries delivery</a:t>
            </a:r>
          </a:p>
        </p:txBody>
      </p:sp>
      <p:sp>
        <p:nvSpPr>
          <p:cNvPr id="7" name="">
            <a:extLst xmlns:a="http://schemas.openxmlformats.org/drawingml/2006/main">
              <a:ext uri="{FF2B5EF4-FFF2-40B4-BE49-F238E27FC236}">
                <a16:creationId xmlns:a16="http://schemas.microsoft.com/office/drawing/2014/main" id="{F3B4028B-A022-4D44-9891-288D05996D3C}"/>
              </a:ext>
            </a:extLst>
          </p:cNvPr>
          <p:cNvSpPr>
            <a:spLocks xmlns:a="http://schemas.openxmlformats.org/drawingml/2006/main" noGrp="1"/>
          </p:cNvSpPr>
          <p:nvPr/>
        </p:nvSpPr>
        <p:spPr>
          <a:xfrm xmlns:a="http://schemas.openxmlformats.org/drawingml/2006/main">
            <a:off x="10001250" y="2000250"/>
            <a:ext cx="1809750" cy="952500"/>
          </a:xfrm>
          <a:prstGeom xmlns:a="http://schemas.openxmlformats.org/drawingml/2006/main" prst="roundRect">
            <a:avLst>
              <a:gd name="adj" fmla="val 16000"/>
            </a:avLst>
          </a:prstGeom>
          <a:solidFill xmlns:a="http://schemas.openxmlformats.org/drawingml/2006/main">
            <a:srgbClr val="DCEBFF"/>
          </a:solidFill>
          <a:ln xmlns:a="http://schemas.openxmlformats.org/drawingml/2006/main" w="19050">
            <a:solidFill>
              <a:srgbClr val="0B5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275" b="1">
                <a:solidFill>
                  <a:srgbClr val="14213D"/>
                </a:solidFill>
                <a:latin typeface="Avenir Next"/>
                <a:ea typeface="Avenir Next"/>
                <a:cs typeface="Avenir Next"/>
              </a:defRPr>
            </a:pPr>
            <a:r>
              <a:rPr sz="1275" b="1">
                <a:solidFill>
                  <a:srgbClr val="14213D"/>
                </a:solidFill>
                <a:latin typeface="Avenir Next"/>
                <a:ea typeface="Avenir Next"/>
                <a:cs typeface="Avenir Next"/>
              </a:rPr>
              <a:t>MongoDB read model</a:t>
            </a:r>
          </a:p>
          <a:p xmlns:a="http://schemas.openxmlformats.org/drawingml/2006/main">
            <a:pPr algn="ctr">
              <a:buNone/>
              <a:defRPr sz="1275" b="1">
                <a:solidFill>
                  <a:srgbClr val="14213D"/>
                </a:solidFill>
                <a:latin typeface="Avenir Next"/>
                <a:ea typeface="Avenir Next"/>
                <a:cs typeface="Avenir Next"/>
              </a:defRPr>
            </a:pPr>
            <a:r>
              <a:rPr sz="1275" b="1">
                <a:solidFill>
                  <a:srgbClr val="14213D"/>
                </a:solidFill>
                <a:latin typeface="Avenir Next"/>
                <a:ea typeface="Avenir Next"/>
                <a:cs typeface="Avenir Next"/>
              </a:rPr>
              <a:t>idempotent upsert</a:t>
            </a:r>
          </a:p>
        </p:txBody>
      </p:sp>
      <p:sp>
        <p:nvSpPr>
          <p:cNvPr id="8" name="">
            <a:extLst xmlns:a="http://schemas.openxmlformats.org/drawingml/2006/main">
              <a:ext uri="{FF2B5EF4-FFF2-40B4-BE49-F238E27FC236}">
                <a16:creationId xmlns:a16="http://schemas.microsoft.com/office/drawing/2014/main" id="{69B9FB82-42F0-4C14-B3D7-B7DA95834C83}"/>
              </a:ext>
            </a:extLst>
          </p:cNvPr>
          <p:cNvSpPr>
            <a:spLocks xmlns:a="http://schemas.openxmlformats.org/drawingml/2006/main" noGrp="1"/>
          </p:cNvSpPr>
          <p:nvPr/>
        </p:nvSpPr>
        <p:spPr>
          <a:xfrm xmlns:a="http://schemas.openxmlformats.org/drawingml/2006/main">
            <a:off x="10001250" y="4095750"/>
            <a:ext cx="1809750" cy="952500"/>
          </a:xfrm>
          <a:prstGeom xmlns:a="http://schemas.openxmlformats.org/drawingml/2006/main" prst="roundRect">
            <a:avLst>
              <a:gd name="adj" fmla="val 16000"/>
            </a:avLst>
          </a:prstGeom>
          <a:solidFill xmlns:a="http://schemas.openxmlformats.org/drawingml/2006/main">
            <a:srgbClr val="E9E4F5"/>
          </a:solidFill>
          <a:ln xmlns:a="http://schemas.openxmlformats.org/drawingml/2006/main" w="19050">
            <a:solidFill>
              <a:srgbClr val="007C77"/>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275" b="1">
                <a:solidFill>
                  <a:srgbClr val="14213D"/>
                </a:solidFill>
                <a:latin typeface="Avenir Next"/>
                <a:ea typeface="Avenir Next"/>
                <a:cs typeface="Avenir Next"/>
              </a:defRPr>
            </a:pPr>
            <a:r>
              <a:rPr sz="1275" b="1">
                <a:solidFill>
                  <a:srgbClr val="14213D"/>
                </a:solidFill>
                <a:latin typeface="Avenir Next"/>
                <a:ea typeface="Avenir Next"/>
                <a:cs typeface="Avenir Next"/>
              </a:rPr>
              <a:t>delivery state</a:t>
            </a:r>
          </a:p>
          <a:p xmlns:a="http://schemas.openxmlformats.org/drawingml/2006/main">
            <a:pPr algn="ctr">
              <a:buNone/>
              <a:defRPr sz="1275" b="1">
                <a:solidFill>
                  <a:srgbClr val="14213D"/>
                </a:solidFill>
                <a:latin typeface="Avenir Next"/>
                <a:ea typeface="Avenir Next"/>
                <a:cs typeface="Avenir Next"/>
              </a:defRPr>
            </a:pPr>
            <a:r>
              <a:rPr sz="1275" b="1">
                <a:solidFill>
                  <a:srgbClr val="14213D"/>
                </a:solidFill>
                <a:latin typeface="Avenir Next"/>
                <a:ea typeface="Avenir Next"/>
                <a:cs typeface="Avenir Next"/>
              </a:rPr>
              <a:t>event id + status</a:t>
            </a:r>
          </a:p>
        </p:txBody>
      </p:sp>
      <p:cxnSp>
        <p:nvCxnSpPr>
          <p:cNvPr id="109" name=""/>
          <p:cNvCxnSpPr>
            <a:stCxn xmlns:a="http://schemas.openxmlformats.org/drawingml/2006/main" id="4" idx="3"/>
            <a:endCxn xmlns:a="http://schemas.openxmlformats.org/drawingml/2006/main" id="5" idx="1"/>
          </p:cNvCxnSpPr>
          <p:nvPr/>
        </p:nvCxnSpPr>
        <p:spPr>
          <a:xfrm xmlns:a="http://schemas.openxmlformats.org/drawingml/2006/main">
            <a:off x="2333625" y="3190875"/>
            <a:ext cx="904875"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10" name=""/>
          <p:cNvCxnSpPr>
            <a:stCxn xmlns:a="http://schemas.openxmlformats.org/drawingml/2006/main" id="5" idx="3"/>
            <a:endCxn xmlns:a="http://schemas.openxmlformats.org/drawingml/2006/main" id="6" idx="1"/>
          </p:cNvCxnSpPr>
          <p:nvPr/>
        </p:nvCxnSpPr>
        <p:spPr>
          <a:xfrm xmlns:a="http://schemas.openxmlformats.org/drawingml/2006/main">
            <a:off x="6381750" y="3190875"/>
            <a:ext cx="8572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11" name=""/>
          <p:cNvCxnSpPr>
            <a:stCxn xmlns:a="http://schemas.openxmlformats.org/drawingml/2006/main" id="6" idx="3"/>
            <a:endCxn xmlns:a="http://schemas.openxmlformats.org/drawingml/2006/main" id="7" idx="1"/>
          </p:cNvCxnSpPr>
          <p:nvPr/>
        </p:nvCxnSpPr>
        <p:spPr>
          <a:xfrm xmlns:a="http://schemas.openxmlformats.org/drawingml/2006/main" flipV="1">
            <a:off x="9429750" y="2476500"/>
            <a:ext cx="571500" cy="714375"/>
          </a:xfrm>
          <a:prstGeom xmlns:a="http://schemas.openxmlformats.org/drawingml/2006/main" prst="straightConnector1">
            <a:avLst/>
          </a:prstGeom>
          <a:ln xmlns:a="http://schemas.openxmlformats.org/drawingml/2006/main" w="28575">
            <a:solidFill>
              <a:srgbClr val="007C77"/>
            </a:solidFill>
            <a:prstDash val="solid"/>
            <a:tailEnd type="triangle" w="sm" len="sm"/>
          </a:ln>
        </p:spPr>
      </p:cxnSp>
      <p:cxnSp>
        <p:nvCxnSpPr>
          <p:cNvPr id="112" name=""/>
          <p:cNvCxnSpPr>
            <a:stCxn xmlns:a="http://schemas.openxmlformats.org/drawingml/2006/main" id="6" idx="3"/>
            <a:endCxn xmlns:a="http://schemas.openxmlformats.org/drawingml/2006/main" id="8" idx="1"/>
          </p:cNvCxnSpPr>
          <p:nvPr/>
        </p:nvCxnSpPr>
        <p:spPr>
          <a:xfrm xmlns:a="http://schemas.openxmlformats.org/drawingml/2006/main">
            <a:off x="9429750" y="3190875"/>
            <a:ext cx="571500" cy="1381125"/>
          </a:xfrm>
          <a:prstGeom xmlns:a="http://schemas.openxmlformats.org/drawingml/2006/main" prst="straightConnector1">
            <a:avLst/>
          </a:prstGeom>
          <a:ln xmlns:a="http://schemas.openxmlformats.org/drawingml/2006/main" w="28575">
            <a:solidFill>
              <a:srgbClr val="007C77"/>
            </a:solidFill>
            <a:prstDash val="solid"/>
            <a:tailEnd type="triangle" w="sm" len="sm"/>
          </a:ln>
        </p:spPr>
      </p:cxnSp>
      <p:sp>
        <p:nvSpPr>
          <p:cNvPr id="13" name="">
            <a:extLst xmlns:a="http://schemas.openxmlformats.org/drawingml/2006/main">
              <a:ext uri="{FF2B5EF4-FFF2-40B4-BE49-F238E27FC236}">
                <a16:creationId xmlns:a16="http://schemas.microsoft.com/office/drawing/2014/main" id="{BA2E0A86-E495-4DBD-A4DC-40E7A8C02ED9}"/>
              </a:ext>
            </a:extLst>
          </p:cNvPr>
          <p:cNvSpPr>
            <a:spLocks xmlns:a="http://schemas.openxmlformats.org/drawingml/2006/main" noGrp="1"/>
          </p:cNvSpPr>
          <p:nvPr/>
        </p:nvSpPr>
        <p:spPr>
          <a:xfrm xmlns:a="http://schemas.openxmlformats.org/drawingml/2006/main">
            <a:off x="2381250" y="23526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927"/>
          </a:bodyPr>
          <a:lstStyle xmlns:a="http://schemas.openxmlformats.org/drawingml/2006/main"/>
          <a:p xmlns:a="http://schemas.openxmlformats.org/drawingml/2006/main">
            <a:pPr algn="ctr">
              <a:buNone/>
              <a:defRPr sz="975" b="1">
                <a:solidFill>
                  <a:srgbClr val="007C77"/>
                </a:solidFill>
                <a:latin typeface="Menlo"/>
                <a:ea typeface="Menlo"/>
                <a:cs typeface="Menlo"/>
              </a:defRPr>
            </a:pPr>
            <a:r>
              <a:rPr sz="975" b="1">
                <a:solidFill>
                  <a:srgbClr val="007C77"/>
                </a:solidFill>
                <a:latin typeface="Menlo"/>
                <a:ea typeface="Menlo"/>
                <a:cs typeface="Menlo"/>
              </a:rPr>
              <a:t>atomic commit</a:t>
            </a:r>
          </a:p>
        </p:txBody>
      </p:sp>
      <p:sp>
        <p:nvSpPr>
          <p:cNvPr id="14" name="">
            <a:extLst xmlns:a="http://schemas.openxmlformats.org/drawingml/2006/main">
              <a:ext uri="{FF2B5EF4-FFF2-40B4-BE49-F238E27FC236}">
                <a16:creationId xmlns:a16="http://schemas.microsoft.com/office/drawing/2014/main" id="{9F0DD76B-619F-430B-8288-4787F78065D3}"/>
              </a:ext>
            </a:extLst>
          </p:cNvPr>
          <p:cNvSpPr>
            <a:spLocks xmlns:a="http://schemas.openxmlformats.org/drawingml/2006/main" noGrp="1"/>
          </p:cNvSpPr>
          <p:nvPr/>
        </p:nvSpPr>
        <p:spPr>
          <a:xfrm xmlns:a="http://schemas.openxmlformats.org/drawingml/2006/main">
            <a:off x="8210550" y="233362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927"/>
          </a:bodyPr>
          <a:lstStyle xmlns:a="http://schemas.openxmlformats.org/drawingml/2006/main"/>
          <a:p xmlns:a="http://schemas.openxmlformats.org/drawingml/2006/main">
            <a:pPr algn="ctr">
              <a:buNone/>
              <a:defRPr sz="975" b="1">
                <a:solidFill>
                  <a:srgbClr val="D95D39"/>
                </a:solidFill>
                <a:latin typeface="Menlo"/>
                <a:ea typeface="Menlo"/>
                <a:cs typeface="Menlo"/>
              </a:defRPr>
            </a:pPr>
            <a:r>
              <a:rPr sz="975" b="1">
                <a:solidFill>
                  <a:srgbClr val="D95D39"/>
                </a:solidFill>
                <a:latin typeface="Menlo"/>
                <a:ea typeface="Menlo"/>
                <a:cs typeface="Menlo"/>
              </a:rPr>
              <a:t>at-least-once delivery</a:t>
            </a:r>
          </a:p>
        </p:txBody>
      </p:sp>
      <p:sp>
        <p:nvSpPr>
          <p:cNvPr id="15" name="">
            <a:extLst xmlns:a="http://schemas.openxmlformats.org/drawingml/2006/main">
              <a:ext uri="{FF2B5EF4-FFF2-40B4-BE49-F238E27FC236}">
                <a16:creationId xmlns:a16="http://schemas.microsoft.com/office/drawing/2014/main" id="{A3A5928C-4126-4A55-8459-A467C1D1DE3D}"/>
              </a:ext>
            </a:extLst>
          </p:cNvPr>
          <p:cNvSpPr>
            <a:spLocks xmlns:a="http://schemas.openxmlformats.org/drawingml/2006/main" noGrp="1"/>
          </p:cNvSpPr>
          <p:nvPr/>
        </p:nvSpPr>
        <p:spPr>
          <a:xfrm xmlns:a="http://schemas.openxmlformats.org/drawingml/2006/main">
            <a:off x="1714500" y="5572125"/>
            <a:ext cx="8763000" cy="628650"/>
          </a:xfrm>
          <a:prstGeom xmlns:a="http://schemas.openxmlformats.org/drawingml/2006/main" prst="roundRect">
            <a:avLst>
              <a:gd name="adj" fmla="val 24242"/>
            </a:avLst>
          </a:prstGeom>
          <a:solidFill xmlns:a="http://schemas.openxmlformats.org/drawingml/2006/main">
            <a:srgbClr val="172033"/>
          </a:solidFill>
          <a:ln xmlns:a="http://schemas.openxmlformats.org/drawingml/2006/main" w="0">
            <a:solidFill>
              <a:srgbClr val="172033"/>
            </a:solidFill>
            <a:prstDash val="solid"/>
          </a:ln>
        </p:spPr>
        <p:txBody>
          <a:bodyPr xmlns:a="http://schemas.openxmlformats.org/drawingml/2006/main" lIns="190500" tIns="95250" rIns="190500" bIns="95250" anchor="ctr">
            <a:normAutofit fontScale="100000"/>
          </a:bodyPr>
          <a:lstStyle xmlns:a="http://schemas.openxmlformats.org/drawingml/2006/main"/>
          <a:p xmlns:a="http://schemas.openxmlformats.org/drawingml/2006/main">
            <a:pPr algn="ctr">
              <a:buNone/>
              <a:defRPr sz="1425" b="1">
                <a:solidFill>
                  <a:srgbClr val="FFFFFF"/>
                </a:solidFill>
                <a:latin typeface="Menlo"/>
                <a:ea typeface="Menlo"/>
                <a:cs typeface="Menlo"/>
              </a:defRPr>
            </a:pPr>
            <a:r>
              <a:rPr sz="1425" b="1">
                <a:solidFill>
                  <a:srgbClr val="FFFFFF"/>
                </a:solidFill>
                <a:latin typeface="Menlo"/>
                <a:ea typeface="Menlo"/>
                <a:cs typeface="Menlo"/>
              </a:rPr>
              <a:t>authoritative state → outbox event → relay → idempotent projection</a:t>
            </a:r>
          </a:p>
        </p:txBody>
      </p:sp>
      <p:sp>
        <p:nvSpPr>
          <p:cNvPr id="16" name="">
            <a:extLst xmlns:a="http://schemas.openxmlformats.org/drawingml/2006/main">
              <a:ext uri="{FF2B5EF4-FFF2-40B4-BE49-F238E27FC236}">
                <a16:creationId xmlns:a16="http://schemas.microsoft.com/office/drawing/2014/main" id="{2B12F848-277E-4B05-8228-518A7EBA6B5C}"/>
              </a:ext>
            </a:extLst>
          </p:cNvPr>
          <p:cNvSpPr>
            <a:spLocks xmlns:a="http://schemas.openxmlformats.org/drawingml/2006/main" noGrp="1"/>
          </p:cNvSpPr>
          <p:nvPr/>
        </p:nvSpPr>
        <p:spPr>
          <a:xfrm xmlns:a="http://schemas.openxmlformats.org/drawingml/2006/main">
            <a:off x="1714500" y="5572125"/>
            <a:ext cx="76200" cy="6286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Tree>
    <p:extLst>
      <p:ext uri="{BB962C8B-B14F-4D97-AF65-F5344CB8AC3E}">
        <p14:creationId xmlns:p14="http://schemas.microsoft.com/office/powerpoint/2010/main" val="1602232457"/>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C59C241-A05C-46C4-B773-C97E08D5B7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FBECE6A8-47FD-44C9-A151-994A0708ED7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 name="">
            <a:extLst xmlns:a="http://schemas.openxmlformats.org/drawingml/2006/main">
              <a:ext uri="{FF2B5EF4-FFF2-40B4-BE49-F238E27FC236}">
                <a16:creationId xmlns:a16="http://schemas.microsoft.com/office/drawing/2014/main" id="{516F2515-52FB-4C0A-A4A7-78E68E977001}"/>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5317"/>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Cross-database reliability begins with ownership and traceable events</a:t>
            </a:r>
          </a:p>
        </p:txBody>
      </p:sp>
      <p:sp>
        <p:nvSpPr>
          <p:cNvPr id="4" name="">
            <a:extLst xmlns:a="http://schemas.openxmlformats.org/drawingml/2006/main">
              <a:ext uri="{FF2B5EF4-FFF2-40B4-BE49-F238E27FC236}">
                <a16:creationId xmlns:a16="http://schemas.microsoft.com/office/drawing/2014/main" id="{EA727AF1-A356-4E4F-8735-62023915F74C}"/>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15803D"/>
                </a:solidFill>
                <a:latin typeface="Helvetica Neue"/>
                <a:ea typeface="Helvetica Neue"/>
                <a:cs typeface="Helvetica Neue"/>
              </a:defRPr>
            </a:pPr>
            <a:r>
              <a:rPr sz="2550" b="1">
                <a:solidFill>
                  <a:srgbClr val="15803D"/>
                </a:solidFill>
                <a:latin typeface="Helvetica Neue"/>
                <a:ea typeface="Helvetica Neue"/>
                <a:cs typeface="Helvetica Neue"/>
              </a:rPr>
              <a:t>One fact has one owner; every derived copy needs propagation, reconciliation, and recovery rules.</a:t>
            </a:r>
          </a:p>
        </p:txBody>
      </p:sp>
      <p:sp>
        <p:nvSpPr>
          <p:cNvPr id="5" name="">
            <a:extLst xmlns:a="http://schemas.openxmlformats.org/drawingml/2006/main">
              <a:ext uri="{FF2B5EF4-FFF2-40B4-BE49-F238E27FC236}">
                <a16:creationId xmlns:a16="http://schemas.microsoft.com/office/drawing/2014/main" id="{B72422EB-EC2F-4912-883D-929EB1C85A54}"/>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6" name="">
            <a:extLst xmlns:a="http://schemas.openxmlformats.org/drawingml/2006/main">
              <a:ext uri="{FF2B5EF4-FFF2-40B4-BE49-F238E27FC236}">
                <a16:creationId xmlns:a16="http://schemas.microsoft.com/office/drawing/2014/main" id="{9F480054-0572-47B7-AB08-550BACB4E99A}"/>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system owns the disputed fact?</a:t>
            </a:r>
          </a:p>
        </p:txBody>
      </p:sp>
      <p:sp>
        <p:nvSpPr>
          <p:cNvPr id="7" name="">
            <a:extLst xmlns:a="http://schemas.openxmlformats.org/drawingml/2006/main">
              <a:ext uri="{FF2B5EF4-FFF2-40B4-BE49-F238E27FC236}">
                <a16:creationId xmlns:a16="http://schemas.microsoft.com/office/drawing/2014/main" id="{DC9ACC17-C1EC-4621-A67C-C6A531791F93}"/>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409C2C79-1E6E-461F-A4B6-A7374024D7DA}"/>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Where is the last confirmed transition in the timeline?</a:t>
            </a:r>
          </a:p>
        </p:txBody>
      </p:sp>
      <p:sp>
        <p:nvSpPr>
          <p:cNvPr id="9" name="">
            <a:extLst xmlns:a="http://schemas.openxmlformats.org/drawingml/2006/main">
              <a:ext uri="{FF2B5EF4-FFF2-40B4-BE49-F238E27FC236}">
                <a16:creationId xmlns:a16="http://schemas.microsoft.com/office/drawing/2014/main" id="{9D5658C2-B9F9-4B09-91A6-F4411226A4DD}"/>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2C89E46D-D9E3-4E31-880A-132A0A48E9D6}"/>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verification </a:t>
            </a:r>
            <a:r>
              <a:rPr sz="1575">
                <a:solidFill>
                  <a:srgbClr val="111827"/>
                </a:solidFill>
                <a:latin typeface="Helvetica Neue"/>
                <a:ea typeface="Helvetica Neue"/>
                <a:cs typeface="Helvetica Neue"/>
              </a:rPr>
              <a:t>confirms</a:t>
            </a:r>
            <a:r>
              <a:rPr sz="1575">
                <a:solidFill>
                  <a:srgbClr val="111827"/>
                </a:solidFill>
                <a:latin typeface="Helvetica Neue"/>
                <a:ea typeface="Helvetica Neue"/>
                <a:cs typeface="Helvetica Neue"/>
              </a:rPr>
              <a:t> the repair beyond one visible record?</a:t>
            </a:r>
          </a:p>
        </p:txBody>
      </p:sp>
      <p:sp>
        <p:nvSpPr>
          <p:cNvPr id="11" name="">
            <a:extLst xmlns:a="http://schemas.openxmlformats.org/drawingml/2006/main">
              <a:ext uri="{FF2B5EF4-FFF2-40B4-BE49-F238E27FC236}">
                <a16:creationId xmlns:a16="http://schemas.microsoft.com/office/drawing/2014/main" id="{DEFB2A0C-C175-4545-B487-D48E90A9B79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Tree>
    <p:extLst>
      <p:ext uri="{BB962C8B-B14F-4D97-AF65-F5344CB8AC3E}">
        <p14:creationId xmlns:p14="http://schemas.microsoft.com/office/powerpoint/2010/main" val="702635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14: Polyglot Incident Response and Final Project Clinic</dc:title>
  <dcterms:created xsi:type="dcterms:W3CDTF">2026-09-03T02:53:05.0960000Z</dcterms:created>
  <dcterms:modified xsi:type="dcterms:W3CDTF">2026-09-02T00:00:00Z</dcterms:modified>
  <dc:subject>CST 4714 Database Administration</dc:subject>
  <dc:description>Week 14 presentation for Operating Cloud Databases.</dc:description>
  <dc:language>en-US</dc:language>
  <keywords>database administration; PostgreSQL; MongoDB; cloud databases; OER</keywords>
  <category>Open Educational Resource</category>
  <contentStatus>Release Candidate</contentStatus>
</coreProperties>
</file>