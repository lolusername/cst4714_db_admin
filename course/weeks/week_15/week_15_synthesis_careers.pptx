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8d2371981b42cd" /><Relationship Type="http://schemas.openxmlformats.org/officeDocument/2006/relationships/extended-properties" Target="/docProps/app.xml" Id="R83de5a64b6a3430d" /><Relationship Type="http://schemas.openxmlformats.org/officeDocument/2006/relationships/officeDocument" Target="/ppt/presentation.xml" Id="Rcff6216db0f44ef4" /></Relationships>
</file>

<file path=ppt/presentation.xml><?xml version="1.0" encoding="utf-8"?>
<p:presentation xmlns:p="http://schemas.openxmlformats.org/presentationml/2006/main">
  <p:sldMasterIdLst>
    <p:sldMasterId xmlns:r="http://schemas.openxmlformats.org/officeDocument/2006/relationships" id="2147483648" r:id="Rae1cf9aa76f94a93"/>
  </p:sldMasterIdLst>
  <p:notesMasterIdLst>
    <p:notesMasterId xmlns:r="http://schemas.openxmlformats.org/officeDocument/2006/relationships" r:id="R2056f3c680784956"/>
  </p:notesMasterIdLst>
  <p:sldIdLst>
    <p:sldId xmlns:r="http://schemas.openxmlformats.org/officeDocument/2006/relationships" id="256" r:id="Rb9802a73cfcd4af7"/>
    <p:sldId xmlns:r="http://schemas.openxmlformats.org/officeDocument/2006/relationships" id="257" r:id="R60d6849c906e4e89"/>
    <p:sldId xmlns:r="http://schemas.openxmlformats.org/officeDocument/2006/relationships" id="258" r:id="R068e1040ce7546df"/>
    <p:sldId xmlns:r="http://schemas.openxmlformats.org/officeDocument/2006/relationships" id="259" r:id="Rcc5f2288249d49ae"/>
    <p:sldId xmlns:r="http://schemas.openxmlformats.org/officeDocument/2006/relationships" id="260" r:id="R026a5a1e9a0f491c"/>
    <p:sldId xmlns:r="http://schemas.openxmlformats.org/officeDocument/2006/relationships" id="261" r:id="R8e938361d90e4324"/>
    <p:sldId xmlns:r="http://schemas.openxmlformats.org/officeDocument/2006/relationships" id="262" r:id="Ra49ee4e031604cc5"/>
    <p:sldId xmlns:r="http://schemas.openxmlformats.org/officeDocument/2006/relationships" id="263" r:id="R448fef4116cb41b2"/>
    <p:sldId xmlns:r="http://schemas.openxmlformats.org/officeDocument/2006/relationships" id="264" r:id="Rb78b286ef0ab4ae3"/>
    <p:sldId xmlns:r="http://schemas.openxmlformats.org/officeDocument/2006/relationships" id="265" r:id="R6f7cbbfc316c4e96"/>
    <p:sldId xmlns:r="http://schemas.openxmlformats.org/officeDocument/2006/relationships" id="266" r:id="R504ce2d5534e4fcc"/>
    <p:sldId xmlns:r="http://schemas.openxmlformats.org/officeDocument/2006/relationships" id="267" r:id="R4a4017b110ab418e"/>
    <p:sldId xmlns:r="http://schemas.openxmlformats.org/officeDocument/2006/relationships" id="268" r:id="R8e041a3a265642de"/>
    <p:sldId xmlns:r="http://schemas.openxmlformats.org/officeDocument/2006/relationships" id="269" r:id="Rc027fba60a784b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8437c849ee4144" /><Relationship Type="http://schemas.openxmlformats.org/officeDocument/2006/relationships/slideMaster" Target="/ppt/slideMasters/slideMaster1.xml" Id="Rae1cf9aa76f94a93" /><Relationship Type="http://schemas.openxmlformats.org/officeDocument/2006/relationships/notesMaster" Target="/ppt/notesMasters/notesMaster1.xml" Id="R2056f3c680784956" /><Relationship Type="http://schemas.openxmlformats.org/officeDocument/2006/relationships/presProps" Target="/ppt/presProps.xml" Id="R52e87b57dd934172" /><Relationship Type="http://schemas.openxmlformats.org/officeDocument/2006/relationships/tableStyles" Target="/ppt/tableStyles.xml" Id="Rf9b6763c99bd4501" /><Relationship Type="http://schemas.openxmlformats.org/officeDocument/2006/relationships/slide" Target="/ppt/slides/slide1.xml" Id="Rb9802a73cfcd4af7" /><Relationship Type="http://schemas.openxmlformats.org/officeDocument/2006/relationships/slide" Target="/ppt/slides/slide2.xml" Id="R60d6849c906e4e89" /><Relationship Type="http://schemas.openxmlformats.org/officeDocument/2006/relationships/slide" Target="/ppt/slides/slide3.xml" Id="R068e1040ce7546df" /><Relationship Type="http://schemas.openxmlformats.org/officeDocument/2006/relationships/slide" Target="/ppt/slides/slide4.xml" Id="Rcc5f2288249d49ae" /><Relationship Type="http://schemas.openxmlformats.org/officeDocument/2006/relationships/slide" Target="/ppt/slides/slide5.xml" Id="R026a5a1e9a0f491c" /><Relationship Type="http://schemas.openxmlformats.org/officeDocument/2006/relationships/slide" Target="/ppt/slides/slide6.xml" Id="R8e938361d90e4324" /><Relationship Type="http://schemas.openxmlformats.org/officeDocument/2006/relationships/slide" Target="/ppt/slides/slide7.xml" Id="Ra49ee4e031604cc5" /><Relationship Type="http://schemas.openxmlformats.org/officeDocument/2006/relationships/slide" Target="/ppt/slides/slide8.xml" Id="R448fef4116cb41b2" /><Relationship Type="http://schemas.openxmlformats.org/officeDocument/2006/relationships/slide" Target="/ppt/slides/slide9.xml" Id="Rb78b286ef0ab4ae3" /><Relationship Type="http://schemas.openxmlformats.org/officeDocument/2006/relationships/slide" Target="/ppt/slides/slide10.xml" Id="R6f7cbbfc316c4e96" /><Relationship Type="http://schemas.openxmlformats.org/officeDocument/2006/relationships/slide" Target="/ppt/slides/slide11.xml" Id="R504ce2d5534e4fcc" /><Relationship Type="http://schemas.openxmlformats.org/officeDocument/2006/relationships/slide" Target="/ppt/slides/slide12.xml" Id="R4a4017b110ab418e" /><Relationship Type="http://schemas.openxmlformats.org/officeDocument/2006/relationships/slide" Target="/ppt/slides/slide13.xml" Id="R8e041a3a265642de" /><Relationship Type="http://schemas.openxmlformats.org/officeDocument/2006/relationships/slide" Target="/ppt/slides/slide14.xml" Id="Rc027fba60a784b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be078b98774c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a61f8297c04154" /><Relationship Type="http://schemas.openxmlformats.org/officeDocument/2006/relationships/notesMaster" Target="/ppt/notesMasters/notesMaster1.xml" Id="R9365e73a58a543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27164aff324259" /><Relationship Type="http://schemas.openxmlformats.org/officeDocument/2006/relationships/notesMaster" Target="/ppt/notesMasters/notesMaster1.xml" Id="Ra17bc9187fec49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9570ce3bd946a7" /><Relationship Type="http://schemas.openxmlformats.org/officeDocument/2006/relationships/notesMaster" Target="/ppt/notesMasters/notesMaster1.xml" Id="R72505b2d40ac49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d5e5e9a362406e" /><Relationship Type="http://schemas.openxmlformats.org/officeDocument/2006/relationships/notesMaster" Target="/ppt/notesMasters/notesMaster1.xml" Id="R3315f5fc43e84d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bf2f389b454041" /><Relationship Type="http://schemas.openxmlformats.org/officeDocument/2006/relationships/notesMaster" Target="/ppt/notesMasters/notesMaster1.xml" Id="Rc8224b7d064b49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f18894eab40b9" /><Relationship Type="http://schemas.openxmlformats.org/officeDocument/2006/relationships/notesMaster" Target="/ppt/notesMasters/notesMaster1.xml" Id="R1ee71c3667de4e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21c17fa5de4973" /><Relationship Type="http://schemas.openxmlformats.org/officeDocument/2006/relationships/notesMaster" Target="/ppt/notesMasters/notesMaster1.xml" Id="R296939422e5d46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6e3b42d2ab4bc3" /><Relationship Type="http://schemas.openxmlformats.org/officeDocument/2006/relationships/notesMaster" Target="/ppt/notesMasters/notesMaster1.xml" Id="Rc81027f572104c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b4231743944306" /><Relationship Type="http://schemas.openxmlformats.org/officeDocument/2006/relationships/notesMaster" Target="/ppt/notesMasters/notesMaster1.xml" Id="Rfc9789ba41c146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3b8235074f49c2" /><Relationship Type="http://schemas.openxmlformats.org/officeDocument/2006/relationships/notesMaster" Target="/ppt/notesMasters/notesMaster1.xml" Id="R990fdb0e5cd745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79ec4bd65f48ee" /><Relationship Type="http://schemas.openxmlformats.org/officeDocument/2006/relationships/notesMaster" Target="/ppt/notesMasters/notesMaster1.xml" Id="R5f443f8cc51f48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1dd8450f7b4a80" /><Relationship Type="http://schemas.openxmlformats.org/officeDocument/2006/relationships/notesMaster" Target="/ppt/notesMasters/notesMaster1.xml" Id="R7dbc95d9dc814a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051aa0d78843ff" /><Relationship Type="http://schemas.openxmlformats.org/officeDocument/2006/relationships/notesMaster" Target="/ppt/notesMasters/notesMaster1.xml" Id="Rad51cfd6322a4a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672811a34d4a2b" /><Relationship Type="http://schemas.openxmlformats.org/officeDocument/2006/relationships/notesMaster" Target="/ppt/notesMasters/notesMaster1.xml" Id="R43a1bd3bbcc449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 week is about synthesis rather than one more isolated feature. You have modeled facts, recovered SQL, inspected plans, controlled access, diagnosed locks, queried documents, designed indexes, reasoned about reliability, restored data, and traced an incident across systems. Now we will connect those actions into one operating story.</a:t>
            </a:r>
          </a:p>
          <a:p xmlns:a="http://schemas.openxmlformats.org/drawingml/2006/main">
            <a:r>
              <a:t/>
            </a:r>
          </a:p>
          <a:p xmlns:a="http://schemas.openxmlformats.org/drawingml/2006/main">
            <a:r>
              <a:t>You will also turn one concept into a small GitHub artifact that teaches another beginner. Then you will present your final project safely and translate one real decision into resume and interview language. The goal is not to claim production mastery. The goal is to show specific work, reasoning, safety, and awareness of limitations.</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Employers can search a resume for PostgreSQL, MongoDB, Supabase, Atlas, GitHub, and Python. Those names become meaningful only when they are connected to actions. You modeled relationships, wrote and verified queries, enforced bad-state boundaries, tested permissions, interpreted plans, diagnosed blocking, and restored data to a separate target.</a:t>
            </a:r>
          </a:p>
          <a:p xmlns:a="http://schemas.openxmlformats.org/drawingml/2006/main">
            <a:r>
              <a:t/>
            </a:r>
          </a:p>
          <a:p xmlns:a="http://schemas.openxmlformats.org/drawingml/2006/main">
            <a:r>
              <a:t>The communication verb matters equally. You learned to distinguish expected from observed behavior, preserve stable identifiers, state what an observation supports, and name what remains untested. Those habits transfer to database administration, cloud support, backend development, data engineering, security operations, and technical analysis even when a workplace uses different products.</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purpose. Name the user, workload, and decision the system supports. Then state model grain, identity, and relationship representation. Protection asks which invalid states and unauthorized actions the database or application refuses under the intended identity.</a:t>
            </a:r>
          </a:p>
          <a:p xmlns:a="http://schemas.openxmlformats.org/drawingml/2006/main">
            <a:r>
              <a:t/>
            </a:r>
          </a:p>
          <a:p xmlns:a="http://schemas.openxmlformats.org/drawingml/2006/main">
            <a:r>
              <a:t>Performance begins with important query shapes and measured plans, not a generic claim that an index is fast. Recovery separates continuity from backup and confirms restoration in a separate target. Reproducibility asks whether another person can follow the run order, inspect outputs, and understand limitations without receiving credentials. These six questions can structure a project review, interview design prompt, or first incident assessment.</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side names technologies and broad actions, but an interviewer cannot tell what you actually did. ‘Added security’ might mean anything from creating an administrator password to testing row-level access under two identities. ‘Made a backup’ does not reveal whether the artifact restored.</a:t>
            </a:r>
          </a:p>
          <a:p xmlns:a="http://schemas.openxmlformats.org/drawingml/2006/main">
            <a:r>
              <a:t/>
            </a:r>
          </a:p>
          <a:p xmlns:a="http://schemas.openxmlformats.org/drawingml/2006/main">
            <a:r>
              <a:t>The right side names mechanisms and observations. A named constraint refused a specific invalid state. The same query moved to a different plan under a candidate index while result correctness stayed constant. A logical artifact was restored to a separate target and verified across structure, data, and behavior. Scope makes the statement more credible, not less impressive.</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portfolio project does not need to be a full application. One focused concept can show deeper reasoning. A repository might reproduce PostgreSQL lock diagnosis, an RLS allow-and-deny test, plan-based index design, logical restore verification, a CSV-to-JSON comparison, or MongoDB aggregation grain.</a:t>
            </a:r>
          </a:p>
          <a:p xmlns:a="http://schemas.openxmlformats.org/drawingml/2006/main">
            <a:r>
              <a:t/>
            </a:r>
          </a:p>
          <a:p xmlns:a="http://schemas.openxmlformats.org/drawingml/2006/main">
            <a:r>
              <a:t>The README states purpose, prerequisites, safe run order, and expected result. The code or detailed guide demonstrates the concept with synthetic or properly licensed data. The explanation states what one output supports. Cleanup, limitation, and sources prevent the demonstration from becoming unsafe or overstated. Another beginner should be able to learn from it without guessing.</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publishing, search source files and notebook outputs for passwords, connection strings, API keys, tokens, and private hostnames. Notebook output can retain a secret even after the input cell changes. If a credential was exposed, rotate it; deleting the visible line does not remove it from Git history.</a:t>
            </a:r>
          </a:p>
          <a:p xmlns:a="http://schemas.openxmlformats.org/drawingml/2006/main">
            <a:r>
              <a:t/>
            </a:r>
          </a:p>
          <a:p xmlns:a="http://schemas.openxmlformats.org/drawingml/2006/main">
            <a:r>
              <a:t>Use synthetic or appropriately licensed data and remove personal information. Scripts should target a clearly named disposable schema, database, or collection, with destructive commands labeled before execution. Test the run order from a clean environment or label a static guide accurately. Add source and license attribution, then open the URL outside your normal signed-in view or grant the instructor explicit access.</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Choose one concept from the lab page and keep the scope small. Create a repository or clearly named folder with a README that explains purpose, prerequisites, safe run order, expected result, interpretation, cleanup, limitation, and sources. Add one SQL file, MongoDB script, notebook, or detailed Markdown guide with concrete code examples.</a:t>
            </a:r>
          </a:p>
          <a:p xmlns:a="http://schemas.openxmlformats.org/drawingml/2006/main">
            <a:r>
              <a:t/>
            </a:r>
          </a:p>
          <a:p xmlns:a="http://schemas.openxmlformats.org/drawingml/2006/main">
            <a:r>
              <a:t>Use only synthetic or appropriately licensed data. Do not publish a vendor answer key, copied lesson, credential, or private account image. Run the full safety checklist and verify that the submitted URL can be reviewed. In Brightspace, submit one URL and one sentence naming the concept and result. There is no team or partner submission.</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final presentation is not a dashboard tour and not a race through every file. It is a concise decision story. Begin with the user and workload. Explain the platform and model choices that serve that workload. Then show a small number of high-value results.</a:t>
            </a:r>
          </a:p>
          <a:p xmlns:a="http://schemas.openxmlformats.org/drawingml/2006/main">
            <a:r>
              <a:t/>
            </a:r>
          </a:p>
          <a:p xmlns:a="http://schemas.openxmlformats.org/drawingml/2006/main">
            <a:r>
              <a:t>Prepared material is safer and more reliable than navigating secret-bearing cloud settings live. You may demonstrate a cloud query while keeping a redacted output, diagram, script, or short fallback available when a network path fails. The project requirements remain only on the canonical final-project page.</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problem and the user decision the database supports. State the workload in terms of important reads, writes, relationships, and failure concerns. Show model grain, identity, and one relationship decision rather than every field.</a:t>
            </a:r>
          </a:p>
          <a:p xmlns:a="http://schemas.openxmlformats.org/drawingml/2006/main">
            <a:r>
              <a:t/>
            </a:r>
          </a:p>
          <a:p xmlns:a="http://schemas.openxmlformats.org/drawingml/2006/main">
            <a:r>
              <a:t>Then demonstrate one meaningful behavior with a prepared expected and observed result. Choose one operations decision involving access, performance, or recovery and show how its mechanism behaved. End with a tradeoff, limitation, and next step. This arc reveals engineering judgment. A long feature inventory makes each claim harder to remember and verify.</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STAR-R gives a behavioral answer a technical structure. The situation is brief context and impact. The task is your responsibility or decision. The action names what you personally inspected, changed, and verified. The result is observable. Reflection states the limit and next production step.</a:t>
            </a:r>
          </a:p>
          <a:p xmlns:a="http://schemas.openxmlformats.org/drawingml/2006/main">
            <a:r>
              <a:t/>
            </a:r>
          </a:p>
          <a:p xmlns:a="http://schemas.openxmlformats.org/drawingml/2006/main">
            <a:r>
              <a:t>For the lock lab, you can say that one controlled PostgreSQL update waited behind an open transaction. Your task was to identify the blocking relationship without terminating the wrong session. You used `pg_stat_activity` and `pg_blocking_pids`, rolled back the known blocker, observed the waiting update complete, and re-read the row. In production, you would also confirm application ownership and business impact before cancellation and review timeout and transaction design.</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asked about an index, name the unchanged query, the before-and-after plan, the work examined, and the write or storage cost. When asked to choose PostgreSQL or MongoDB, begin with access patterns, relationships, integrity, variation, scale, and recovery rather than declaring one product more modern.</a:t>
            </a:r>
          </a:p>
          <a:p xmlns:a="http://schemas.openxmlformats.org/drawingml/2006/main">
            <a:r>
              <a:t/>
            </a:r>
          </a:p>
          <a:p xmlns:a="http://schemas.openxmlformats.org/drawingml/2006/main">
            <a:r>
              <a:t>For security, describe the intended identity and both an allowed and expected-denied test. For recovery, distinguish the artifact from the verified restore and state recovery-point and recovery-time limits. In every answer, separate course-lab results from production experience. The phrase ‘I reproduced this in an isolated cloud lab’ is accurate and still demonstrates a real method.</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work demonstrates foundational ability, not unsupervised production ownership. Claims such as production-ready, fully secure, or fault tolerant require a much broader operational record than one semester can produce. Exactly-once language is especially risky when the design shows at-least-once delivery plus idempotent handling.</a:t>
            </a:r>
          </a:p>
          <a:p xmlns:a="http://schemas.openxmlformats.org/drawingml/2006/main">
            <a:r>
              <a:t/>
            </a:r>
          </a:p>
          <a:p xmlns:a="http://schemas.openxmlformats.org/drawingml/2006/main">
            <a:r>
              <a:t>Credible scope names the controlled environment, exact test, observed mechanism, and limit. You can say that you reproduced lock diagnosis, tested least privilege under specified roles, compared execution plans on a known fixture, or restored a logical artifact to a separate target. Then state what production work would come next, such as load measurement, alerting, restore drills, access review, or failure testing.</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strong interview answer explains one technical decision as a complete story. Begin with the situation: the workload, failure, or access boundary. Name the action you personally performed, such as defining a constraint, reading a query plan, testing row-level security, or restoring a logical backup. State a specific observed result without inflating it into production mastery. Then name the cost, limitation, or unresolved risk. Finish with the next production step, such as load testing, alerting, access review, or a scheduled restore drill. The sentence on screen is honest and useful because it identifies the controlled lab and the next level of validation.</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ends with a repeatable method. State the workload and data meaning. Choose the simplest mechanism that fits. Predict behavior, observe the system, and preserve reproducible results. Test both success and expected refusal. Connect performance to measured work and reliability to a verified recovery procedure. Name the tradeoff and limitation.</a:t>
            </a:r>
          </a:p>
          <a:p xmlns:a="http://schemas.openxmlformats.org/drawingml/2006/main">
            <a:r>
              <a:t/>
            </a:r>
          </a:p>
          <a:p xmlns:a="http://schemas.openxmlformats.org/drawingml/2006/main">
            <a:r>
              <a:t>When you present or interview, explain what you personally built or investigated, which observations support the result, which failure or bad state you considered, and what you would inspect next in production. That is more valuable than memorizing every command because it lets you learn a new platform without losing the operating discipline you built here.</a:t>
            </a:r>
          </a:p>
          <a:p xmlns:a="http://schemas.openxmlformats.org/drawingml/2006/main">
            <a:r>
              <a:t/>
            </a:r>
          </a:p>
          <a:p xmlns:a="http://schemas.openxmlformats.org/drawingml/2006/main">
            <a:r>
              <a:t>[Sources]</a:t>
            </a:r>
          </a:p>
          <a:p xmlns:a="http://schemas.openxmlformats.org/drawingml/2006/main">
            <a:r>
              <a:t>- CST4714 course textbook, Chapter 15.</a:t>
            </a:r>
          </a:p>
          <a:p xmlns:a="http://schemas.openxmlformats.org/drawingml/2006/main">
            <a:r>
              <a:t>- https://docs.github.com/en/repositories/creating-and-managing-repositories/best-practices-for-repositories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3597da5b7c42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96cf489bff4205" /><Relationship Type="http://schemas.openxmlformats.org/officeDocument/2006/relationships/slideLayout" Target="/ppt/slideLayouts/slideLayout1.xml" Id="R2510ee83cdf242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10ee83cdf242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a4a9fb4a9e4f3a" /><Relationship Type="http://schemas.openxmlformats.org/officeDocument/2006/relationships/notesSlide" Target="/ppt/notesSlides/notesSlide1.xml" Id="R36daf75b55814b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c16730c6304406" /><Relationship Type="http://schemas.openxmlformats.org/officeDocument/2006/relationships/notesSlide" Target="/ppt/notesSlides/notesSlide2.xml" Id="R60bc2b105fe64d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de265d88674273" /><Relationship Type="http://schemas.openxmlformats.org/officeDocument/2006/relationships/notesSlide" Target="/ppt/notesSlides/notesSlide3.xml" Id="R529f17e29e3a4f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f15363c6b84ff7" /><Relationship Type="http://schemas.openxmlformats.org/officeDocument/2006/relationships/notesSlide" Target="/ppt/notesSlides/notesSlide4.xml" Id="Rca00c25c11e94d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cf85000a424688" /><Relationship Type="http://schemas.openxmlformats.org/officeDocument/2006/relationships/notesSlide" Target="/ppt/notesSlides/notesSlide5.xml" Id="Ra1721d9c10ae4c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fa76db5a3741f2" /><Relationship Type="http://schemas.openxmlformats.org/officeDocument/2006/relationships/notesSlide" Target="/ppt/notesSlides/notesSlide6.xml" Id="R56f987dca75849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892775b963452d" /><Relationship Type="http://schemas.openxmlformats.org/officeDocument/2006/relationships/notesSlide" Target="/ppt/notesSlides/notesSlide7.xml" Id="R0c4bf65544254b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566c5339c9440e" /><Relationship Type="http://schemas.openxmlformats.org/officeDocument/2006/relationships/notesSlide" Target="/ppt/notesSlides/notesSlide8.xml" Id="R15fffa8cabb84d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296566043e47fd" /><Relationship Type="http://schemas.openxmlformats.org/officeDocument/2006/relationships/notesSlide" Target="/ppt/notesSlides/notesSlide9.xml" Id="R017709fc55b546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83752fcbe147a7" /><Relationship Type="http://schemas.openxmlformats.org/officeDocument/2006/relationships/notesSlide" Target="/ppt/notesSlides/notesSlide10.xml" Id="R21359f681adf41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1f9b7b8a6f4f16" /><Relationship Type="http://schemas.openxmlformats.org/officeDocument/2006/relationships/notesSlide" Target="/ppt/notesSlides/notesSlide11.xml" Id="R71ac8495f9de4c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02661932c443d6" /><Relationship Type="http://schemas.openxmlformats.org/officeDocument/2006/relationships/notesSlide" Target="/ppt/notesSlides/notesSlide12.xml" Id="R85bf309a1e964d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68549539144b5f" /><Relationship Type="http://schemas.openxmlformats.org/officeDocument/2006/relationships/notesSlide" Target="/ppt/notesSlides/notesSlide13.xml" Id="R70370129077c4e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954f5089b34e72" /><Relationship Type="http://schemas.openxmlformats.org/officeDocument/2006/relationships/notesSlide" Target="/ppt/notesSlides/notesSlide14.xml" Id="Ra7441966157147a6"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5DECF-E841-47BB-B993-F489F06178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4BF7CF07-ADB7-4EE6-BFE2-7B5A6EDAD4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1EBD3772-3B44-47E1-9824-A5DB66AD6026}"/>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5803D"/>
                </a:solidFill>
                <a:latin typeface="Helvetica Neue"/>
                <a:ea typeface="Helvetica Neue"/>
                <a:cs typeface="Helvetica Neue"/>
              </a:defRPr>
            </a:pPr>
            <a:r>
              <a:rPr sz="1350" b="1">
                <a:solidFill>
                  <a:srgbClr val="15803D"/>
                </a:solidFill>
                <a:latin typeface="Helvetica Neue"/>
                <a:ea typeface="Helvetica Neue"/>
                <a:cs typeface="Helvetica Neue"/>
              </a:rPr>
              <a:t>WEEK 15</a:t>
            </a:r>
          </a:p>
        </p:txBody>
      </p:sp>
      <p:sp>
        <p:nvSpPr>
          <p:cNvPr id="4" name="cover-title">
            <a:extLst xmlns:a="http://schemas.openxmlformats.org/drawingml/2006/main">
              <a:ext uri="{FF2B5EF4-FFF2-40B4-BE49-F238E27FC236}">
                <a16:creationId xmlns:a16="http://schemas.microsoft.com/office/drawing/2014/main" id="{281F2DE6-CE77-4F48-B23B-1305A8C246FE}"/>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Synthesis, Portfolio Writing, and Final Presentations</a:t>
            </a:r>
          </a:p>
        </p:txBody>
      </p:sp>
      <p:sp>
        <p:nvSpPr>
          <p:cNvPr id="5" name="cover-subtitle">
            <a:extLst xmlns:a="http://schemas.openxmlformats.org/drawingml/2006/main">
              <a:ext uri="{FF2B5EF4-FFF2-40B4-BE49-F238E27FC236}">
                <a16:creationId xmlns:a16="http://schemas.microsoft.com/office/drawing/2014/main" id="{38E455A8-AF32-46F1-A3C4-B7D212460904}"/>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Make database skill visible through safe demonstrations, reproducible artifacts, and honest technical stories.</a:t>
            </a:r>
          </a:p>
        </p:txBody>
      </p:sp>
      <p:sp>
        <p:nvSpPr>
          <p:cNvPr id="6" name="">
            <a:extLst xmlns:a="http://schemas.openxmlformats.org/drawingml/2006/main">
              <a:ext uri="{FF2B5EF4-FFF2-40B4-BE49-F238E27FC236}">
                <a16:creationId xmlns:a16="http://schemas.microsoft.com/office/drawing/2014/main" id="{420FD3FB-DB8A-4BB0-B8B1-2BBC10585727}"/>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209C525E-3977-494F-A266-B3BD2FB124FE}"/>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5803D"/>
                </a:solidFill>
                <a:latin typeface="Helvetica Neue"/>
                <a:ea typeface="Helvetica Neue"/>
                <a:cs typeface="Helvetica Neue"/>
              </a:defRPr>
            </a:pPr>
            <a:r>
              <a:rPr sz="8400" b="1">
                <a:solidFill>
                  <a:srgbClr val="15803D"/>
                </a:solidFill>
                <a:latin typeface="Helvetica Neue"/>
                <a:ea typeface="Helvetica Neue"/>
                <a:cs typeface="Helvetica Neue"/>
              </a:rPr>
              <a:t>15</a:t>
            </a:r>
          </a:p>
        </p:txBody>
      </p:sp>
    </p:spTree>
    <p:extLst>
      <p:ext uri="{BB962C8B-B14F-4D97-AF65-F5344CB8AC3E}">
        <p14:creationId xmlns:p14="http://schemas.microsoft.com/office/powerpoint/2010/main" val="643529371"/>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C78EA1-ED9C-40D5-95AC-1626C1EF47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5408EBF-B2F9-432C-B9AC-A0B34E9CEA4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ECBCE0B4-6C3D-41D0-8949-C730FB97CFF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course built verbs, not a list of product names</a:t>
            </a:r>
          </a:p>
        </p:txBody>
      </p:sp>
      <p:sp>
        <p:nvSpPr>
          <p:cNvPr id="4" name="">
            <a:extLst xmlns:a="http://schemas.openxmlformats.org/drawingml/2006/main">
              <a:ext uri="{FF2B5EF4-FFF2-40B4-BE49-F238E27FC236}">
                <a16:creationId xmlns:a16="http://schemas.microsoft.com/office/drawing/2014/main" id="{F0B45C4B-2C51-418B-9B4F-064708A19A6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5EC0BE2-EE63-4835-8432-ED8B1971FB3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B6D61DE9-8C5F-4B51-8EFC-BE16847F2A39}"/>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Model. Query. Constrain. Authorize. Measure. Recover. Explain.</a:t>
            </a:r>
          </a:p>
        </p:txBody>
      </p:sp>
      <p:sp>
        <p:nvSpPr>
          <p:cNvPr id="7" name="">
            <a:extLst xmlns:a="http://schemas.openxmlformats.org/drawingml/2006/main">
              <a:ext uri="{FF2B5EF4-FFF2-40B4-BE49-F238E27FC236}">
                <a16:creationId xmlns:a16="http://schemas.microsoft.com/office/drawing/2014/main" id="{24076A08-D75F-4D9F-93D6-FC519E791542}"/>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312CE989-5441-4FE3-B5BC-FAF076AC854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BUILD</a:t>
            </a:r>
          </a:p>
        </p:txBody>
      </p:sp>
      <p:sp>
        <p:nvSpPr>
          <p:cNvPr id="9" name="">
            <a:extLst xmlns:a="http://schemas.openxmlformats.org/drawingml/2006/main">
              <a:ext uri="{FF2B5EF4-FFF2-40B4-BE49-F238E27FC236}">
                <a16:creationId xmlns:a16="http://schemas.microsoft.com/office/drawing/2014/main" id="{278D4684-45C5-45F4-AFCE-9AC806272057}"/>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Represent facts, relationships, rules, and workloads in relational and document systems.</a:t>
            </a:r>
          </a:p>
        </p:txBody>
      </p:sp>
      <p:sp>
        <p:nvSpPr>
          <p:cNvPr id="10" name="">
            <a:extLst xmlns:a="http://schemas.openxmlformats.org/drawingml/2006/main">
              <a:ext uri="{FF2B5EF4-FFF2-40B4-BE49-F238E27FC236}">
                <a16:creationId xmlns:a16="http://schemas.microsoft.com/office/drawing/2014/main" id="{BE022483-0C32-4FB2-842C-7925941EC6C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F5073382-D0D7-454C-9A46-4186CA1FC69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OPERATE</a:t>
            </a:r>
          </a:p>
        </p:txBody>
      </p:sp>
      <p:sp>
        <p:nvSpPr>
          <p:cNvPr id="12" name="">
            <a:extLst xmlns:a="http://schemas.openxmlformats.org/drawingml/2006/main">
              <a:ext uri="{FF2B5EF4-FFF2-40B4-BE49-F238E27FC236}">
                <a16:creationId xmlns:a16="http://schemas.microsoft.com/office/drawing/2014/main" id="{2BB51195-EBB0-4605-8FE0-1B71D054890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Observe identities, plans, locks, failures, backups, restores, and cloud boundaries.</a:t>
            </a:r>
          </a:p>
        </p:txBody>
      </p:sp>
      <p:sp>
        <p:nvSpPr>
          <p:cNvPr id="13" name="">
            <a:extLst xmlns:a="http://schemas.openxmlformats.org/drawingml/2006/main">
              <a:ext uri="{FF2B5EF4-FFF2-40B4-BE49-F238E27FC236}">
                <a16:creationId xmlns:a16="http://schemas.microsoft.com/office/drawing/2014/main" id="{B049E60F-EF48-41C4-8C4E-FEABFAB994AE}"/>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9E1EFB1D-8836-439C-A382-9FAB057B7F28}"/>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COMMUNICATE</a:t>
            </a:r>
          </a:p>
        </p:txBody>
      </p:sp>
      <p:sp>
        <p:nvSpPr>
          <p:cNvPr id="15" name="">
            <a:extLst xmlns:a="http://schemas.openxmlformats.org/drawingml/2006/main">
              <a:ext uri="{FF2B5EF4-FFF2-40B4-BE49-F238E27FC236}">
                <a16:creationId xmlns:a16="http://schemas.microsoft.com/office/drawing/2014/main" id="{48A492A3-30E7-452F-BE98-18D4150EDA69}"/>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Connect every claim to reproducible </a:t>
            </a:r>
            <a:r>
              <a:rPr sz="1500">
                <a:solidFill>
                  <a:srgbClr val="111827"/>
                </a:solidFill>
                <a:latin typeface="Helvetica Neue"/>
                <a:ea typeface="Helvetica Neue"/>
                <a:cs typeface="Helvetica Neue"/>
              </a:rPr>
              <a:t>results</a:t>
            </a:r>
            <a:r>
              <a:rPr sz="1500">
                <a:solidFill>
                  <a:srgbClr val="111827"/>
                </a:solidFill>
                <a:latin typeface="Helvetica Neue"/>
                <a:ea typeface="Helvetica Neue"/>
                <a:cs typeface="Helvetica Neue"/>
              </a:rPr>
              <a:t>, a tradeoff, and an honest limit.</a:t>
            </a:r>
          </a:p>
        </p:txBody>
      </p:sp>
    </p:spTree>
    <p:extLst>
      <p:ext uri="{BB962C8B-B14F-4D97-AF65-F5344CB8AC3E}">
        <p14:creationId xmlns:p14="http://schemas.microsoft.com/office/powerpoint/2010/main" val="2074238154"/>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A90FE0C-8A2B-470A-ADB2-797C0D8012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752910F-93C2-4D25-95CE-019A04CD136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4BCCA431-3862-47A0-87B3-7483FE3DC1F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Review any data system through six connected questions</a:t>
            </a:r>
          </a:p>
        </p:txBody>
      </p:sp>
      <p:sp>
        <p:nvSpPr>
          <p:cNvPr id="4" name="">
            <a:extLst xmlns:a="http://schemas.openxmlformats.org/drawingml/2006/main">
              <a:ext uri="{FF2B5EF4-FFF2-40B4-BE49-F238E27FC236}">
                <a16:creationId xmlns:a16="http://schemas.microsoft.com/office/drawing/2014/main" id="{775C9CEA-9F01-4750-B63B-AE353C7A4CA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490BBA2-652D-4CDD-A6A7-39527CD4484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4BED9D59-CC1C-448C-AFE0-A048B604B922}"/>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712AD4AA-8D4D-4FBA-A6FC-EFB91CD0359D}"/>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FC21128-AA08-4EBD-9074-A54AF2497122}"/>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1AF04A94-F0CE-4F1F-A4C0-540D4579AFB6}"/>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Purpose</a:t>
            </a:r>
          </a:p>
        </p:txBody>
      </p:sp>
      <p:sp>
        <p:nvSpPr>
          <p:cNvPr id="10" name="">
            <a:extLst xmlns:a="http://schemas.openxmlformats.org/drawingml/2006/main">
              <a:ext uri="{FF2B5EF4-FFF2-40B4-BE49-F238E27FC236}">
                <a16:creationId xmlns:a16="http://schemas.microsoft.com/office/drawing/2014/main" id="{6AD622C1-BB46-4B39-A71E-EA2004B518FE}"/>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user and workload decision does it support?</a:t>
            </a:r>
          </a:p>
        </p:txBody>
      </p:sp>
      <p:sp>
        <p:nvSpPr>
          <p:cNvPr id="11" name="">
            <a:extLst xmlns:a="http://schemas.openxmlformats.org/drawingml/2006/main">
              <a:ext uri="{FF2B5EF4-FFF2-40B4-BE49-F238E27FC236}">
                <a16:creationId xmlns:a16="http://schemas.microsoft.com/office/drawing/2014/main" id="{F2B719B9-4C45-4BF7-B437-E9D7AD8A051F}"/>
              </a:ext>
            </a:extLst>
          </p:cNvPr>
          <p:cNvSpPr>
            <a:spLocks xmlns:a="http://schemas.openxmlformats.org/drawingml/2006/main" noGrp="1"/>
          </p:cNvSpPr>
          <p:nvPr/>
        </p:nvSpPr>
        <p:spPr>
          <a:xfrm xmlns:a="http://schemas.openxmlformats.org/drawingml/2006/main">
            <a:off x="32099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8691935B-838E-496E-ABE2-793BC5CAF640}"/>
              </a:ext>
            </a:extLst>
          </p:cNvPr>
          <p:cNvSpPr>
            <a:spLocks xmlns:a="http://schemas.openxmlformats.org/drawingml/2006/main" noGrp="1"/>
          </p:cNvSpPr>
          <p:nvPr/>
        </p:nvSpPr>
        <p:spPr>
          <a:xfrm xmlns:a="http://schemas.openxmlformats.org/drawingml/2006/main">
            <a:off x="32385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42039B61-9D23-405C-8F46-E45351A1CBD9}"/>
              </a:ext>
            </a:extLst>
          </p:cNvPr>
          <p:cNvSpPr>
            <a:spLocks xmlns:a="http://schemas.openxmlformats.org/drawingml/2006/main" noGrp="1"/>
          </p:cNvSpPr>
          <p:nvPr/>
        </p:nvSpPr>
        <p:spPr>
          <a:xfrm xmlns:a="http://schemas.openxmlformats.org/drawingml/2006/main">
            <a:off x="25146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Model</a:t>
            </a:r>
          </a:p>
        </p:txBody>
      </p:sp>
      <p:sp>
        <p:nvSpPr>
          <p:cNvPr id="14" name="">
            <a:extLst xmlns:a="http://schemas.openxmlformats.org/drawingml/2006/main">
              <a:ext uri="{FF2B5EF4-FFF2-40B4-BE49-F238E27FC236}">
                <a16:creationId xmlns:a16="http://schemas.microsoft.com/office/drawing/2014/main" id="{AF2A434E-7B80-488C-9785-E29C62589C34}"/>
              </a:ext>
            </a:extLst>
          </p:cNvPr>
          <p:cNvSpPr>
            <a:spLocks xmlns:a="http://schemas.openxmlformats.org/drawingml/2006/main" noGrp="1"/>
          </p:cNvSpPr>
          <p:nvPr/>
        </p:nvSpPr>
        <p:spPr>
          <a:xfrm xmlns:a="http://schemas.openxmlformats.org/drawingml/2006/main">
            <a:off x="24765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does one record mean, and how are relationships represented?</a:t>
            </a:r>
          </a:p>
        </p:txBody>
      </p:sp>
      <p:sp>
        <p:nvSpPr>
          <p:cNvPr id="15" name="">
            <a:extLst xmlns:a="http://schemas.openxmlformats.org/drawingml/2006/main">
              <a:ext uri="{FF2B5EF4-FFF2-40B4-BE49-F238E27FC236}">
                <a16:creationId xmlns:a16="http://schemas.microsoft.com/office/drawing/2014/main" id="{9CF6895F-3CE4-4DC7-8181-9A545F42FA29}"/>
              </a:ext>
            </a:extLst>
          </p:cNvPr>
          <p:cNvSpPr>
            <a:spLocks xmlns:a="http://schemas.openxmlformats.org/drawingml/2006/main" noGrp="1"/>
          </p:cNvSpPr>
          <p:nvPr/>
        </p:nvSpPr>
        <p:spPr>
          <a:xfrm xmlns:a="http://schemas.openxmlformats.org/drawingml/2006/main">
            <a:off x="50387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3B995661-2348-40E6-88C4-DC2B970F8D7E}"/>
              </a:ext>
            </a:extLst>
          </p:cNvPr>
          <p:cNvSpPr>
            <a:spLocks xmlns:a="http://schemas.openxmlformats.org/drawingml/2006/main" noGrp="1"/>
          </p:cNvSpPr>
          <p:nvPr/>
        </p:nvSpPr>
        <p:spPr>
          <a:xfrm xmlns:a="http://schemas.openxmlformats.org/drawingml/2006/main">
            <a:off x="50673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7A7E59DD-1781-4E40-B852-403FF8125771}"/>
              </a:ext>
            </a:extLst>
          </p:cNvPr>
          <p:cNvSpPr>
            <a:spLocks xmlns:a="http://schemas.openxmlformats.org/drawingml/2006/main" noGrp="1"/>
          </p:cNvSpPr>
          <p:nvPr/>
        </p:nvSpPr>
        <p:spPr>
          <a:xfrm xmlns:a="http://schemas.openxmlformats.org/drawingml/2006/main">
            <a:off x="43434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Protect</a:t>
            </a:r>
          </a:p>
        </p:txBody>
      </p:sp>
      <p:sp>
        <p:nvSpPr>
          <p:cNvPr id="18" name="">
            <a:extLst xmlns:a="http://schemas.openxmlformats.org/drawingml/2006/main">
              <a:ext uri="{FF2B5EF4-FFF2-40B4-BE49-F238E27FC236}">
                <a16:creationId xmlns:a16="http://schemas.microsoft.com/office/drawing/2014/main" id="{77ADDF24-7E3A-4FAD-BEEB-808A3597FA94}"/>
              </a:ext>
            </a:extLst>
          </p:cNvPr>
          <p:cNvSpPr>
            <a:spLocks xmlns:a="http://schemas.openxmlformats.org/drawingml/2006/main" noGrp="1"/>
          </p:cNvSpPr>
          <p:nvPr/>
        </p:nvSpPr>
        <p:spPr>
          <a:xfrm xmlns:a="http://schemas.openxmlformats.org/drawingml/2006/main">
            <a:off x="43053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bad states and unauthorized actions are refused?</a:t>
            </a:r>
          </a:p>
        </p:txBody>
      </p:sp>
      <p:sp>
        <p:nvSpPr>
          <p:cNvPr id="19" name="">
            <a:extLst xmlns:a="http://schemas.openxmlformats.org/drawingml/2006/main">
              <a:ext uri="{FF2B5EF4-FFF2-40B4-BE49-F238E27FC236}">
                <a16:creationId xmlns:a16="http://schemas.microsoft.com/office/drawing/2014/main" id="{C339A7AD-D823-4AE7-BADF-8DF0F5848A4E}"/>
              </a:ext>
            </a:extLst>
          </p:cNvPr>
          <p:cNvSpPr>
            <a:spLocks xmlns:a="http://schemas.openxmlformats.org/drawingml/2006/main" noGrp="1"/>
          </p:cNvSpPr>
          <p:nvPr/>
        </p:nvSpPr>
        <p:spPr>
          <a:xfrm xmlns:a="http://schemas.openxmlformats.org/drawingml/2006/main">
            <a:off x="68675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635C2138-0A7D-4256-A8C6-5EF0EA5A493C}"/>
              </a:ext>
            </a:extLst>
          </p:cNvPr>
          <p:cNvSpPr>
            <a:spLocks xmlns:a="http://schemas.openxmlformats.org/drawingml/2006/main" noGrp="1"/>
          </p:cNvSpPr>
          <p:nvPr/>
        </p:nvSpPr>
        <p:spPr>
          <a:xfrm xmlns:a="http://schemas.openxmlformats.org/drawingml/2006/main">
            <a:off x="68961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C3EF5BDC-8CB9-4F6D-B40F-EDD96642E513}"/>
              </a:ext>
            </a:extLst>
          </p:cNvPr>
          <p:cNvSpPr>
            <a:spLocks xmlns:a="http://schemas.openxmlformats.org/drawingml/2006/main" noGrp="1"/>
          </p:cNvSpPr>
          <p:nvPr/>
        </p:nvSpPr>
        <p:spPr>
          <a:xfrm xmlns:a="http://schemas.openxmlformats.org/drawingml/2006/main">
            <a:off x="61722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Perform</a:t>
            </a:r>
          </a:p>
        </p:txBody>
      </p:sp>
      <p:sp>
        <p:nvSpPr>
          <p:cNvPr id="22" name="">
            <a:extLst xmlns:a="http://schemas.openxmlformats.org/drawingml/2006/main">
              <a:ext uri="{FF2B5EF4-FFF2-40B4-BE49-F238E27FC236}">
                <a16:creationId xmlns:a16="http://schemas.microsoft.com/office/drawing/2014/main" id="{AE8FEFD7-E90F-44A7-BCCA-A5BFA372742E}"/>
              </a:ext>
            </a:extLst>
          </p:cNvPr>
          <p:cNvSpPr>
            <a:spLocks xmlns:a="http://schemas.openxmlformats.org/drawingml/2006/main" noGrp="1"/>
          </p:cNvSpPr>
          <p:nvPr/>
        </p:nvSpPr>
        <p:spPr>
          <a:xfrm xmlns:a="http://schemas.openxmlformats.org/drawingml/2006/main">
            <a:off x="61341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query shapes matter, and what measured work supports them?</a:t>
            </a:r>
          </a:p>
        </p:txBody>
      </p:sp>
      <p:sp>
        <p:nvSpPr>
          <p:cNvPr id="23" name="">
            <a:extLst xmlns:a="http://schemas.openxmlformats.org/drawingml/2006/main">
              <a:ext uri="{FF2B5EF4-FFF2-40B4-BE49-F238E27FC236}">
                <a16:creationId xmlns:a16="http://schemas.microsoft.com/office/drawing/2014/main" id="{3369B3E5-8491-41B9-B6AC-491CA2545C04}"/>
              </a:ext>
            </a:extLst>
          </p:cNvPr>
          <p:cNvSpPr>
            <a:spLocks xmlns:a="http://schemas.openxmlformats.org/drawingml/2006/main" noGrp="1"/>
          </p:cNvSpPr>
          <p:nvPr/>
        </p:nvSpPr>
        <p:spPr>
          <a:xfrm xmlns:a="http://schemas.openxmlformats.org/drawingml/2006/main">
            <a:off x="86963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738270D0-BE1E-42E0-860E-54C6052BE5D3}"/>
              </a:ext>
            </a:extLst>
          </p:cNvPr>
          <p:cNvSpPr>
            <a:spLocks xmlns:a="http://schemas.openxmlformats.org/drawingml/2006/main" noGrp="1"/>
          </p:cNvSpPr>
          <p:nvPr/>
        </p:nvSpPr>
        <p:spPr>
          <a:xfrm xmlns:a="http://schemas.openxmlformats.org/drawingml/2006/main">
            <a:off x="87249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1B7771B8-191F-478E-8841-01E912C4B3E5}"/>
              </a:ext>
            </a:extLst>
          </p:cNvPr>
          <p:cNvSpPr>
            <a:spLocks xmlns:a="http://schemas.openxmlformats.org/drawingml/2006/main" noGrp="1"/>
          </p:cNvSpPr>
          <p:nvPr/>
        </p:nvSpPr>
        <p:spPr>
          <a:xfrm xmlns:a="http://schemas.openxmlformats.org/drawingml/2006/main">
            <a:off x="80010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Recover</a:t>
            </a:r>
          </a:p>
        </p:txBody>
      </p:sp>
      <p:sp>
        <p:nvSpPr>
          <p:cNvPr id="26" name="">
            <a:extLst xmlns:a="http://schemas.openxmlformats.org/drawingml/2006/main">
              <a:ext uri="{FF2B5EF4-FFF2-40B4-BE49-F238E27FC236}">
                <a16:creationId xmlns:a16="http://schemas.microsoft.com/office/drawing/2014/main" id="{8345742D-380A-4584-B15E-213F0C37CD2C}"/>
              </a:ext>
            </a:extLst>
          </p:cNvPr>
          <p:cNvSpPr>
            <a:spLocks xmlns:a="http://schemas.openxmlformats.org/drawingml/2006/main" noGrp="1"/>
          </p:cNvSpPr>
          <p:nvPr/>
        </p:nvSpPr>
        <p:spPr>
          <a:xfrm xmlns:a="http://schemas.openxmlformats.org/drawingml/2006/main">
            <a:off x="79629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failure is tolerated, and how is restoration verified?</a:t>
            </a:r>
          </a:p>
        </p:txBody>
      </p:sp>
      <p:sp>
        <p:nvSpPr>
          <p:cNvPr id="27" name="">
            <a:extLst xmlns:a="http://schemas.openxmlformats.org/drawingml/2006/main">
              <a:ext uri="{FF2B5EF4-FFF2-40B4-BE49-F238E27FC236}">
                <a16:creationId xmlns:a16="http://schemas.microsoft.com/office/drawing/2014/main" id="{6568CAC3-08FB-4BED-B81F-8236154A1192}"/>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8" name="">
            <a:extLst xmlns:a="http://schemas.openxmlformats.org/drawingml/2006/main">
              <a:ext uri="{FF2B5EF4-FFF2-40B4-BE49-F238E27FC236}">
                <a16:creationId xmlns:a16="http://schemas.microsoft.com/office/drawing/2014/main" id="{AF5611BA-433D-490E-8E55-5761037DDB0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6</a:t>
            </a:r>
          </a:p>
        </p:txBody>
      </p:sp>
      <p:sp>
        <p:nvSpPr>
          <p:cNvPr id="29" name="">
            <a:extLst xmlns:a="http://schemas.openxmlformats.org/drawingml/2006/main">
              <a:ext uri="{FF2B5EF4-FFF2-40B4-BE49-F238E27FC236}">
                <a16:creationId xmlns:a16="http://schemas.microsoft.com/office/drawing/2014/main" id="{B865CB4D-64A4-4393-A9AC-7CC0935B063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Reproduce</a:t>
            </a:r>
          </a:p>
        </p:txBody>
      </p:sp>
      <p:sp>
        <p:nvSpPr>
          <p:cNvPr id="30" name="">
            <a:extLst xmlns:a="http://schemas.openxmlformats.org/drawingml/2006/main">
              <a:ext uri="{FF2B5EF4-FFF2-40B4-BE49-F238E27FC236}">
                <a16:creationId xmlns:a16="http://schemas.microsoft.com/office/drawing/2014/main" id="{0A646BCC-9A84-406E-A1A1-2F952BDF0B1F}"/>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Can another person inspect it safely without receiving a secret?</a:t>
            </a:r>
          </a:p>
        </p:txBody>
      </p:sp>
      <p:sp>
        <p:nvSpPr>
          <p:cNvPr id="31" name="">
            <a:extLst xmlns:a="http://schemas.openxmlformats.org/drawingml/2006/main">
              <a:ext uri="{FF2B5EF4-FFF2-40B4-BE49-F238E27FC236}">
                <a16:creationId xmlns:a16="http://schemas.microsoft.com/office/drawing/2014/main" id="{9237A273-DE05-4AF0-9BB2-287094DAF7CD}"/>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 system is credible when meaning, behavior, protection, and recovery form one chain.</a:t>
            </a:r>
          </a:p>
        </p:txBody>
      </p:sp>
    </p:spTree>
    <p:extLst>
      <p:ext uri="{BB962C8B-B14F-4D97-AF65-F5344CB8AC3E}">
        <p14:creationId xmlns:p14="http://schemas.microsoft.com/office/powerpoint/2010/main" val="11970273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B543811-F48C-4BBC-922B-AC75518F75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6954942-984C-4D64-8952-F7B64E3FD43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49F68072-ABBA-41FC-AE44-00E3EF610DD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95099"/>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tool claim becomes credible when scope and results are specific</a:t>
            </a:r>
          </a:p>
        </p:txBody>
      </p:sp>
      <p:sp>
        <p:nvSpPr>
          <p:cNvPr id="4" name="">
            <a:extLst xmlns:a="http://schemas.openxmlformats.org/drawingml/2006/main">
              <a:ext uri="{FF2B5EF4-FFF2-40B4-BE49-F238E27FC236}">
                <a16:creationId xmlns:a16="http://schemas.microsoft.com/office/drawing/2014/main" id="{68149BF7-52E1-4E77-A445-D0B646FD492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BED6041-61E4-4DB4-9875-2C51037F8C4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D21D89EA-8DC5-410E-A6DE-F9BAA070C661}"/>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Tool inventory</a:t>
            </a:r>
          </a:p>
        </p:txBody>
      </p:sp>
      <p:sp>
        <p:nvSpPr>
          <p:cNvPr id="7" name="">
            <a:extLst xmlns:a="http://schemas.openxmlformats.org/drawingml/2006/main">
              <a:ext uri="{FF2B5EF4-FFF2-40B4-BE49-F238E27FC236}">
                <a16:creationId xmlns:a16="http://schemas.microsoft.com/office/drawing/2014/main" id="{96A46272-BB0F-450F-81E9-10D20570385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Specific skill statement</a:t>
            </a:r>
          </a:p>
        </p:txBody>
      </p:sp>
      <p:sp>
        <p:nvSpPr>
          <p:cNvPr id="8" name="">
            <a:extLst xmlns:a="http://schemas.openxmlformats.org/drawingml/2006/main">
              <a:ext uri="{FF2B5EF4-FFF2-40B4-BE49-F238E27FC236}">
                <a16:creationId xmlns:a16="http://schemas.microsoft.com/office/drawing/2014/main" id="{6C0C8D98-A793-4417-B6A7-7FCB2D87E181}"/>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C9BA3CD2-D770-4C17-A944-CFB8F4E5122F}"/>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05D7C03F-5177-4243-B65C-822C7E763C39}"/>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Used PostgreSQL, MongoDB, Atlas, Supabase, and Python</a:t>
            </a:r>
          </a:p>
        </p:txBody>
      </p:sp>
      <p:sp>
        <p:nvSpPr>
          <p:cNvPr id="11" name="">
            <a:extLst xmlns:a="http://schemas.openxmlformats.org/drawingml/2006/main">
              <a:ext uri="{FF2B5EF4-FFF2-40B4-BE49-F238E27FC236}">
                <a16:creationId xmlns:a16="http://schemas.microsoft.com/office/drawing/2014/main" id="{0E61A843-76FE-4ECF-9EAC-DE93474EDAF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D5EFDDD0-D5B6-4655-A393-C57B4C32B5C8}"/>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Added indexes and security</a:t>
            </a:r>
          </a:p>
        </p:txBody>
      </p:sp>
      <p:sp>
        <p:nvSpPr>
          <p:cNvPr id="13" name="">
            <a:extLst xmlns:a="http://schemas.openxmlformats.org/drawingml/2006/main">
              <a:ext uri="{FF2B5EF4-FFF2-40B4-BE49-F238E27FC236}">
                <a16:creationId xmlns:a16="http://schemas.microsoft.com/office/drawing/2014/main" id="{741AF2F6-BC6F-49E6-9331-26034C6D555E}"/>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6739BD09-6692-46FE-8D2E-EF3C1BB870A3}"/>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Made a backup</a:t>
            </a:r>
          </a:p>
        </p:txBody>
      </p:sp>
      <p:sp>
        <p:nvSpPr>
          <p:cNvPr id="15" name="">
            <a:extLst xmlns:a="http://schemas.openxmlformats.org/drawingml/2006/main">
              <a:ext uri="{FF2B5EF4-FFF2-40B4-BE49-F238E27FC236}">
                <a16:creationId xmlns:a16="http://schemas.microsoft.com/office/drawing/2014/main" id="{11288168-7868-4A8C-BF53-D98046A0D2C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69D0A28C-0745-4CF2-910E-022B8ACD529D}"/>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Built named constraints and verified expected failures</a:t>
            </a:r>
          </a:p>
        </p:txBody>
      </p:sp>
      <p:sp>
        <p:nvSpPr>
          <p:cNvPr id="17" name="">
            <a:extLst xmlns:a="http://schemas.openxmlformats.org/drawingml/2006/main">
              <a:ext uri="{FF2B5EF4-FFF2-40B4-BE49-F238E27FC236}">
                <a16:creationId xmlns:a16="http://schemas.microsoft.com/office/drawing/2014/main" id="{EE6254DA-C89C-46C2-BF13-73F09594EDC8}"/>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C188D790-3197-4CA9-81D8-5FDCE09A22B0}"/>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Compared unchanged query plans before and after a composite index</a:t>
            </a:r>
          </a:p>
        </p:txBody>
      </p:sp>
      <p:sp>
        <p:nvSpPr>
          <p:cNvPr id="19" name="">
            <a:extLst xmlns:a="http://schemas.openxmlformats.org/drawingml/2006/main">
              <a:ext uri="{FF2B5EF4-FFF2-40B4-BE49-F238E27FC236}">
                <a16:creationId xmlns:a16="http://schemas.microsoft.com/office/drawing/2014/main" id="{D28F57C0-BB8F-4D8F-A206-7EC7F311AD7B}"/>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EF4DA89-C3F9-476F-906A-D71F3D22E796}"/>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Restored a logical artifact elsewhere and checked structure, data, and behavior</a:t>
            </a:r>
          </a:p>
        </p:txBody>
      </p:sp>
    </p:spTree>
    <p:extLst>
      <p:ext uri="{BB962C8B-B14F-4D97-AF65-F5344CB8AC3E}">
        <p14:creationId xmlns:p14="http://schemas.microsoft.com/office/powerpoint/2010/main" val="74349904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2632758-FA0C-494D-AE2D-D664B022EB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56AFD7A-D5D3-4024-897A-51CD043237B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531B182C-E395-4DE5-B4E2-3F13B100675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useful GitHub project teaches one technical sequence</a:t>
            </a:r>
          </a:p>
        </p:txBody>
      </p:sp>
      <p:sp>
        <p:nvSpPr>
          <p:cNvPr id="4" name="">
            <a:extLst xmlns:a="http://schemas.openxmlformats.org/drawingml/2006/main">
              <a:ext uri="{FF2B5EF4-FFF2-40B4-BE49-F238E27FC236}">
                <a16:creationId xmlns:a16="http://schemas.microsoft.com/office/drawing/2014/main" id="{32CE1FB1-5ACE-4C43-AA10-DAFA942FC9C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03E8D08-B6C7-4010-A113-17E8D5CD3EC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0C33BC59-1CD1-4AA6-A75C-392DC8AA87A6}"/>
              </a:ext>
            </a:extLst>
          </p:cNvPr>
          <p:cNvSpPr>
            <a:spLocks xmlns:a="http://schemas.openxmlformats.org/drawingml/2006/main" noGrp="1"/>
          </p:cNvSpPr>
          <p:nvPr/>
        </p:nvSpPr>
        <p:spPr>
          <a:xfrm xmlns:a="http://schemas.openxmlformats.org/drawingml/2006/main">
            <a:off x="1738313" y="3000375"/>
            <a:ext cx="2905125"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E5C2F380-3FA2-4DD7-9CD9-E546BD25DCEF}"/>
              </a:ext>
            </a:extLst>
          </p:cNvPr>
          <p:cNvSpPr>
            <a:spLocks xmlns:a="http://schemas.openxmlformats.org/drawingml/2006/main" noGrp="1"/>
          </p:cNvSpPr>
          <p:nvPr/>
        </p:nvSpPr>
        <p:spPr>
          <a:xfrm xmlns:a="http://schemas.openxmlformats.org/drawingml/2006/main">
            <a:off x="4643438" y="3000375"/>
            <a:ext cx="290512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BCF05562-E184-4E28-99DC-1F84E0BDE836}"/>
              </a:ext>
            </a:extLst>
          </p:cNvPr>
          <p:cNvSpPr>
            <a:spLocks xmlns:a="http://schemas.openxmlformats.org/drawingml/2006/main" noGrp="1"/>
          </p:cNvSpPr>
          <p:nvPr/>
        </p:nvSpPr>
        <p:spPr>
          <a:xfrm xmlns:a="http://schemas.openxmlformats.org/drawingml/2006/main">
            <a:off x="7548563" y="3000375"/>
            <a:ext cx="290512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865344DA-CDD0-4B7F-B753-CF81AC910755}"/>
              </a:ext>
            </a:extLst>
          </p:cNvPr>
          <p:cNvSpPr>
            <a:spLocks xmlns:a="http://schemas.openxmlformats.org/drawingml/2006/main" noGrp="1"/>
          </p:cNvSpPr>
          <p:nvPr/>
        </p:nvSpPr>
        <p:spPr>
          <a:xfrm xmlns:a="http://schemas.openxmlformats.org/drawingml/2006/main">
            <a:off x="571500" y="2428875"/>
            <a:ext cx="2333625" cy="114300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README.md</a:t>
            </a:r>
          </a:p>
        </p:txBody>
      </p:sp>
      <p:sp>
        <p:nvSpPr>
          <p:cNvPr id="10" name="">
            <a:extLst xmlns:a="http://schemas.openxmlformats.org/drawingml/2006/main">
              <a:ext uri="{FF2B5EF4-FFF2-40B4-BE49-F238E27FC236}">
                <a16:creationId xmlns:a16="http://schemas.microsoft.com/office/drawing/2014/main" id="{AC90DCF4-7FA7-463F-A676-B9E8894CC292}"/>
              </a:ext>
            </a:extLst>
          </p:cNvPr>
          <p:cNvSpPr>
            <a:spLocks xmlns:a="http://schemas.openxmlformats.org/drawingml/2006/main" noGrp="1"/>
          </p:cNvSpPr>
          <p:nvPr/>
        </p:nvSpPr>
        <p:spPr>
          <a:xfrm xmlns:a="http://schemas.openxmlformats.org/drawingml/2006/main">
            <a:off x="571500"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purpose + safe run order</a:t>
            </a:r>
          </a:p>
        </p:txBody>
      </p:sp>
      <p:sp>
        <p:nvSpPr>
          <p:cNvPr id="11" name="">
            <a:extLst xmlns:a="http://schemas.openxmlformats.org/drawingml/2006/main">
              <a:ext uri="{FF2B5EF4-FFF2-40B4-BE49-F238E27FC236}">
                <a16:creationId xmlns:a16="http://schemas.microsoft.com/office/drawing/2014/main" id="{8AF804FD-16B9-4997-A986-215D8970D045}"/>
              </a:ext>
            </a:extLst>
          </p:cNvPr>
          <p:cNvSpPr>
            <a:spLocks xmlns:a="http://schemas.openxmlformats.org/drawingml/2006/main" noGrp="1"/>
          </p:cNvSpPr>
          <p:nvPr/>
        </p:nvSpPr>
        <p:spPr>
          <a:xfrm xmlns:a="http://schemas.openxmlformats.org/drawingml/2006/main">
            <a:off x="3476625" y="2428875"/>
            <a:ext cx="233362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Code or guide</a:t>
            </a:r>
          </a:p>
        </p:txBody>
      </p:sp>
      <p:sp>
        <p:nvSpPr>
          <p:cNvPr id="12" name="">
            <a:extLst xmlns:a="http://schemas.openxmlformats.org/drawingml/2006/main">
              <a:ext uri="{FF2B5EF4-FFF2-40B4-BE49-F238E27FC236}">
                <a16:creationId xmlns:a16="http://schemas.microsoft.com/office/drawing/2014/main" id="{97C6265E-4C97-4A1A-90FC-67DDEECBACE5}"/>
              </a:ext>
            </a:extLst>
          </p:cNvPr>
          <p:cNvSpPr>
            <a:spLocks xmlns:a="http://schemas.openxmlformats.org/drawingml/2006/main" noGrp="1"/>
          </p:cNvSpPr>
          <p:nvPr/>
        </p:nvSpPr>
        <p:spPr>
          <a:xfrm xmlns:a="http://schemas.openxmlformats.org/drawingml/2006/main">
            <a:off x="3476625"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focused concept</a:t>
            </a:r>
          </a:p>
        </p:txBody>
      </p:sp>
      <p:sp>
        <p:nvSpPr>
          <p:cNvPr id="13" name="">
            <a:extLst xmlns:a="http://schemas.openxmlformats.org/drawingml/2006/main">
              <a:ext uri="{FF2B5EF4-FFF2-40B4-BE49-F238E27FC236}">
                <a16:creationId xmlns:a16="http://schemas.microsoft.com/office/drawing/2014/main" id="{99EFBA2C-493B-41CE-AB71-BA9284C214CD}"/>
              </a:ext>
            </a:extLst>
          </p:cNvPr>
          <p:cNvSpPr>
            <a:spLocks xmlns:a="http://schemas.openxmlformats.org/drawingml/2006/main" noGrp="1"/>
          </p:cNvSpPr>
          <p:nvPr/>
        </p:nvSpPr>
        <p:spPr>
          <a:xfrm xmlns:a="http://schemas.openxmlformats.org/drawingml/2006/main">
            <a:off x="6381750" y="2428875"/>
            <a:ext cx="233362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Expected result</a:t>
            </a:r>
          </a:p>
        </p:txBody>
      </p:sp>
      <p:sp>
        <p:nvSpPr>
          <p:cNvPr id="14" name="">
            <a:extLst xmlns:a="http://schemas.openxmlformats.org/drawingml/2006/main">
              <a:ext uri="{FF2B5EF4-FFF2-40B4-BE49-F238E27FC236}">
                <a16:creationId xmlns:a16="http://schemas.microsoft.com/office/drawing/2014/main" id="{83CE63AB-2501-4F63-8172-F3F24FDF051F}"/>
              </a:ext>
            </a:extLst>
          </p:cNvPr>
          <p:cNvSpPr>
            <a:spLocks xmlns:a="http://schemas.openxmlformats.org/drawingml/2006/main" noGrp="1"/>
          </p:cNvSpPr>
          <p:nvPr/>
        </p:nvSpPr>
        <p:spPr>
          <a:xfrm xmlns:a="http://schemas.openxmlformats.org/drawingml/2006/main">
            <a:off x="6381750"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what output </a:t>
            </a:r>
            <a:r>
              <a:rPr sz="1125">
                <a:solidFill>
                  <a:srgbClr val="475569"/>
                </a:solidFill>
                <a:latin typeface="Helvetica Neue"/>
                <a:ea typeface="Helvetica Neue"/>
                <a:cs typeface="Helvetica Neue"/>
              </a:rPr>
              <a:t>confirms</a:t>
            </a:r>
          </a:p>
        </p:txBody>
      </p:sp>
      <p:sp>
        <p:nvSpPr>
          <p:cNvPr id="15" name="">
            <a:extLst xmlns:a="http://schemas.openxmlformats.org/drawingml/2006/main">
              <a:ext uri="{FF2B5EF4-FFF2-40B4-BE49-F238E27FC236}">
                <a16:creationId xmlns:a16="http://schemas.microsoft.com/office/drawing/2014/main" id="{B6AADE92-097C-446F-9722-AC73E9195581}"/>
              </a:ext>
            </a:extLst>
          </p:cNvPr>
          <p:cNvSpPr>
            <a:spLocks xmlns:a="http://schemas.openxmlformats.org/drawingml/2006/main" noGrp="1"/>
          </p:cNvSpPr>
          <p:nvPr/>
        </p:nvSpPr>
        <p:spPr>
          <a:xfrm xmlns:a="http://schemas.openxmlformats.org/drawingml/2006/main">
            <a:off x="9286875" y="2428875"/>
            <a:ext cx="233362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Cleanup + limit</a:t>
            </a:r>
          </a:p>
        </p:txBody>
      </p:sp>
      <p:sp>
        <p:nvSpPr>
          <p:cNvPr id="16" name="">
            <a:extLst xmlns:a="http://schemas.openxmlformats.org/drawingml/2006/main">
              <a:ext uri="{FF2B5EF4-FFF2-40B4-BE49-F238E27FC236}">
                <a16:creationId xmlns:a16="http://schemas.microsoft.com/office/drawing/2014/main" id="{ACA07749-D067-4E77-B70D-B0006CC60DB1}"/>
              </a:ext>
            </a:extLst>
          </p:cNvPr>
          <p:cNvSpPr>
            <a:spLocks xmlns:a="http://schemas.openxmlformats.org/drawingml/2006/main" noGrp="1"/>
          </p:cNvSpPr>
          <p:nvPr/>
        </p:nvSpPr>
        <p:spPr>
          <a:xfrm xmlns:a="http://schemas.openxmlformats.org/drawingml/2006/main">
            <a:off x="9286875"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scope, safety, sources</a:t>
            </a:r>
          </a:p>
        </p:txBody>
      </p:sp>
      <p:sp>
        <p:nvSpPr>
          <p:cNvPr id="17" name="">
            <a:extLst xmlns:a="http://schemas.openxmlformats.org/drawingml/2006/main">
              <a:ext uri="{FF2B5EF4-FFF2-40B4-BE49-F238E27FC236}">
                <a16:creationId xmlns:a16="http://schemas.microsoft.com/office/drawing/2014/main" id="{E6F75527-1396-40F4-B60E-09BFF0528D8B}"/>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A focused operations artifact can demonstrate more skill than a large app whose data decisions are hidden.</a:t>
            </a:r>
          </a:p>
        </p:txBody>
      </p:sp>
    </p:spTree>
    <p:extLst>
      <p:ext uri="{BB962C8B-B14F-4D97-AF65-F5344CB8AC3E}">
        <p14:creationId xmlns:p14="http://schemas.microsoft.com/office/powerpoint/2010/main" val="32185291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0239AC5-F33E-4FE2-A402-7AFE4E8F40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05CACEC-4AF6-4903-9DCE-2C91B926362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8002F2D8-1D9B-477A-B8BA-A5BF626976E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Publication safety is part of technical quality</a:t>
            </a:r>
          </a:p>
        </p:txBody>
      </p:sp>
      <p:sp>
        <p:nvSpPr>
          <p:cNvPr id="4" name="">
            <a:extLst xmlns:a="http://schemas.openxmlformats.org/drawingml/2006/main">
              <a:ext uri="{FF2B5EF4-FFF2-40B4-BE49-F238E27FC236}">
                <a16:creationId xmlns:a16="http://schemas.microsoft.com/office/drawing/2014/main" id="{C574AE2D-4847-42E5-845D-4C1A8F733AC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CE42C6A-D1CF-4BCC-9A42-BE9A645C2F5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C96F7549-1E9C-4FEA-B9F5-2BC4A036DD27}"/>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sp>
      <p:sp>
        <p:nvSpPr>
          <p:cNvPr id="7" name="">
            <a:extLst xmlns:a="http://schemas.openxmlformats.org/drawingml/2006/main">
              <a:ext uri="{FF2B5EF4-FFF2-40B4-BE49-F238E27FC236}">
                <a16:creationId xmlns:a16="http://schemas.microsoft.com/office/drawing/2014/main" id="{BDEC5A5E-BACA-4EAA-8565-16B56CFAA822}"/>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B455F771-2C7A-44BB-B9AF-C06F5C53769D}"/>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Search every file and notebook output for credentials, tokens, private hosts, and URLs containing secrets.</a:t>
            </a:r>
          </a:p>
        </p:txBody>
      </p:sp>
      <p:sp>
        <p:nvSpPr>
          <p:cNvPr id="9" name="">
            <a:extLst xmlns:a="http://schemas.openxmlformats.org/drawingml/2006/main">
              <a:ext uri="{FF2B5EF4-FFF2-40B4-BE49-F238E27FC236}">
                <a16:creationId xmlns:a16="http://schemas.microsoft.com/office/drawing/2014/main" id="{0A4E6B55-0B5C-4837-AD8F-6A6E3512F09E}"/>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755756F-24BB-4C25-9A20-BEA162D91F8D}"/>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1" name="">
            <a:extLst xmlns:a="http://schemas.openxmlformats.org/drawingml/2006/main">
              <a:ext uri="{FF2B5EF4-FFF2-40B4-BE49-F238E27FC236}">
                <a16:creationId xmlns:a16="http://schemas.microsoft.com/office/drawing/2014/main" id="{5E2D4FAD-4C3B-4427-8F4E-D4EB498EC11E}"/>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4DB6DFFB-D489-4133-9E64-68E951BB5DB1}"/>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Remove real personal or regulated data and use synthetic or appropriately licensed data instead.</a:t>
            </a:r>
          </a:p>
        </p:txBody>
      </p:sp>
      <p:sp>
        <p:nvSpPr>
          <p:cNvPr id="13" name="">
            <a:extLst xmlns:a="http://schemas.openxmlformats.org/drawingml/2006/main">
              <a:ext uri="{FF2B5EF4-FFF2-40B4-BE49-F238E27FC236}">
                <a16:creationId xmlns:a16="http://schemas.microsoft.com/office/drawing/2014/main" id="{2D2540DC-83AD-4EBD-984A-6570A8799221}"/>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828D616-41CD-48B6-8A30-8A25344428B5}"/>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5" name="">
            <a:extLst xmlns:a="http://schemas.openxmlformats.org/drawingml/2006/main">
              <a:ext uri="{FF2B5EF4-FFF2-40B4-BE49-F238E27FC236}">
                <a16:creationId xmlns:a16="http://schemas.microsoft.com/office/drawing/2014/main" id="{EB99C3A0-077E-4127-A78E-F051D1FB045D}"/>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E4164E1F-10AA-45FF-8597-85BE27E005F8}"/>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Name disposable targets, label destructive operations, and test the documented run order in a clean path.</a:t>
            </a:r>
          </a:p>
        </p:txBody>
      </p:sp>
      <p:sp>
        <p:nvSpPr>
          <p:cNvPr id="17" name="">
            <a:extLst xmlns:a="http://schemas.openxmlformats.org/drawingml/2006/main">
              <a:ext uri="{FF2B5EF4-FFF2-40B4-BE49-F238E27FC236}">
                <a16:creationId xmlns:a16="http://schemas.microsoft.com/office/drawing/2014/main" id="{FF773BBB-D49C-4BB6-AC4A-DFD5AB477C88}"/>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F25CC1C6-5886-48F4-B0CD-3C6ABA8C0B5A}"/>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9" name="">
            <a:extLst xmlns:a="http://schemas.openxmlformats.org/drawingml/2006/main">
              <a:ext uri="{FF2B5EF4-FFF2-40B4-BE49-F238E27FC236}">
                <a16:creationId xmlns:a16="http://schemas.microsoft.com/office/drawing/2014/main" id="{C845F2A8-3E5C-48E0-9D68-B8385882BF5D}"/>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94037311-03F6-40D2-AB9D-FDCF2E6A7EC5}"/>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Add source and license attribution, then verify the review URL without relying on your signed-in session.</a:t>
            </a:r>
          </a:p>
        </p:txBody>
      </p:sp>
      <p:sp>
        <p:nvSpPr>
          <p:cNvPr id="21" name="">
            <a:extLst xmlns:a="http://schemas.openxmlformats.org/drawingml/2006/main">
              <a:ext uri="{FF2B5EF4-FFF2-40B4-BE49-F238E27FC236}">
                <a16:creationId xmlns:a16="http://schemas.microsoft.com/office/drawing/2014/main" id="{3BDE985D-70E2-4C9F-8A1B-6D60F7758C45}"/>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210681587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447AB0A-97AF-4B61-AB20-D304F324E6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98CA8D2-A04B-4CEF-81E8-C57E1D19140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BE6DC2DC-EFA6-44EA-B668-DB04C9ACA78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Final lab: Teach one database concept in GitHub</a:t>
            </a:r>
          </a:p>
        </p:txBody>
      </p:sp>
      <p:sp>
        <p:nvSpPr>
          <p:cNvPr id="4" name="">
            <a:extLst xmlns:a="http://schemas.openxmlformats.org/drawingml/2006/main">
              <a:ext uri="{FF2B5EF4-FFF2-40B4-BE49-F238E27FC236}">
                <a16:creationId xmlns:a16="http://schemas.microsoft.com/office/drawing/2014/main" id="{811C73C1-6211-49E2-9E69-B29061EEF78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1E6DB58-9F48-472A-9ECB-64EFE98E42D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A8B87FF0-39CE-4CE2-879A-71B0B140D062}"/>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Create one small, safe artifact that another beginner can understand and reproduce.</a:t>
            </a:r>
          </a:p>
        </p:txBody>
      </p:sp>
      <p:sp>
        <p:nvSpPr>
          <p:cNvPr id="7" name="">
            <a:extLst xmlns:a="http://schemas.openxmlformats.org/drawingml/2006/main">
              <a:ext uri="{FF2B5EF4-FFF2-40B4-BE49-F238E27FC236}">
                <a16:creationId xmlns:a16="http://schemas.microsoft.com/office/drawing/2014/main" id="{30E37A25-CCF4-4BC3-96CC-6A8C5848494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F6C32209-DF57-46CE-9B70-8653B2F54DFD}"/>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one course concept and state the problem, prerequisite, and observable learning objective.</a:t>
            </a:r>
          </a:p>
        </p:txBody>
      </p:sp>
      <p:sp>
        <p:nvSpPr>
          <p:cNvPr id="9" name="">
            <a:extLst xmlns:a="http://schemas.openxmlformats.org/drawingml/2006/main">
              <a:ext uri="{FF2B5EF4-FFF2-40B4-BE49-F238E27FC236}">
                <a16:creationId xmlns:a16="http://schemas.microsoft.com/office/drawing/2014/main" id="{A3A9BC03-D9AC-4E9A-BF2C-CAF080C43D6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79E89FB7-05AB-431E-8098-4E767AD88DE7}"/>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Publish a README plus one code artifact or a detailed Markdown guide with concrete code examples.</a:t>
            </a:r>
          </a:p>
        </p:txBody>
      </p:sp>
      <p:sp>
        <p:nvSpPr>
          <p:cNvPr id="11" name="">
            <a:extLst xmlns:a="http://schemas.openxmlformats.org/drawingml/2006/main">
              <a:ext uri="{FF2B5EF4-FFF2-40B4-BE49-F238E27FC236}">
                <a16:creationId xmlns:a16="http://schemas.microsoft.com/office/drawing/2014/main" id="{B6154C15-00B4-46A8-BAD2-8518C8F60CBC}"/>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918FFE42-4475-4950-8DB8-EDD7F59F19AF}"/>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the publication-safety check, verify access, and explain </a:t>
            </a:r>
            <a:r>
              <a:rPr sz="1650">
                <a:solidFill>
                  <a:srgbClr val="111827"/>
                </a:solidFill>
                <a:latin typeface="Helvetica Neue"/>
                <a:ea typeface="Helvetica Neue"/>
                <a:cs typeface="Helvetica Neue"/>
              </a:rPr>
              <a:t>what one output demonstrates</a:t>
            </a:r>
            <a:r>
              <a:rPr sz="1650">
                <a:solidFill>
                  <a:srgbClr val="111827"/>
                </a:solidFill>
                <a:latin typeface="Helvetica Neue"/>
                <a:ea typeface="Helvetica Neue"/>
                <a:cs typeface="Helvetica Neue"/>
              </a:rPr>
              <a:t> and does not </a:t>
            </a:r>
            <a:r>
              <a:rPr sz="1650">
                <a:solidFill>
                  <a:srgbClr val="111827"/>
                </a:solidFill>
                <a:latin typeface="Helvetica Neue"/>
                <a:ea typeface="Helvetica Neue"/>
                <a:cs typeface="Helvetica Neue"/>
              </a:rPr>
              <a:t>confirm</a:t>
            </a:r>
            <a:r>
              <a:rPr sz="1650">
                <a:solidFill>
                  <a:srgbClr val="111827"/>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B6F73E12-531C-45D6-836D-F7EF5560A204}"/>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699349EA-4749-4294-AAD9-D4C28F88D815}"/>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public or instructor-accessible artifact URL in Brightspace</a:t>
            </a:r>
          </a:p>
        </p:txBody>
      </p:sp>
    </p:spTree>
    <p:extLst>
      <p:ext uri="{BB962C8B-B14F-4D97-AF65-F5344CB8AC3E}">
        <p14:creationId xmlns:p14="http://schemas.microsoft.com/office/powerpoint/2010/main" val="1790689461"/>
      </p:ext>
    </p:extLst>
  </p:cSld>
</p:sld>
</file>

<file path=ppt/slides/slide8.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6195A3-C6D7-46DA-AACF-5108DECA93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 name="">
            <a:extLst xmlns:a="http://schemas.openxmlformats.org/drawingml/2006/main">
              <a:ext uri="{FF2B5EF4-FFF2-40B4-BE49-F238E27FC236}">
                <a16:creationId xmlns:a16="http://schemas.microsoft.com/office/drawing/2014/main" id="{AEC23386-2417-4DD1-AC7A-E0032DE2BD51}"/>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72041F4F-DDF3-4CF8-9851-9121C23474FA}"/>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Present the project as a decision story</a:t>
            </a:r>
          </a:p>
        </p:txBody>
      </p:sp>
      <p:sp>
        <p:nvSpPr>
          <p:cNvPr id="4" name="">
            <a:extLst xmlns:a="http://schemas.openxmlformats.org/drawingml/2006/main">
              <a:ext uri="{FF2B5EF4-FFF2-40B4-BE49-F238E27FC236}">
                <a16:creationId xmlns:a16="http://schemas.microsoft.com/office/drawing/2014/main" id="{24CEA859-F737-43EA-85BE-5E12329800BB}"/>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Show why the system exists, what you chose, which </a:t>
            </a:r>
            <a:r>
              <a:rPr sz="1950">
                <a:solidFill>
                  <a:srgbClr val="F8FAFC"/>
                </a:solidFill>
                <a:latin typeface="Helvetica Neue"/>
                <a:ea typeface="Helvetica Neue"/>
                <a:cs typeface="Helvetica Neue"/>
              </a:rPr>
              <a:t>results</a:t>
            </a:r>
            <a:r>
              <a:rPr sz="1950">
                <a:solidFill>
                  <a:srgbClr val="F8FAFC"/>
                </a:solidFill>
                <a:latin typeface="Helvetica Neue"/>
                <a:ea typeface="Helvetica Neue"/>
                <a:cs typeface="Helvetica Neue"/>
              </a:rPr>
              <a:t> supports it, and where its limits begin.</a:t>
            </a:r>
          </a:p>
        </p:txBody>
      </p:sp>
      <p:sp>
        <p:nvSpPr>
          <p:cNvPr id="5" name="">
            <a:extLst xmlns:a="http://schemas.openxmlformats.org/drawingml/2006/main">
              <a:ext uri="{FF2B5EF4-FFF2-40B4-BE49-F238E27FC236}">
                <a16:creationId xmlns:a16="http://schemas.microsoft.com/office/drawing/2014/main" id="{DF1BD6DD-91E8-4CE0-987E-F2C832D51CE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8</a:t>
            </a:r>
          </a:p>
        </p:txBody>
      </p:sp>
    </p:spTree>
    <p:extLst>
      <p:ext uri="{BB962C8B-B14F-4D97-AF65-F5344CB8AC3E}">
        <p14:creationId xmlns:p14="http://schemas.microsoft.com/office/powerpoint/2010/main" val="654250723"/>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17A986-676B-422F-9FE6-696C6B2F13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65BF76C-AB1D-499B-A71F-9E57A298B0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D0651294-E974-4410-BFCB-1EE551D8FFE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focused demonstration follows one technical arc</a:t>
            </a:r>
          </a:p>
        </p:txBody>
      </p:sp>
      <p:sp>
        <p:nvSpPr>
          <p:cNvPr id="4" name="">
            <a:extLst xmlns:a="http://schemas.openxmlformats.org/drawingml/2006/main">
              <a:ext uri="{FF2B5EF4-FFF2-40B4-BE49-F238E27FC236}">
                <a16:creationId xmlns:a16="http://schemas.microsoft.com/office/drawing/2014/main" id="{65BB8690-DA66-4DD0-96EC-96DA7A02C9F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0B2B25B-7D06-4B81-B262-13FB9A25DB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6CBB3A28-50AF-409B-AD09-2FCEC6CEC624}"/>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07762E48-A250-4E02-A6C2-EB7A1ED57D24}"/>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93EA3704-3745-4EAE-9A8A-DB988BB5CDAA}"/>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CE293792-7E1E-47B4-B79E-CF0BAA797D0A}"/>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Problem</a:t>
            </a:r>
          </a:p>
        </p:txBody>
      </p:sp>
      <p:sp>
        <p:nvSpPr>
          <p:cNvPr id="10" name="">
            <a:extLst xmlns:a="http://schemas.openxmlformats.org/drawingml/2006/main">
              <a:ext uri="{FF2B5EF4-FFF2-40B4-BE49-F238E27FC236}">
                <a16:creationId xmlns:a16="http://schemas.microsoft.com/office/drawing/2014/main" id="{402A4E56-3BFD-4511-85CD-A90E2621E192}"/>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User, decision, and workload</a:t>
            </a:r>
          </a:p>
        </p:txBody>
      </p:sp>
      <p:sp>
        <p:nvSpPr>
          <p:cNvPr id="11" name="">
            <a:extLst xmlns:a="http://schemas.openxmlformats.org/drawingml/2006/main">
              <a:ext uri="{FF2B5EF4-FFF2-40B4-BE49-F238E27FC236}">
                <a16:creationId xmlns:a16="http://schemas.microsoft.com/office/drawing/2014/main" id="{5373C71F-505B-4638-9FD0-7B592D96C534}"/>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F4E60C77-5526-41A6-8F88-70808C1C988F}"/>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9A6E8C8F-CF95-49A0-B698-858F4F5A365F}"/>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Model</a:t>
            </a:r>
          </a:p>
        </p:txBody>
      </p:sp>
      <p:sp>
        <p:nvSpPr>
          <p:cNvPr id="14" name="">
            <a:extLst xmlns:a="http://schemas.openxmlformats.org/drawingml/2006/main">
              <a:ext uri="{FF2B5EF4-FFF2-40B4-BE49-F238E27FC236}">
                <a16:creationId xmlns:a16="http://schemas.microsoft.com/office/drawing/2014/main" id="{997DBA81-53C0-4F1C-AA48-EAD5934F2932}"/>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Grain, identity, and one relationship choice</a:t>
            </a:r>
          </a:p>
        </p:txBody>
      </p:sp>
      <p:sp>
        <p:nvSpPr>
          <p:cNvPr id="15" name="">
            <a:extLst xmlns:a="http://schemas.openxmlformats.org/drawingml/2006/main">
              <a:ext uri="{FF2B5EF4-FFF2-40B4-BE49-F238E27FC236}">
                <a16:creationId xmlns:a16="http://schemas.microsoft.com/office/drawing/2014/main" id="{728A6B2C-9770-4EB4-A23A-48F7766103BF}"/>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FB294152-D724-46E6-9D90-3B695CD0F9DC}"/>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01BEFC6F-B8A8-4686-B4DC-15B2D71D570F}"/>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Behavior</a:t>
            </a:r>
          </a:p>
        </p:txBody>
      </p:sp>
      <p:sp>
        <p:nvSpPr>
          <p:cNvPr id="18" name="">
            <a:extLst xmlns:a="http://schemas.openxmlformats.org/drawingml/2006/main">
              <a:ext uri="{FF2B5EF4-FFF2-40B4-BE49-F238E27FC236}">
                <a16:creationId xmlns:a16="http://schemas.microsoft.com/office/drawing/2014/main" id="{D466A5DC-1DD7-4AE9-A52B-4AF51E8778FF}"/>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meaningful query or write and observed result</a:t>
            </a:r>
          </a:p>
        </p:txBody>
      </p:sp>
      <p:sp>
        <p:nvSpPr>
          <p:cNvPr id="19" name="">
            <a:extLst xmlns:a="http://schemas.openxmlformats.org/drawingml/2006/main">
              <a:ext uri="{FF2B5EF4-FFF2-40B4-BE49-F238E27FC236}">
                <a16:creationId xmlns:a16="http://schemas.microsoft.com/office/drawing/2014/main" id="{C18F5F23-5159-4F42-B583-5685A06F83E6}"/>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1E263C4E-ECEA-4252-9712-27F67C3CE184}"/>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5E19AC81-3C80-4409-A00D-658145F84BD3}"/>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Operate</a:t>
            </a:r>
          </a:p>
        </p:txBody>
      </p:sp>
      <p:sp>
        <p:nvSpPr>
          <p:cNvPr id="22" name="">
            <a:extLst xmlns:a="http://schemas.openxmlformats.org/drawingml/2006/main">
              <a:ext uri="{FF2B5EF4-FFF2-40B4-BE49-F238E27FC236}">
                <a16:creationId xmlns:a16="http://schemas.microsoft.com/office/drawing/2014/main" id="{3F5D5A9D-B88E-4466-9692-33BF34982A64}"/>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access, performance, or recovery decision with </a:t>
            </a:r>
            <a:r>
              <a:rPr sz="1200">
                <a:solidFill>
                  <a:srgbClr val="475569"/>
                </a:solidFill>
                <a:latin typeface="Helvetica Neue"/>
                <a:ea typeface="Helvetica Neue"/>
                <a:cs typeface="Helvetica Neue"/>
              </a:rPr>
              <a:t>results</a:t>
            </a:r>
          </a:p>
        </p:txBody>
      </p:sp>
      <p:sp>
        <p:nvSpPr>
          <p:cNvPr id="23" name="">
            <a:extLst xmlns:a="http://schemas.openxmlformats.org/drawingml/2006/main">
              <a:ext uri="{FF2B5EF4-FFF2-40B4-BE49-F238E27FC236}">
                <a16:creationId xmlns:a16="http://schemas.microsoft.com/office/drawing/2014/main" id="{0C8C0D5B-0C1E-4752-8192-31754B6509DC}"/>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45182B53-9499-4837-BAC7-D935E0BE712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CF0BED5D-EE6C-4EF6-89E0-157E556D1DD4}"/>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Tradeoff</a:t>
            </a:r>
          </a:p>
        </p:txBody>
      </p:sp>
      <p:sp>
        <p:nvSpPr>
          <p:cNvPr id="26" name="">
            <a:extLst xmlns:a="http://schemas.openxmlformats.org/drawingml/2006/main">
              <a:ext uri="{FF2B5EF4-FFF2-40B4-BE49-F238E27FC236}">
                <a16:creationId xmlns:a16="http://schemas.microsoft.com/office/drawing/2014/main" id="{ECAFE44F-8BCA-430C-9A75-C36362E911AD}"/>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limitation and the next measurement or </a:t>
            </a:r>
            <a:r>
              <a:rPr sz="1200">
                <a:solidFill>
                  <a:srgbClr val="475569"/>
                </a:solidFill>
                <a:latin typeface="Helvetica Neue"/>
                <a:ea typeface="Helvetica Neue"/>
                <a:cs typeface="Helvetica Neue"/>
              </a:rPr>
              <a:t>improvement</a:t>
            </a:r>
          </a:p>
        </p:txBody>
      </p:sp>
      <p:sp>
        <p:nvSpPr>
          <p:cNvPr id="27" name="">
            <a:extLst xmlns:a="http://schemas.openxmlformats.org/drawingml/2006/main">
              <a:ext uri="{FF2B5EF4-FFF2-40B4-BE49-F238E27FC236}">
                <a16:creationId xmlns:a16="http://schemas.microsoft.com/office/drawing/2014/main" id="{C47C0C76-3CE0-4606-868E-42CC8D9D9C99}"/>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The audience should be able to repeat the claim in one sentence afterward.</a:t>
            </a:r>
          </a:p>
        </p:txBody>
      </p:sp>
    </p:spTree>
    <p:extLst>
      <p:ext uri="{BB962C8B-B14F-4D97-AF65-F5344CB8AC3E}">
        <p14:creationId xmlns:p14="http://schemas.microsoft.com/office/powerpoint/2010/main" val="137076872"/>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A6660B3-7C98-42ED-A1D6-1E2B74283B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3B2BD3D-4B88-438D-A201-EDECAB84745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54047935-CFC8-4EB3-A2F3-C7BF1D8D1EF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STAR-R turns a lab into an honest incident story</a:t>
            </a:r>
          </a:p>
        </p:txBody>
      </p:sp>
      <p:sp>
        <p:nvSpPr>
          <p:cNvPr id="4" name="">
            <a:extLst xmlns:a="http://schemas.openxmlformats.org/drawingml/2006/main">
              <a:ext uri="{FF2B5EF4-FFF2-40B4-BE49-F238E27FC236}">
                <a16:creationId xmlns:a16="http://schemas.microsoft.com/office/drawing/2014/main" id="{7CA22160-D9CC-461B-B77D-6B56E5A73BE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F1BCCAE-7615-459C-9C03-AEF19B5EDA0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primary-claim">
            <a:extLst xmlns:a="http://schemas.openxmlformats.org/drawingml/2006/main">
              <a:ext uri="{FF2B5EF4-FFF2-40B4-BE49-F238E27FC236}">
                <a16:creationId xmlns:a16="http://schemas.microsoft.com/office/drawing/2014/main" id="{1AB22D56-747D-487E-ADE9-E4A49868F682}"/>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Situation → Task → Action → Result → Reflection</a:t>
            </a:r>
          </a:p>
        </p:txBody>
      </p:sp>
      <p:sp>
        <p:nvSpPr>
          <p:cNvPr id="7" name="">
            <a:extLst xmlns:a="http://schemas.openxmlformats.org/drawingml/2006/main">
              <a:ext uri="{FF2B5EF4-FFF2-40B4-BE49-F238E27FC236}">
                <a16:creationId xmlns:a16="http://schemas.microsoft.com/office/drawing/2014/main" id="{2ABA3FDC-B8DC-4B3B-B259-0549992D4C4D}"/>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ED2F3CA7-EC34-4845-8620-E2E28ED44FAA}"/>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SPECIFIC</a:t>
            </a:r>
          </a:p>
        </p:txBody>
      </p:sp>
      <p:sp>
        <p:nvSpPr>
          <p:cNvPr id="9" name="">
            <a:extLst xmlns:a="http://schemas.openxmlformats.org/drawingml/2006/main">
              <a:ext uri="{FF2B5EF4-FFF2-40B4-BE49-F238E27FC236}">
                <a16:creationId xmlns:a16="http://schemas.microsoft.com/office/drawing/2014/main" id="{C2420DA4-95F5-40E7-ADE0-23CA9ECB4194}"/>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Name the controlled context, your responsibility, and the </a:t>
            </a:r>
            <a:r>
              <a:rPr sz="1500">
                <a:solidFill>
                  <a:srgbClr val="111827"/>
                </a:solidFill>
                <a:latin typeface="Helvetica Neue"/>
                <a:ea typeface="Helvetica Neue"/>
                <a:cs typeface="Helvetica Neue"/>
              </a:rPr>
              <a:t>results</a:t>
            </a:r>
            <a:r>
              <a:rPr sz="1500">
                <a:solidFill>
                  <a:srgbClr val="111827"/>
                </a:solidFill>
                <a:latin typeface="Helvetica Neue"/>
                <a:ea typeface="Helvetica Neue"/>
                <a:cs typeface="Helvetica Neue"/>
              </a:rPr>
              <a:t> you personally inspected.</a:t>
            </a:r>
          </a:p>
        </p:txBody>
      </p:sp>
      <p:sp>
        <p:nvSpPr>
          <p:cNvPr id="10" name="">
            <a:extLst xmlns:a="http://schemas.openxmlformats.org/drawingml/2006/main">
              <a:ext uri="{FF2B5EF4-FFF2-40B4-BE49-F238E27FC236}">
                <a16:creationId xmlns:a16="http://schemas.microsoft.com/office/drawing/2014/main" id="{8209361E-0B9F-4AC6-B8DD-F635862892D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DF3D3DC-0C53-452A-B3D2-B45E33E0A7B3}"/>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OBSERVABLE</a:t>
            </a:r>
          </a:p>
        </p:txBody>
      </p:sp>
      <p:sp>
        <p:nvSpPr>
          <p:cNvPr id="12" name="">
            <a:extLst xmlns:a="http://schemas.openxmlformats.org/drawingml/2006/main">
              <a:ext uri="{FF2B5EF4-FFF2-40B4-BE49-F238E27FC236}">
                <a16:creationId xmlns:a16="http://schemas.microsoft.com/office/drawing/2014/main" id="{D1B6E395-6EEA-4362-89F1-85B077F46FD0}"/>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Describe the result as a changed state, output, plan, denial, or verified restore.</a:t>
            </a:r>
          </a:p>
        </p:txBody>
      </p:sp>
      <p:sp>
        <p:nvSpPr>
          <p:cNvPr id="13" name="">
            <a:extLst xmlns:a="http://schemas.openxmlformats.org/drawingml/2006/main">
              <a:ext uri="{FF2B5EF4-FFF2-40B4-BE49-F238E27FC236}">
                <a16:creationId xmlns:a16="http://schemas.microsoft.com/office/drawing/2014/main" id="{9A845696-178D-4875-AFDC-5A09A1C79590}"/>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EEDDFE6C-0E09-4117-B064-394129268033}"/>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REFLECTIVE</a:t>
            </a:r>
          </a:p>
        </p:txBody>
      </p:sp>
      <p:sp>
        <p:nvSpPr>
          <p:cNvPr id="15" name="">
            <a:extLst xmlns:a="http://schemas.openxmlformats.org/drawingml/2006/main">
              <a:ext uri="{FF2B5EF4-FFF2-40B4-BE49-F238E27FC236}">
                <a16:creationId xmlns:a16="http://schemas.microsoft.com/office/drawing/2014/main" id="{23ADB42F-E09D-4A10-9B46-4B2D2E6B526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State the limitation and what production </a:t>
            </a:r>
            <a:r>
              <a:rPr sz="1500">
                <a:solidFill>
                  <a:srgbClr val="111827"/>
                </a:solidFill>
                <a:latin typeface="Helvetica Neue"/>
                <a:ea typeface="Helvetica Neue"/>
                <a:cs typeface="Helvetica Neue"/>
              </a:rPr>
              <a:t>results</a:t>
            </a:r>
            <a:r>
              <a:rPr sz="1500">
                <a:solidFill>
                  <a:srgbClr val="111827"/>
                </a:solidFill>
                <a:latin typeface="Helvetica Neue"/>
                <a:ea typeface="Helvetica Neue"/>
                <a:cs typeface="Helvetica Neue"/>
              </a:rPr>
              <a:t> or control would come next.</a:t>
            </a:r>
          </a:p>
        </p:txBody>
      </p:sp>
    </p:spTree>
    <p:extLst>
      <p:ext uri="{BB962C8B-B14F-4D97-AF65-F5344CB8AC3E}">
        <p14:creationId xmlns:p14="http://schemas.microsoft.com/office/powerpoint/2010/main" val="12562363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175A2D14-47D6-4251-A82C-7B96218D36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ECA6713-E140-473E-807A-3F62CC505D5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F9013194-C13A-4B58-BC6F-F9C63B4A59F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Career language should match the work actually performed</a:t>
            </a:r>
          </a:p>
        </p:txBody>
      </p:sp>
      <p:sp>
        <p:nvSpPr>
          <p:cNvPr id="4" name="">
            <a:extLst xmlns:a="http://schemas.openxmlformats.org/drawingml/2006/main">
              <a:ext uri="{FF2B5EF4-FFF2-40B4-BE49-F238E27FC236}">
                <a16:creationId xmlns:a16="http://schemas.microsoft.com/office/drawing/2014/main" id="{7CB829A9-9D66-4C53-82AF-7EF478040BB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0A54148-9499-49BC-AE6E-C82CD6F79F7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094DA029-7532-4D10-870E-DFD281CCBF91}"/>
              </a:ext>
            </a:extLst>
          </p:cNvPr>
          <p:cNvSpPr>
            <a:spLocks xmlns:a="http://schemas.openxmlformats.org/drawingml/2006/main" noGrp="1"/>
          </p:cNvSpPr>
          <p:nvPr/>
        </p:nvSpPr>
        <p:spPr>
          <a:xfrm xmlns:a="http://schemas.openxmlformats.org/drawingml/2006/main">
            <a:off x="685800" y="1714500"/>
            <a:ext cx="2476500" cy="5143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748F22DD-BA5D-4195-9AEF-96E9169B74CC}"/>
              </a:ext>
            </a:extLst>
          </p:cNvPr>
          <p:cNvSpPr>
            <a:spLocks xmlns:a="http://schemas.openxmlformats.org/drawingml/2006/main" noGrp="1"/>
          </p:cNvSpPr>
          <p:nvPr/>
        </p:nvSpPr>
        <p:spPr>
          <a:xfrm xmlns:a="http://schemas.openxmlformats.org/drawingml/2006/main">
            <a:off x="76200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Interview question</a:t>
            </a:r>
          </a:p>
        </p:txBody>
      </p:sp>
      <p:sp>
        <p:nvSpPr>
          <p:cNvPr id="8" name="">
            <a:extLst xmlns:a="http://schemas.openxmlformats.org/drawingml/2006/main">
              <a:ext uri="{FF2B5EF4-FFF2-40B4-BE49-F238E27FC236}">
                <a16:creationId xmlns:a16="http://schemas.microsoft.com/office/drawing/2014/main" id="{40FC0CD3-F657-4129-9F7F-DD646F62380B}"/>
              </a:ext>
            </a:extLst>
          </p:cNvPr>
          <p:cNvSpPr>
            <a:spLocks xmlns:a="http://schemas.openxmlformats.org/drawingml/2006/main" noGrp="1"/>
          </p:cNvSpPr>
          <p:nvPr/>
        </p:nvSpPr>
        <p:spPr>
          <a:xfrm xmlns:a="http://schemas.openxmlformats.org/drawingml/2006/main">
            <a:off x="3162300" y="1714500"/>
            <a:ext cx="2286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B60A428B-BD2F-4E14-A66B-299428C454E6}"/>
              </a:ext>
            </a:extLst>
          </p:cNvPr>
          <p:cNvSpPr>
            <a:spLocks xmlns:a="http://schemas.openxmlformats.org/drawingml/2006/main" noGrp="1"/>
          </p:cNvSpPr>
          <p:nvPr/>
        </p:nvSpPr>
        <p:spPr>
          <a:xfrm xmlns:a="http://schemas.openxmlformats.org/drawingml/2006/main">
            <a:off x="3238500" y="18097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Weak answer</a:t>
            </a:r>
          </a:p>
        </p:txBody>
      </p:sp>
      <p:sp>
        <p:nvSpPr>
          <p:cNvPr id="10" name="">
            <a:extLst xmlns:a="http://schemas.openxmlformats.org/drawingml/2006/main">
              <a:ext uri="{FF2B5EF4-FFF2-40B4-BE49-F238E27FC236}">
                <a16:creationId xmlns:a16="http://schemas.microsoft.com/office/drawing/2014/main" id="{F1980B3A-C8A4-47C9-AFBA-3C6659F35C86}"/>
              </a:ext>
            </a:extLst>
          </p:cNvPr>
          <p:cNvSpPr>
            <a:spLocks xmlns:a="http://schemas.openxmlformats.org/drawingml/2006/main" noGrp="1"/>
          </p:cNvSpPr>
          <p:nvPr/>
        </p:nvSpPr>
        <p:spPr>
          <a:xfrm xmlns:a="http://schemas.openxmlformats.org/drawingml/2006/main">
            <a:off x="5448300" y="1714500"/>
            <a:ext cx="3714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3CC521F1-9B90-4580-96BD-ABC5412578C9}"/>
              </a:ext>
            </a:extLst>
          </p:cNvPr>
          <p:cNvSpPr>
            <a:spLocks xmlns:a="http://schemas.openxmlformats.org/drawingml/2006/main" noGrp="1"/>
          </p:cNvSpPr>
          <p:nvPr/>
        </p:nvSpPr>
        <p:spPr>
          <a:xfrm xmlns:a="http://schemas.openxmlformats.org/drawingml/2006/main">
            <a:off x="5524500" y="1809750"/>
            <a:ext cx="3562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Specific technical basis</a:t>
            </a:r>
          </a:p>
        </p:txBody>
      </p:sp>
      <p:sp>
        <p:nvSpPr>
          <p:cNvPr id="12" name="">
            <a:extLst xmlns:a="http://schemas.openxmlformats.org/drawingml/2006/main">
              <a:ext uri="{FF2B5EF4-FFF2-40B4-BE49-F238E27FC236}">
                <a16:creationId xmlns:a16="http://schemas.microsoft.com/office/drawing/2014/main" id="{9D793FBF-604B-424A-A732-A06C6AECE840}"/>
              </a:ext>
            </a:extLst>
          </p:cNvPr>
          <p:cNvSpPr>
            <a:spLocks xmlns:a="http://schemas.openxmlformats.org/drawingml/2006/main" noGrp="1"/>
          </p:cNvSpPr>
          <p:nvPr/>
        </p:nvSpPr>
        <p:spPr>
          <a:xfrm xmlns:a="http://schemas.openxmlformats.org/drawingml/2006/main">
            <a:off x="9163050" y="1714500"/>
            <a:ext cx="23431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912FA71-2FBB-4F41-981F-72AD6A6A163F}"/>
              </a:ext>
            </a:extLst>
          </p:cNvPr>
          <p:cNvSpPr>
            <a:spLocks xmlns:a="http://schemas.openxmlformats.org/drawingml/2006/main" noGrp="1"/>
          </p:cNvSpPr>
          <p:nvPr/>
        </p:nvSpPr>
        <p:spPr>
          <a:xfrm xmlns:a="http://schemas.openxmlformats.org/drawingml/2006/main">
            <a:off x="9239250" y="1809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Honest limit</a:t>
            </a:r>
          </a:p>
        </p:txBody>
      </p:sp>
      <p:sp>
        <p:nvSpPr>
          <p:cNvPr id="14" name="">
            <a:extLst xmlns:a="http://schemas.openxmlformats.org/drawingml/2006/main">
              <a:ext uri="{FF2B5EF4-FFF2-40B4-BE49-F238E27FC236}">
                <a16:creationId xmlns:a16="http://schemas.microsoft.com/office/drawing/2014/main" id="{700B58EA-9E29-49E6-B0BC-FE91DE663C12}"/>
              </a:ext>
            </a:extLst>
          </p:cNvPr>
          <p:cNvSpPr>
            <a:spLocks xmlns:a="http://schemas.openxmlformats.org/drawingml/2006/main" noGrp="1"/>
          </p:cNvSpPr>
          <p:nvPr/>
        </p:nvSpPr>
        <p:spPr>
          <a:xfrm xmlns:a="http://schemas.openxmlformats.org/drawingml/2006/main">
            <a:off x="685800" y="22288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A1C69FDE-9228-464E-8BD6-D32658B8CB11}"/>
              </a:ext>
            </a:extLst>
          </p:cNvPr>
          <p:cNvSpPr>
            <a:spLocks xmlns:a="http://schemas.openxmlformats.org/drawingml/2006/main" noGrp="1"/>
          </p:cNvSpPr>
          <p:nvPr/>
        </p:nvSpPr>
        <p:spPr>
          <a:xfrm xmlns:a="http://schemas.openxmlformats.org/drawingml/2006/main">
            <a:off x="762000" y="23050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Why this index?</a:t>
            </a:r>
          </a:p>
        </p:txBody>
      </p:sp>
      <p:sp>
        <p:nvSpPr>
          <p:cNvPr id="16" name="">
            <a:extLst xmlns:a="http://schemas.openxmlformats.org/drawingml/2006/main">
              <a:ext uri="{FF2B5EF4-FFF2-40B4-BE49-F238E27FC236}">
                <a16:creationId xmlns:a16="http://schemas.microsoft.com/office/drawing/2014/main" id="{FE4356E3-4072-42A3-9383-C3DD7A2B7B44}"/>
              </a:ext>
            </a:extLst>
          </p:cNvPr>
          <p:cNvSpPr>
            <a:spLocks xmlns:a="http://schemas.openxmlformats.org/drawingml/2006/main" noGrp="1"/>
          </p:cNvSpPr>
          <p:nvPr/>
        </p:nvSpPr>
        <p:spPr>
          <a:xfrm xmlns:a="http://schemas.openxmlformats.org/drawingml/2006/main">
            <a:off x="3162300" y="2228850"/>
            <a:ext cx="2286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7C0848A-7271-4205-BBBF-3F7D65DDB09B}"/>
              </a:ext>
            </a:extLst>
          </p:cNvPr>
          <p:cNvSpPr>
            <a:spLocks xmlns:a="http://schemas.openxmlformats.org/drawingml/2006/main" noGrp="1"/>
          </p:cNvSpPr>
          <p:nvPr/>
        </p:nvSpPr>
        <p:spPr>
          <a:xfrm xmlns:a="http://schemas.openxmlformats.org/drawingml/2006/main">
            <a:off x="3238500" y="23050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Indexes make it faster</a:t>
            </a:r>
          </a:p>
        </p:txBody>
      </p:sp>
      <p:sp>
        <p:nvSpPr>
          <p:cNvPr id="18" name="">
            <a:extLst xmlns:a="http://schemas.openxmlformats.org/drawingml/2006/main">
              <a:ext uri="{FF2B5EF4-FFF2-40B4-BE49-F238E27FC236}">
                <a16:creationId xmlns:a16="http://schemas.microsoft.com/office/drawing/2014/main" id="{AFD2916F-EA6D-4857-AA7F-12EE0A84F130}"/>
              </a:ext>
            </a:extLst>
          </p:cNvPr>
          <p:cNvSpPr>
            <a:spLocks xmlns:a="http://schemas.openxmlformats.org/drawingml/2006/main" noGrp="1"/>
          </p:cNvSpPr>
          <p:nvPr/>
        </p:nvSpPr>
        <p:spPr>
          <a:xfrm xmlns:a="http://schemas.openxmlformats.org/drawingml/2006/main">
            <a:off x="5448300" y="222885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2A437F1-1A61-464B-8037-E7F896D9B46F}"/>
              </a:ext>
            </a:extLst>
          </p:cNvPr>
          <p:cNvSpPr>
            <a:spLocks xmlns:a="http://schemas.openxmlformats.org/drawingml/2006/main" noGrp="1"/>
          </p:cNvSpPr>
          <p:nvPr/>
        </p:nvSpPr>
        <p:spPr>
          <a:xfrm xmlns:a="http://schemas.openxmlformats.org/drawingml/2006/main">
            <a:off x="5524500" y="230505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same query, changed plan and examined work</a:t>
            </a:r>
          </a:p>
        </p:txBody>
      </p:sp>
      <p:sp>
        <p:nvSpPr>
          <p:cNvPr id="20" name="">
            <a:extLst xmlns:a="http://schemas.openxmlformats.org/drawingml/2006/main">
              <a:ext uri="{FF2B5EF4-FFF2-40B4-BE49-F238E27FC236}">
                <a16:creationId xmlns:a16="http://schemas.microsoft.com/office/drawing/2014/main" id="{A7EEE022-219B-4D83-A257-51D09EFE0716}"/>
              </a:ext>
            </a:extLst>
          </p:cNvPr>
          <p:cNvSpPr>
            <a:spLocks xmlns:a="http://schemas.openxmlformats.org/drawingml/2006/main" noGrp="1"/>
          </p:cNvSpPr>
          <p:nvPr/>
        </p:nvSpPr>
        <p:spPr>
          <a:xfrm xmlns:a="http://schemas.openxmlformats.org/drawingml/2006/main">
            <a:off x="9163050" y="2228850"/>
            <a:ext cx="2343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635629A9-12AA-4FA2-AF0D-7E4D323CE7F5}"/>
              </a:ext>
            </a:extLst>
          </p:cNvPr>
          <p:cNvSpPr>
            <a:spLocks xmlns:a="http://schemas.openxmlformats.org/drawingml/2006/main" noGrp="1"/>
          </p:cNvSpPr>
          <p:nvPr/>
        </p:nvSpPr>
        <p:spPr>
          <a:xfrm xmlns:a="http://schemas.openxmlformats.org/drawingml/2006/main">
            <a:off x="9239250" y="230505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fixture is not production load</a:t>
            </a:r>
          </a:p>
        </p:txBody>
      </p:sp>
      <p:sp>
        <p:nvSpPr>
          <p:cNvPr id="22" name="">
            <a:extLst xmlns:a="http://schemas.openxmlformats.org/drawingml/2006/main">
              <a:ext uri="{FF2B5EF4-FFF2-40B4-BE49-F238E27FC236}">
                <a16:creationId xmlns:a16="http://schemas.microsoft.com/office/drawing/2014/main" id="{765E6609-E10E-41EB-836C-7C1A0F922219}"/>
              </a:ext>
            </a:extLst>
          </p:cNvPr>
          <p:cNvSpPr>
            <a:spLocks xmlns:a="http://schemas.openxmlformats.org/drawingml/2006/main" noGrp="1"/>
          </p:cNvSpPr>
          <p:nvPr/>
        </p:nvSpPr>
        <p:spPr>
          <a:xfrm xmlns:a="http://schemas.openxmlformats.org/drawingml/2006/main">
            <a:off x="685800" y="30099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D7943E91-397A-4C3F-919F-6322553C101E}"/>
              </a:ext>
            </a:extLst>
          </p:cNvPr>
          <p:cNvSpPr>
            <a:spLocks xmlns:a="http://schemas.openxmlformats.org/drawingml/2006/main" noGrp="1"/>
          </p:cNvSpPr>
          <p:nvPr/>
        </p:nvSpPr>
        <p:spPr>
          <a:xfrm xmlns:a="http://schemas.openxmlformats.org/drawingml/2006/main">
            <a:off x="762000" y="30861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PostgreSQL or MongoDB?</a:t>
            </a:r>
          </a:p>
        </p:txBody>
      </p:sp>
      <p:sp>
        <p:nvSpPr>
          <p:cNvPr id="24" name="">
            <a:extLst xmlns:a="http://schemas.openxmlformats.org/drawingml/2006/main">
              <a:ext uri="{FF2B5EF4-FFF2-40B4-BE49-F238E27FC236}">
                <a16:creationId xmlns:a16="http://schemas.microsoft.com/office/drawing/2014/main" id="{16A3E94A-8521-4A26-8053-1BD8C3FB079A}"/>
              </a:ext>
            </a:extLst>
          </p:cNvPr>
          <p:cNvSpPr>
            <a:spLocks xmlns:a="http://schemas.openxmlformats.org/drawingml/2006/main" noGrp="1"/>
          </p:cNvSpPr>
          <p:nvPr/>
        </p:nvSpPr>
        <p:spPr>
          <a:xfrm xmlns:a="http://schemas.openxmlformats.org/drawingml/2006/main">
            <a:off x="3162300" y="3009900"/>
            <a:ext cx="2286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89C80195-3060-476D-8D2E-3D031D3C6C65}"/>
              </a:ext>
            </a:extLst>
          </p:cNvPr>
          <p:cNvSpPr>
            <a:spLocks xmlns:a="http://schemas.openxmlformats.org/drawingml/2006/main" noGrp="1"/>
          </p:cNvSpPr>
          <p:nvPr/>
        </p:nvSpPr>
        <p:spPr>
          <a:xfrm xmlns:a="http://schemas.openxmlformats.org/drawingml/2006/main">
            <a:off x="3238500" y="30861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MongoDB is flexible</a:t>
            </a:r>
          </a:p>
        </p:txBody>
      </p:sp>
      <p:sp>
        <p:nvSpPr>
          <p:cNvPr id="26" name="">
            <a:extLst xmlns:a="http://schemas.openxmlformats.org/drawingml/2006/main">
              <a:ext uri="{FF2B5EF4-FFF2-40B4-BE49-F238E27FC236}">
                <a16:creationId xmlns:a16="http://schemas.microsoft.com/office/drawing/2014/main" id="{F3E7718F-AE25-403E-8F28-7DDBEA1E4B27}"/>
              </a:ext>
            </a:extLst>
          </p:cNvPr>
          <p:cNvSpPr>
            <a:spLocks xmlns:a="http://schemas.openxmlformats.org/drawingml/2006/main" noGrp="1"/>
          </p:cNvSpPr>
          <p:nvPr/>
        </p:nvSpPr>
        <p:spPr>
          <a:xfrm xmlns:a="http://schemas.openxmlformats.org/drawingml/2006/main">
            <a:off x="5448300" y="3009900"/>
            <a:ext cx="3714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9A7DA7AC-899A-439F-B0C9-D201A22AD242}"/>
              </a:ext>
            </a:extLst>
          </p:cNvPr>
          <p:cNvSpPr>
            <a:spLocks xmlns:a="http://schemas.openxmlformats.org/drawingml/2006/main" noGrp="1"/>
          </p:cNvSpPr>
          <p:nvPr/>
        </p:nvSpPr>
        <p:spPr>
          <a:xfrm xmlns:a="http://schemas.openxmlformats.org/drawingml/2006/main">
            <a:off x="5524500" y="308610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workload, relationships, integrity, access pattern</a:t>
            </a:r>
          </a:p>
        </p:txBody>
      </p:sp>
      <p:sp>
        <p:nvSpPr>
          <p:cNvPr id="28" name="">
            <a:extLst xmlns:a="http://schemas.openxmlformats.org/drawingml/2006/main">
              <a:ext uri="{FF2B5EF4-FFF2-40B4-BE49-F238E27FC236}">
                <a16:creationId xmlns:a16="http://schemas.microsoft.com/office/drawing/2014/main" id="{54D8DD4D-0AF5-4183-9D46-1BBFD5D42FEE}"/>
              </a:ext>
            </a:extLst>
          </p:cNvPr>
          <p:cNvSpPr>
            <a:spLocks xmlns:a="http://schemas.openxmlformats.org/drawingml/2006/main" noGrp="1"/>
          </p:cNvSpPr>
          <p:nvPr/>
        </p:nvSpPr>
        <p:spPr>
          <a:xfrm xmlns:a="http://schemas.openxmlformats.org/drawingml/2006/main">
            <a:off x="9163050" y="3009900"/>
            <a:ext cx="23431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945BFCDD-59BD-4945-8A21-B4D4F7A9F9D2}"/>
              </a:ext>
            </a:extLst>
          </p:cNvPr>
          <p:cNvSpPr>
            <a:spLocks xmlns:a="http://schemas.openxmlformats.org/drawingml/2006/main" noGrp="1"/>
          </p:cNvSpPr>
          <p:nvPr/>
        </p:nvSpPr>
        <p:spPr>
          <a:xfrm xmlns:a="http://schemas.openxmlformats.org/drawingml/2006/main">
            <a:off x="9239250" y="30861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choice could change with measurements</a:t>
            </a:r>
          </a:p>
        </p:txBody>
      </p:sp>
      <p:sp>
        <p:nvSpPr>
          <p:cNvPr id="30" name="">
            <a:extLst xmlns:a="http://schemas.openxmlformats.org/drawingml/2006/main">
              <a:ext uri="{FF2B5EF4-FFF2-40B4-BE49-F238E27FC236}">
                <a16:creationId xmlns:a16="http://schemas.microsoft.com/office/drawing/2014/main" id="{16CE8047-F675-4E9B-B9E1-AF37EBAE305A}"/>
              </a:ext>
            </a:extLst>
          </p:cNvPr>
          <p:cNvSpPr>
            <a:spLocks xmlns:a="http://schemas.openxmlformats.org/drawingml/2006/main" noGrp="1"/>
          </p:cNvSpPr>
          <p:nvPr/>
        </p:nvSpPr>
        <p:spPr>
          <a:xfrm xmlns:a="http://schemas.openxmlformats.org/drawingml/2006/main">
            <a:off x="685800" y="37909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4CC18170-F70C-4D05-A22B-4A59CAD7E6B0}"/>
              </a:ext>
            </a:extLst>
          </p:cNvPr>
          <p:cNvSpPr>
            <a:spLocks xmlns:a="http://schemas.openxmlformats.org/drawingml/2006/main" noGrp="1"/>
          </p:cNvSpPr>
          <p:nvPr/>
        </p:nvSpPr>
        <p:spPr>
          <a:xfrm xmlns:a="http://schemas.openxmlformats.org/drawingml/2006/main">
            <a:off x="762000" y="3867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How did you secure it?</a:t>
            </a:r>
          </a:p>
        </p:txBody>
      </p:sp>
      <p:sp>
        <p:nvSpPr>
          <p:cNvPr id="32" name="">
            <a:extLst xmlns:a="http://schemas.openxmlformats.org/drawingml/2006/main">
              <a:ext uri="{FF2B5EF4-FFF2-40B4-BE49-F238E27FC236}">
                <a16:creationId xmlns:a16="http://schemas.microsoft.com/office/drawing/2014/main" id="{0EEB71B6-B6B9-4A0D-8921-597E53EC6A62}"/>
              </a:ext>
            </a:extLst>
          </p:cNvPr>
          <p:cNvSpPr>
            <a:spLocks xmlns:a="http://schemas.openxmlformats.org/drawingml/2006/main" noGrp="1"/>
          </p:cNvSpPr>
          <p:nvPr/>
        </p:nvSpPr>
        <p:spPr>
          <a:xfrm xmlns:a="http://schemas.openxmlformats.org/drawingml/2006/main">
            <a:off x="3162300" y="3790950"/>
            <a:ext cx="2286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A5681853-80C7-458C-9CD7-692C06CCEB59}"/>
              </a:ext>
            </a:extLst>
          </p:cNvPr>
          <p:cNvSpPr>
            <a:spLocks xmlns:a="http://schemas.openxmlformats.org/drawingml/2006/main" noGrp="1"/>
          </p:cNvSpPr>
          <p:nvPr/>
        </p:nvSpPr>
        <p:spPr>
          <a:xfrm xmlns:a="http://schemas.openxmlformats.org/drawingml/2006/main">
            <a:off x="3238500" y="38671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 used cloud security</a:t>
            </a:r>
          </a:p>
        </p:txBody>
      </p:sp>
      <p:sp>
        <p:nvSpPr>
          <p:cNvPr id="34" name="">
            <a:extLst xmlns:a="http://schemas.openxmlformats.org/drawingml/2006/main">
              <a:ext uri="{FF2B5EF4-FFF2-40B4-BE49-F238E27FC236}">
                <a16:creationId xmlns:a16="http://schemas.microsoft.com/office/drawing/2014/main" id="{B792953A-5973-4E5B-8920-20B75B5AA2B7}"/>
              </a:ext>
            </a:extLst>
          </p:cNvPr>
          <p:cNvSpPr>
            <a:spLocks xmlns:a="http://schemas.openxmlformats.org/drawingml/2006/main" noGrp="1"/>
          </p:cNvSpPr>
          <p:nvPr/>
        </p:nvSpPr>
        <p:spPr>
          <a:xfrm xmlns:a="http://schemas.openxmlformats.org/drawingml/2006/main">
            <a:off x="5448300" y="379095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C0B653C5-AA58-4897-B386-EAD5CB9DF64C}"/>
              </a:ext>
            </a:extLst>
          </p:cNvPr>
          <p:cNvSpPr>
            <a:spLocks xmlns:a="http://schemas.openxmlformats.org/drawingml/2006/main" noGrp="1"/>
          </p:cNvSpPr>
          <p:nvPr/>
        </p:nvSpPr>
        <p:spPr>
          <a:xfrm xmlns:a="http://schemas.openxmlformats.org/drawingml/2006/main">
            <a:off x="5524500" y="386715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least privilege plus allowed and denied tests</a:t>
            </a:r>
          </a:p>
        </p:txBody>
      </p:sp>
      <p:sp>
        <p:nvSpPr>
          <p:cNvPr id="36" name="">
            <a:extLst xmlns:a="http://schemas.openxmlformats.org/drawingml/2006/main">
              <a:ext uri="{FF2B5EF4-FFF2-40B4-BE49-F238E27FC236}">
                <a16:creationId xmlns:a16="http://schemas.microsoft.com/office/drawing/2014/main" id="{5C24C938-05D1-424A-AA66-D25F023C9A1B}"/>
              </a:ext>
            </a:extLst>
          </p:cNvPr>
          <p:cNvSpPr>
            <a:spLocks xmlns:a="http://schemas.openxmlformats.org/drawingml/2006/main" noGrp="1"/>
          </p:cNvSpPr>
          <p:nvPr/>
        </p:nvSpPr>
        <p:spPr>
          <a:xfrm xmlns:a="http://schemas.openxmlformats.org/drawingml/2006/main">
            <a:off x="9163050" y="3790950"/>
            <a:ext cx="2343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91648C61-D9A4-4939-A075-8F9B5FD4CEC7}"/>
              </a:ext>
            </a:extLst>
          </p:cNvPr>
          <p:cNvSpPr>
            <a:spLocks xmlns:a="http://schemas.openxmlformats.org/drawingml/2006/main" noGrp="1"/>
          </p:cNvSpPr>
          <p:nvPr/>
        </p:nvSpPr>
        <p:spPr>
          <a:xfrm xmlns:a="http://schemas.openxmlformats.org/drawingml/2006/main">
            <a:off x="9239250" y="386715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tested identities and paths only</a:t>
            </a:r>
          </a:p>
        </p:txBody>
      </p:sp>
      <p:sp>
        <p:nvSpPr>
          <p:cNvPr id="38" name="">
            <a:extLst xmlns:a="http://schemas.openxmlformats.org/drawingml/2006/main">
              <a:ext uri="{FF2B5EF4-FFF2-40B4-BE49-F238E27FC236}">
                <a16:creationId xmlns:a16="http://schemas.microsoft.com/office/drawing/2014/main" id="{99E3DD1A-F279-456C-9AC7-07F9A7275C24}"/>
              </a:ext>
            </a:extLst>
          </p:cNvPr>
          <p:cNvSpPr>
            <a:spLocks xmlns:a="http://schemas.openxmlformats.org/drawingml/2006/main" noGrp="1"/>
          </p:cNvSpPr>
          <p:nvPr/>
        </p:nvSpPr>
        <p:spPr>
          <a:xfrm xmlns:a="http://schemas.openxmlformats.org/drawingml/2006/main">
            <a:off x="685800" y="45720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BD58210C-BD27-423F-A61A-C916C7225B6C}"/>
              </a:ext>
            </a:extLst>
          </p:cNvPr>
          <p:cNvSpPr>
            <a:spLocks xmlns:a="http://schemas.openxmlformats.org/drawingml/2006/main" noGrp="1"/>
          </p:cNvSpPr>
          <p:nvPr/>
        </p:nvSpPr>
        <p:spPr>
          <a:xfrm xmlns:a="http://schemas.openxmlformats.org/drawingml/2006/main">
            <a:off x="762000" y="46482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Can you recover it?</a:t>
            </a:r>
          </a:p>
        </p:txBody>
      </p:sp>
      <p:sp>
        <p:nvSpPr>
          <p:cNvPr id="40" name="">
            <a:extLst xmlns:a="http://schemas.openxmlformats.org/drawingml/2006/main">
              <a:ext uri="{FF2B5EF4-FFF2-40B4-BE49-F238E27FC236}">
                <a16:creationId xmlns:a16="http://schemas.microsoft.com/office/drawing/2014/main" id="{C0DAEFF1-2AA2-48A8-9AA4-F4968330439B}"/>
              </a:ext>
            </a:extLst>
          </p:cNvPr>
          <p:cNvSpPr>
            <a:spLocks xmlns:a="http://schemas.openxmlformats.org/drawingml/2006/main" noGrp="1"/>
          </p:cNvSpPr>
          <p:nvPr/>
        </p:nvSpPr>
        <p:spPr>
          <a:xfrm xmlns:a="http://schemas.openxmlformats.org/drawingml/2006/main">
            <a:off x="3162300" y="4572000"/>
            <a:ext cx="2286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19481636-B0E3-4199-9253-842B6E4587FC}"/>
              </a:ext>
            </a:extLst>
          </p:cNvPr>
          <p:cNvSpPr>
            <a:spLocks xmlns:a="http://schemas.openxmlformats.org/drawingml/2006/main" noGrp="1"/>
          </p:cNvSpPr>
          <p:nvPr/>
        </p:nvSpPr>
        <p:spPr>
          <a:xfrm xmlns:a="http://schemas.openxmlformats.org/drawingml/2006/main">
            <a:off x="3238500" y="4648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There is a backup</a:t>
            </a:r>
          </a:p>
        </p:txBody>
      </p:sp>
      <p:sp>
        <p:nvSpPr>
          <p:cNvPr id="42" name="">
            <a:extLst xmlns:a="http://schemas.openxmlformats.org/drawingml/2006/main">
              <a:ext uri="{FF2B5EF4-FFF2-40B4-BE49-F238E27FC236}">
                <a16:creationId xmlns:a16="http://schemas.microsoft.com/office/drawing/2014/main" id="{4787C7A5-908A-4A9C-BA84-BE4A9D6BCEDC}"/>
              </a:ext>
            </a:extLst>
          </p:cNvPr>
          <p:cNvSpPr>
            <a:spLocks xmlns:a="http://schemas.openxmlformats.org/drawingml/2006/main" noGrp="1"/>
          </p:cNvSpPr>
          <p:nvPr/>
        </p:nvSpPr>
        <p:spPr>
          <a:xfrm xmlns:a="http://schemas.openxmlformats.org/drawingml/2006/main">
            <a:off x="5448300" y="4572000"/>
            <a:ext cx="3714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6B82DDF5-9CC6-481D-A9E3-7999E4D104FA}"/>
              </a:ext>
            </a:extLst>
          </p:cNvPr>
          <p:cNvSpPr>
            <a:spLocks xmlns:a="http://schemas.openxmlformats.org/drawingml/2006/main" noGrp="1"/>
          </p:cNvSpPr>
          <p:nvPr/>
        </p:nvSpPr>
        <p:spPr>
          <a:xfrm xmlns:a="http://schemas.openxmlformats.org/drawingml/2006/main">
            <a:off x="5524500" y="464820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separate restore plus structure/data/behavior checks</a:t>
            </a:r>
          </a:p>
        </p:txBody>
      </p:sp>
      <p:sp>
        <p:nvSpPr>
          <p:cNvPr id="44" name="">
            <a:extLst xmlns:a="http://schemas.openxmlformats.org/drawingml/2006/main">
              <a:ext uri="{FF2B5EF4-FFF2-40B4-BE49-F238E27FC236}">
                <a16:creationId xmlns:a16="http://schemas.microsoft.com/office/drawing/2014/main" id="{E7572B0C-4FC9-4C40-AE0F-FDE7CDE3860E}"/>
              </a:ext>
            </a:extLst>
          </p:cNvPr>
          <p:cNvSpPr>
            <a:spLocks xmlns:a="http://schemas.openxmlformats.org/drawingml/2006/main" noGrp="1"/>
          </p:cNvSpPr>
          <p:nvPr/>
        </p:nvSpPr>
        <p:spPr>
          <a:xfrm xmlns:a="http://schemas.openxmlformats.org/drawingml/2006/main">
            <a:off x="9163050" y="4572000"/>
            <a:ext cx="23431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F5BB09D2-5CCE-4252-8A7F-5E1848818F30}"/>
              </a:ext>
            </a:extLst>
          </p:cNvPr>
          <p:cNvSpPr>
            <a:spLocks xmlns:a="http://schemas.openxmlformats.org/drawingml/2006/main" noGrp="1"/>
          </p:cNvSpPr>
          <p:nvPr/>
        </p:nvSpPr>
        <p:spPr>
          <a:xfrm xmlns:a="http://schemas.openxmlformats.org/drawingml/2006/main">
            <a:off x="9239250" y="46482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RPO, RTO, and full config remain</a:t>
            </a:r>
          </a:p>
        </p:txBody>
      </p:sp>
    </p:spTree>
    <p:extLst>
      <p:ext uri="{BB962C8B-B14F-4D97-AF65-F5344CB8AC3E}">
        <p14:creationId xmlns:p14="http://schemas.microsoft.com/office/powerpoint/2010/main" val="208146694"/>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735F767-2D30-42AA-92B2-49CE84BE5C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3071D7-AF38-4979-A729-BB3536A4FF0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35CCF10C-1BAC-497F-8641-B90308D642C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Honest scope is stronger than inflated certainty</a:t>
            </a:r>
          </a:p>
        </p:txBody>
      </p:sp>
      <p:sp>
        <p:nvSpPr>
          <p:cNvPr id="4" name="">
            <a:extLst xmlns:a="http://schemas.openxmlformats.org/drawingml/2006/main">
              <a:ext uri="{FF2B5EF4-FFF2-40B4-BE49-F238E27FC236}">
                <a16:creationId xmlns:a16="http://schemas.microsoft.com/office/drawing/2014/main" id="{E0AD5CDC-2BC4-4753-B9DB-3602659A613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E65D15E-9AF7-4A9C-ABA5-7E65B7D262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ABC97431-BCD3-4878-A7E4-33F50710A38B}"/>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Overclaim</a:t>
            </a:r>
          </a:p>
        </p:txBody>
      </p:sp>
      <p:sp>
        <p:nvSpPr>
          <p:cNvPr id="7" name="">
            <a:extLst xmlns:a="http://schemas.openxmlformats.org/drawingml/2006/main">
              <a:ext uri="{FF2B5EF4-FFF2-40B4-BE49-F238E27FC236}">
                <a16:creationId xmlns:a16="http://schemas.microsoft.com/office/drawing/2014/main" id="{6A16AC29-A624-4317-95F0-56E0ED502B0F}"/>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Credible scope</a:t>
            </a:r>
          </a:p>
        </p:txBody>
      </p:sp>
      <p:sp>
        <p:nvSpPr>
          <p:cNvPr id="8" name="">
            <a:extLst xmlns:a="http://schemas.openxmlformats.org/drawingml/2006/main">
              <a:ext uri="{FF2B5EF4-FFF2-40B4-BE49-F238E27FC236}">
                <a16:creationId xmlns:a16="http://schemas.microsoft.com/office/drawing/2014/main" id="{1D8EE969-15C5-454A-8E23-DAD8BCD5103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551F982C-68DF-4D42-8F6E-C1E29031FB5C}"/>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D68FF640-60C3-40D0-BDC6-1D1A7F65C4A1}"/>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Production-ready, secure, scalable, and fault tolerant</a:t>
            </a:r>
          </a:p>
        </p:txBody>
      </p:sp>
      <p:sp>
        <p:nvSpPr>
          <p:cNvPr id="11" name="">
            <a:extLst xmlns:a="http://schemas.openxmlformats.org/drawingml/2006/main">
              <a:ext uri="{FF2B5EF4-FFF2-40B4-BE49-F238E27FC236}">
                <a16:creationId xmlns:a16="http://schemas.microsoft.com/office/drawing/2014/main" id="{BA176618-AD87-44C7-A971-E63D2D172FF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623C0FA4-17F4-4AD4-9BDB-426E75C2F7C2}"/>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Expert in database administration</a:t>
            </a:r>
          </a:p>
        </p:txBody>
      </p:sp>
      <p:sp>
        <p:nvSpPr>
          <p:cNvPr id="13" name="">
            <a:extLst xmlns:a="http://schemas.openxmlformats.org/drawingml/2006/main">
              <a:ext uri="{FF2B5EF4-FFF2-40B4-BE49-F238E27FC236}">
                <a16:creationId xmlns:a16="http://schemas.microsoft.com/office/drawing/2014/main" id="{82EA0669-8B9D-49DA-A7E6-D120480E827F}"/>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38268E33-02AA-40C9-9162-A8173873410D}"/>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Guaranteed exactly-once processing</a:t>
            </a:r>
          </a:p>
        </p:txBody>
      </p:sp>
      <p:sp>
        <p:nvSpPr>
          <p:cNvPr id="15" name="">
            <a:extLst xmlns:a="http://schemas.openxmlformats.org/drawingml/2006/main">
              <a:ext uri="{FF2B5EF4-FFF2-40B4-BE49-F238E27FC236}">
                <a16:creationId xmlns:a16="http://schemas.microsoft.com/office/drawing/2014/main" id="{3293D712-40CC-4E0B-BCAB-9B6AD7B57831}"/>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B4A9256B-5E86-4DFC-866C-BDD4D1D9D6E0}"/>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Reproduced and verified the mechanism in an isolated course environment</a:t>
            </a:r>
          </a:p>
        </p:txBody>
      </p:sp>
      <p:sp>
        <p:nvSpPr>
          <p:cNvPr id="17" name="">
            <a:extLst xmlns:a="http://schemas.openxmlformats.org/drawingml/2006/main">
              <a:ext uri="{FF2B5EF4-FFF2-40B4-BE49-F238E27FC236}">
                <a16:creationId xmlns:a16="http://schemas.microsoft.com/office/drawing/2014/main" id="{127D6316-AA31-45A2-AE72-3AA40E43FADF}"/>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C8C02EA4-DDBA-49AA-BB5E-8927E9C039E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Observed result</a:t>
            </a:r>
            <a:r>
              <a:rPr sz="1575">
                <a:solidFill>
                  <a:srgbClr val="111827"/>
                </a:solidFill>
                <a:latin typeface="Helvetica Neue"/>
                <a:ea typeface="Helvetica Neue"/>
                <a:cs typeface="Helvetica Neue"/>
              </a:rPr>
              <a:t> supports the tested query, identity, failure, and target</a:t>
            </a:r>
          </a:p>
        </p:txBody>
      </p:sp>
      <p:sp>
        <p:nvSpPr>
          <p:cNvPr id="19" name="">
            <a:extLst xmlns:a="http://schemas.openxmlformats.org/drawingml/2006/main">
              <a:ext uri="{FF2B5EF4-FFF2-40B4-BE49-F238E27FC236}">
                <a16:creationId xmlns:a16="http://schemas.microsoft.com/office/drawing/2014/main" id="{F8288D40-919A-40A0-B06F-70F1D130CDE8}"/>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4DD22F4C-EC2E-4962-957B-3219216CBC0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Production next step is named where scale or operations remain untested</a:t>
            </a:r>
          </a:p>
        </p:txBody>
      </p:sp>
    </p:spTree>
    <p:extLst>
      <p:ext uri="{BB962C8B-B14F-4D97-AF65-F5344CB8AC3E}">
        <p14:creationId xmlns:p14="http://schemas.microsoft.com/office/powerpoint/2010/main" val="1821773774"/>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C686E4-60F4-43DB-91CF-6E08E3B6D959}"/>
              </a:ext>
            </a:extLst>
          </p:cNvPr>
          <p:cNvSpPr>
            <a:spLocks xmlns:a="http://schemas.openxmlformats.org/drawingml/2006/main" noGrp="1"/>
          </p:cNvSpPr>
          <p:nvPr/>
        </p:nvSpPr>
        <p:spPr>
          <a:xfrm xmlns:a="http://schemas.openxmlformats.org/drawingml/2006/main">
            <a:off x="552450" y="400050"/>
            <a:ext cx="140589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82132"/>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INTERVIEW PRACTICE</a:t>
            </a:r>
          </a:p>
        </p:txBody>
      </p:sp>
      <p:sp>
        <p:nvSpPr>
          <p:cNvPr id="2" name="">
            <a:extLst xmlns:a="http://schemas.openxmlformats.org/drawingml/2006/main">
              <a:ext uri="{FF2B5EF4-FFF2-40B4-BE49-F238E27FC236}">
                <a16:creationId xmlns:a16="http://schemas.microsoft.com/office/drawing/2014/main" id="{22C566D2-D6E0-455D-BFA7-8695459CAA42}"/>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Explain one technical decision as a complete story</a:t>
            </a:r>
          </a:p>
        </p:txBody>
      </p:sp>
      <p:sp>
        <p:nvSpPr>
          <p:cNvPr id="3" name="">
            <a:extLst xmlns:a="http://schemas.openxmlformats.org/drawingml/2006/main">
              <a:ext uri="{FF2B5EF4-FFF2-40B4-BE49-F238E27FC236}">
                <a16:creationId xmlns:a16="http://schemas.microsoft.com/office/drawing/2014/main" id="{2114BB97-6E05-4E78-8F49-41470E07AF57}"/>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15</a:t>
            </a:r>
          </a:p>
        </p:txBody>
      </p:sp>
      <p:sp>
        <p:nvSpPr>
          <p:cNvPr id="4" name="">
            <a:extLst xmlns:a="http://schemas.openxmlformats.org/drawingml/2006/main">
              <a:ext uri="{FF2B5EF4-FFF2-40B4-BE49-F238E27FC236}">
                <a16:creationId xmlns:a16="http://schemas.microsoft.com/office/drawing/2014/main" id="{0036F2C2-16BC-4D6B-9ED3-69893295CEA9}"/>
              </a:ext>
            </a:extLst>
          </p:cNvPr>
          <p:cNvSpPr>
            <a:spLocks xmlns:a="http://schemas.openxmlformats.org/drawingml/2006/main" noGrp="1"/>
          </p:cNvSpPr>
          <p:nvPr/>
        </p:nvSpPr>
        <p:spPr>
          <a:xfrm xmlns:a="http://schemas.openxmlformats.org/drawingml/2006/main">
            <a:off x="361950" y="2476500"/>
            <a:ext cx="2019300" cy="1200150"/>
          </a:xfrm>
          <a:prstGeom xmlns:a="http://schemas.openxmlformats.org/drawingml/2006/main" prst="roundRect">
            <a:avLst>
              <a:gd name="adj" fmla="val 12698"/>
            </a:avLst>
          </a:prstGeom>
          <a:solidFill xmlns:a="http://schemas.openxmlformats.org/drawingml/2006/main">
            <a:srgbClr val="DCEBFF"/>
          </a:solidFill>
          <a:ln xmlns:a="http://schemas.openxmlformats.org/drawingml/2006/main" w="19050">
            <a:solidFill>
              <a:srgbClr val="0B5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Situation</a:t>
            </a:r>
          </a:p>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workload + constraint</a:t>
            </a:r>
          </a:p>
        </p:txBody>
      </p:sp>
      <p:sp>
        <p:nvSpPr>
          <p:cNvPr id="5" name="">
            <a:extLst xmlns:a="http://schemas.openxmlformats.org/drawingml/2006/main">
              <a:ext uri="{FF2B5EF4-FFF2-40B4-BE49-F238E27FC236}">
                <a16:creationId xmlns:a16="http://schemas.microsoft.com/office/drawing/2014/main" id="{58432CEC-BD01-4508-B13E-034327582ABD}"/>
              </a:ext>
            </a:extLst>
          </p:cNvPr>
          <p:cNvSpPr>
            <a:spLocks xmlns:a="http://schemas.openxmlformats.org/drawingml/2006/main" noGrp="1"/>
          </p:cNvSpPr>
          <p:nvPr/>
        </p:nvSpPr>
        <p:spPr>
          <a:xfrm xmlns:a="http://schemas.openxmlformats.org/drawingml/2006/main">
            <a:off x="2724150" y="2476500"/>
            <a:ext cx="2019300" cy="1200150"/>
          </a:xfrm>
          <a:prstGeom xmlns:a="http://schemas.openxmlformats.org/drawingml/2006/main" prst="roundRect">
            <a:avLst>
              <a:gd name="adj" fmla="val 12698"/>
            </a:avLst>
          </a:prstGeom>
          <a:solidFill xmlns:a="http://schemas.openxmlformats.org/drawingml/2006/main">
            <a:srgbClr val="FCE7D2"/>
          </a:solidFill>
          <a:ln xmlns:a="http://schemas.openxmlformats.org/drawingml/2006/main" w="19050">
            <a:solidFill>
              <a:srgbClr val="F4A261"/>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Action</a:t>
            </a:r>
          </a:p>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query, rule, plan, or restore</a:t>
            </a:r>
          </a:p>
        </p:txBody>
      </p:sp>
      <p:cxnSp>
        <p:nvCxnSpPr>
          <p:cNvPr id="93" name=""/>
          <p:cNvCxnSpPr>
            <a:stCxn xmlns:a="http://schemas.openxmlformats.org/drawingml/2006/main" id="4" idx="3"/>
            <a:endCxn xmlns:a="http://schemas.openxmlformats.org/drawingml/2006/main" id="5" idx="1"/>
          </p:cNvCxnSpPr>
          <p:nvPr/>
        </p:nvCxnSpPr>
        <p:spPr>
          <a:xfrm xmlns:a="http://schemas.openxmlformats.org/drawingml/2006/main">
            <a:off x="2381250" y="3076575"/>
            <a:ext cx="34290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7" name="">
            <a:extLst xmlns:a="http://schemas.openxmlformats.org/drawingml/2006/main">
              <a:ext uri="{FF2B5EF4-FFF2-40B4-BE49-F238E27FC236}">
                <a16:creationId xmlns:a16="http://schemas.microsoft.com/office/drawing/2014/main" id="{4E2D78C1-1E9B-4E19-8555-797E1F05E3BE}"/>
              </a:ext>
            </a:extLst>
          </p:cNvPr>
          <p:cNvSpPr>
            <a:spLocks xmlns:a="http://schemas.openxmlformats.org/drawingml/2006/main" noGrp="1"/>
          </p:cNvSpPr>
          <p:nvPr/>
        </p:nvSpPr>
        <p:spPr>
          <a:xfrm xmlns:a="http://schemas.openxmlformats.org/drawingml/2006/main">
            <a:off x="5086350" y="2476500"/>
            <a:ext cx="2019300" cy="1200150"/>
          </a:xfrm>
          <a:prstGeom xmlns:a="http://schemas.openxmlformats.org/drawingml/2006/main" prst="roundRect">
            <a:avLst>
              <a:gd name="adj" fmla="val 1269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Result</a:t>
            </a:r>
          </a:p>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specific observed behavior</a:t>
            </a:r>
          </a:p>
        </p:txBody>
      </p:sp>
      <p:cxnSp>
        <p:nvCxnSpPr>
          <p:cNvPr id="95" name=""/>
          <p:cNvCxnSpPr>
            <a:stCxn xmlns:a="http://schemas.openxmlformats.org/drawingml/2006/main" id="5" idx="3"/>
            <a:endCxn xmlns:a="http://schemas.openxmlformats.org/drawingml/2006/main" id="7" idx="1"/>
          </p:cNvCxnSpPr>
          <p:nvPr/>
        </p:nvCxnSpPr>
        <p:spPr>
          <a:xfrm xmlns:a="http://schemas.openxmlformats.org/drawingml/2006/main">
            <a:off x="4743450" y="3076575"/>
            <a:ext cx="34290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9" name="">
            <a:extLst xmlns:a="http://schemas.openxmlformats.org/drawingml/2006/main">
              <a:ext uri="{FF2B5EF4-FFF2-40B4-BE49-F238E27FC236}">
                <a16:creationId xmlns:a16="http://schemas.microsoft.com/office/drawing/2014/main" id="{490C9B6E-276A-44D6-B88A-46FF553573C9}"/>
              </a:ext>
            </a:extLst>
          </p:cNvPr>
          <p:cNvSpPr>
            <a:spLocks xmlns:a="http://schemas.openxmlformats.org/drawingml/2006/main" noGrp="1"/>
          </p:cNvSpPr>
          <p:nvPr/>
        </p:nvSpPr>
        <p:spPr>
          <a:xfrm xmlns:a="http://schemas.openxmlformats.org/drawingml/2006/main">
            <a:off x="7448550" y="2476500"/>
            <a:ext cx="2019300" cy="1200150"/>
          </a:xfrm>
          <a:prstGeom xmlns:a="http://schemas.openxmlformats.org/drawingml/2006/main" prst="roundRect">
            <a:avLst>
              <a:gd name="adj" fmla="val 1269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Tradeoff</a:t>
            </a:r>
          </a:p>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cost or limitation</a:t>
            </a:r>
          </a:p>
        </p:txBody>
      </p:sp>
      <p:cxnSp>
        <p:nvCxnSpPr>
          <p:cNvPr id="97" name=""/>
          <p:cNvCxnSpPr>
            <a:stCxn xmlns:a="http://schemas.openxmlformats.org/drawingml/2006/main" id="7" idx="3"/>
            <a:endCxn xmlns:a="http://schemas.openxmlformats.org/drawingml/2006/main" id="9" idx="1"/>
          </p:cNvCxnSpPr>
          <p:nvPr/>
        </p:nvCxnSpPr>
        <p:spPr>
          <a:xfrm xmlns:a="http://schemas.openxmlformats.org/drawingml/2006/main">
            <a:off x="7105650" y="3076575"/>
            <a:ext cx="34290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1" name="">
            <a:extLst xmlns:a="http://schemas.openxmlformats.org/drawingml/2006/main">
              <a:ext uri="{FF2B5EF4-FFF2-40B4-BE49-F238E27FC236}">
                <a16:creationId xmlns:a16="http://schemas.microsoft.com/office/drawing/2014/main" id="{B1FBD979-E7D1-4234-8045-D039AED2B382}"/>
              </a:ext>
            </a:extLst>
          </p:cNvPr>
          <p:cNvSpPr>
            <a:spLocks xmlns:a="http://schemas.openxmlformats.org/drawingml/2006/main" noGrp="1"/>
          </p:cNvSpPr>
          <p:nvPr/>
        </p:nvSpPr>
        <p:spPr>
          <a:xfrm xmlns:a="http://schemas.openxmlformats.org/drawingml/2006/main">
            <a:off x="9810750" y="2476500"/>
            <a:ext cx="2019300" cy="1200150"/>
          </a:xfrm>
          <a:prstGeom xmlns:a="http://schemas.openxmlformats.org/drawingml/2006/main" prst="roundRect">
            <a:avLst>
              <a:gd name="adj" fmla="val 12698"/>
            </a:avLst>
          </a:prstGeom>
          <a:solidFill xmlns:a="http://schemas.openxmlformats.org/drawingml/2006/main">
            <a:srgbClr val="E9E4F5"/>
          </a:solidFill>
          <a:ln xmlns:a="http://schemas.openxmlformats.org/drawingml/2006/main" w="19050">
            <a:solidFill>
              <a:srgbClr val="0B5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Next</a:t>
            </a:r>
          </a:p>
          <a:p xmlns:a="http://schemas.openxmlformats.org/drawingml/2006/main">
            <a:pPr algn="ctr">
              <a:buNone/>
              <a:defRPr sz="1350" b="1">
                <a:solidFill>
                  <a:srgbClr val="14213D"/>
                </a:solidFill>
                <a:latin typeface="Avenir Next"/>
                <a:ea typeface="Avenir Next"/>
                <a:cs typeface="Avenir Next"/>
              </a:defRPr>
            </a:pPr>
            <a:r>
              <a:rPr sz="1350" b="1">
                <a:solidFill>
                  <a:srgbClr val="14213D"/>
                </a:solidFill>
                <a:latin typeface="Avenir Next"/>
                <a:ea typeface="Avenir Next"/>
                <a:cs typeface="Avenir Next"/>
              </a:rPr>
              <a:t>production follow-up</a:t>
            </a:r>
          </a:p>
        </p:txBody>
      </p:sp>
      <p:cxnSp>
        <p:nvCxnSpPr>
          <p:cNvPr id="99" name=""/>
          <p:cNvCxnSpPr>
            <a:stCxn xmlns:a="http://schemas.openxmlformats.org/drawingml/2006/main" id="9" idx="3"/>
            <a:endCxn xmlns:a="http://schemas.openxmlformats.org/drawingml/2006/main" id="11" idx="1"/>
          </p:cNvCxnSpPr>
          <p:nvPr/>
        </p:nvCxnSpPr>
        <p:spPr>
          <a:xfrm xmlns:a="http://schemas.openxmlformats.org/drawingml/2006/main">
            <a:off x="9467850" y="3076575"/>
            <a:ext cx="34290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3" name="">
            <a:extLst xmlns:a="http://schemas.openxmlformats.org/drawingml/2006/main">
              <a:ext uri="{FF2B5EF4-FFF2-40B4-BE49-F238E27FC236}">
                <a16:creationId xmlns:a16="http://schemas.microsoft.com/office/drawing/2014/main" id="{253302D4-E567-41E8-BD3E-60610587969A}"/>
              </a:ext>
            </a:extLst>
          </p:cNvPr>
          <p:cNvSpPr>
            <a:spLocks xmlns:a="http://schemas.openxmlformats.org/drawingml/2006/main" noGrp="1"/>
          </p:cNvSpPr>
          <p:nvPr/>
        </p:nvSpPr>
        <p:spPr>
          <a:xfrm xmlns:a="http://schemas.openxmlformats.org/drawingml/2006/main">
            <a:off x="1143000" y="4762500"/>
            <a:ext cx="9906000" cy="914400"/>
          </a:xfrm>
          <a:prstGeom xmlns:a="http://schemas.openxmlformats.org/drawingml/2006/main" prst="roundRect">
            <a:avLst>
              <a:gd name="adj" fmla="val 16667"/>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lIns="190500" tIns="95250" rIns="190500" bIns="95250" anchor="ctr">
            <a:normAutofit fontScale="100000"/>
          </a:bodyPr>
          <a:lstStyle xmlns:a="http://schemas.openxmlformats.org/drawingml/2006/main"/>
          <a:p xmlns:a="http://schemas.openxmlformats.org/drawingml/2006/main">
            <a:pPr algn="ctr">
              <a:buNone/>
              <a:defRPr sz="1425" b="1">
                <a:solidFill>
                  <a:srgbClr val="FFFFFF"/>
                </a:solidFill>
                <a:latin typeface="Menlo"/>
                <a:ea typeface="Menlo"/>
                <a:cs typeface="Menlo"/>
              </a:defRPr>
            </a:pPr>
            <a:r>
              <a:rPr sz="1425" b="1">
                <a:solidFill>
                  <a:srgbClr val="FFFFFF"/>
                </a:solidFill>
                <a:latin typeface="Menlo"/>
                <a:ea typeface="Menlo"/>
                <a:cs typeface="Menlo"/>
              </a:rPr>
              <a:t>“I reproduced ___ in an isolated lab, observed ___, and would next test ___.”</a:t>
            </a:r>
          </a:p>
        </p:txBody>
      </p:sp>
      <p:sp>
        <p:nvSpPr>
          <p:cNvPr id="14" name="">
            <a:extLst xmlns:a="http://schemas.openxmlformats.org/drawingml/2006/main">
              <a:ext uri="{FF2B5EF4-FFF2-40B4-BE49-F238E27FC236}">
                <a16:creationId xmlns:a16="http://schemas.microsoft.com/office/drawing/2014/main" id="{D36E1D5B-6B42-46A2-92F5-6EF5273E6E51}"/>
              </a:ext>
            </a:extLst>
          </p:cNvPr>
          <p:cNvSpPr>
            <a:spLocks xmlns:a="http://schemas.openxmlformats.org/drawingml/2006/main" noGrp="1"/>
          </p:cNvSpPr>
          <p:nvPr/>
        </p:nvSpPr>
        <p:spPr>
          <a:xfrm xmlns:a="http://schemas.openxmlformats.org/drawingml/2006/main">
            <a:off x="1143000" y="4762500"/>
            <a:ext cx="76200" cy="9144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5" name="">
            <a:extLst xmlns:a="http://schemas.openxmlformats.org/drawingml/2006/main">
              <a:ext uri="{FF2B5EF4-FFF2-40B4-BE49-F238E27FC236}">
                <a16:creationId xmlns:a16="http://schemas.microsoft.com/office/drawing/2014/main" id="{74082EBE-F400-4FC8-8097-899598E03C08}"/>
              </a:ext>
            </a:extLst>
          </p:cNvPr>
          <p:cNvSpPr>
            <a:spLocks xmlns:a="http://schemas.openxmlformats.org/drawingml/2006/main" noGrp="1"/>
          </p:cNvSpPr>
          <p:nvPr/>
        </p:nvSpPr>
        <p:spPr>
          <a:xfrm xmlns:a="http://schemas.openxmlformats.org/drawingml/2006/main">
            <a:off x="2857500" y="5953125"/>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Specific scope is stronger than inflated certainty.</a:t>
            </a:r>
          </a:p>
        </p:txBody>
      </p:sp>
    </p:spTree>
    <p:extLst>
      <p:ext uri="{BB962C8B-B14F-4D97-AF65-F5344CB8AC3E}">
        <p14:creationId xmlns:p14="http://schemas.microsoft.com/office/powerpoint/2010/main" val="215951832"/>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F6640E-75F3-4FFE-8917-BFF6D7DCD2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DFD04C6-DD0F-4231-8C1F-AA32D8071F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593FB5E0-4D2F-41AD-9BD8-E0F13433959E}"/>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90168"/>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Your strongest course outcome is a repeatable way to reason</a:t>
            </a:r>
          </a:p>
        </p:txBody>
      </p:sp>
      <p:sp>
        <p:nvSpPr>
          <p:cNvPr id="4" name="">
            <a:extLst xmlns:a="http://schemas.openxmlformats.org/drawingml/2006/main">
              <a:ext uri="{FF2B5EF4-FFF2-40B4-BE49-F238E27FC236}">
                <a16:creationId xmlns:a16="http://schemas.microsoft.com/office/drawing/2014/main" id="{75DC3809-0443-4484-A141-31F1A36EC1A6}"/>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5803D"/>
                </a:solidFill>
                <a:latin typeface="Helvetica Neue"/>
                <a:ea typeface="Helvetica Neue"/>
                <a:cs typeface="Helvetica Neue"/>
              </a:defRPr>
            </a:pPr>
            <a:r>
              <a:rPr sz="2550" b="1">
                <a:solidFill>
                  <a:srgbClr val="15803D"/>
                </a:solidFill>
                <a:latin typeface="Helvetica Neue"/>
                <a:ea typeface="Helvetica Neue"/>
                <a:cs typeface="Helvetica Neue"/>
              </a:rPr>
              <a:t>State the workload, choose a mechanism, observe </a:t>
            </a:r>
            <a:r>
              <a:rPr sz="2550" b="1">
                <a:solidFill>
                  <a:srgbClr val="15803D"/>
                </a:solidFill>
                <a:latin typeface="Helvetica Neue"/>
                <a:ea typeface="Helvetica Neue"/>
                <a:cs typeface="Helvetica Neue"/>
              </a:rPr>
              <a:t>results</a:t>
            </a:r>
            <a:r>
              <a:rPr sz="2550" b="1">
                <a:solidFill>
                  <a:srgbClr val="15803D"/>
                </a:solidFill>
                <a:latin typeface="Helvetica Neue"/>
                <a:ea typeface="Helvetica Neue"/>
                <a:cs typeface="Helvetica Neue"/>
              </a:rPr>
              <a:t>, name the tradeoff, and preserve the limit.</a:t>
            </a:r>
          </a:p>
        </p:txBody>
      </p:sp>
      <p:sp>
        <p:nvSpPr>
          <p:cNvPr id="5" name="">
            <a:extLst xmlns:a="http://schemas.openxmlformats.org/drawingml/2006/main">
              <a:ext uri="{FF2B5EF4-FFF2-40B4-BE49-F238E27FC236}">
                <a16:creationId xmlns:a16="http://schemas.microsoft.com/office/drawing/2014/main" id="{C7852ABA-2BAC-4555-A66A-F7BA50A1EE02}"/>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6" name="">
            <a:extLst xmlns:a="http://schemas.openxmlformats.org/drawingml/2006/main">
              <a:ext uri="{FF2B5EF4-FFF2-40B4-BE49-F238E27FC236}">
                <a16:creationId xmlns:a16="http://schemas.microsoft.com/office/drawing/2014/main" id="{75D96DE8-CAE4-461D-8BC5-E9BBB3DB56BC}"/>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did you personally build or investigate?</a:t>
            </a:r>
          </a:p>
        </p:txBody>
      </p:sp>
      <p:sp>
        <p:nvSpPr>
          <p:cNvPr id="7" name="">
            <a:extLst xmlns:a="http://schemas.openxmlformats.org/drawingml/2006/main">
              <a:ext uri="{FF2B5EF4-FFF2-40B4-BE49-F238E27FC236}">
                <a16:creationId xmlns:a16="http://schemas.microsoft.com/office/drawing/2014/main" id="{71760C02-0038-4080-AF01-1BFDEEF1B26A}"/>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A892164C-6AA9-40A6-A607-F58635328C23}"/>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observation shows it worked or failed as expected?</a:t>
            </a:r>
          </a:p>
        </p:txBody>
      </p:sp>
      <p:sp>
        <p:nvSpPr>
          <p:cNvPr id="9" name="">
            <a:extLst xmlns:a="http://schemas.openxmlformats.org/drawingml/2006/main">
              <a:ext uri="{FF2B5EF4-FFF2-40B4-BE49-F238E27FC236}">
                <a16:creationId xmlns:a16="http://schemas.microsoft.com/office/drawing/2014/main" id="{C209BF4F-A8F0-4F99-A4CA-50FEB391C12C}"/>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3C819608-5AF5-43AB-9A5C-86531A9C2E90}"/>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would you inspect or control next in production?</a:t>
            </a:r>
          </a:p>
        </p:txBody>
      </p:sp>
      <p:sp>
        <p:nvSpPr>
          <p:cNvPr id="11" name="">
            <a:extLst xmlns:a="http://schemas.openxmlformats.org/drawingml/2006/main">
              <a:ext uri="{FF2B5EF4-FFF2-40B4-BE49-F238E27FC236}">
                <a16:creationId xmlns:a16="http://schemas.microsoft.com/office/drawing/2014/main" id="{D57717F0-18CD-48D3-A33D-086EDBCB68A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1375250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15: Synthesis, Portfolio Writing, and Final Presentations</dc:title>
  <dcterms:created xsi:type="dcterms:W3CDTF">2026-09-03T02:53:05.4270000Z</dcterms:created>
  <dcterms:modified xsi:type="dcterms:W3CDTF">2026-09-02T00:00:00Z</dcterms:modified>
  <dc:subject>CST 4714 Database Administration</dc:subject>
  <dc:description>Week 15 presentation for Operating Cloud Databases.</dc:description>
  <dc:language>en-US</dc:language>
  <keywords>database administration; PostgreSQL; MongoDB; cloud databases; OER</keywords>
  <category>Open Educational Resource</category>
  <contentStatus>Release Candidate</contentStatus>
</coreProperties>
</file>