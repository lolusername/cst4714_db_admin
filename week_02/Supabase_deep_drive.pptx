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6" r:id="rId35"/>
    <p:sldId id="297" r:id="rId36"/>
    <p:sldId id="298" r:id="rId37"/>
    <p:sldId id="299" r:id="rId38"/>
    <p:sldId id="300" r:id="rId39"/>
    <p:sldId id="301" r:id="rId40"/>
    <p:sldId id="302" r:id="rId4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51"/>
    <p:restoredTop sz="32726"/>
  </p:normalViewPr>
  <p:slideViewPr>
    <p:cSldViewPr snapToGrid="0" snapToObjects="1">
      <p:cViewPr varScale="1">
        <p:scale>
          <a:sx n="47" d="100"/>
          <a:sy n="47" d="100"/>
        </p:scale>
        <p:origin x="40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781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build a setup you can re-use all semester: Postgres running in Docker, a browser-based admin UI via pgAdmin, and a repeatable way to load a real practice dataset (pgExercises), then move that same dataset into Supabase.
The point isn’t to memorize commands. The point is to understand the moving parts: what a container is, what a volume is, why ports matter, what a database is versus a schema, and how “dump/restore” is the portable unit of work in Postgres.
By the end, you should be able to do this from scratch on any machine in about ten minutes, and you should have a reliable practice environment both locally and in the cloud.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class as “infrastructure literacy.” If you can reliably stand up a database, connect to it, and move data in/out, you can do almost any practical database task: testing, migration, debugging, and deployment.
Also: the things that feel like “setup pain” are often where the conceptual understanding lives. When we debug a connection error, we are learning networking and authentication. When we see “schema cd,” we are learning namespaces and search_path.
Tell students they’ll leave with a reusable template repo: compose file + import scripts + a short checklist they can run before every assignment.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we are moving fast, but the notes are complete word-for-word. Encourage students to read speaker notes later as a guided tutorial.
If something fails, we pause and debug as a class—because that is part of the learning outcomes.
If you want: assign “setup” as homework and use today for dataset + queries. But we’ll do the full end-to-end in one session so no one is blocked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we touch commands, we need the mental model.” Tell them that Docker is less magical than it sounds; it is packaging and isolation.
Key idea: we’re treating Postgres like a dependency. We want it to be consistent across machines, and we want to be able to delete it and recreate it safely.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“it worked on my machine” is often a versioning problem. Docker is a strategy for reducing the number of invisible variables.
Also emphasize that Docker is not required forever; it’s a scaffold. Later, you might run Postgres natively, or you might use managed Postgres. But the skills transfer.
Make a parallel: a virtual environment for Python is to dependencies what Docker is to services.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quick analogy: image is like a blueprint; container is like the building.
Volumes matter for databases. Without a volume, you lose your data every time the container is removed.
Networks matter for pgAdmin talking to Postgres. The service name “db” becomes a hostname inside the compose network.
Port mapping matters for you, on your laptop, using psql or a GUI to reach the database.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First: Docker Desktop. On Mac and Windows, you want Docker Desktop because it gives you the Docker engine plus a UI. After install, you should see a little whale icon.
Second: verification. “docker version” proves your client can reach the Docker engine. If it fails, Docker isn’t running.
Third: “docker compose version.” Compose is how we define multi-service setups in a single YAML file.
Fourth: “docker ps.” This lists running containers. Right now it might be empty, and that’s fine.
If someone can’t install Docker (permissions, school laptop, etc.), the fallback today is: use Supabase for the database and skip local, or use a classroom-provided machine. But we’ll keep the local path as the default.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we’ll build the environment.” Emphasize: compose is a declarative spec; we describe the system we want.
We will read each line and ask: what problem does this line solve?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compose file as the single source of truth.
Walk line-by-line:
- version is the compose schema.
- services: we have db and pgadmin.
- db uses the postgres:16 image.
- environment configures initial DB/user/password.
- ports maps your laptop’s 5432 to container’s 5432.
- volumes keeps data persistent.
- healthcheck lets pgAdmin wait until Postgres is actually ready.
Then pgadmin:
- image is the web app container.
- ports maps localhost:5050 to pgAdmin’s internal port 80.
- depends_on with condition service_healthy prevents “race condition” startup failures.
- volume persists pgAdmin config so you don’t re-add servers every time.
Important teaching moment: these credentials are for local learning only. In a real deployment, use secrets and strong passwords.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environment variables here are interpreted by the official Postgres image entrypoint *only on first initialization.*
That’s why students sometimes change POSTGRES_PASSWORD and it “doesn’t work”: the volume already has an initialized database with the old password.
Teach the remedy:
- If you want a fresh start: docker compose down, then remove volumes.
- Or keep volumes and use SQL to change passwords.
This is a big real-world concept: state lives in volumes, not in containers.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Draw the diagram as you speak.
We have your laptop (host). We start a Docker network that contains two containers: Postgres and pgAdmin.
Path 1: Your terminal on the host uses localhost:5432. Docker forwards that port to the db container.
Path 2: Your browser on the host uses localhost:5050 to reach pgAdmin.
Inside the Docker network, pgAdmin does NOT use localhost to reach Postgres. It uses the service name “db” on port 5432.
If a student types “localhost” inside pgAdmin’s connection settings, it tries to connect to itself, not the Postgres container. That is the most common mistake today.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Now we run the one-liner that does the work: docker compose up -d. Compose pulls images if needed, creates a network, creates volumes, and starts containers.
Immediately after, run docker compose ps. You want to see both services “Up.” Ideally, Postgres is healthy.
If something isn’t healthy, we go to logs. docker logs -f cst-postgres gives you the Postgres startup messages. Typical problems are: port 5432 already in use, or a previously-initialized volume with different credentials.
Teaching moment: when you can read logs, you can debug almost anything in infrastructure.
If 5432 is in use, the fix is either stop your local Postgres service or change the host port to 5433 (and connect to 5433).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 prove it’s real by connecting.”
We’ll connect with psql (a power tool) and pgAdmin (a GUI). In real work you use both: psql for speed and scripting, pgAdmin for browsing and teaching.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First connection method: from your host machine.
We use a Postgres connection URI. Read it left to right: protocol postgresql, then user:password, then host:port, then database name.
Once you are inside psql, I want you to run conninfo. That prints exactly what you connected to.
Then l lists databases. dn lists schemas. dt lists tables in the current schema search path.
Finally SELECT version() proves it’s Postgres 16 in our container.
If you don’t have psql installed: on Mac, it can come from Postgres.app, Homebrew, or the official installer. But for today, if you’re blocked, you can connect via docker exec (next slide) or just use pgAdmin.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Second connection method: go inside the container.
This is incredibly useful when your host machine is missing tools, or when networking is confusing.
docker exec -it lets us run a command in a running container. We start bash, then we run psql.
Inside the container, “localhost” truly means the database container itself.
This also teaches a big concept: containers are isolated environments. Tools installed in the container are not installed on your host, and vice versa.
In many production setups, you do exactly this: exec into a container to run admin commands in a controlled environment.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addresses the confusion directly.
If a student says: “All I see is app and postgres,” that’s normal.
Explain hierarchy:
- Server/cluster → databases
- Database → schemas
- Schema → tables, views, functions
pgExercises uses a schema called cd as a namespace for the Club Database tables.
If you run a script that starts with CREATE SCHEMA cd; then your tables appear under the cd schema. That does not create a new database.
We’ll decide shortly whether to keep cd or load everything into public for simplicity.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Now for the GUI path.
Open your browser to localhost:5050. That reaches the pgAdmin container.
Login with the credentials from the compose file.
If pgAdmin doesn’t load, check docker compose ps: maybe the pgAdmin container isn’t running, or port 5050 is taken.
Once you’re in, we’re going to add a server connection. That is pgAdmin’s term for “save a connection profile.”
Remember: pgAdmin is running inside Docker, so it will connect to Postgres using the Docker service name, not localhost.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Slow down here. This is where most people get stuck.
Because pgAdmin is inside Docker, “localhost” means “the pgAdmin container,” not your laptop.
So in the Host field, put db, which is the service name from docker compose.
If you get an error like “could not translate host name,” it means pgAdmin is not on the same network as db (usually because you are not using compose, or you created containers separately). In our compose setup, it should work.
Once connected, expand Servers → Local Docker Postgres → Databases → app.
Then we’ll click Query Tool and run a tiny test query: SELECT 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 fill it with something worth practicing on.”
Also: this is where we untangle the cd schema confusion and make a deliberate choice about naming.</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If you remember only one thing: database is the big box you connect to; schema is a folder inside that big box.
In Postgres, schemas matter more than people expect because they change how unqualified names resolve.
When you write SELECT * FROM members; Postgres searches schemas in your search_path.
By default, most setups include public first. That’s why beginners often never think about schemas.
But real systems use schemas all the time: auth schemas, internal schemas, multi-tenant schemas, staging schemas.
So when you saw “cd,” that wasn’t random. It was a deliberate namespace choice by the dataset author.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pgExercises is a practice site, but what we want is the underlying dataset so we can run the exercises offline.
The “Club Database” is common in SQL teaching because it’s realistic enough to ask real questions, but small enough to understand.
We’ll load it, then we’ll run a few example queries together.
Then your lab will be: solve a subset of pgExercises tasks and submit your SQL.
We also use this as our “dump/restore” sample so you learn portable backups without risking real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Verification is a habit.
After any import, we do two kinds of checks:
1) Structural: do the tables exist? (dt)
2) Data: do row counts look reasonable? (count(*))
Then we run one meaningful join query to prove foreign keys and relationships behave as expected.
If someone’s counts are zero or tables are missing, they likely imported into a different schema. In pgAdmin, check the schema dropdown or qualify tables with public.bookings.
This is also a teachable moment for joins: bookings references members via memid. A join is “follow the relationship.”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We’ll do these as a guided warm-up.
The point is not “get the answer fast.” The point is to practice reading the schema, choosing JOIN keys, and validating outputs.
After each query, ask: does the result make sense? If not, what assumption might be wrong?
This is also where you introduce EXPLAIN at a high level: Postgres has to choose a plan to answer your query.
We’ll return to performance later, but it’s worth planting the seed now.</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that we have data, we learn the most important operational skill: moving it.”
Dump/restore is how you migrate, share, backup, and reproduce environments. This is the bridge from local to cloud.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pg_dump is NOT a file-copy of the database. It is a logical export: a set of SQL statements (or a structured archive) that can recreate the schema and data.
Plain SQL is easy to inspect and version-control in small cases. Custom format is better for serious restores because you can restore selectively and it is generally smaller.
In Docker-based workflows, you can run pg_dump from your host if you have it installed, or run it via docker exec inside the container.
We’ll do the workflow that requires the fewest host dependencies: use docker exec to run pg_dump and write to a mounted folder, or stream it out.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is the “I don’t have psql installed” friendly version.
docker exec runs pg_dump inside the container, and then we redirect stdout to a file on your host.
Note: the -t flag allocates a pseudo-TTY. For some setups, you may prefer -i. If anyone’s dump file looks corrupted, remove -t.
Once you have a dump file, you can commit it, store it, or move it to another machine.
This is the moment to emphasize: backups are not optional. Even in learning, we practice backup habits.
Also: you can dump a single schema or a single table. We’ll keep it simple today and dump the whole database.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We restore into a new database to prove our dump is complete.
The safest restore is always: create a new empty database, restore into it, and validate.
This reduces the risk of merging or overwriting existing objects.
In real work, restore operations are where people get nervous. So we practice it in a low-stakes environment.
If you are missing createdb on your host, you can run createdb inside the container as well.
Once restored, connect to app_restore and run dt and a few count(*) checks again.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 move the exact same dataset to the cloud.”
We’ll keep the focus technical: how to connect, what credentials mean, and what changes when Postgres is managed.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Supabase is best understood as “Postgres first.” You get a real Postgres database.
Then Supabase adds a set of services that modern apps need: authentication, file storage, serverless functions, and realtime subscriptions.
For database administrators, the key difference is: you are not a superuser. Some system-level operations are restricted.
And security is emphasized: Row Level Security is not an advanced optional topic; it is a default path in Supabase.
Today we only need enough Supabase to load data and connect. Later, we will talk about RLS and roles in detail.</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We won’t screenshot the UI because it changes, but the checklist is stable.
The database password you set at project creation is the password for the postgres role.
In settings, you’ll find two categories of connection strings: direct and pooler. Pooler is for lots of short-lived connections, common in serverless.
For a classroom import, direct is easiest.
If a student gets “timeout,” check network restrictions and whether they are on a restricted Wi-Fi.
If they get authentication errors, they likely copied the wrong password or are using the wrong connection string variant.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The nice thing is: it’s still Postgres.
You connect with psql exactly the same way, except host is your Supabase database endpoint.
The default database is usually postgres.
Once connected, run SELECT version() and dn.
You will also notice extra schemas like auth and storage. Those are Supabase-managed schemas.
We are going to keep our practice tables in public, just like we did locally.
If your dataset script tries to create extensions or superuser-only objects, it might fail. The pgExercises dataset is simple and should work.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We repeat the exact same import process.
If you already created clubdata_public.sql, use that and import into Supabase so everything lands in public.
Then run the same sanity checks: list tables, counts, sample join.
At this point, you have two environments:
- Local (fast, isolated, offline)
- Cloud (shareable, accessible from any device)
This sets you up for later topics: migrations, CI, role-based access, and performance testing.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slide is about “don’t be surprised later.”
On your laptop, you are effectively the admin of that Postgres instance. On Supabase, you are an owner, but within a managed environment.
Some features are locked down for safety. That’s normal.
Also: platform backups do not replace your responsibility to be able to export and migrate your data.
This is why we learned pg_dump first. Portability is power.
Finally, Supabase’s biggest conceptual addition is RLS: if you build apps on it, you should learn to think in policies, not just in table grants.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normalize failure. “If you didn’t hit an error today, you weren’t pushing buttons.”
Teach a deterministic approach: read the error message, localize the layer (Docker, network, auth, SQL), then test one hypothesis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is the most common Docker issue.
Docker can’t claim a port your system is already using.
On Mac, you might have Postgres.app running. On Windows, you might have a service.
You can either stop the other service or change the mapping.
If you change to 5433:5432, remember: inside Docker the database is still on 5432. Only the host mapping changed.
This is a perfect example of why we distinguish host vs container ports.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When pgAdmin can’t connect, we ask: “from where to where?”
If pgAdmin is inside Docker, it reaches Postgres on the docker network, using the service name.
If you are connecting from your laptop tools, you use localhost.
So always identify your client location first.
Then check: is Postgres running? If it’s restarting or unhealthy, pgAdmin will fail.
Then check credentials. If you changed the password after first init, the environment variables won’t update the existing volume.
Finally, read the error message. It usually tells you if it’s DNS, auth, or network.</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This one confuses people.
The Postgres image reads POSTGRES_PASSWORD only when it is creating a brand-new data directory.
If the pgdata volume already exists, Postgres sees “I’m initialized” and ignores the env vars.
So if you want to change password in a persistent system, use ALTER ROLE/ALTER USER.
If you’re in a learning environment and you want a reset, it’s totally fine to delete volumes. But warn students that this deletes data.
Again: containers are replaceable; volumes are the state.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recap in terms of transferable skills.
Today’s skills are foundation for every future unit: schemas, indexes, roles, migrations, and cloud ops.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End by reframing: this wasn’t “Docker day.” This was “systems day.”
You built a system: storage, networking, authentication, tooling, and data movement.
If you can do this, you can handle real internships and junior roles where the task is: “set up a database and load some data.”
Next class, we’ll use the same dataset to introduce:
- schema design constraints
- indexing and EXPLAIN
- transactions
- and role-based access.
Homework is to finish the lab and submit queries.sql plus your dump/restore proof.</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script:
End with a practical gift: a checklist students can reuse.
Tell them: every time you start an assignment, run through this list. If something is broken, you’ll find the break point quickly.
Also remind them: in a real team, this checklist becomes a README, and the compose file becomes shared infrastructure.
If they keep one artifact from today, it’s the compose file plus this checklist.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1828800"/>
            <a:ext cx="10545775" cy="1097280"/>
          </a:xfrm>
          <a:prstGeom prst="rect">
            <a:avLst/>
          </a:prstGeom>
          <a:noFill/>
          <a:ln/>
        </p:spPr>
        <p:txBody>
          <a:bodyPr wrap="square" rtlCol="0" anchor="ctr"/>
          <a:lstStyle/>
          <a:p>
            <a:pPr marL="0" indent="0">
              <a:buNone/>
            </a:pPr>
            <a:r>
              <a:rPr lang="en-US" sz="4200" b="1" dirty="0">
                <a:solidFill>
                  <a:srgbClr val="FFFFFF"/>
                </a:solidFill>
                <a:latin typeface="Aptos" pitchFamily="34" charset="0"/>
                <a:ea typeface="Aptos" pitchFamily="34" charset="-122"/>
                <a:cs typeface="Aptos" pitchFamily="34" charset="-120"/>
              </a:rPr>
              <a:t>Local Postgres with Docker + pgAdmin → Supabase</a:t>
            </a:r>
            <a:endParaRPr lang="en-US" sz="4200" dirty="0"/>
          </a:p>
        </p:txBody>
      </p:sp>
      <p:sp>
        <p:nvSpPr>
          <p:cNvPr id="4" name="Shape 2"/>
          <p:cNvSpPr/>
          <p:nvPr/>
        </p:nvSpPr>
        <p:spPr>
          <a:xfrm>
            <a:off x="822960" y="3063240"/>
            <a:ext cx="3108960" cy="73152"/>
          </a:xfrm>
          <a:prstGeom prst="rect">
            <a:avLst/>
          </a:prstGeom>
          <a:solidFill>
            <a:srgbClr val="9B2C2F"/>
          </a:solidFill>
          <a:ln w="12700">
            <a:solidFill>
              <a:srgbClr val="9B2C2F"/>
            </a:solidFill>
            <a:prstDash val="solid"/>
          </a:ln>
        </p:spPr>
        <p:txBody>
          <a:bodyPr/>
          <a:lstStyle/>
          <a:p>
            <a:endParaRPr lang="en-US"/>
          </a:p>
        </p:txBody>
      </p:sp>
      <p:sp>
        <p:nvSpPr>
          <p:cNvPr id="5" name="Text 3"/>
          <p:cNvSpPr/>
          <p:nvPr/>
        </p:nvSpPr>
        <p:spPr>
          <a:xfrm>
            <a:off x="822960" y="3291840"/>
            <a:ext cx="10545775" cy="914400"/>
          </a:xfrm>
          <a:prstGeom prst="rect">
            <a:avLst/>
          </a:prstGeom>
          <a:noFill/>
          <a:ln/>
        </p:spPr>
        <p:txBody>
          <a:bodyPr wrap="square" rtlCol="0" anchor="ctr"/>
          <a:lstStyle/>
          <a:p>
            <a:pPr marL="0" indent="0">
              <a:buNone/>
            </a:pPr>
            <a:r>
              <a:rPr lang="en-US" sz="2000" dirty="0">
                <a:solidFill>
                  <a:srgbClr val="E2E8F0"/>
                </a:solidFill>
                <a:latin typeface="Aptos" pitchFamily="34" charset="0"/>
                <a:ea typeface="Aptos" pitchFamily="34" charset="-122"/>
                <a:cs typeface="Aptos" pitchFamily="34" charset="-120"/>
              </a:rPr>
              <a:t>A complete, end-to-end workflow for practice datasets, dumps, and restores</a:t>
            </a:r>
            <a:endParaRPr lang="en-US" sz="2000" dirty="0"/>
          </a:p>
        </p:txBody>
      </p:sp>
      <p:sp>
        <p:nvSpPr>
          <p:cNvPr id="6" name="Text 4"/>
          <p:cNvSpPr/>
          <p:nvPr/>
        </p:nvSpPr>
        <p:spPr>
          <a:xfrm>
            <a:off x="822960" y="6126480"/>
            <a:ext cx="10545775" cy="365760"/>
          </a:xfrm>
          <a:prstGeom prst="rect">
            <a:avLst/>
          </a:prstGeom>
          <a:noFill/>
          <a:ln/>
        </p:spPr>
        <p:txBody>
          <a:bodyPr wrap="square" rtlCol="0" anchor="ctr"/>
          <a:lstStyle/>
          <a:p>
            <a:pPr marL="0" indent="0">
              <a:buNone/>
            </a:pPr>
            <a:r>
              <a:rPr lang="en-US" sz="1400" dirty="0">
                <a:solidFill>
                  <a:srgbClr val="94A3B8"/>
                </a:solidFill>
                <a:latin typeface="Aptos" pitchFamily="34" charset="0"/>
                <a:ea typeface="Aptos" pitchFamily="34" charset="-122"/>
                <a:cs typeface="Aptos" pitchFamily="34" charset="-120"/>
              </a:rPr>
              <a:t>CST • Database Admin / Applied Data Systems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Learning goals for today (60 minutes)</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Explain Docker (images, containers, volumes, networks) in plain language</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Bring up Postgres + pgAdmin with one docker compose command</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Connect two ways: terminal (psql) and GUI (pgAdmin)</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Understand what you saw: database vs schema vs table</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Load the pgExercises practice dataset (without creating a “cd” schema, if desired)</a:t>
            </a:r>
            <a:endParaRPr lang="en-US" sz="2000" dirty="0"/>
          </a:p>
        </p:txBody>
      </p:sp>
      <p:sp>
        <p:nvSpPr>
          <p:cNvPr id="16" name="Text 14"/>
          <p:cNvSpPr/>
          <p:nvPr/>
        </p:nvSpPr>
        <p:spPr>
          <a:xfrm>
            <a:off x="914400" y="31546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1188720" y="31363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Dump and restore data locally, then load the same dataset into Supabase</a:t>
            </a:r>
            <a:endParaRPr lang="en-US" sz="2000" dirty="0"/>
          </a:p>
        </p:txBody>
      </p:sp>
      <p:sp>
        <p:nvSpPr>
          <p:cNvPr id="18" name="Text 16"/>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Plan and timing</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0–10: Docker concepts + install/verify</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10–25: docker compose (read every line) + bring up services</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25–35: Connect via psql + pgAdmin (and debug common failures)</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35–45: Import pgExercises dataset + verify tables + run queries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45–55: pg_dump / pg_restore (what they are and why we care)</a:t>
            </a:r>
            <a:endParaRPr lang="en-US" sz="2000" dirty="0"/>
          </a:p>
        </p:txBody>
      </p:sp>
      <p:sp>
        <p:nvSpPr>
          <p:cNvPr id="16" name="Text 14"/>
          <p:cNvSpPr/>
          <p:nvPr/>
        </p:nvSpPr>
        <p:spPr>
          <a:xfrm>
            <a:off x="914400" y="31546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1188720" y="31363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55–60: Supabase: connect + load + what changes in managed Postgres</a:t>
            </a:r>
            <a:endParaRPr lang="en-US" sz="2000" dirty="0"/>
          </a:p>
        </p:txBody>
      </p:sp>
      <p:sp>
        <p:nvSpPr>
          <p:cNvPr id="18" name="Text 16"/>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1</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Docker fundamentals (what it is, why we use it)</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Why Docker for databases in a class?</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Consistency: everyone runs the same Postgres version with the same settings</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Isolation: your system Postgres (if any) doesn’t conflict with class work</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Repeatability: “delete + recreate” becomes safe and normal</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Portability: a compose file is documentation you can execute</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Real-world skill: containerized services are standard in modern dev workflows</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Docker vocabulary (the minimum you need)</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Image = a read-only template (like a “frozen install” of software)</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Container = a running instance of an image (a process with isolation)</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Volume = durable storage that survives container deletion</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Network = a virtual LAN for containers (service names become DNS)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Port mapping = how your host talks to a container (e.g., localhost:5432 → db:5432)</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Install &amp; verify (Docker Desktop + command line)</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1) Install Docker Desktop (Mac/Windows)
# 2) Then verify:
docker version
docker compose version
# Optional: see what is running
docker ps
</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2</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docker compose: read it like a contract</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Our docker-compose.yml (full file)</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version: "3.9"
services:
  db:
    image: postgres:16
    container_name: cst-postgres
    restart: unless-stopped
    environment:
      POSTGRES_DB: app
      POSTGRES_USER: postgres
      POSTGRES_PASSWORD: postgres
    ports:
      - "5432:5432"
    volumes:
      - pgdata:/var/lib/postgresql/data
    healthcheck:
      test: ["CMD-SHELL", "pg_isready -U postgres -d app"]
      interval: 5s
      timeout: 5s
      retries: 10
  pgadmin:
    image: dpage/pgadmin4:latest
    container_name: cst-pgadmin
    restart: unless-stopped
    environment:
      PGADMIN_DEFAULT_EMAIL: admin@cst.local
      PGADMIN_DEFAULT_PASSWORD: admin
    ports:
      - "5050:80"
    depends_on:
      db:
        condition: service_healthy
    volumes:
      - pgadmin-data:/var/lib/pgadmin
volumes:
  pgdata:
  pgadmin-data:
</a:t>
            </a:r>
            <a:endParaRPr lang="en-US" sz="1600" dirty="0"/>
          </a:p>
        </p:txBody>
      </p:sp>
      <p:sp>
        <p:nvSpPr>
          <p:cNvPr id="8" name="Shape 6"/>
          <p:cNvSpPr/>
          <p:nvPr/>
        </p:nvSpPr>
        <p:spPr>
          <a:xfrm>
            <a:off x="731520"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9" name="Text 7"/>
          <p:cNvSpPr/>
          <p:nvPr/>
        </p:nvSpPr>
        <p:spPr>
          <a:xfrm>
            <a:off x="960120"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Note: inside Docker, pgAdmin will connect to host “db” (service name).</a:t>
            </a:r>
            <a:endParaRPr lang="en-US" sz="1400" dirty="0"/>
          </a:p>
        </p:txBody>
      </p:sp>
      <p:sp>
        <p:nvSpPr>
          <p:cNvPr id="10" name="Shape 8"/>
          <p:cNvSpPr/>
          <p:nvPr/>
        </p:nvSpPr>
        <p:spPr>
          <a:xfrm>
            <a:off x="6278728"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11" name="Text 9"/>
          <p:cNvSpPr/>
          <p:nvPr/>
        </p:nvSpPr>
        <p:spPr>
          <a:xfrm>
            <a:off x="6507328"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From your laptop, you connect to Postgres via localhost:5432.</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Compose file: what each part is doing</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POSTGRES_DB creates an initial database (here: app)</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POSTGRES_USER/PASSWORD create a role and set a password</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pgdata volume stores your actual database files</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pgadmin-data volume stores pgAdmin config + saved server connections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healthcheck + depends_on prevent “pgAdmin starts before Postgres is ready”</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How the pieces talk to each other</a:t>
            </a:r>
            <a:endParaRPr lang="en-US" sz="3000" dirty="0"/>
          </a:p>
        </p:txBody>
      </p:sp>
      <p:sp>
        <p:nvSpPr>
          <p:cNvPr id="6" name="Shape 4"/>
          <p:cNvSpPr/>
          <p:nvPr/>
        </p:nvSpPr>
        <p:spPr>
          <a:xfrm>
            <a:off x="822960" y="1645920"/>
            <a:ext cx="4023360" cy="4389120"/>
          </a:xfrm>
          <a:prstGeom prst="roundRect">
            <a:avLst/>
          </a:prstGeom>
          <a:solidFill>
            <a:srgbClr val="F8FAFC"/>
          </a:solidFill>
          <a:ln w="12700">
            <a:solidFill>
              <a:srgbClr val="CBD5E1"/>
            </a:solidFill>
            <a:prstDash val="solid"/>
          </a:ln>
        </p:spPr>
        <p:txBody>
          <a:bodyPr/>
          <a:lstStyle/>
          <a:p>
            <a:endParaRPr lang="en-US"/>
          </a:p>
        </p:txBody>
      </p:sp>
      <p:sp>
        <p:nvSpPr>
          <p:cNvPr id="7" name="Text 5"/>
          <p:cNvSpPr/>
          <p:nvPr/>
        </p:nvSpPr>
        <p:spPr>
          <a:xfrm>
            <a:off x="1097280" y="1874520"/>
            <a:ext cx="3474720" cy="365760"/>
          </a:xfrm>
          <a:prstGeom prst="rect">
            <a:avLst/>
          </a:prstGeom>
          <a:noFill/>
          <a:ln/>
        </p:spPr>
        <p:txBody>
          <a:bodyPr wrap="square" rtlCol="0" anchor="ctr"/>
          <a:lstStyle/>
          <a:p>
            <a:pPr marL="0" indent="0">
              <a:buNone/>
            </a:pPr>
            <a:r>
              <a:rPr lang="en-US" sz="1800" b="1" dirty="0">
                <a:solidFill>
                  <a:srgbClr val="0B1220"/>
                </a:solidFill>
                <a:latin typeface="Aptos" pitchFamily="34" charset="0"/>
                <a:ea typeface="Aptos" pitchFamily="34" charset="-122"/>
                <a:cs typeface="Aptos" pitchFamily="34" charset="-120"/>
              </a:rPr>
              <a:t>Your laptop (host)</a:t>
            </a:r>
            <a:endParaRPr lang="en-US" sz="1800" dirty="0"/>
          </a:p>
        </p:txBody>
      </p:sp>
      <p:sp>
        <p:nvSpPr>
          <p:cNvPr id="8" name="Shape 6"/>
          <p:cNvSpPr/>
          <p:nvPr/>
        </p:nvSpPr>
        <p:spPr>
          <a:xfrm>
            <a:off x="1097280" y="2468880"/>
            <a:ext cx="3474720" cy="1188720"/>
          </a:xfrm>
          <a:prstGeom prst="roundRect">
            <a:avLst/>
          </a:prstGeom>
          <a:solidFill>
            <a:srgbClr val="FFFFFF"/>
          </a:solidFill>
          <a:ln w="12700">
            <a:solidFill>
              <a:srgbClr val="CBD5E1"/>
            </a:solidFill>
            <a:prstDash val="solid"/>
          </a:ln>
        </p:spPr>
        <p:txBody>
          <a:bodyPr/>
          <a:lstStyle/>
          <a:p>
            <a:endParaRPr lang="en-US"/>
          </a:p>
        </p:txBody>
      </p:sp>
      <p:sp>
        <p:nvSpPr>
          <p:cNvPr id="9" name="Text 7"/>
          <p:cNvSpPr/>
          <p:nvPr/>
        </p:nvSpPr>
        <p:spPr>
          <a:xfrm>
            <a:off x="1234440" y="2606040"/>
            <a:ext cx="3200400" cy="82296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Browser</a:t>
            </a:r>
            <a:endParaRPr lang="en-US" sz="1400" dirty="0"/>
          </a:p>
          <a:p>
            <a:pPr marL="0" indent="0">
              <a:buNone/>
            </a:pPr>
            <a:r>
              <a:rPr lang="en-US" sz="1400" dirty="0">
                <a:solidFill>
                  <a:srgbClr val="0B1220"/>
                </a:solidFill>
                <a:latin typeface="Aptos" pitchFamily="34" charset="0"/>
                <a:ea typeface="Aptos" pitchFamily="34" charset="-122"/>
                <a:cs typeface="Aptos" pitchFamily="34" charset="-120"/>
              </a:rPr>
              <a:t>http://localhost:5050</a:t>
            </a:r>
            <a:endParaRPr lang="en-US" sz="1400" dirty="0"/>
          </a:p>
        </p:txBody>
      </p:sp>
      <p:sp>
        <p:nvSpPr>
          <p:cNvPr id="10" name="Shape 8"/>
          <p:cNvSpPr/>
          <p:nvPr/>
        </p:nvSpPr>
        <p:spPr>
          <a:xfrm>
            <a:off x="1097280" y="3886200"/>
            <a:ext cx="3474720" cy="1188720"/>
          </a:xfrm>
          <a:prstGeom prst="roundRect">
            <a:avLst/>
          </a:prstGeom>
          <a:solidFill>
            <a:srgbClr val="FFFFFF"/>
          </a:solidFill>
          <a:ln w="12700">
            <a:solidFill>
              <a:srgbClr val="CBD5E1"/>
            </a:solidFill>
            <a:prstDash val="solid"/>
          </a:ln>
        </p:spPr>
        <p:txBody>
          <a:bodyPr/>
          <a:lstStyle/>
          <a:p>
            <a:endParaRPr lang="en-US"/>
          </a:p>
        </p:txBody>
      </p:sp>
      <p:sp>
        <p:nvSpPr>
          <p:cNvPr id="11" name="Text 9"/>
          <p:cNvSpPr/>
          <p:nvPr/>
        </p:nvSpPr>
        <p:spPr>
          <a:xfrm>
            <a:off x="1234440" y="4023360"/>
            <a:ext cx="3200400" cy="82296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Terminal (psql)</a:t>
            </a:r>
            <a:endParaRPr lang="en-US" sz="1400" dirty="0"/>
          </a:p>
          <a:p>
            <a:pPr marL="0" indent="0">
              <a:buNone/>
            </a:pPr>
            <a:r>
              <a:rPr lang="en-US" sz="1400" dirty="0">
                <a:solidFill>
                  <a:srgbClr val="0B1220"/>
                </a:solidFill>
                <a:latin typeface="Aptos" pitchFamily="34" charset="0"/>
                <a:ea typeface="Aptos" pitchFamily="34" charset="-122"/>
                <a:cs typeface="Aptos" pitchFamily="34" charset="-120"/>
              </a:rPr>
              <a:t>postgres://…@localhost:5432/app</a:t>
            </a:r>
            <a:endParaRPr lang="en-US" sz="1400" dirty="0"/>
          </a:p>
        </p:txBody>
      </p:sp>
      <p:sp>
        <p:nvSpPr>
          <p:cNvPr id="12" name="Shape 10"/>
          <p:cNvSpPr/>
          <p:nvPr/>
        </p:nvSpPr>
        <p:spPr>
          <a:xfrm>
            <a:off x="5577840" y="1645920"/>
            <a:ext cx="5760720" cy="4389120"/>
          </a:xfrm>
          <a:prstGeom prst="roundRect">
            <a:avLst/>
          </a:prstGeom>
          <a:solidFill>
            <a:srgbClr val="EEF2FF"/>
          </a:solidFill>
          <a:ln w="12700">
            <a:solidFill>
              <a:srgbClr val="C7D2FE"/>
            </a:solidFill>
            <a:prstDash val="solid"/>
          </a:ln>
        </p:spPr>
        <p:txBody>
          <a:bodyPr/>
          <a:lstStyle/>
          <a:p>
            <a:endParaRPr lang="en-US"/>
          </a:p>
        </p:txBody>
      </p:sp>
      <p:sp>
        <p:nvSpPr>
          <p:cNvPr id="13" name="Text 11"/>
          <p:cNvSpPr/>
          <p:nvPr/>
        </p:nvSpPr>
        <p:spPr>
          <a:xfrm>
            <a:off x="5852160" y="1874520"/>
            <a:ext cx="5212080" cy="365760"/>
          </a:xfrm>
          <a:prstGeom prst="rect">
            <a:avLst/>
          </a:prstGeom>
          <a:noFill/>
          <a:ln/>
        </p:spPr>
        <p:txBody>
          <a:bodyPr wrap="square" rtlCol="0" anchor="ctr"/>
          <a:lstStyle/>
          <a:p>
            <a:pPr marL="0" indent="0">
              <a:buNone/>
            </a:pPr>
            <a:r>
              <a:rPr lang="en-US" sz="1800" b="1" dirty="0">
                <a:solidFill>
                  <a:srgbClr val="0B1220"/>
                </a:solidFill>
                <a:latin typeface="Aptos" pitchFamily="34" charset="0"/>
                <a:ea typeface="Aptos" pitchFamily="34" charset="-122"/>
                <a:cs typeface="Aptos" pitchFamily="34" charset="-120"/>
              </a:rPr>
              <a:t>Docker network</a:t>
            </a:r>
            <a:endParaRPr lang="en-US" sz="1800" dirty="0"/>
          </a:p>
        </p:txBody>
      </p:sp>
      <p:sp>
        <p:nvSpPr>
          <p:cNvPr id="14" name="Shape 12"/>
          <p:cNvSpPr/>
          <p:nvPr/>
        </p:nvSpPr>
        <p:spPr>
          <a:xfrm>
            <a:off x="5852160" y="2468880"/>
            <a:ext cx="2651760" cy="2560320"/>
          </a:xfrm>
          <a:prstGeom prst="roundRect">
            <a:avLst/>
          </a:prstGeom>
          <a:solidFill>
            <a:srgbClr val="FFFFFF"/>
          </a:solidFill>
          <a:ln w="12700">
            <a:solidFill>
              <a:srgbClr val="C7D2FE"/>
            </a:solidFill>
            <a:prstDash val="solid"/>
          </a:ln>
        </p:spPr>
        <p:txBody>
          <a:bodyPr/>
          <a:lstStyle/>
          <a:p>
            <a:endParaRPr lang="en-US"/>
          </a:p>
        </p:txBody>
      </p:sp>
      <p:sp>
        <p:nvSpPr>
          <p:cNvPr id="15" name="Text 13"/>
          <p:cNvSpPr/>
          <p:nvPr/>
        </p:nvSpPr>
        <p:spPr>
          <a:xfrm>
            <a:off x="5989320" y="2651760"/>
            <a:ext cx="2377440" cy="731520"/>
          </a:xfrm>
          <a:prstGeom prst="rect">
            <a:avLst/>
          </a:prstGeom>
          <a:noFill/>
          <a:ln/>
        </p:spPr>
        <p:txBody>
          <a:bodyPr wrap="square" rtlCol="0" anchor="ctr"/>
          <a:lstStyle/>
          <a:p>
            <a:pPr marL="0" indent="0">
              <a:buNone/>
            </a:pPr>
            <a:r>
              <a:rPr lang="en-US" sz="1400" b="1" dirty="0">
                <a:solidFill>
                  <a:srgbClr val="0B1220"/>
                </a:solidFill>
                <a:latin typeface="Aptos" pitchFamily="34" charset="0"/>
                <a:ea typeface="Aptos" pitchFamily="34" charset="-122"/>
                <a:cs typeface="Aptos" pitchFamily="34" charset="-120"/>
              </a:rPr>
              <a:t>pgAdmin</a:t>
            </a:r>
            <a:endParaRPr lang="en-US" sz="1400" dirty="0"/>
          </a:p>
          <a:p>
            <a:pPr marL="0" indent="0">
              <a:buNone/>
            </a:pPr>
            <a:r>
              <a:rPr lang="en-US" sz="1400" b="1" dirty="0">
                <a:solidFill>
                  <a:srgbClr val="0B1220"/>
                </a:solidFill>
                <a:latin typeface="Aptos" pitchFamily="34" charset="0"/>
                <a:ea typeface="Aptos" pitchFamily="34" charset="-122"/>
                <a:cs typeface="Aptos" pitchFamily="34" charset="-120"/>
              </a:rPr>
              <a:t>(port 80)</a:t>
            </a:r>
            <a:endParaRPr lang="en-US" sz="1400" dirty="0"/>
          </a:p>
        </p:txBody>
      </p:sp>
      <p:sp>
        <p:nvSpPr>
          <p:cNvPr id="16" name="Text 14"/>
          <p:cNvSpPr/>
          <p:nvPr/>
        </p:nvSpPr>
        <p:spPr>
          <a:xfrm>
            <a:off x="5989320" y="3337560"/>
            <a:ext cx="2377440" cy="1097280"/>
          </a:xfrm>
          <a:prstGeom prst="rect">
            <a:avLst/>
          </a:prstGeom>
          <a:noFill/>
          <a:ln/>
        </p:spPr>
        <p:txBody>
          <a:bodyPr wrap="square" rtlCol="0" anchor="ctr"/>
          <a:lstStyle/>
          <a:p>
            <a:pPr marL="0" indent="0">
              <a:buNone/>
            </a:pPr>
            <a:r>
              <a:rPr lang="en-US" sz="1200" dirty="0">
                <a:solidFill>
                  <a:srgbClr val="475569"/>
                </a:solidFill>
                <a:latin typeface="Aptos" pitchFamily="34" charset="0"/>
                <a:ea typeface="Aptos" pitchFamily="34" charset="-122"/>
                <a:cs typeface="Aptos" pitchFamily="34" charset="-120"/>
              </a:rPr>
              <a:t>Connects to db</a:t>
            </a:r>
            <a:endParaRPr lang="en-US" sz="1200" dirty="0"/>
          </a:p>
          <a:p>
            <a:pPr marL="0" indent="0">
              <a:buNone/>
            </a:pPr>
            <a:r>
              <a:rPr lang="en-US" sz="1200" dirty="0">
                <a:solidFill>
                  <a:srgbClr val="475569"/>
                </a:solidFill>
                <a:latin typeface="Aptos" pitchFamily="34" charset="0"/>
                <a:ea typeface="Aptos" pitchFamily="34" charset="-122"/>
                <a:cs typeface="Aptos" pitchFamily="34" charset="-120"/>
              </a:rPr>
              <a:t>Host: db</a:t>
            </a:r>
            <a:endParaRPr lang="en-US" sz="1200" dirty="0"/>
          </a:p>
          <a:p>
            <a:pPr marL="0" indent="0">
              <a:buNone/>
            </a:pPr>
            <a:r>
              <a:rPr lang="en-US" sz="1200" dirty="0">
                <a:solidFill>
                  <a:srgbClr val="475569"/>
                </a:solidFill>
                <a:latin typeface="Aptos" pitchFamily="34" charset="0"/>
                <a:ea typeface="Aptos" pitchFamily="34" charset="-122"/>
                <a:cs typeface="Aptos" pitchFamily="34" charset="-120"/>
              </a:rPr>
              <a:t>Port: 5432</a:t>
            </a:r>
            <a:endParaRPr lang="en-US" sz="1200" dirty="0"/>
          </a:p>
        </p:txBody>
      </p:sp>
      <p:sp>
        <p:nvSpPr>
          <p:cNvPr id="17" name="Shape 15"/>
          <p:cNvSpPr/>
          <p:nvPr/>
        </p:nvSpPr>
        <p:spPr>
          <a:xfrm>
            <a:off x="8915400" y="2468880"/>
            <a:ext cx="2651760" cy="2560320"/>
          </a:xfrm>
          <a:prstGeom prst="roundRect">
            <a:avLst/>
          </a:prstGeom>
          <a:solidFill>
            <a:srgbClr val="FFFFFF"/>
          </a:solidFill>
          <a:ln w="12700">
            <a:solidFill>
              <a:srgbClr val="C7D2FE"/>
            </a:solidFill>
            <a:prstDash val="solid"/>
          </a:ln>
        </p:spPr>
        <p:txBody>
          <a:bodyPr/>
          <a:lstStyle/>
          <a:p>
            <a:endParaRPr lang="en-US"/>
          </a:p>
        </p:txBody>
      </p:sp>
      <p:sp>
        <p:nvSpPr>
          <p:cNvPr id="18" name="Text 16"/>
          <p:cNvSpPr/>
          <p:nvPr/>
        </p:nvSpPr>
        <p:spPr>
          <a:xfrm>
            <a:off x="9052560" y="2651760"/>
            <a:ext cx="2377440" cy="731520"/>
          </a:xfrm>
          <a:prstGeom prst="rect">
            <a:avLst/>
          </a:prstGeom>
          <a:noFill/>
          <a:ln/>
        </p:spPr>
        <p:txBody>
          <a:bodyPr wrap="square" rtlCol="0" anchor="ctr"/>
          <a:lstStyle/>
          <a:p>
            <a:pPr marL="0" indent="0">
              <a:buNone/>
            </a:pPr>
            <a:r>
              <a:rPr lang="en-US" sz="1400" b="1" dirty="0">
                <a:solidFill>
                  <a:srgbClr val="0B1220"/>
                </a:solidFill>
                <a:latin typeface="Aptos" pitchFamily="34" charset="0"/>
                <a:ea typeface="Aptos" pitchFamily="34" charset="-122"/>
                <a:cs typeface="Aptos" pitchFamily="34" charset="-120"/>
              </a:rPr>
              <a:t>Postgres</a:t>
            </a:r>
            <a:endParaRPr lang="en-US" sz="1400" dirty="0"/>
          </a:p>
          <a:p>
            <a:pPr marL="0" indent="0">
              <a:buNone/>
            </a:pPr>
            <a:r>
              <a:rPr lang="en-US" sz="1400" b="1" dirty="0">
                <a:solidFill>
                  <a:srgbClr val="0B1220"/>
                </a:solidFill>
                <a:latin typeface="Aptos" pitchFamily="34" charset="0"/>
                <a:ea typeface="Aptos" pitchFamily="34" charset="-122"/>
                <a:cs typeface="Aptos" pitchFamily="34" charset="-120"/>
              </a:rPr>
              <a:t>(port 5432)</a:t>
            </a:r>
            <a:endParaRPr lang="en-US" sz="1400" dirty="0"/>
          </a:p>
        </p:txBody>
      </p:sp>
      <p:sp>
        <p:nvSpPr>
          <p:cNvPr id="19" name="Text 17"/>
          <p:cNvSpPr/>
          <p:nvPr/>
        </p:nvSpPr>
        <p:spPr>
          <a:xfrm>
            <a:off x="9052560" y="3429000"/>
            <a:ext cx="2377440" cy="640080"/>
          </a:xfrm>
          <a:prstGeom prst="rect">
            <a:avLst/>
          </a:prstGeom>
          <a:noFill/>
          <a:ln/>
        </p:spPr>
        <p:txBody>
          <a:bodyPr wrap="square" rtlCol="0" anchor="ctr"/>
          <a:lstStyle/>
          <a:p>
            <a:pPr marL="0" indent="0">
              <a:buNone/>
            </a:pPr>
            <a:r>
              <a:rPr lang="en-US" sz="1200" dirty="0">
                <a:solidFill>
                  <a:srgbClr val="475569"/>
                </a:solidFill>
                <a:latin typeface="Aptos" pitchFamily="34" charset="0"/>
                <a:ea typeface="Aptos" pitchFamily="34" charset="-122"/>
                <a:cs typeface="Aptos" pitchFamily="34" charset="-120"/>
              </a:rPr>
              <a:t>Data files in</a:t>
            </a:r>
            <a:endParaRPr lang="en-US" sz="1200" dirty="0"/>
          </a:p>
          <a:p>
            <a:pPr marL="0" indent="0">
              <a:buNone/>
            </a:pPr>
            <a:r>
              <a:rPr lang="en-US" sz="1200" dirty="0">
                <a:solidFill>
                  <a:srgbClr val="475569"/>
                </a:solidFill>
                <a:latin typeface="Aptos" pitchFamily="34" charset="0"/>
                <a:ea typeface="Aptos" pitchFamily="34" charset="-122"/>
                <a:cs typeface="Aptos" pitchFamily="34" charset="-120"/>
              </a:rPr>
              <a:t>volume: pgdata</a:t>
            </a:r>
            <a:endParaRPr lang="en-US" sz="1200" dirty="0"/>
          </a:p>
        </p:txBody>
      </p:sp>
      <p:sp>
        <p:nvSpPr>
          <p:cNvPr id="20" name="Shape 18"/>
          <p:cNvSpPr/>
          <p:nvPr/>
        </p:nvSpPr>
        <p:spPr>
          <a:xfrm>
            <a:off x="4892040" y="3063240"/>
            <a:ext cx="685800" cy="0"/>
          </a:xfrm>
          <a:prstGeom prst="line">
            <a:avLst/>
          </a:prstGeom>
          <a:noFill/>
          <a:ln w="38100">
            <a:solidFill>
              <a:srgbClr val="9B2C2F"/>
            </a:solidFill>
            <a:prstDash val="solid"/>
            <a:headEnd type="none"/>
            <a:tailEnd type="triangle"/>
          </a:ln>
        </p:spPr>
        <p:txBody>
          <a:bodyPr/>
          <a:lstStyle/>
          <a:p>
            <a:endParaRPr lang="en-US"/>
          </a:p>
        </p:txBody>
      </p:sp>
      <p:sp>
        <p:nvSpPr>
          <p:cNvPr id="21" name="Text 19"/>
          <p:cNvSpPr/>
          <p:nvPr/>
        </p:nvSpPr>
        <p:spPr>
          <a:xfrm>
            <a:off x="4526280" y="2834640"/>
            <a:ext cx="1097280" cy="274320"/>
          </a:xfrm>
          <a:prstGeom prst="rect">
            <a:avLst/>
          </a:prstGeom>
          <a:noFill/>
          <a:ln/>
        </p:spPr>
        <p:txBody>
          <a:bodyPr wrap="square" rtlCol="0" anchor="ctr"/>
          <a:lstStyle/>
          <a:p>
            <a:pPr marL="0" indent="0">
              <a:buNone/>
            </a:pPr>
            <a:r>
              <a:rPr lang="en-US" sz="1200" dirty="0">
                <a:solidFill>
                  <a:srgbClr val="475569"/>
                </a:solidFill>
                <a:latin typeface="Aptos" pitchFamily="34" charset="0"/>
                <a:ea typeface="Aptos" pitchFamily="34" charset="-122"/>
                <a:cs typeface="Aptos" pitchFamily="34" charset="-120"/>
              </a:rPr>
              <a:t>5050 → 80</a:t>
            </a:r>
            <a:endParaRPr lang="en-US" sz="1200" dirty="0"/>
          </a:p>
        </p:txBody>
      </p:sp>
      <p:sp>
        <p:nvSpPr>
          <p:cNvPr id="22" name="Shape 20"/>
          <p:cNvSpPr/>
          <p:nvPr/>
        </p:nvSpPr>
        <p:spPr>
          <a:xfrm>
            <a:off x="4892040" y="4434840"/>
            <a:ext cx="4023360" cy="0"/>
          </a:xfrm>
          <a:prstGeom prst="line">
            <a:avLst/>
          </a:prstGeom>
          <a:noFill/>
          <a:ln w="38100">
            <a:solidFill>
              <a:srgbClr val="9B2C2F"/>
            </a:solidFill>
            <a:prstDash val="solid"/>
            <a:headEnd type="none"/>
            <a:tailEnd type="triangle"/>
          </a:ln>
        </p:spPr>
        <p:txBody>
          <a:bodyPr/>
          <a:lstStyle/>
          <a:p>
            <a:endParaRPr lang="en-US"/>
          </a:p>
        </p:txBody>
      </p:sp>
      <p:sp>
        <p:nvSpPr>
          <p:cNvPr id="23" name="Text 21"/>
          <p:cNvSpPr/>
          <p:nvPr/>
        </p:nvSpPr>
        <p:spPr>
          <a:xfrm>
            <a:off x="4526280" y="4206240"/>
            <a:ext cx="1463040" cy="274320"/>
          </a:xfrm>
          <a:prstGeom prst="rect">
            <a:avLst/>
          </a:prstGeom>
          <a:noFill/>
          <a:ln/>
        </p:spPr>
        <p:txBody>
          <a:bodyPr wrap="square" rtlCol="0" anchor="ctr"/>
          <a:lstStyle/>
          <a:p>
            <a:pPr marL="0" indent="0">
              <a:buNone/>
            </a:pPr>
            <a:r>
              <a:rPr lang="en-US" sz="1200" dirty="0">
                <a:solidFill>
                  <a:srgbClr val="475569"/>
                </a:solidFill>
                <a:latin typeface="Aptos" pitchFamily="34" charset="0"/>
                <a:ea typeface="Aptos" pitchFamily="34" charset="-122"/>
                <a:cs typeface="Aptos" pitchFamily="34" charset="-120"/>
              </a:rPr>
              <a:t>5432 → 5432</a:t>
            </a:r>
            <a:endParaRPr lang="en-US" sz="1200" dirty="0"/>
          </a:p>
        </p:txBody>
      </p:sp>
      <p:sp>
        <p:nvSpPr>
          <p:cNvPr id="24" name="Shape 22"/>
          <p:cNvSpPr/>
          <p:nvPr/>
        </p:nvSpPr>
        <p:spPr>
          <a:xfrm>
            <a:off x="8503920" y="3703320"/>
            <a:ext cx="411480" cy="0"/>
          </a:xfrm>
          <a:prstGeom prst="line">
            <a:avLst/>
          </a:prstGeom>
          <a:noFill/>
          <a:ln w="38100">
            <a:solidFill>
              <a:srgbClr val="2563EB"/>
            </a:solidFill>
            <a:prstDash val="solid"/>
            <a:headEnd type="none"/>
            <a:tailEnd type="triangle"/>
          </a:ln>
        </p:spPr>
        <p:txBody>
          <a:bodyPr/>
          <a:lstStyle/>
          <a:p>
            <a:endParaRPr lang="en-US"/>
          </a:p>
        </p:txBody>
      </p:sp>
      <p:sp>
        <p:nvSpPr>
          <p:cNvPr id="25" name="Text 23"/>
          <p:cNvSpPr/>
          <p:nvPr/>
        </p:nvSpPr>
        <p:spPr>
          <a:xfrm>
            <a:off x="7909560" y="3886200"/>
            <a:ext cx="914400" cy="274320"/>
          </a:xfrm>
          <a:prstGeom prst="rect">
            <a:avLst/>
          </a:prstGeom>
          <a:noFill/>
          <a:ln/>
        </p:spPr>
        <p:txBody>
          <a:bodyPr wrap="square" rtlCol="0" anchor="ctr"/>
          <a:lstStyle/>
          <a:p>
            <a:pPr marL="0" indent="0">
              <a:buNone/>
            </a:pPr>
            <a:r>
              <a:rPr lang="en-US" sz="1200" dirty="0">
                <a:solidFill>
                  <a:srgbClr val="475569"/>
                </a:solidFill>
                <a:latin typeface="Aptos" pitchFamily="34" charset="0"/>
                <a:ea typeface="Aptos" pitchFamily="34" charset="-122"/>
                <a:cs typeface="Aptos" pitchFamily="34" charset="-120"/>
              </a:rPr>
              <a:t>db:5432</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Bring everything up (and confirm it is healthy)</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Start services in the background
docker compose up -d
# Check status
docker compose ps
# View logs (useful when something fails)
docker logs -f cst-postgres
</a:t>
            </a:r>
            <a:endParaRPr lang="en-US" sz="1600" dirty="0"/>
          </a:p>
        </p:txBody>
      </p:sp>
      <p:sp>
        <p:nvSpPr>
          <p:cNvPr id="8" name="Shape 6"/>
          <p:cNvSpPr/>
          <p:nvPr/>
        </p:nvSpPr>
        <p:spPr>
          <a:xfrm>
            <a:off x="731520"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9" name="Text 7"/>
          <p:cNvSpPr/>
          <p:nvPr/>
        </p:nvSpPr>
        <p:spPr>
          <a:xfrm>
            <a:off x="960120"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If you ever need a reset: docker compose down -v  (WARNING: deletes volumes/data)</a:t>
            </a:r>
            <a:endParaRPr lang="en-US" sz="1400" dirty="0"/>
          </a:p>
        </p:txBody>
      </p:sp>
      <p:sp>
        <p:nvSpPr>
          <p:cNvPr id="10" name="Shape 8"/>
          <p:cNvSpPr/>
          <p:nvPr/>
        </p:nvSpPr>
        <p:spPr>
          <a:xfrm>
            <a:off x="6278728"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11" name="Text 9"/>
          <p:cNvSpPr/>
          <p:nvPr/>
        </p:nvSpPr>
        <p:spPr>
          <a:xfrm>
            <a:off x="6507328"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Healthy checks are your friend; they turn “mystery failures” into visible states.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3</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Connect to Postgres two ways</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Connect from your terminal (host machine)</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dirty="0"/>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If you have psql installed:
psql "postgresql://postgres:postgres@localhost:5432/app"
-- In psql:
conninfo
l
dn
dt
SELECT version();
</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Connect from inside the Postgres container</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Open an interactive shell in the container
docker exec -it cst-postgres bash
# Inside container:
psql -U postgres -d app
-- In psql:
conninfo
</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Why you only saw databases “postgres” and “app”</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Postgres always has default/system databases (including postgres)</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Our compose file created one “application” database named app</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A “database” contains schemas; schemas contain tables, views, functions</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So: if you expected “cd,” that was a schema name from the pgExercises dataset, not a database</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Open pgAdmin in your browser</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Open this in your browser:
http://localhost:5050
Login:
Email: admin@cst.local
Password: admin
</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pgAdmin: add the Postgres server (the common mistake)</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Register → Server</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Name: Local Docker Postgres</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Connection tab:</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Host name/address: db  (NOT localhost)</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Port: 5432</a:t>
            </a:r>
            <a:endParaRPr lang="en-US" sz="2000" dirty="0"/>
          </a:p>
        </p:txBody>
      </p:sp>
      <p:sp>
        <p:nvSpPr>
          <p:cNvPr id="16" name="Text 14"/>
          <p:cNvSpPr/>
          <p:nvPr/>
        </p:nvSpPr>
        <p:spPr>
          <a:xfrm>
            <a:off x="914400" y="31546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1188720" y="31363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Maintenance DB: app</a:t>
            </a:r>
            <a:endParaRPr lang="en-US" sz="2000" dirty="0"/>
          </a:p>
        </p:txBody>
      </p:sp>
      <p:sp>
        <p:nvSpPr>
          <p:cNvPr id="18" name="Text 16"/>
          <p:cNvSpPr/>
          <p:nvPr/>
        </p:nvSpPr>
        <p:spPr>
          <a:xfrm>
            <a:off x="914400" y="34747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9" name="Text 17"/>
          <p:cNvSpPr/>
          <p:nvPr/>
        </p:nvSpPr>
        <p:spPr>
          <a:xfrm>
            <a:off x="1188720" y="34564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Username: postgres</a:t>
            </a:r>
            <a:endParaRPr lang="en-US" sz="2000" dirty="0"/>
          </a:p>
        </p:txBody>
      </p:sp>
      <p:sp>
        <p:nvSpPr>
          <p:cNvPr id="20" name="Text 18"/>
          <p:cNvSpPr/>
          <p:nvPr/>
        </p:nvSpPr>
        <p:spPr>
          <a:xfrm>
            <a:off x="914400" y="37947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21" name="Text 19"/>
          <p:cNvSpPr/>
          <p:nvPr/>
        </p:nvSpPr>
        <p:spPr>
          <a:xfrm>
            <a:off x="1188720" y="37764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Password: postgres (save password)</a:t>
            </a:r>
            <a:endParaRPr lang="en-US" sz="2000" dirty="0"/>
          </a:p>
        </p:txBody>
      </p:sp>
      <p:sp>
        <p:nvSpPr>
          <p:cNvPr id="22" name="Text 20"/>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4</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Database vs schema, then import pgExercises</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Database vs schema (a clean mental model)</a:t>
            </a:r>
            <a:endParaRPr lang="en-US" sz="3000" dirty="0"/>
          </a:p>
        </p:txBody>
      </p:sp>
      <p:sp>
        <p:nvSpPr>
          <p:cNvPr id="6" name="Shape 4"/>
          <p:cNvSpPr/>
          <p:nvPr/>
        </p:nvSpPr>
        <p:spPr>
          <a:xfrm>
            <a:off x="731520" y="1554480"/>
            <a:ext cx="5227168" cy="4846320"/>
          </a:xfrm>
          <a:prstGeom prst="roundRect">
            <a:avLst/>
          </a:prstGeom>
          <a:solidFill>
            <a:srgbClr val="F8FAFC"/>
          </a:solidFill>
          <a:ln w="12700">
            <a:solidFill>
              <a:srgbClr val="CBD5E1"/>
            </a:solidFill>
            <a:prstDash val="solid"/>
          </a:ln>
        </p:spPr>
        <p:txBody>
          <a:bodyPr/>
          <a:lstStyle/>
          <a:p>
            <a:endParaRPr lang="en-US"/>
          </a:p>
        </p:txBody>
      </p:sp>
      <p:sp>
        <p:nvSpPr>
          <p:cNvPr id="7" name="Shape 5"/>
          <p:cNvSpPr/>
          <p:nvPr/>
        </p:nvSpPr>
        <p:spPr>
          <a:xfrm>
            <a:off x="6233008" y="1554480"/>
            <a:ext cx="5227168" cy="4846320"/>
          </a:xfrm>
          <a:prstGeom prst="roundRect">
            <a:avLst/>
          </a:prstGeom>
          <a:solidFill>
            <a:srgbClr val="F8FAFC"/>
          </a:solidFill>
          <a:ln w="12700">
            <a:solidFill>
              <a:srgbClr val="CBD5E1"/>
            </a:solidFill>
            <a:prstDash val="solid"/>
          </a:ln>
        </p:spPr>
        <p:txBody>
          <a:bodyPr/>
          <a:lstStyle/>
          <a:p>
            <a:endParaRPr lang="en-US"/>
          </a:p>
        </p:txBody>
      </p:sp>
      <p:sp>
        <p:nvSpPr>
          <p:cNvPr id="8" name="Text 6"/>
          <p:cNvSpPr/>
          <p:nvPr/>
        </p:nvSpPr>
        <p:spPr>
          <a:xfrm>
            <a:off x="1005840" y="1783080"/>
            <a:ext cx="4861408" cy="365760"/>
          </a:xfrm>
          <a:prstGeom prst="rect">
            <a:avLst/>
          </a:prstGeom>
          <a:noFill/>
          <a:ln/>
        </p:spPr>
        <p:txBody>
          <a:bodyPr wrap="square" rtlCol="0" anchor="ctr"/>
          <a:lstStyle/>
          <a:p>
            <a:pPr marL="0" indent="0">
              <a:buNone/>
            </a:pPr>
            <a:r>
              <a:rPr lang="en-US" sz="1800" b="1" dirty="0">
                <a:solidFill>
                  <a:srgbClr val="475569"/>
                </a:solidFill>
                <a:latin typeface="Aptos" pitchFamily="34" charset="0"/>
                <a:ea typeface="Aptos" pitchFamily="34" charset="-122"/>
                <a:cs typeface="Aptos" pitchFamily="34" charset="-120"/>
              </a:rPr>
              <a:t>DATABASE</a:t>
            </a:r>
            <a:endParaRPr lang="en-US" sz="1800" dirty="0"/>
          </a:p>
        </p:txBody>
      </p:sp>
      <p:sp>
        <p:nvSpPr>
          <p:cNvPr id="9" name="Text 7"/>
          <p:cNvSpPr/>
          <p:nvPr/>
        </p:nvSpPr>
        <p:spPr>
          <a:xfrm>
            <a:off x="6507328" y="1783080"/>
            <a:ext cx="4861408" cy="365760"/>
          </a:xfrm>
          <a:prstGeom prst="rect">
            <a:avLst/>
          </a:prstGeom>
          <a:noFill/>
          <a:ln/>
        </p:spPr>
        <p:txBody>
          <a:bodyPr wrap="square" rtlCol="0" anchor="ctr"/>
          <a:lstStyle/>
          <a:p>
            <a:pPr marL="0" indent="0">
              <a:buNone/>
            </a:pPr>
            <a:r>
              <a:rPr lang="en-US" sz="1800" b="1" dirty="0">
                <a:solidFill>
                  <a:srgbClr val="475569"/>
                </a:solidFill>
                <a:latin typeface="Aptos" pitchFamily="34" charset="0"/>
                <a:ea typeface="Aptos" pitchFamily="34" charset="-122"/>
                <a:cs typeface="Aptos" pitchFamily="34" charset="-120"/>
              </a:rPr>
              <a:t>SCHEMA</a:t>
            </a:r>
            <a:endParaRPr lang="en-US" sz="1800" dirty="0"/>
          </a:p>
        </p:txBody>
      </p:sp>
      <p:sp>
        <p:nvSpPr>
          <p:cNvPr id="10" name="Text 8"/>
          <p:cNvSpPr/>
          <p:nvPr/>
        </p:nvSpPr>
        <p:spPr>
          <a:xfrm>
            <a:off x="1005840" y="2286000"/>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11" name="Text 9"/>
          <p:cNvSpPr/>
          <p:nvPr/>
        </p:nvSpPr>
        <p:spPr>
          <a:xfrm>
            <a:off x="1234440" y="2267712"/>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A database is a logical container within a Postgres server</a:t>
            </a:r>
            <a:endParaRPr lang="en-US" sz="1600" dirty="0"/>
          </a:p>
        </p:txBody>
      </p:sp>
      <p:sp>
        <p:nvSpPr>
          <p:cNvPr id="12" name="Text 10"/>
          <p:cNvSpPr/>
          <p:nvPr/>
        </p:nvSpPr>
        <p:spPr>
          <a:xfrm>
            <a:off x="1005840" y="2615184"/>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13" name="Text 11"/>
          <p:cNvSpPr/>
          <p:nvPr/>
        </p:nvSpPr>
        <p:spPr>
          <a:xfrm>
            <a:off x="1234440" y="2596896"/>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Connections choose a database (…/app)</a:t>
            </a:r>
            <a:endParaRPr lang="en-US" sz="1600" dirty="0"/>
          </a:p>
        </p:txBody>
      </p:sp>
      <p:sp>
        <p:nvSpPr>
          <p:cNvPr id="14" name="Text 12"/>
          <p:cNvSpPr/>
          <p:nvPr/>
        </p:nvSpPr>
        <p:spPr>
          <a:xfrm>
            <a:off x="1005840" y="2944368"/>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15" name="Text 13"/>
          <p:cNvSpPr/>
          <p:nvPr/>
        </p:nvSpPr>
        <p:spPr>
          <a:xfrm>
            <a:off x="1234440" y="2926080"/>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Databases separate ownership, extensions, and some settings</a:t>
            </a:r>
            <a:endParaRPr lang="en-US" sz="1600" dirty="0"/>
          </a:p>
        </p:txBody>
      </p:sp>
      <p:sp>
        <p:nvSpPr>
          <p:cNvPr id="16" name="Text 14"/>
          <p:cNvSpPr/>
          <p:nvPr/>
        </p:nvSpPr>
        <p:spPr>
          <a:xfrm>
            <a:off x="1005840" y="3273552"/>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17" name="Text 15"/>
          <p:cNvSpPr/>
          <p:nvPr/>
        </p:nvSpPr>
        <p:spPr>
          <a:xfrm>
            <a:off x="1234440" y="3255264"/>
            <a:ext cx="4678528" cy="661828"/>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You cannot query across databases directly (without dblink/FDW)</a:t>
            </a:r>
            <a:endParaRPr lang="en-US" sz="1600" dirty="0"/>
          </a:p>
        </p:txBody>
      </p:sp>
      <p:sp>
        <p:nvSpPr>
          <p:cNvPr id="18" name="Text 16"/>
          <p:cNvSpPr/>
          <p:nvPr/>
        </p:nvSpPr>
        <p:spPr>
          <a:xfrm>
            <a:off x="6507328" y="2286000"/>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19" name="Text 17"/>
          <p:cNvSpPr/>
          <p:nvPr/>
        </p:nvSpPr>
        <p:spPr>
          <a:xfrm>
            <a:off x="6735928" y="2267712"/>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A schema is a namespace inside a database</a:t>
            </a:r>
            <a:endParaRPr lang="en-US" sz="1600" dirty="0"/>
          </a:p>
        </p:txBody>
      </p:sp>
      <p:sp>
        <p:nvSpPr>
          <p:cNvPr id="20" name="Text 18"/>
          <p:cNvSpPr/>
          <p:nvPr/>
        </p:nvSpPr>
        <p:spPr>
          <a:xfrm>
            <a:off x="6507328" y="2615184"/>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21" name="Text 19"/>
          <p:cNvSpPr/>
          <p:nvPr/>
        </p:nvSpPr>
        <p:spPr>
          <a:xfrm>
            <a:off x="6735928" y="2596896"/>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Schemas organize objects: tables, views, functions</a:t>
            </a:r>
            <a:endParaRPr lang="en-US" sz="1600" dirty="0"/>
          </a:p>
        </p:txBody>
      </p:sp>
      <p:sp>
        <p:nvSpPr>
          <p:cNvPr id="22" name="Text 20"/>
          <p:cNvSpPr/>
          <p:nvPr/>
        </p:nvSpPr>
        <p:spPr>
          <a:xfrm>
            <a:off x="6507328" y="2944368"/>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23" name="Text 21"/>
          <p:cNvSpPr/>
          <p:nvPr/>
        </p:nvSpPr>
        <p:spPr>
          <a:xfrm>
            <a:off x="6735928" y="2926080"/>
            <a:ext cx="4678528" cy="27432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Two schemas can both have a table named members</a:t>
            </a:r>
            <a:endParaRPr lang="en-US" sz="1600" dirty="0"/>
          </a:p>
        </p:txBody>
      </p:sp>
      <p:sp>
        <p:nvSpPr>
          <p:cNvPr id="24" name="Text 22"/>
          <p:cNvSpPr/>
          <p:nvPr/>
        </p:nvSpPr>
        <p:spPr>
          <a:xfrm>
            <a:off x="6507328" y="3273552"/>
            <a:ext cx="228600" cy="228600"/>
          </a:xfrm>
          <a:prstGeom prst="rect">
            <a:avLst/>
          </a:prstGeom>
          <a:noFill/>
          <a:ln/>
        </p:spPr>
        <p:txBody>
          <a:bodyPr wrap="square" rtlCol="0" anchor="ctr"/>
          <a:lstStyle/>
          <a:p>
            <a:pPr marL="0" indent="0">
              <a:buNone/>
            </a:pPr>
            <a:r>
              <a:rPr lang="en-US" sz="1800" dirty="0">
                <a:solidFill>
                  <a:srgbClr val="9B2C2F"/>
                </a:solidFill>
                <a:latin typeface="Aptos" pitchFamily="34" charset="0"/>
                <a:ea typeface="Aptos" pitchFamily="34" charset="-122"/>
                <a:cs typeface="Aptos" pitchFamily="34" charset="-120"/>
              </a:rPr>
              <a:t>•</a:t>
            </a:r>
            <a:endParaRPr lang="en-US" sz="1800" dirty="0"/>
          </a:p>
        </p:txBody>
      </p:sp>
      <p:sp>
        <p:nvSpPr>
          <p:cNvPr id="25" name="Text 23"/>
          <p:cNvSpPr/>
          <p:nvPr/>
        </p:nvSpPr>
        <p:spPr>
          <a:xfrm>
            <a:off x="6735928" y="3255264"/>
            <a:ext cx="4678528" cy="640080"/>
          </a:xfrm>
          <a:prstGeom prst="rect">
            <a:avLst/>
          </a:prstGeom>
          <a:noFill/>
          <a:ln/>
        </p:spPr>
        <p:txBody>
          <a:bodyPr wrap="square" rtlCol="0" anchor="ctr"/>
          <a:lstStyle/>
          <a:p>
            <a:pPr marL="0" indent="0">
              <a:buNone/>
            </a:pPr>
            <a:r>
              <a:rPr lang="en-US" sz="1600" dirty="0">
                <a:solidFill>
                  <a:srgbClr val="0B1220"/>
                </a:solidFill>
                <a:latin typeface="Aptos" pitchFamily="34" charset="0"/>
                <a:ea typeface="Aptos" pitchFamily="34" charset="-122"/>
                <a:cs typeface="Aptos" pitchFamily="34" charset="-120"/>
              </a:rPr>
              <a:t>search_path decides which schema is used by default</a:t>
            </a:r>
            <a:endParaRPr lang="en-US" sz="1600" dirty="0"/>
          </a:p>
        </p:txBody>
      </p:sp>
      <p:sp>
        <p:nvSpPr>
          <p:cNvPr id="26" name="Text 2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Tip: Keep a “notes.md” log of every command you run today. That becomes your study guide.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About pgExercises “Club Database”</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A small relational dataset designed for SQL practice</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Tables include: facilities, members, bookings</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Great for joins, GROUP BY, date filtering, subqueries</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We will import it so you can practice locally and in Supabase</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Verify tables and run first sanity queries</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In psql or pgAdmin Query Tool:
dt
SELECT count(*) FROM members;
SELECT count(*) FROM facilities;
SELECT count(*) FROM bookings;
-- Sample join:
SELECT m.firstname, m.surname, b.starttime
FROM bookings b
JOIN members m ON b.memid = m.memid
ORDER BY b.starttime DESC
LIMIT 10;
</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Mini practice set (5 queries to do together)</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List the names of all facilities (order by name)</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Show the total number of bookings</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Find bookings in September 2012</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Compute revenue per facility (membercost/guestcost × slots)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Find members who have never made a booking</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5</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Dump + restore (portable Postgres backups)</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Dump the database (two common formats)</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Plain SQL (human-readable)
pg_dump "postgresql://postgres:postgres@localhost:5432/app" &gt; app_dump.sql
# Custom format (smaller + flexible restore)
pg_dump -Fc "postgresql://postgres:postgres@localhost:5432/app" &gt; app_dump.dump
</a:t>
            </a:r>
            <a:endParaRPr lang="en-US" sz="1600" dirty="0"/>
          </a:p>
        </p:txBody>
      </p:sp>
      <p:sp>
        <p:nvSpPr>
          <p:cNvPr id="8" name="Shape 6"/>
          <p:cNvSpPr/>
          <p:nvPr/>
        </p:nvSpPr>
        <p:spPr>
          <a:xfrm>
            <a:off x="731520"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9" name="Text 7"/>
          <p:cNvSpPr/>
          <p:nvPr/>
        </p:nvSpPr>
        <p:spPr>
          <a:xfrm>
            <a:off x="960120"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Plain SQL restores with: psql -f app_dump.sql</a:t>
            </a:r>
            <a:endParaRPr lang="en-US" sz="1400" dirty="0"/>
          </a:p>
        </p:txBody>
      </p:sp>
      <p:sp>
        <p:nvSpPr>
          <p:cNvPr id="10" name="Shape 8"/>
          <p:cNvSpPr/>
          <p:nvPr/>
        </p:nvSpPr>
        <p:spPr>
          <a:xfrm>
            <a:off x="6278728" y="5989320"/>
            <a:ext cx="5272888" cy="685800"/>
          </a:xfrm>
          <a:prstGeom prst="roundRect">
            <a:avLst/>
          </a:prstGeom>
          <a:solidFill>
            <a:srgbClr val="F1F5F9"/>
          </a:solidFill>
          <a:ln w="12700">
            <a:solidFill>
              <a:srgbClr val="CBD5E1"/>
            </a:solidFill>
            <a:prstDash val="solid"/>
          </a:ln>
        </p:spPr>
        <p:txBody>
          <a:bodyPr/>
          <a:lstStyle/>
          <a:p>
            <a:endParaRPr lang="en-US"/>
          </a:p>
        </p:txBody>
      </p:sp>
      <p:sp>
        <p:nvSpPr>
          <p:cNvPr id="11" name="Text 9"/>
          <p:cNvSpPr/>
          <p:nvPr/>
        </p:nvSpPr>
        <p:spPr>
          <a:xfrm>
            <a:off x="6507328" y="6126480"/>
            <a:ext cx="5090008" cy="411480"/>
          </a:xfrm>
          <a:prstGeom prst="rect">
            <a:avLst/>
          </a:prstGeom>
          <a:noFill/>
          <a:ln/>
        </p:spPr>
        <p:txBody>
          <a:bodyPr wrap="square" rtlCol="0" anchor="ctr"/>
          <a:lstStyle/>
          <a:p>
            <a:pPr marL="0" indent="0">
              <a:buNone/>
            </a:pPr>
            <a:r>
              <a:rPr lang="en-US" sz="1400" dirty="0">
                <a:solidFill>
                  <a:srgbClr val="0B1220"/>
                </a:solidFill>
                <a:latin typeface="Aptos" pitchFamily="34" charset="0"/>
                <a:ea typeface="Aptos" pitchFamily="34" charset="-122"/>
                <a:cs typeface="Aptos" pitchFamily="34" charset="-120"/>
              </a:rPr>
              <a:t>Custom format restores with: pg_restore (more control)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Dump from inside Docker (no host tools needed)</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Stream a dump to your host filesystem
docker exec -t cst-postgres pg_dump -U postgres -d app &gt; app_dump.sql
# Custom format
docker exec -t cst-postgres pg_dump -U postgres -d app -Fc &gt; app_dump.dump
</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Restore into a fresh database (practice “recreate it”)</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Create a fresh DB
createdb "postgresql://postgres:postgres@localhost:5432/postgres" app_restore
# Restore from SQL dump
psql "postgresql://postgres:postgres@localhost:5432/app_restore" -f app_dump.sql
# Or restore from custom dump
pg_restore -d "postgresql://postgres:postgres@localhost:5432/app_restore" app_dump.dump
</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Part 6</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Supabase: managed Postgres with modern app tooling</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What Supabase is (in one slide)</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Managed Postgres database (you still get SQL, schemas, indexes, roles)</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Adds application services: Auth, Storage, Edge functions, Realtime</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Strong security defaults: Row Level Security (RLS) is central</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Gives you connection strings for psql, drivers, and pooling</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Supabase setup checklist (what you click)</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Create a new project (choose region, set a strong DB password)</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Open Project Settings → Database to find connection info</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Copy a connection string for psql (direct or pooler)</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If using IP restrictions, allow your current IP</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Use the SQL Editor for quick imports (small files), or psql for larger imports</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000" b="1" dirty="0">
                <a:solidFill>
                  <a:srgbClr val="0B1220"/>
                </a:solidFill>
                <a:latin typeface="Aptos" pitchFamily="34" charset="0"/>
                <a:ea typeface="Aptos" pitchFamily="34" charset="-122"/>
                <a:cs typeface="Aptos" pitchFamily="34" charset="-120"/>
              </a:rPr>
              <a:t>Connect to Supabase with psql (direct connection)</a:t>
            </a:r>
            <a:endParaRPr lang="en-US" sz="3000" dirty="0"/>
          </a:p>
        </p:txBody>
      </p:sp>
      <p:sp>
        <p:nvSpPr>
          <p:cNvPr id="6" name="Shape 4"/>
          <p:cNvSpPr/>
          <p:nvPr/>
        </p:nvSpPr>
        <p:spPr>
          <a:xfrm>
            <a:off x="731520" y="1554480"/>
            <a:ext cx="10728655" cy="4297680"/>
          </a:xfrm>
          <a:prstGeom prst="roundRect">
            <a:avLst/>
          </a:prstGeom>
          <a:solidFill>
            <a:srgbClr val="0B1020"/>
          </a:solidFill>
          <a:ln w="12700">
            <a:solidFill>
              <a:srgbClr val="111827"/>
            </a:solidFill>
            <a:prstDash val="solid"/>
          </a:ln>
        </p:spPr>
        <p:txBody>
          <a:bodyPr/>
          <a:lstStyle/>
          <a:p>
            <a:endParaRPr lang="en-US"/>
          </a:p>
        </p:txBody>
      </p:sp>
      <p:sp>
        <p:nvSpPr>
          <p:cNvPr id="7" name="Text 5"/>
          <p:cNvSpPr/>
          <p:nvPr/>
        </p:nvSpPr>
        <p:spPr>
          <a:xfrm>
            <a:off x="1005840" y="1783080"/>
            <a:ext cx="10180015" cy="3840480"/>
          </a:xfrm>
          <a:prstGeom prst="rect">
            <a:avLst/>
          </a:prstGeom>
          <a:noFill/>
          <a:ln/>
        </p:spPr>
        <p:txBody>
          <a:bodyPr wrap="square" rtlCol="0" anchor="t"/>
          <a:lstStyle/>
          <a:p>
            <a:pPr marL="0" indent="0">
              <a:buNone/>
            </a:pPr>
            <a:r>
              <a:rPr lang="en-US" sz="1600" dirty="0">
                <a:solidFill>
                  <a:srgbClr val="E5E7EB"/>
                </a:solidFill>
                <a:latin typeface="Consolas" pitchFamily="34" charset="0"/>
                <a:ea typeface="Consolas" pitchFamily="34" charset="-122"/>
                <a:cs typeface="Consolas" pitchFamily="34" charset="-120"/>
              </a:rPr>
              <a:t># Example (you will replace with YOUR project values)
psql "postgresql://postgres:&lt;PASSWORD&gt;@db.&lt;PROJECT_REF&gt;.supabase.co:5432/postgres"
-- Verify
SELECT version();
dn
</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Import the same dataset to Supabase</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Best: psql -f clubdata_public.sql against your Supabase connection string</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Alternative: SQL Editor (paste file contents in chunks if needed)</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After import: dt and count(*) checks again</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Now you can practice pgExercises queries anywhere (no Docker required)</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What changes in managed Postgres (important realism)</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You are not a full superuser (some system operations are restricted)</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You may have additional schemas (auth, storage) maintained by the platform</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Connection pooling may be recommended/required for some app patterns</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Security defaults are stronger (RLS is encouraged)</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Backups are platform-managed, but YOU still own logical exports for portability</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Troubleshooting</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The top failures and how to diagnose them</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Common issue: port already in use (5432 / 5050)</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Symptom: “bind: address already in use” on docker compose up</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Cause: local Postgres or another service is using 5432 (or another pgAdmin uses 5050)</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Fix: stop the conflicting service OR change host port in compose (e.g., 5433:5432)</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Then connect using the new host port (localhost:5433)</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Common issue: pgAdmin cannot connect</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If pgAdmin is in Docker: host must be db, not localhost</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If connecting from host tools: host is localhost</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Check credentials match POSTGRES_USER/PASSWORD</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Check db container is healthy (docker compose ps)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Look at logs: docker logs cst-postgres</a:t>
            </a:r>
            <a:endParaRPr lang="en-US" sz="2000" dirty="0"/>
          </a:p>
        </p:txBody>
      </p:sp>
      <p:sp>
        <p:nvSpPr>
          <p:cNvPr id="16" name="Text 14"/>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Common issue: “I edited compose but password didn’t change”</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Environment vars only apply on first initialization</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If your pgdata volume already exists, Postgres keeps the old credentials</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Fix A: change password using SQL (ALTER USER …)</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Fix B: reset everything by deleting volumes (docker compose down -v)</a:t>
            </a:r>
            <a:endParaRPr lang="en-US" sz="2000" dirty="0"/>
          </a:p>
        </p:txBody>
      </p:sp>
      <p:sp>
        <p:nvSpPr>
          <p:cNvPr id="14" name="Text 12"/>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2377440"/>
            <a:ext cx="10545775" cy="731520"/>
          </a:xfrm>
          <a:prstGeom prst="rect">
            <a:avLst/>
          </a:prstGeom>
          <a:noFill/>
          <a:ln/>
        </p:spPr>
        <p:txBody>
          <a:bodyPr wrap="square" rtlCol="0" anchor="ctr"/>
          <a:lstStyle/>
          <a:p>
            <a:pPr marL="0" indent="0">
              <a:buNone/>
            </a:pPr>
            <a:r>
              <a:rPr lang="en-US" sz="4400" b="1" dirty="0">
                <a:solidFill>
                  <a:srgbClr val="FFFFFF"/>
                </a:solidFill>
                <a:latin typeface="Aptos" pitchFamily="34" charset="0"/>
                <a:ea typeface="Aptos" pitchFamily="34" charset="-122"/>
                <a:cs typeface="Aptos" pitchFamily="34" charset="-120"/>
              </a:rPr>
              <a:t>Wrap-up</a:t>
            </a:r>
            <a:endParaRPr lang="en-US" sz="4400" dirty="0"/>
          </a:p>
        </p:txBody>
      </p:sp>
      <p:sp>
        <p:nvSpPr>
          <p:cNvPr id="4" name="Text 2"/>
          <p:cNvSpPr/>
          <p:nvPr/>
        </p:nvSpPr>
        <p:spPr>
          <a:xfrm>
            <a:off x="822960" y="3246120"/>
            <a:ext cx="10545775" cy="731520"/>
          </a:xfrm>
          <a:prstGeom prst="rect">
            <a:avLst/>
          </a:prstGeom>
          <a:noFill/>
          <a:ln/>
        </p:spPr>
        <p:txBody>
          <a:bodyPr wrap="square" rtlCol="0" anchor="ctr"/>
          <a:lstStyle/>
          <a:p>
            <a:pPr marL="0" indent="0">
              <a:buNone/>
            </a:pPr>
            <a:r>
              <a:rPr lang="en-US" sz="2000" dirty="0">
                <a:solidFill>
                  <a:srgbClr val="CBD5E1"/>
                </a:solidFill>
                <a:latin typeface="Aptos" pitchFamily="34" charset="0"/>
                <a:ea typeface="Aptos" pitchFamily="34" charset="-122"/>
                <a:cs typeface="Aptos" pitchFamily="34" charset="-120"/>
              </a:rPr>
              <a:t>What you now have (and what’s next)</a:t>
            </a:r>
            <a:endParaRPr lang="en-US" sz="2000" dirty="0"/>
          </a:p>
        </p:txBody>
      </p:sp>
      <p:sp>
        <p:nvSpPr>
          <p:cNvPr id="5" name="Shape 3"/>
          <p:cNvSpPr/>
          <p:nvPr/>
        </p:nvSpPr>
        <p:spPr>
          <a:xfrm>
            <a:off x="822960" y="3977640"/>
            <a:ext cx="3657600" cy="91440"/>
          </a:xfrm>
          <a:prstGeom prst="rect">
            <a:avLst/>
          </a:prstGeom>
          <a:solidFill>
            <a:srgbClr val="9B2C2F"/>
          </a:solidFill>
          <a:ln w="12700">
            <a:solidFill>
              <a:srgbClr val="9B2C2F"/>
            </a:solidFill>
            <a:prstDash val="solid"/>
          </a:ln>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12191695" cy="502920"/>
          </a:xfrm>
          <a:prstGeom prst="rect">
            <a:avLst/>
          </a:prstGeom>
          <a:solidFill>
            <a:srgbClr val="0F172A"/>
          </a:solidFill>
          <a:ln w="12700">
            <a:solidFill>
              <a:srgbClr val="0F172A"/>
            </a:solidFill>
            <a:prstDash val="solid"/>
          </a:ln>
        </p:spPr>
        <p:txBody>
          <a:bodyPr/>
          <a:lstStyle/>
          <a:p>
            <a:endParaRPr lang="en-US"/>
          </a:p>
        </p:txBody>
      </p:sp>
      <p:sp>
        <p:nvSpPr>
          <p:cNvPr id="4" name="Text 2"/>
          <p:cNvSpPr/>
          <p:nvPr/>
        </p:nvSpPr>
        <p:spPr>
          <a:xfrm>
            <a:off x="548640" y="128016"/>
            <a:ext cx="11094415" cy="274320"/>
          </a:xfrm>
          <a:prstGeom prst="rect">
            <a:avLst/>
          </a:prstGeom>
          <a:noFill/>
          <a:ln/>
        </p:spPr>
        <p:txBody>
          <a:bodyPr wrap="square" rtlCol="0" anchor="ctr"/>
          <a:lstStyle/>
          <a:p>
            <a:pPr marL="0" indent="0">
              <a:buNone/>
            </a:pPr>
            <a:r>
              <a:rPr lang="en-US" sz="1600" b="1" dirty="0">
                <a:solidFill>
                  <a:srgbClr val="FFFFFF"/>
                </a:solidFill>
                <a:latin typeface="Aptos" pitchFamily="34" charset="0"/>
                <a:ea typeface="Aptos" pitchFamily="34" charset="-122"/>
                <a:cs typeface="Aptos" pitchFamily="34" charset="-120"/>
              </a:rPr>
              <a:t>Local Postgres with Docker + pgAdmin → Supabase</a:t>
            </a:r>
            <a:endParaRPr lang="en-US" sz="1600" dirty="0"/>
          </a:p>
        </p:txBody>
      </p:sp>
      <p:sp>
        <p:nvSpPr>
          <p:cNvPr id="5" name="Text 3"/>
          <p:cNvSpPr/>
          <p:nvPr/>
        </p:nvSpPr>
        <p:spPr>
          <a:xfrm>
            <a:off x="731520" y="822960"/>
            <a:ext cx="10728655" cy="548640"/>
          </a:xfrm>
          <a:prstGeom prst="rect">
            <a:avLst/>
          </a:prstGeom>
          <a:noFill/>
          <a:ln/>
        </p:spPr>
        <p:txBody>
          <a:bodyPr wrap="square" rtlCol="0" anchor="ctr"/>
          <a:lstStyle/>
          <a:p>
            <a:pPr marL="0" indent="0">
              <a:buNone/>
            </a:pPr>
            <a:r>
              <a:rPr lang="en-US" sz="3400" b="1" dirty="0">
                <a:solidFill>
                  <a:srgbClr val="0B1220"/>
                </a:solidFill>
                <a:latin typeface="Aptos" pitchFamily="34" charset="0"/>
                <a:ea typeface="Aptos" pitchFamily="34" charset="-122"/>
                <a:cs typeface="Aptos" pitchFamily="34" charset="-120"/>
              </a:rPr>
              <a:t>You can now…</a:t>
            </a:r>
            <a:endParaRPr lang="en-US" sz="3400" dirty="0"/>
          </a:p>
        </p:txBody>
      </p:sp>
      <p:sp>
        <p:nvSpPr>
          <p:cNvPr id="6" name="Text 4"/>
          <p:cNvSpPr/>
          <p:nvPr/>
        </p:nvSpPr>
        <p:spPr>
          <a:xfrm>
            <a:off x="914400" y="15544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7" name="Text 5"/>
          <p:cNvSpPr/>
          <p:nvPr/>
        </p:nvSpPr>
        <p:spPr>
          <a:xfrm>
            <a:off x="1188720" y="15361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Stand up Postgres reliably in a repeatable environment</a:t>
            </a:r>
            <a:endParaRPr lang="en-US" sz="2000" dirty="0"/>
          </a:p>
        </p:txBody>
      </p:sp>
      <p:sp>
        <p:nvSpPr>
          <p:cNvPr id="8" name="Text 6"/>
          <p:cNvSpPr/>
          <p:nvPr/>
        </p:nvSpPr>
        <p:spPr>
          <a:xfrm>
            <a:off x="914400" y="187452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9" name="Text 7"/>
          <p:cNvSpPr/>
          <p:nvPr/>
        </p:nvSpPr>
        <p:spPr>
          <a:xfrm>
            <a:off x="1188720" y="185623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Explain and edit a docker compose file with intention</a:t>
            </a:r>
            <a:endParaRPr lang="en-US" sz="2000" dirty="0"/>
          </a:p>
        </p:txBody>
      </p:sp>
      <p:sp>
        <p:nvSpPr>
          <p:cNvPr id="10" name="Text 8"/>
          <p:cNvSpPr/>
          <p:nvPr/>
        </p:nvSpPr>
        <p:spPr>
          <a:xfrm>
            <a:off x="914400" y="219456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1" name="Text 9"/>
          <p:cNvSpPr/>
          <p:nvPr/>
        </p:nvSpPr>
        <p:spPr>
          <a:xfrm>
            <a:off x="1188720" y="217627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Connect and debug connectivity (host vs container networking)</a:t>
            </a:r>
            <a:endParaRPr lang="en-US" sz="2000" dirty="0"/>
          </a:p>
        </p:txBody>
      </p:sp>
      <p:sp>
        <p:nvSpPr>
          <p:cNvPr id="12" name="Text 10"/>
          <p:cNvSpPr/>
          <p:nvPr/>
        </p:nvSpPr>
        <p:spPr>
          <a:xfrm>
            <a:off x="914400" y="251460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3" name="Text 11"/>
          <p:cNvSpPr/>
          <p:nvPr/>
        </p:nvSpPr>
        <p:spPr>
          <a:xfrm>
            <a:off x="1188720" y="249631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Import a dataset and verify it with sanity checks</a:t>
            </a:r>
            <a:endParaRPr lang="en-US" sz="2000" dirty="0"/>
          </a:p>
        </p:txBody>
      </p:sp>
      <p:sp>
        <p:nvSpPr>
          <p:cNvPr id="14" name="Text 12"/>
          <p:cNvSpPr/>
          <p:nvPr/>
        </p:nvSpPr>
        <p:spPr>
          <a:xfrm>
            <a:off x="914400" y="283464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5" name="Text 13"/>
          <p:cNvSpPr/>
          <p:nvPr/>
        </p:nvSpPr>
        <p:spPr>
          <a:xfrm>
            <a:off x="1188720" y="281635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Create portable exports with pg_dump and restore them safely</a:t>
            </a:r>
            <a:endParaRPr lang="en-US" sz="2000" dirty="0"/>
          </a:p>
        </p:txBody>
      </p:sp>
      <p:sp>
        <p:nvSpPr>
          <p:cNvPr id="16" name="Text 14"/>
          <p:cNvSpPr/>
          <p:nvPr/>
        </p:nvSpPr>
        <p:spPr>
          <a:xfrm>
            <a:off x="914400" y="3154680"/>
            <a:ext cx="274320" cy="274320"/>
          </a:xfrm>
          <a:prstGeom prst="rect">
            <a:avLst/>
          </a:prstGeom>
          <a:noFill/>
          <a:ln/>
        </p:spPr>
        <p:txBody>
          <a:bodyPr wrap="square" rtlCol="0" anchor="ctr"/>
          <a:lstStyle/>
          <a:p>
            <a:pPr marL="0" indent="0">
              <a:buNone/>
            </a:pPr>
            <a:r>
              <a:rPr lang="en-US" sz="2000" dirty="0">
                <a:solidFill>
                  <a:srgbClr val="9B2C2F"/>
                </a:solidFill>
                <a:latin typeface="Aptos" pitchFamily="34" charset="0"/>
                <a:ea typeface="Aptos" pitchFamily="34" charset="-122"/>
                <a:cs typeface="Aptos" pitchFamily="34" charset="-120"/>
              </a:rPr>
              <a:t>•</a:t>
            </a:r>
            <a:endParaRPr lang="en-US" sz="2000" dirty="0"/>
          </a:p>
        </p:txBody>
      </p:sp>
      <p:sp>
        <p:nvSpPr>
          <p:cNvPr id="17" name="Text 15"/>
          <p:cNvSpPr/>
          <p:nvPr/>
        </p:nvSpPr>
        <p:spPr>
          <a:xfrm>
            <a:off x="1188720" y="3136392"/>
            <a:ext cx="10271455" cy="320040"/>
          </a:xfrm>
          <a:prstGeom prst="rect">
            <a:avLst/>
          </a:prstGeom>
          <a:noFill/>
          <a:ln/>
        </p:spPr>
        <p:txBody>
          <a:bodyPr wrap="square" rtlCol="0" anchor="ctr"/>
          <a:lstStyle/>
          <a:p>
            <a:pPr marL="0" indent="0">
              <a:buNone/>
            </a:pPr>
            <a:r>
              <a:rPr lang="en-US" sz="2000" dirty="0">
                <a:solidFill>
                  <a:srgbClr val="0B1220"/>
                </a:solidFill>
                <a:latin typeface="Aptos" pitchFamily="34" charset="0"/>
                <a:ea typeface="Aptos" pitchFamily="34" charset="-122"/>
                <a:cs typeface="Aptos" pitchFamily="34" charset="-120"/>
              </a:rPr>
              <a:t>Use the same SQL workflow on Supabase (managed Postgres)</a:t>
            </a:r>
            <a:endParaRPr lang="en-US" sz="2000" dirty="0"/>
          </a:p>
        </p:txBody>
      </p:sp>
      <p:sp>
        <p:nvSpPr>
          <p:cNvPr id="18" name="Text 16"/>
          <p:cNvSpPr/>
          <p:nvPr/>
        </p:nvSpPr>
        <p:spPr>
          <a:xfrm>
            <a:off x="548640" y="6446520"/>
            <a:ext cx="11094415" cy="228600"/>
          </a:xfrm>
          <a:prstGeom prst="rect">
            <a:avLst/>
          </a:prstGeom>
          <a:noFill/>
          <a:ln/>
        </p:spPr>
        <p:txBody>
          <a:bodyPr wrap="square" rtlCol="0" anchor="ctr"/>
          <a:lstStyle/>
          <a:p>
            <a:pPr marL="0" indent="0">
              <a:buNone/>
            </a:pPr>
            <a:r>
              <a:rPr lang="en-US" sz="1000" dirty="0">
                <a:solidFill>
                  <a:srgbClr val="475569"/>
                </a:solidFill>
                <a:latin typeface="Aptos" pitchFamily="34" charset="0"/>
                <a:ea typeface="Aptos" pitchFamily="34" charset="-122"/>
                <a:cs typeface="Aptos" pitchFamily="34" charset="-120"/>
              </a:rPr>
              <a:t>Hands-on: Docker → Postgres → pgAdmin → pgExercises → dump/restore → Supabase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txBody>
          <a:bodyPr/>
          <a:lstStyle/>
          <a:p>
            <a:endParaRPr lang="en-US"/>
          </a:p>
        </p:txBody>
      </p:sp>
      <p:sp>
        <p:nvSpPr>
          <p:cNvPr id="3" name="Text 1"/>
          <p:cNvSpPr/>
          <p:nvPr/>
        </p:nvSpPr>
        <p:spPr>
          <a:xfrm>
            <a:off x="822960" y="914400"/>
            <a:ext cx="10545775" cy="731520"/>
          </a:xfrm>
          <a:prstGeom prst="rect">
            <a:avLst/>
          </a:prstGeom>
          <a:noFill/>
          <a:ln/>
        </p:spPr>
        <p:txBody>
          <a:bodyPr wrap="square" rtlCol="0" anchor="ctr"/>
          <a:lstStyle/>
          <a:p>
            <a:pPr marL="0" indent="0">
              <a:buNone/>
            </a:pPr>
            <a:r>
              <a:rPr lang="en-US" sz="4000" b="1" dirty="0">
                <a:solidFill>
                  <a:srgbClr val="FFFFFF"/>
                </a:solidFill>
                <a:latin typeface="Aptos" pitchFamily="34" charset="0"/>
                <a:ea typeface="Aptos" pitchFamily="34" charset="-122"/>
                <a:cs typeface="Aptos" pitchFamily="34" charset="-120"/>
              </a:rPr>
              <a:t>Quick reference checklist</a:t>
            </a:r>
            <a:endParaRPr lang="en-US" sz="4000" dirty="0"/>
          </a:p>
        </p:txBody>
      </p:sp>
      <p:sp>
        <p:nvSpPr>
          <p:cNvPr id="4" name="Shape 2"/>
          <p:cNvSpPr/>
          <p:nvPr/>
        </p:nvSpPr>
        <p:spPr>
          <a:xfrm>
            <a:off x="822960" y="1828800"/>
            <a:ext cx="10545775" cy="4297680"/>
          </a:xfrm>
          <a:prstGeom prst="roundRect">
            <a:avLst/>
          </a:prstGeom>
          <a:solidFill>
            <a:srgbClr val="111827"/>
          </a:solidFill>
          <a:ln w="12700">
            <a:solidFill>
              <a:srgbClr val="111827"/>
            </a:solidFill>
            <a:prstDash val="solid"/>
          </a:ln>
        </p:spPr>
        <p:txBody>
          <a:bodyPr/>
          <a:lstStyle/>
          <a:p>
            <a:endParaRPr lang="en-US"/>
          </a:p>
        </p:txBody>
      </p:sp>
      <p:sp>
        <p:nvSpPr>
          <p:cNvPr id="5" name="Text 3"/>
          <p:cNvSpPr/>
          <p:nvPr/>
        </p:nvSpPr>
        <p:spPr>
          <a:xfrm>
            <a:off x="1097280" y="2103120"/>
            <a:ext cx="9997135" cy="3840480"/>
          </a:xfrm>
          <a:prstGeom prst="rect">
            <a:avLst/>
          </a:prstGeom>
          <a:noFill/>
          <a:ln/>
        </p:spPr>
        <p:txBody>
          <a:bodyPr wrap="square" rtlCol="0" anchor="t"/>
          <a:lstStyle/>
          <a:p>
            <a:pPr marL="0" indent="0">
              <a:buNone/>
            </a:pPr>
            <a:r>
              <a:rPr lang="en-US" sz="1800" dirty="0">
                <a:solidFill>
                  <a:srgbClr val="E5E7EB"/>
                </a:solidFill>
                <a:latin typeface="Consolas" pitchFamily="34" charset="0"/>
                <a:ea typeface="Consolas" pitchFamily="34" charset="-122"/>
                <a:cs typeface="Consolas" pitchFamily="34" charset="-120"/>
              </a:rPr>
              <a:t>1) docker compose up -d
2) docker compose ps
3) psql 'postgresql://postgres:postgres@localhost:5432/app'
4) pgAdmin: host=db, port=5432
5) Import: psql … -f clubdata_public.sql
6) Verify: \dt + count(*)
7) Dump: docker exec -i cst-postgres pg_dump … &gt; app_dump.sql
8) Restore: psql …/app_restore -f app_dump.sql
9) Supabase: connect + import + verify
</a:t>
            </a:r>
            <a:endParaRPr lang="en-US" sz="1800" dirty="0"/>
          </a:p>
        </p:txBody>
      </p:sp>
      <p:sp>
        <p:nvSpPr>
          <p:cNvPr id="6" name="Text 4"/>
          <p:cNvSpPr/>
          <p:nvPr/>
        </p:nvSpPr>
        <p:spPr>
          <a:xfrm>
            <a:off x="822960" y="6309360"/>
            <a:ext cx="10545775" cy="365760"/>
          </a:xfrm>
          <a:prstGeom prst="rect">
            <a:avLst/>
          </a:prstGeom>
          <a:noFill/>
          <a:ln/>
        </p:spPr>
        <p:txBody>
          <a:bodyPr wrap="square" rtlCol="0" anchor="ctr"/>
          <a:lstStyle/>
          <a:p>
            <a:pPr marL="0" indent="0">
              <a:buNone/>
            </a:pPr>
            <a:r>
              <a:rPr lang="en-US" sz="1400" dirty="0">
                <a:solidFill>
                  <a:srgbClr val="94A3B8"/>
                </a:solidFill>
                <a:latin typeface="Aptos" pitchFamily="34" charset="0"/>
                <a:ea typeface="Aptos" pitchFamily="34" charset="-122"/>
                <a:cs typeface="Aptos" pitchFamily="34" charset="-120"/>
              </a:rPr>
              <a:t>Save this slide as your “pre-assignment checklist.”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10943</TotalTime>
  <Words>7336</Words>
  <Application>Microsoft Macintosh PowerPoint</Application>
  <PresentationFormat>Widescreen</PresentationFormat>
  <Paragraphs>403</Paragraphs>
  <Slides>40</Slides>
  <Notes>40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Postgres with Docker + pgAdmin → Supabase (Practice Dataset)</dc:title>
  <dc:subject>Docker + Postgres + pgAdmin + Supabase + pgExercises</dc:subject>
  <dc:creator>Atilio (Instructor)</dc:creator>
  <cp:lastModifiedBy>Atilio Barreda</cp:lastModifiedBy>
  <cp:revision>3</cp:revision>
  <dcterms:created xsi:type="dcterms:W3CDTF">2026-02-03T23:10:12Z</dcterms:created>
  <dcterms:modified xsi:type="dcterms:W3CDTF">2026-02-12T08:39:31Z</dcterms:modified>
</cp:coreProperties>
</file>