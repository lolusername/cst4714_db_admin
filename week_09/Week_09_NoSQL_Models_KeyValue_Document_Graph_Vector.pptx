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43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Set up the big idea that NoSQL is not one single model or one single philosophy.</a:t>
            </a:r>
          </a:p>
          <a:p>
            <a:pPr>
              <a:defRPr sz="1400">
                <a:latin typeface="Arial"/>
              </a:defRPr>
            </a:pPr>
            <a:r>
              <a:t>- Frame each model as a response to a different dominant query pattern.</a:t>
            </a:r>
          </a:p>
          <a:p>
            <a:pPr>
              <a:defRPr sz="1400">
                <a:latin typeface="Arial"/>
              </a:defRPr>
            </a:pPr>
            <a:r>
              <a:t>- Tell students that the goal is comparison and judgment, not hero-worship for any one database.</a:t>
            </a:r>
          </a:p>
          <a:p>
            <a:pPr>
              <a:defRPr sz="1400">
                <a:latin typeface="Arial"/>
              </a:defRPr>
            </a:pPr>
            <a:r>
              <a:t>- Preview that vector and graph models add genuinely different theory, not just different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Stress that model choice follows workload shape, not fashion.</a:t>
            </a:r>
          </a:p>
          <a:p>
            <a:pPr>
              <a:defRPr sz="1400">
                <a:latin typeface="Arial"/>
              </a:defRPr>
            </a:pPr>
            <a:r>
              <a:t>- Contrast relational strengths with the narrower but cheaper question types on this slide.</a:t>
            </a:r>
          </a:p>
          <a:p>
            <a:pPr>
              <a:defRPr sz="1400">
                <a:latin typeface="Arial"/>
              </a:defRPr>
            </a:pPr>
            <a:r>
              <a:t>- Use the phrase dominant question repeatedly so students anchor on query shape.</a:t>
            </a:r>
          </a:p>
          <a:p>
            <a:pPr>
              <a:defRPr sz="1400">
                <a:latin typeface="Arial"/>
              </a:defRPr>
            </a:pPr>
            <a:r>
              <a:t>- Make clear that NoSQL systems often trade away something to make one pattern feel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Walk clockwise and translate each model into a simple human question.</a:t>
            </a:r>
          </a:p>
          <a:p>
            <a:pPr>
              <a:defRPr sz="1400">
                <a:latin typeface="Arial"/>
              </a:defRPr>
            </a:pPr>
            <a:r>
              <a:t>- Remind students that there is overlap, but each model has a natural home field.</a:t>
            </a:r>
          </a:p>
          <a:p>
            <a:pPr>
              <a:defRPr sz="1400">
                <a:latin typeface="Arial"/>
              </a:defRPr>
            </a:pPr>
            <a:r>
              <a:t>- Use this slide as a reference point you can keep returning to during the rest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Define key-value in the plainest possible way: exact key in, value out.</a:t>
            </a:r>
          </a:p>
          <a:p>
            <a:pPr>
              <a:defRPr sz="1400">
                <a:latin typeface="Arial"/>
              </a:defRPr>
            </a:pPr>
            <a:r>
              <a:t>- Emphasize that the speed comes from not trying to solve many other query types.</a:t>
            </a:r>
          </a:p>
          <a:p>
            <a:pPr>
              <a:defRPr sz="1400">
                <a:latin typeface="Arial"/>
              </a:defRPr>
            </a:pPr>
            <a:r>
              <a:t>- Use session storage and caching as the most intuitive examples.</a:t>
            </a:r>
          </a:p>
          <a:p>
            <a:pPr>
              <a:defRPr sz="1400">
                <a:latin typeface="Arial"/>
              </a:defRPr>
            </a:pPr>
            <a:r>
              <a:t>- Point out that the value may be structured, but the access path is still key-first.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Translate the abstract model into an application path students can imagine immediately.</a:t>
            </a:r>
          </a:p>
          <a:p>
            <a:pPr>
              <a:defRPr sz="1400">
                <a:latin typeface="Arial"/>
              </a:defRPr>
            </a:pPr>
            <a:r>
              <a:t>- Explain why hot keys matter: one popular key can become the bottleneck.</a:t>
            </a:r>
          </a:p>
          <a:p>
            <a:pPr>
              <a:defRPr sz="1400">
                <a:latin typeface="Arial"/>
              </a:defRPr>
            </a:pPr>
            <a:r>
              <a:t>- Use the contrast between exact lookup and attribute-based filtering to show the core limitation.</a:t>
            </a:r>
          </a:p>
          <a:p>
            <a:pPr>
              <a:defRPr sz="1400">
                <a:latin typeface="Arial"/>
              </a:defRPr>
            </a:pPr>
            <a:r>
              <a:t>- Mention that many teams add a key-value layer in front of SQL, not instead of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Connect this model directly to the JSON work students already did in Week 8.</a:t>
            </a:r>
          </a:p>
          <a:p>
            <a:pPr>
              <a:defRPr sz="1400">
                <a:latin typeface="Arial"/>
              </a:defRPr>
            </a:pPr>
            <a:r>
              <a:t>- Define the term aggregate and keep returning to it.</a:t>
            </a:r>
          </a:p>
          <a:p>
            <a:pPr>
              <a:defRPr sz="1400">
                <a:latin typeface="Arial"/>
              </a:defRPr>
            </a:pPr>
            <a:r>
              <a:t>- Use embed versus reference as the first real design decision students can reason about.</a:t>
            </a:r>
          </a:p>
          <a:p>
            <a:pPr>
              <a:defRPr sz="1400">
                <a:latin typeface="Arial"/>
              </a:defRPr>
            </a:pPr>
            <a:r>
              <a:t>- Make clear that flexible schema is useful, but it does not remove the need for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Show that document modeling is not the same as dumping everything into one giant JSON blob.</a:t>
            </a:r>
          </a:p>
          <a:p>
            <a:pPr>
              <a:defRPr sz="1400">
                <a:latin typeface="Arial"/>
              </a:defRPr>
            </a:pPr>
            <a:r>
              <a:t>- Talk through data duplication as the main price of denormalization.</a:t>
            </a:r>
          </a:p>
          <a:p>
            <a:pPr>
              <a:defRPr sz="1400">
                <a:latin typeface="Arial"/>
              </a:defRPr>
            </a:pPr>
            <a:r>
              <a:t>- Highlight unbounded arrays as a classic beginner mistake.</a:t>
            </a:r>
          </a:p>
          <a:p>
            <a:pPr>
              <a:defRPr sz="1400">
                <a:latin typeface="Arial"/>
              </a:defRPr>
            </a:pPr>
            <a:r>
              <a:t>- Reinforce that the right document boundary depends on read and update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Define a graph database as a system that stores nodes and edges as primary citizens.</a:t>
            </a:r>
          </a:p>
          <a:p>
            <a:pPr>
              <a:defRPr sz="1400">
                <a:latin typeface="Arial"/>
              </a:defRPr>
            </a:pPr>
            <a:r>
              <a:t>- Use the picture to show why path and neighborhood questions feel native here.</a:t>
            </a:r>
          </a:p>
          <a:p>
            <a:pPr>
              <a:defRPr sz="1400">
                <a:latin typeface="Arial"/>
              </a:defRPr>
            </a:pPr>
            <a:r>
              <a:t>- Explain that graph workloads are about traversals, not just storing links.</a:t>
            </a:r>
          </a:p>
          <a:p>
            <a:pPr>
              <a:defRPr sz="1400">
                <a:latin typeface="Arial"/>
              </a:defRPr>
            </a:pPr>
            <a:r>
              <a:t>- Give one concrete non-social example such as fraud detection or network dependency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Keep the theory lightweight and connected to database questions.</a:t>
            </a:r>
          </a:p>
          <a:p>
            <a:pPr>
              <a:defRPr sz="1400">
                <a:latin typeface="Arial"/>
              </a:defRPr>
            </a:pPr>
            <a:r>
              <a:t>- Define path, cycle, and degree because they appear in real graph query language discussions.</a:t>
            </a:r>
          </a:p>
          <a:p>
            <a:pPr>
              <a:defRPr sz="1400">
                <a:latin typeface="Arial"/>
              </a:defRPr>
            </a:pPr>
            <a:r>
              <a:t>- Use centrality as the example of a graph-native analytic question that feels unnatural in other models.</a:t>
            </a:r>
          </a:p>
          <a:p>
            <a:pPr>
              <a:defRPr sz="1400">
                <a:latin typeface="Arial"/>
              </a:defRPr>
            </a:pPr>
            <a:r>
              <a:t>- Remind students that graph databases are not only for social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Define embeddings in plain language: meaning turned into coordinates.</a:t>
            </a:r>
          </a:p>
          <a:p>
            <a:pPr>
              <a:defRPr sz="1400">
                <a:latin typeface="Arial"/>
              </a:defRPr>
            </a:pPr>
            <a:r>
              <a:t>- Make students say nearest neighbor out loud because that is the core operation.</a:t>
            </a:r>
          </a:p>
          <a:p>
            <a:pPr>
              <a:defRPr sz="1400">
                <a:latin typeface="Arial"/>
              </a:defRPr>
            </a:pPr>
            <a:r>
              <a:t>- Contrast vector search with exact keyword match.</a:t>
            </a:r>
          </a:p>
          <a:p>
            <a:pPr>
              <a:defRPr sz="1400">
                <a:latin typeface="Arial"/>
              </a:defRPr>
            </a:pPr>
            <a:r>
              <a:t>- Use the semantic search example because it is concrete and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Teach cosine as angle-based similarity, not as a scary formula.</a:t>
            </a:r>
          </a:p>
          <a:p>
            <a:pPr>
              <a:defRPr sz="1400">
                <a:latin typeface="Arial"/>
              </a:defRPr>
            </a:pPr>
            <a:r>
              <a:t>- Use the B versus C comparison to show why nearest by distance is not always nearest by meaning.</a:t>
            </a:r>
          </a:p>
          <a:p>
            <a:pPr>
              <a:defRPr sz="1400">
                <a:latin typeface="Arial"/>
              </a:defRPr>
            </a:pPr>
            <a:r>
              <a:t>- Explain that high-dimensional embeddings often care more about direction than size.</a:t>
            </a:r>
          </a:p>
          <a:p>
            <a:pPr>
              <a:defRPr sz="1400">
                <a:latin typeface="Arial"/>
              </a:defRPr>
            </a:pPr>
            <a:r>
              <a:t>- This is the theoretical slide that makes vector search feel intellectually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Give students the big practical win: meaning-based retrieval instead of literal keyword overlap.</a:t>
            </a:r>
          </a:p>
          <a:p>
            <a:pPr>
              <a:defRPr sz="1400">
                <a:latin typeface="Arial"/>
              </a:defRPr>
            </a:pPr>
            <a:r>
              <a:t>- Introduce ANN only as far as needed: exact search is costly, so approximation becomes practical.</a:t>
            </a:r>
          </a:p>
          <a:p>
            <a:pPr>
              <a:defRPr sz="1400">
                <a:latin typeface="Arial"/>
              </a:defRPr>
            </a:pPr>
            <a:r>
              <a:t>- Warn that vector search quality depends on the embedding model, not just the database engine.</a:t>
            </a:r>
          </a:p>
          <a:p>
            <a:pPr>
              <a:defRPr sz="1400">
                <a:latin typeface="Arial"/>
              </a:defRPr>
            </a:pPr>
            <a:r>
              <a:t>- This is a good slide for connecting AI buzzwords back to database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Use this slide to normalize hybrid thinking and polyglot persistence.</a:t>
            </a:r>
          </a:p>
          <a:p>
            <a:pPr>
              <a:defRPr sz="1400">
                <a:latin typeface="Arial"/>
              </a:defRPr>
            </a:pPr>
            <a:r>
              <a:t>- Point out that one application often contains several different question types.</a:t>
            </a:r>
          </a:p>
          <a:p>
            <a:pPr>
              <a:defRPr sz="1400">
                <a:latin typeface="Arial"/>
              </a:defRPr>
            </a:pPr>
            <a:r>
              <a:t>- Explicitly state that SQL usually remains the source of transactional truth for some parts of the system.</a:t>
            </a:r>
          </a:p>
          <a:p>
            <a:pPr>
              <a:defRPr sz="1400">
                <a:latin typeface="Arial"/>
              </a:defRPr>
            </a:pPr>
            <a:r>
              <a:t>- The lesson is not replace SQL; the lesson is match the storage model to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Treat this as a decision rubric, not a rigid law.</a:t>
            </a:r>
          </a:p>
          <a:p>
            <a:pPr>
              <a:defRPr sz="1400">
                <a:latin typeface="Arial"/>
              </a:defRPr>
            </a:pPr>
            <a:r>
              <a:t>- Keep asking what question must be cheap and what complexity the team can actually operate.</a:t>
            </a:r>
          </a:p>
          <a:p>
            <a:pPr>
              <a:defRPr sz="1400">
                <a:latin typeface="Arial"/>
              </a:defRPr>
            </a:pPr>
            <a:r>
              <a:t>- Use the relational or hybrid row to prevent students from hearing this as anti-SQL rhetoric.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Use this slide to mature the conversation from theory into systems design.</a:t>
            </a:r>
          </a:p>
          <a:p>
            <a:pPr>
              <a:defRPr sz="1400">
                <a:latin typeface="Arial"/>
              </a:defRPr>
            </a:pPr>
            <a:r>
              <a:t>- Explain that combining models is powerful but not free.</a:t>
            </a:r>
          </a:p>
          <a:p>
            <a:pPr>
              <a:defRPr sz="1400">
                <a:latin typeface="Arial"/>
              </a:defRPr>
            </a:pPr>
            <a:r>
              <a:t>- Say source of truth explicitly because duplicated data across stores creates confusion fast.</a:t>
            </a:r>
          </a:p>
          <a:p>
            <a:pPr>
              <a:defRPr sz="1400">
                <a:latin typeface="Arial"/>
              </a:defRPr>
            </a:pPr>
            <a:r>
              <a:t>- Students should leave with the idea that architecture is a tradeoff, not a collection hobby.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Students need to see the operational downside of every elegant model.</a:t>
            </a:r>
          </a:p>
          <a:p>
            <a:pPr>
              <a:defRPr sz="1400">
                <a:latin typeface="Arial"/>
              </a:defRPr>
            </a:pPr>
            <a:r>
              <a:t>- Use this slide to make administration and maintenance part of the selection process.</a:t>
            </a:r>
          </a:p>
          <a:p>
            <a:pPr>
              <a:defRPr sz="1400">
                <a:latin typeface="Arial"/>
              </a:defRPr>
            </a:pPr>
            <a:r>
              <a:t>- Vector quality evaluation and graph supernodes are good examples of model-specific headaches.</a:t>
            </a:r>
          </a:p>
          <a:p>
            <a:pPr>
              <a:defRPr sz="1400">
                <a:latin typeface="Arial"/>
              </a:defRPr>
            </a:pPr>
            <a:r>
              <a:t>- Reinforce that data systems are shaped by tradeoffs, not by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- Close by restating the one-sentence identity of each model.</a:t>
            </a:r>
          </a:p>
          <a:p>
            <a:pPr>
              <a:defRPr sz="1400">
                <a:latin typeface="Arial"/>
              </a:defRPr>
            </a:pPr>
            <a:r>
              <a:t>- If time allows, use the discussion questions as a mini retrieval exercise.</a:t>
            </a:r>
          </a:p>
          <a:p>
            <a:pPr>
              <a:defRPr sz="1400">
                <a:latin typeface="Arial"/>
              </a:defRPr>
            </a:pPr>
            <a:r>
              <a:t>- Make students explain why vector and graph databases are not just new names for old SQL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55279" y="548640"/>
            <a:ext cx="1920240" cy="1920240"/>
          </a:xfrm>
          <a:prstGeom prst="ellipse">
            <a:avLst/>
          </a:prstGeom>
          <a:solidFill>
            <a:srgbClr val="ECE7DE"/>
          </a:solidFill>
          <a:ln w="15240">
            <a:solidFill>
              <a:srgbClr val="E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1097280"/>
            <a:ext cx="1371600" cy="1371600"/>
          </a:xfrm>
          <a:prstGeom prst="ellipse">
            <a:avLst/>
          </a:prstGeom>
          <a:solidFill>
            <a:srgbClr val="ECE7DE"/>
          </a:solidFill>
          <a:ln w="15240">
            <a:solidFill>
              <a:srgbClr val="E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2286000"/>
            <a:ext cx="2194560" cy="2194560"/>
          </a:xfrm>
          <a:prstGeom prst="ellipse">
            <a:avLst/>
          </a:prstGeom>
          <a:solidFill>
            <a:srgbClr val="ECE7DE"/>
          </a:solidFill>
          <a:ln w="15240">
            <a:solidFill>
              <a:srgbClr val="EC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000" b="1">
                <a:solidFill>
                  <a:srgbClr val="617381"/>
                </a:solidFill>
                <a:latin typeface="Arial"/>
              </a:defRPr>
            </a:pPr>
            <a:r>
              <a:t>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603504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3000" b="1">
                <a:solidFill>
                  <a:srgbClr val="163042"/>
                </a:solidFill>
                <a:latin typeface="Arial"/>
              </a:defRPr>
            </a:pPr>
            <a:r>
              <a:t>NoSQL Models Beyond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669280" cy="7132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0">
                <a:solidFill>
                  <a:srgbClr val="2E4354"/>
                </a:solidFill>
                <a:latin typeface="Arial"/>
              </a:defRPr>
            </a:pPr>
            <a:r>
              <a:t>Key-value, document, graph, and vector databases all make different promises about what should be easy, fast, and natural.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868680"/>
            <a:ext cx="4572000" cy="1463040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078992"/>
            <a:ext cx="402336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A database model is really a bet about which question should be cheap.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2331720" cy="1920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2331720" cy="14630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4398264"/>
            <a:ext cx="502920" cy="502920"/>
          </a:xfrm>
          <a:prstGeom prst="ellipse">
            <a:avLst/>
          </a:prstGeom>
          <a:solidFill>
            <a:srgbClr val="D9770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25112"/>
            <a:ext cx="15087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Key-value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10328"/>
            <a:ext cx="2112263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Fast lookup when the key is already known.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160520"/>
            <a:ext cx="2331720" cy="1920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4160520"/>
            <a:ext cx="2331720" cy="146304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75887" y="4398264"/>
            <a:ext cx="502920" cy="502920"/>
          </a:xfrm>
          <a:prstGeom prst="ellipse">
            <a:avLst/>
          </a:prstGeom>
          <a:solidFill>
            <a:srgbClr val="1E847F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4325112"/>
            <a:ext cx="15087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4910328"/>
            <a:ext cx="2112263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Flexible JSON-like aggregates and nested structure.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160520"/>
            <a:ext cx="2331720" cy="1920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4160520"/>
            <a:ext cx="2331720" cy="146304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01968" y="4398264"/>
            <a:ext cx="502920" cy="502920"/>
          </a:xfrm>
          <a:prstGeom prst="ellipse">
            <a:avLst/>
          </a:prstGeom>
          <a:solidFill>
            <a:srgbClr val="BD5738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325112"/>
            <a:ext cx="15087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910328"/>
            <a:ext cx="2112263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Path, neighborhood, and relationship-heavy questions.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160520"/>
            <a:ext cx="2331720" cy="1920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18320" y="4160520"/>
            <a:ext cx="2331720" cy="146304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28048" y="4398264"/>
            <a:ext cx="502920" cy="502920"/>
          </a:xfrm>
          <a:prstGeom prst="ellipse">
            <a:avLst/>
          </a:prstGeom>
          <a:solidFill>
            <a:srgbClr val="5C844A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1552" y="4325112"/>
            <a:ext cx="15087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Vector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4910328"/>
            <a:ext cx="2112263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Nearest-neighbor search over embeddings and meaning.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Why Multiple NoSQL Models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Different workloads make different operations expensive or cheap.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749039" cy="2414016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329184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rial"/>
              </a:defRPr>
            </a:pPr>
            <a:r>
              <a:t>Relational databases are excellent at structured facts, joins, constraints, and transactions. NoSQL models appear when a workload wants a different unit of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508760"/>
            <a:ext cx="2971800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508760"/>
            <a:ext cx="2971800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581912"/>
            <a:ext cx="27889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Known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892807"/>
            <a:ext cx="2825496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You already know the exact identifier.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08760"/>
            <a:ext cx="3749039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508760"/>
            <a:ext cx="3749039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1581912"/>
            <a:ext cx="356615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Cheap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1892807"/>
            <a:ext cx="3602735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GET by 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587752"/>
            <a:ext cx="2971800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2587752"/>
            <a:ext cx="2971800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79" y="2660904"/>
            <a:ext cx="27889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Aggregate object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971800"/>
            <a:ext cx="2825496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You want one self-contained record shape.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587752"/>
            <a:ext cx="3749039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2587752"/>
            <a:ext cx="3749039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9560" y="2660904"/>
            <a:ext cx="356615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Cheap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2971800"/>
            <a:ext cx="3602735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Read/write one JSON-like aggregate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666744"/>
            <a:ext cx="2971800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3666744"/>
            <a:ext cx="2971800" cy="164592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79" y="3739896"/>
            <a:ext cx="27889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Relationship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050791"/>
            <a:ext cx="2825496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You care about who is connected to whom.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3666744"/>
            <a:ext cx="3749039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18120" y="3666744"/>
            <a:ext cx="3749039" cy="164592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3739896"/>
            <a:ext cx="356615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Cheap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4050791"/>
            <a:ext cx="3602735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Traverse paths and neighborhoods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4745736"/>
            <a:ext cx="2971800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63440" y="4745736"/>
            <a:ext cx="297180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79" y="4818888"/>
            <a:ext cx="27889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Similar meaning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5129783"/>
            <a:ext cx="2825496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You care about nearest neighbors in semantic space.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4745736"/>
            <a:ext cx="3749039" cy="868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18120" y="4745736"/>
            <a:ext cx="3749039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09560" y="4818888"/>
            <a:ext cx="356615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Cheap question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2" y="5129783"/>
            <a:ext cx="3602735" cy="41147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Find nearest vectors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The Four Models in One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Ask what you know first, then ask what kind of answer you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892040" y="2331720"/>
            <a:ext cx="2377440" cy="1234440"/>
          </a:xfrm>
          <a:prstGeom prst="ellipse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t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What is the main question?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834640" cy="15087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00784"/>
            <a:ext cx="25603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1">
                <a:solidFill>
                  <a:srgbClr val="617381"/>
                </a:solidFill>
                <a:latin typeface="Arial"/>
              </a:defRPr>
            </a:pPr>
            <a:r>
              <a:t>I know the exact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256032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200" b="1">
                <a:solidFill>
                  <a:srgbClr val="163042"/>
                </a:solidFill>
                <a:latin typeface="Arial"/>
              </a:defRPr>
            </a:pPr>
            <a:r>
              <a:t>Key-value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95728"/>
            <a:ext cx="256032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300" b="0">
                <a:solidFill>
                  <a:srgbClr val="2E4354"/>
                </a:solidFill>
                <a:latin typeface="Arial"/>
              </a:defRPr>
            </a:pPr>
            <a:r>
              <a:t>Direct lookup, cache, session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554480"/>
            <a:ext cx="2834640" cy="15087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23376" y="1700784"/>
            <a:ext cx="25603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1">
                <a:solidFill>
                  <a:srgbClr val="617381"/>
                </a:solidFill>
                <a:latin typeface="Arial"/>
              </a:defRPr>
            </a:pPr>
            <a:r>
              <a:t>I want one rich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2011680"/>
            <a:ext cx="256032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200" b="1">
                <a:solidFill>
                  <a:srgbClr val="163042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2395728"/>
            <a:ext cx="256032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300" b="0">
                <a:solidFill>
                  <a:srgbClr val="2E4354"/>
                </a:solidFill>
                <a:latin typeface="Arial"/>
              </a:defRPr>
            </a:pPr>
            <a:r>
              <a:t>Profiles, orders, nested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2834640" cy="15087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123944"/>
            <a:ext cx="25603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1">
                <a:solidFill>
                  <a:srgbClr val="617381"/>
                </a:solidFill>
                <a:latin typeface="Arial"/>
              </a:defRPr>
            </a:pPr>
            <a:r>
              <a:t>I care about links and paths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434840"/>
            <a:ext cx="256032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200" b="1">
                <a:solidFill>
                  <a:srgbClr val="163042"/>
                </a:solidFill>
                <a:latin typeface="Arial"/>
              </a:defRPr>
            </a:pPr>
            <a:r>
              <a:t>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818888"/>
            <a:ext cx="256032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300" b="0">
                <a:solidFill>
                  <a:srgbClr val="2E4354"/>
                </a:solidFill>
                <a:latin typeface="Arial"/>
              </a:defRPr>
            </a:pPr>
            <a:r>
              <a:t>Fraud rings, social networks,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977639"/>
            <a:ext cx="2834640" cy="15087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23376" y="4123944"/>
            <a:ext cx="25603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1">
                <a:solidFill>
                  <a:srgbClr val="617381"/>
                </a:solidFill>
                <a:latin typeface="Arial"/>
              </a:defRPr>
            </a:pPr>
            <a:r>
              <a:t>I care about nearest neighbors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4434840"/>
            <a:ext cx="256032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200" b="1">
                <a:solidFill>
                  <a:srgbClr val="163042"/>
                </a:solidFill>
                <a:latin typeface="Arial"/>
              </a:defRPr>
            </a:pPr>
            <a:r>
              <a:t>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4818888"/>
            <a:ext cx="256032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300" b="0">
                <a:solidFill>
                  <a:srgbClr val="2E4354"/>
                </a:solidFill>
                <a:latin typeface="Arial"/>
              </a:defRPr>
            </a:pPr>
            <a:r>
              <a:t>Semantic search, retrieval, duplicate detection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2286000"/>
            <a:ext cx="1325880" cy="45720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69480" y="2286000"/>
            <a:ext cx="1325880" cy="457200"/>
          </a:xfrm>
          <a:prstGeom prst="line">
            <a:avLst/>
          </a:prstGeom>
          <a:ln w="25400">
            <a:solidFill>
              <a:srgbClr val="1E84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66160" y="3566160"/>
            <a:ext cx="1325880" cy="1005840"/>
          </a:xfrm>
          <a:prstGeom prst="line">
            <a:avLst/>
          </a:prstGeom>
          <a:ln w="2540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7269480" y="3566160"/>
            <a:ext cx="1325880" cy="1005840"/>
          </a:xfrm>
          <a:prstGeom prst="line">
            <a:avLst/>
          </a:prstGeom>
          <a:ln w="2540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Key-Value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The system is optimized for exact-key lookup and update.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206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Mental model: a giant dictionary distributed across machines.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21488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l">
              <a:defRPr sz="1500" b="1">
                <a:solidFill>
                  <a:srgbClr val="163042"/>
                </a:solidFill>
                <a:latin typeface="Arial"/>
              </a:defRPr>
            </a:pPr>
            <a:r>
              <a:t>session:4F9A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157984"/>
            <a:ext cx="685799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94760" y="1828799"/>
            <a:ext cx="2331720" cy="658368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Courier New"/>
              </a:defRPr>
            </a:pPr>
            <a:r>
              <a:t>{user:42, exp:...}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34639"/>
            <a:ext cx="21488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l">
              <a:defRPr sz="1500" b="1">
                <a:solidFill>
                  <a:srgbClr val="163042"/>
                </a:solidFill>
                <a:latin typeface="Arial"/>
              </a:defRPr>
            </a:pPr>
            <a:r>
              <a:t>cart:10027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3118103"/>
            <a:ext cx="685799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94760" y="2788920"/>
            <a:ext cx="2331720" cy="658368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Courier New"/>
              </a:defRPr>
            </a:pPr>
            <a:r>
              <a:t>{items:[...], ttl:...}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94760"/>
            <a:ext cx="21488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l">
              <a:defRPr sz="1500" b="1">
                <a:solidFill>
                  <a:srgbClr val="163042"/>
                </a:solidFill>
                <a:latin typeface="Arial"/>
              </a:defRPr>
            </a:pPr>
            <a:r>
              <a:t>feature:beta_ui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4078224"/>
            <a:ext cx="685799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94760" y="3749040"/>
            <a:ext cx="2331720" cy="658368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Courier New"/>
              </a:defRPr>
            </a:pPr>
            <a:r>
              <a:t>{enabled:true}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83480"/>
            <a:ext cx="5257800" cy="640080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475488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Typical operations: GET, PUT, DELETE, INCR, EXPIRE / TTL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417320"/>
            <a:ext cx="1828800" cy="18288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1417320"/>
            <a:ext cx="1828800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1490472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Great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801368"/>
            <a:ext cx="1682496" cy="13716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caches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sessions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rate limits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feature flags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1417320"/>
            <a:ext cx="1783080" cy="18288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58200" y="1417320"/>
            <a:ext cx="1783080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1490472"/>
            <a:ext cx="160020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Strength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1801368"/>
            <a:ext cx="1636776" cy="13716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simple scaling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very low latency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operational simplicity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05872" y="1417320"/>
            <a:ext cx="1188720" cy="18288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405872" y="1417320"/>
            <a:ext cx="1188720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97312" y="1490472"/>
            <a:ext cx="10058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Weak spot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4" y="1801368"/>
            <a:ext cx="1042416" cy="13716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secondary search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joins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rich ad hoc filters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566160"/>
            <a:ext cx="5148072" cy="2057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46520" y="3566160"/>
            <a:ext cx="51480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59" y="3639312"/>
            <a:ext cx="4965192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What the model assumes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950208"/>
            <a:ext cx="5001768" cy="16002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You can derive or already know the key before you ask the question.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The value can often be treated as an opaque blob or a small record.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Most reads and writes happen one key at a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Key-Value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Simple access patterns make it fast; richer questions become your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16459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2000" b="1">
                <a:solidFill>
                  <a:srgbClr val="163042"/>
                </a:solidFill>
                <a:latin typeface="Arial"/>
              </a:defRPr>
            </a:pPr>
            <a:r>
              <a:t>App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325880"/>
            <a:ext cx="2743200" cy="146304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bIns="152400" rtlCol="0" anchor="t">
            <a:normAutofit/>
          </a:bodyPr>
          <a:lstStyle/>
          <a:p>
            <a:pPr algn="ctr">
              <a:defRPr sz="2200" b="1">
                <a:solidFill>
                  <a:srgbClr val="163042"/>
                </a:solidFill>
                <a:latin typeface="Arial"/>
              </a:defRPr>
            </a:pPr>
            <a:r>
              <a:t>Key-Value Store</a:t>
            </a:r>
            <a:br/>
            <a:r>
              <a:t>partitioned by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45920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2000" b="1">
                <a:solidFill>
                  <a:srgbClr val="163042"/>
                </a:solidFill>
                <a:latin typeface="Arial"/>
              </a:defRPr>
            </a:pPr>
            <a:r>
              <a:t>Response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057400"/>
            <a:ext cx="1417320" cy="0"/>
          </a:xfrm>
          <a:prstGeom prst="line">
            <a:avLst/>
          </a:prstGeom>
          <a:ln w="381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2057400"/>
            <a:ext cx="822960" cy="0"/>
          </a:xfrm>
          <a:prstGeom prst="line">
            <a:avLst/>
          </a:prstGeom>
          <a:ln w="381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7480" y="1627632"/>
            <a:ext cx="9144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300" b="1">
                <a:solidFill>
                  <a:srgbClr val="617381"/>
                </a:solidFill>
                <a:latin typeface="Arial"/>
              </a:defRPr>
            </a:pPr>
            <a:r>
              <a:t>GET cart:10027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627632"/>
            <a:ext cx="64008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1">
                <a:solidFill>
                  <a:srgbClr val="617381"/>
                </a:solidFill>
                <a:latin typeface="Arial"/>
              </a:defRPr>
            </a:pPr>
            <a:r>
              <a:t>{...}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2651760" cy="2057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246120"/>
            <a:ext cx="2651760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319272"/>
            <a:ext cx="246887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Feels natural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630168"/>
            <a:ext cx="2505456" cy="16002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the request pattern is predictable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latency matters more than query flexibility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expiration or counters are first-class behaviors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3246120"/>
            <a:ext cx="2651760" cy="2057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39312" y="3246120"/>
            <a:ext cx="2651760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752" y="3319272"/>
            <a:ext cx="246887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Gets awkward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3" y="3630168"/>
            <a:ext cx="2505456" cy="16002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you need all users from Miami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you need multi-attribute search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you need reporting across many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246120"/>
            <a:ext cx="2377440" cy="2057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92240" y="3246120"/>
            <a:ext cx="2377440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79" y="3319272"/>
            <a:ext cx="219456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Design concerns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630168"/>
            <a:ext cx="2231136" cy="16002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hot keys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TTL semantics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serialization format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key naming conventions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3246120"/>
            <a:ext cx="2523744" cy="2057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70848" y="3246120"/>
            <a:ext cx="2523744" cy="1645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2288" y="3319272"/>
            <a:ext cx="2340863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Theory to 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30168"/>
            <a:ext cx="2377439" cy="16002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hashing distributes keys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partitioning affects locality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consistency choices affect freshness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Document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The unit of storage is a self-contained document, often JSON-like.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160520" cy="4434840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3657600" cy="3657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{</a:t>
            </a:r>
            <a:br/>
            <a:r>
              <a:t>  "student_id": 42,</a:t>
            </a:r>
            <a:br/>
            <a:r>
              <a:t>  "name": "Maya Chen",</a:t>
            </a:r>
            <a:br/>
            <a:r>
              <a:t>  "major": "IT",</a:t>
            </a:r>
            <a:br/>
            <a:r>
              <a:t>  "courses": [</a:t>
            </a:r>
            <a:br/>
            <a:r>
              <a:t>    {"code": "CST4714", "grade": "A"},</a:t>
            </a:r>
            <a:br/>
            <a:r>
              <a:t>    {"code": "COP3337", "grade": "B+"}</a:t>
            </a:r>
            <a:br/>
            <a:r>
              <a:t>  ],</a:t>
            </a:r>
            <a:br/>
            <a:r>
              <a:t>  "advisor": {"id": 8, "name": "Dr. Diaz"}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17320"/>
            <a:ext cx="2926080" cy="1920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1417320"/>
            <a:ext cx="2926080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59" y="1490472"/>
            <a:ext cx="274320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Why it feels natural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1801368"/>
            <a:ext cx="2779776" cy="146304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One document can match one real-world aggregate.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Nested arrays and objects reduce join pressure.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Schema can evolve gradually.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417320"/>
            <a:ext cx="1481328" cy="1920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1417320"/>
            <a:ext cx="1481328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490472"/>
            <a:ext cx="1298448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Embed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1801368"/>
            <a:ext cx="1335024" cy="146304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child data belongs to parent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read together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small bounded arrays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1552" y="1417320"/>
            <a:ext cx="1481328" cy="1920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31552" y="1417320"/>
            <a:ext cx="1481328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22992" y="1490472"/>
            <a:ext cx="1298448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Reference 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04704" y="1801368"/>
            <a:ext cx="1335024" cy="146304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shared by many parents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grows independently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changes frequently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611880"/>
            <a:ext cx="6309360" cy="2103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03520" y="3611880"/>
            <a:ext cx="6309360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59" y="3685032"/>
            <a:ext cx="612648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What the model optimizes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995928"/>
            <a:ext cx="6163056" cy="164591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600">
                <a:solidFill>
                  <a:srgbClr val="2E4354"/>
                </a:solidFill>
                <a:latin typeface="Arial"/>
              </a:defRPr>
            </a:pPr>
            <a:r>
              <a:t>• Read or update one aggregate at a time.</a:t>
            </a:r>
          </a:p>
          <a:p>
            <a:pPr algn="l">
              <a:lnSpc>
                <a:spcPct val="105000"/>
              </a:lnSpc>
              <a:defRPr sz="1600">
                <a:solidFill>
                  <a:srgbClr val="2E4354"/>
                </a:solidFill>
                <a:latin typeface="Arial"/>
              </a:defRPr>
            </a:pPr>
            <a:r>
              <a:t>• Keep related fields close together so application code touches fewer objects.</a:t>
            </a:r>
          </a:p>
          <a:p>
            <a:pPr algn="l">
              <a:lnSpc>
                <a:spcPct val="105000"/>
              </a:lnSpc>
              <a:defRPr sz="1600">
                <a:solidFill>
                  <a:srgbClr val="2E4354"/>
                </a:solidFill>
                <a:latin typeface="Arial"/>
              </a:defRPr>
            </a:pPr>
            <a:r>
              <a:t>• Allow structure to vary when the real world is messy or evolving.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Document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Documents reduce join pressure, but they can duplicate data and grow unevenly.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210312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Relational shape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1920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900" b="1">
                <a:solidFill>
                  <a:srgbClr val="163042"/>
                </a:solidFill>
                <a:latin typeface="Arial"/>
              </a:defRPr>
            </a:pPr>
            <a:r>
              <a:t>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34639"/>
            <a:ext cx="1920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900" b="1">
                <a:solidFill>
                  <a:srgbClr val="163042"/>
                </a:solidFill>
                <a:latin typeface="Arial"/>
              </a:defRPr>
            </a:pPr>
            <a:r>
              <a:t>enrollments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94760"/>
            <a:ext cx="1920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900" b="1">
                <a:solidFill>
                  <a:srgbClr val="163042"/>
                </a:solidFill>
                <a:latin typeface="Arial"/>
              </a:defRPr>
            </a:pPr>
            <a:r>
              <a:t>courses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560320"/>
            <a:ext cx="0" cy="228600"/>
          </a:xfrm>
          <a:prstGeom prst="line">
            <a:avLst/>
          </a:prstGeom>
          <a:ln w="31750">
            <a:solidFill>
              <a:srgbClr val="739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3520440"/>
            <a:ext cx="0" cy="228599"/>
          </a:xfrm>
          <a:prstGeom prst="line">
            <a:avLst/>
          </a:prstGeom>
          <a:ln w="31750">
            <a:solidFill>
              <a:srgbClr val="739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08960" y="28803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617381"/>
                </a:solidFill>
                <a:latin typeface="Arial"/>
              </a:defRPr>
            </a:pPr>
            <a:r>
              <a:t>becomes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417320"/>
            <a:ext cx="210312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Document shape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2834640" cy="306324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057400"/>
            <a:ext cx="2377440" cy="2606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500" b="0">
                <a:solidFill>
                  <a:srgbClr val="2E4354"/>
                </a:solidFill>
                <a:latin typeface="Courier New"/>
              </a:defRPr>
            </a:pPr>
            <a:r>
              <a:t>{</a:t>
            </a:r>
            <a:br/>
            <a:r>
              <a:t>  student_id: 42,</a:t>
            </a:r>
            <a:br/>
            <a:r>
              <a:t>  name: "Maya",</a:t>
            </a:r>
            <a:br/>
            <a:r>
              <a:t>  enrollments: [</a:t>
            </a:r>
            <a:br/>
            <a:r>
              <a:t>    {course: "CST4714", title: "DB Admin"},</a:t>
            </a:r>
            <a:br/>
            <a:r>
              <a:t>    {course: "COP3337", title: "Java"}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691640"/>
            <a:ext cx="1371600" cy="29260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9480" y="1691640"/>
            <a:ext cx="1371600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1764792"/>
            <a:ext cx="11887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075688"/>
            <a:ext cx="1225296" cy="246888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fewer joins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faster aggregate reads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natural JSON APIs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easier partial evolution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691640"/>
            <a:ext cx="1325880" cy="29260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23960" y="1691640"/>
            <a:ext cx="1325880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1764792"/>
            <a:ext cx="114300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2075688"/>
            <a:ext cx="1179576" cy="246888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duplicated facts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large documents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write amplification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harder cross-document constraints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1691640"/>
            <a:ext cx="1234440" cy="29260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332720" y="1691640"/>
            <a:ext cx="1234440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0" y="1764792"/>
            <a:ext cx="105156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Watch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2075688"/>
            <a:ext cx="1088136" cy="246888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unbounded arrays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frequent fan-out updates</a:t>
            </a:r>
          </a:p>
          <a:p>
            <a:pPr algn="l">
              <a:lnSpc>
                <a:spcPct val="105000"/>
              </a:lnSpc>
              <a:defRPr sz="1300">
                <a:solidFill>
                  <a:srgbClr val="2E4354"/>
                </a:solidFill>
                <a:latin typeface="Arial"/>
              </a:defRPr>
            </a:pPr>
            <a:r>
              <a:t>• index sprawl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4892040"/>
            <a:ext cx="4297680" cy="914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69480" y="4892040"/>
            <a:ext cx="4297680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60920" y="4965192"/>
            <a:ext cx="411480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Practical heuristic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1" y="5276088"/>
            <a:ext cx="4151376" cy="4572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If the application nearly always reads the data together, storing it together is often sensible.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1664208"/>
            <a:ext cx="4370832" cy="15544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23760" y="1664208"/>
            <a:ext cx="4370832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1737360"/>
            <a:ext cx="4187952" cy="34747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163042"/>
                </a:solidFill>
                <a:latin typeface="Arial"/>
              </a:defRPr>
            </a:pPr>
            <a:r>
              <a:t>Why documents win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2048256"/>
            <a:ext cx="4224528" cy="109728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fewer joins for aggregate reads</a:t>
            </a:r>
          </a:p>
          <a:p>
            <a:pPr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natural fit for JSON APIs</a:t>
            </a:r>
          </a:p>
          <a:p>
            <a:pPr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one object can travel through the app together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3429000"/>
            <a:ext cx="4370832" cy="2011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0" y="3429000"/>
            <a:ext cx="4370832" cy="164592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3502152"/>
            <a:ext cx="4187952" cy="34747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163042"/>
                </a:solidFill>
                <a:latin typeface="Arial"/>
              </a:defRPr>
            </a:pPr>
            <a:r>
              <a:t>Where document design hurts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6912" y="3813048"/>
            <a:ext cx="4224528" cy="155448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duplicated facts create update pain</a:t>
            </a:r>
          </a:p>
          <a:p>
            <a:pPr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large or unbounded arrays become risky</a:t>
            </a:r>
          </a:p>
          <a:p>
            <a:pPr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indexes multiply quickly when every field becomes queryable</a:t>
            </a:r>
          </a:p>
          <a:p>
            <a:pPr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cross-document integrity is weaker than relational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Graph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When relationships are first-class, traversal becomes the natural operation.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417319" y="1874519"/>
            <a:ext cx="1554481" cy="457201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17319" y="2331720"/>
            <a:ext cx="3200401" cy="13716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71800" y="1874519"/>
            <a:ext cx="1645920" cy="594361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17319" y="2331720"/>
            <a:ext cx="1097281" cy="1645919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514600" y="1874519"/>
            <a:ext cx="457200" cy="210312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892040" y="2971800"/>
            <a:ext cx="1325880" cy="118872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71800" y="1874519"/>
            <a:ext cx="1920240" cy="2286001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97280" y="201168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t">
            <a:normAutofit/>
          </a:bodyPr>
          <a:lstStyle/>
          <a:p>
            <a:pPr algn="ctr">
              <a:defRPr sz="1100" b="1">
                <a:solidFill>
                  <a:srgbClr val="163042"/>
                </a:solidFill>
                <a:latin typeface="Arial"/>
              </a:defRPr>
            </a:pPr>
            <a:r>
              <a:t>Maya</a:t>
            </a:r>
          </a:p>
        </p:txBody>
      </p:sp>
      <p:sp>
        <p:nvSpPr>
          <p:cNvPr id="15" name="Oval 14"/>
          <p:cNvSpPr/>
          <p:nvPr/>
        </p:nvSpPr>
        <p:spPr>
          <a:xfrm>
            <a:off x="2651760" y="155448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t">
            <a:normAutofit/>
          </a:bodyPr>
          <a:lstStyle/>
          <a:p>
            <a:pPr algn="ctr">
              <a:defRPr sz="1100" b="1">
                <a:solidFill>
                  <a:srgbClr val="163042"/>
                </a:solidFill>
                <a:latin typeface="Arial"/>
              </a:defRPr>
            </a:pPr>
            <a:r>
              <a:t>Luis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0" y="214884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t">
            <a:normAutofit/>
          </a:bodyPr>
          <a:lstStyle/>
          <a:p>
            <a:pPr algn="ctr">
              <a:defRPr sz="1100" b="1">
                <a:solidFill>
                  <a:srgbClr val="163042"/>
                </a:solidFill>
                <a:latin typeface="Arial"/>
              </a:defRPr>
            </a:pPr>
            <a:r>
              <a:t>Study Group</a:t>
            </a:r>
          </a:p>
        </p:txBody>
      </p:sp>
      <p:sp>
        <p:nvSpPr>
          <p:cNvPr id="17" name="Oval 16"/>
          <p:cNvSpPr/>
          <p:nvPr/>
        </p:nvSpPr>
        <p:spPr>
          <a:xfrm>
            <a:off x="2194560" y="365760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t">
            <a:normAutofit/>
          </a:bodyPr>
          <a:lstStyle/>
          <a:p>
            <a:pPr algn="ctr">
              <a:defRPr sz="1100" b="1">
                <a:solidFill>
                  <a:srgbClr val="163042"/>
                </a:solidFill>
                <a:latin typeface="Arial"/>
              </a:defRPr>
            </a:pPr>
            <a:r>
              <a:t>CST4714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84048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t">
            <a:normAutofit/>
          </a:bodyPr>
          <a:lstStyle/>
          <a:p>
            <a:pPr algn="ctr">
              <a:defRPr sz="1100" b="1">
                <a:solidFill>
                  <a:srgbClr val="163042"/>
                </a:solidFill>
                <a:latin typeface="Arial"/>
              </a:defRPr>
            </a:pPr>
            <a:r>
              <a:t>Laptop 22</a:t>
            </a:r>
          </a:p>
        </p:txBody>
      </p:sp>
      <p:sp>
        <p:nvSpPr>
          <p:cNvPr id="19" name="Oval 18"/>
          <p:cNvSpPr/>
          <p:nvPr/>
        </p:nvSpPr>
        <p:spPr>
          <a:xfrm>
            <a:off x="5897880" y="265176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t">
            <a:normAutofit/>
          </a:bodyPr>
          <a:lstStyle/>
          <a:p>
            <a:pPr algn="ctr">
              <a:defRPr sz="1100" b="1">
                <a:solidFill>
                  <a:srgbClr val="163042"/>
                </a:solidFill>
                <a:latin typeface="Arial"/>
              </a:defRPr>
            </a:pPr>
            <a:r>
              <a:t>Merchant 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417320"/>
            <a:ext cx="4663440" cy="14173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03720" y="1417320"/>
            <a:ext cx="4663440" cy="164592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59" y="1490472"/>
            <a:ext cx="448055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Natural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1801368"/>
            <a:ext cx="4517136" cy="96012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Who is connected to the same merchant through multiple devices?</a:t>
            </a:r>
          </a:p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What is the shortest path between two people or entities?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017520"/>
            <a:ext cx="2240280" cy="24231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3017520"/>
            <a:ext cx="2240280" cy="164592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5159" y="3090672"/>
            <a:ext cx="205740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Best 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401568"/>
            <a:ext cx="2093976" cy="196596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social graphs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fraud rings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network topology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recommendations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017520"/>
            <a:ext cx="2240280" cy="24231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26880" y="3017520"/>
            <a:ext cx="2240280" cy="164592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19" y="3090672"/>
            <a:ext cx="205740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Why not just tables?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3401568"/>
            <a:ext cx="2093976" cy="196596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many joins get expensive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paths are awkward in SQL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relationships are the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691640"/>
            <a:ext cx="82296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1">
                <a:solidFill>
                  <a:srgbClr val="617381"/>
                </a:solidFill>
                <a:latin typeface="Arial"/>
              </a:defRPr>
            </a:pPr>
            <a:r>
              <a:t>Maya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1234440"/>
            <a:ext cx="82296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1">
                <a:solidFill>
                  <a:srgbClr val="617381"/>
                </a:solidFill>
                <a:latin typeface="Arial"/>
              </a:defRPr>
            </a:pPr>
            <a:r>
              <a:t>Luis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1783080"/>
            <a:ext cx="118872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1">
                <a:solidFill>
                  <a:srgbClr val="617381"/>
                </a:solidFill>
                <a:latin typeface="Arial"/>
              </a:defRPr>
            </a:pPr>
            <a:r>
              <a:t>Study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389120"/>
            <a:ext cx="914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1">
                <a:solidFill>
                  <a:srgbClr val="617381"/>
                </a:solidFill>
                <a:latin typeface="Arial"/>
              </a:defRPr>
            </a:pPr>
            <a:r>
              <a:t>CST4714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572000"/>
            <a:ext cx="96012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1">
                <a:solidFill>
                  <a:srgbClr val="617381"/>
                </a:solidFill>
                <a:latin typeface="Arial"/>
              </a:defRPr>
            </a:pPr>
            <a:r>
              <a:t>Laptop 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2331720"/>
            <a:ext cx="105156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1">
                <a:solidFill>
                  <a:srgbClr val="617381"/>
                </a:solidFill>
                <a:latin typeface="Arial"/>
              </a:defRPr>
            </a:pPr>
            <a:r>
              <a:t>Merchant 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Basic Graph Theory for Graph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A little graph theory explains why traversal queries feel different from joins.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69748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18488"/>
            <a:ext cx="100584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2423160" cy="4389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an entity such as a person, device, city, or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1508760"/>
            <a:ext cx="269748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618488"/>
            <a:ext cx="100584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892807"/>
            <a:ext cx="2423160" cy="4389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a relationship such as follows, bought, routed_to, or depends_on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43200"/>
            <a:ext cx="269748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52928"/>
            <a:ext cx="100584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27248"/>
            <a:ext cx="2423160" cy="4389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a sequence of edges connecting one node to another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5032" y="2743200"/>
            <a:ext cx="269748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94760" y="2852928"/>
            <a:ext cx="100584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127248"/>
            <a:ext cx="2423160" cy="4389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2E4354"/>
                </a:solidFill>
                <a:latin typeface="Arial"/>
              </a:defRPr>
            </a:pPr>
            <a:r>
              <a:t>a path that returns to where it started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315200" y="1691640"/>
            <a:ext cx="1005840" cy="36576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21040" y="1691640"/>
            <a:ext cx="1005840" cy="54864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326880" y="1783080"/>
            <a:ext cx="1005840" cy="45720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32720" y="1783080"/>
            <a:ext cx="640080" cy="64008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235440" y="2240280"/>
            <a:ext cx="91440" cy="123444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8138160" y="3291840"/>
            <a:ext cx="1097280" cy="18288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315200" y="2057400"/>
            <a:ext cx="822960" cy="123444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995160" y="173736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163042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8001000" y="13716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163042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9006840" y="192024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163042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10012680" y="146304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163042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10652760" y="21031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163042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31" name="Oval 30"/>
          <p:cNvSpPr/>
          <p:nvPr/>
        </p:nvSpPr>
        <p:spPr>
          <a:xfrm>
            <a:off x="8915400" y="31546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163042"/>
                </a:solidFill>
                <a:latin typeface="Arial"/>
              </a:defRPr>
            </a:pPr>
            <a:r>
              <a:t>F</a:t>
            </a:r>
          </a:p>
        </p:txBody>
      </p:sp>
      <p:sp>
        <p:nvSpPr>
          <p:cNvPr id="32" name="Oval 31"/>
          <p:cNvSpPr/>
          <p:nvPr/>
        </p:nvSpPr>
        <p:spPr>
          <a:xfrm>
            <a:off x="7818120" y="29718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163042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023360"/>
            <a:ext cx="4663440" cy="16002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023360"/>
            <a:ext cx="4663440" cy="164592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59" y="4096512"/>
            <a:ext cx="448055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Three useful ideas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4407408"/>
            <a:ext cx="4517136" cy="11430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Shortest path helps route through a network or find likely connection chains.</a:t>
            </a:r>
          </a:p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Degree counts how many edges touch a node and reveals hubs or supernodes.</a:t>
            </a:r>
          </a:p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Centrality asks which nodes matter most to flow or influence.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Instead of exact match or path traversal, the goal is nearest-neighbor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484632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234440" y="5212080"/>
            <a:ext cx="4023360" cy="0"/>
          </a:xfrm>
          <a:prstGeom prst="line">
            <a:avLst/>
          </a:prstGeom>
          <a:ln w="2540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34440" y="1920240"/>
            <a:ext cx="0" cy="3291840"/>
          </a:xfrm>
          <a:prstGeom prst="line">
            <a:avLst/>
          </a:prstGeom>
          <a:ln w="2540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011680" y="3931920"/>
            <a:ext cx="256032" cy="256032"/>
          </a:xfrm>
          <a:prstGeom prst="ellipse">
            <a:avLst/>
          </a:prstGeom>
          <a:solidFill>
            <a:srgbClr val="7397AB"/>
          </a:solidFill>
          <a:ln w="1270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6272" y="3895344"/>
            <a:ext cx="96012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000" b="0">
                <a:solidFill>
                  <a:srgbClr val="2E4354"/>
                </a:solidFill>
                <a:latin typeface="Arial"/>
              </a:defRPr>
            </a:pPr>
            <a:r>
              <a:t>car review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3657600"/>
            <a:ext cx="256032" cy="256032"/>
          </a:xfrm>
          <a:prstGeom prst="ellipse">
            <a:avLst/>
          </a:prstGeom>
          <a:solidFill>
            <a:srgbClr val="7397AB"/>
          </a:solidFill>
          <a:ln w="1270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24912" y="3621024"/>
            <a:ext cx="96012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000" b="0">
                <a:solidFill>
                  <a:srgbClr val="2E4354"/>
                </a:solidFill>
                <a:latin typeface="Arial"/>
              </a:defRPr>
            </a:pPr>
            <a:r>
              <a:t>vehicle article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2834640"/>
            <a:ext cx="256032" cy="256032"/>
          </a:xfrm>
          <a:prstGeom prst="ellipse">
            <a:avLst/>
          </a:prstGeom>
          <a:solidFill>
            <a:srgbClr val="C88C78"/>
          </a:solidFill>
          <a:ln w="12700">
            <a:solidFill>
              <a:srgbClr val="C88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2" y="2798064"/>
            <a:ext cx="96012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000" b="0">
                <a:solidFill>
                  <a:srgbClr val="2E4354"/>
                </a:solidFill>
                <a:latin typeface="Arial"/>
              </a:defRPr>
            </a:pPr>
            <a:r>
              <a:t>pizza recipe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4114800"/>
            <a:ext cx="256032" cy="256032"/>
          </a:xfrm>
          <a:prstGeom prst="ellipse">
            <a:avLst/>
          </a:prstGeom>
          <a:solidFill>
            <a:srgbClr val="7397AB"/>
          </a:solidFill>
          <a:ln w="1270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4078224"/>
            <a:ext cx="96012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000" b="0">
                <a:solidFill>
                  <a:srgbClr val="2E4354"/>
                </a:solidFill>
                <a:latin typeface="Arial"/>
              </a:defRPr>
            </a:pPr>
            <a:r>
              <a:t>repair manual</a:t>
            </a:r>
          </a:p>
        </p:txBody>
      </p:sp>
      <p:sp>
        <p:nvSpPr>
          <p:cNvPr id="18" name="Oval 17"/>
          <p:cNvSpPr/>
          <p:nvPr/>
        </p:nvSpPr>
        <p:spPr>
          <a:xfrm>
            <a:off x="3291840" y="2468880"/>
            <a:ext cx="256032" cy="256032"/>
          </a:xfrm>
          <a:prstGeom prst="ellipse">
            <a:avLst/>
          </a:prstGeom>
          <a:solidFill>
            <a:srgbClr val="7397AB"/>
          </a:solidFill>
          <a:ln w="1270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6432" y="2432304"/>
            <a:ext cx="96012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000" b="0">
                <a:solidFill>
                  <a:srgbClr val="2E4354"/>
                </a:solidFill>
                <a:latin typeface="Arial"/>
              </a:defRPr>
            </a:pPr>
            <a:r>
              <a:t>insurance claim</a:t>
            </a:r>
          </a:p>
        </p:txBody>
      </p:sp>
      <p:sp>
        <p:nvSpPr>
          <p:cNvPr id="20" name="Oval 19"/>
          <p:cNvSpPr/>
          <p:nvPr/>
        </p:nvSpPr>
        <p:spPr>
          <a:xfrm>
            <a:off x="2468880" y="2926080"/>
            <a:ext cx="329184" cy="329184"/>
          </a:xfrm>
          <a:prstGeom prst="ellipse">
            <a:avLst/>
          </a:prstGeom>
          <a:solidFill>
            <a:srgbClr val="5C844A"/>
          </a:solidFill>
          <a:ln w="1905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560320"/>
            <a:ext cx="10058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1">
                <a:solidFill>
                  <a:srgbClr val="5C844A"/>
                </a:solidFill>
                <a:latin typeface="Arial"/>
              </a:defRPr>
            </a:pPr>
            <a:r>
              <a:t>query: "best car"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139696" y="3090672"/>
            <a:ext cx="493776" cy="969263"/>
          </a:xfrm>
          <a:prstGeom prst="line">
            <a:avLst/>
          </a:prstGeom>
          <a:ln w="2286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33472" y="3090672"/>
            <a:ext cx="54864" cy="694943"/>
          </a:xfrm>
          <a:prstGeom prst="line">
            <a:avLst/>
          </a:prstGeom>
          <a:ln w="2286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33472" y="3090672"/>
            <a:ext cx="1883664" cy="1152144"/>
          </a:xfrm>
          <a:prstGeom prst="line">
            <a:avLst/>
          </a:prstGeom>
          <a:ln w="2286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89320" y="1554480"/>
            <a:ext cx="2560320" cy="18288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89320" y="1554480"/>
            <a:ext cx="256032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59" y="1627632"/>
            <a:ext cx="237743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1938528"/>
            <a:ext cx="2414015" cy="13716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A model turns text, images, or audio into a numeric vector.</a:t>
            </a:r>
          </a:p>
          <a:p>
            <a:pPr algn="l">
              <a:lnSpc>
                <a:spcPct val="105000"/>
              </a:lnSpc>
              <a:defRPr sz="1400">
                <a:solidFill>
                  <a:srgbClr val="2E4354"/>
                </a:solidFill>
                <a:latin typeface="Arial"/>
              </a:defRPr>
            </a:pPr>
            <a:r>
              <a:t>• Nearby vectors are meant to represent similar meaning.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1554480"/>
            <a:ext cx="2788920" cy="18288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32520" y="1554480"/>
            <a:ext cx="278892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23960" y="1627632"/>
            <a:ext cx="260603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Best 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1938528"/>
            <a:ext cx="2642615" cy="13716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semantic search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retrieval augmented generation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recommendations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duplicate or anomaly detection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611880"/>
            <a:ext cx="5532120" cy="20116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89320" y="3611880"/>
            <a:ext cx="553212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59" y="3685032"/>
            <a:ext cx="534924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Important shift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2472" y="3995928"/>
            <a:ext cx="5385816" cy="155448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A vector database is not asking for exact equality.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It asks which stored items are closest to the query vector under a similarity measure.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That makes it useful when users express meaning with different words.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Cosine Similarity vs. Ordinary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Cosine cares about angle and direction; Euclidean distance cares about absolute position.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840480" cy="868680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33832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cos(theta) = (A dot B) / (|A| |B|)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443484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234440" y="5120640"/>
            <a:ext cx="3566160" cy="0"/>
          </a:xfrm>
          <a:prstGeom prst="line">
            <a:avLst/>
          </a:prstGeom>
          <a:ln w="2540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2971800"/>
            <a:ext cx="0" cy="2148840"/>
          </a:xfrm>
          <a:prstGeom prst="line">
            <a:avLst/>
          </a:prstGeom>
          <a:ln w="25400">
            <a:solidFill>
              <a:srgbClr val="CD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34440" y="4526280"/>
            <a:ext cx="1600200" cy="594360"/>
          </a:xfrm>
          <a:prstGeom prst="line">
            <a:avLst/>
          </a:prstGeom>
          <a:ln w="3810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3200" y="4434840"/>
            <a:ext cx="256032" cy="256032"/>
          </a:xfrm>
          <a:prstGeom prst="ellipse">
            <a:avLst/>
          </a:prstGeom>
          <a:solidFill>
            <a:srgbClr val="5C844A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4325112"/>
            <a:ext cx="36576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1">
                <a:solidFill>
                  <a:srgbClr val="5C844A"/>
                </a:solidFill>
                <a:latin typeface="Arial"/>
              </a:defRPr>
            </a:pPr>
            <a:r>
              <a:t>Q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234440" y="3931920"/>
            <a:ext cx="3200400" cy="1188720"/>
          </a:xfrm>
          <a:prstGeom prst="line">
            <a:avLst/>
          </a:prstGeom>
          <a:ln w="381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343400" y="3840480"/>
            <a:ext cx="256032" cy="256032"/>
          </a:xfrm>
          <a:prstGeom prst="ellipse">
            <a:avLst/>
          </a:prstGeom>
          <a:solidFill>
            <a:srgbClr val="D9770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3730752"/>
            <a:ext cx="36576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Arial"/>
              </a:defRPr>
            </a:pPr>
            <a:r>
              <a:t>B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234440" y="3611880"/>
            <a:ext cx="1188720" cy="1508760"/>
          </a:xfrm>
          <a:prstGeom prst="line">
            <a:avLst/>
          </a:prstGeom>
          <a:ln w="3810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331720" y="3520440"/>
            <a:ext cx="256032" cy="256032"/>
          </a:xfrm>
          <a:prstGeom prst="ellipse">
            <a:avLst/>
          </a:prstGeom>
          <a:solidFill>
            <a:srgbClr val="BD5738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79" y="3410712"/>
            <a:ext cx="36576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1">
                <a:solidFill>
                  <a:srgbClr val="BD5738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926080"/>
            <a:ext cx="3474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0">
                <a:solidFill>
                  <a:srgbClr val="617381"/>
                </a:solidFill>
                <a:latin typeface="Arial"/>
              </a:defRPr>
            </a:pPr>
            <a:r>
              <a:t>B points almost the same way as Q but is farther away.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182112"/>
            <a:ext cx="34747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100" b="0">
                <a:solidFill>
                  <a:srgbClr val="617381"/>
                </a:solidFill>
                <a:latin typeface="Arial"/>
              </a:defRPr>
            </a:pPr>
            <a:r>
              <a:t>C is physically closer to Q but points in a different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1554480"/>
            <a:ext cx="2743200" cy="18288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23560" y="1554480"/>
            <a:ext cx="274320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1627632"/>
            <a:ext cx="25603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Cosine similarity prefers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938528"/>
            <a:ext cx="2596896" cy="13716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direction is almost identical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vector length matters less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useful when embedding magnitude is not the signal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1554480"/>
            <a:ext cx="2743200" cy="18288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95360" y="1554480"/>
            <a:ext cx="2743200" cy="164592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1627632"/>
            <a:ext cx="25603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Euclidean distance may prefer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1938528"/>
            <a:ext cx="2596896" cy="13716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absolute coordinate gap is smaller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good when raw geometric distance matters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less ideal when scale varies a lot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3657600"/>
            <a:ext cx="5715000" cy="1874519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23560" y="3657600"/>
            <a:ext cx="571500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15000" y="3730752"/>
            <a:ext cx="55321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Why cosine is common for embeddings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96712" y="4041648"/>
            <a:ext cx="5568696" cy="141731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In many embedding spaces, direction captures semantic orientation better than raw length.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Two texts can talk about nearly the same concept even if the model outputs vectors with different magnitudes.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What Vector Search Is Good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Vector search shines when exact wording is the wrong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3154680" cy="16916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801368"/>
            <a:ext cx="283464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Semantic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148840"/>
            <a:ext cx="27889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Arial"/>
              </a:defRPr>
            </a:pPr>
            <a:r>
              <a:t>Find documents about a concept even when the words differ.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" y="2743200"/>
            <a:ext cx="2788920" cy="347472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300" b="1">
                <a:solidFill>
                  <a:srgbClr val="617381"/>
                </a:solidFill>
                <a:latin typeface="Arial"/>
              </a:defRPr>
            </a:pPr>
            <a:r>
              <a:t>query -&gt; nearest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00200"/>
            <a:ext cx="3154680" cy="16916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8304" y="1801368"/>
            <a:ext cx="283464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2148840"/>
            <a:ext cx="27889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Arial"/>
              </a:defRPr>
            </a:pPr>
            <a:r>
              <a:t>Retrieve items whose embedding is near a user or item profile.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8304" y="2743200"/>
            <a:ext cx="2788920" cy="347472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300" b="1">
                <a:solidFill>
                  <a:srgbClr val="617381"/>
                </a:solidFill>
                <a:latin typeface="Arial"/>
              </a:defRPr>
            </a:pPr>
            <a:r>
              <a:t>user vector -&gt; nearest items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00200"/>
            <a:ext cx="3154680" cy="16916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7344" y="1801368"/>
            <a:ext cx="283464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800" b="1">
                <a:solidFill>
                  <a:srgbClr val="163042"/>
                </a:solidFill>
                <a:latin typeface="Arial"/>
              </a:defRPr>
            </a:pPr>
            <a:r>
              <a:t>Duplicate / anomaly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148840"/>
            <a:ext cx="27889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Arial"/>
              </a:defRPr>
            </a:pPr>
            <a:r>
              <a:t>Flag records that are unusually close or unusually far in vector 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7344" y="2743200"/>
            <a:ext cx="2788920" cy="347472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300" b="1">
                <a:solidFill>
                  <a:srgbClr val="617381"/>
                </a:solidFill>
                <a:latin typeface="Arial"/>
              </a:defRPr>
            </a:pPr>
            <a:r>
              <a:t>compare new vector to known 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4892040" cy="16002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931920"/>
            <a:ext cx="489204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005072"/>
            <a:ext cx="470915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Why approximate nearest neighbor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315968"/>
            <a:ext cx="4745736" cy="11430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Exact comparison against every stored vector becomes expensive as collections grow.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ANN indexes trade a tiny amount of recall for huge gains in speed and scale.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931920"/>
            <a:ext cx="5486400" cy="16002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89320" y="3931920"/>
            <a:ext cx="5486400" cy="164592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59" y="4005072"/>
            <a:ext cx="530352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What can still go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4315968"/>
            <a:ext cx="5340096" cy="114300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bad embeddings produce bad neighbors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evaluation is harder than exact match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embedding drift means old and new vectors may not align perfectly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One Problem, Four Valid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A campus learning platform can use several models because it asks several kinds of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423160"/>
            <a:ext cx="3108960" cy="1005840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Campus Learning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3063240" cy="14173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618488"/>
            <a:ext cx="13716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900" b="1">
                <a:solidFill>
                  <a:srgbClr val="163042"/>
                </a:solidFill>
                <a:latin typeface="Arial"/>
              </a:defRPr>
            </a:pPr>
            <a:r>
              <a:t>Key-value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920240"/>
            <a:ext cx="26974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Arial"/>
              </a:defRPr>
            </a:pPr>
            <a:r>
              <a:t>login sessions</a:t>
            </a:r>
            <a:br/>
            <a:r>
              <a:t>rate limits</a:t>
            </a:r>
            <a:br/>
            <a:r>
              <a:t>feature flags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063240" cy="14173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67344" y="1618488"/>
            <a:ext cx="13716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900" b="1">
                <a:solidFill>
                  <a:srgbClr val="163042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920240"/>
            <a:ext cx="26974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Arial"/>
              </a:defRPr>
            </a:pPr>
            <a:r>
              <a:t>course modules</a:t>
            </a:r>
            <a:br/>
            <a:r>
              <a:t>student profiles</a:t>
            </a:r>
            <a:br/>
            <a:r>
              <a:t>assignment metadata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3063240" cy="14173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4041648"/>
            <a:ext cx="13716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900" b="1">
                <a:solidFill>
                  <a:srgbClr val="163042"/>
                </a:solidFill>
                <a:latin typeface="Arial"/>
              </a:defRPr>
            </a:pPr>
            <a:r>
              <a:t>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343400"/>
            <a:ext cx="26974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Arial"/>
              </a:defRPr>
            </a:pPr>
            <a:r>
              <a:t>study groups</a:t>
            </a:r>
            <a:br/>
            <a:r>
              <a:t>collaboration links</a:t>
            </a:r>
            <a:br/>
            <a:r>
              <a:t>cheating or fraud rings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931920"/>
            <a:ext cx="3063240" cy="14173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4" y="4041648"/>
            <a:ext cx="13716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900" b="1">
                <a:solidFill>
                  <a:srgbClr val="163042"/>
                </a:solidFill>
                <a:latin typeface="Arial"/>
              </a:defRPr>
            </a:pPr>
            <a:r>
              <a:t>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4343400"/>
            <a:ext cx="26974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400" b="0">
                <a:solidFill>
                  <a:srgbClr val="2E4354"/>
                </a:solidFill>
                <a:latin typeface="Arial"/>
              </a:defRPr>
            </a:pPr>
            <a:r>
              <a:t>semantic note search</a:t>
            </a:r>
            <a:br/>
            <a:r>
              <a:t>FAQ retrieval</a:t>
            </a:r>
            <a:br/>
            <a:r>
              <a:t>related reading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2194560"/>
            <a:ext cx="594360" cy="54864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589520" y="2194560"/>
            <a:ext cx="731520" cy="548640"/>
          </a:xfrm>
          <a:prstGeom prst="line">
            <a:avLst/>
          </a:prstGeom>
          <a:ln w="25400">
            <a:solidFill>
              <a:srgbClr val="1E84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86200" y="3063240"/>
            <a:ext cx="594360" cy="1508760"/>
          </a:xfrm>
          <a:prstGeom prst="line">
            <a:avLst/>
          </a:prstGeom>
          <a:ln w="2540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7589520" y="3063240"/>
            <a:ext cx="731520" cy="1508760"/>
          </a:xfrm>
          <a:prstGeom prst="line">
            <a:avLst/>
          </a:prstGeom>
          <a:ln w="2540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06240" y="4800600"/>
            <a:ext cx="3657600" cy="73152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500" b="1">
                <a:solidFill>
                  <a:srgbClr val="163042"/>
                </a:solidFill>
                <a:latin typeface="Arial"/>
              </a:defRPr>
            </a:pPr>
            <a:r>
              <a:t>Relational SQL still fits grades, enrollment rules, and transactional truth.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How To Choose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Start with the question you need to make cheap, predictable, and maintainable.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7132320" cy="658368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18488"/>
            <a:ext cx="6629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163042"/>
                </a:solidFill>
                <a:latin typeface="Arial"/>
              </a:defRPr>
            </a:pPr>
            <a:r>
              <a:t>Do you already know the exact identifier?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08760"/>
            <a:ext cx="2834640" cy="658368"/>
          </a:xfrm>
          <a:prstGeom prst="roundRect">
            <a:avLst/>
          </a:prstGeom>
          <a:solidFill>
            <a:srgbClr val="D9770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Key-value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1837943"/>
            <a:ext cx="9144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2377439"/>
            <a:ext cx="7132320" cy="658368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487168"/>
            <a:ext cx="6629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163042"/>
                </a:solidFill>
                <a:latin typeface="Arial"/>
              </a:defRPr>
            </a:pPr>
            <a:r>
              <a:t>Do you mostly read and write one aggregate object at a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77439"/>
            <a:ext cx="2834640" cy="658368"/>
          </a:xfrm>
          <a:prstGeom prst="roundRect">
            <a:avLst/>
          </a:prstGeom>
          <a:solidFill>
            <a:srgbClr val="1E847F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Document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2706623"/>
            <a:ext cx="914400" cy="0"/>
          </a:xfrm>
          <a:prstGeom prst="line">
            <a:avLst/>
          </a:prstGeom>
          <a:ln w="31750">
            <a:solidFill>
              <a:srgbClr val="1E84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3246120"/>
            <a:ext cx="7132320" cy="658368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355848"/>
            <a:ext cx="6629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163042"/>
                </a:solidFill>
                <a:latin typeface="Arial"/>
              </a:defRPr>
            </a:pPr>
            <a:r>
              <a:t>Is the hard part following relationships, paths, or neighborhoods?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246120"/>
            <a:ext cx="2834640" cy="658368"/>
          </a:xfrm>
          <a:prstGeom prst="roundRect">
            <a:avLst/>
          </a:prstGeom>
          <a:solidFill>
            <a:srgbClr val="BD5738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Graph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3575303"/>
            <a:ext cx="914400" cy="0"/>
          </a:xfrm>
          <a:prstGeom prst="line">
            <a:avLst/>
          </a:prstGeom>
          <a:ln w="3175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4114800"/>
            <a:ext cx="7132320" cy="658368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224528"/>
            <a:ext cx="6629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163042"/>
                </a:solidFill>
                <a:latin typeface="Arial"/>
              </a:defRPr>
            </a:pPr>
            <a:r>
              <a:t>Is the goal nearest-neighbor or semantic similarity search?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2834640" cy="658368"/>
          </a:xfrm>
          <a:prstGeom prst="roundRect">
            <a:avLst/>
          </a:prstGeom>
          <a:solidFill>
            <a:srgbClr val="5C844A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Vector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0" y="4443984"/>
            <a:ext cx="914400" cy="0"/>
          </a:xfrm>
          <a:prstGeom prst="line">
            <a:avLst/>
          </a:prstGeom>
          <a:ln w="3175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" y="4983479"/>
            <a:ext cx="7132320" cy="658368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093207"/>
            <a:ext cx="6629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600" b="1">
                <a:solidFill>
                  <a:srgbClr val="163042"/>
                </a:solidFill>
                <a:latin typeface="Arial"/>
              </a:defRPr>
            </a:pPr>
            <a:r>
              <a:t>Do you need strong constraints, multi-row transactions, and broad SQL analytics?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983479"/>
            <a:ext cx="2834640" cy="658368"/>
          </a:xfrm>
          <a:prstGeom prst="roundRect">
            <a:avLst/>
          </a:prstGeom>
          <a:solidFill>
            <a:srgbClr val="7397AB"/>
          </a:solidFill>
          <a:ln w="1524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Relational / hybrid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0" y="5312664"/>
            <a:ext cx="914400" cy="0"/>
          </a:xfrm>
          <a:prstGeom prst="line">
            <a:avLst/>
          </a:prstGeom>
          <a:ln w="31750">
            <a:solidFill>
              <a:srgbClr val="739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8680" y="5989320"/>
            <a:ext cx="10195560" cy="54864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5989320"/>
            <a:ext cx="10195560" cy="16459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6062472"/>
            <a:ext cx="1001268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Practical warning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6373368"/>
            <a:ext cx="10049256" cy="9143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Do not add a new database model just because it is interesting. Add it when the workload stays painful in simpler tools.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806440"/>
            <a:ext cx="10241280" cy="566928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400" b="1">
                <a:solidFill>
                  <a:srgbClr val="163042"/>
                </a:solidFill>
                <a:latin typeface="Arial"/>
              </a:defRPr>
            </a:pPr>
            <a:r>
              <a:t>Practical warning: add a new model when the workload stays painful in simpler tools, not because the architecture diagram looks impressive.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Polyglot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Modern systems often combine models, but every extra store adds operational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874519" cy="914400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Application</a:t>
            </a:r>
            <a:br/>
            <a:r>
              <a:t>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468880"/>
            <a:ext cx="2148840" cy="100584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73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2000" b="1">
                <a:solidFill>
                  <a:srgbClr val="163042"/>
                </a:solidFill>
                <a:latin typeface="Arial"/>
              </a:defRPr>
            </a:pPr>
            <a:r>
              <a:t>SQL core</a:t>
            </a:r>
            <a:br/>
            <a:r>
              <a:t>transactions +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097280"/>
            <a:ext cx="1965960" cy="914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163042"/>
                </a:solidFill>
                <a:latin typeface="Arial"/>
              </a:defRPr>
            </a:pPr>
            <a:r>
              <a:t>Key-value</a:t>
            </a:r>
            <a:br/>
            <a:r>
              <a:t>cache /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240280"/>
            <a:ext cx="1965960" cy="914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163042"/>
                </a:solidFill>
                <a:latin typeface="Arial"/>
              </a:defRPr>
            </a:pPr>
            <a:r>
              <a:t>Document</a:t>
            </a:r>
            <a:br/>
            <a:r>
              <a:t>content /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383280"/>
            <a:ext cx="1965960" cy="914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163042"/>
                </a:solidFill>
                <a:latin typeface="Arial"/>
              </a:defRPr>
            </a:pPr>
            <a:r>
              <a:t>Graph</a:t>
            </a:r>
            <a:br/>
            <a:r>
              <a:t>connections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26280"/>
            <a:ext cx="1965960" cy="914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163042"/>
                </a:solidFill>
                <a:latin typeface="Arial"/>
              </a:defRPr>
            </a:pPr>
            <a:r>
              <a:t>Vector</a:t>
            </a:r>
            <a:br/>
            <a:r>
              <a:t>semantic search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2971800"/>
            <a:ext cx="548640" cy="0"/>
          </a:xfrm>
          <a:prstGeom prst="line">
            <a:avLst/>
          </a:prstGeom>
          <a:ln w="38100">
            <a:solidFill>
              <a:srgbClr val="163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394960" y="1554480"/>
            <a:ext cx="594360" cy="1417320"/>
          </a:xfrm>
          <a:prstGeom prst="line">
            <a:avLst/>
          </a:prstGeom>
          <a:ln w="279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394960" y="2697480"/>
            <a:ext cx="594360" cy="274320"/>
          </a:xfrm>
          <a:prstGeom prst="line">
            <a:avLst/>
          </a:prstGeom>
          <a:ln w="27940">
            <a:solidFill>
              <a:srgbClr val="1E84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94960" y="2971800"/>
            <a:ext cx="594360" cy="868680"/>
          </a:xfrm>
          <a:prstGeom prst="line">
            <a:avLst/>
          </a:prstGeom>
          <a:ln w="27940">
            <a:solidFill>
              <a:srgbClr val="BD57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960" y="2971800"/>
            <a:ext cx="594360" cy="2011680"/>
          </a:xfrm>
          <a:prstGeom prst="line">
            <a:avLst/>
          </a:prstGeom>
          <a:ln w="27940">
            <a:solidFill>
              <a:srgbClr val="5C8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66760" y="1325880"/>
            <a:ext cx="3246120" cy="42062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1325880"/>
            <a:ext cx="3246120" cy="16459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1399032"/>
            <a:ext cx="3063239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Rules of thumb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1709928"/>
            <a:ext cx="3099815" cy="374903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Keep the source of truth clear.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Document how data moves between stores.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Expect index, backup, and monitoring overhead for every added system.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Synchronize only what the product truly needs.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Prefer the smallest architecture that meets the workload.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Operational Realities and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Every model solves one pain by accepting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2468880" cy="566928"/>
          </a:xfrm>
          <a:prstGeom prst="roundRect">
            <a:avLst/>
          </a:prstGeom>
          <a:solidFill>
            <a:srgbClr val="D97706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Key-value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12848"/>
            <a:ext cx="2468880" cy="24231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3" y="2331720"/>
            <a:ext cx="2359152" cy="214884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hot keys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eviction policy surprises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cache invalidation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54880"/>
            <a:ext cx="2468880" cy="86868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300" b="1">
                <a:solidFill>
                  <a:srgbClr val="617381"/>
                </a:solidFill>
                <a:latin typeface="Arial"/>
              </a:defRPr>
            </a:pPr>
            <a:r>
              <a:t>simple but narrow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54480"/>
            <a:ext cx="2468880" cy="566928"/>
          </a:xfrm>
          <a:prstGeom prst="roundRect">
            <a:avLst/>
          </a:prstGeom>
          <a:solidFill>
            <a:srgbClr val="1E847F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212848"/>
            <a:ext cx="2468880" cy="24231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66744" y="2331720"/>
            <a:ext cx="2359152" cy="214884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document growth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duplicate facts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index sprawl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754880"/>
            <a:ext cx="2468880" cy="86868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300" b="1">
                <a:solidFill>
                  <a:srgbClr val="617381"/>
                </a:solidFill>
                <a:latin typeface="Arial"/>
              </a:defRPr>
            </a:pPr>
            <a:r>
              <a:t>flexible but messy if unmanaged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54480"/>
            <a:ext cx="2468880" cy="566928"/>
          </a:xfrm>
          <a:prstGeom prst="roundRect">
            <a:avLst/>
          </a:prstGeom>
          <a:solidFill>
            <a:srgbClr val="BD5738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212848"/>
            <a:ext cx="2468880" cy="24231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3" y="2331720"/>
            <a:ext cx="2359152" cy="214884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supernodes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expensive traversals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harder sharding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754880"/>
            <a:ext cx="2468880" cy="86868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300" b="1">
                <a:solidFill>
                  <a:srgbClr val="617381"/>
                </a:solidFill>
                <a:latin typeface="Arial"/>
              </a:defRPr>
            </a:pPr>
            <a:r>
              <a:t>powerful for relationships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554480"/>
            <a:ext cx="2468880" cy="566928"/>
          </a:xfrm>
          <a:prstGeom prst="roundRect">
            <a:avLst/>
          </a:prstGeom>
          <a:solidFill>
            <a:srgbClr val="5C844A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212848"/>
            <a:ext cx="2468880" cy="24231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36024" y="2331720"/>
            <a:ext cx="2359152" cy="2148840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embedding drift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re-index cost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quality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4754880"/>
            <a:ext cx="2468880" cy="86868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300" b="1">
                <a:solidFill>
                  <a:srgbClr val="617381"/>
                </a:solidFill>
                <a:latin typeface="Arial"/>
              </a:defRPr>
            </a:pPr>
            <a:r>
              <a:t>smart but fuzzy and model-dependent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972800" cy="502920"/>
          </a:xfrm>
          <a:prstGeom prst="roundRect">
            <a:avLst/>
          </a:prstGeom>
          <a:solidFill>
            <a:srgbClr val="163042"/>
          </a:solidFill>
          <a:ln w="15240"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Database design is never free lunch engineering. Pick the pain you are willing to own.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900" b="1">
                <a:solidFill>
                  <a:srgbClr val="617381"/>
                </a:solidFill>
                <a:latin typeface="Arial"/>
              </a:defRPr>
            </a:pPr>
            <a:r>
              <a:t>CST4714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0467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400" b="1">
                <a:solidFill>
                  <a:srgbClr val="163042"/>
                </a:solidFill>
                <a:latin typeface="Arial"/>
              </a:defRPr>
            </a:pPr>
            <a:r>
              <a:t>What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200" b="0">
                <a:solidFill>
                  <a:srgbClr val="617381"/>
                </a:solidFill>
                <a:latin typeface="Arial"/>
              </a:defRPr>
            </a:pPr>
            <a:r>
              <a:t>Choose the model whose natural question matches the workload.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10896"/>
            <a:ext cx="45720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r">
              <a:defRPr sz="1000" b="0">
                <a:solidFill>
                  <a:srgbClr val="617381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4892040" cy="11887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182880" cy="1188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176479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000" b="1">
                <a:solidFill>
                  <a:srgbClr val="163042"/>
                </a:solidFill>
                <a:latin typeface="Arial"/>
              </a:defRPr>
            </a:pPr>
            <a:r>
              <a:t>Key-value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103120"/>
            <a:ext cx="434340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500" b="0">
                <a:solidFill>
                  <a:srgbClr val="2E4354"/>
                </a:solidFill>
                <a:latin typeface="Arial"/>
              </a:defRPr>
            </a:pPr>
            <a:r>
              <a:t>Best when the key is known and latency must stay tiny.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4892040" cy="11887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182880" cy="1188720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176479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000" b="1">
                <a:solidFill>
                  <a:srgbClr val="163042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103120"/>
            <a:ext cx="434340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500" b="0">
                <a:solidFill>
                  <a:srgbClr val="2E4354"/>
                </a:solidFill>
                <a:latin typeface="Arial"/>
              </a:defRPr>
            </a:pPr>
            <a:r>
              <a:t>Best when one aggregate object should travel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00400"/>
            <a:ext cx="4892040" cy="11887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200400"/>
            <a:ext cx="182880" cy="1188720"/>
          </a:xfrm>
          <a:prstGeom prst="rect">
            <a:avLst/>
          </a:prstGeom>
          <a:solidFill>
            <a:srgbClr val="BD5738"/>
          </a:solidFill>
          <a:ln>
            <a:solidFill>
              <a:srgbClr val="BD5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336499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000" b="1">
                <a:solidFill>
                  <a:srgbClr val="163042"/>
                </a:solidFill>
                <a:latin typeface="Arial"/>
              </a:defRPr>
            </a:pPr>
            <a:r>
              <a:t>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703320"/>
            <a:ext cx="434340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500" b="0">
                <a:solidFill>
                  <a:srgbClr val="2E4354"/>
                </a:solidFill>
                <a:latin typeface="Arial"/>
              </a:defRPr>
            </a:pPr>
            <a:r>
              <a:t>Best when relationships and paths are the main thing you are computing.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200400"/>
            <a:ext cx="4892040" cy="11887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200400"/>
            <a:ext cx="182880" cy="1188720"/>
          </a:xfrm>
          <a:prstGeom prst="rect">
            <a:avLst/>
          </a:prstGeom>
          <a:solidFill>
            <a:srgbClr val="5C844A"/>
          </a:solidFill>
          <a:ln>
            <a:solidFill>
              <a:srgbClr val="5C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11112" y="336499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2000" b="1">
                <a:solidFill>
                  <a:srgbClr val="163042"/>
                </a:solidFill>
                <a:latin typeface="Arial"/>
              </a:defRPr>
            </a:pPr>
            <a:r>
              <a:t>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703320"/>
            <a:ext cx="4343400" cy="420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500" b="0">
                <a:solidFill>
                  <a:srgbClr val="2E4354"/>
                </a:solidFill>
                <a:latin typeface="Arial"/>
              </a:defRPr>
            </a:pPr>
            <a:r>
              <a:t>Best when similarity of meaning matters more than exact wording.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83480"/>
            <a:ext cx="10378440" cy="1051560"/>
          </a:xfrm>
          <a:prstGeom prst="roundRect">
            <a:avLst/>
          </a:prstGeom>
          <a:solidFill>
            <a:srgbClr val="ECE7DE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" y="4983480"/>
            <a:ext cx="10378440" cy="164592"/>
          </a:xfrm>
          <a:prstGeom prst="rect">
            <a:avLst/>
          </a:prstGeom>
          <a:solidFill>
            <a:srgbClr val="163042"/>
          </a:solidFill>
          <a:ln>
            <a:solidFill>
              <a:srgbClr val="16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056632"/>
            <a:ext cx="1019556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algn="l">
              <a:defRPr sz="1700" b="1">
                <a:solidFill>
                  <a:srgbClr val="163042"/>
                </a:solidFill>
                <a:latin typeface="Arial"/>
              </a:defRPr>
            </a:pPr>
            <a:r>
              <a:t>Three discussion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367528"/>
            <a:ext cx="10232136" cy="594359"/>
          </a:xfrm>
          <a:prstGeom prst="rect">
            <a:avLst/>
          </a:prstGeom>
          <a:noFill/>
        </p:spPr>
        <p:txBody>
          <a:bodyPr wrap="square" lIns="127000" tIns="101600" rIns="127000" bIns="76200" anchor="t">
            <a:normAutofit/>
          </a:bodyPr>
          <a:lstStyle/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Which model would you choose for Spotify-style recommendations, and why?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When would a document design become too duplicated to feel healthy?</a:t>
            </a:r>
          </a:p>
          <a:p>
            <a:pPr algn="l">
              <a:lnSpc>
                <a:spcPct val="105000"/>
              </a:lnSpc>
              <a:defRPr sz="1500">
                <a:solidFill>
                  <a:srgbClr val="2E4354"/>
                </a:solidFill>
                <a:latin typeface="Arial"/>
              </a:defRPr>
            </a:pPr>
            <a:r>
              <a:t>• Why does cosine similarity sometimes beat ordinary distance for embeddings?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2745</TotalTime>
  <Words>3089</Words>
  <Application>Microsoft Macintosh PowerPoint</Application>
  <PresentationFormat>Widescreen</PresentationFormat>
  <Paragraphs>434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Atilio Barreda</cp:lastModifiedBy>
  <cp:revision>2</cp:revision>
  <dcterms:created xsi:type="dcterms:W3CDTF">2013-01-27T09:14:16Z</dcterms:created>
  <dcterms:modified xsi:type="dcterms:W3CDTF">2026-03-28T19:57:02Z</dcterms:modified>
  <cp:category/>
</cp:coreProperties>
</file>